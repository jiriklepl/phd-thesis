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322" r:id="rId3"/>
    <p:sldId id="277" r:id="rId4"/>
    <p:sldId id="296" r:id="rId5"/>
    <p:sldId id="297" r:id="rId6"/>
    <p:sldId id="283" r:id="rId7"/>
    <p:sldId id="314" r:id="rId8"/>
    <p:sldId id="326" r:id="rId9"/>
    <p:sldId id="284" r:id="rId10"/>
    <p:sldId id="278" r:id="rId11"/>
    <p:sldId id="325" r:id="rId12"/>
    <p:sldId id="300" r:id="rId13"/>
    <p:sldId id="285" r:id="rId14"/>
    <p:sldId id="323" r:id="rId15"/>
    <p:sldId id="286" r:id="rId16"/>
    <p:sldId id="290" r:id="rId17"/>
    <p:sldId id="279" r:id="rId18"/>
    <p:sldId id="324" r:id="rId19"/>
    <p:sldId id="287" r:id="rId20"/>
    <p:sldId id="316" r:id="rId21"/>
    <p:sldId id="302" r:id="rId22"/>
    <p:sldId id="280" r:id="rId23"/>
    <p:sldId id="310" r:id="rId24"/>
    <p:sldId id="288" r:id="rId25"/>
    <p:sldId id="305" r:id="rId26"/>
    <p:sldId id="291" r:id="rId27"/>
    <p:sldId id="306" r:id="rId28"/>
    <p:sldId id="315" r:id="rId29"/>
    <p:sldId id="308" r:id="rId30"/>
    <p:sldId id="309" r:id="rId31"/>
    <p:sldId id="266" r:id="rId32"/>
    <p:sldId id="312" r:id="rId33"/>
    <p:sldId id="262" r:id="rId34"/>
    <p:sldId id="327" r:id="rId35"/>
    <p:sldId id="328" r:id="rId36"/>
    <p:sldId id="331" r:id="rId37"/>
    <p:sldId id="329" r:id="rId38"/>
    <p:sldId id="330" r:id="rId39"/>
    <p:sldId id="320" r:id="rId40"/>
    <p:sldId id="318" r:id="rId41"/>
    <p:sldId id="332" r:id="rId42"/>
    <p:sldId id="319" r:id="rId43"/>
    <p:sldId id="333" r:id="rId44"/>
    <p:sldId id="317" r:id="rId45"/>
    <p:sldId id="321" r:id="rId46"/>
    <p:sldId id="311" r:id="rId47"/>
  </p:sldIdLst>
  <p:sldSz cx="12192000" cy="6858000"/>
  <p:notesSz cx="9313863"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3DA01B-4D9B-48A0-906B-75ADFA7BB1A7}">
          <p14:sldIdLst>
            <p14:sldId id="256"/>
            <p14:sldId id="322"/>
            <p14:sldId id="277"/>
          </p14:sldIdLst>
        </p14:section>
        <p14:section name="algorithms" id="{7894E90A-E282-4867-82A4-369CDB973E4E}">
          <p14:sldIdLst>
            <p14:sldId id="296"/>
            <p14:sldId id="297"/>
            <p14:sldId id="283"/>
            <p14:sldId id="314"/>
            <p14:sldId id="326"/>
            <p14:sldId id="284"/>
            <p14:sldId id="278"/>
            <p14:sldId id="325"/>
            <p14:sldId id="300"/>
            <p14:sldId id="285"/>
            <p14:sldId id="323"/>
            <p14:sldId id="286"/>
            <p14:sldId id="290"/>
            <p14:sldId id="279"/>
            <p14:sldId id="324"/>
            <p14:sldId id="287"/>
            <p14:sldId id="316"/>
            <p14:sldId id="302"/>
            <p14:sldId id="280"/>
            <p14:sldId id="310"/>
          </p14:sldIdLst>
        </p14:section>
        <p14:section name="llms" id="{2FE3CF17-CBFB-48E9-A3BF-DD99B7D2F01E}">
          <p14:sldIdLst>
            <p14:sldId id="288"/>
            <p14:sldId id="305"/>
            <p14:sldId id="291"/>
            <p14:sldId id="306"/>
            <p14:sldId id="315"/>
            <p14:sldId id="308"/>
            <p14:sldId id="309"/>
          </p14:sldIdLst>
        </p14:section>
        <p14:section name="summary" id="{D3BAAF83-51D3-4EFD-B7CC-7BA6DAC4A838}">
          <p14:sldIdLst>
            <p14:sldId id="266"/>
            <p14:sldId id="312"/>
          </p14:sldIdLst>
        </p14:section>
        <p14:section name="Review comments and questions" id="{40190F67-0659-405D-810E-4AC194B72FA5}">
          <p14:sldIdLst>
            <p14:sldId id="262"/>
            <p14:sldId id="327"/>
            <p14:sldId id="328"/>
            <p14:sldId id="331"/>
            <p14:sldId id="329"/>
            <p14:sldId id="330"/>
            <p14:sldId id="320"/>
            <p14:sldId id="318"/>
            <p14:sldId id="332"/>
            <p14:sldId id="319"/>
            <p14:sldId id="333"/>
            <p14:sldId id="317"/>
            <p14:sldId id="321"/>
          </p14:sldIdLst>
        </p14:section>
        <p14:section name="supplementary" id="{5D95F6E9-DF15-476C-BE69-BBEF48AA8B86}">
          <p14:sldIdLst>
            <p14:sldId id="31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5450"/>
    <a:srgbClr val="FFFFFF"/>
    <a:srgbClr val="82B366"/>
    <a:srgbClr val="6C8EBF"/>
    <a:srgbClr val="DDDDDD"/>
    <a:srgbClr val="FBA9ED"/>
    <a:srgbClr val="BED6FA"/>
    <a:srgbClr val="B4D0FA"/>
    <a:srgbClr val="FEC842"/>
    <a:srgbClr val="FECB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144" autoAdjust="0"/>
    <p:restoredTop sz="80944" autoAdjust="0"/>
  </p:normalViewPr>
  <p:slideViewPr>
    <p:cSldViewPr snapToGrid="0">
      <p:cViewPr varScale="1">
        <p:scale>
          <a:sx n="129" d="100"/>
          <a:sy n="129" d="100"/>
        </p:scale>
        <p:origin x="3672" y="114"/>
      </p:cViewPr>
      <p:guideLst>
        <p:guide orient="horz" pos="2160"/>
        <p:guide pos="3840"/>
      </p:guideLst>
    </p:cSldViewPr>
  </p:slideViewPr>
  <p:outlineViewPr>
    <p:cViewPr>
      <p:scale>
        <a:sx n="33" d="100"/>
        <a:sy n="33" d="100"/>
      </p:scale>
      <p:origin x="0" y="-4716"/>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21" d="100"/>
          <a:sy n="121" d="100"/>
        </p:scale>
        <p:origin x="680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36007"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75701" y="1"/>
            <a:ext cx="4036007" cy="344091"/>
          </a:xfrm>
          <a:prstGeom prst="rect">
            <a:avLst/>
          </a:prstGeom>
        </p:spPr>
        <p:txBody>
          <a:bodyPr vert="horz" lIns="91440" tIns="45720" rIns="91440" bIns="45720" rtlCol="0"/>
          <a:lstStyle>
            <a:lvl1pPr algn="r">
              <a:defRPr sz="1200"/>
            </a:lvl1pPr>
          </a:lstStyle>
          <a:p>
            <a:fld id="{34A5C982-A1C5-4AC2-B4BF-466515DA1494}" type="datetimeFigureOut">
              <a:rPr lang="en-US" smtClean="0"/>
              <a:t>9/6/2026</a:t>
            </a:fld>
            <a:endParaRPr lang="en-US"/>
          </a:p>
        </p:txBody>
      </p:sp>
      <p:sp>
        <p:nvSpPr>
          <p:cNvPr id="4" name="Slide Image Placeholder 3"/>
          <p:cNvSpPr>
            <a:spLocks noGrp="1" noRot="1" noChangeAspect="1"/>
          </p:cNvSpPr>
          <p:nvPr>
            <p:ph type="sldImg" idx="2"/>
          </p:nvPr>
        </p:nvSpPr>
        <p:spPr>
          <a:xfrm>
            <a:off x="2598738" y="857250"/>
            <a:ext cx="4116387"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1387" y="3300412"/>
            <a:ext cx="745109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4036007"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75701" y="6513910"/>
            <a:ext cx="4036007" cy="344090"/>
          </a:xfrm>
          <a:prstGeom prst="rect">
            <a:avLst/>
          </a:prstGeom>
        </p:spPr>
        <p:txBody>
          <a:bodyPr vert="horz" lIns="91440" tIns="45720" rIns="91440" bIns="45720" rtlCol="0" anchor="b"/>
          <a:lstStyle>
            <a:lvl1pPr algn="r">
              <a:defRPr sz="1200"/>
            </a:lvl1pPr>
          </a:lstStyle>
          <a:p>
            <a:fld id="{FA8FD632-245B-410D-BCC4-8BF8D37AB67F}" type="slidenum">
              <a:rPr lang="en-US" smtClean="0"/>
              <a:t>‹#›</a:t>
            </a:fld>
            <a:endParaRPr lang="en-US"/>
          </a:p>
        </p:txBody>
      </p:sp>
    </p:spTree>
    <p:extLst>
      <p:ext uri="{BB962C8B-B14F-4D97-AF65-F5344CB8AC3E}">
        <p14:creationId xmlns:p14="http://schemas.microsoft.com/office/powerpoint/2010/main" val="3610353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Good morning,</a:t>
            </a:r>
          </a:p>
          <a:p>
            <a:r>
              <a:rPr lang="en-US" sz="1200" b="0" kern="1200" dirty="0">
                <a:solidFill>
                  <a:schemeClr val="tx1"/>
                </a:solidFill>
                <a:effectLst/>
                <a:latin typeface="+mn-lt"/>
                <a:ea typeface="+mn-ea"/>
                <a:cs typeface="+mn-cs"/>
              </a:rPr>
              <a:t>Esteemed members of the committee, I’d like to present you my research.</a:t>
            </a:r>
          </a:p>
        </p:txBody>
      </p:sp>
      <p:sp>
        <p:nvSpPr>
          <p:cNvPr id="4" name="Slide Number Placeholder 3"/>
          <p:cNvSpPr>
            <a:spLocks noGrp="1"/>
          </p:cNvSpPr>
          <p:nvPr>
            <p:ph type="sldNum" sz="quarter" idx="5"/>
          </p:nvPr>
        </p:nvSpPr>
        <p:spPr/>
        <p:txBody>
          <a:bodyPr/>
          <a:lstStyle/>
          <a:p>
            <a:fld id="{FA8FD632-245B-410D-BCC4-8BF8D37AB67F}" type="slidenum">
              <a:rPr lang="en-US" smtClean="0"/>
              <a:t>1</a:t>
            </a:fld>
            <a:endParaRPr lang="en-US" dirty="0"/>
          </a:p>
        </p:txBody>
      </p:sp>
    </p:spTree>
    <p:extLst>
      <p:ext uri="{BB962C8B-B14F-4D97-AF65-F5344CB8AC3E}">
        <p14:creationId xmlns:p14="http://schemas.microsoft.com/office/powerpoint/2010/main" val="1093630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2</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why choosing the “right” memory layout matters)</a:t>
            </a:r>
            <a:br>
              <a:rPr lang="en-US" dirty="0"/>
            </a:br>
            <a:br>
              <a:rPr lang="en-US" dirty="0"/>
            </a:br>
            <a:r>
              <a:rPr lang="en-US" dirty="0"/>
              <a:t>Here, we initialize an m by n matrix row by row.</a:t>
            </a:r>
          </a:p>
          <a:p>
            <a:endParaRPr lang="en-US" dirty="0"/>
          </a:p>
          <a:p>
            <a:r>
              <a:rPr lang="en-US" dirty="0"/>
              <a:t>This is commonly expressed as an assignment nested in a two-dimensional loop nest; in this particular example, the indices are generated iteratively for the elements, row by row.</a:t>
            </a:r>
          </a:p>
          <a:p>
            <a:br>
              <a:rPr lang="en-US" dirty="0"/>
            </a:br>
            <a:r>
              <a:rPr lang="en-US" dirty="0"/>
              <a:t>With the row-major layout, the inner loop advances along the columns within one row, so successive accesses are contiguous.</a:t>
            </a:r>
          </a:p>
          <a:p>
            <a:r>
              <a:rPr lang="en-US" dirty="0"/>
              <a:t>With the column-major layout, the same traversal accesses memory with a larger stride.</a:t>
            </a:r>
          </a:p>
          <a:p>
            <a:endParaRPr lang="en-US" dirty="0"/>
          </a:p>
          <a:p>
            <a:r>
              <a:rPr lang="en-US" dirty="0"/>
              <a:t>This affects hardware mechanisms such as caching, which makes accesses to close-by elements faster.</a:t>
            </a:r>
          </a:p>
        </p:txBody>
      </p:sp>
      <p:sp>
        <p:nvSpPr>
          <p:cNvPr id="4" name="Slide Number Placeholder 3"/>
          <p:cNvSpPr>
            <a:spLocks noGrp="1"/>
          </p:cNvSpPr>
          <p:nvPr>
            <p:ph type="sldNum" sz="quarter" idx="5"/>
          </p:nvPr>
        </p:nvSpPr>
        <p:spPr/>
        <p:txBody>
          <a:bodyPr/>
          <a:lstStyle/>
          <a:p>
            <a:fld id="{FA8FD632-245B-410D-BCC4-8BF8D37AB67F}" type="slidenum">
              <a:rPr lang="en-US" smtClean="0"/>
              <a:t>3</a:t>
            </a:fld>
            <a:endParaRPr lang="en-US"/>
          </a:p>
        </p:txBody>
      </p:sp>
    </p:spTree>
    <p:extLst>
      <p:ext uri="{BB962C8B-B14F-4D97-AF65-F5344CB8AC3E}">
        <p14:creationId xmlns:p14="http://schemas.microsoft.com/office/powerpoint/2010/main" val="2622264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4</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5</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(key idea: introducing abstraction for traversal-agnostic algorithms – traversers)</a:t>
            </a:r>
            <a:br>
              <a:rPr lang="en-US" noProof="0" dirty="0"/>
            </a:br>
            <a:br>
              <a:rPr lang="en-US" noProof="0" dirty="0"/>
            </a:br>
            <a:r>
              <a:rPr lang="en-US" noProof="0" dirty="0"/>
              <a:t>(with bridge: which enables traversal-agnostic design)</a:t>
            </a:r>
          </a:p>
          <a:p>
            <a:r>
              <a:rPr lang="en-US" noProof="0" dirty="0"/>
              <a:t>(without bridge: After carefully assessing how the principles play into defining layout-agnostic algorithms, we have extended the approach to define traversals as well, enabling traversal-agnostic design.)</a:t>
            </a:r>
          </a:p>
          <a:p>
            <a:endParaRPr lang="en-US" noProof="0" dirty="0"/>
          </a:p>
          <a:p>
            <a:r>
              <a:rPr lang="en-US" noProof="0" dirty="0"/>
              <a:t>For that, we have devised a traverser abstraction.</a:t>
            </a:r>
          </a:p>
          <a:p>
            <a:r>
              <a:rPr lang="en-US" noProof="0" dirty="0"/>
              <a:t>For a single structure, the traverser offers the functionality of a for-each algorithm – we can thus write the earlier shown initialization algorithm without relying on the dimensions of the structure.</a:t>
            </a:r>
          </a:p>
          <a:p>
            <a:r>
              <a:rPr lang="en-US" noProof="0" dirty="0"/>
              <a:t>The dimensions are traversed automatically and composed into an index point that is given as an argument to a lambda expression specifying the element-wise action on the traversed structure.</a:t>
            </a:r>
            <a:br>
              <a:rPr lang="en-US" noProof="0" dirty="0"/>
            </a:br>
            <a:br>
              <a:rPr lang="en-US" noProof="0" dirty="0"/>
            </a:br>
            <a:r>
              <a:rPr lang="en-US" noProof="0" dirty="0"/>
              <a:t>If two structures share the same index space, a traverser constructed from them can be used to copy the data from one to the other. It automatically recognizes that their index spaces fully overlap and traverses all dimensions only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If the structures use different physical layouts, the same algorithm automatically converts between the memory layouts.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Generalizing this to a situation with different index spaces</a:t>
            </a:r>
          </a:p>
        </p:txBody>
      </p:sp>
      <p:sp>
        <p:nvSpPr>
          <p:cNvPr id="4" name="Slide Number Placeholder 3"/>
          <p:cNvSpPr>
            <a:spLocks noGrp="1"/>
          </p:cNvSpPr>
          <p:nvPr>
            <p:ph type="sldNum" sz="quarter" idx="5"/>
          </p:nvPr>
        </p:nvSpPr>
        <p:spPr/>
        <p:txBody>
          <a:bodyPr/>
          <a:lstStyle/>
          <a:p>
            <a:fld id="{FA8FD632-245B-410D-BCC4-8BF8D37AB67F}" type="slidenum">
              <a:rPr lang="en-US" smtClean="0"/>
              <a:t>6</a:t>
            </a:fld>
            <a:endParaRPr lang="en-US"/>
          </a:p>
        </p:txBody>
      </p:sp>
    </p:spTree>
    <p:extLst>
      <p:ext uri="{BB962C8B-B14F-4D97-AF65-F5344CB8AC3E}">
        <p14:creationId xmlns:p14="http://schemas.microsoft.com/office/powerpoint/2010/main" val="2965894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7</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A5D-911E-326E-C9A3-9C3EB7DB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4EFE1-B0C5-BDA3-347D-3368CED57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0F7586-8B8C-9621-4AFF-13A63F5D168A}"/>
              </a:ext>
            </a:extLst>
          </p:cNvPr>
          <p:cNvSpPr>
            <a:spLocks noGrp="1"/>
          </p:cNvSpPr>
          <p:nvPr>
            <p:ph type="body" idx="1"/>
          </p:nvPr>
        </p:nvSpPr>
        <p:spPr/>
        <p:txBody>
          <a:bodyPr/>
          <a:lstStyle/>
          <a:p>
            <a:r>
              <a:rPr lang="en-US" dirty="0"/>
              <a:t>(key idea: optimizing the traversal)</a:t>
            </a:r>
          </a:p>
          <a:p>
            <a:endParaRPr lang="en-US" dirty="0"/>
          </a:p>
          <a:p>
            <a:r>
              <a:rPr lang="en-US" dirty="0"/>
              <a:t>(…)</a:t>
            </a:r>
          </a:p>
          <a:p>
            <a:endParaRPr lang="en-US" dirty="0"/>
          </a:p>
          <a:p>
            <a:r>
              <a:rPr lang="en-US" dirty="0"/>
              <a:t>Let’s say we want to perform the matrix multiplication by tiles of the output to improve the caching behavior.</a:t>
            </a:r>
            <a:br>
              <a:rPr lang="en-US" dirty="0"/>
            </a:br>
            <a:r>
              <a:rPr lang="en-US" dirty="0"/>
              <a:t>We can define a transformation using the same principles as the layouts and then apply it to the traverser.</a:t>
            </a:r>
          </a:p>
          <a:p>
            <a:endParaRPr lang="en-US" dirty="0"/>
          </a:p>
          <a:p>
            <a:r>
              <a:rPr lang="en-US" dirty="0"/>
              <a:t>(…)</a:t>
            </a:r>
          </a:p>
        </p:txBody>
      </p:sp>
      <p:sp>
        <p:nvSpPr>
          <p:cNvPr id="4" name="Slide Number Placeholder 3">
            <a:extLst>
              <a:ext uri="{FF2B5EF4-FFF2-40B4-BE49-F238E27FC236}">
                <a16:creationId xmlns:a16="http://schemas.microsoft.com/office/drawing/2014/main" id="{0E987452-59B1-C67B-B782-0C8B96ABBD42}"/>
              </a:ext>
            </a:extLst>
          </p:cNvPr>
          <p:cNvSpPr>
            <a:spLocks noGrp="1"/>
          </p:cNvSpPr>
          <p:nvPr>
            <p:ph type="sldNum" sz="quarter" idx="5"/>
          </p:nvPr>
        </p:nvSpPr>
        <p:spPr/>
        <p:txBody>
          <a:bodyPr/>
          <a:lstStyle/>
          <a:p>
            <a:fld id="{FA8FD632-245B-410D-BCC4-8BF8D37AB67F}" type="slidenum">
              <a:rPr lang="en-US" smtClean="0"/>
              <a:t>8</a:t>
            </a:fld>
            <a:endParaRPr lang="en-US"/>
          </a:p>
        </p:txBody>
      </p:sp>
    </p:spTree>
    <p:extLst>
      <p:ext uri="{BB962C8B-B14F-4D97-AF65-F5344CB8AC3E}">
        <p14:creationId xmlns:p14="http://schemas.microsoft.com/office/powerpoint/2010/main" val="14776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parallelizing the traversal)</a:t>
            </a:r>
          </a:p>
          <a:p>
            <a:endParaRPr lang="en-US" dirty="0"/>
          </a:p>
          <a:p>
            <a:r>
              <a:rPr lang="en-US" dirty="0"/>
              <a:t>(…)</a:t>
            </a:r>
          </a:p>
          <a:p>
            <a:endParaRPr lang="en-US" dirty="0"/>
          </a:p>
          <a:p>
            <a:r>
              <a:rPr lang="en-US" dirty="0"/>
              <a:t>We can also parallelize the computation on CPU using various parallel backends such as OpenMP or Threading Building Blocks using dedicated for_each executors.</a:t>
            </a:r>
          </a:p>
          <a:p>
            <a:r>
              <a:rPr lang="en-US" dirty="0"/>
              <a:t>For parallelization using the CUDA framework, we define cuda_traversers, which bind the traversal to the GPU and then run the computation in many threads.</a:t>
            </a:r>
          </a:p>
        </p:txBody>
      </p:sp>
      <p:sp>
        <p:nvSpPr>
          <p:cNvPr id="4" name="Slide Number Placeholder 3"/>
          <p:cNvSpPr>
            <a:spLocks noGrp="1"/>
          </p:cNvSpPr>
          <p:nvPr>
            <p:ph type="sldNum" sz="quarter" idx="5"/>
          </p:nvPr>
        </p:nvSpPr>
        <p:spPr/>
        <p:txBody>
          <a:bodyPr/>
          <a:lstStyle/>
          <a:p>
            <a:fld id="{FA8FD632-245B-410D-BCC4-8BF8D37AB67F}" type="slidenum">
              <a:rPr lang="en-US" smtClean="0"/>
              <a:t>9</a:t>
            </a:fld>
            <a:endParaRPr lang="en-US"/>
          </a:p>
        </p:txBody>
      </p:sp>
    </p:spTree>
    <p:extLst>
      <p:ext uri="{BB962C8B-B14F-4D97-AF65-F5344CB8AC3E}">
        <p14:creationId xmlns:p14="http://schemas.microsoft.com/office/powerpoint/2010/main" val="1417471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the abstractions pose no runtime overhead)</a:t>
            </a:r>
          </a:p>
          <a:p>
            <a:endParaRPr lang="en-US" dirty="0"/>
          </a:p>
          <a:p>
            <a:r>
              <a:rPr lang="en-US" dirty="0"/>
              <a:t>We have evaluated the abstractions on </a:t>
            </a:r>
            <a:r>
              <a:rPr lang="en-US" dirty="0" err="1"/>
              <a:t>PolyBench</a:t>
            </a:r>
            <a:r>
              <a:rPr lang="en-US" dirty="0"/>
              <a:t>/C, a standard HPC benchmark suite with algorithms from different areas, reimplementing each algorithm using Noarr and comparing them to the C baselines.</a:t>
            </a:r>
          </a:p>
          <a:p>
            <a:endParaRPr lang="en-US" dirty="0"/>
          </a:p>
          <a:p>
            <a:r>
              <a:rPr lang="en-US" dirty="0"/>
              <a:t>The plot shows the relative speedup, highlighting the difference in performance; most implementations perform on par, showing the abstraction does not introduce measurable runtime overhead.</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10</a:t>
            </a:fld>
            <a:endParaRPr lang="en-US"/>
          </a:p>
        </p:txBody>
      </p:sp>
    </p:spTree>
    <p:extLst>
      <p:ext uri="{BB962C8B-B14F-4D97-AF65-F5344CB8AC3E}">
        <p14:creationId xmlns:p14="http://schemas.microsoft.com/office/powerpoint/2010/main" val="2770268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4231C-99AF-A37D-3B97-99027AECD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6B43E-916F-F0E8-143C-150E2EA8DA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834A780-56D1-B3D7-FD6B-22EBBB772E35}"/>
              </a:ext>
            </a:extLst>
          </p:cNvPr>
          <p:cNvSpPr>
            <a:spLocks noGrp="1"/>
          </p:cNvSpPr>
          <p:nvPr>
            <p:ph type="body" idx="1"/>
          </p:nvPr>
        </p:nvSpPr>
        <p:spPr/>
        <p:txBody>
          <a:bodyPr/>
          <a:lstStyle/>
          <a:p>
            <a:r>
              <a:rPr lang="en-US" dirty="0"/>
              <a:t>(key idea: the abstractions pose no runtime overhead)</a:t>
            </a:r>
          </a:p>
          <a:p>
            <a:endParaRPr lang="en-US" dirty="0"/>
          </a:p>
          <a:p>
            <a:r>
              <a:rPr lang="en-US" dirty="0"/>
              <a:t>(…)</a:t>
            </a:r>
          </a:p>
          <a:p>
            <a:endParaRPr lang="en-US" dirty="0"/>
          </a:p>
          <a:p>
            <a:r>
              <a:rPr lang="en-US" dirty="0"/>
              <a:t>For parallelization, we reimplemented OpenMP- and TBB-parallelized modifications of some algorithms, as well as the </a:t>
            </a:r>
            <a:r>
              <a:rPr lang="en-US" dirty="0" err="1"/>
              <a:t>PolyBench</a:t>
            </a:r>
            <a:r>
              <a:rPr lang="en-US" dirty="0"/>
              <a:t>/GPU suite, and obtained similar results.</a:t>
            </a:r>
          </a:p>
        </p:txBody>
      </p:sp>
      <p:sp>
        <p:nvSpPr>
          <p:cNvPr id="4" name="Slide Number Placeholder 3">
            <a:extLst>
              <a:ext uri="{FF2B5EF4-FFF2-40B4-BE49-F238E27FC236}">
                <a16:creationId xmlns:a16="http://schemas.microsoft.com/office/drawing/2014/main" id="{9CDDD263-2623-C8A3-A72C-EAD1D38E6FD1}"/>
              </a:ext>
            </a:extLst>
          </p:cNvPr>
          <p:cNvSpPr>
            <a:spLocks noGrp="1"/>
          </p:cNvSpPr>
          <p:nvPr>
            <p:ph type="sldNum" sz="quarter" idx="5"/>
          </p:nvPr>
        </p:nvSpPr>
        <p:spPr/>
        <p:txBody>
          <a:bodyPr/>
          <a:lstStyle/>
          <a:p>
            <a:fld id="{FA8FD632-245B-410D-BCC4-8BF8D37AB67F}" type="slidenum">
              <a:rPr lang="en-US" smtClean="0"/>
              <a:t>11</a:t>
            </a:fld>
            <a:endParaRPr lang="en-US"/>
          </a:p>
        </p:txBody>
      </p:sp>
    </p:spTree>
    <p:extLst>
      <p:ext uri="{BB962C8B-B14F-4D97-AF65-F5344CB8AC3E}">
        <p14:creationId xmlns:p14="http://schemas.microsoft.com/office/powerpoint/2010/main" val="1142521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12</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13</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2D76E-86D8-FA1D-47DD-53FBCC7A0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0945A-525F-81D2-1AA3-A8CDC6E46A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95BA28-DB8B-FD79-D119-84FD17F47E87}"/>
              </a:ext>
            </a:extLst>
          </p:cNvPr>
          <p:cNvSpPr>
            <a:spLocks noGrp="1"/>
          </p:cNvSpPr>
          <p:nvPr>
            <p:ph type="body" idx="1"/>
          </p:nvPr>
        </p:nvSpPr>
        <p:spPr/>
        <p:txBody>
          <a:bodyPr/>
          <a:lstStyle/>
          <a:p>
            <a:r>
              <a:rPr lang="en-US" dirty="0"/>
              <a:t>(key idea: autotuning made easier)</a:t>
            </a:r>
          </a:p>
          <a:p>
            <a:endParaRPr lang="en-US" dirty="0"/>
          </a:p>
          <a:p>
            <a:pPr marL="0" indent="0">
              <a:buFontTx/>
              <a:buNone/>
            </a:pPr>
            <a:r>
              <a:rPr lang="en-US" dirty="0"/>
              <a:t>(…)</a:t>
            </a:r>
          </a:p>
          <a:p>
            <a:endParaRPr lang="en-US" dirty="0"/>
          </a:p>
          <a:p>
            <a:r>
              <a:rPr lang="en-US" dirty="0"/>
              <a:t>We have implemented an autotuning interface that allows for specifying the tuned parameters in the same code as the algorithm and using them as regular constants.</a:t>
            </a:r>
          </a:p>
          <a:p>
            <a:br>
              <a:rPr lang="en-US" dirty="0"/>
            </a:br>
            <a:r>
              <a:rPr lang="en-US" dirty="0"/>
              <a:t>This specification is independent of the autotuning backend, and the whole autotuning process is handled automatically, which makes switching between different autotuning frameworks easy.</a:t>
            </a:r>
          </a:p>
        </p:txBody>
      </p:sp>
      <p:sp>
        <p:nvSpPr>
          <p:cNvPr id="4" name="Slide Number Placeholder 3">
            <a:extLst>
              <a:ext uri="{FF2B5EF4-FFF2-40B4-BE49-F238E27FC236}">
                <a16:creationId xmlns:a16="http://schemas.microsoft.com/office/drawing/2014/main" id="{76F1F655-2225-F883-4EB5-DE7E1007C6E3}"/>
              </a:ext>
            </a:extLst>
          </p:cNvPr>
          <p:cNvSpPr>
            <a:spLocks noGrp="1"/>
          </p:cNvSpPr>
          <p:nvPr>
            <p:ph type="sldNum" sz="quarter" idx="5"/>
          </p:nvPr>
        </p:nvSpPr>
        <p:spPr/>
        <p:txBody>
          <a:bodyPr/>
          <a:lstStyle/>
          <a:p>
            <a:fld id="{FA8FD632-245B-410D-BCC4-8BF8D37AB67F}" type="slidenum">
              <a:rPr lang="en-US" smtClean="0"/>
              <a:t>14</a:t>
            </a:fld>
            <a:endParaRPr lang="en-US"/>
          </a:p>
        </p:txBody>
      </p:sp>
    </p:spTree>
    <p:extLst>
      <p:ext uri="{BB962C8B-B14F-4D97-AF65-F5344CB8AC3E}">
        <p14:creationId xmlns:p14="http://schemas.microsoft.com/office/powerpoint/2010/main" val="1722159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15</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8A69-FFF3-3A23-DA52-4F2DF604D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2818-4E55-EA2D-DF6F-375C3EB093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8896F-4C4A-9A2D-DF90-D9F7BA8F9AC8}"/>
              </a:ext>
            </a:extLst>
          </p:cNvPr>
          <p:cNvSpPr>
            <a:spLocks noGrp="1"/>
          </p:cNvSpPr>
          <p:nvPr>
            <p:ph type="body" idx="1"/>
          </p:nvPr>
        </p:nvSpPr>
        <p:spPr/>
        <p:txBody>
          <a:bodyPr/>
          <a:lstStyle/>
          <a:p>
            <a:r>
              <a:rPr lang="en-US" dirty="0"/>
              <a:t>(key idea: why)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type translation worked naïvely by following the physical layout, the logical ordering of the data could be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follows the logical ordering of the elements based on the index space and sends them correctly.</a:t>
            </a:r>
          </a:p>
          <a:p>
            <a:endParaRPr lang="en-US" dirty="0"/>
          </a:p>
          <a:p>
            <a:r>
              <a:rPr lang="en-US" dirty="0"/>
              <a:t>This, of course, works in collective operations, such as scatter and gather, as well.</a:t>
            </a:r>
          </a:p>
        </p:txBody>
      </p:sp>
      <p:sp>
        <p:nvSpPr>
          <p:cNvPr id="4" name="Slide Number Placeholder 3">
            <a:extLst>
              <a:ext uri="{FF2B5EF4-FFF2-40B4-BE49-F238E27FC236}">
                <a16:creationId xmlns:a16="http://schemas.microsoft.com/office/drawing/2014/main" id="{2DE61FD7-F7AC-AAA7-00AE-A5F72A70E7B5}"/>
              </a:ext>
            </a:extLst>
          </p:cNvPr>
          <p:cNvSpPr>
            <a:spLocks noGrp="1"/>
          </p:cNvSpPr>
          <p:nvPr>
            <p:ph type="sldNum" sz="quarter" idx="5"/>
          </p:nvPr>
        </p:nvSpPr>
        <p:spPr/>
        <p:txBody>
          <a:bodyPr/>
          <a:lstStyle/>
          <a:p>
            <a:fld id="{FA8FD632-245B-410D-BCC4-8BF8D37AB67F}" type="slidenum">
              <a:rPr lang="en-US" smtClean="0"/>
              <a:t>16</a:t>
            </a:fld>
            <a:endParaRPr lang="en-US"/>
          </a:p>
        </p:txBody>
      </p:sp>
    </p:spTree>
    <p:extLst>
      <p:ext uri="{BB962C8B-B14F-4D97-AF65-F5344CB8AC3E}">
        <p14:creationId xmlns:p14="http://schemas.microsoft.com/office/powerpoint/2010/main" val="1485590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it is very great)</a:t>
            </a:r>
          </a:p>
          <a:p>
            <a:endParaRPr lang="en-US" dirty="0"/>
          </a:p>
          <a:p>
            <a:r>
              <a:rPr lang="en-US" dirty="0"/>
              <a:t>We have compared our approach with various state-of-the-art C++ MPI bindings in terms of how they support layout-agnostic data distribution. For that, we have identified 6 main characteristics.</a:t>
            </a:r>
          </a:p>
          <a:p>
            <a:endParaRPr lang="en-US" dirty="0"/>
          </a:p>
          <a:p>
            <a:r>
              <a:rPr lang="en-US" dirty="0"/>
              <a:t>Our approach is the only one that automatically handles differing physical layouts of multidimensional data on opposite endpoints of communication,</a:t>
            </a:r>
          </a:p>
          <a:p>
            <a:r>
              <a:rPr lang="en-US" dirty="0"/>
              <a:t>checks type safety and supports collective operations such as scatter and gather.</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17</a:t>
            </a:fld>
            <a:endParaRPr lang="en-US"/>
          </a:p>
        </p:txBody>
      </p:sp>
    </p:spTree>
    <p:extLst>
      <p:ext uri="{BB962C8B-B14F-4D97-AF65-F5344CB8AC3E}">
        <p14:creationId xmlns:p14="http://schemas.microsoft.com/office/powerpoint/2010/main" val="2799059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83BFA-8783-1636-904D-607405B47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3AAE5-A878-F56E-4C09-318E4AB2FA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7B76B8-E708-FD49-531B-1B09985ABB4E}"/>
              </a:ext>
            </a:extLst>
          </p:cNvPr>
          <p:cNvSpPr>
            <a:spLocks noGrp="1"/>
          </p:cNvSpPr>
          <p:nvPr>
            <p:ph type="body" idx="1"/>
          </p:nvPr>
        </p:nvSpPr>
        <p:spPr/>
        <p:txBody>
          <a:bodyPr/>
          <a:lstStyle/>
          <a:p>
            <a:r>
              <a:rPr lang="en-US" dirty="0"/>
              <a:t>(key idea: it is very great)</a:t>
            </a:r>
          </a:p>
          <a:p>
            <a:endParaRPr lang="en-US" dirty="0"/>
          </a:p>
          <a:p>
            <a:r>
              <a:rPr lang="en-US" dirty="0"/>
              <a:t>(…)</a:t>
            </a:r>
          </a:p>
          <a:p>
            <a:endParaRPr lang="en-US" dirty="0"/>
          </a:p>
          <a:p>
            <a:r>
              <a:rPr lang="en-US" dirty="0"/>
              <a:t>In terms of performance, our approach does not add a significant overhead compared to a hand-written native MPI distributed computation.</a:t>
            </a:r>
          </a:p>
          <a:p>
            <a:endParaRPr lang="en-US" dirty="0"/>
          </a:p>
          <a:p>
            <a:r>
              <a:rPr lang="en-US" dirty="0"/>
              <a:t>Here we show the runtime of an application using various bindings; lower is better.</a:t>
            </a:r>
          </a:p>
          <a:p>
            <a:endParaRPr lang="en-US" dirty="0"/>
          </a:p>
          <a:p>
            <a:r>
              <a:rPr lang="en-US" dirty="0"/>
              <a:t>The plot on the left shows the computation on small data of various layouts, highlighting the possible performance overhead introduced by the MPI bindings,</a:t>
            </a:r>
            <a:br>
              <a:rPr lang="en-US" dirty="0"/>
            </a:br>
            <a:r>
              <a:rPr lang="en-US" dirty="0"/>
              <a:t>while the one on the right highlights possible performance differences between different choices of layouts.</a:t>
            </a:r>
          </a:p>
          <a:p>
            <a:endParaRPr lang="en-US" dirty="0"/>
          </a:p>
          <a:p>
            <a:r>
              <a:rPr lang="en-US" dirty="0"/>
              <a:t>In both plots, our approach performs on par with the hand-written implementation.</a:t>
            </a:r>
          </a:p>
        </p:txBody>
      </p:sp>
      <p:sp>
        <p:nvSpPr>
          <p:cNvPr id="4" name="Slide Number Placeholder 3">
            <a:extLst>
              <a:ext uri="{FF2B5EF4-FFF2-40B4-BE49-F238E27FC236}">
                <a16:creationId xmlns:a16="http://schemas.microsoft.com/office/drawing/2014/main" id="{ECDBFCA8-23DF-8800-D1EA-B5EF55065B8A}"/>
              </a:ext>
            </a:extLst>
          </p:cNvPr>
          <p:cNvSpPr>
            <a:spLocks noGrp="1"/>
          </p:cNvSpPr>
          <p:nvPr>
            <p:ph type="sldNum" sz="quarter" idx="5"/>
          </p:nvPr>
        </p:nvSpPr>
        <p:spPr/>
        <p:txBody>
          <a:bodyPr/>
          <a:lstStyle/>
          <a:p>
            <a:fld id="{FA8FD632-245B-410D-BCC4-8BF8D37AB67F}" type="slidenum">
              <a:rPr lang="en-US" smtClean="0"/>
              <a:t>18</a:t>
            </a:fld>
            <a:endParaRPr lang="en-US"/>
          </a:p>
        </p:txBody>
      </p:sp>
    </p:spTree>
    <p:extLst>
      <p:ext uri="{BB962C8B-B14F-4D97-AF65-F5344CB8AC3E}">
        <p14:creationId xmlns:p14="http://schemas.microsoft.com/office/powerpoint/2010/main" val="1100732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knowledge transfer to stencil computation)</a:t>
            </a:r>
          </a:p>
          <a:p>
            <a:endParaRPr lang="en-US" dirty="0"/>
          </a:p>
          <a:p>
            <a:r>
              <a:rPr lang="en-US" dirty="0"/>
              <a:t>Covering the major aspects of general-purpose HPC programming, we studied the application of the principles to more specific domains.</a:t>
            </a:r>
          </a:p>
          <a:p>
            <a:endParaRPr lang="en-US" dirty="0"/>
          </a:p>
          <a:p>
            <a:r>
              <a:rPr lang="en-US" dirty="0"/>
              <a:t>One domain from our past research where we could expand on the abstractions was stencil computations.</a:t>
            </a:r>
          </a:p>
          <a:p>
            <a:r>
              <a:rPr lang="en-US" dirty="0"/>
              <a:t>Stencil computations are used in many fields, for example, weather prediction and image processing.</a:t>
            </a:r>
          </a:p>
          <a:p>
            <a:endParaRPr lang="en-US" dirty="0"/>
          </a:p>
          <a:p>
            <a:r>
              <a:rPr lang="en-US" dirty="0"/>
              <a:t>They are computed on regular grids with cells.</a:t>
            </a:r>
          </a:p>
          <a:p>
            <a:r>
              <a:rPr lang="en-US" dirty="0"/>
              <a:t>And the grid is updated by applying a neighborhood-based rule to each cell.</a:t>
            </a:r>
          </a:p>
          <a:p>
            <a:endParaRPr lang="en-US" dirty="0"/>
          </a:p>
          <a:p>
            <a:r>
              <a:rPr lang="en-US" dirty="0"/>
              <a:t>While the earlier abstractions are usable for defining and optimizing general stencil computations,</a:t>
            </a:r>
            <a:br>
              <a:rPr lang="en-US" dirty="0"/>
            </a:br>
            <a:r>
              <a:rPr lang="en-US" dirty="0"/>
              <a:t>we have studied whether we can abstract away even more details of the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19</a:t>
            </a:fld>
            <a:endParaRPr lang="en-US"/>
          </a:p>
        </p:txBody>
      </p:sp>
    </p:spTree>
    <p:extLst>
      <p:ext uri="{BB962C8B-B14F-4D97-AF65-F5344CB8AC3E}">
        <p14:creationId xmlns:p14="http://schemas.microsoft.com/office/powerpoint/2010/main" val="3622550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20</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there is some template metaprogramming magic that enables cool stuff)</a:t>
            </a:r>
          </a:p>
          <a:p>
            <a:endParaRPr lang="en-US" dirty="0"/>
          </a:p>
          <a:p>
            <a:r>
              <a:rPr lang="en-US" dirty="0"/>
              <a:t>This type-level expression can then be evaluated by applying specific templated components via metaprogramming; they specify</a:t>
            </a:r>
          </a:p>
          <a:p>
            <a:pPr marL="171450" indent="-171450">
              <a:buFontTx/>
              <a:buChar char="-"/>
            </a:pPr>
            <a:r>
              <a:rPr lang="en-US" dirty="0"/>
              <a:t>How the grid and the cells are encoded</a:t>
            </a:r>
          </a:p>
          <a:p>
            <a:pPr marL="171450" indent="-171450">
              <a:buFontTx/>
              <a:buChar char="-"/>
            </a:pPr>
            <a:r>
              <a:rPr lang="en-US" dirty="0"/>
              <a:t>How the update rules should be computed</a:t>
            </a:r>
          </a:p>
          <a:p>
            <a:pPr marL="171450" indent="-171450">
              <a:buFontTx/>
              <a:buChar char="-"/>
            </a:pPr>
            <a:r>
              <a:rPr lang="en-US" dirty="0"/>
              <a:t>Order of computation as well as the parallelization</a:t>
            </a:r>
          </a:p>
          <a:p>
            <a:pPr marL="171450" indent="-171450">
              <a:buFontTx/>
              <a:buChar char="-"/>
            </a:pPr>
            <a:endParaRPr lang="en-US" dirty="0"/>
          </a:p>
          <a:p>
            <a:pPr marL="0" indent="0">
              <a:buFontTx/>
              <a:buNone/>
            </a:pPr>
            <a:r>
              <a:rPr lang="en-US" dirty="0"/>
              <a:t>This enables faster development and prototyping of the automata and simplifies experimental exploration of different optimization techniques.</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21</a:t>
            </a:fld>
            <a:endParaRPr lang="en-US"/>
          </a:p>
        </p:txBody>
      </p:sp>
    </p:spTree>
    <p:extLst>
      <p:ext uri="{BB962C8B-B14F-4D97-AF65-F5344CB8AC3E}">
        <p14:creationId xmlns:p14="http://schemas.microsoft.com/office/powerpoint/2010/main" val="45410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it can be fast)</a:t>
            </a:r>
          </a:p>
          <a:p>
            <a:endParaRPr lang="en-US" dirty="0"/>
          </a:p>
          <a:p>
            <a:r>
              <a:rPr lang="en-US" dirty="0"/>
              <a:t>Here, we visualize possible speedup gains enabled by the applicable optimization strategies on multiple cellular automata.</a:t>
            </a:r>
          </a:p>
          <a:p>
            <a:r>
              <a:rPr lang="en-US" dirty="0"/>
              <a:t>The plot shows that for most of the automata, the right choice of (automatically applied) optimizations may lead to between one and two orders of magnitude over already GPU-parallelized solutions.</a:t>
            </a:r>
          </a:p>
        </p:txBody>
      </p:sp>
      <p:sp>
        <p:nvSpPr>
          <p:cNvPr id="4" name="Slide Number Placeholder 3"/>
          <p:cNvSpPr>
            <a:spLocks noGrp="1"/>
          </p:cNvSpPr>
          <p:nvPr>
            <p:ph type="sldNum" sz="quarter" idx="5"/>
          </p:nvPr>
        </p:nvSpPr>
        <p:spPr/>
        <p:txBody>
          <a:bodyPr/>
          <a:lstStyle/>
          <a:p>
            <a:fld id="{FA8FD632-245B-410D-BCC4-8BF8D37AB67F}" type="slidenum">
              <a:rPr lang="en-US" smtClean="0"/>
              <a:t>22</a:t>
            </a:fld>
            <a:endParaRPr lang="en-US"/>
          </a:p>
        </p:txBody>
      </p:sp>
    </p:spTree>
    <p:extLst>
      <p:ext uri="{BB962C8B-B14F-4D97-AF65-F5344CB8AC3E}">
        <p14:creationId xmlns:p14="http://schemas.microsoft.com/office/powerpoint/2010/main" val="1504701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have shown the practical usefulness of abstractions in many aspects of HPC algorithm design.</a:t>
            </a:r>
          </a:p>
          <a:p>
            <a:endParaRPr lang="en-US" dirty="0"/>
          </a:p>
          <a:p>
            <a:r>
              <a:rPr lang="en-US" dirty="0"/>
              <a:t>These abstractions make the developed algorithms easier to write, more flexible to transform, and allow automatic exploration of optimizations.</a:t>
            </a:r>
          </a:p>
          <a:p>
            <a:endParaRPr lang="en-US" dirty="0"/>
          </a:p>
          <a:p>
            <a:r>
              <a:rPr lang="en-US" dirty="0"/>
              <a:t>Reacting to the recent introduction of Large language models to the area of software design, we studied their ability to optimize code.</a:t>
            </a:r>
          </a:p>
        </p:txBody>
      </p:sp>
      <p:sp>
        <p:nvSpPr>
          <p:cNvPr id="4" name="Slide Number Placeholder 3"/>
          <p:cNvSpPr>
            <a:spLocks noGrp="1"/>
          </p:cNvSpPr>
          <p:nvPr>
            <p:ph type="sldNum" sz="quarter" idx="5"/>
          </p:nvPr>
        </p:nvSpPr>
        <p:spPr/>
        <p:txBody>
          <a:bodyPr/>
          <a:lstStyle/>
          <a:p>
            <a:fld id="{FA8FD632-245B-410D-BCC4-8BF8D37AB67F}" type="slidenum">
              <a:rPr lang="en-US" smtClean="0"/>
              <a:t>23</a:t>
            </a:fld>
            <a:endParaRPr lang="en-US"/>
          </a:p>
        </p:txBody>
      </p:sp>
    </p:spTree>
    <p:extLst>
      <p:ext uri="{BB962C8B-B14F-4D97-AF65-F5344CB8AC3E}">
        <p14:creationId xmlns:p14="http://schemas.microsoft.com/office/powerpoint/2010/main" val="1243571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tutoring; what is it?)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LLMs could implement simple algorithms but were not yet competent enough to make high-level design decisions for efficient computation, especially in parallel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Therefore, our research has focused on identifying what helps LLMs generate better code and what does not.</a:t>
            </a:r>
          </a:p>
          <a:p>
            <a:endParaRPr lang="en-US" dirty="0"/>
          </a:p>
          <a:p>
            <a:r>
              <a:rPr lang="en-US" dirty="0"/>
              <a:t>In our first LLM study, we examined whether adding increasingly detailed high-level design hints or outright dictating main design decisions significantly improves the generated CUDA code compared to a naïve approach that simply requests an efficient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24</a:t>
            </a:fld>
            <a:endParaRPr lang="en-US"/>
          </a:p>
        </p:txBody>
      </p:sp>
    </p:spTree>
    <p:extLst>
      <p:ext uri="{BB962C8B-B14F-4D97-AF65-F5344CB8AC3E}">
        <p14:creationId xmlns:p14="http://schemas.microsoft.com/office/powerpoint/2010/main" val="42350598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25</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59621-2A59-0C97-52C0-C33469B00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D564E-A314-C164-F46B-625533C8E4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9CA489-8F89-177F-1849-D0ED6E03E381}"/>
              </a:ext>
            </a:extLst>
          </p:cNvPr>
          <p:cNvSpPr>
            <a:spLocks noGrp="1"/>
          </p:cNvSpPr>
          <p:nvPr>
            <p:ph type="body" idx="1"/>
          </p:nvPr>
        </p:nvSpPr>
        <p:spPr/>
        <p:txBody>
          <a:bodyPr/>
          <a:lstStyle/>
          <a:p>
            <a:r>
              <a:rPr lang="en-US" dirty="0"/>
              <a:t>(key idea: the performance progression matches the assumption)</a:t>
            </a:r>
          </a:p>
          <a:p>
            <a:endParaRPr lang="en-US" dirty="0"/>
          </a:p>
          <a:p>
            <a:r>
              <a:rPr lang="en-US" dirty="0"/>
              <a:t>Here, we can see the plots for the runtime measurements of the generated code for the Histogram and Game of Life algorithms. (lower is better)</a:t>
            </a:r>
          </a:p>
          <a:p>
            <a:endParaRPr lang="en-US" dirty="0"/>
          </a:p>
          <a:p>
            <a:r>
              <a:rPr lang="en-US" dirty="0"/>
              <a:t>The x-axis of both indicates increasingly specific prompts, and the horizontal lines mark various reference implementations.</a:t>
            </a:r>
          </a:p>
          <a:p>
            <a:endParaRPr lang="en-US" dirty="0"/>
          </a:p>
          <a:p>
            <a:r>
              <a:rPr lang="en-US" dirty="0"/>
              <a:t>The performance improves with more specific prompts, which is slightly noticeable for the Histogram algorithm, and more so for the Game of Life algorithm.</a:t>
            </a:r>
          </a:p>
        </p:txBody>
      </p:sp>
      <p:sp>
        <p:nvSpPr>
          <p:cNvPr id="4" name="Slide Number Placeholder 3">
            <a:extLst>
              <a:ext uri="{FF2B5EF4-FFF2-40B4-BE49-F238E27FC236}">
                <a16:creationId xmlns:a16="http://schemas.microsoft.com/office/drawing/2014/main" id="{EDF542DA-3928-5CE4-0AD1-F0FEC77A5027}"/>
              </a:ext>
            </a:extLst>
          </p:cNvPr>
          <p:cNvSpPr>
            <a:spLocks noGrp="1"/>
          </p:cNvSpPr>
          <p:nvPr>
            <p:ph type="sldNum" sz="quarter" idx="5"/>
          </p:nvPr>
        </p:nvSpPr>
        <p:spPr/>
        <p:txBody>
          <a:bodyPr/>
          <a:lstStyle/>
          <a:p>
            <a:fld id="{FA8FD632-245B-410D-BCC4-8BF8D37AB67F}" type="slidenum">
              <a:rPr lang="en-US" smtClean="0"/>
              <a:t>26</a:t>
            </a:fld>
            <a:endParaRPr lang="en-US"/>
          </a:p>
        </p:txBody>
      </p:sp>
    </p:spTree>
    <p:extLst>
      <p:ext uri="{BB962C8B-B14F-4D97-AF65-F5344CB8AC3E}">
        <p14:creationId xmlns:p14="http://schemas.microsoft.com/office/powerpoint/2010/main" val="1253381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F462-4618-DB58-BD2C-D66FAB5C1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E319C-5AB9-E042-F397-3CA5072113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9EDBE9-BF48-3D37-0D9B-16FC8FC0CFEB}"/>
              </a:ext>
            </a:extLst>
          </p:cNvPr>
          <p:cNvSpPr>
            <a:spLocks noGrp="1"/>
          </p:cNvSpPr>
          <p:nvPr>
            <p:ph type="body" idx="1"/>
          </p:nvPr>
        </p:nvSpPr>
        <p:spPr/>
        <p:txBody>
          <a:bodyPr/>
          <a:lstStyle/>
          <a:p>
            <a:r>
              <a:rPr lang="en-US" dirty="0"/>
              <a:t>(key idea: LLMs improve over time, the complexity threshold shifts)</a:t>
            </a:r>
          </a:p>
          <a:p>
            <a:endParaRPr lang="en-US" dirty="0"/>
          </a:p>
          <a:p>
            <a:r>
              <a:rPr lang="en-US" dirty="0"/>
              <a:t>When we presented our results at the EuroPar conference, the LLM state of the art had already shifted.</a:t>
            </a:r>
          </a:p>
          <a:p>
            <a:r>
              <a:rPr lang="en-US" dirty="0"/>
              <a:t>The then-current GPT-5 provided expert-level performance on the Game of Life algorithm for all prompts except the naïve one, and it successfully benefited from tutoring for the k-Nearest Neighbor algorithm.</a:t>
            </a:r>
          </a:p>
        </p:txBody>
      </p:sp>
      <p:sp>
        <p:nvSpPr>
          <p:cNvPr id="4" name="Slide Number Placeholder 3">
            <a:extLst>
              <a:ext uri="{FF2B5EF4-FFF2-40B4-BE49-F238E27FC236}">
                <a16:creationId xmlns:a16="http://schemas.microsoft.com/office/drawing/2014/main" id="{81EBB06B-5F9F-67CB-9987-DDB9DCE896EA}"/>
              </a:ext>
            </a:extLst>
          </p:cNvPr>
          <p:cNvSpPr>
            <a:spLocks noGrp="1"/>
          </p:cNvSpPr>
          <p:nvPr>
            <p:ph type="sldNum" sz="quarter" idx="5"/>
          </p:nvPr>
        </p:nvSpPr>
        <p:spPr/>
        <p:txBody>
          <a:bodyPr/>
          <a:lstStyle/>
          <a:p>
            <a:fld id="{FA8FD632-245B-410D-BCC4-8BF8D37AB67F}" type="slidenum">
              <a:rPr lang="en-US" smtClean="0"/>
              <a:t>27</a:t>
            </a:fld>
            <a:endParaRPr lang="en-US"/>
          </a:p>
        </p:txBody>
      </p:sp>
    </p:spTree>
    <p:extLst>
      <p:ext uri="{BB962C8B-B14F-4D97-AF65-F5344CB8AC3E}">
        <p14:creationId xmlns:p14="http://schemas.microsoft.com/office/powerpoint/2010/main" val="2367210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28</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we did a lot)</a:t>
            </a:r>
          </a:p>
          <a:p>
            <a:endParaRPr lang="en-US" dirty="0"/>
          </a:p>
          <a:p>
            <a:r>
              <a:rPr lang="en-US" dirty="0"/>
              <a:t>In the experimental setup, the optimization pipeline consisted of two generation steps:</a:t>
            </a:r>
          </a:p>
          <a:p>
            <a:pPr marL="171450" indent="-171450">
              <a:buFontTx/>
              <a:buChar char="-"/>
            </a:pPr>
            <a:r>
              <a:rPr lang="en-US" dirty="0"/>
              <a:t>The first translated the baseline algorithm into the given abstraction</a:t>
            </a:r>
          </a:p>
          <a:p>
            <a:pPr marL="171450" indent="-171450">
              <a:buFontTx/>
              <a:buChar char="-"/>
            </a:pPr>
            <a:r>
              <a:rPr lang="en-US" dirty="0"/>
              <a:t>And the second one optimized the translation that best matched the baseline</a:t>
            </a:r>
          </a:p>
          <a:p>
            <a:pPr marL="0" indent="0">
              <a:buFontTx/>
              <a:buNone/>
            </a:pPr>
            <a:endParaRPr lang="en-US" dirty="0"/>
          </a:p>
          <a:p>
            <a:pPr marL="0" indent="0">
              <a:buFontTx/>
              <a:buNone/>
            </a:pPr>
            <a:r>
              <a:rPr lang="en-US" dirty="0"/>
              <a:t>We have applied this workflow to the 30 </a:t>
            </a:r>
            <a:r>
              <a:rPr lang="en-US" dirty="0" err="1"/>
              <a:t>PolyBench</a:t>
            </a:r>
            <a:r>
              <a:rPr lang="en-US" dirty="0"/>
              <a:t>/C algorithms.</a:t>
            </a:r>
          </a:p>
        </p:txBody>
      </p:sp>
      <p:sp>
        <p:nvSpPr>
          <p:cNvPr id="4" name="Slide Number Placeholder 3"/>
          <p:cNvSpPr>
            <a:spLocks noGrp="1"/>
          </p:cNvSpPr>
          <p:nvPr>
            <p:ph type="sldNum" sz="quarter" idx="5"/>
          </p:nvPr>
        </p:nvSpPr>
        <p:spPr/>
        <p:txBody>
          <a:bodyPr/>
          <a:lstStyle/>
          <a:p>
            <a:fld id="{FA8FD632-245B-410D-BCC4-8BF8D37AB67F}" type="slidenum">
              <a:rPr lang="en-US" smtClean="0"/>
              <a:t>29</a:t>
            </a:fld>
            <a:endParaRPr lang="en-US"/>
          </a:p>
        </p:txBody>
      </p:sp>
    </p:spTree>
    <p:extLst>
      <p:ext uri="{BB962C8B-B14F-4D97-AF65-F5344CB8AC3E}">
        <p14:creationId xmlns:p14="http://schemas.microsoft.com/office/powerpoint/2010/main" val="42847974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 we show the expected speedup and validity for the different abstractions and C. (in both cases, upper is better)</a:t>
            </a:r>
          </a:p>
          <a:p>
            <a:r>
              <a:rPr lang="en-US" dirty="0"/>
              <a:t>The x-axis shows the number of attempts; more attempts generally lead to a higher chance of finding a successful optimization.</a:t>
            </a:r>
          </a:p>
          <a:p>
            <a:r>
              <a:rPr lang="en-US" dirty="0"/>
              <a:t>Different columns show different prompting strategies.</a:t>
            </a:r>
            <a:br>
              <a:rPr lang="en-US" dirty="0"/>
            </a:br>
            <a:br>
              <a:rPr lang="en-US" dirty="0"/>
            </a:br>
            <a:r>
              <a:rPr lang="en-US" dirty="0"/>
              <a:t>We observed that the tested abstractions worsened both performance and correctness of the generated code, as generating C code yielded the best performance and correctness overall.</a:t>
            </a:r>
          </a:p>
          <a:p>
            <a:r>
              <a:rPr lang="en-US" dirty="0"/>
              <a:t>Furthermore, the choice of prompting strategy had a greater effect than the choice of representation.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30</a:t>
            </a:fld>
            <a:endParaRPr lang="en-US"/>
          </a:p>
        </p:txBody>
      </p:sp>
    </p:spTree>
    <p:extLst>
      <p:ext uri="{BB962C8B-B14F-4D97-AF65-F5344CB8AC3E}">
        <p14:creationId xmlns:p14="http://schemas.microsoft.com/office/powerpoint/2010/main" val="20157668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31</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32</a:t>
            </a:fld>
            <a:endParaRPr lang="en-US"/>
          </a:p>
        </p:txBody>
      </p:sp>
    </p:spTree>
    <p:extLst>
      <p:ext uri="{BB962C8B-B14F-4D97-AF65-F5344CB8AC3E}">
        <p14:creationId xmlns:p14="http://schemas.microsoft.com/office/powerpoint/2010/main" val="15839729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33</a:t>
            </a:fld>
            <a:endParaRPr lang="en-US"/>
          </a:p>
        </p:txBody>
      </p:sp>
    </p:spTree>
    <p:extLst>
      <p:ext uri="{BB962C8B-B14F-4D97-AF65-F5344CB8AC3E}">
        <p14:creationId xmlns:p14="http://schemas.microsoft.com/office/powerpoint/2010/main" val="3029645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34</a:t>
            </a:fld>
            <a:endParaRPr lang="en-US"/>
          </a:p>
        </p:txBody>
      </p:sp>
    </p:spTree>
    <p:extLst>
      <p:ext uri="{BB962C8B-B14F-4D97-AF65-F5344CB8AC3E}">
        <p14:creationId xmlns:p14="http://schemas.microsoft.com/office/powerpoint/2010/main" val="32454676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35</a:t>
            </a:fld>
            <a:endParaRPr lang="en-US"/>
          </a:p>
        </p:txBody>
      </p:sp>
    </p:spTree>
    <p:extLst>
      <p:ext uri="{BB962C8B-B14F-4D97-AF65-F5344CB8AC3E}">
        <p14:creationId xmlns:p14="http://schemas.microsoft.com/office/powerpoint/2010/main" val="11522651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36</a:t>
            </a:fld>
            <a:endParaRPr lang="en-US"/>
          </a:p>
        </p:txBody>
      </p:sp>
    </p:spTree>
    <p:extLst>
      <p:ext uri="{BB962C8B-B14F-4D97-AF65-F5344CB8AC3E}">
        <p14:creationId xmlns:p14="http://schemas.microsoft.com/office/powerpoint/2010/main" val="4943765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37</a:t>
            </a:fld>
            <a:endParaRPr lang="en-US"/>
          </a:p>
        </p:txBody>
      </p:sp>
    </p:spTree>
    <p:extLst>
      <p:ext uri="{BB962C8B-B14F-4D97-AF65-F5344CB8AC3E}">
        <p14:creationId xmlns:p14="http://schemas.microsoft.com/office/powerpoint/2010/main" val="6670419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38</a:t>
            </a:fld>
            <a:endParaRPr lang="en-US"/>
          </a:p>
        </p:txBody>
      </p:sp>
    </p:spTree>
    <p:extLst>
      <p:ext uri="{BB962C8B-B14F-4D97-AF65-F5344CB8AC3E}">
        <p14:creationId xmlns:p14="http://schemas.microsoft.com/office/powerpoint/2010/main" val="34989372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39</a:t>
            </a:fld>
            <a:endParaRPr lang="en-US"/>
          </a:p>
        </p:txBody>
      </p:sp>
    </p:spTree>
    <p:extLst>
      <p:ext uri="{BB962C8B-B14F-4D97-AF65-F5344CB8AC3E}">
        <p14:creationId xmlns:p14="http://schemas.microsoft.com/office/powerpoint/2010/main" val="20186753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Wingdings" panose="05000000000000000000" pitchFamily="2" charset="2"/>
              <a:buChar char="Ø"/>
            </a:pPr>
            <a:r>
              <a:rPr lang="en-US" dirty="0"/>
              <a:t>On the other hand, the text suffers from overstated novelty. The text is written in a way that risks giving the impression that the candidate invented the two </a:t>
            </a:r>
            <a:r>
              <a:rPr lang="en-US" dirty="0" err="1"/>
              <a:t>optimisation</a:t>
            </a:r>
            <a:r>
              <a:rPr lang="en-US" dirty="0"/>
              <a:t> paradigms (layout-agnostic and traversal-agnostic design) outright. This is misleading and, notably, does not serve the candidate's own case well: the candidate's contribution here is best </a:t>
            </a:r>
            <a:r>
              <a:rPr lang="en-US" dirty="0" err="1"/>
              <a:t>characterised</a:t>
            </a:r>
            <a:r>
              <a:rPr lang="en-US" dirty="0"/>
              <a:t> as a minor, incremental one within an existing landscape of </a:t>
            </a:r>
            <a:r>
              <a:rPr lang="en-US" dirty="0" err="1"/>
              <a:t>optimisations</a:t>
            </a:r>
            <a:r>
              <a:rPr lang="en-US" dirty="0"/>
              <a:t>. Which of these ideas can also be found in software like Kokkos or OpenMP's loop transformations?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My intention was to introduce the two “paradigms” as explicitly named design directions for improving user-directed optimization of algorithms in HPC. I agree that the wording could have been more careful.</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Kokkos views and their related </a:t>
            </a:r>
            <a:r>
              <a:rPr lang="en-US" dirty="0" err="1"/>
              <a:t>mdspans</a:t>
            </a:r>
            <a:r>
              <a:rPr lang="en-US" dirty="0"/>
              <a:t> from the standard C++ library support some level of layout agnosticism; namely, they enable defining general interfaces for multidimensional arrays as well as their (rectangular) sub-arrays, which might be useful, for example, for divide-and-conquer strategies in layout-agnostic algorithms.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This, even by itself, is very useful, and CuTe even provides a particularly powerful layout algebra for tensor computation on GPUs, but does not provide the same unified generalization to traversals, autotuning support, and MPI integration.</a:t>
            </a:r>
            <a:br>
              <a:rPr lang="en-US" baseline="0" dirty="0"/>
            </a:br>
            <a:br>
              <a:rPr lang="en-US" baseline="0" dirty="0"/>
            </a:br>
            <a:r>
              <a:rPr lang="en-US" baseline="0" dirty="0"/>
              <a:t>New standards of OpenMP support powerful loop transformations, which might be used to optimize algorithms. While this doesn’t enable traversal-agnostic design of algorithms, it offers a good alternative with similar benefits in many use cases, especially for algorithms that have a natural loop nest representation that allows for such transformations.</a:t>
            </a:r>
          </a:p>
          <a:p>
            <a:pPr marL="0" indent="0">
              <a:buFont typeface="Wingdings" panose="05000000000000000000" pitchFamily="2" charset="2"/>
              <a:buNone/>
            </a:pPr>
            <a:endParaRPr lang="en-US" baseline="0" dirty="0"/>
          </a:p>
          <a:p>
            <a:pPr marL="0" indent="0">
              <a:buFont typeface="Wingdings" panose="05000000000000000000" pitchFamily="2" charset="2"/>
              <a:buNone/>
            </a:pPr>
            <a:r>
              <a:rPr lang="en-US" baseline="0" dirty="0"/>
              <a:t>In the thesis (section 2.3.3), we lightly discuss some traversal-agnostic features of </a:t>
            </a:r>
            <a:r>
              <a:rPr lang="en-US" baseline="0" dirty="0" err="1"/>
              <a:t>GridTools</a:t>
            </a:r>
            <a:r>
              <a:rPr lang="en-US" baseline="0" dirty="0"/>
              <a:t> and RAJA.</a:t>
            </a:r>
          </a:p>
        </p:txBody>
      </p:sp>
      <p:sp>
        <p:nvSpPr>
          <p:cNvPr id="4" name="Slide Number Placeholder 3"/>
          <p:cNvSpPr>
            <a:spLocks noGrp="1"/>
          </p:cNvSpPr>
          <p:nvPr>
            <p:ph type="sldNum" sz="quarter" idx="5"/>
          </p:nvPr>
        </p:nvSpPr>
        <p:spPr/>
        <p:txBody>
          <a:bodyPr/>
          <a:lstStyle/>
          <a:p>
            <a:fld id="{FA8FD632-245B-410D-BCC4-8BF8D37AB67F}" type="slidenum">
              <a:rPr lang="en-US" smtClean="0"/>
              <a:t>40</a:t>
            </a:fld>
            <a:endParaRPr lang="en-US"/>
          </a:p>
        </p:txBody>
      </p:sp>
    </p:spTree>
    <p:extLst>
      <p:ext uri="{BB962C8B-B14F-4D97-AF65-F5344CB8AC3E}">
        <p14:creationId xmlns:p14="http://schemas.microsoft.com/office/powerpoint/2010/main" val="36406980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41</a:t>
            </a:fld>
            <a:endParaRPr lang="en-US"/>
          </a:p>
        </p:txBody>
      </p:sp>
    </p:spTree>
    <p:extLst>
      <p:ext uri="{BB962C8B-B14F-4D97-AF65-F5344CB8AC3E}">
        <p14:creationId xmlns:p14="http://schemas.microsoft.com/office/powerpoint/2010/main" val="36703351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42</a:t>
            </a:fld>
            <a:endParaRPr lang="en-US"/>
          </a:p>
        </p:txBody>
      </p:sp>
    </p:spTree>
    <p:extLst>
      <p:ext uri="{BB962C8B-B14F-4D97-AF65-F5344CB8AC3E}">
        <p14:creationId xmlns:p14="http://schemas.microsoft.com/office/powerpoint/2010/main" val="7230169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43</a:t>
            </a:fld>
            <a:endParaRPr lang="en-US"/>
          </a:p>
        </p:txBody>
      </p:sp>
    </p:spTree>
    <p:extLst>
      <p:ext uri="{BB962C8B-B14F-4D97-AF65-F5344CB8AC3E}">
        <p14:creationId xmlns:p14="http://schemas.microsoft.com/office/powerpoint/2010/main" val="20684853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currently struggle with interpreting the reviewer’s concern, will return to that.</a:t>
            </a:r>
          </a:p>
        </p:txBody>
      </p:sp>
      <p:sp>
        <p:nvSpPr>
          <p:cNvPr id="4" name="Slide Number Placeholder 3"/>
          <p:cNvSpPr>
            <a:spLocks noGrp="1"/>
          </p:cNvSpPr>
          <p:nvPr>
            <p:ph type="sldNum" sz="quarter" idx="5"/>
          </p:nvPr>
        </p:nvSpPr>
        <p:spPr/>
        <p:txBody>
          <a:bodyPr/>
          <a:lstStyle/>
          <a:p>
            <a:fld id="{FA8FD632-245B-410D-BCC4-8BF8D37AB67F}" type="slidenum">
              <a:rPr lang="en-US" smtClean="0"/>
              <a:t>44</a:t>
            </a:fld>
            <a:endParaRPr lang="en-US"/>
          </a:p>
        </p:txBody>
      </p:sp>
    </p:spTree>
    <p:extLst>
      <p:ext uri="{BB962C8B-B14F-4D97-AF65-F5344CB8AC3E}">
        <p14:creationId xmlns:p14="http://schemas.microsoft.com/office/powerpoint/2010/main" val="41791213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8FD632-245B-410D-BCC4-8BF8D37AB67F}" type="slidenum">
              <a:rPr lang="en-US" smtClean="0"/>
              <a:t>45</a:t>
            </a:fld>
            <a:endParaRPr lang="en-US"/>
          </a:p>
        </p:txBody>
      </p:sp>
    </p:spTree>
    <p:extLst>
      <p:ext uri="{BB962C8B-B14F-4D97-AF65-F5344CB8AC3E}">
        <p14:creationId xmlns:p14="http://schemas.microsoft.com/office/powerpoint/2010/main" val="24685932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46</a:t>
            </a:fld>
            <a:endParaRPr lang="en-US"/>
          </a:p>
        </p:txBody>
      </p:sp>
    </p:spTree>
    <p:extLst>
      <p:ext uri="{BB962C8B-B14F-4D97-AF65-F5344CB8AC3E}">
        <p14:creationId xmlns:p14="http://schemas.microsoft.com/office/powerpoint/2010/main" val="3665500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24E6A-D33D-8110-940D-8ADB53871B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735A9C-A9D7-B34C-B1DD-7CD1BC961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521E3191-FE7C-22CF-B0B1-2C7DE460DFB3}"/>
              </a:ext>
            </a:extLst>
          </p:cNvPr>
          <p:cNvSpPr>
            <a:spLocks noGrp="1"/>
          </p:cNvSpPr>
          <p:nvPr>
            <p:ph type="dt" sz="half" idx="10"/>
          </p:nvPr>
        </p:nvSpPr>
        <p:spPr/>
        <p:txBody>
          <a:bodyPr/>
          <a:lstStyle/>
          <a:p>
            <a:fld id="{B82E97BC-A89E-4CE1-A4AA-4F62BE5183B8}" type="datetime1">
              <a:rPr lang="en-US" smtClean="0"/>
              <a:pPr/>
              <a:t>9/6/2026</a:t>
            </a:fld>
            <a:endParaRPr lang="en-US" dirty="0"/>
          </a:p>
        </p:txBody>
      </p:sp>
      <p:sp>
        <p:nvSpPr>
          <p:cNvPr id="8" name="Footer Placeholder 7">
            <a:extLst>
              <a:ext uri="{FF2B5EF4-FFF2-40B4-BE49-F238E27FC236}">
                <a16:creationId xmlns:a16="http://schemas.microsoft.com/office/drawing/2014/main" id="{4B11BDA9-B9ED-F0FB-CD9D-75B45C3CDA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9FBE2F-862E-0C3E-750A-B4D2A209F361}"/>
              </a:ext>
            </a:extLst>
          </p:cNvPr>
          <p:cNvSpPr>
            <a:spLocks noGrp="1"/>
          </p:cNvSpPr>
          <p:nvPr>
            <p:ph type="sldNum" sz="quarter" idx="12"/>
          </p:nvPr>
        </p:nvSpPr>
        <p:spPr/>
        <p:txBody>
          <a:bodyPr/>
          <a:lstStyle/>
          <a:p>
            <a:fld id="{DA0BB241-1B5F-4309-9407-9EEA04D9598D}" type="slidenum">
              <a:rPr lang="en-US" smtClean="0"/>
              <a:pPr/>
              <a:t>‹#›</a:t>
            </a:fld>
            <a:endParaRPr lang="en-US" dirty="0"/>
          </a:p>
        </p:txBody>
      </p:sp>
    </p:spTree>
    <p:extLst>
      <p:ext uri="{BB962C8B-B14F-4D97-AF65-F5344CB8AC3E}">
        <p14:creationId xmlns:p14="http://schemas.microsoft.com/office/powerpoint/2010/main" val="3521280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9736-03C4-0888-E0C9-B6C6EFC002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924EDB-8F0A-A7EA-BE9D-63855B5D4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DAEB4C-D570-B20A-A37B-380D40727ECF}"/>
              </a:ext>
            </a:extLst>
          </p:cNvPr>
          <p:cNvSpPr>
            <a:spLocks noGrp="1"/>
          </p:cNvSpPr>
          <p:nvPr>
            <p:ph type="dt" sz="half" idx="10"/>
          </p:nvPr>
        </p:nvSpPr>
        <p:spPr/>
        <p:txBody>
          <a:bodyPr/>
          <a:lstStyle/>
          <a:p>
            <a:fld id="{358C28A6-2969-482E-9A3B-5E13FCD8DD03}" type="datetime1">
              <a:rPr lang="en-US" smtClean="0"/>
              <a:t>9/6/2026</a:t>
            </a:fld>
            <a:endParaRPr lang="en-US"/>
          </a:p>
        </p:txBody>
      </p:sp>
      <p:sp>
        <p:nvSpPr>
          <p:cNvPr id="5" name="Footer Placeholder 4">
            <a:extLst>
              <a:ext uri="{FF2B5EF4-FFF2-40B4-BE49-F238E27FC236}">
                <a16:creationId xmlns:a16="http://schemas.microsoft.com/office/drawing/2014/main" id="{7AF79E2F-597B-96EF-11C9-247263E6D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1C646-CE53-F04F-042E-92713E7C98E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419865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13B0-6E5E-27A0-8786-FF5AE46CE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12A8A-694B-7C92-789C-B57BB8DE0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50D77-986E-91D4-2F3C-6C8CB253EC32}"/>
              </a:ext>
            </a:extLst>
          </p:cNvPr>
          <p:cNvSpPr>
            <a:spLocks noGrp="1"/>
          </p:cNvSpPr>
          <p:nvPr>
            <p:ph type="dt" sz="half" idx="10"/>
          </p:nvPr>
        </p:nvSpPr>
        <p:spPr/>
        <p:txBody>
          <a:bodyPr/>
          <a:lstStyle/>
          <a:p>
            <a:fld id="{34463B7D-19AB-44BF-8DCC-FDF87A48CBC2}" type="datetime1">
              <a:rPr lang="en-US" smtClean="0"/>
              <a:t>9/6/2026</a:t>
            </a:fld>
            <a:endParaRPr lang="en-US"/>
          </a:p>
        </p:txBody>
      </p:sp>
      <p:sp>
        <p:nvSpPr>
          <p:cNvPr id="5" name="Footer Placeholder 4">
            <a:extLst>
              <a:ext uri="{FF2B5EF4-FFF2-40B4-BE49-F238E27FC236}">
                <a16:creationId xmlns:a16="http://schemas.microsoft.com/office/drawing/2014/main" id="{8D3C4CF3-8611-69CD-8CAA-743B79FCB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9AB618-6ADA-3D47-19A0-0B17DA3E859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1426601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FF19E-9477-ABC3-DE67-B3FE3FD537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59AAE2-3733-5697-3768-F61A390DF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CC2537-3C2D-37C4-2000-C59419B574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1EE3ED-7136-8E71-4128-67037156258F}"/>
              </a:ext>
            </a:extLst>
          </p:cNvPr>
          <p:cNvSpPr>
            <a:spLocks noGrp="1"/>
          </p:cNvSpPr>
          <p:nvPr>
            <p:ph type="dt" sz="half" idx="10"/>
          </p:nvPr>
        </p:nvSpPr>
        <p:spPr/>
        <p:txBody>
          <a:bodyPr/>
          <a:lstStyle/>
          <a:p>
            <a:fld id="{149987F8-7DF8-4BA7-9208-8F32E5310AB4}" type="datetime1">
              <a:rPr lang="en-US" smtClean="0"/>
              <a:t>9/6/2026</a:t>
            </a:fld>
            <a:endParaRPr lang="en-US"/>
          </a:p>
        </p:txBody>
      </p:sp>
      <p:sp>
        <p:nvSpPr>
          <p:cNvPr id="6" name="Footer Placeholder 5">
            <a:extLst>
              <a:ext uri="{FF2B5EF4-FFF2-40B4-BE49-F238E27FC236}">
                <a16:creationId xmlns:a16="http://schemas.microsoft.com/office/drawing/2014/main" id="{1DC87F66-93B5-7C98-7C4D-C77DF36D63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F92242-6F18-B2F8-D3B6-CA96CF07AD3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993114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16E4-EA83-568A-BD1D-97FF900D32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286F84-DF28-2E19-BA71-6C71F5C694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A76E13-935D-A461-39CB-9D91E0AD09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7AA7A5-CE10-08CF-A9AA-B0EFD3AE08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431AE9-8865-4C87-15FF-F85F79BDE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FCD46F-370C-F6C9-8756-1AA52353BCB0}"/>
              </a:ext>
            </a:extLst>
          </p:cNvPr>
          <p:cNvSpPr>
            <a:spLocks noGrp="1"/>
          </p:cNvSpPr>
          <p:nvPr>
            <p:ph type="dt" sz="half" idx="10"/>
          </p:nvPr>
        </p:nvSpPr>
        <p:spPr/>
        <p:txBody>
          <a:bodyPr/>
          <a:lstStyle/>
          <a:p>
            <a:fld id="{D64A8A3C-441E-40C3-8DCE-8F1C2EB0BADE}" type="datetime1">
              <a:rPr lang="en-US" smtClean="0"/>
              <a:t>9/6/2026</a:t>
            </a:fld>
            <a:endParaRPr lang="en-US"/>
          </a:p>
        </p:txBody>
      </p:sp>
      <p:sp>
        <p:nvSpPr>
          <p:cNvPr id="8" name="Footer Placeholder 7">
            <a:extLst>
              <a:ext uri="{FF2B5EF4-FFF2-40B4-BE49-F238E27FC236}">
                <a16:creationId xmlns:a16="http://schemas.microsoft.com/office/drawing/2014/main" id="{A65DE77E-D1BD-6C4E-A351-50C02A7CAB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7FDFF7-A273-AFCC-8687-0039D14EFDA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59687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FD40-2BC9-24C5-22AC-D7BE6AB905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2EA9A8-BE9F-AE49-CCCC-A6BFD7DC290F}"/>
              </a:ext>
            </a:extLst>
          </p:cNvPr>
          <p:cNvSpPr>
            <a:spLocks noGrp="1"/>
          </p:cNvSpPr>
          <p:nvPr>
            <p:ph type="dt" sz="half" idx="10"/>
          </p:nvPr>
        </p:nvSpPr>
        <p:spPr/>
        <p:txBody>
          <a:bodyPr/>
          <a:lstStyle/>
          <a:p>
            <a:fld id="{1AB26190-46ED-4A0C-A5E8-CDBCA5C2D5C3}" type="datetime1">
              <a:rPr lang="en-US" smtClean="0"/>
              <a:t>9/6/2026</a:t>
            </a:fld>
            <a:endParaRPr lang="en-US" dirty="0"/>
          </a:p>
        </p:txBody>
      </p:sp>
      <p:sp>
        <p:nvSpPr>
          <p:cNvPr id="4" name="Footer Placeholder 3">
            <a:extLst>
              <a:ext uri="{FF2B5EF4-FFF2-40B4-BE49-F238E27FC236}">
                <a16:creationId xmlns:a16="http://schemas.microsoft.com/office/drawing/2014/main" id="{3F3555CB-E870-615F-B8C7-30BC20AFF6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5F43D1-4FC1-76B7-2DC0-8B1655EE81F0}"/>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805706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3DC56D-B067-54DC-982C-DE19DBDEA882}"/>
              </a:ext>
            </a:extLst>
          </p:cNvPr>
          <p:cNvSpPr>
            <a:spLocks noGrp="1"/>
          </p:cNvSpPr>
          <p:nvPr>
            <p:ph type="dt" sz="half" idx="10"/>
          </p:nvPr>
        </p:nvSpPr>
        <p:spPr/>
        <p:txBody>
          <a:bodyPr/>
          <a:lstStyle/>
          <a:p>
            <a:fld id="{2E4D20BF-4C0E-41E5-B4FC-9D48FCD3AF33}" type="datetime1">
              <a:rPr lang="en-US" smtClean="0"/>
              <a:t>9/6/2026</a:t>
            </a:fld>
            <a:endParaRPr lang="en-US"/>
          </a:p>
        </p:txBody>
      </p:sp>
      <p:sp>
        <p:nvSpPr>
          <p:cNvPr id="3" name="Footer Placeholder 2">
            <a:extLst>
              <a:ext uri="{FF2B5EF4-FFF2-40B4-BE49-F238E27FC236}">
                <a16:creationId xmlns:a16="http://schemas.microsoft.com/office/drawing/2014/main" id="{D8AA151F-F6E0-3ECD-123C-D099281001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A3AE01-68A1-DD4C-C934-7A8AC50A20D2}"/>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270551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2EFCA-330E-F9B4-E57C-E7E46227B1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EF94D5-9F84-5439-E16B-B83DFBCB3F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3FB607-1564-B05D-3D77-AB5C96794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E60C3B-07A0-E067-0C8C-AE46543D1DF4}"/>
              </a:ext>
            </a:extLst>
          </p:cNvPr>
          <p:cNvSpPr>
            <a:spLocks noGrp="1"/>
          </p:cNvSpPr>
          <p:nvPr>
            <p:ph type="dt" sz="half" idx="10"/>
          </p:nvPr>
        </p:nvSpPr>
        <p:spPr/>
        <p:txBody>
          <a:bodyPr/>
          <a:lstStyle/>
          <a:p>
            <a:fld id="{BEACC2DC-9E3A-44FF-B316-55456058A0CC}" type="datetime1">
              <a:rPr lang="en-US" smtClean="0"/>
              <a:t>9/6/2026</a:t>
            </a:fld>
            <a:endParaRPr lang="en-US"/>
          </a:p>
        </p:txBody>
      </p:sp>
      <p:sp>
        <p:nvSpPr>
          <p:cNvPr id="6" name="Footer Placeholder 5">
            <a:extLst>
              <a:ext uri="{FF2B5EF4-FFF2-40B4-BE49-F238E27FC236}">
                <a16:creationId xmlns:a16="http://schemas.microsoft.com/office/drawing/2014/main" id="{00672EA1-1498-5D77-A116-5A0229027B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419BD-8F55-0DB5-E7A4-B2D65F3D4DC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4060182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A6B6-838D-F8ED-BDA3-2A162DF6C0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ABD07F-0AEC-095A-51B1-BCBAF78FF9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0C15C3-DA68-E56D-39FE-12682CE84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427CC-7335-E85B-F994-ECED937697DB}"/>
              </a:ext>
            </a:extLst>
          </p:cNvPr>
          <p:cNvSpPr>
            <a:spLocks noGrp="1"/>
          </p:cNvSpPr>
          <p:nvPr>
            <p:ph type="dt" sz="half" idx="10"/>
          </p:nvPr>
        </p:nvSpPr>
        <p:spPr/>
        <p:txBody>
          <a:bodyPr/>
          <a:lstStyle/>
          <a:p>
            <a:fld id="{A4FE5055-4E7B-4EEB-A9E4-14CB598FDB7C}" type="datetime1">
              <a:rPr lang="en-US" smtClean="0"/>
              <a:t>9/6/2026</a:t>
            </a:fld>
            <a:endParaRPr lang="en-US"/>
          </a:p>
        </p:txBody>
      </p:sp>
      <p:sp>
        <p:nvSpPr>
          <p:cNvPr id="6" name="Footer Placeholder 5">
            <a:extLst>
              <a:ext uri="{FF2B5EF4-FFF2-40B4-BE49-F238E27FC236}">
                <a16:creationId xmlns:a16="http://schemas.microsoft.com/office/drawing/2014/main" id="{C265D5C9-7347-6515-DE00-D89BEB8EBB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21FEE5-DCD3-D8BE-62C7-D756A7F33ECB}"/>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308916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E43D8-02AC-2914-9FED-616D6AB422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AB5568-29BC-DFED-ABFE-8CB9972CD8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7ACC50-EA82-80A5-543B-E10B8CB99A2D}"/>
              </a:ext>
            </a:extLst>
          </p:cNvPr>
          <p:cNvSpPr>
            <a:spLocks noGrp="1"/>
          </p:cNvSpPr>
          <p:nvPr>
            <p:ph type="dt" sz="half" idx="10"/>
          </p:nvPr>
        </p:nvSpPr>
        <p:spPr/>
        <p:txBody>
          <a:bodyPr/>
          <a:lstStyle/>
          <a:p>
            <a:fld id="{6653D07F-EA1B-48C7-9BD0-6BED24C9ED67}" type="datetime1">
              <a:rPr lang="en-US" smtClean="0"/>
              <a:t>9/6/2026</a:t>
            </a:fld>
            <a:endParaRPr lang="en-US"/>
          </a:p>
        </p:txBody>
      </p:sp>
      <p:sp>
        <p:nvSpPr>
          <p:cNvPr id="5" name="Footer Placeholder 4">
            <a:extLst>
              <a:ext uri="{FF2B5EF4-FFF2-40B4-BE49-F238E27FC236}">
                <a16:creationId xmlns:a16="http://schemas.microsoft.com/office/drawing/2014/main" id="{93496697-F033-841A-79EF-51DC7E046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A364F-BF8C-D383-E70E-5C199E40246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58061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EFD78-33C7-A6E2-827C-308D244117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C174DE-9768-CB18-7AE9-11A18E818A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0FA62-F86E-B4BB-30E3-DEB6FC314D3B}"/>
              </a:ext>
            </a:extLst>
          </p:cNvPr>
          <p:cNvSpPr>
            <a:spLocks noGrp="1"/>
          </p:cNvSpPr>
          <p:nvPr>
            <p:ph type="dt" sz="half" idx="10"/>
          </p:nvPr>
        </p:nvSpPr>
        <p:spPr/>
        <p:txBody>
          <a:bodyPr/>
          <a:lstStyle/>
          <a:p>
            <a:fld id="{FDA4DF48-C056-4522-9BC2-031A9D197A93}" type="datetime1">
              <a:rPr lang="en-US" smtClean="0"/>
              <a:t>9/6/2026</a:t>
            </a:fld>
            <a:endParaRPr lang="en-US"/>
          </a:p>
        </p:txBody>
      </p:sp>
      <p:sp>
        <p:nvSpPr>
          <p:cNvPr id="5" name="Footer Placeholder 4">
            <a:extLst>
              <a:ext uri="{FF2B5EF4-FFF2-40B4-BE49-F238E27FC236}">
                <a16:creationId xmlns:a16="http://schemas.microsoft.com/office/drawing/2014/main" id="{A387A909-05FF-1D16-6D0B-DCA5B2C17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86DEDF-AF23-D167-C1D4-F648EF1CD4C7}"/>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971057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705DFF-00C9-BEC9-4FC3-920066B1226C}"/>
              </a:ext>
            </a:extLst>
          </p:cNvPr>
          <p:cNvSpPr>
            <a:spLocks noGrp="1"/>
          </p:cNvSpPr>
          <p:nvPr>
            <p:ph type="title"/>
          </p:nvPr>
        </p:nvSpPr>
        <p:spPr>
          <a:xfrm>
            <a:off x="488578" y="18255"/>
            <a:ext cx="11214844"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ABA2AF-CC90-3FC4-EEF7-E1A8D525A323}"/>
              </a:ext>
            </a:extLst>
          </p:cNvPr>
          <p:cNvSpPr>
            <a:spLocks noGrp="1"/>
          </p:cNvSpPr>
          <p:nvPr>
            <p:ph type="body" idx="1"/>
          </p:nvPr>
        </p:nvSpPr>
        <p:spPr>
          <a:xfrm>
            <a:off x="488578" y="1343818"/>
            <a:ext cx="11214844" cy="53149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9049E-4FCE-FF74-9683-28A5B1FA9845}"/>
              </a:ext>
            </a:extLst>
          </p:cNvPr>
          <p:cNvSpPr>
            <a:spLocks noGrp="1"/>
          </p:cNvSpPr>
          <p:nvPr>
            <p:ph type="dt" sz="half" idx="2"/>
          </p:nvPr>
        </p:nvSpPr>
        <p:spPr>
          <a:xfrm>
            <a:off x="488578" y="6356350"/>
            <a:ext cx="2743200" cy="365125"/>
          </a:xfrm>
          <a:prstGeom prst="rect">
            <a:avLst/>
          </a:prstGeom>
        </p:spPr>
        <p:txBody>
          <a:bodyPr vert="horz" lIns="91440" tIns="45720" rIns="91440" bIns="45720" rtlCol="0" anchor="ctr"/>
          <a:lstStyle>
            <a:lvl1pPr algn="l">
              <a:defRPr sz="2000">
                <a:solidFill>
                  <a:schemeClr val="tx1">
                    <a:tint val="82000"/>
                  </a:schemeClr>
                </a:solidFill>
              </a:defRPr>
            </a:lvl1pPr>
          </a:lstStyle>
          <a:p>
            <a:fld id="{FDEB8912-975C-4DE8-9A59-8B9C133AEEC5}" type="datetime1">
              <a:rPr lang="en-US" smtClean="0"/>
              <a:pPr/>
              <a:t>9/6/2026</a:t>
            </a:fld>
            <a:endParaRPr lang="en-US"/>
          </a:p>
        </p:txBody>
      </p:sp>
      <p:sp>
        <p:nvSpPr>
          <p:cNvPr id="5" name="Footer Placeholder 4">
            <a:extLst>
              <a:ext uri="{FF2B5EF4-FFF2-40B4-BE49-F238E27FC236}">
                <a16:creationId xmlns:a16="http://schemas.microsoft.com/office/drawing/2014/main" id="{14567B93-70A1-78F2-3159-EEE138DB53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426FB6-9E0D-15E5-E967-0981DEBDF9AC}"/>
              </a:ext>
            </a:extLst>
          </p:cNvPr>
          <p:cNvSpPr>
            <a:spLocks noGrp="1"/>
          </p:cNvSpPr>
          <p:nvPr>
            <p:ph type="sldNum" sz="quarter" idx="4"/>
          </p:nvPr>
        </p:nvSpPr>
        <p:spPr>
          <a:xfrm>
            <a:off x="9148482" y="6356349"/>
            <a:ext cx="2743200" cy="365125"/>
          </a:xfrm>
          <a:prstGeom prst="rect">
            <a:avLst/>
          </a:prstGeom>
        </p:spPr>
        <p:txBody>
          <a:bodyPr vert="horz" lIns="91440" tIns="45720" rIns="91440" bIns="45720" rtlCol="0" anchor="ctr"/>
          <a:lstStyle>
            <a:lvl1pPr algn="r">
              <a:defRPr sz="2000">
                <a:solidFill>
                  <a:schemeClr val="tx1">
                    <a:tint val="82000"/>
                  </a:schemeClr>
                </a:solidFill>
              </a:defRPr>
            </a:lvl1pPr>
          </a:lstStyle>
          <a:p>
            <a:fld id="{DA0BB241-1B5F-4309-9407-9EEA04D9598D}" type="slidenum">
              <a:rPr lang="en-US" smtClean="0"/>
              <a:pPr/>
              <a:t>‹#›</a:t>
            </a:fld>
            <a:endParaRPr lang="en-US"/>
          </a:p>
        </p:txBody>
      </p:sp>
      <p:pic>
        <p:nvPicPr>
          <p:cNvPr id="10" name="Picture 9">
            <a:extLst>
              <a:ext uri="{FF2B5EF4-FFF2-40B4-BE49-F238E27FC236}">
                <a16:creationId xmlns:a16="http://schemas.microsoft.com/office/drawing/2014/main" id="{75577D58-7A11-E289-9D1F-308CA3E6101F}"/>
              </a:ext>
            </a:extLst>
          </p:cNvPr>
          <p:cNvPicPr>
            <a:picLocks noChangeAspect="1" noChangeArrowheads="1"/>
          </p:cNvPicPr>
          <p:nvPr userDrawn="1"/>
        </p:nvPicPr>
        <p:blipFill>
          <a:blip r:embed="rId13">
            <a:alphaModFix amt="90000"/>
            <a:extLst>
              <a:ext uri="{28A0092B-C50C-407E-A947-70E740481C1C}">
                <a14:useLocalDpi xmlns:a14="http://schemas.microsoft.com/office/drawing/2010/main" val="0"/>
              </a:ext>
            </a:extLst>
          </a:blip>
          <a:srcRect/>
          <a:stretch>
            <a:fillRect/>
          </a:stretch>
        </p:blipFill>
        <p:spPr bwMode="auto">
          <a:xfrm>
            <a:off x="10719386" y="382029"/>
            <a:ext cx="1172296" cy="59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036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6.svg"/><Relationship Id="rId4" Type="http://schemas.openxmlformats.org/officeDocument/2006/relationships/image" Target="../media/image2.png"/><Relationship Id="rId9"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3.xml"/><Relationship Id="rId7" Type="http://schemas.openxmlformats.org/officeDocument/2006/relationships/image" Target="../media/image70.png"/><Relationship Id="rId2" Type="http://schemas.openxmlformats.org/officeDocument/2006/relationships/slideLayout" Target="../slideLayouts/slideLayout6.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90.png"/></Relationships>
</file>

<file path=ppt/slides/_rels/slide4.xml.rels><?xml version="1.0" encoding="UTF-8" standalone="yes"?>
<Relationships xmlns="http://schemas.openxmlformats.org/package/2006/relationships"><Relationship Id="rId18" Type="http://schemas.openxmlformats.org/officeDocument/2006/relationships/image" Target="../media/image23.png"/><Relationship Id="rId3" Type="http://schemas.openxmlformats.org/officeDocument/2006/relationships/notesSlide" Target="../notesSlides/notesSlide4.xml"/><Relationship Id="rId17" Type="http://schemas.openxmlformats.org/officeDocument/2006/relationships/image" Target="../media/image22.png"/><Relationship Id="rId2" Type="http://schemas.openxmlformats.org/officeDocument/2006/relationships/slideLayout" Target="../slideLayouts/slideLayout6.xml"/><Relationship Id="rId20" Type="http://schemas.openxmlformats.org/officeDocument/2006/relationships/image" Target="../media/image25.png"/><Relationship Id="rId1" Type="http://schemas.openxmlformats.org/officeDocument/2006/relationships/tags" Target="../tags/tag3.xml"/><Relationship Id="rId19" Type="http://schemas.openxmlformats.org/officeDocument/2006/relationships/image" Target="../media/image2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59.png"/><Relationship Id="rId3" Type="http://schemas.openxmlformats.org/officeDocument/2006/relationships/notesSlide" Target="../notesSlides/notesSlide7.xml"/><Relationship Id="rId7" Type="http://schemas.openxmlformats.org/officeDocument/2006/relationships/image" Target="../media/image31.png"/><Relationship Id="rId12" Type="http://schemas.openxmlformats.org/officeDocument/2006/relationships/image" Target="../media/image47.png"/><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11.png"/><Relationship Id="rId10" Type="http://schemas.openxmlformats.org/officeDocument/2006/relationships/image" Target="../media/image34.png"/><Relationship Id="rId4" Type="http://schemas.openxmlformats.org/officeDocument/2006/relationships/image" Target="../media/image10.png"/><Relationship Id="rId9"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8.xml"/><Relationship Id="rId7" Type="http://schemas.openxmlformats.org/officeDocument/2006/relationships/image" Target="../media/image41.png"/><Relationship Id="rId2" Type="http://schemas.openxmlformats.org/officeDocument/2006/relationships/slideLayout" Target="../slideLayouts/slideLayout6.xml"/><Relationship Id="rId1" Type="http://schemas.openxmlformats.org/officeDocument/2006/relationships/tags" Target="../tags/tag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15.png"/><Relationship Id="rId10" Type="http://schemas.openxmlformats.org/officeDocument/2006/relationships/image" Target="../media/image44.png"/><Relationship Id="rId4" Type="http://schemas.openxmlformats.org/officeDocument/2006/relationships/image" Target="../media/image14.png"/><Relationship Id="rId9"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9.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21.png"/><Relationship Id="rId2" Type="http://schemas.openxmlformats.org/officeDocument/2006/relationships/slideLayout" Target="../slideLayouts/slideLayout6.xml"/><Relationship Id="rId1" Type="http://schemas.openxmlformats.org/officeDocument/2006/relationships/tags" Target="../tags/tag1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notesSlide" Target="../notesSlides/notesSlide15.xml"/><Relationship Id="rId7" Type="http://schemas.openxmlformats.org/officeDocument/2006/relationships/image" Target="../media/image5.svg"/><Relationship Id="rId2" Type="http://schemas.openxmlformats.org/officeDocument/2006/relationships/slideLayout" Target="../slideLayouts/slideLayout6.xml"/><Relationship Id="rId1" Type="http://schemas.openxmlformats.org/officeDocument/2006/relationships/tags" Target="../tags/tag12.xml"/><Relationship Id="rId6" Type="http://schemas.openxmlformats.org/officeDocument/2006/relationships/image" Target="../media/image6.svg"/><Relationship Id="rId5" Type="http://schemas.openxmlformats.org/officeDocument/2006/relationships/image" Target="../media/image22.svg"/><Relationship Id="rId10" Type="http://schemas.openxmlformats.org/officeDocument/2006/relationships/image" Target="../media/image61.png"/><Relationship Id="rId4" Type="http://schemas.openxmlformats.org/officeDocument/2006/relationships/image" Target="../media/image4.svg"/><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38.sv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F1-FAE5-377F-D044-781D68E17053}"/>
              </a:ext>
            </a:extLst>
          </p:cNvPr>
          <p:cNvSpPr>
            <a:spLocks noGrp="1"/>
          </p:cNvSpPr>
          <p:nvPr>
            <p:ph type="ctrTitle"/>
          </p:nvPr>
        </p:nvSpPr>
        <p:spPr/>
        <p:txBody>
          <a:bodyPr>
            <a:normAutofit fontScale="90000"/>
          </a:bodyPr>
          <a:lstStyle/>
          <a:p>
            <a:r>
              <a:rPr lang="en-US" b="1" noProof="0" dirty="0"/>
              <a:t>Optimizing Memory Layouts and Traversal Orders in HPC</a:t>
            </a:r>
            <a:endParaRPr lang="en-US" noProof="0" dirty="0"/>
          </a:p>
        </p:txBody>
      </p:sp>
      <p:sp>
        <p:nvSpPr>
          <p:cNvPr id="3" name="Subtitle 2">
            <a:extLst>
              <a:ext uri="{FF2B5EF4-FFF2-40B4-BE49-F238E27FC236}">
                <a16:creationId xmlns:a16="http://schemas.microsoft.com/office/drawing/2014/main" id="{27F78056-B306-9784-24C5-9BBCFE1E0197}"/>
              </a:ext>
            </a:extLst>
          </p:cNvPr>
          <p:cNvSpPr>
            <a:spLocks noGrp="1"/>
          </p:cNvSpPr>
          <p:nvPr>
            <p:ph type="subTitle" idx="1"/>
          </p:nvPr>
        </p:nvSpPr>
        <p:spPr/>
        <p:txBody>
          <a:bodyPr/>
          <a:lstStyle/>
          <a:p>
            <a:r>
              <a:rPr lang="en-US" b="1" noProof="0" dirty="0"/>
              <a:t>Jiří Klepl</a:t>
            </a:r>
          </a:p>
          <a:p>
            <a:r>
              <a:rPr lang="en-US" noProof="0" dirty="0"/>
              <a:t>Department of Distributed and Dependable Systems</a:t>
            </a:r>
          </a:p>
        </p:txBody>
      </p:sp>
      <p:sp>
        <p:nvSpPr>
          <p:cNvPr id="6" name="Date Placeholder 5">
            <a:extLst>
              <a:ext uri="{FF2B5EF4-FFF2-40B4-BE49-F238E27FC236}">
                <a16:creationId xmlns:a16="http://schemas.microsoft.com/office/drawing/2014/main" id="{A7AB794C-C02E-1A01-6047-C41EAA0E85A7}"/>
              </a:ext>
            </a:extLst>
          </p:cNvPr>
          <p:cNvSpPr>
            <a:spLocks noGrp="1"/>
          </p:cNvSpPr>
          <p:nvPr>
            <p:ph type="dt" sz="half" idx="10"/>
          </p:nvPr>
        </p:nvSpPr>
        <p:spPr/>
        <p:txBody>
          <a:bodyPr/>
          <a:lstStyle/>
          <a:p>
            <a:fld id="{A606699D-645B-483D-AF03-42C342BFDBA5}" type="datetime1">
              <a:rPr lang="en-US" noProof="0" smtClean="0"/>
              <a:t>9/6/2026</a:t>
            </a:fld>
            <a:endParaRPr lang="en-US" noProof="0" dirty="0"/>
          </a:p>
        </p:txBody>
      </p:sp>
      <p:sp>
        <p:nvSpPr>
          <p:cNvPr id="7" name="Slide Number Placeholder 6">
            <a:extLst>
              <a:ext uri="{FF2B5EF4-FFF2-40B4-BE49-F238E27FC236}">
                <a16:creationId xmlns:a16="http://schemas.microsoft.com/office/drawing/2014/main" id="{071CD298-A702-19E2-4EB3-83A149EA7CEC}"/>
              </a:ext>
            </a:extLst>
          </p:cNvPr>
          <p:cNvSpPr>
            <a:spLocks noGrp="1"/>
          </p:cNvSpPr>
          <p:nvPr>
            <p:ph type="sldNum" sz="quarter" idx="12"/>
          </p:nvPr>
        </p:nvSpPr>
        <p:spPr/>
        <p:txBody>
          <a:bodyPr/>
          <a:lstStyle/>
          <a:p>
            <a:fld id="{DA0BB241-1B5F-4309-9407-9EEA04D9598D}" type="slidenum">
              <a:rPr lang="en-US" noProof="0" smtClean="0"/>
              <a:t>1</a:t>
            </a:fld>
            <a:endParaRPr lang="en-US" noProof="0" dirty="0"/>
          </a:p>
        </p:txBody>
      </p:sp>
    </p:spTree>
    <p:extLst>
      <p:ext uri="{BB962C8B-B14F-4D97-AF65-F5344CB8AC3E}">
        <p14:creationId xmlns:p14="http://schemas.microsoft.com/office/powerpoint/2010/main" val="414741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r>
              <a:rPr lang="en-US" noProof="0" dirty="0"/>
              <a:t>Parallelization and distributed computing</a:t>
            </a:r>
          </a:p>
          <a:p>
            <a:r>
              <a:rPr lang="en-US" noProof="0" dirty="0"/>
              <a:t>Even broader optimizations in specific domains</a:t>
            </a:r>
          </a:p>
          <a:p>
            <a:r>
              <a:rPr lang="cs-CZ" dirty="0"/>
              <a:t>L</a:t>
            </a:r>
            <a:r>
              <a:rPr lang="en-US" dirty="0" err="1"/>
              <a:t>arge</a:t>
            </a:r>
            <a:r>
              <a:rPr lang="en-US" dirty="0"/>
              <a:t> language models (LLMs)</a:t>
            </a:r>
            <a:endParaRPr lang="en-US" noProof="0" dirty="0"/>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nvPr>
        </p:nvSpPr>
        <p:spPr/>
        <p:txBody>
          <a:bodyPr/>
          <a:lstStyle/>
          <a:p>
            <a:fld id="{0DAFEF2F-EB87-44F5-8698-5E050EDDA902}"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nvPr>
        </p:nvSpPr>
        <p:spPr/>
        <p:txBody>
          <a:bodyPr/>
          <a:lstStyle/>
          <a:p>
            <a:fld id="{DA0BB241-1B5F-4309-9407-9EEA04D9598D}" type="slidenum">
              <a:rPr lang="en-US" noProof="0" smtClean="0"/>
              <a:t>2</a:t>
            </a:fld>
            <a:endParaRPr lang="en-US" noProof="0" dirty="0"/>
          </a:p>
        </p:txBody>
      </p:sp>
      <p:pic>
        <p:nvPicPr>
          <p:cNvPr id="6" name="Picture 5">
            <a:extLst>
              <a:ext uri="{FF2B5EF4-FFF2-40B4-BE49-F238E27FC236}">
                <a16:creationId xmlns:a16="http://schemas.microsoft.com/office/drawing/2014/main" id="{AF27B56C-87EE-EA2A-36EA-6FC1F10704CE}"/>
              </a:ext>
            </a:extLst>
          </p:cNvPr>
          <p:cNvPicPr>
            <a:picLocks noChangeAspect="1"/>
          </p:cNvPicPr>
          <p:nvPr/>
        </p:nvPicPr>
        <p:blipFill>
          <a:blip r:embed="rId4"/>
          <a:srcRect l="12577" t="17864" r="12520" b="16352"/>
          <a:stretch>
            <a:fillRect/>
          </a:stretch>
        </p:blipFill>
        <p:spPr>
          <a:xfrm>
            <a:off x="5585476" y="5956238"/>
            <a:ext cx="663457" cy="582673"/>
          </a:xfrm>
          <a:prstGeom prst="rect">
            <a:avLst/>
          </a:prstGeom>
        </p:spPr>
      </p:pic>
      <p:pic>
        <p:nvPicPr>
          <p:cNvPr id="8" name="Graphic 7">
            <a:extLst>
              <a:ext uri="{FF2B5EF4-FFF2-40B4-BE49-F238E27FC236}">
                <a16:creationId xmlns:a16="http://schemas.microsoft.com/office/drawing/2014/main" id="{277BD5EA-6D3A-F65A-6F3E-A1A5A3279D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68EEE45-000D-514C-C7F4-C04720B9D32D}"/>
                  </a:ext>
                </a:extLst>
              </p:cNvPr>
              <p:cNvSpPr txBox="1"/>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nvSpPr>
            <p:spPr>
              <a:xfrm>
                <a:off x="5585476" y="3770460"/>
                <a:ext cx="51052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A685246-FE87-656A-5DCF-C1D4453F0DB4}"/>
                  </a:ext>
                </a:extLst>
              </p:cNvPr>
              <p:cNvSpPr txBox="1"/>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nvSpPr>
            <p:spPr>
              <a:xfrm>
                <a:off x="6467780" y="4384464"/>
                <a:ext cx="428771" cy="461665"/>
              </a:xfrm>
              <a:prstGeom prst="rect">
                <a:avLst/>
              </a:prstGeom>
              <a:blipFill>
                <a:blip r:embed="rId7"/>
                <a:stretch>
                  <a:fillRect/>
                </a:stretch>
              </a:blipFill>
            </p:spPr>
            <p:txBody>
              <a:bodyPr/>
              <a:lstStyle/>
              <a:p>
                <a:r>
                  <a:rPr lang="en-US">
                    <a:noFill/>
                  </a:rPr>
                  <a:t> </a:t>
                </a:r>
              </a:p>
            </p:txBody>
          </p:sp>
        </mc:Fallback>
      </mc:AlternateContent>
      <p:pic>
        <p:nvPicPr>
          <p:cNvPr id="16" name="Graphic 15" descr="Server with solid fill">
            <a:extLst>
              <a:ext uri="{FF2B5EF4-FFF2-40B4-BE49-F238E27FC236}">
                <a16:creationId xmlns:a16="http://schemas.microsoft.com/office/drawing/2014/main" id="{70A4A7DF-6CEC-EF25-F07E-0D77E10AA1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05830" y="4515945"/>
            <a:ext cx="709613" cy="709613"/>
          </a:xfrm>
          <a:prstGeom prst="rect">
            <a:avLst/>
          </a:prstGeom>
        </p:spPr>
      </p:pic>
      <p:pic>
        <p:nvPicPr>
          <p:cNvPr id="18" name="Graphic 17" descr="Server with solid fill">
            <a:extLst>
              <a:ext uri="{FF2B5EF4-FFF2-40B4-BE49-F238E27FC236}">
                <a16:creationId xmlns:a16="http://schemas.microsoft.com/office/drawing/2014/main" id="{6BE207B2-3DC6-3ED3-EE64-BBABDFF1090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22195" y="4515943"/>
            <a:ext cx="709613" cy="709613"/>
          </a:xfrm>
          <a:prstGeom prst="rect">
            <a:avLst/>
          </a:prstGeom>
        </p:spPr>
      </p:pic>
      <p:pic>
        <p:nvPicPr>
          <p:cNvPr id="20" name="Graphic 19" descr="Server with solid fill">
            <a:extLst>
              <a:ext uri="{FF2B5EF4-FFF2-40B4-BE49-F238E27FC236}">
                <a16:creationId xmlns:a16="http://schemas.microsoft.com/office/drawing/2014/main" id="{C933DE63-5EBE-9A62-40BA-EEFF92F0834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540945" y="4515943"/>
            <a:ext cx="709613" cy="709613"/>
          </a:xfrm>
          <a:prstGeom prst="rect">
            <a:avLst/>
          </a:prstGeom>
        </p:spPr>
      </p:pic>
      <p:cxnSp>
        <p:nvCxnSpPr>
          <p:cNvPr id="22" name="Straight Connector 21">
            <a:extLst>
              <a:ext uri="{FF2B5EF4-FFF2-40B4-BE49-F238E27FC236}">
                <a16:creationId xmlns:a16="http://schemas.microsoft.com/office/drawing/2014/main" id="{9BE94B6A-4C46-F85A-C164-FC65E560F801}"/>
              </a:ext>
            </a:extLst>
          </p:cNvPr>
          <p:cNvCxnSpPr>
            <a:cxnSpLocks/>
            <a:stCxn id="16" idx="0"/>
          </p:cNvCxnSpPr>
          <p:nvPr/>
        </p:nvCxnSpPr>
        <p:spPr>
          <a:xfrm flipV="1">
            <a:off x="8460637" y="4179094"/>
            <a:ext cx="0" cy="33685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415E36-2B0B-0A93-55E0-FDF778657DB6}"/>
              </a:ext>
            </a:extLst>
          </p:cNvPr>
          <p:cNvCxnSpPr>
            <a:cxnSpLocks/>
            <a:stCxn id="18" idx="0"/>
          </p:cNvCxnSpPr>
          <p:nvPr/>
        </p:nvCxnSpPr>
        <p:spPr>
          <a:xfrm flipH="1" flipV="1">
            <a:off x="9676660" y="4179094"/>
            <a:ext cx="342"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05A952B-2FD6-5FAD-3C9A-E4467DD22912}"/>
              </a:ext>
            </a:extLst>
          </p:cNvPr>
          <p:cNvCxnSpPr>
            <a:cxnSpLocks/>
            <a:stCxn id="20" idx="0"/>
          </p:cNvCxnSpPr>
          <p:nvPr/>
        </p:nvCxnSpPr>
        <p:spPr>
          <a:xfrm flipV="1">
            <a:off x="10895752" y="4179094"/>
            <a:ext cx="0"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93182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16B1-5468-83FD-64C7-68045C621054}"/>
              </a:ext>
            </a:extLst>
          </p:cNvPr>
          <p:cNvSpPr>
            <a:spLocks noGrp="1"/>
          </p:cNvSpPr>
          <p:nvPr>
            <p:ph type="title"/>
          </p:nvPr>
        </p:nvSpPr>
        <p:spPr/>
        <p:txBody>
          <a:bodyPr/>
          <a:lstStyle/>
          <a:p>
            <a:r>
              <a:rPr lang="en-US" noProof="0" dirty="0"/>
              <a:t>Why layouts matter</a:t>
            </a:r>
          </a:p>
        </p:txBody>
      </p:sp>
      <p:pic>
        <p:nvPicPr>
          <p:cNvPr id="4" name="Picture 3">
            <a:extLst>
              <a:ext uri="{FF2B5EF4-FFF2-40B4-BE49-F238E27FC236}">
                <a16:creationId xmlns:a16="http://schemas.microsoft.com/office/drawing/2014/main" id="{F353F98A-C5CE-9352-8E83-B1375ABB1A90}"/>
              </a:ext>
            </a:extLst>
          </p:cNvPr>
          <p:cNvPicPr>
            <a:picLocks noChangeAspect="1"/>
          </p:cNvPicPr>
          <p:nvPr/>
        </p:nvPicPr>
        <p:blipFill>
          <a:blip r:embed="rId4"/>
          <a:stretch>
            <a:fillRect/>
          </a:stretch>
        </p:blipFill>
        <p:spPr>
          <a:xfrm>
            <a:off x="2914089" y="4145062"/>
            <a:ext cx="1785102" cy="1774049"/>
          </a:xfrm>
          <a:prstGeom prst="rect">
            <a:avLst/>
          </a:prstGeom>
        </p:spPr>
      </p:pic>
      <p:pic>
        <p:nvPicPr>
          <p:cNvPr id="5" name="Picture 4">
            <a:extLst>
              <a:ext uri="{FF2B5EF4-FFF2-40B4-BE49-F238E27FC236}">
                <a16:creationId xmlns:a16="http://schemas.microsoft.com/office/drawing/2014/main" id="{019A6B8E-0CD6-2553-0520-DF9244FCFB78}"/>
              </a:ext>
            </a:extLst>
          </p:cNvPr>
          <p:cNvPicPr>
            <a:picLocks noChangeAspect="1"/>
          </p:cNvPicPr>
          <p:nvPr/>
        </p:nvPicPr>
        <p:blipFill>
          <a:blip r:embed="rId4"/>
          <a:stretch>
            <a:fillRect/>
          </a:stretch>
        </p:blipFill>
        <p:spPr>
          <a:xfrm rot="16200000" flipH="1">
            <a:off x="7285278" y="4127242"/>
            <a:ext cx="1796224" cy="1785102"/>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8584B60-09B2-9CFA-E5B6-2949310DA2AF}"/>
                  </a:ext>
                </a:extLst>
              </p:cNvPr>
              <p:cNvSpPr txBox="1"/>
              <p:nvPr/>
            </p:nvSpPr>
            <p:spPr>
              <a:xfrm>
                <a:off x="3816318" y="1610496"/>
                <a:ext cx="3557256" cy="461665"/>
              </a:xfrm>
              <a:prstGeom prst="rect">
                <a:avLst/>
              </a:prstGeom>
              <a:noFill/>
            </p:spPr>
            <p:txBody>
              <a:bodyPr wrap="none" rtlCol="0" anchor="b">
                <a:spAutoFit/>
              </a:bodyPr>
              <a:lstStyle/>
              <a:p>
                <a:pPr algn="ctr"/>
                <a14:m>
                  <m:oMath xmlns:m="http://schemas.openxmlformats.org/officeDocument/2006/math">
                    <m:r>
                      <a:rPr lang="en-US" sz="2400" b="0" i="1" noProof="0" smtClean="0">
                        <a:latin typeface="Cambria Math" panose="02040503050406030204" pitchFamily="18" charset="0"/>
                      </a:rPr>
                      <m:t>𝑚</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𝑛</m:t>
                    </m:r>
                  </m:oMath>
                </a14:m>
                <a:r>
                  <a:rPr lang="en-US" sz="2400" noProof="0" dirty="0"/>
                  <a:t> matrix initialization</a:t>
                </a:r>
                <a:endParaRPr lang="en-US" sz="2400" i="1" noProof="0" dirty="0"/>
              </a:p>
            </p:txBody>
          </p:sp>
        </mc:Choice>
        <mc:Fallback xmlns="">
          <p:sp>
            <p:nvSpPr>
              <p:cNvPr id="16" name="TextBox 15">
                <a:extLst>
                  <a:ext uri="{FF2B5EF4-FFF2-40B4-BE49-F238E27FC236}">
                    <a16:creationId xmlns:a16="http://schemas.microsoft.com/office/drawing/2014/main" id="{18584B60-09B2-9CFA-E5B6-2949310DA2AF}"/>
                  </a:ext>
                </a:extLst>
              </p:cNvPr>
              <p:cNvSpPr txBox="1">
                <a:spLocks noRot="1" noChangeAspect="1" noMove="1" noResize="1" noEditPoints="1" noAdjustHandles="1" noChangeArrowheads="1" noChangeShapeType="1" noTextEdit="1"/>
              </p:cNvSpPr>
              <p:nvPr/>
            </p:nvSpPr>
            <p:spPr>
              <a:xfrm>
                <a:off x="3816318" y="1610496"/>
                <a:ext cx="3557256" cy="461665"/>
              </a:xfrm>
              <a:prstGeom prst="rect">
                <a:avLst/>
              </a:prstGeom>
              <a:blipFill>
                <a:blip r:embed="rId5"/>
                <a:stretch>
                  <a:fillRect t="-9211" r="-2397" b="-3026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272D78A-9733-44AD-5F40-F615D37E734A}"/>
              </a:ext>
            </a:extLst>
          </p:cNvPr>
          <p:cNvSpPr txBox="1"/>
          <p:nvPr/>
        </p:nvSpPr>
        <p:spPr>
          <a:xfrm>
            <a:off x="2285689" y="2047595"/>
            <a:ext cx="6618514" cy="1330685"/>
          </a:xfrm>
          <a:prstGeom prst="rect">
            <a:avLst/>
          </a:prstGeom>
          <a:no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 name="Date Placeholder 2">
            <a:extLst>
              <a:ext uri="{FF2B5EF4-FFF2-40B4-BE49-F238E27FC236}">
                <a16:creationId xmlns:a16="http://schemas.microsoft.com/office/drawing/2014/main" id="{2F2E9618-3FF8-BCC6-7768-54ABDA9F15B4}"/>
              </a:ext>
            </a:extLst>
          </p:cNvPr>
          <p:cNvSpPr>
            <a:spLocks noGrp="1"/>
          </p:cNvSpPr>
          <p:nvPr>
            <p:ph type="dt" sz="half" idx="10"/>
          </p:nvPr>
        </p:nvSpPr>
        <p:spPr/>
        <p:txBody>
          <a:bodyPr/>
          <a:lstStyle/>
          <a:p>
            <a:fld id="{4A613F15-5634-45C6-B470-EBFC7B0054B0}" type="datetime1">
              <a:rPr lang="en-US" noProof="0" smtClean="0"/>
              <a:t>9/6/2026</a:t>
            </a:fld>
            <a:endParaRPr lang="en-US" noProof="0" dirty="0"/>
          </a:p>
        </p:txBody>
      </p:sp>
      <p:sp>
        <p:nvSpPr>
          <p:cNvPr id="8" name="Slide Number Placeholder 7">
            <a:extLst>
              <a:ext uri="{FF2B5EF4-FFF2-40B4-BE49-F238E27FC236}">
                <a16:creationId xmlns:a16="http://schemas.microsoft.com/office/drawing/2014/main" id="{21FD437B-AF40-42FA-9984-B012183807D6}"/>
              </a:ext>
            </a:extLst>
          </p:cNvPr>
          <p:cNvSpPr>
            <a:spLocks noGrp="1"/>
          </p:cNvSpPr>
          <p:nvPr>
            <p:ph type="sldNum" sz="quarter" idx="12"/>
          </p:nvPr>
        </p:nvSpPr>
        <p:spPr/>
        <p:txBody>
          <a:bodyPr/>
          <a:lstStyle/>
          <a:p>
            <a:fld id="{DA0BB241-1B5F-4309-9407-9EEA04D9598D}" type="slidenum">
              <a:rPr lang="en-US" noProof="0" smtClean="0"/>
              <a:t>3</a:t>
            </a:fld>
            <a:endParaRPr lang="en-US" noProof="0" dirty="0"/>
          </a:p>
        </p:txBody>
      </p:sp>
      <p:sp>
        <p:nvSpPr>
          <p:cNvPr id="12" name="TextBox 11">
            <a:extLst>
              <a:ext uri="{FF2B5EF4-FFF2-40B4-BE49-F238E27FC236}">
                <a16:creationId xmlns:a16="http://schemas.microsoft.com/office/drawing/2014/main" id="{16640CAD-E8F3-0136-EE14-212BDC4874AA}"/>
              </a:ext>
            </a:extLst>
          </p:cNvPr>
          <p:cNvSpPr txBox="1"/>
          <p:nvPr/>
        </p:nvSpPr>
        <p:spPr>
          <a:xfrm>
            <a:off x="2998529" y="5942676"/>
            <a:ext cx="1635577" cy="461665"/>
          </a:xfrm>
          <a:prstGeom prst="rect">
            <a:avLst/>
          </a:prstGeom>
          <a:noFill/>
        </p:spPr>
        <p:txBody>
          <a:bodyPr wrap="none" rtlCol="0">
            <a:spAutoFit/>
          </a:bodyPr>
          <a:lstStyle/>
          <a:p>
            <a:pPr algn="ctr"/>
            <a:r>
              <a:rPr lang="en-US" sz="2400" noProof="0" dirty="0"/>
              <a:t>Row-major</a:t>
            </a:r>
            <a:endParaRPr lang="en-US" noProof="0" dirty="0"/>
          </a:p>
        </p:txBody>
      </p:sp>
      <p:sp>
        <p:nvSpPr>
          <p:cNvPr id="17" name="TextBox 16">
            <a:extLst>
              <a:ext uri="{FF2B5EF4-FFF2-40B4-BE49-F238E27FC236}">
                <a16:creationId xmlns:a16="http://schemas.microsoft.com/office/drawing/2014/main" id="{8AF8D4C1-EF6C-17E0-8CD6-7A1A3F4F9FD6}"/>
              </a:ext>
            </a:extLst>
          </p:cNvPr>
          <p:cNvSpPr txBox="1"/>
          <p:nvPr/>
        </p:nvSpPr>
        <p:spPr>
          <a:xfrm>
            <a:off x="7019373" y="5951066"/>
            <a:ext cx="2129109" cy="461665"/>
          </a:xfrm>
          <a:prstGeom prst="rect">
            <a:avLst/>
          </a:prstGeom>
          <a:noFill/>
        </p:spPr>
        <p:txBody>
          <a:bodyPr wrap="none" rtlCol="0">
            <a:spAutoFit/>
          </a:bodyPr>
          <a:lstStyle/>
          <a:p>
            <a:pPr algn="ctr"/>
            <a:r>
              <a:rPr lang="en-US" sz="2400" noProof="0" dirty="0"/>
              <a:t>Column-major</a:t>
            </a:r>
            <a:endParaRPr lang="en-US" noProof="0" dirty="0"/>
          </a:p>
        </p:txBody>
      </p:sp>
      <p:sp>
        <p:nvSpPr>
          <p:cNvPr id="18" name="TextBox 17">
            <a:extLst>
              <a:ext uri="{FF2B5EF4-FFF2-40B4-BE49-F238E27FC236}">
                <a16:creationId xmlns:a16="http://schemas.microsoft.com/office/drawing/2014/main" id="{3D68BC8C-4491-6660-E659-B2498387A799}"/>
              </a:ext>
            </a:extLst>
          </p:cNvPr>
          <p:cNvSpPr txBox="1"/>
          <p:nvPr/>
        </p:nvSpPr>
        <p:spPr>
          <a:xfrm>
            <a:off x="2320137" y="5939902"/>
            <a:ext cx="678392" cy="523220"/>
          </a:xfrm>
          <a:prstGeom prst="rect">
            <a:avLst/>
          </a:prstGeom>
          <a:noFill/>
        </p:spPr>
        <p:txBody>
          <a:bodyPr wrap="none" rtlCol="0">
            <a:spAutoFit/>
          </a:bodyPr>
          <a:lstStyle/>
          <a:p>
            <a:pPr algn="ctr"/>
            <a:r>
              <a:rPr lang="en-US" sz="2800" noProof="0" dirty="0"/>
              <a:t>🚀</a:t>
            </a:r>
          </a:p>
        </p:txBody>
      </p:sp>
      <p:sp>
        <p:nvSpPr>
          <p:cNvPr id="22" name="TextBox 21">
            <a:extLst>
              <a:ext uri="{FF2B5EF4-FFF2-40B4-BE49-F238E27FC236}">
                <a16:creationId xmlns:a16="http://schemas.microsoft.com/office/drawing/2014/main" id="{C67B8E21-985F-A8B8-8A89-3F3138337D40}"/>
              </a:ext>
            </a:extLst>
          </p:cNvPr>
          <p:cNvSpPr txBox="1"/>
          <p:nvPr/>
        </p:nvSpPr>
        <p:spPr>
          <a:xfrm>
            <a:off x="9075941" y="5917905"/>
            <a:ext cx="678392" cy="523220"/>
          </a:xfrm>
          <a:prstGeom prst="rect">
            <a:avLst/>
          </a:prstGeom>
          <a:noFill/>
        </p:spPr>
        <p:txBody>
          <a:bodyPr wrap="none" rtlCol="0">
            <a:spAutoFit/>
          </a:bodyPr>
          <a:lstStyle/>
          <a:p>
            <a:pPr algn="ctr"/>
            <a:r>
              <a:rPr lang="en-US" sz="2800" noProof="0" dirty="0"/>
              <a: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8FA95F-2675-1FD6-BC91-3590519E9D21}"/>
                  </a:ext>
                </a:extLst>
              </p:cNvPr>
              <p:cNvSpPr txBox="1"/>
              <p:nvPr/>
            </p:nvSpPr>
            <p:spPr>
              <a:xfrm>
                <a:off x="2469117" y="4801253"/>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10" name="TextBox 9">
                <a:extLst>
                  <a:ext uri="{FF2B5EF4-FFF2-40B4-BE49-F238E27FC236}">
                    <a16:creationId xmlns:a16="http://schemas.microsoft.com/office/drawing/2014/main" id="{0D8FA95F-2675-1FD6-BC91-3590519E9D21}"/>
                  </a:ext>
                </a:extLst>
              </p:cNvPr>
              <p:cNvSpPr txBox="1">
                <a:spLocks noRot="1" noChangeAspect="1" noMove="1" noResize="1" noEditPoints="1" noAdjustHandles="1" noChangeArrowheads="1" noChangeShapeType="1" noTextEdit="1"/>
              </p:cNvSpPr>
              <p:nvPr/>
            </p:nvSpPr>
            <p:spPr>
              <a:xfrm>
                <a:off x="2469117" y="4801253"/>
                <a:ext cx="51052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99167C-04A4-F722-8AAD-E9C93817DE28}"/>
                  </a:ext>
                </a:extLst>
              </p:cNvPr>
              <p:cNvSpPr txBox="1"/>
              <p:nvPr/>
            </p:nvSpPr>
            <p:spPr>
              <a:xfrm>
                <a:off x="7947754" y="3627378"/>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13" name="TextBox 12">
                <a:extLst>
                  <a:ext uri="{FF2B5EF4-FFF2-40B4-BE49-F238E27FC236}">
                    <a16:creationId xmlns:a16="http://schemas.microsoft.com/office/drawing/2014/main" id="{5D99167C-04A4-F722-8AAD-E9C93817DE28}"/>
                  </a:ext>
                </a:extLst>
              </p:cNvPr>
              <p:cNvSpPr txBox="1">
                <a:spLocks noRot="1" noChangeAspect="1" noMove="1" noResize="1" noEditPoints="1" noAdjustHandles="1" noChangeArrowheads="1" noChangeShapeType="1" noTextEdit="1"/>
              </p:cNvSpPr>
              <p:nvPr/>
            </p:nvSpPr>
            <p:spPr>
              <a:xfrm>
                <a:off x="7947754" y="3627378"/>
                <a:ext cx="428771"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78A7279-5F01-C120-7112-C7DEE7206658}"/>
                  </a:ext>
                </a:extLst>
              </p:cNvPr>
              <p:cNvSpPr txBox="1"/>
              <p:nvPr/>
            </p:nvSpPr>
            <p:spPr>
              <a:xfrm>
                <a:off x="6842324" y="47889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19" name="TextBox 18">
                <a:extLst>
                  <a:ext uri="{FF2B5EF4-FFF2-40B4-BE49-F238E27FC236}">
                    <a16:creationId xmlns:a16="http://schemas.microsoft.com/office/drawing/2014/main" id="{078A7279-5F01-C120-7112-C7DEE7206658}"/>
                  </a:ext>
                </a:extLst>
              </p:cNvPr>
              <p:cNvSpPr txBox="1">
                <a:spLocks noRot="1" noChangeAspect="1" noMove="1" noResize="1" noEditPoints="1" noAdjustHandles="1" noChangeArrowheads="1" noChangeShapeType="1" noTextEdit="1"/>
              </p:cNvSpPr>
              <p:nvPr/>
            </p:nvSpPr>
            <p:spPr>
              <a:xfrm>
                <a:off x="6842324" y="4788960"/>
                <a:ext cx="510524"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385C36A-8F48-E47B-7C6E-E9CE50E27705}"/>
                  </a:ext>
                </a:extLst>
              </p:cNvPr>
              <p:cNvSpPr txBox="1"/>
              <p:nvPr/>
            </p:nvSpPr>
            <p:spPr>
              <a:xfrm>
                <a:off x="3585324" y="3674263"/>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23" name="TextBox 22">
                <a:extLst>
                  <a:ext uri="{FF2B5EF4-FFF2-40B4-BE49-F238E27FC236}">
                    <a16:creationId xmlns:a16="http://schemas.microsoft.com/office/drawing/2014/main" id="{C385C36A-8F48-E47B-7C6E-E9CE50E27705}"/>
                  </a:ext>
                </a:extLst>
              </p:cNvPr>
              <p:cNvSpPr txBox="1">
                <a:spLocks noRot="1" noChangeAspect="1" noMove="1" noResize="1" noEditPoints="1" noAdjustHandles="1" noChangeArrowheads="1" noChangeShapeType="1" noTextEdit="1"/>
              </p:cNvSpPr>
              <p:nvPr/>
            </p:nvSpPr>
            <p:spPr>
              <a:xfrm>
                <a:off x="3585324" y="3674263"/>
                <a:ext cx="428771" cy="461665"/>
              </a:xfrm>
              <a:prstGeom prst="rect">
                <a:avLst/>
              </a:prstGeom>
              <a:blipFill>
                <a:blip r:embed="rId9"/>
                <a:stretch>
                  <a:fillRect/>
                </a:stretch>
              </a:blipFill>
            </p:spPr>
            <p:txBody>
              <a:bodyPr/>
              <a:lstStyle/>
              <a:p>
                <a:r>
                  <a:rPr lang="en-US">
                    <a:noFill/>
                  </a:rPr>
                  <a:t> </a:t>
                </a:r>
              </a:p>
            </p:txBody>
          </p:sp>
        </mc:Fallback>
      </mc:AlternateContent>
      <p:sp>
        <p:nvSpPr>
          <p:cNvPr id="14" name="Right Brace 13">
            <a:extLst>
              <a:ext uri="{FF2B5EF4-FFF2-40B4-BE49-F238E27FC236}">
                <a16:creationId xmlns:a16="http://schemas.microsoft.com/office/drawing/2014/main" id="{92F803B9-E42A-FBF5-688A-F8B7645D0956}"/>
              </a:ext>
            </a:extLst>
          </p:cNvPr>
          <p:cNvSpPr/>
          <p:nvPr/>
        </p:nvSpPr>
        <p:spPr>
          <a:xfrm>
            <a:off x="8997669" y="2044259"/>
            <a:ext cx="139683" cy="1334021"/>
          </a:xfrm>
          <a:prstGeom prst="rightBrac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F7AB1616-978C-81B6-E5CB-C2AC5946404D}"/>
              </a:ext>
            </a:extLst>
          </p:cNvPr>
          <p:cNvSpPr txBox="1"/>
          <p:nvPr/>
        </p:nvSpPr>
        <p:spPr>
          <a:xfrm>
            <a:off x="9105602" y="2480436"/>
            <a:ext cx="2972352" cy="461665"/>
          </a:xfrm>
          <a:prstGeom prst="rect">
            <a:avLst/>
          </a:prstGeom>
          <a:noFill/>
        </p:spPr>
        <p:txBody>
          <a:bodyPr wrap="none" rtlCol="0" anchor="ctr">
            <a:spAutoFit/>
          </a:bodyPr>
          <a:lstStyle/>
          <a:p>
            <a:r>
              <a:rPr lang="en-US" sz="2400" dirty="0"/>
              <a:t>Row-by-row traversal</a:t>
            </a:r>
          </a:p>
        </p:txBody>
      </p:sp>
    </p:spTree>
    <p:custDataLst>
      <p:tags r:id="rId1"/>
    </p:custDataLst>
    <p:extLst>
      <p:ext uri="{BB962C8B-B14F-4D97-AF65-F5344CB8AC3E}">
        <p14:creationId xmlns:p14="http://schemas.microsoft.com/office/powerpoint/2010/main" val="263651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18" grpId="0"/>
      <p:bldP spid="22" grpId="0"/>
      <p:bldP spid="10" grpId="0"/>
      <p:bldP spid="13" grpId="0"/>
      <p:bldP spid="19"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cxnSp>
        <p:nvCxnSpPr>
          <p:cNvPr id="7" name="Straight Arrow Connector 6">
            <a:extLst>
              <a:ext uri="{FF2B5EF4-FFF2-40B4-BE49-F238E27FC236}">
                <a16:creationId xmlns:a16="http://schemas.microsoft.com/office/drawing/2014/main" id="{810D43FC-A3D8-FA7F-57C5-AF9023BC6E13}"/>
              </a:ext>
            </a:extLst>
          </p:cNvPr>
          <p:cNvCxnSpPr>
            <a:cxnSpLocks/>
          </p:cNvCxnSpPr>
          <p:nvPr/>
        </p:nvCxnSpPr>
        <p:spPr>
          <a:xfrm flipV="1">
            <a:off x="2965699" y="3622045"/>
            <a:ext cx="1913618" cy="6101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F46F6-CF65-0E55-0650-3C9E5AB72670}"/>
              </a:ext>
            </a:extLst>
          </p:cNvPr>
          <p:cNvSpPr txBox="1"/>
          <p:nvPr/>
        </p:nvSpPr>
        <p:spPr>
          <a:xfrm flipH="1">
            <a:off x="5631896" y="3071365"/>
            <a:ext cx="3400422" cy="461665"/>
          </a:xfrm>
          <a:prstGeom prst="rect">
            <a:avLst/>
          </a:prstGeom>
          <a:noFill/>
        </p:spPr>
        <p:txBody>
          <a:bodyPr wrap="square" rtlCol="0" anchor="b">
            <a:spAutoFit/>
          </a:bodyPr>
          <a:lstStyle/>
          <a:p>
            <a:pPr algn="ctr"/>
            <a:r>
              <a:rPr lang="en-US" sz="2400" noProof="0" dirty="0"/>
              <a:t>Physical memory layout</a:t>
            </a:r>
          </a:p>
        </p:txBody>
      </p:sp>
      <p:sp>
        <p:nvSpPr>
          <p:cNvPr id="11" name="TextBox 10">
            <a:extLst>
              <a:ext uri="{FF2B5EF4-FFF2-40B4-BE49-F238E27FC236}">
                <a16:creationId xmlns:a16="http://schemas.microsoft.com/office/drawing/2014/main" id="{D636AEBD-D49B-6BE3-BEEA-278110BAE03F}"/>
              </a:ext>
            </a:extLst>
          </p:cNvPr>
          <p:cNvSpPr txBox="1"/>
          <p:nvPr/>
        </p:nvSpPr>
        <p:spPr>
          <a:xfrm flipH="1">
            <a:off x="2672069" y="5490216"/>
            <a:ext cx="5550828" cy="461665"/>
          </a:xfrm>
          <a:prstGeom prst="rect">
            <a:avLst/>
          </a:prstGeom>
          <a:noFill/>
        </p:spPr>
        <p:txBody>
          <a:bodyPr wrap="square" rtlCol="0">
            <a:spAutoFit/>
          </a:bodyPr>
          <a:lstStyle/>
          <a:p>
            <a:pPr algn="ctr"/>
            <a:r>
              <a:rPr lang="en-US" sz="2400" noProof="0" dirty="0"/>
              <a:t>Layout abstraction of a data structure</a:t>
            </a:r>
          </a:p>
        </p:txBody>
      </p:sp>
      <p:pic>
        <p:nvPicPr>
          <p:cNvPr id="13" name="Picture 12">
            <a:extLst>
              <a:ext uri="{FF2B5EF4-FFF2-40B4-BE49-F238E27FC236}">
                <a16:creationId xmlns:a16="http://schemas.microsoft.com/office/drawing/2014/main" id="{DD950412-A4E1-17AA-7F65-11BCBF6AEAD6}"/>
              </a:ext>
            </a:extLst>
          </p:cNvPr>
          <p:cNvPicPr>
            <a:picLocks noChangeAspect="1"/>
          </p:cNvPicPr>
          <p:nvPr/>
        </p:nvPicPr>
        <p:blipFill>
          <a:blip r:embed="rId4"/>
          <a:stretch>
            <a:fillRect/>
          </a:stretch>
        </p:blipFill>
        <p:spPr>
          <a:xfrm>
            <a:off x="9729605" y="2671868"/>
            <a:ext cx="1249070" cy="1241336"/>
          </a:xfrm>
          <a:prstGeom prst="rect">
            <a:avLst/>
          </a:prstGeom>
        </p:spPr>
      </p:pic>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nvPr>
        </p:nvSpPr>
        <p:spPr/>
        <p:txBody>
          <a:bodyPr/>
          <a:lstStyle/>
          <a:p>
            <a:fld id="{938C8B4D-7ED9-4C51-A12C-8A3FEA1E5194}" type="datetime1">
              <a:rPr lang="en-US" noProof="0" smtClean="0"/>
              <a:t>9/6/2026</a:t>
            </a:fld>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nvPr>
        </p:nvSpPr>
        <p:spPr/>
        <p:txBody>
          <a:bodyPr/>
          <a:lstStyle/>
          <a:p>
            <a:fld id="{DA0BB241-1B5F-4309-9407-9EEA04D9598D}" type="slidenum">
              <a:rPr lang="en-US" noProof="0" smtClean="0"/>
              <a:t>4</a:t>
            </a:fld>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74" name="Rectangle 73">
            <a:extLst>
              <a:ext uri="{FF2B5EF4-FFF2-40B4-BE49-F238E27FC236}">
                <a16:creationId xmlns:a16="http://schemas.microsoft.com/office/drawing/2014/main" id="{C017114C-4B9B-189E-5F4D-E3234F5BF9B4}"/>
              </a:ext>
            </a:extLst>
          </p:cNvPr>
          <p:cNvSpPr/>
          <p:nvPr/>
        </p:nvSpPr>
        <p:spPr>
          <a:xfrm>
            <a:off x="5260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77" name="Rectangle 76">
            <a:extLst>
              <a:ext uri="{FF2B5EF4-FFF2-40B4-BE49-F238E27FC236}">
                <a16:creationId xmlns:a16="http://schemas.microsoft.com/office/drawing/2014/main" id="{27814029-6F98-4055-439B-51AF0156C7F8}"/>
              </a:ext>
            </a:extLst>
          </p:cNvPr>
          <p:cNvSpPr/>
          <p:nvPr/>
        </p:nvSpPr>
        <p:spPr>
          <a:xfrm>
            <a:off x="6784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80" name="Rectangle 79">
            <a:extLst>
              <a:ext uri="{FF2B5EF4-FFF2-40B4-BE49-F238E27FC236}">
                <a16:creationId xmlns:a16="http://schemas.microsoft.com/office/drawing/2014/main" id="{71500E03-9C84-6DAE-C18B-7C7A249E1704}"/>
              </a:ext>
            </a:extLst>
          </p:cNvPr>
          <p:cNvSpPr/>
          <p:nvPr/>
        </p:nvSpPr>
        <p:spPr>
          <a:xfrm>
            <a:off x="7546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83" name="Rectangle 82">
            <a:extLst>
              <a:ext uri="{FF2B5EF4-FFF2-40B4-BE49-F238E27FC236}">
                <a16:creationId xmlns:a16="http://schemas.microsoft.com/office/drawing/2014/main" id="{AE602D09-5476-2D97-3F39-B3301C510D97}"/>
              </a:ext>
            </a:extLst>
          </p:cNvPr>
          <p:cNvSpPr/>
          <p:nvPr/>
        </p:nvSpPr>
        <p:spPr>
          <a:xfrm>
            <a:off x="7165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86" name="Rectangle 85">
            <a:extLst>
              <a:ext uri="{FF2B5EF4-FFF2-40B4-BE49-F238E27FC236}">
                <a16:creationId xmlns:a16="http://schemas.microsoft.com/office/drawing/2014/main" id="{0B4A79BD-970B-69A5-CA89-23BD9BF1219C}"/>
              </a:ext>
            </a:extLst>
          </p:cNvPr>
          <p:cNvSpPr/>
          <p:nvPr/>
        </p:nvSpPr>
        <p:spPr>
          <a:xfrm>
            <a:off x="6403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89" name="Rectangle 88">
            <a:extLst>
              <a:ext uri="{FF2B5EF4-FFF2-40B4-BE49-F238E27FC236}">
                <a16:creationId xmlns:a16="http://schemas.microsoft.com/office/drawing/2014/main" id="{FB202CA8-F886-1127-F914-31628CFCD14A}"/>
              </a:ext>
            </a:extLst>
          </p:cNvPr>
          <p:cNvSpPr/>
          <p:nvPr/>
        </p:nvSpPr>
        <p:spPr>
          <a:xfrm>
            <a:off x="4879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92" name="Rectangle 91">
            <a:extLst>
              <a:ext uri="{FF2B5EF4-FFF2-40B4-BE49-F238E27FC236}">
                <a16:creationId xmlns:a16="http://schemas.microsoft.com/office/drawing/2014/main" id="{B8977E23-4CDB-1264-F4AD-A71A91BF3890}"/>
              </a:ext>
            </a:extLst>
          </p:cNvPr>
          <p:cNvSpPr/>
          <p:nvPr/>
        </p:nvSpPr>
        <p:spPr>
          <a:xfrm>
            <a:off x="7927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95" name="Rectangle 94">
            <a:extLst>
              <a:ext uri="{FF2B5EF4-FFF2-40B4-BE49-F238E27FC236}">
                <a16:creationId xmlns:a16="http://schemas.microsoft.com/office/drawing/2014/main" id="{70C68701-285E-394C-56CB-B2B925283B76}"/>
              </a:ext>
            </a:extLst>
          </p:cNvPr>
          <p:cNvSpPr/>
          <p:nvPr/>
        </p:nvSpPr>
        <p:spPr>
          <a:xfrm>
            <a:off x="5641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98" name="Rectangle 97">
            <a:extLst>
              <a:ext uri="{FF2B5EF4-FFF2-40B4-BE49-F238E27FC236}">
                <a16:creationId xmlns:a16="http://schemas.microsoft.com/office/drawing/2014/main" id="{8EA68D86-1A02-EE92-B997-D5D94FEACE08}"/>
              </a:ext>
            </a:extLst>
          </p:cNvPr>
          <p:cNvSpPr/>
          <p:nvPr/>
        </p:nvSpPr>
        <p:spPr>
          <a:xfrm>
            <a:off x="6022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01" name="Rectangle 100">
            <a:extLst>
              <a:ext uri="{FF2B5EF4-FFF2-40B4-BE49-F238E27FC236}">
                <a16:creationId xmlns:a16="http://schemas.microsoft.com/office/drawing/2014/main" id="{115C4D2C-EE3D-1F7C-B037-189CE77D91F2}"/>
              </a:ext>
            </a:extLst>
          </p:cNvPr>
          <p:cNvSpPr/>
          <p:nvPr/>
        </p:nvSpPr>
        <p:spPr>
          <a:xfrm>
            <a:off x="9070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04" name="Rectangle 103">
            <a:extLst>
              <a:ext uri="{FF2B5EF4-FFF2-40B4-BE49-F238E27FC236}">
                <a16:creationId xmlns:a16="http://schemas.microsoft.com/office/drawing/2014/main" id="{9210E62F-B36D-7DFB-8DF9-AAFF793EABFA}"/>
              </a:ext>
            </a:extLst>
          </p:cNvPr>
          <p:cNvSpPr/>
          <p:nvPr/>
        </p:nvSpPr>
        <p:spPr>
          <a:xfrm>
            <a:off x="8308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07" name="Rectangle 106">
            <a:extLst>
              <a:ext uri="{FF2B5EF4-FFF2-40B4-BE49-F238E27FC236}">
                <a16:creationId xmlns:a16="http://schemas.microsoft.com/office/drawing/2014/main" id="{303D1F9A-13EE-7BB8-84D7-4B3131D55425}"/>
              </a:ext>
            </a:extLst>
          </p:cNvPr>
          <p:cNvSpPr/>
          <p:nvPr/>
        </p:nvSpPr>
        <p:spPr>
          <a:xfrm>
            <a:off x="8689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110" name="Rectangle 109">
            <a:extLst>
              <a:ext uri="{FF2B5EF4-FFF2-40B4-BE49-F238E27FC236}">
                <a16:creationId xmlns:a16="http://schemas.microsoft.com/office/drawing/2014/main" id="{EFA7F8D3-BAD2-4029-5B48-56B1D9D350CF}"/>
              </a:ext>
            </a:extLst>
          </p:cNvPr>
          <p:cNvSpPr/>
          <p:nvPr/>
        </p:nvSpPr>
        <p:spPr>
          <a:xfrm>
            <a:off x="6022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113" name="Rectangle 112">
            <a:extLst>
              <a:ext uri="{FF2B5EF4-FFF2-40B4-BE49-F238E27FC236}">
                <a16:creationId xmlns:a16="http://schemas.microsoft.com/office/drawing/2014/main" id="{4A3B9DBA-D0CF-5DFF-B1F0-AE25E9B2F115}"/>
              </a:ext>
            </a:extLst>
          </p:cNvPr>
          <p:cNvSpPr/>
          <p:nvPr/>
        </p:nvSpPr>
        <p:spPr>
          <a:xfrm>
            <a:off x="6403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116" name="Rectangle 115">
            <a:extLst>
              <a:ext uri="{FF2B5EF4-FFF2-40B4-BE49-F238E27FC236}">
                <a16:creationId xmlns:a16="http://schemas.microsoft.com/office/drawing/2014/main" id="{FEE21F3C-FCC9-9DDC-352B-5B25C9F7C058}"/>
              </a:ext>
            </a:extLst>
          </p:cNvPr>
          <p:cNvSpPr/>
          <p:nvPr/>
        </p:nvSpPr>
        <p:spPr>
          <a:xfrm>
            <a:off x="8689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119" name="Rectangle 118">
            <a:extLst>
              <a:ext uri="{FF2B5EF4-FFF2-40B4-BE49-F238E27FC236}">
                <a16:creationId xmlns:a16="http://schemas.microsoft.com/office/drawing/2014/main" id="{94C85911-3B16-FB07-3A45-313E40E40F7B}"/>
              </a:ext>
            </a:extLst>
          </p:cNvPr>
          <p:cNvSpPr/>
          <p:nvPr/>
        </p:nvSpPr>
        <p:spPr>
          <a:xfrm>
            <a:off x="7546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122" name="Rectangle 121">
            <a:extLst>
              <a:ext uri="{FF2B5EF4-FFF2-40B4-BE49-F238E27FC236}">
                <a16:creationId xmlns:a16="http://schemas.microsoft.com/office/drawing/2014/main" id="{ACDF9B56-E1A5-32D8-0930-92E8E480A0C3}"/>
              </a:ext>
            </a:extLst>
          </p:cNvPr>
          <p:cNvSpPr/>
          <p:nvPr/>
        </p:nvSpPr>
        <p:spPr>
          <a:xfrm>
            <a:off x="5260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125" name="Rectangle 124">
            <a:extLst>
              <a:ext uri="{FF2B5EF4-FFF2-40B4-BE49-F238E27FC236}">
                <a16:creationId xmlns:a16="http://schemas.microsoft.com/office/drawing/2014/main" id="{BAEB7AAE-6098-D3AE-E50C-860A05F2AF1F}"/>
              </a:ext>
            </a:extLst>
          </p:cNvPr>
          <p:cNvSpPr/>
          <p:nvPr/>
        </p:nvSpPr>
        <p:spPr>
          <a:xfrm>
            <a:off x="4879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128" name="Rectangle 127">
            <a:extLst>
              <a:ext uri="{FF2B5EF4-FFF2-40B4-BE49-F238E27FC236}">
                <a16:creationId xmlns:a16="http://schemas.microsoft.com/office/drawing/2014/main" id="{87CDE090-1007-F93C-C94B-F65C05AF7955}"/>
              </a:ext>
            </a:extLst>
          </p:cNvPr>
          <p:cNvSpPr/>
          <p:nvPr/>
        </p:nvSpPr>
        <p:spPr>
          <a:xfrm>
            <a:off x="5641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131" name="Rectangle 130">
            <a:extLst>
              <a:ext uri="{FF2B5EF4-FFF2-40B4-BE49-F238E27FC236}">
                <a16:creationId xmlns:a16="http://schemas.microsoft.com/office/drawing/2014/main" id="{B3755AD7-C1D5-2776-A250-35403C2095FC}"/>
              </a:ext>
            </a:extLst>
          </p:cNvPr>
          <p:cNvSpPr/>
          <p:nvPr/>
        </p:nvSpPr>
        <p:spPr>
          <a:xfrm>
            <a:off x="7165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134" name="Rectangle 133">
            <a:extLst>
              <a:ext uri="{FF2B5EF4-FFF2-40B4-BE49-F238E27FC236}">
                <a16:creationId xmlns:a16="http://schemas.microsoft.com/office/drawing/2014/main" id="{22DFEFB8-108D-1A71-4F29-AE6F03A556C2}"/>
              </a:ext>
            </a:extLst>
          </p:cNvPr>
          <p:cNvSpPr/>
          <p:nvPr/>
        </p:nvSpPr>
        <p:spPr>
          <a:xfrm>
            <a:off x="8308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37" name="Rectangle 136">
            <a:extLst>
              <a:ext uri="{FF2B5EF4-FFF2-40B4-BE49-F238E27FC236}">
                <a16:creationId xmlns:a16="http://schemas.microsoft.com/office/drawing/2014/main" id="{4B06CD16-5CFF-9783-4142-A79F711C0702}"/>
              </a:ext>
            </a:extLst>
          </p:cNvPr>
          <p:cNvSpPr/>
          <p:nvPr/>
        </p:nvSpPr>
        <p:spPr>
          <a:xfrm>
            <a:off x="9070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40" name="Rectangle 139">
            <a:extLst>
              <a:ext uri="{FF2B5EF4-FFF2-40B4-BE49-F238E27FC236}">
                <a16:creationId xmlns:a16="http://schemas.microsoft.com/office/drawing/2014/main" id="{83496A3D-46C3-B602-5DEC-9FF632E19DAA}"/>
              </a:ext>
            </a:extLst>
          </p:cNvPr>
          <p:cNvSpPr/>
          <p:nvPr/>
        </p:nvSpPr>
        <p:spPr>
          <a:xfrm>
            <a:off x="6784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43" name="Rectangle 142">
            <a:extLst>
              <a:ext uri="{FF2B5EF4-FFF2-40B4-BE49-F238E27FC236}">
                <a16:creationId xmlns:a16="http://schemas.microsoft.com/office/drawing/2014/main" id="{58279558-BDB0-F4DD-B769-C72E50415C5F}"/>
              </a:ext>
            </a:extLst>
          </p:cNvPr>
          <p:cNvSpPr/>
          <p:nvPr/>
        </p:nvSpPr>
        <p:spPr>
          <a:xfrm>
            <a:off x="7927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cxnSp>
        <p:nvCxnSpPr>
          <p:cNvPr id="27" name="Straight Arrow Connector 26">
            <a:extLst>
              <a:ext uri="{FF2B5EF4-FFF2-40B4-BE49-F238E27FC236}">
                <a16:creationId xmlns:a16="http://schemas.microsoft.com/office/drawing/2014/main" id="{EDD1A278-7C00-DF7C-219E-946088D75D0E}"/>
              </a:ext>
            </a:extLst>
          </p:cNvPr>
          <p:cNvCxnSpPr>
            <a:cxnSpLocks/>
          </p:cNvCxnSpPr>
          <p:nvPr/>
        </p:nvCxnSpPr>
        <p:spPr>
          <a:xfrm>
            <a:off x="2965699" y="4232178"/>
            <a:ext cx="1913618" cy="7263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EF9E0881-5D12-8A45-8EDA-5E01EA5D0778}"/>
              </a:ext>
            </a:extLst>
          </p:cNvPr>
          <p:cNvPicPr>
            <a:picLocks noChangeAspect="1"/>
          </p:cNvPicPr>
          <p:nvPr/>
        </p:nvPicPr>
        <p:blipFill>
          <a:blip r:embed="rId4"/>
          <a:stretch>
            <a:fillRect/>
          </a:stretch>
        </p:blipFill>
        <p:spPr>
          <a:xfrm rot="16200000" flipH="1">
            <a:off x="9725738" y="4664580"/>
            <a:ext cx="1249070" cy="1241336"/>
          </a:xfrm>
          <a:prstGeom prst="rect">
            <a:avLst/>
          </a:prstGeom>
        </p:spPr>
      </p:pic>
      <p:sp>
        <p:nvSpPr>
          <p:cNvPr id="33" name="Right Brace 32">
            <a:extLst>
              <a:ext uri="{FF2B5EF4-FFF2-40B4-BE49-F238E27FC236}">
                <a16:creationId xmlns:a16="http://schemas.microsoft.com/office/drawing/2014/main" id="{54CB22A7-6DC6-B51D-4313-0DD19D0F2AFC}"/>
              </a:ext>
            </a:extLst>
          </p:cNvPr>
          <p:cNvSpPr/>
          <p:nvPr/>
        </p:nvSpPr>
        <p:spPr>
          <a:xfrm rot="5400000">
            <a:off x="5350008" y="1359843"/>
            <a:ext cx="194951" cy="804576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ACE273B-1B57-639E-B0C9-72426A3D7B4A}"/>
                  </a:ext>
                </a:extLst>
              </p:cNvPr>
              <p:cNvSpPr txBox="1"/>
              <p:nvPr/>
            </p:nvSpPr>
            <p:spPr>
              <a:xfrm>
                <a:off x="3401890" y="3389098"/>
                <a:ext cx="1111137"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𝑁</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𝑗</m:t>
                      </m:r>
                    </m:oMath>
                  </m:oMathPara>
                </a14:m>
                <a:endParaRPr lang="en-US" sz="2000" noProof="0" dirty="0"/>
              </a:p>
            </p:txBody>
          </p:sp>
        </mc:Choice>
        <mc:Fallback xmlns="">
          <p:sp>
            <p:nvSpPr>
              <p:cNvPr id="3" name="TextBox 2">
                <a:extLst>
                  <a:ext uri="{FF2B5EF4-FFF2-40B4-BE49-F238E27FC236}">
                    <a16:creationId xmlns:a16="http://schemas.microsoft.com/office/drawing/2014/main" id="{DACE273B-1B57-639E-B0C9-72426A3D7B4A}"/>
                  </a:ext>
                </a:extLst>
              </p:cNvPr>
              <p:cNvSpPr txBox="1">
                <a:spLocks noRot="1" noChangeAspect="1" noMove="1" noResize="1" noEditPoints="1" noAdjustHandles="1" noChangeArrowheads="1" noChangeShapeType="1" noTextEdit="1"/>
              </p:cNvSpPr>
              <p:nvPr/>
            </p:nvSpPr>
            <p:spPr>
              <a:xfrm>
                <a:off x="3401890" y="3389098"/>
                <a:ext cx="1111137" cy="400110"/>
              </a:xfrm>
              <a:prstGeom prst="rect">
                <a:avLst/>
              </a:prstGeom>
              <a:blipFill>
                <a:blip r:embed="rId17"/>
                <a:stretch>
                  <a:fillRect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6F09D1C-16BB-AE1B-D40F-E19B4A196D17}"/>
                  </a:ext>
                </a:extLst>
              </p:cNvPr>
              <p:cNvSpPr txBox="1"/>
              <p:nvPr/>
            </p:nvSpPr>
            <p:spPr>
              <a:xfrm>
                <a:off x="3224937" y="4675622"/>
                <a:ext cx="1141595"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𝑗</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𝑀</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𝑖</m:t>
                      </m:r>
                    </m:oMath>
                  </m:oMathPara>
                </a14:m>
                <a:endParaRPr lang="en-US" sz="2000" noProof="0" dirty="0"/>
              </a:p>
            </p:txBody>
          </p:sp>
        </mc:Choice>
        <mc:Fallback xmlns="">
          <p:sp>
            <p:nvSpPr>
              <p:cNvPr id="5" name="TextBox 4">
                <a:extLst>
                  <a:ext uri="{FF2B5EF4-FFF2-40B4-BE49-F238E27FC236}">
                    <a16:creationId xmlns:a16="http://schemas.microsoft.com/office/drawing/2014/main" id="{26F09D1C-16BB-AE1B-D40F-E19B4A196D17}"/>
                  </a:ext>
                </a:extLst>
              </p:cNvPr>
              <p:cNvSpPr txBox="1">
                <a:spLocks noRot="1" noChangeAspect="1" noMove="1" noResize="1" noEditPoints="1" noAdjustHandles="1" noChangeArrowheads="1" noChangeShapeType="1" noTextEdit="1"/>
              </p:cNvSpPr>
              <p:nvPr/>
            </p:nvSpPr>
            <p:spPr>
              <a:xfrm>
                <a:off x="3224937" y="4675622"/>
                <a:ext cx="1141595" cy="400110"/>
              </a:xfrm>
              <a:prstGeom prst="rect">
                <a:avLst/>
              </a:prstGeom>
              <a:blipFill>
                <a:blip r:embed="rId18"/>
                <a:stretch>
                  <a:fillRect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A227FF2-E7C3-F0D8-1548-3FDE957F05DA}"/>
                  </a:ext>
                </a:extLst>
              </p:cNvPr>
              <p:cNvSpPr txBox="1"/>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nvSpPr>
            <p:spPr>
              <a:xfrm>
                <a:off x="965434" y="4009497"/>
                <a:ext cx="510524"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77E5549-724E-7BCC-503A-172F89C27024}"/>
                  </a:ext>
                </a:extLst>
              </p:cNvPr>
              <p:cNvSpPr txBox="1"/>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nvSpPr>
            <p:spPr>
              <a:xfrm>
                <a:off x="1991030" y="4782590"/>
                <a:ext cx="428771" cy="461665"/>
              </a:xfrm>
              <a:prstGeom prst="rect">
                <a:avLst/>
              </a:prstGeom>
              <a:blipFill>
                <a:blip r:embed="rId20"/>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D782BD2-5F92-D408-5463-EA6AA21D657C}"/>
              </a:ext>
            </a:extLst>
          </p:cNvPr>
          <p:cNvSpPr txBox="1"/>
          <p:nvPr/>
        </p:nvSpPr>
        <p:spPr>
          <a:xfrm>
            <a:off x="9653607" y="3913204"/>
            <a:ext cx="1393330" cy="400110"/>
          </a:xfrm>
          <a:prstGeom prst="rect">
            <a:avLst/>
          </a:prstGeom>
          <a:noFill/>
        </p:spPr>
        <p:txBody>
          <a:bodyPr wrap="none" rtlCol="0">
            <a:spAutoFit/>
          </a:bodyPr>
          <a:lstStyle/>
          <a:p>
            <a:pPr algn="ctr"/>
            <a:r>
              <a:rPr lang="en-US" sz="2000" noProof="0" dirty="0"/>
              <a:t>Row-major</a:t>
            </a:r>
          </a:p>
        </p:txBody>
      </p:sp>
      <p:sp>
        <p:nvSpPr>
          <p:cNvPr id="22" name="TextBox 21">
            <a:extLst>
              <a:ext uri="{FF2B5EF4-FFF2-40B4-BE49-F238E27FC236}">
                <a16:creationId xmlns:a16="http://schemas.microsoft.com/office/drawing/2014/main" id="{5855DC84-BBBE-CA4A-FA0A-35A9C0D2B0A7}"/>
              </a:ext>
            </a:extLst>
          </p:cNvPr>
          <p:cNvSpPr txBox="1"/>
          <p:nvPr/>
        </p:nvSpPr>
        <p:spPr>
          <a:xfrm>
            <a:off x="9449224" y="5894684"/>
            <a:ext cx="1802096" cy="400110"/>
          </a:xfrm>
          <a:prstGeom prst="rect">
            <a:avLst/>
          </a:prstGeom>
          <a:noFill/>
        </p:spPr>
        <p:txBody>
          <a:bodyPr wrap="none" rtlCol="0">
            <a:spAutoFit/>
          </a:bodyPr>
          <a:lstStyle/>
          <a:p>
            <a:pPr algn="ctr"/>
            <a:r>
              <a:rPr lang="en-US" sz="2000" noProof="0" dirty="0"/>
              <a:t>Column-major</a:t>
            </a:r>
          </a:p>
        </p:txBody>
      </p:sp>
      <p:sp>
        <p:nvSpPr>
          <p:cNvPr id="149" name="TextBox 148">
            <a:extLst>
              <a:ext uri="{FF2B5EF4-FFF2-40B4-BE49-F238E27FC236}">
                <a16:creationId xmlns:a16="http://schemas.microsoft.com/office/drawing/2014/main" id="{A262744E-E846-9FB3-DA18-535CD46E385E}"/>
              </a:ext>
            </a:extLst>
          </p:cNvPr>
          <p:cNvSpPr txBox="1"/>
          <p:nvPr/>
        </p:nvSpPr>
        <p:spPr>
          <a:xfrm>
            <a:off x="5868553" y="4409098"/>
            <a:ext cx="2794804" cy="400110"/>
          </a:xfrm>
          <a:prstGeom prst="rect">
            <a:avLst/>
          </a:prstGeom>
          <a:noFill/>
        </p:spPr>
        <p:txBody>
          <a:bodyPr wrap="none" rtlCol="0" anchor="b">
            <a:spAutoFit/>
          </a:bodyPr>
          <a:lstStyle/>
          <a:p>
            <a:pPr algn="ctr"/>
            <a:r>
              <a:rPr lang="en-US" sz="2000" i="1" noProof="0" dirty="0"/>
              <a:t>Another possible layout</a:t>
            </a:r>
          </a:p>
        </p:txBody>
      </p:sp>
    </p:spTree>
    <p:custDataLst>
      <p:tags r:id="rId1"/>
    </p:custDataLst>
    <p:extLst>
      <p:ext uri="{BB962C8B-B14F-4D97-AF65-F5344CB8AC3E}">
        <p14:creationId xmlns:p14="http://schemas.microsoft.com/office/powerpoint/2010/main" val="3969746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2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2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2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3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3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37"/>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4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4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3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38" grpId="0" animBg="1"/>
      <p:bldP spid="41" grpId="0" animBg="1"/>
      <p:bldP spid="44" grpId="0" animBg="1"/>
      <p:bldP spid="47" grpId="0" animBg="1"/>
      <p:bldP spid="50" grpId="0" animBg="1"/>
      <p:bldP spid="53" grpId="0" animBg="1"/>
      <p:bldP spid="56" grpId="0" animBg="1"/>
      <p:bldP spid="59" grpId="0" animBg="1"/>
      <p:bldP spid="62" grpId="0" animBg="1"/>
      <p:bldP spid="65" grpId="0" animBg="1"/>
      <p:bldP spid="68" grpId="0" animBg="1"/>
      <p:bldP spid="71" grpId="0" animBg="1"/>
      <p:bldP spid="74" grpId="0" animBg="1"/>
      <p:bldP spid="77" grpId="0" animBg="1"/>
      <p:bldP spid="80" grpId="0" animBg="1"/>
      <p:bldP spid="83" grpId="0" animBg="1"/>
      <p:bldP spid="86" grpId="0" animBg="1"/>
      <p:bldP spid="89" grpId="0" animBg="1"/>
      <p:bldP spid="92" grpId="0" animBg="1"/>
      <p:bldP spid="95" grpId="0" animBg="1"/>
      <p:bldP spid="98" grpId="0" animBg="1"/>
      <p:bldP spid="101" grpId="0" animBg="1"/>
      <p:bldP spid="104" grpId="0" animBg="1"/>
      <p:bldP spid="107" grpId="0" animBg="1"/>
      <p:bldP spid="110" grpId="0" animBg="1"/>
      <p:bldP spid="113" grpId="0" animBg="1"/>
      <p:bldP spid="116" grpId="0" animBg="1"/>
      <p:bldP spid="119" grpId="0" animBg="1"/>
      <p:bldP spid="122" grpId="0" animBg="1"/>
      <p:bldP spid="125" grpId="0" animBg="1"/>
      <p:bldP spid="128" grpId="0" animBg="1"/>
      <p:bldP spid="131" grpId="0" animBg="1"/>
      <p:bldP spid="134" grpId="0" animBg="1"/>
      <p:bldP spid="137" grpId="0" animBg="1"/>
      <p:bldP spid="140" grpId="0" animBg="1"/>
      <p:bldP spid="143" grpId="0" animBg="1"/>
      <p:bldP spid="33" grpId="0" animBg="1"/>
      <p:bldP spid="3" grpId="0"/>
      <p:bldP spid="5" grpId="0"/>
      <p:bldP spid="4" grpId="0"/>
      <p:bldP spid="12" grpId="0"/>
      <p:bldP spid="18" grpId="0"/>
      <p:bldP spid="22" grpId="0"/>
      <p:bldP spid="1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6993DAE6-53AF-8D78-063C-7D841E5B5C15}"/>
              </a:ext>
            </a:extLst>
          </p:cNvPr>
          <p:cNvSpPr/>
          <p:nvPr/>
        </p:nvSpPr>
        <p:spPr>
          <a:xfrm>
            <a:off x="9777338" y="4037123"/>
            <a:ext cx="1359068" cy="23508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nvPr>
        </p:nvSpPr>
        <p:spPr/>
        <p:txBody>
          <a:bodyPr/>
          <a:lstStyle/>
          <a:p>
            <a:r>
              <a:rPr lang="en-US" noProof="0" dirty="0"/>
              <a:t>Layout abstractions (Noarr)</a:t>
            </a:r>
          </a:p>
        </p:txBody>
      </p:sp>
      <p:sp>
        <p:nvSpPr>
          <p:cNvPr id="14" name="TextBox 13">
            <a:extLst>
              <a:ext uri="{FF2B5EF4-FFF2-40B4-BE49-F238E27FC236}">
                <a16:creationId xmlns:a16="http://schemas.microsoft.com/office/drawing/2014/main" id="{0B525AC7-FE02-6AD7-8040-C0A6A642009E}"/>
              </a:ext>
            </a:extLst>
          </p:cNvPr>
          <p:cNvSpPr txBox="1"/>
          <p:nvPr/>
        </p:nvSpPr>
        <p:spPr>
          <a:xfrm>
            <a:off x="8100544" y="3964137"/>
            <a:ext cx="4241343" cy="400110"/>
          </a:xfrm>
          <a:prstGeom prst="rect">
            <a:avLst/>
          </a:prstGeom>
          <a:noFill/>
        </p:spPr>
        <p:txBody>
          <a:bodyPr wrap="none">
            <a:spAutoFit/>
          </a:bodyPr>
          <a:lstStyle/>
          <a:p>
            <a:r>
              <a:rPr lang="en-US" sz="2000" noProof="0" dirty="0">
                <a:solidFill>
                  <a:srgbClr val="001080"/>
                </a:solidFill>
                <a:latin typeface="Fira Code" panose="020B0809050000020004" pitchFamily="49" charset="0"/>
              </a:rPr>
              <a:t>matrix</a:t>
            </a:r>
            <a:r>
              <a:rPr lang="en-US" sz="2000" noProof="0" dirty="0">
                <a:solidFill>
                  <a:srgbClr val="000000"/>
                </a:solidFill>
                <a:latin typeface="Fira Code" panose="020B0809050000020004" pitchFamily="49" charset="0"/>
              </a:rPr>
              <a:t>[</a:t>
            </a: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4</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2</a:t>
            </a:r>
            <a:r>
              <a:rPr lang="en-US" sz="2000" noProof="0" dirty="0">
                <a:solidFill>
                  <a:srgbClr val="000000"/>
                </a:solidFill>
                <a:latin typeface="Fira Code" panose="020B0809050000020004" pitchFamily="49" charset="0"/>
              </a:rPr>
              <a:t>)]</a:t>
            </a:r>
            <a:endParaRPr lang="en-US" sz="2800" noProof="0" dirty="0"/>
          </a:p>
        </p:txBody>
      </p:sp>
      <p:cxnSp>
        <p:nvCxnSpPr>
          <p:cNvPr id="16" name="Straight Arrow Connector 15">
            <a:extLst>
              <a:ext uri="{FF2B5EF4-FFF2-40B4-BE49-F238E27FC236}">
                <a16:creationId xmlns:a16="http://schemas.microsoft.com/office/drawing/2014/main" id="{B5102DA4-367F-2E7C-4748-5E5A83284E85}"/>
              </a:ext>
            </a:extLst>
          </p:cNvPr>
          <p:cNvCxnSpPr>
            <a:cxnSpLocks/>
          </p:cNvCxnSpPr>
          <p:nvPr/>
        </p:nvCxnSpPr>
        <p:spPr>
          <a:xfrm>
            <a:off x="7505124" y="3906905"/>
            <a:ext cx="903112" cy="95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ight Brace 17">
            <a:extLst>
              <a:ext uri="{FF2B5EF4-FFF2-40B4-BE49-F238E27FC236}">
                <a16:creationId xmlns:a16="http://schemas.microsoft.com/office/drawing/2014/main" id="{D66E5204-4017-2EAF-4A60-5194514D442A}"/>
              </a:ext>
            </a:extLst>
          </p:cNvPr>
          <p:cNvSpPr/>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1" name="TextBox 20">
            <a:extLst>
              <a:ext uri="{FF2B5EF4-FFF2-40B4-BE49-F238E27FC236}">
                <a16:creationId xmlns:a16="http://schemas.microsoft.com/office/drawing/2014/main" id="{B9942311-6300-6EC8-B275-0171EF6F9AB9}"/>
              </a:ext>
            </a:extLst>
          </p:cNvPr>
          <p:cNvSpPr txBox="1"/>
          <p:nvPr/>
        </p:nvSpPr>
        <p:spPr>
          <a:xfrm>
            <a:off x="316587" y="5681347"/>
            <a:ext cx="4308138"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a:t>
            </a:r>
          </a:p>
        </p:txBody>
      </p:sp>
      <p:sp>
        <p:nvSpPr>
          <p:cNvPr id="28" name="TextBox 27">
            <a:extLst>
              <a:ext uri="{FF2B5EF4-FFF2-40B4-BE49-F238E27FC236}">
                <a16:creationId xmlns:a16="http://schemas.microsoft.com/office/drawing/2014/main" id="{15DF814E-5685-475F-2990-B570D542C55C}"/>
              </a:ext>
            </a:extLst>
          </p:cNvPr>
          <p:cNvSpPr txBox="1"/>
          <p:nvPr/>
        </p:nvSpPr>
        <p:spPr>
          <a:xfrm>
            <a:off x="4870763" y="5666800"/>
            <a:ext cx="6459562"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matrix_view</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myBuffer</a:t>
            </a:r>
            <a:r>
              <a:rPr lang="en-US" sz="2000" b="0" noProof="0" dirty="0">
                <a:solidFill>
                  <a:srgbClr val="000000"/>
                </a:solidFill>
                <a:effectLst/>
                <a:latin typeface="Fira Code" panose="020B0809050000020004" pitchFamily="49" charset="0"/>
              </a:rPr>
              <a:t>);</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nvPr>
        </p:nvSpPr>
        <p:spPr/>
        <p:txBody>
          <a:bodyPr/>
          <a:lstStyle/>
          <a:p>
            <a:fld id="{2A57731D-07D7-4C44-A482-993035AAE3B2}" type="datetime1">
              <a:rPr lang="en-US" noProof="0" smtClean="0"/>
              <a:t>9/6/2026</a:t>
            </a:fld>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nvPr>
        </p:nvSpPr>
        <p:spPr/>
        <p:txBody>
          <a:bodyPr/>
          <a:lstStyle/>
          <a:p>
            <a:fld id="{DA0BB241-1B5F-4309-9407-9EEA04D9598D}" type="slidenum">
              <a:rPr lang="en-US" noProof="0" smtClean="0"/>
              <a:t>5</a:t>
            </a:fld>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nvPicPr>
        <p:blipFill>
          <a:blip r:embed="rId4"/>
          <a:stretch>
            <a:fillRect/>
          </a:stretch>
        </p:blipFill>
        <p:spPr>
          <a:xfrm>
            <a:off x="1598974" y="2851618"/>
            <a:ext cx="1249070" cy="1241336"/>
          </a:xfrm>
          <a:prstGeom prst="rect">
            <a:avLst/>
          </a:prstGeom>
        </p:spPr>
      </p:pic>
      <p:sp>
        <p:nvSpPr>
          <p:cNvPr id="4" name="TextBox 3">
            <a:extLst>
              <a:ext uri="{FF2B5EF4-FFF2-40B4-BE49-F238E27FC236}">
                <a16:creationId xmlns:a16="http://schemas.microsoft.com/office/drawing/2014/main" id="{E49BE013-F209-8403-8D5B-F71D68CF5E02}"/>
              </a:ext>
            </a:extLst>
          </p:cNvPr>
          <p:cNvSpPr txBox="1"/>
          <p:nvPr/>
        </p:nvSpPr>
        <p:spPr>
          <a:xfrm>
            <a:off x="7845692" y="5063908"/>
            <a:ext cx="1425509" cy="442674"/>
          </a:xfrm>
          <a:prstGeom prst="roundRect">
            <a:avLst/>
          </a:prstGeom>
          <a:gradFill>
            <a:gsLst>
              <a:gs pos="0">
                <a:srgbClr val="AFD8F7"/>
              </a:gs>
              <a:gs pos="50000">
                <a:srgbClr val="A2CDEE"/>
              </a:gs>
              <a:gs pos="100000">
                <a:srgbClr val="9ED0F2"/>
              </a:gs>
            </a:gsLst>
          </a:gradFill>
        </p:spPr>
        <p:style>
          <a:lnRef idx="1">
            <a:schemeClr val="accent4"/>
          </a:lnRef>
          <a:fillRef idx="2">
            <a:schemeClr val="accent4"/>
          </a:fillRef>
          <a:effectRef idx="1">
            <a:schemeClr val="accent4"/>
          </a:effectRef>
          <a:fontRef idx="minor">
            <a:schemeClr val="dk1"/>
          </a:fontRef>
        </p:style>
        <p:txBody>
          <a:bodyPr wrap="none" rtlCol="0" anchor="b">
            <a:spAutoFit/>
          </a:bodyPr>
          <a:lstStyle/>
          <a:p>
            <a:pPr algn="ctr"/>
            <a:r>
              <a:rPr lang="en-US" sz="2000" noProof="0" dirty="0"/>
              <a:t>GPU mem.</a:t>
            </a:r>
          </a:p>
        </p:txBody>
      </p:sp>
      <p:sp>
        <p:nvSpPr>
          <p:cNvPr id="13" name="TextBox 12">
            <a:extLst>
              <a:ext uri="{FF2B5EF4-FFF2-40B4-BE49-F238E27FC236}">
                <a16:creationId xmlns:a16="http://schemas.microsoft.com/office/drawing/2014/main" id="{E43C382B-2568-3BB2-FF89-3DD00349CEA9}"/>
              </a:ext>
            </a:extLst>
          </p:cNvPr>
          <p:cNvSpPr txBox="1"/>
          <p:nvPr/>
        </p:nvSpPr>
        <p:spPr>
          <a:xfrm>
            <a:off x="9630151" y="5063908"/>
            <a:ext cx="1511785" cy="442674"/>
          </a:xfrm>
          <a:prstGeom prst="roundRect">
            <a:avLst/>
          </a:prstGeom>
          <a:gradFill>
            <a:gsLst>
              <a:gs pos="0">
                <a:srgbClr val="B5DCAE"/>
              </a:gs>
              <a:gs pos="50000">
                <a:srgbClr val="A8D1A1"/>
              </a:gs>
              <a:gs pos="100000">
                <a:srgbClr val="A3D29A"/>
              </a:gs>
            </a:gsLst>
          </a:gradFill>
        </p:spPr>
        <p:style>
          <a:lnRef idx="1">
            <a:schemeClr val="accent6"/>
          </a:lnRef>
          <a:fillRef idx="2">
            <a:schemeClr val="accent6"/>
          </a:fillRef>
          <a:effectRef idx="1">
            <a:schemeClr val="accent6"/>
          </a:effectRef>
          <a:fontRef idx="minor">
            <a:schemeClr val="dk1"/>
          </a:fontRef>
        </p:style>
        <p:txBody>
          <a:bodyPr wrap="none" rtlCol="0" anchor="b">
            <a:spAutoFit/>
          </a:bodyPr>
          <a:lstStyle/>
          <a:p>
            <a:pPr algn="ctr"/>
            <a:r>
              <a:rPr lang="en-US" sz="2000" noProof="0" dirty="0"/>
              <a:t>Mapped file</a:t>
            </a:r>
          </a:p>
        </p:txBody>
      </p:sp>
      <p:sp>
        <p:nvSpPr>
          <p:cNvPr id="32" name="TextBox 31">
            <a:extLst>
              <a:ext uri="{FF2B5EF4-FFF2-40B4-BE49-F238E27FC236}">
                <a16:creationId xmlns:a16="http://schemas.microsoft.com/office/drawing/2014/main" id="{F423100F-27E7-78C5-29B0-1E9E9CA71CCB}"/>
              </a:ext>
            </a:extLst>
          </p:cNvPr>
          <p:cNvSpPr txBox="1"/>
          <p:nvPr/>
        </p:nvSpPr>
        <p:spPr>
          <a:xfrm>
            <a:off x="11503683" y="5048027"/>
            <a:ext cx="381836" cy="369332"/>
          </a:xfrm>
          <a:prstGeom prst="rect">
            <a:avLst/>
          </a:prstGeom>
          <a:noFill/>
        </p:spPr>
        <p:txBody>
          <a:bodyPr wrap="none" rtlCol="0">
            <a:spAutoFit/>
          </a:bodyPr>
          <a:lstStyle/>
          <a:p>
            <a:r>
              <a:rPr lang="en-US" noProof="0" dirty="0"/>
              <a:t>…</a:t>
            </a:r>
          </a:p>
        </p:txBody>
      </p:sp>
      <p:sp>
        <p:nvSpPr>
          <p:cNvPr id="33" name="Right Brace 32">
            <a:extLst>
              <a:ext uri="{FF2B5EF4-FFF2-40B4-BE49-F238E27FC236}">
                <a16:creationId xmlns:a16="http://schemas.microsoft.com/office/drawing/2014/main" id="{D5BD3CDE-9058-0797-77E8-0CD52F9C3687}"/>
              </a:ext>
            </a:extLst>
          </p:cNvPr>
          <p:cNvSpPr/>
          <p:nvPr/>
        </p:nvSpPr>
        <p:spPr>
          <a:xfrm rot="5400000">
            <a:off x="9777883" y="3338823"/>
            <a:ext cx="159029" cy="44264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pic>
        <p:nvPicPr>
          <p:cNvPr id="20" name="Picture 19">
            <a:extLst>
              <a:ext uri="{FF2B5EF4-FFF2-40B4-BE49-F238E27FC236}">
                <a16:creationId xmlns:a16="http://schemas.microsoft.com/office/drawing/2014/main" id="{AD983D88-E49A-19A0-1E46-A7291358AB31}"/>
              </a:ext>
            </a:extLst>
          </p:cNvPr>
          <p:cNvPicPr>
            <a:picLocks noChangeAspect="1"/>
          </p:cNvPicPr>
          <p:nvPr/>
        </p:nvPicPr>
        <p:blipFill>
          <a:blip r:embed="rId4"/>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nvPicPr>
        <p:blipFill>
          <a:blip r:embed="rId4"/>
          <a:srcRect r="86029" b="86573"/>
          <a:stretch>
            <a:fillRect/>
          </a:stretch>
        </p:blipFill>
        <p:spPr>
          <a:xfrm>
            <a:off x="1598974" y="2851546"/>
            <a:ext cx="174508" cy="166674"/>
          </a:xfrm>
          <a:prstGeom prst="rect">
            <a:avLst/>
          </a:prstGeom>
        </p:spPr>
      </p:pic>
      <p:sp>
        <p:nvSpPr>
          <p:cNvPr id="27" name="Rectangle 26">
            <a:extLst>
              <a:ext uri="{FF2B5EF4-FFF2-40B4-BE49-F238E27FC236}">
                <a16:creationId xmlns:a16="http://schemas.microsoft.com/office/drawing/2014/main" id="{84FCD751-75D4-06F6-E90B-B10F04037199}"/>
              </a:ext>
            </a:extLst>
          </p:cNvPr>
          <p:cNvSpPr/>
          <p:nvPr/>
        </p:nvSpPr>
        <p:spPr>
          <a:xfrm>
            <a:off x="7640756" y="2851619"/>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1F2CCB64-480B-94C0-D265-F80677755FCA}"/>
              </a:ext>
            </a:extLst>
          </p:cNvPr>
          <p:cNvSpPr/>
          <p:nvPr/>
        </p:nvSpPr>
        <p:spPr>
          <a:xfrm>
            <a:off x="7610823" y="3369590"/>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TextBox 16">
            <a:extLst>
              <a:ext uri="{FF2B5EF4-FFF2-40B4-BE49-F238E27FC236}">
                <a16:creationId xmlns:a16="http://schemas.microsoft.com/office/drawing/2014/main" id="{14AB64E0-7A98-B19A-964F-1077043B0728}"/>
              </a:ext>
            </a:extLst>
          </p:cNvPr>
          <p:cNvSpPr txBox="1"/>
          <p:nvPr/>
        </p:nvSpPr>
        <p:spPr>
          <a:xfrm rot="401190">
            <a:off x="7599041" y="3595793"/>
            <a:ext cx="996169" cy="400110"/>
          </a:xfrm>
          <a:prstGeom prst="rect">
            <a:avLst/>
          </a:prstGeom>
          <a:noFill/>
        </p:spPr>
        <p:txBody>
          <a:bodyPr wrap="square" rtlCol="0">
            <a:spAutoFit/>
          </a:bodyPr>
          <a:lstStyle/>
          <a:p>
            <a:r>
              <a:rPr lang="en-US" sz="2000" noProof="0" dirty="0"/>
              <a:t>access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EC39785-C6A5-6402-E99D-0A38D0D1251F}"/>
                  </a:ext>
                </a:extLst>
              </p:cNvPr>
              <p:cNvSpPr txBox="1"/>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xmlns="">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nvSpPr>
            <p:spPr>
              <a:xfrm>
                <a:off x="1101183" y="3193698"/>
                <a:ext cx="510524"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C284C3B-1E96-7EDB-FF3B-2FFD924CFC76}"/>
                  </a:ext>
                </a:extLst>
              </p:cNvPr>
              <p:cNvSpPr txBox="1"/>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xmlns="">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nvSpPr>
            <p:spPr>
              <a:xfrm>
                <a:off x="2009123" y="2422355"/>
                <a:ext cx="428771" cy="461665"/>
              </a:xfrm>
              <a:prstGeom prst="rect">
                <a:avLst/>
              </a:prstGeom>
              <a:blipFill>
                <a:blip r:embed="rId6"/>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112930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43" grpId="0" animBg="1"/>
      <p:bldP spid="37" grpId="0" animBg="1"/>
      <p:bldP spid="14" grpId="0"/>
      <p:bldP spid="18" grpId="0" animBg="1"/>
      <p:bldP spid="19" grpId="0"/>
      <p:bldP spid="21" grpId="0" animBg="1"/>
      <p:bldP spid="28" grpId="0" animBg="1"/>
      <p:bldP spid="4" grpId="0" animBg="1"/>
      <p:bldP spid="13" grpId="0" animBg="1"/>
      <p:bldP spid="32" grpId="0"/>
      <p:bldP spid="33" grpId="0" animBg="1"/>
      <p:bldP spid="27" grpId="0" animBg="1"/>
      <p:bldP spid="31" grpId="0" animBg="1"/>
      <p:bldP spid="17" grpId="0"/>
      <p:bldP spid="15"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975BD4B-520C-BD68-74FD-B8CF46E48F36}"/>
              </a:ext>
            </a:extLst>
          </p:cNvPr>
          <p:cNvSpPr/>
          <p:nvPr/>
        </p:nvSpPr>
        <p:spPr>
          <a:xfrm>
            <a:off x="9557028" y="2604917"/>
            <a:ext cx="1353345" cy="300575"/>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B8E5D0D6-5263-D58B-44D9-D77100A6718A}"/>
              </a:ext>
            </a:extLst>
          </p:cNvPr>
          <p:cNvSpPr>
            <a:spLocks noGrp="1"/>
          </p:cNvSpPr>
          <p:nvPr>
            <p:ph type="title"/>
          </p:nvPr>
        </p:nvSpPr>
        <p:spPr/>
        <p:txBody>
          <a:bodyPr/>
          <a:lstStyle/>
          <a:p>
            <a:r>
              <a:rPr lang="en-US" noProof="0" dirty="0"/>
              <a:t>Traversal abstractions</a:t>
            </a:r>
          </a:p>
        </p:txBody>
      </p:sp>
      <p:sp>
        <p:nvSpPr>
          <p:cNvPr id="12" name="TextBox 11">
            <a:extLst>
              <a:ext uri="{FF2B5EF4-FFF2-40B4-BE49-F238E27FC236}">
                <a16:creationId xmlns:a16="http://schemas.microsoft.com/office/drawing/2014/main" id="{771F4919-C499-3F7D-4116-17B83C53ED34}"/>
              </a:ext>
            </a:extLst>
          </p:cNvPr>
          <p:cNvSpPr txBox="1"/>
          <p:nvPr/>
        </p:nvSpPr>
        <p:spPr>
          <a:xfrm>
            <a:off x="4252965" y="3148043"/>
            <a:ext cx="6954364"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16" name="TextBox 15">
            <a:extLst>
              <a:ext uri="{FF2B5EF4-FFF2-40B4-BE49-F238E27FC236}">
                <a16:creationId xmlns:a16="http://schemas.microsoft.com/office/drawing/2014/main" id="{B9C4F588-E815-2009-D7D4-CEEBC4F6F689}"/>
              </a:ext>
            </a:extLst>
          </p:cNvPr>
          <p:cNvSpPr txBox="1"/>
          <p:nvPr/>
        </p:nvSpPr>
        <p:spPr>
          <a:xfrm>
            <a:off x="1411173" y="5027079"/>
            <a:ext cx="9207632"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other_matrix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other_matrix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14E25FAF-908F-ADFC-EA60-8D5079C1FE63}"/>
              </a:ext>
            </a:extLst>
          </p:cNvPr>
          <p:cNvSpPr txBox="1"/>
          <p:nvPr/>
        </p:nvSpPr>
        <p:spPr>
          <a:xfrm>
            <a:off x="959229" y="1742602"/>
            <a:ext cx="5503336"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j</a:t>
            </a:r>
            <a:r>
              <a:rPr lang="en-US" sz="2000" b="0" noProof="0" dirty="0" err="1">
                <a:solidFill>
                  <a:srgbClr val="000000"/>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init</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cxnSp>
        <p:nvCxnSpPr>
          <p:cNvPr id="6" name="Connector: Curved 5">
            <a:extLst>
              <a:ext uri="{FF2B5EF4-FFF2-40B4-BE49-F238E27FC236}">
                <a16:creationId xmlns:a16="http://schemas.microsoft.com/office/drawing/2014/main" id="{6FA6C2DA-116A-0990-5A9C-C4ED04CDF7EE}"/>
              </a:ext>
            </a:extLst>
          </p:cNvPr>
          <p:cNvCxnSpPr>
            <a:cxnSpLocks/>
            <a:endCxn id="12" idx="0"/>
          </p:cNvCxnSpPr>
          <p:nvPr/>
        </p:nvCxnSpPr>
        <p:spPr>
          <a:xfrm>
            <a:off x="6473723" y="2457214"/>
            <a:ext cx="1256424" cy="690829"/>
          </a:xfrm>
          <a:prstGeom prst="curved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6E8472AC-FEB4-52AC-768E-9B4F4BF60066}"/>
              </a:ext>
            </a:extLst>
          </p:cNvPr>
          <p:cNvSpPr>
            <a:spLocks noGrp="1"/>
          </p:cNvSpPr>
          <p:nvPr>
            <p:ph type="dt" sz="half" idx="10"/>
          </p:nvPr>
        </p:nvSpPr>
        <p:spPr/>
        <p:txBody>
          <a:bodyPr/>
          <a:lstStyle/>
          <a:p>
            <a:fld id="{EDBD1638-F548-41E6-A67D-BF07DFBF4593}" type="datetime1">
              <a:rPr lang="en-US" noProof="0" smtClean="0"/>
              <a:t>9/6/2026</a:t>
            </a:fld>
            <a:endParaRPr lang="en-US" noProof="0" dirty="0"/>
          </a:p>
        </p:txBody>
      </p:sp>
      <p:sp>
        <p:nvSpPr>
          <p:cNvPr id="10" name="Slide Number Placeholder 9">
            <a:extLst>
              <a:ext uri="{FF2B5EF4-FFF2-40B4-BE49-F238E27FC236}">
                <a16:creationId xmlns:a16="http://schemas.microsoft.com/office/drawing/2014/main" id="{FB3787D6-BBAD-D3FC-81F8-5BEACD008E29}"/>
              </a:ext>
            </a:extLst>
          </p:cNvPr>
          <p:cNvSpPr>
            <a:spLocks noGrp="1"/>
          </p:cNvSpPr>
          <p:nvPr>
            <p:ph type="sldNum" sz="quarter" idx="12"/>
          </p:nvPr>
        </p:nvSpPr>
        <p:spPr/>
        <p:txBody>
          <a:bodyPr/>
          <a:lstStyle/>
          <a:p>
            <a:fld id="{DA0BB241-1B5F-4309-9407-9EEA04D9598D}" type="slidenum">
              <a:rPr lang="en-US" noProof="0" smtClean="0"/>
              <a:t>6</a:t>
            </a:fld>
            <a:endParaRPr lang="en-US" noProof="0" dirty="0"/>
          </a:p>
        </p:txBody>
      </p:sp>
      <p:sp>
        <p:nvSpPr>
          <p:cNvPr id="13" name="TextBox 12">
            <a:extLst>
              <a:ext uri="{FF2B5EF4-FFF2-40B4-BE49-F238E27FC236}">
                <a16:creationId xmlns:a16="http://schemas.microsoft.com/office/drawing/2014/main" id="{A9A86E85-8E7C-683C-C244-2344EE805A9E}"/>
              </a:ext>
            </a:extLst>
          </p:cNvPr>
          <p:cNvSpPr txBox="1"/>
          <p:nvPr/>
        </p:nvSpPr>
        <p:spPr>
          <a:xfrm>
            <a:off x="637175" y="1343818"/>
            <a:ext cx="6157391" cy="461665"/>
          </a:xfrm>
          <a:prstGeom prst="rect">
            <a:avLst/>
          </a:prstGeom>
          <a:noFill/>
        </p:spPr>
        <p:txBody>
          <a:bodyPr wrap="none" rtlCol="0" anchor="b">
            <a:spAutoFit/>
          </a:bodyPr>
          <a:lstStyle/>
          <a:p>
            <a:pPr algn="ctr"/>
            <a:r>
              <a:rPr lang="en-US" sz="2400" b="1" noProof="0" dirty="0"/>
              <a:t>Matrix initialization (not traversal-agnostic)</a:t>
            </a:r>
          </a:p>
        </p:txBody>
      </p:sp>
      <p:sp>
        <p:nvSpPr>
          <p:cNvPr id="15" name="TextBox 14">
            <a:extLst>
              <a:ext uri="{FF2B5EF4-FFF2-40B4-BE49-F238E27FC236}">
                <a16:creationId xmlns:a16="http://schemas.microsoft.com/office/drawing/2014/main" id="{5AC42510-7505-8080-DACA-010297680AE7}"/>
              </a:ext>
            </a:extLst>
          </p:cNvPr>
          <p:cNvSpPr txBox="1"/>
          <p:nvPr/>
        </p:nvSpPr>
        <p:spPr>
          <a:xfrm>
            <a:off x="2322938" y="6089892"/>
            <a:ext cx="6795450" cy="461665"/>
          </a:xfrm>
          <a:prstGeom prst="rect">
            <a:avLst/>
          </a:prstGeom>
          <a:noFill/>
        </p:spPr>
        <p:txBody>
          <a:bodyPr wrap="none" rtlCol="0">
            <a:spAutoFit/>
          </a:bodyPr>
          <a:lstStyle/>
          <a:p>
            <a:pPr algn="ctr"/>
            <a:r>
              <a:rPr lang="en-US" sz="2400" b="1" noProof="0" dirty="0"/>
              <a:t>Copy</a:t>
            </a:r>
            <a:r>
              <a:rPr lang="en-US" sz="2400" noProof="0" dirty="0"/>
              <a:t> to another matrix with the same index space</a:t>
            </a:r>
          </a:p>
        </p:txBody>
      </p:sp>
      <p:sp>
        <p:nvSpPr>
          <p:cNvPr id="5" name="TextBox 4">
            <a:extLst>
              <a:ext uri="{FF2B5EF4-FFF2-40B4-BE49-F238E27FC236}">
                <a16:creationId xmlns:a16="http://schemas.microsoft.com/office/drawing/2014/main" id="{102F209B-F6E7-05CC-AF4B-64FCAFC0D5D7}"/>
              </a:ext>
            </a:extLst>
          </p:cNvPr>
          <p:cNvSpPr txBox="1"/>
          <p:nvPr/>
        </p:nvSpPr>
        <p:spPr>
          <a:xfrm>
            <a:off x="4987793" y="4232113"/>
            <a:ext cx="5484707" cy="461665"/>
          </a:xfrm>
          <a:prstGeom prst="rect">
            <a:avLst/>
          </a:prstGeom>
          <a:noFill/>
        </p:spPr>
        <p:txBody>
          <a:bodyPr wrap="none" rtlCol="0">
            <a:spAutoFit/>
          </a:bodyPr>
          <a:lstStyle/>
          <a:p>
            <a:pPr algn="ctr"/>
            <a:r>
              <a:rPr lang="en-US" sz="2400" b="1" noProof="0" dirty="0"/>
              <a:t>Traversal-agnostic Matrix initialization</a:t>
            </a:r>
          </a:p>
        </p:txBody>
      </p:sp>
      <p:sp>
        <p:nvSpPr>
          <p:cNvPr id="2" name="Right Brace 1">
            <a:extLst>
              <a:ext uri="{FF2B5EF4-FFF2-40B4-BE49-F238E27FC236}">
                <a16:creationId xmlns:a16="http://schemas.microsoft.com/office/drawing/2014/main" id="{32F8C4E3-09E8-D9E1-0324-12C16DDF086C}"/>
              </a:ext>
            </a:extLst>
          </p:cNvPr>
          <p:cNvSpPr/>
          <p:nvPr/>
        </p:nvSpPr>
        <p:spPr>
          <a:xfrm rot="16200000">
            <a:off x="10145438" y="2666484"/>
            <a:ext cx="182989" cy="76374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CF4B3C17-3722-616D-840D-1F144C8A9277}"/>
              </a:ext>
            </a:extLst>
          </p:cNvPr>
          <p:cNvSpPr txBox="1"/>
          <p:nvPr/>
        </p:nvSpPr>
        <p:spPr>
          <a:xfrm>
            <a:off x="8947541" y="2557312"/>
            <a:ext cx="2578782" cy="400110"/>
          </a:xfrm>
          <a:prstGeom prst="rect">
            <a:avLst/>
          </a:prstGeom>
          <a:noFill/>
        </p:spPr>
        <p:txBody>
          <a:bodyPr wrap="none" anchor="b">
            <a:spAutoFit/>
          </a:bodyPr>
          <a:lstStyle/>
          <a:p>
            <a:pPr algn="ct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a:t>
            </a:r>
            <a:r>
              <a:rPr lang="en-US" sz="2000" noProof="0" dirty="0">
                <a:solidFill>
                  <a:srgbClr val="000000"/>
                </a:solidFill>
                <a:latin typeface="Fira Code" panose="020B0809050000020004" pitchFamily="49" charset="0"/>
              </a:rPr>
              <a:t>)</a:t>
            </a:r>
            <a:endParaRPr lang="en-US" sz="2400" noProof="0" dirty="0"/>
          </a:p>
        </p:txBody>
      </p:sp>
    </p:spTree>
    <p:custDataLst>
      <p:tags r:id="rId1"/>
    </p:custDataLst>
    <p:extLst>
      <p:ext uri="{BB962C8B-B14F-4D97-AF65-F5344CB8AC3E}">
        <p14:creationId xmlns:p14="http://schemas.microsoft.com/office/powerpoint/2010/main" val="191244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animBg="1"/>
      <p:bldP spid="15" grpId="0"/>
      <p:bldP spid="5" grpId="0"/>
      <p:bldP spid="2"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nvPr>
        </p:nvSpPr>
        <p:spPr/>
        <p:txBody>
          <a:bodyPr/>
          <a:lstStyle/>
          <a:p>
            <a:fld id="{EDBD1638-F548-41E6-A67D-BF07DFBF4593}" type="datetime1">
              <a:rPr lang="en-US" noProof="0" smtClean="0"/>
              <a:t>9/6/2026</a:t>
            </a:fld>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nvPr>
        </p:nvSpPr>
        <p:spPr/>
        <p:txBody>
          <a:bodyPr/>
          <a:lstStyle/>
          <a:p>
            <a:fld id="{DA0BB241-1B5F-4309-9407-9EEA04D9598D}" type="slidenum">
              <a:rPr lang="en-US" noProof="0" smtClean="0"/>
              <a:t>7</a:t>
            </a:fld>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xmlns="">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xmlns="">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5"/>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xmlns="">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xmlns="">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xmlns="">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xmlns="">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xmlns="">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xmlns="">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11"/>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F67E973-44FE-CE64-80EC-471D1B6AA36F}"/>
                  </a:ext>
                </a:extLst>
              </p:cNvPr>
              <p:cNvSpPr txBox="1"/>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xmlns="">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nvSpPr>
            <p:spPr>
              <a:xfrm>
                <a:off x="4485795" y="5232699"/>
                <a:ext cx="1587166" cy="1384995"/>
              </a:xfrm>
              <a:prstGeom prst="rect">
                <a:avLst/>
              </a:prstGeom>
              <a:blipFill>
                <a:blip r:embed="rId12"/>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ight Brace 30">
            <a:extLst>
              <a:ext uri="{FF2B5EF4-FFF2-40B4-BE49-F238E27FC236}">
                <a16:creationId xmlns:a16="http://schemas.microsoft.com/office/drawing/2014/main" id="{BB183800-4A8F-401C-ADB9-A0312F9AA178}"/>
              </a:ext>
            </a:extLst>
          </p:cNvPr>
          <p:cNvSpPr/>
          <p:nvPr/>
        </p:nvSpPr>
        <p:spPr>
          <a:xfrm rot="5400000">
            <a:off x="5617910" y="2118998"/>
            <a:ext cx="140703" cy="482183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1087AE82-F462-C9EB-EA1F-F959C9A7C955}"/>
              </a:ext>
            </a:extLst>
          </p:cNvPr>
          <p:cNvSpPr txBox="1"/>
          <p:nvPr/>
        </p:nvSpPr>
        <p:spPr>
          <a:xfrm>
            <a:off x="3531516" y="4596963"/>
            <a:ext cx="4313489" cy="400110"/>
          </a:xfrm>
          <a:prstGeom prst="rect">
            <a:avLst/>
          </a:prstGeom>
          <a:solidFill>
            <a:schemeClr val="bg1"/>
          </a:solidFill>
        </p:spPr>
        <p:txBody>
          <a:bodyPr wrap="none" rtlCol="0">
            <a:spAutoFit/>
          </a:bodyPr>
          <a:lstStyle/>
          <a:p>
            <a:pPr algn="ctr"/>
            <a:r>
              <a:rPr lang="en-US" sz="2000" dirty="0"/>
              <a:t>Correct indices passed automatically</a:t>
            </a:r>
          </a:p>
        </p:txBody>
      </p:sp>
      <p:sp>
        <p:nvSpPr>
          <p:cNvPr id="14" name="Oval 13">
            <a:extLst>
              <a:ext uri="{FF2B5EF4-FFF2-40B4-BE49-F238E27FC236}">
                <a16:creationId xmlns:a16="http://schemas.microsoft.com/office/drawing/2014/main" id="{F0835908-CF21-76B9-3CF4-B5B20E755A64}"/>
              </a:ext>
            </a:extLst>
          </p:cNvPr>
          <p:cNvSpPr/>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Brace 19">
            <a:extLst>
              <a:ext uri="{FF2B5EF4-FFF2-40B4-BE49-F238E27FC236}">
                <a16:creationId xmlns:a16="http://schemas.microsoft.com/office/drawing/2014/main" id="{3866BB6C-69F6-AEF1-CDC9-1CBC539C8365}"/>
              </a:ext>
            </a:extLst>
          </p:cNvPr>
          <p:cNvSpPr/>
          <p:nvPr/>
        </p:nvSpPr>
        <p:spPr>
          <a:xfrm>
            <a:off x="6072961" y="5255078"/>
            <a:ext cx="163402" cy="138499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06A7DF1-6410-6B50-C5B4-1D19F94CC66E}"/>
                  </a:ext>
                </a:extLst>
              </p:cNvPr>
              <p:cNvSpPr txBox="1"/>
              <p:nvPr/>
            </p:nvSpPr>
            <p:spPr>
              <a:xfrm>
                <a:off x="6248302" y="5682419"/>
                <a:ext cx="1820178" cy="523220"/>
              </a:xfrm>
              <a:prstGeom prst="rect">
                <a:avLst/>
              </a:prstGeom>
              <a:noFill/>
            </p:spPr>
            <p:txBody>
              <a:bodyPr wrap="none" rtlCol="0">
                <a:spAutoFit/>
              </a:bodyPr>
              <a:lstStyle/>
              <a:p>
                <a:pPr/>
                <a14:m>
                  <m:oMathPara xmlns:m="http://schemas.openxmlformats.org/officeDocument/2006/math">
                    <m:o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m:t>
                      </m:r>
                      <m:r>
                        <a:rPr lang="en-US" sz="2800" b="0" i="1" noProof="0" smtClean="0">
                          <a:latin typeface="Cambria Math" panose="02040503050406030204" pitchFamily="18" charset="0"/>
                        </a:rPr>
                        <m:t>𝑛</m:t>
                      </m:r>
                      <m:r>
                        <a:rPr lang="en-US" sz="2800" i="1" noProof="0">
                          <a:latin typeface="Cambria Math" panose="02040503050406030204" pitchFamily="18" charset="0"/>
                        </a:rPr>
                        <m:t>×</m:t>
                      </m:r>
                      <m:r>
                        <a:rPr lang="en-US" sz="2800" b="0" i="1" noProof="0" smtClean="0">
                          <a:latin typeface="Cambria Math" panose="02040503050406030204" pitchFamily="18" charset="0"/>
                        </a:rPr>
                        <m:t>𝑘</m:t>
                      </m:r>
                    </m:oMath>
                  </m:oMathPara>
                </a14:m>
                <a:endParaRPr lang="en-US" sz="2800" noProof="0" dirty="0"/>
              </a:p>
            </p:txBody>
          </p:sp>
        </mc:Choice>
        <mc:Fallback xmlns="">
          <p:sp>
            <p:nvSpPr>
              <p:cNvPr id="23" name="TextBox 22">
                <a:extLst>
                  <a:ext uri="{FF2B5EF4-FFF2-40B4-BE49-F238E27FC236}">
                    <a16:creationId xmlns:a16="http://schemas.microsoft.com/office/drawing/2014/main" id="{B06A7DF1-6410-6B50-C5B4-1D19F94CC66E}"/>
                  </a:ext>
                </a:extLst>
              </p:cNvPr>
              <p:cNvSpPr txBox="1">
                <a:spLocks noRot="1" noChangeAspect="1" noMove="1" noResize="1" noEditPoints="1" noAdjustHandles="1" noChangeArrowheads="1" noChangeShapeType="1" noTextEdit="1"/>
              </p:cNvSpPr>
              <p:nvPr/>
            </p:nvSpPr>
            <p:spPr>
              <a:xfrm>
                <a:off x="6248302" y="5682419"/>
                <a:ext cx="1820178" cy="523220"/>
              </a:xfrm>
              <a:prstGeom prst="rect">
                <a:avLst/>
              </a:prstGeom>
              <a:blipFill>
                <a:blip r:embed="rId13"/>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8DBAFB5-6687-0B30-A4B3-3B451E4A7C9C}"/>
              </a:ext>
            </a:extLst>
          </p:cNvPr>
          <p:cNvSpPr/>
          <p:nvPr/>
        </p:nvSpPr>
        <p:spPr>
          <a:xfrm>
            <a:off x="6325185" y="5757152"/>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6E28A1E1-5F7A-AD01-3038-8212D40F8EB4}"/>
              </a:ext>
            </a:extLst>
          </p:cNvPr>
          <p:cNvSpPr/>
          <p:nvPr/>
        </p:nvSpPr>
        <p:spPr>
          <a:xfrm>
            <a:off x="7001689" y="5765981"/>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83002441-847F-3512-0068-D6C90AC01B06}"/>
              </a:ext>
            </a:extLst>
          </p:cNvPr>
          <p:cNvSpPr/>
          <p:nvPr/>
        </p:nvSpPr>
        <p:spPr>
          <a:xfrm>
            <a:off x="7626160" y="5748698"/>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9B2456D5-27F4-08D6-017D-CEA75BF1E789}"/>
              </a:ext>
            </a:extLst>
          </p:cNvPr>
          <p:cNvSpPr txBox="1"/>
          <p:nvPr/>
        </p:nvSpPr>
        <p:spPr>
          <a:xfrm>
            <a:off x="6212225" y="5245252"/>
            <a:ext cx="2938625" cy="461665"/>
          </a:xfrm>
          <a:prstGeom prst="rect">
            <a:avLst/>
          </a:prstGeom>
          <a:noFill/>
        </p:spPr>
        <p:txBody>
          <a:bodyPr wrap="none" rtlCol="0">
            <a:spAutoFit/>
          </a:bodyPr>
          <a:lstStyle/>
          <a:p>
            <a:r>
              <a:rPr lang="en-US" sz="2400" dirty="0"/>
              <a:t>Unique occurrences</a:t>
            </a:r>
          </a:p>
        </p:txBody>
      </p:sp>
      <p:cxnSp>
        <p:nvCxnSpPr>
          <p:cNvPr id="30" name="Connector: Curved 29">
            <a:extLst>
              <a:ext uri="{FF2B5EF4-FFF2-40B4-BE49-F238E27FC236}">
                <a16:creationId xmlns:a16="http://schemas.microsoft.com/office/drawing/2014/main" id="{7BEE34A4-13CB-FA1B-697A-93DD0F0D5A04}"/>
              </a:ext>
            </a:extLst>
          </p:cNvPr>
          <p:cNvCxnSpPr>
            <a:stCxn id="27" idx="6"/>
            <a:endCxn id="24" idx="3"/>
          </p:cNvCxnSpPr>
          <p:nvPr/>
        </p:nvCxnSpPr>
        <p:spPr>
          <a:xfrm flipV="1">
            <a:off x="8016446" y="2476067"/>
            <a:ext cx="2963434" cy="3482004"/>
          </a:xfrm>
          <a:prstGeom prst="curvedConnector3">
            <a:avLst>
              <a:gd name="adj1" fmla="val 107714"/>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58491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19" grpId="0" animBg="1"/>
      <p:bldP spid="13" grpId="0" animBg="1"/>
      <p:bldP spid="11" grpId="0" animBg="1"/>
      <p:bldP spid="8" grpId="0" animBg="1"/>
      <p:bldP spid="44" grpId="0"/>
      <p:bldP spid="49" grpId="0" animBg="1"/>
      <p:bldP spid="51" grpId="0" animBg="1"/>
      <p:bldP spid="53" grpId="0" animBg="1"/>
      <p:bldP spid="31" grpId="0" animBg="1"/>
      <p:bldP spid="32" grpId="0" animBg="1"/>
      <p:bldP spid="14" grpId="0" animBg="1"/>
      <p:bldP spid="15" grpId="0" animBg="1"/>
      <p:bldP spid="16" grpId="0" animBg="1"/>
      <p:bldP spid="20" grpId="0" animBg="1"/>
      <p:bldP spid="23" grpId="0"/>
      <p:bldP spid="25" grpId="0" animBg="1"/>
      <p:bldP spid="26" grpId="0" animBg="1"/>
      <p:bldP spid="27" grpId="0" animBg="1"/>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1B06-775C-3A79-A24D-CBA423531276}"/>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D087898-5A6D-E4B9-2541-608728A090D8}"/>
              </a:ext>
            </a:extLst>
          </p:cNvPr>
          <p:cNvGrpSpPr/>
          <p:nvPr/>
        </p:nvGrpSpPr>
        <p:grpSpPr>
          <a:xfrm>
            <a:off x="3976409" y="4724706"/>
            <a:ext cx="4022551" cy="1848358"/>
            <a:chOff x="4018020" y="4013380"/>
            <a:chExt cx="4022551" cy="1848358"/>
          </a:xfrm>
        </p:grpSpPr>
        <p:grpSp>
          <p:nvGrpSpPr>
            <p:cNvPr id="2" name="Group 1">
              <a:extLst>
                <a:ext uri="{FF2B5EF4-FFF2-40B4-BE49-F238E27FC236}">
                  <a16:creationId xmlns:a16="http://schemas.microsoft.com/office/drawing/2014/main" id="{8530CF8B-DFD8-AEF9-83EF-2C0BA908A157}"/>
                </a:ext>
              </a:extLst>
            </p:cNvPr>
            <p:cNvGrpSpPr/>
            <p:nvPr/>
          </p:nvGrpSpPr>
          <p:grpSpPr>
            <a:xfrm>
              <a:off x="4018020" y="4013380"/>
              <a:ext cx="4022551" cy="1848358"/>
              <a:chOff x="1086921" y="1846567"/>
              <a:chExt cx="4022551" cy="1848358"/>
            </a:xfrm>
          </p:grpSpPr>
          <p:sp>
            <p:nvSpPr>
              <p:cNvPr id="5" name="Rectangle 4">
                <a:extLst>
                  <a:ext uri="{FF2B5EF4-FFF2-40B4-BE49-F238E27FC236}">
                    <a16:creationId xmlns:a16="http://schemas.microsoft.com/office/drawing/2014/main" id="{6AFDD0BC-16EC-6AFC-3238-92A545CEF3AB}"/>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3" name="Group 12">
                <a:extLst>
                  <a:ext uri="{FF2B5EF4-FFF2-40B4-BE49-F238E27FC236}">
                    <a16:creationId xmlns:a16="http://schemas.microsoft.com/office/drawing/2014/main" id="{A4218266-FFDC-C285-F59C-65BDFBF9D205}"/>
                  </a:ext>
                </a:extLst>
              </p:cNvPr>
              <p:cNvGrpSpPr/>
              <p:nvPr/>
            </p:nvGrpSpPr>
            <p:grpSpPr>
              <a:xfrm>
                <a:off x="1086921" y="1846567"/>
                <a:ext cx="3975249" cy="1848358"/>
                <a:chOff x="11255" y="1643056"/>
                <a:chExt cx="5422196" cy="2521139"/>
              </a:xfrm>
            </p:grpSpPr>
            <p:grpSp>
              <p:nvGrpSpPr>
                <p:cNvPr id="16" name="Group 15">
                  <a:extLst>
                    <a:ext uri="{FF2B5EF4-FFF2-40B4-BE49-F238E27FC236}">
                      <a16:creationId xmlns:a16="http://schemas.microsoft.com/office/drawing/2014/main" id="{D3F61D01-231E-EE17-297A-54C1CC0C9047}"/>
                    </a:ext>
                  </a:extLst>
                </p:cNvPr>
                <p:cNvGrpSpPr/>
                <p:nvPr/>
              </p:nvGrpSpPr>
              <p:grpSpPr>
                <a:xfrm>
                  <a:off x="1986005" y="2286000"/>
                  <a:ext cx="1524000" cy="1143000"/>
                  <a:chOff x="1485283" y="2286000"/>
                  <a:chExt cx="1524000" cy="1143000"/>
                </a:xfrm>
              </p:grpSpPr>
              <p:sp>
                <p:nvSpPr>
                  <p:cNvPr id="68" name="Rectangle 67">
                    <a:extLst>
                      <a:ext uri="{FF2B5EF4-FFF2-40B4-BE49-F238E27FC236}">
                        <a16:creationId xmlns:a16="http://schemas.microsoft.com/office/drawing/2014/main" id="{B2D3CB05-E42E-6402-61F9-7B184E6B1228}"/>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69" name="Rectangle 68">
                    <a:extLst>
                      <a:ext uri="{FF2B5EF4-FFF2-40B4-BE49-F238E27FC236}">
                        <a16:creationId xmlns:a16="http://schemas.microsoft.com/office/drawing/2014/main" id="{653592E7-74BB-6E96-4E97-570BB18A1A01}"/>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0" name="Rectangle 69">
                    <a:extLst>
                      <a:ext uri="{FF2B5EF4-FFF2-40B4-BE49-F238E27FC236}">
                        <a16:creationId xmlns:a16="http://schemas.microsoft.com/office/drawing/2014/main" id="{BE927FF9-76A1-989E-3DEE-FCA5E7061CCA}"/>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1" name="Rectangle 70">
                    <a:extLst>
                      <a:ext uri="{FF2B5EF4-FFF2-40B4-BE49-F238E27FC236}">
                        <a16:creationId xmlns:a16="http://schemas.microsoft.com/office/drawing/2014/main" id="{E578230D-1B6F-014C-CE75-390CBB3EE7E1}"/>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2" name="Rectangle 71">
                    <a:extLst>
                      <a:ext uri="{FF2B5EF4-FFF2-40B4-BE49-F238E27FC236}">
                        <a16:creationId xmlns:a16="http://schemas.microsoft.com/office/drawing/2014/main" id="{AB32AE09-4C3C-F080-623E-7E97460FB2DE}"/>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3" name="Rectangle 72">
                    <a:extLst>
                      <a:ext uri="{FF2B5EF4-FFF2-40B4-BE49-F238E27FC236}">
                        <a16:creationId xmlns:a16="http://schemas.microsoft.com/office/drawing/2014/main" id="{3D01201D-A0A2-1E44-C962-1B30F652E76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4" name="Rectangle 73">
                    <a:extLst>
                      <a:ext uri="{FF2B5EF4-FFF2-40B4-BE49-F238E27FC236}">
                        <a16:creationId xmlns:a16="http://schemas.microsoft.com/office/drawing/2014/main" id="{E1B73ABB-336A-1089-19F2-113FB466C161}"/>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5" name="Rectangle 74">
                    <a:extLst>
                      <a:ext uri="{FF2B5EF4-FFF2-40B4-BE49-F238E27FC236}">
                        <a16:creationId xmlns:a16="http://schemas.microsoft.com/office/drawing/2014/main" id="{C613B5C7-5AED-69B0-F5B7-49A048CC9531}"/>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6" name="Rectangle 75">
                    <a:extLst>
                      <a:ext uri="{FF2B5EF4-FFF2-40B4-BE49-F238E27FC236}">
                        <a16:creationId xmlns:a16="http://schemas.microsoft.com/office/drawing/2014/main" id="{07C41829-8992-B934-8D1A-27600154B492}"/>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7" name="Rectangle 76">
                    <a:extLst>
                      <a:ext uri="{FF2B5EF4-FFF2-40B4-BE49-F238E27FC236}">
                        <a16:creationId xmlns:a16="http://schemas.microsoft.com/office/drawing/2014/main" id="{D0B09FB3-42CC-150A-43C6-B1E9F0B92F2A}"/>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8" name="Rectangle 77">
                    <a:extLst>
                      <a:ext uri="{FF2B5EF4-FFF2-40B4-BE49-F238E27FC236}">
                        <a16:creationId xmlns:a16="http://schemas.microsoft.com/office/drawing/2014/main" id="{39A58CCF-32F4-387A-F6A0-3843F8787477}"/>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9" name="Rectangle 78">
                    <a:extLst>
                      <a:ext uri="{FF2B5EF4-FFF2-40B4-BE49-F238E27FC236}">
                        <a16:creationId xmlns:a16="http://schemas.microsoft.com/office/drawing/2014/main" id="{68EBF358-977F-4CBC-2793-14CA11EEC6A7}"/>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7" name="Group 16">
                  <a:extLst>
                    <a:ext uri="{FF2B5EF4-FFF2-40B4-BE49-F238E27FC236}">
                      <a16:creationId xmlns:a16="http://schemas.microsoft.com/office/drawing/2014/main" id="{CE0BB471-A7CA-89CB-5220-CD7A06B9DFBA}"/>
                    </a:ext>
                  </a:extLst>
                </p:cNvPr>
                <p:cNvGrpSpPr/>
                <p:nvPr/>
              </p:nvGrpSpPr>
              <p:grpSpPr>
                <a:xfrm>
                  <a:off x="507500" y="2097603"/>
                  <a:ext cx="1143000" cy="1524000"/>
                  <a:chOff x="151783" y="2071688"/>
                  <a:chExt cx="1143000" cy="1524000"/>
                </a:xfrm>
              </p:grpSpPr>
              <p:sp>
                <p:nvSpPr>
                  <p:cNvPr id="56" name="Rectangle 55">
                    <a:extLst>
                      <a:ext uri="{FF2B5EF4-FFF2-40B4-BE49-F238E27FC236}">
                        <a16:creationId xmlns:a16="http://schemas.microsoft.com/office/drawing/2014/main" id="{99024D56-2D0D-37E5-7C6E-2ED5A1AD21E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7" name="Rectangle 56">
                    <a:extLst>
                      <a:ext uri="{FF2B5EF4-FFF2-40B4-BE49-F238E27FC236}">
                        <a16:creationId xmlns:a16="http://schemas.microsoft.com/office/drawing/2014/main" id="{B7A06D45-1535-F905-679C-DA02E5E70ABF}"/>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8" name="Rectangle 57">
                    <a:extLst>
                      <a:ext uri="{FF2B5EF4-FFF2-40B4-BE49-F238E27FC236}">
                        <a16:creationId xmlns:a16="http://schemas.microsoft.com/office/drawing/2014/main" id="{799F3E51-87E8-A003-F9D0-5A79568E1CAF}"/>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9" name="Rectangle 58">
                    <a:extLst>
                      <a:ext uri="{FF2B5EF4-FFF2-40B4-BE49-F238E27FC236}">
                        <a16:creationId xmlns:a16="http://schemas.microsoft.com/office/drawing/2014/main" id="{C7BD5A93-8CE3-8F5F-090C-C7DD23855704}"/>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0" name="Rectangle 59">
                    <a:extLst>
                      <a:ext uri="{FF2B5EF4-FFF2-40B4-BE49-F238E27FC236}">
                        <a16:creationId xmlns:a16="http://schemas.microsoft.com/office/drawing/2014/main" id="{71358AAE-4308-0E4B-E521-E5B9D9E606E0}"/>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1" name="Rectangle 60">
                    <a:extLst>
                      <a:ext uri="{FF2B5EF4-FFF2-40B4-BE49-F238E27FC236}">
                        <a16:creationId xmlns:a16="http://schemas.microsoft.com/office/drawing/2014/main" id="{412EAA14-4F09-5E3B-7564-DB20A6AFFB6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2" name="Rectangle 61">
                    <a:extLst>
                      <a:ext uri="{FF2B5EF4-FFF2-40B4-BE49-F238E27FC236}">
                        <a16:creationId xmlns:a16="http://schemas.microsoft.com/office/drawing/2014/main" id="{44E5EC01-BB2B-E060-EDA1-9A8D7617F1DA}"/>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3" name="Rectangle 62">
                    <a:extLst>
                      <a:ext uri="{FF2B5EF4-FFF2-40B4-BE49-F238E27FC236}">
                        <a16:creationId xmlns:a16="http://schemas.microsoft.com/office/drawing/2014/main" id="{FC195A79-64E6-E07D-882E-4682D7560399}"/>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4" name="Rectangle 63">
                    <a:extLst>
                      <a:ext uri="{FF2B5EF4-FFF2-40B4-BE49-F238E27FC236}">
                        <a16:creationId xmlns:a16="http://schemas.microsoft.com/office/drawing/2014/main" id="{569A29F6-8DC9-A37F-929A-869BFEAD7268}"/>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5" name="Rectangle 64">
                    <a:extLst>
                      <a:ext uri="{FF2B5EF4-FFF2-40B4-BE49-F238E27FC236}">
                        <a16:creationId xmlns:a16="http://schemas.microsoft.com/office/drawing/2014/main" id="{7ECC0DB4-C6AA-AA7A-39FD-40385DC6ECAB}"/>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6" name="Rectangle 65">
                    <a:extLst>
                      <a:ext uri="{FF2B5EF4-FFF2-40B4-BE49-F238E27FC236}">
                        <a16:creationId xmlns:a16="http://schemas.microsoft.com/office/drawing/2014/main" id="{14CF4B07-C9B6-1D94-B6BD-37A2B6EEB7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7" name="Rectangle 66">
                    <a:extLst>
                      <a:ext uri="{FF2B5EF4-FFF2-40B4-BE49-F238E27FC236}">
                        <a16:creationId xmlns:a16="http://schemas.microsoft.com/office/drawing/2014/main" id="{2D7F35EE-1D9A-FD86-8AC9-22A90F108F1F}"/>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8" name="Group 17">
                  <a:extLst>
                    <a:ext uri="{FF2B5EF4-FFF2-40B4-BE49-F238E27FC236}">
                      <a16:creationId xmlns:a16="http://schemas.microsoft.com/office/drawing/2014/main" id="{4E884ECF-3C7E-F758-E4A0-47904B7DDA10}"/>
                    </a:ext>
                  </a:extLst>
                </p:cNvPr>
                <p:cNvGrpSpPr/>
                <p:nvPr/>
              </p:nvGrpSpPr>
              <p:grpSpPr>
                <a:xfrm>
                  <a:off x="3909451" y="2095500"/>
                  <a:ext cx="1524000" cy="1524000"/>
                  <a:chOff x="3107359" y="2145800"/>
                  <a:chExt cx="1524000" cy="1524000"/>
                </a:xfrm>
              </p:grpSpPr>
              <p:sp>
                <p:nvSpPr>
                  <p:cNvPr id="39" name="Rectangle 38">
                    <a:extLst>
                      <a:ext uri="{FF2B5EF4-FFF2-40B4-BE49-F238E27FC236}">
                        <a16:creationId xmlns:a16="http://schemas.microsoft.com/office/drawing/2014/main" id="{63A1395F-BE2F-6ECC-AB82-C657CBB9A22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0" name="Rectangle 39">
                    <a:extLst>
                      <a:ext uri="{FF2B5EF4-FFF2-40B4-BE49-F238E27FC236}">
                        <a16:creationId xmlns:a16="http://schemas.microsoft.com/office/drawing/2014/main" id="{74D8802E-0BBA-B525-E374-CD772B5B22A6}"/>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1" name="Rectangle 40">
                    <a:extLst>
                      <a:ext uri="{FF2B5EF4-FFF2-40B4-BE49-F238E27FC236}">
                        <a16:creationId xmlns:a16="http://schemas.microsoft.com/office/drawing/2014/main" id="{A9321AB8-DDD9-2B68-0D86-C717A55230E8}"/>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2" name="Rectangle 41">
                    <a:extLst>
                      <a:ext uri="{FF2B5EF4-FFF2-40B4-BE49-F238E27FC236}">
                        <a16:creationId xmlns:a16="http://schemas.microsoft.com/office/drawing/2014/main" id="{0BDDDC71-4CC9-76C8-A410-2F7586BED029}"/>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4" name="Rectangle 43">
                    <a:extLst>
                      <a:ext uri="{FF2B5EF4-FFF2-40B4-BE49-F238E27FC236}">
                        <a16:creationId xmlns:a16="http://schemas.microsoft.com/office/drawing/2014/main" id="{ECFEF596-44F3-23D1-9C03-D453DAA1A10E}"/>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5" name="Rectangle 44">
                    <a:extLst>
                      <a:ext uri="{FF2B5EF4-FFF2-40B4-BE49-F238E27FC236}">
                        <a16:creationId xmlns:a16="http://schemas.microsoft.com/office/drawing/2014/main" id="{96F1BF7E-E9EA-6031-5D30-BE938887E882}"/>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6" name="Rectangle 45">
                    <a:extLst>
                      <a:ext uri="{FF2B5EF4-FFF2-40B4-BE49-F238E27FC236}">
                        <a16:creationId xmlns:a16="http://schemas.microsoft.com/office/drawing/2014/main" id="{6B6FE00E-F1EB-B1D3-E50D-786FA260B9B5}"/>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7" name="Rectangle 46">
                    <a:extLst>
                      <a:ext uri="{FF2B5EF4-FFF2-40B4-BE49-F238E27FC236}">
                        <a16:creationId xmlns:a16="http://schemas.microsoft.com/office/drawing/2014/main" id="{6F0B967E-4EBC-FBA9-D3C1-6F9ECF9541CF}"/>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8" name="Rectangle 47">
                    <a:extLst>
                      <a:ext uri="{FF2B5EF4-FFF2-40B4-BE49-F238E27FC236}">
                        <a16:creationId xmlns:a16="http://schemas.microsoft.com/office/drawing/2014/main" id="{55CF4C0D-F34B-FB8F-84F6-1A08DA3BCBD7}"/>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9" name="Rectangle 48">
                    <a:extLst>
                      <a:ext uri="{FF2B5EF4-FFF2-40B4-BE49-F238E27FC236}">
                        <a16:creationId xmlns:a16="http://schemas.microsoft.com/office/drawing/2014/main" id="{55C84C22-7485-BEEE-A163-BB04C8E905DE}"/>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0" name="Rectangle 49">
                    <a:extLst>
                      <a:ext uri="{FF2B5EF4-FFF2-40B4-BE49-F238E27FC236}">
                        <a16:creationId xmlns:a16="http://schemas.microsoft.com/office/drawing/2014/main" id="{B490E4AF-9B12-6ECE-9AE6-2330164AE657}"/>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1" name="Rectangle 50">
                    <a:extLst>
                      <a:ext uri="{FF2B5EF4-FFF2-40B4-BE49-F238E27FC236}">
                        <a16:creationId xmlns:a16="http://schemas.microsoft.com/office/drawing/2014/main" id="{82FCD4C7-0B4F-E271-462D-4700EE78BFFF}"/>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2" name="Rectangle 51">
                    <a:extLst>
                      <a:ext uri="{FF2B5EF4-FFF2-40B4-BE49-F238E27FC236}">
                        <a16:creationId xmlns:a16="http://schemas.microsoft.com/office/drawing/2014/main" id="{540BF186-CAE9-85D6-0466-2B731FE84E95}"/>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3" name="Rectangle 52">
                    <a:extLst>
                      <a:ext uri="{FF2B5EF4-FFF2-40B4-BE49-F238E27FC236}">
                        <a16:creationId xmlns:a16="http://schemas.microsoft.com/office/drawing/2014/main" id="{6E298451-067F-94AA-52B8-DEA060E18911}"/>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4" name="Rectangle 53">
                    <a:extLst>
                      <a:ext uri="{FF2B5EF4-FFF2-40B4-BE49-F238E27FC236}">
                        <a16:creationId xmlns:a16="http://schemas.microsoft.com/office/drawing/2014/main" id="{40C6E7A3-CE89-BA82-AEC1-AE994B8F4959}"/>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5" name="Rectangle 54">
                    <a:extLst>
                      <a:ext uri="{FF2B5EF4-FFF2-40B4-BE49-F238E27FC236}">
                        <a16:creationId xmlns:a16="http://schemas.microsoft.com/office/drawing/2014/main" id="{D80D398F-D0CB-55B7-2998-093263B37DC5}"/>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E6AE8EA-F3A2-4429-46DA-FAD917748140}"/>
                        </a:ext>
                      </a:extLst>
                    </p:cNvPr>
                    <p:cNvSpPr txBox="1"/>
                    <p:nvPr/>
                  </p:nvSpPr>
                  <p:spPr>
                    <a:xfrm>
                      <a:off x="1622785" y="2635659"/>
                      <a:ext cx="422427"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xmlns="">
                <p:sp>
                  <p:nvSpPr>
                    <p:cNvPr id="19" name="TextBox 18">
                      <a:extLst>
                        <a:ext uri="{FF2B5EF4-FFF2-40B4-BE49-F238E27FC236}">
                          <a16:creationId xmlns:a16="http://schemas.microsoft.com/office/drawing/2014/main" id="{AE6AE8EA-F3A2-4429-46DA-FAD917748140}"/>
                        </a:ext>
                      </a:extLst>
                    </p:cNvPr>
                    <p:cNvSpPr txBox="1">
                      <a:spLocks noRot="1" noChangeAspect="1" noMove="1" noResize="1" noEditPoints="1" noAdjustHandles="1" noChangeArrowheads="1" noChangeShapeType="1" noTextEdit="1"/>
                    </p:cNvSpPr>
                    <p:nvPr/>
                  </p:nvSpPr>
                  <p:spPr>
                    <a:xfrm>
                      <a:off x="1622785" y="2635659"/>
                      <a:ext cx="422427" cy="54574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D7E9B2-E767-3D0E-8430-92B5D9AA07CD}"/>
                        </a:ext>
                      </a:extLst>
                    </p:cNvPr>
                    <p:cNvSpPr txBox="1"/>
                    <p:nvPr/>
                  </p:nvSpPr>
                  <p:spPr>
                    <a:xfrm>
                      <a:off x="3432966" y="2646411"/>
                      <a:ext cx="586414"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xmlns="">
                <p:sp>
                  <p:nvSpPr>
                    <p:cNvPr id="20" name="TextBox 19">
                      <a:extLst>
                        <a:ext uri="{FF2B5EF4-FFF2-40B4-BE49-F238E27FC236}">
                          <a16:creationId xmlns:a16="http://schemas.microsoft.com/office/drawing/2014/main" id="{6DD7E9B2-E767-3D0E-8430-92B5D9AA07CD}"/>
                        </a:ext>
                      </a:extLst>
                    </p:cNvPr>
                    <p:cNvSpPr txBox="1">
                      <a:spLocks noRot="1" noChangeAspect="1" noMove="1" noResize="1" noEditPoints="1" noAdjustHandles="1" noChangeArrowheads="1" noChangeShapeType="1" noTextEdit="1"/>
                    </p:cNvSpPr>
                    <p:nvPr/>
                  </p:nvSpPr>
                  <p:spPr>
                    <a:xfrm>
                      <a:off x="3432966" y="2646411"/>
                      <a:ext cx="586414" cy="545745"/>
                    </a:xfrm>
                    <a:prstGeom prst="rect">
                      <a:avLst/>
                    </a:prstGeom>
                    <a:blipFill>
                      <a:blip r:embed="rId5"/>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592E941E-9CFD-B1A8-8E40-876A28A38091}"/>
                    </a:ext>
                  </a:extLst>
                </p:cNvPr>
                <p:cNvSpPr txBox="1"/>
                <p:nvPr/>
              </p:nvSpPr>
              <p:spPr>
                <a:xfrm>
                  <a:off x="848108" y="3618449"/>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24" name="TextBox 23">
                  <a:extLst>
                    <a:ext uri="{FF2B5EF4-FFF2-40B4-BE49-F238E27FC236}">
                      <a16:creationId xmlns:a16="http://schemas.microsoft.com/office/drawing/2014/main" id="{F6239C17-840D-0086-3E25-CEF991D4CFDC}"/>
                    </a:ext>
                  </a:extLst>
                </p:cNvPr>
                <p:cNvSpPr txBox="1"/>
                <p:nvPr/>
              </p:nvSpPr>
              <p:spPr>
                <a:xfrm>
                  <a:off x="2546351"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28" name="TextBox 27">
                  <a:extLst>
                    <a:ext uri="{FF2B5EF4-FFF2-40B4-BE49-F238E27FC236}">
                      <a16:creationId xmlns:a16="http://schemas.microsoft.com/office/drawing/2014/main" id="{A14F5966-1709-E66B-D6A8-4739C6F0CEB5}"/>
                    </a:ext>
                  </a:extLst>
                </p:cNvPr>
                <p:cNvSpPr txBox="1"/>
                <p:nvPr/>
              </p:nvSpPr>
              <p:spPr>
                <a:xfrm>
                  <a:off x="4452752"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43CE03B-E12C-3FE7-6183-56F902A74570}"/>
                        </a:ext>
                      </a:extLst>
                    </p:cNvPr>
                    <p:cNvSpPr txBox="1"/>
                    <p:nvPr/>
                  </p:nvSpPr>
                  <p:spPr>
                    <a:xfrm>
                      <a:off x="11255" y="1857073"/>
                      <a:ext cx="622972" cy="545745"/>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xmlns="">
                <p:sp>
                  <p:nvSpPr>
                    <p:cNvPr id="30" name="TextBox 29">
                      <a:extLst>
                        <a:ext uri="{FF2B5EF4-FFF2-40B4-BE49-F238E27FC236}">
                          <a16:creationId xmlns:a16="http://schemas.microsoft.com/office/drawing/2014/main" id="{C43CE03B-E12C-3FE7-6183-56F902A74570}"/>
                        </a:ext>
                      </a:extLst>
                    </p:cNvPr>
                    <p:cNvSpPr txBox="1">
                      <a:spLocks noRot="1" noChangeAspect="1" noMove="1" noResize="1" noEditPoints="1" noAdjustHandles="1" noChangeArrowheads="1" noChangeShapeType="1" noTextEdit="1"/>
                    </p:cNvSpPr>
                    <p:nvPr/>
                  </p:nvSpPr>
                  <p:spPr>
                    <a:xfrm>
                      <a:off x="11255" y="1857073"/>
                      <a:ext cx="622972" cy="54574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2318064-48CB-ADD5-6D22-6A347AFB73D4}"/>
                        </a:ext>
                      </a:extLst>
                    </p:cNvPr>
                    <p:cNvSpPr txBox="1"/>
                    <p:nvPr/>
                  </p:nvSpPr>
                  <p:spPr>
                    <a:xfrm>
                      <a:off x="835771" y="1673266"/>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xmlns="">
                <p:sp>
                  <p:nvSpPr>
                    <p:cNvPr id="31" name="TextBox 30">
                      <a:extLst>
                        <a:ext uri="{FF2B5EF4-FFF2-40B4-BE49-F238E27FC236}">
                          <a16:creationId xmlns:a16="http://schemas.microsoft.com/office/drawing/2014/main" id="{B2318064-48CB-ADD5-6D22-6A347AFB73D4}"/>
                        </a:ext>
                      </a:extLst>
                    </p:cNvPr>
                    <p:cNvSpPr txBox="1">
                      <a:spLocks noRot="1" noChangeAspect="1" noMove="1" noResize="1" noEditPoints="1" noAdjustHandles="1" noChangeArrowheads="1" noChangeShapeType="1" noTextEdit="1"/>
                    </p:cNvSpPr>
                    <p:nvPr/>
                  </p:nvSpPr>
                  <p:spPr>
                    <a:xfrm>
                      <a:off x="835771" y="1673266"/>
                      <a:ext cx="526679" cy="54574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6E00BB2-9768-DF4B-6D99-295C8EB36058}"/>
                        </a:ext>
                      </a:extLst>
                    </p:cNvPr>
                    <p:cNvSpPr txBox="1"/>
                    <p:nvPr/>
                  </p:nvSpPr>
                  <p:spPr>
                    <a:xfrm>
                      <a:off x="1596035" y="1985521"/>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xmlns="">
                <p:sp>
                  <p:nvSpPr>
                    <p:cNvPr id="32" name="TextBox 31">
                      <a:extLst>
                        <a:ext uri="{FF2B5EF4-FFF2-40B4-BE49-F238E27FC236}">
                          <a16:creationId xmlns:a16="http://schemas.microsoft.com/office/drawing/2014/main" id="{56E00BB2-9768-DF4B-6D99-295C8EB36058}"/>
                        </a:ext>
                      </a:extLst>
                    </p:cNvPr>
                    <p:cNvSpPr txBox="1">
                      <a:spLocks noRot="1" noChangeAspect="1" noMove="1" noResize="1" noEditPoints="1" noAdjustHandles="1" noChangeArrowheads="1" noChangeShapeType="1" noTextEdit="1"/>
                    </p:cNvSpPr>
                    <p:nvPr/>
                  </p:nvSpPr>
                  <p:spPr>
                    <a:xfrm>
                      <a:off x="1596035" y="1985521"/>
                      <a:ext cx="526679" cy="54574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6E19B0D-209B-81E1-FFD7-E6F3525EB4F7}"/>
                        </a:ext>
                      </a:extLst>
                    </p:cNvPr>
                    <p:cNvSpPr txBox="1"/>
                    <p:nvPr/>
                  </p:nvSpPr>
                  <p:spPr>
                    <a:xfrm>
                      <a:off x="2500887" y="1836429"/>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xmlns="">
                <p:sp>
                  <p:nvSpPr>
                    <p:cNvPr id="34" name="TextBox 33">
                      <a:extLst>
                        <a:ext uri="{FF2B5EF4-FFF2-40B4-BE49-F238E27FC236}">
                          <a16:creationId xmlns:a16="http://schemas.microsoft.com/office/drawing/2014/main" id="{96E19B0D-209B-81E1-FFD7-E6F3525EB4F7}"/>
                        </a:ext>
                      </a:extLst>
                    </p:cNvPr>
                    <p:cNvSpPr txBox="1">
                      <a:spLocks noRot="1" noChangeAspect="1" noMove="1" noResize="1" noEditPoints="1" noAdjustHandles="1" noChangeArrowheads="1" noChangeShapeType="1" noTextEdit="1"/>
                    </p:cNvSpPr>
                    <p:nvPr/>
                  </p:nvSpPr>
                  <p:spPr>
                    <a:xfrm>
                      <a:off x="2500887" y="1836429"/>
                      <a:ext cx="531140" cy="54574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B9BD1A5-B3AE-3C81-5716-56D19271BD2F}"/>
                        </a:ext>
                      </a:extLst>
                    </p:cNvPr>
                    <p:cNvSpPr txBox="1"/>
                    <p:nvPr/>
                  </p:nvSpPr>
                  <p:spPr>
                    <a:xfrm>
                      <a:off x="3405091" y="1862905"/>
                      <a:ext cx="622972"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xmlns="">
                <p:sp>
                  <p:nvSpPr>
                    <p:cNvPr id="36" name="TextBox 35">
                      <a:extLst>
                        <a:ext uri="{FF2B5EF4-FFF2-40B4-BE49-F238E27FC236}">
                          <a16:creationId xmlns:a16="http://schemas.microsoft.com/office/drawing/2014/main" id="{5B9BD1A5-B3AE-3C81-5716-56D19271BD2F}"/>
                        </a:ext>
                      </a:extLst>
                    </p:cNvPr>
                    <p:cNvSpPr txBox="1">
                      <a:spLocks noRot="1" noChangeAspect="1" noMove="1" noResize="1" noEditPoints="1" noAdjustHandles="1" noChangeArrowheads="1" noChangeShapeType="1" noTextEdit="1"/>
                    </p:cNvSpPr>
                    <p:nvPr/>
                  </p:nvSpPr>
                  <p:spPr>
                    <a:xfrm>
                      <a:off x="3405091" y="1862905"/>
                      <a:ext cx="622972" cy="54574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57B4049-5429-535D-EEAC-3B0EB1CE0ACE}"/>
                        </a:ext>
                      </a:extLst>
                    </p:cNvPr>
                    <p:cNvSpPr txBox="1"/>
                    <p:nvPr/>
                  </p:nvSpPr>
                  <p:spPr>
                    <a:xfrm>
                      <a:off x="4417872" y="1643056"/>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xmlns="">
                <p:sp>
                  <p:nvSpPr>
                    <p:cNvPr id="38" name="TextBox 37">
                      <a:extLst>
                        <a:ext uri="{FF2B5EF4-FFF2-40B4-BE49-F238E27FC236}">
                          <a16:creationId xmlns:a16="http://schemas.microsoft.com/office/drawing/2014/main" id="{957B4049-5429-535D-EEAC-3B0EB1CE0ACE}"/>
                        </a:ext>
                      </a:extLst>
                    </p:cNvPr>
                    <p:cNvSpPr txBox="1">
                      <a:spLocks noRot="1" noChangeAspect="1" noMove="1" noResize="1" noEditPoints="1" noAdjustHandles="1" noChangeArrowheads="1" noChangeShapeType="1" noTextEdit="1"/>
                    </p:cNvSpPr>
                    <p:nvPr/>
                  </p:nvSpPr>
                  <p:spPr>
                    <a:xfrm>
                      <a:off x="4417872" y="1643056"/>
                      <a:ext cx="531140" cy="545745"/>
                    </a:xfrm>
                    <a:prstGeom prst="rect">
                      <a:avLst/>
                    </a:prstGeom>
                    <a:blipFill>
                      <a:blip r:embed="rId11"/>
                      <a:stretch>
                        <a:fillRect/>
                      </a:stretch>
                    </a:blipFill>
                  </p:spPr>
                  <p:txBody>
                    <a:bodyPr/>
                    <a:lstStyle/>
                    <a:p>
                      <a:r>
                        <a:rPr lang="en-US">
                          <a:noFill/>
                        </a:rPr>
                        <a:t> </a:t>
                      </a:r>
                    </a:p>
                  </p:txBody>
                </p:sp>
              </mc:Fallback>
            </mc:AlternateContent>
          </p:grpSp>
        </p:grpSp>
        <p:sp>
          <p:nvSpPr>
            <p:cNvPr id="80" name="Rectangle 79">
              <a:extLst>
                <a:ext uri="{FF2B5EF4-FFF2-40B4-BE49-F238E27FC236}">
                  <a16:creationId xmlns:a16="http://schemas.microsoft.com/office/drawing/2014/main" id="{B67384CC-1D86-A8E9-8BEC-871F9DFAE7AA}"/>
                </a:ext>
              </a:extLst>
            </p:cNvPr>
            <p:cNvSpPr/>
            <p:nvPr/>
          </p:nvSpPr>
          <p:spPr>
            <a:xfrm>
              <a:off x="4368316" y="4351020"/>
              <a:ext cx="870602" cy="5716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2" name="Rectangle 81">
              <a:extLst>
                <a:ext uri="{FF2B5EF4-FFF2-40B4-BE49-F238E27FC236}">
                  <a16:creationId xmlns:a16="http://schemas.microsoft.com/office/drawing/2014/main" id="{797184A6-B8C9-8BE1-5775-E01C29201E1E}"/>
                </a:ext>
              </a:extLst>
            </p:cNvPr>
            <p:cNvSpPr/>
            <p:nvPr/>
          </p:nvSpPr>
          <p:spPr>
            <a:xfrm>
              <a:off x="5465795" y="4480396"/>
              <a:ext cx="558656" cy="842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4" name="Rectangle 83">
              <a:extLst>
                <a:ext uri="{FF2B5EF4-FFF2-40B4-BE49-F238E27FC236}">
                  <a16:creationId xmlns:a16="http://schemas.microsoft.com/office/drawing/2014/main" id="{CE42996D-A7D2-C278-F257-24477D27D231}"/>
                </a:ext>
              </a:extLst>
            </p:cNvPr>
            <p:cNvSpPr/>
            <p:nvPr/>
          </p:nvSpPr>
          <p:spPr>
            <a:xfrm>
              <a:off x="6868169" y="4334624"/>
              <a:ext cx="566444" cy="58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sp>
        <p:nvSpPr>
          <p:cNvPr id="4" name="Title 3">
            <a:extLst>
              <a:ext uri="{FF2B5EF4-FFF2-40B4-BE49-F238E27FC236}">
                <a16:creationId xmlns:a16="http://schemas.microsoft.com/office/drawing/2014/main" id="{5EF9D386-01F8-3927-E59A-917ABFB77B04}"/>
              </a:ext>
            </a:extLst>
          </p:cNvPr>
          <p:cNvSpPr>
            <a:spLocks noGrp="1"/>
          </p:cNvSpPr>
          <p:nvPr>
            <p:ph type="title"/>
          </p:nvPr>
        </p:nvSpPr>
        <p:spPr/>
        <p:txBody>
          <a:bodyPr/>
          <a:lstStyle/>
          <a:p>
            <a:r>
              <a:rPr lang="en-US" noProof="0" dirty="0"/>
              <a:t>Traversal transformations</a:t>
            </a:r>
          </a:p>
        </p:txBody>
      </p:sp>
      <p:sp>
        <p:nvSpPr>
          <p:cNvPr id="26" name="Date Placeholder 25">
            <a:extLst>
              <a:ext uri="{FF2B5EF4-FFF2-40B4-BE49-F238E27FC236}">
                <a16:creationId xmlns:a16="http://schemas.microsoft.com/office/drawing/2014/main" id="{E5787EB7-BD3B-CCF1-8AEA-70766F875185}"/>
              </a:ext>
            </a:extLst>
          </p:cNvPr>
          <p:cNvSpPr>
            <a:spLocks noGrp="1"/>
          </p:cNvSpPr>
          <p:nvPr>
            <p:ph type="dt" sz="half" idx="10"/>
          </p:nvPr>
        </p:nvSpPr>
        <p:spPr/>
        <p:txBody>
          <a:bodyPr/>
          <a:lstStyle/>
          <a:p>
            <a:fld id="{8BB690F1-35CC-4B34-B898-A35702C2DAD5}" type="datetime1">
              <a:rPr lang="en-US" noProof="0" smtClean="0"/>
              <a:t>9/6/2026</a:t>
            </a:fld>
            <a:endParaRPr lang="en-US" noProof="0" dirty="0"/>
          </a:p>
        </p:txBody>
      </p:sp>
      <p:sp>
        <p:nvSpPr>
          <p:cNvPr id="27" name="Slide Number Placeholder 26">
            <a:extLst>
              <a:ext uri="{FF2B5EF4-FFF2-40B4-BE49-F238E27FC236}">
                <a16:creationId xmlns:a16="http://schemas.microsoft.com/office/drawing/2014/main" id="{00AA8B2A-1815-9AD2-C837-8175AEC8FFF5}"/>
              </a:ext>
            </a:extLst>
          </p:cNvPr>
          <p:cNvSpPr>
            <a:spLocks noGrp="1"/>
          </p:cNvSpPr>
          <p:nvPr>
            <p:ph type="sldNum" sz="quarter" idx="12"/>
          </p:nvPr>
        </p:nvSpPr>
        <p:spPr/>
        <p:txBody>
          <a:bodyPr/>
          <a:lstStyle/>
          <a:p>
            <a:fld id="{DA0BB241-1B5F-4309-9407-9EEA04D9598D}" type="slidenum">
              <a:rPr lang="en-US" noProof="0" smtClean="0"/>
              <a:t>8</a:t>
            </a:fld>
            <a:endParaRPr lang="en-US" noProof="0" dirty="0"/>
          </a:p>
        </p:txBody>
      </p:sp>
      <p:sp>
        <p:nvSpPr>
          <p:cNvPr id="6" name="Rectangle 5">
            <a:extLst>
              <a:ext uri="{FF2B5EF4-FFF2-40B4-BE49-F238E27FC236}">
                <a16:creationId xmlns:a16="http://schemas.microsoft.com/office/drawing/2014/main" id="{94315874-4365-BD7E-38E9-6E300532D1B0}"/>
              </a:ext>
            </a:extLst>
          </p:cNvPr>
          <p:cNvSpPr/>
          <p:nvPr/>
        </p:nvSpPr>
        <p:spPr>
          <a:xfrm>
            <a:off x="6914245" y="1534018"/>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10" name="Rectangle 9">
            <a:extLst>
              <a:ext uri="{FF2B5EF4-FFF2-40B4-BE49-F238E27FC236}">
                <a16:creationId xmlns:a16="http://schemas.microsoft.com/office/drawing/2014/main" id="{FD7BF336-2D6B-75E5-35D1-BB6F556A8522}"/>
              </a:ext>
            </a:extLst>
          </p:cNvPr>
          <p:cNvSpPr/>
          <p:nvPr/>
        </p:nvSpPr>
        <p:spPr>
          <a:xfrm>
            <a:off x="6914245" y="1878964"/>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12" name="Rectangle 11">
            <a:extLst>
              <a:ext uri="{FF2B5EF4-FFF2-40B4-BE49-F238E27FC236}">
                <a16:creationId xmlns:a16="http://schemas.microsoft.com/office/drawing/2014/main" id="{6B5E3D72-639F-DBE8-60C5-E7360CC97F9F}"/>
              </a:ext>
            </a:extLst>
          </p:cNvPr>
          <p:cNvSpPr/>
          <p:nvPr/>
        </p:nvSpPr>
        <p:spPr>
          <a:xfrm>
            <a:off x="6007392" y="2222371"/>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8" name="TextBox 7">
            <a:extLst>
              <a:ext uri="{FF2B5EF4-FFF2-40B4-BE49-F238E27FC236}">
                <a16:creationId xmlns:a16="http://schemas.microsoft.com/office/drawing/2014/main" id="{D8CA8669-3DF0-4485-E218-6A9F90B6F725}"/>
              </a:ext>
            </a:extLst>
          </p:cNvPr>
          <p:cNvSpPr txBox="1"/>
          <p:nvPr/>
        </p:nvSpPr>
        <p:spPr>
          <a:xfrm>
            <a:off x="2667000" y="1431917"/>
            <a:ext cx="6858000"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into_blocks</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m'</a:t>
            </a:r>
            <a:r>
              <a:rPr lang="en-US" sz="2000" b="0" noProof="0" dirty="0" err="1">
                <a:solidFill>
                  <a:srgbClr val="000000"/>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'M</a:t>
            </a:r>
            <a:r>
              <a:rPr lang="en-US" sz="2000" b="0" noProof="0" dirty="0">
                <a:solidFill>
                  <a:srgbClr val="A31515"/>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98658"/>
                </a:solidFill>
                <a:effectLst/>
                <a:latin typeface="Fira Code" panose="020B0809050000020004" pitchFamily="49" charset="0"/>
              </a:rPr>
              <a:t>16</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err="1">
                <a:solidFill>
                  <a:srgbClr val="795E26"/>
                </a:solidFill>
                <a:effectLst/>
                <a:latin typeface="Fira Code" panose="020B0809050000020004" pitchFamily="49" charset="0"/>
              </a:rPr>
              <a:t>into_blocks</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n'</a:t>
            </a:r>
            <a:r>
              <a:rPr lang="en-US" sz="2000" b="0" noProof="0" dirty="0" err="1">
                <a:solidFill>
                  <a:srgbClr val="000000"/>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'N</a:t>
            </a:r>
            <a:r>
              <a:rPr lang="en-US" sz="2000" b="0" noProof="0" dirty="0">
                <a:solidFill>
                  <a:srgbClr val="A31515"/>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98658"/>
                </a:solidFill>
                <a:effectLst/>
                <a:latin typeface="Fira Code" panose="020B0809050000020004" pitchFamily="49" charset="0"/>
              </a:rPr>
              <a:t>16</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795E26"/>
                </a:solidFill>
                <a:effectLst/>
                <a:latin typeface="Fira Code" panose="020B0809050000020004" pitchFamily="49" charset="0"/>
              </a:rPr>
              <a:t>hoist</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a:t>
            </a:r>
            <a:r>
              <a:rPr lang="en-US" sz="2000" b="0" noProof="0" dirty="0">
                <a:solidFill>
                  <a:srgbClr val="A31515"/>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0FCBA717-9CCC-E582-9AD5-0BD4B28E0F5A}"/>
              </a:ext>
            </a:extLst>
          </p:cNvPr>
          <p:cNvSpPr txBox="1"/>
          <p:nvPr/>
        </p:nvSpPr>
        <p:spPr>
          <a:xfrm>
            <a:off x="1498604" y="3176471"/>
            <a:ext cx="9194792" cy="1124282"/>
          </a:xfrm>
          <a:prstGeom prst="rect">
            <a:avLst/>
          </a:prstGeom>
          <a:noFill/>
          <a:ln>
            <a:solidFill>
              <a:schemeClr val="tx1"/>
            </a:solidFill>
          </a:ln>
        </p:spPr>
        <p:txBody>
          <a:bodyPr wrap="none">
            <a:spAutoFit/>
          </a:bodyPr>
          <a:lstStyle/>
          <a:p>
            <a:pPr>
              <a:lnSpc>
                <a:spcPct val="113095"/>
              </a:lnSpc>
              <a:buNone/>
            </a:pPr>
            <a:r>
              <a:rPr lang="en-US" sz="2000" noProof="0" dirty="0">
                <a:solidFill>
                  <a:srgbClr val="000000"/>
                </a:solidFill>
                <a:latin typeface="Fira Code" panose="020B0809050000020004" pitchFamily="49" charset="0"/>
              </a:rPr>
              <a:t>(</a:t>
            </a: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 </a:t>
            </a:r>
            <a:r>
              <a:rPr lang="en-US" sz="2000" b="1"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cxnSp>
        <p:nvCxnSpPr>
          <p:cNvPr id="7" name="Straight Arrow Connector 6">
            <a:extLst>
              <a:ext uri="{FF2B5EF4-FFF2-40B4-BE49-F238E27FC236}">
                <a16:creationId xmlns:a16="http://schemas.microsoft.com/office/drawing/2014/main" id="{DF00CA29-CB8D-E775-A70D-52850554C362}"/>
              </a:ext>
            </a:extLst>
          </p:cNvPr>
          <p:cNvCxnSpPr>
            <a:cxnSpLocks/>
            <a:stCxn id="8" idx="2"/>
            <a:endCxn id="3" idx="0"/>
          </p:cNvCxnSpPr>
          <p:nvPr/>
        </p:nvCxnSpPr>
        <p:spPr>
          <a:xfrm>
            <a:off x="6096000" y="2556199"/>
            <a:ext cx="0" cy="62027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F77E6586-7CA7-0470-44A7-FA4B38EA596E}"/>
              </a:ext>
            </a:extLst>
          </p:cNvPr>
          <p:cNvSpPr txBox="1"/>
          <p:nvPr/>
        </p:nvSpPr>
        <p:spPr>
          <a:xfrm>
            <a:off x="1498604" y="3176471"/>
            <a:ext cx="9194791" cy="1124282"/>
          </a:xfrm>
          <a:prstGeom prst="rect">
            <a:avLst/>
          </a:prstGeom>
          <a:solidFill>
            <a:schemeClr val="bg1"/>
          </a:solidFill>
          <a:ln>
            <a:solidFill>
              <a:schemeClr val="tx1"/>
            </a:solidFill>
          </a:ln>
        </p:spPr>
        <p:txBody>
          <a:bodyPr wrap="squar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83" name="TextBox 82">
            <a:extLst>
              <a:ext uri="{FF2B5EF4-FFF2-40B4-BE49-F238E27FC236}">
                <a16:creationId xmlns:a16="http://schemas.microsoft.com/office/drawing/2014/main" id="{1195DDFC-51FA-D6DB-4B8E-E4B9CB728047}"/>
              </a:ext>
            </a:extLst>
          </p:cNvPr>
          <p:cNvSpPr txBox="1"/>
          <p:nvPr/>
        </p:nvSpPr>
        <p:spPr>
          <a:xfrm>
            <a:off x="3698997" y="4382925"/>
            <a:ext cx="4610558" cy="400110"/>
          </a:xfrm>
          <a:prstGeom prst="rect">
            <a:avLst/>
          </a:prstGeom>
          <a:noFill/>
        </p:spPr>
        <p:txBody>
          <a:bodyPr wrap="none" rtlCol="0">
            <a:spAutoFit/>
          </a:bodyPr>
          <a:lstStyle/>
          <a:p>
            <a:pPr algn="ctr"/>
            <a:r>
              <a:rPr lang="en-US" sz="2000" noProof="0" dirty="0"/>
              <a:t>Common optimization: compute by tiles</a:t>
            </a:r>
          </a:p>
        </p:txBody>
      </p:sp>
    </p:spTree>
    <p:custDataLst>
      <p:tags r:id="rId1"/>
    </p:custDataLst>
    <p:extLst>
      <p:ext uri="{BB962C8B-B14F-4D97-AF65-F5344CB8AC3E}">
        <p14:creationId xmlns:p14="http://schemas.microsoft.com/office/powerpoint/2010/main" val="38277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8" grpId="0" animBg="1"/>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95">
            <a:extLst>
              <a:ext uri="{FF2B5EF4-FFF2-40B4-BE49-F238E27FC236}">
                <a16:creationId xmlns:a16="http://schemas.microsoft.com/office/drawing/2014/main" id="{2EF9E071-1389-EE9C-0095-6F47C9FA3FA8}"/>
              </a:ext>
            </a:extLst>
          </p:cNvPr>
          <p:cNvSpPr/>
          <p:nvPr/>
        </p:nvSpPr>
        <p:spPr>
          <a:xfrm>
            <a:off x="6365700" y="4813730"/>
            <a:ext cx="1636420" cy="326688"/>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4" name="Title 3">
            <a:extLst>
              <a:ext uri="{FF2B5EF4-FFF2-40B4-BE49-F238E27FC236}">
                <a16:creationId xmlns:a16="http://schemas.microsoft.com/office/drawing/2014/main" id="{1DD9D588-D364-AF9C-5071-96FEC8DBE285}"/>
              </a:ext>
            </a:extLst>
          </p:cNvPr>
          <p:cNvSpPr>
            <a:spLocks noGrp="1"/>
          </p:cNvSpPr>
          <p:nvPr>
            <p:ph type="title"/>
          </p:nvPr>
        </p:nvSpPr>
        <p:spPr/>
        <p:txBody>
          <a:bodyPr/>
          <a:lstStyle/>
          <a:p>
            <a:r>
              <a:rPr lang="en-US" noProof="0" dirty="0"/>
              <a:t>Traversal parallelization</a:t>
            </a:r>
          </a:p>
        </p:txBody>
      </p:sp>
      <p:sp>
        <p:nvSpPr>
          <p:cNvPr id="95" name="Content Placeholder 94">
            <a:extLst>
              <a:ext uri="{FF2B5EF4-FFF2-40B4-BE49-F238E27FC236}">
                <a16:creationId xmlns:a16="http://schemas.microsoft.com/office/drawing/2014/main" id="{93C01887-40CB-9411-BE90-232F3AF5F29E}"/>
              </a:ext>
            </a:extLst>
          </p:cNvPr>
          <p:cNvSpPr>
            <a:spLocks noGrp="1"/>
          </p:cNvSpPr>
          <p:nvPr>
            <p:ph idx="1"/>
          </p:nvPr>
        </p:nvSpPr>
        <p:spPr/>
        <p:txBody>
          <a:bodyPr/>
          <a:lstStyle/>
          <a:p>
            <a:r>
              <a:rPr lang="en-US" noProof="0" dirty="0"/>
              <a:t>CPU</a:t>
            </a:r>
          </a:p>
          <a:p>
            <a:pPr lvl="1"/>
            <a:r>
              <a:rPr lang="en-US" noProof="0" dirty="0"/>
              <a:t>OpenMP</a:t>
            </a:r>
          </a:p>
          <a:p>
            <a:pPr marL="457200" lvl="1" indent="0">
              <a:buNone/>
            </a:pPr>
            <a:r>
              <a:rPr lang="en-US" noProof="0" dirty="0" err="1">
                <a:solidFill>
                  <a:srgbClr val="795E26"/>
                </a:solidFill>
                <a:latin typeface="Fira Code" panose="020B0809050000020004" pitchFamily="49" charset="0"/>
              </a:rPr>
              <a:t>omp_for_each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endParaRPr lang="en-US" noProof="0" dirty="0"/>
          </a:p>
          <a:p>
            <a:pPr lvl="1"/>
            <a:endParaRPr lang="en-US" noProof="0" dirty="0"/>
          </a:p>
          <a:p>
            <a:pPr lvl="1"/>
            <a:r>
              <a:rPr lang="en-US" noProof="0" dirty="0" err="1"/>
              <a:t>oneTBB</a:t>
            </a:r>
            <a:endParaRPr lang="en-US" noProof="0" dirty="0"/>
          </a:p>
          <a:p>
            <a:pPr marL="457200" lvl="1" indent="0">
              <a:buNone/>
            </a:pPr>
            <a:r>
              <a:rPr lang="en-US" noProof="0" dirty="0" err="1">
                <a:solidFill>
                  <a:srgbClr val="795E26"/>
                </a:solidFill>
                <a:latin typeface="Fira Code" panose="020B0809050000020004" pitchFamily="49" charset="0"/>
              </a:rPr>
              <a:t>tbb_for_each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r>
              <a:rPr lang="en-US" noProof="0" dirty="0"/>
              <a:t>	</a:t>
            </a:r>
          </a:p>
          <a:p>
            <a:endParaRPr lang="en-US" noProof="0" dirty="0"/>
          </a:p>
          <a:p>
            <a:r>
              <a:rPr lang="en-US" noProof="0" dirty="0"/>
              <a:t>GPU</a:t>
            </a:r>
          </a:p>
          <a:p>
            <a:pPr marL="457200" lvl="1" indent="0">
              <a:buNone/>
            </a:pPr>
            <a:r>
              <a:rPr lang="en-US" noProof="0" dirty="0" err="1">
                <a:solidFill>
                  <a:srgbClr val="001080"/>
                </a:solidFill>
                <a:latin typeface="Fira Code" panose="020B0809050000020004" pitchFamily="49" charset="0"/>
              </a:rPr>
              <a:t>cuda_traverser</a:t>
            </a:r>
            <a:r>
              <a:rPr lang="en-US" noProof="0" dirty="0">
                <a:latin typeface="Fira Code" panose="020B0809050000020004" pitchFamily="49" charset="0"/>
              </a:rPr>
              <a:t> = </a:t>
            </a:r>
            <a:r>
              <a:rPr lang="en-US" noProof="0" dirty="0" err="1">
                <a:solidFill>
                  <a:srgbClr val="795E26"/>
                </a:solidFill>
                <a:latin typeface="Fira Code" panose="020B0809050000020004" pitchFamily="49" charset="0"/>
              </a:rPr>
              <a:t>cuda_threads</a:t>
            </a:r>
            <a:r>
              <a:rPr lang="en-US" sz="400" noProof="0" dirty="0">
                <a:solidFill>
                  <a:srgbClr val="795E26"/>
                </a:solidFill>
                <a:latin typeface="Fira Code" panose="020B0809050000020004" pitchFamily="49" charset="0"/>
              </a:rPr>
              <a:t> </a:t>
            </a:r>
            <a:r>
              <a:rPr lang="en-US" noProof="0" dirty="0">
                <a:latin typeface="Fira Code" panose="020B0809050000020004" pitchFamily="49" charset="0"/>
              </a:rPr>
              <a:t>&lt;</a:t>
            </a:r>
            <a:r>
              <a:rPr lang="en-US" noProof="0" dirty="0">
                <a:solidFill>
                  <a:srgbClr val="FF0000"/>
                </a:solidFill>
                <a:latin typeface="Fira Code" panose="020B0809050000020004" pitchFamily="49" charset="0"/>
              </a:rPr>
              <a:t>'</a:t>
            </a:r>
            <a:r>
              <a:rPr lang="en-US" noProof="0" dirty="0" err="1">
                <a:solidFill>
                  <a:srgbClr val="FF0000"/>
                </a:solidFill>
                <a:latin typeface="Fira Code" panose="020B0809050000020004" pitchFamily="49" charset="0"/>
              </a:rPr>
              <a:t>t'</a:t>
            </a:r>
            <a:r>
              <a:rPr lang="en-US" noProof="0" dirty="0" err="1">
                <a:latin typeface="Fira Code" panose="020B0809050000020004" pitchFamily="49" charset="0"/>
              </a:rPr>
              <a:t>,</a:t>
            </a:r>
            <a:r>
              <a:rPr lang="en-US" noProof="0" dirty="0" err="1">
                <a:solidFill>
                  <a:srgbClr val="FF0000"/>
                </a:solidFill>
                <a:latin typeface="Fira Code" panose="020B0809050000020004" pitchFamily="49" charset="0"/>
              </a:rPr>
              <a:t>'b</a:t>
            </a:r>
            <a:r>
              <a:rPr lang="en-US" noProof="0" dirty="0">
                <a:solidFill>
                  <a:srgbClr val="FF0000"/>
                </a:solidFill>
                <a:latin typeface="Fira Code" panose="020B0809050000020004" pitchFamily="49" charset="0"/>
              </a:rPr>
              <a:t>'</a:t>
            </a:r>
            <a:r>
              <a:rPr lang="en-US" noProof="0" dirty="0">
                <a:latin typeface="Fira Code" panose="020B0809050000020004" pitchFamily="49" charset="0"/>
              </a:rPr>
              <a:t>&gt;</a:t>
            </a:r>
            <a:r>
              <a:rPr lang="en-US" sz="400" noProof="0" dirty="0">
                <a:latin typeface="Fira Code" panose="020B0809050000020004" pitchFamily="49" charset="0"/>
              </a:rPr>
              <a:t> </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a:t>
            </a:r>
          </a:p>
          <a:p>
            <a:pPr marL="457200" lvl="1" indent="0">
              <a:buNone/>
            </a:pPr>
            <a:r>
              <a:rPr lang="en-US" noProof="0" dirty="0" err="1">
                <a:solidFill>
                  <a:srgbClr val="001080"/>
                </a:solidFill>
                <a:latin typeface="Fira Code" panose="020B0809050000020004" pitchFamily="49" charset="0"/>
              </a:rPr>
              <a:t>cuda_traverser</a:t>
            </a:r>
            <a:r>
              <a:rPr lang="en-US" noProof="0" dirty="0" err="1">
                <a:latin typeface="Fira Code" panose="020B0809050000020004" pitchFamily="49" charset="0"/>
              </a:rPr>
              <a:t>.</a:t>
            </a:r>
            <a:r>
              <a:rPr lang="en-US" noProof="0" dirty="0" err="1">
                <a:solidFill>
                  <a:srgbClr val="795E26"/>
                </a:solidFill>
                <a:latin typeface="Fira Code" panose="020B0809050000020004" pitchFamily="49" charset="0"/>
              </a:rPr>
              <a:t>simple_run</a:t>
            </a:r>
            <a:r>
              <a:rPr lang="en-US" noProof="0" dirty="0">
                <a:latin typeface="Fira Code" panose="020B0809050000020004" pitchFamily="49" charset="0"/>
              </a:rPr>
              <a:t>(…)</a:t>
            </a:r>
            <a:endParaRPr lang="en-US" noProof="0" dirty="0">
              <a:solidFill>
                <a:srgbClr val="001080"/>
              </a:solidFill>
              <a:latin typeface="Fira Code" panose="020B0809050000020004" pitchFamily="49" charset="0"/>
            </a:endParaRPr>
          </a:p>
        </p:txBody>
      </p:sp>
      <p:sp>
        <p:nvSpPr>
          <p:cNvPr id="26" name="Date Placeholder 25">
            <a:extLst>
              <a:ext uri="{FF2B5EF4-FFF2-40B4-BE49-F238E27FC236}">
                <a16:creationId xmlns:a16="http://schemas.microsoft.com/office/drawing/2014/main" id="{FE517BC7-E591-4BF3-D827-EFF2CD30D196}"/>
              </a:ext>
            </a:extLst>
          </p:cNvPr>
          <p:cNvSpPr>
            <a:spLocks noGrp="1"/>
          </p:cNvSpPr>
          <p:nvPr>
            <p:ph type="dt" sz="half" idx="10"/>
          </p:nvPr>
        </p:nvSpPr>
        <p:spPr/>
        <p:txBody>
          <a:bodyPr/>
          <a:lstStyle/>
          <a:p>
            <a:fld id="{8BB690F1-35CC-4B34-B898-A35702C2DAD5}" type="datetime1">
              <a:rPr lang="en-US" noProof="0" smtClean="0"/>
              <a:t>9/6/2026</a:t>
            </a:fld>
            <a:endParaRPr lang="en-US" noProof="0" dirty="0"/>
          </a:p>
        </p:txBody>
      </p:sp>
      <p:sp>
        <p:nvSpPr>
          <p:cNvPr id="27" name="Slide Number Placeholder 26">
            <a:extLst>
              <a:ext uri="{FF2B5EF4-FFF2-40B4-BE49-F238E27FC236}">
                <a16:creationId xmlns:a16="http://schemas.microsoft.com/office/drawing/2014/main" id="{B740945D-1B4C-1335-1A43-458E59CE57FB}"/>
              </a:ext>
            </a:extLst>
          </p:cNvPr>
          <p:cNvSpPr>
            <a:spLocks noGrp="1"/>
          </p:cNvSpPr>
          <p:nvPr>
            <p:ph type="sldNum" sz="quarter" idx="12"/>
          </p:nvPr>
        </p:nvSpPr>
        <p:spPr/>
        <p:txBody>
          <a:bodyPr/>
          <a:lstStyle/>
          <a:p>
            <a:fld id="{DA0BB241-1B5F-4309-9407-9EEA04D9598D}" type="slidenum">
              <a:rPr lang="en-US" noProof="0" smtClean="0"/>
              <a:t>9</a:t>
            </a:fld>
            <a:endParaRPr lang="en-US" noProof="0" dirty="0"/>
          </a:p>
        </p:txBody>
      </p:sp>
    </p:spTree>
    <p:custDataLst>
      <p:tags r:id="rId1"/>
    </p:custDataLst>
    <p:extLst>
      <p:ext uri="{BB962C8B-B14F-4D97-AF65-F5344CB8AC3E}">
        <p14:creationId xmlns:p14="http://schemas.microsoft.com/office/powerpoint/2010/main" val="111761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5">
                                            <p:txEl>
                                              <p:pRg st="9" end="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391B7BB-BC4C-DBA7-B522-2D603B3BF5B1}"/>
              </a:ext>
            </a:extLst>
          </p:cNvPr>
          <p:cNvPicPr>
            <a:picLocks noChangeAspect="1"/>
          </p:cNvPicPr>
          <p:nvPr/>
        </p:nvPicPr>
        <p:blipFill>
          <a:blip r:embed="rId3"/>
          <a:stretch>
            <a:fillRect/>
          </a:stretch>
        </p:blipFill>
        <p:spPr>
          <a:xfrm>
            <a:off x="1984828" y="1291017"/>
            <a:ext cx="8222343" cy="5138960"/>
          </a:xfrm>
          <a:prstGeom prst="rect">
            <a:avLst/>
          </a:prstGeom>
        </p:spPr>
      </p:pic>
      <p:sp>
        <p:nvSpPr>
          <p:cNvPr id="2" name="Title 1">
            <a:extLst>
              <a:ext uri="{FF2B5EF4-FFF2-40B4-BE49-F238E27FC236}">
                <a16:creationId xmlns:a16="http://schemas.microsoft.com/office/drawing/2014/main" id="{19C5CD64-6486-850E-0A2A-48532AE26434}"/>
              </a:ext>
            </a:extLst>
          </p:cNvPr>
          <p:cNvSpPr>
            <a:spLocks noGrp="1"/>
          </p:cNvSpPr>
          <p:nvPr>
            <p:ph type="title"/>
          </p:nvPr>
        </p:nvSpPr>
        <p:spPr/>
        <p:txBody>
          <a:bodyPr/>
          <a:lstStyle/>
          <a:p>
            <a:r>
              <a:rPr lang="en-US" noProof="0" dirty="0"/>
              <a:t>No measurable runtime overhead</a:t>
            </a:r>
          </a:p>
        </p:txBody>
      </p:sp>
      <p:sp>
        <p:nvSpPr>
          <p:cNvPr id="3" name="Date Placeholder 2">
            <a:extLst>
              <a:ext uri="{FF2B5EF4-FFF2-40B4-BE49-F238E27FC236}">
                <a16:creationId xmlns:a16="http://schemas.microsoft.com/office/drawing/2014/main" id="{D4D7C34B-EFD9-4F73-1FB8-ECD089B16A5C}"/>
              </a:ext>
            </a:extLst>
          </p:cNvPr>
          <p:cNvSpPr>
            <a:spLocks noGrp="1"/>
          </p:cNvSpPr>
          <p:nvPr>
            <p:ph type="dt" sz="half" idx="10"/>
          </p:nvPr>
        </p:nvSpPr>
        <p:spPr/>
        <p:txBody>
          <a:bodyPr/>
          <a:lstStyle/>
          <a:p>
            <a:fld id="{1A21DD6E-5048-4D3D-823A-657D259BCC38}"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C7F7263E-02F8-A021-8D87-59864096B5E6}"/>
              </a:ext>
            </a:extLst>
          </p:cNvPr>
          <p:cNvSpPr>
            <a:spLocks noGrp="1"/>
          </p:cNvSpPr>
          <p:nvPr>
            <p:ph type="sldNum" sz="quarter" idx="12"/>
          </p:nvPr>
        </p:nvSpPr>
        <p:spPr/>
        <p:txBody>
          <a:bodyPr/>
          <a:lstStyle/>
          <a:p>
            <a:fld id="{DA0BB241-1B5F-4309-9407-9EEA04D9598D}" type="slidenum">
              <a:rPr lang="en-US" noProof="0" smtClean="0"/>
              <a:t>10</a:t>
            </a:fld>
            <a:endParaRPr lang="en-US" noProof="0" dirty="0"/>
          </a:p>
        </p:txBody>
      </p:sp>
      <p:sp>
        <p:nvSpPr>
          <p:cNvPr id="6" name="TextBox 5">
            <a:extLst>
              <a:ext uri="{FF2B5EF4-FFF2-40B4-BE49-F238E27FC236}">
                <a16:creationId xmlns:a16="http://schemas.microsoft.com/office/drawing/2014/main" id="{C48EE12D-A54F-6CFD-63D4-ED8425AA5254}"/>
              </a:ext>
            </a:extLst>
          </p:cNvPr>
          <p:cNvSpPr txBox="1"/>
          <p:nvPr/>
        </p:nvSpPr>
        <p:spPr>
          <a:xfrm>
            <a:off x="5072321" y="6378080"/>
            <a:ext cx="2047355" cy="461665"/>
          </a:xfrm>
          <a:prstGeom prst="rect">
            <a:avLst/>
          </a:prstGeom>
          <a:noFill/>
        </p:spPr>
        <p:txBody>
          <a:bodyPr wrap="none" rtlCol="0">
            <a:spAutoFit/>
          </a:bodyPr>
          <a:lstStyle/>
          <a:p>
            <a:pPr algn="ctr"/>
            <a:r>
              <a:rPr lang="en-US" sz="2400" noProof="0" dirty="0"/>
              <a:t>Serial runtime</a:t>
            </a:r>
          </a:p>
        </p:txBody>
      </p:sp>
      <p:sp>
        <p:nvSpPr>
          <p:cNvPr id="10" name="TextBox 9">
            <a:extLst>
              <a:ext uri="{FF2B5EF4-FFF2-40B4-BE49-F238E27FC236}">
                <a16:creationId xmlns:a16="http://schemas.microsoft.com/office/drawing/2014/main" id="{5C94ADD4-4CFC-E812-3B36-B6402C655DF5}"/>
              </a:ext>
            </a:extLst>
          </p:cNvPr>
          <p:cNvSpPr txBox="1"/>
          <p:nvPr/>
        </p:nvSpPr>
        <p:spPr>
          <a:xfrm>
            <a:off x="5072321" y="965353"/>
            <a:ext cx="2302302" cy="461665"/>
          </a:xfrm>
          <a:prstGeom prst="rect">
            <a:avLst/>
          </a:prstGeom>
          <a:noFill/>
        </p:spPr>
        <p:txBody>
          <a:bodyPr wrap="square" rtlCol="0" anchor="b">
            <a:spAutoFit/>
          </a:bodyPr>
          <a:lstStyle/>
          <a:p>
            <a:pPr algn="ctr"/>
            <a:r>
              <a:rPr lang="en-US" sz="2400" noProof="0" dirty="0" err="1"/>
              <a:t>PolyBench</a:t>
            </a:r>
            <a:r>
              <a:rPr lang="en-US" sz="2400" noProof="0" dirty="0"/>
              <a:t>/C</a:t>
            </a:r>
          </a:p>
        </p:txBody>
      </p:sp>
    </p:spTree>
    <p:extLst>
      <p:ext uri="{BB962C8B-B14F-4D97-AF65-F5344CB8AC3E}">
        <p14:creationId xmlns:p14="http://schemas.microsoft.com/office/powerpoint/2010/main" val="52204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84B52-9DD9-A429-012A-A49C5D8EA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04940-8761-D376-5D89-223EF87A2B46}"/>
              </a:ext>
            </a:extLst>
          </p:cNvPr>
          <p:cNvSpPr>
            <a:spLocks noGrp="1"/>
          </p:cNvSpPr>
          <p:nvPr>
            <p:ph type="title"/>
          </p:nvPr>
        </p:nvSpPr>
        <p:spPr/>
        <p:txBody>
          <a:bodyPr/>
          <a:lstStyle/>
          <a:p>
            <a:r>
              <a:rPr lang="en-US" noProof="0" dirty="0"/>
              <a:t>Parallel computation</a:t>
            </a:r>
          </a:p>
        </p:txBody>
      </p:sp>
      <p:sp>
        <p:nvSpPr>
          <p:cNvPr id="3" name="Date Placeholder 2">
            <a:extLst>
              <a:ext uri="{FF2B5EF4-FFF2-40B4-BE49-F238E27FC236}">
                <a16:creationId xmlns:a16="http://schemas.microsoft.com/office/drawing/2014/main" id="{4FFBC0BB-6204-6A99-7FFA-79E9F93FE637}"/>
              </a:ext>
            </a:extLst>
          </p:cNvPr>
          <p:cNvSpPr>
            <a:spLocks noGrp="1"/>
          </p:cNvSpPr>
          <p:nvPr>
            <p:ph type="dt" sz="half" idx="10"/>
          </p:nvPr>
        </p:nvSpPr>
        <p:spPr/>
        <p:txBody>
          <a:bodyPr/>
          <a:lstStyle/>
          <a:p>
            <a:fld id="{1A21DD6E-5048-4D3D-823A-657D259BCC38}"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B837290D-EEA3-A479-2D49-8B742B58976D}"/>
              </a:ext>
            </a:extLst>
          </p:cNvPr>
          <p:cNvSpPr>
            <a:spLocks noGrp="1"/>
          </p:cNvSpPr>
          <p:nvPr>
            <p:ph type="sldNum" sz="quarter" idx="12"/>
          </p:nvPr>
        </p:nvSpPr>
        <p:spPr/>
        <p:txBody>
          <a:bodyPr/>
          <a:lstStyle/>
          <a:p>
            <a:fld id="{DA0BB241-1B5F-4309-9407-9EEA04D9598D}" type="slidenum">
              <a:rPr lang="en-US" noProof="0" smtClean="0"/>
              <a:t>11</a:t>
            </a:fld>
            <a:endParaRPr lang="en-US" noProof="0" dirty="0"/>
          </a:p>
        </p:txBody>
      </p:sp>
      <p:sp>
        <p:nvSpPr>
          <p:cNvPr id="10" name="TextBox 9">
            <a:extLst>
              <a:ext uri="{FF2B5EF4-FFF2-40B4-BE49-F238E27FC236}">
                <a16:creationId xmlns:a16="http://schemas.microsoft.com/office/drawing/2014/main" id="{8F4ACCF0-5C1C-5E73-7132-0B2A17F92827}"/>
              </a:ext>
            </a:extLst>
          </p:cNvPr>
          <p:cNvSpPr txBox="1"/>
          <p:nvPr/>
        </p:nvSpPr>
        <p:spPr>
          <a:xfrm>
            <a:off x="3695213" y="1134007"/>
            <a:ext cx="2127171" cy="461665"/>
          </a:xfrm>
          <a:prstGeom prst="rect">
            <a:avLst/>
          </a:prstGeom>
          <a:noFill/>
        </p:spPr>
        <p:txBody>
          <a:bodyPr wrap="square" rtlCol="0" anchor="b">
            <a:spAutoFit/>
          </a:bodyPr>
          <a:lstStyle/>
          <a:p>
            <a:pPr algn="ctr"/>
            <a:r>
              <a:rPr lang="en-US" sz="2400" noProof="0" dirty="0" err="1"/>
              <a:t>PolyBench</a:t>
            </a:r>
            <a:r>
              <a:rPr lang="en-US" sz="2400" noProof="0" dirty="0"/>
              <a:t>/C</a:t>
            </a:r>
          </a:p>
        </p:txBody>
      </p:sp>
      <p:sp>
        <p:nvSpPr>
          <p:cNvPr id="11" name="Right Brace 10">
            <a:extLst>
              <a:ext uri="{FF2B5EF4-FFF2-40B4-BE49-F238E27FC236}">
                <a16:creationId xmlns:a16="http://schemas.microsoft.com/office/drawing/2014/main" id="{A39CFA25-A759-FD09-8613-F03A145A7D85}"/>
              </a:ext>
            </a:extLst>
          </p:cNvPr>
          <p:cNvSpPr/>
          <p:nvPr/>
        </p:nvSpPr>
        <p:spPr>
          <a:xfrm rot="16200000">
            <a:off x="4663077" y="-1118335"/>
            <a:ext cx="191445" cy="554068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pic>
        <p:nvPicPr>
          <p:cNvPr id="9" name="Picture 8">
            <a:extLst>
              <a:ext uri="{FF2B5EF4-FFF2-40B4-BE49-F238E27FC236}">
                <a16:creationId xmlns:a16="http://schemas.microsoft.com/office/drawing/2014/main" id="{D61DA4FA-2AF0-0F8F-FB51-4B45F895D17D}"/>
              </a:ext>
            </a:extLst>
          </p:cNvPr>
          <p:cNvPicPr>
            <a:picLocks noChangeAspect="1"/>
          </p:cNvPicPr>
          <p:nvPr/>
        </p:nvPicPr>
        <p:blipFill>
          <a:blip r:embed="rId3"/>
          <a:stretch>
            <a:fillRect/>
          </a:stretch>
        </p:blipFill>
        <p:spPr>
          <a:xfrm>
            <a:off x="1377582" y="1747731"/>
            <a:ext cx="2599332" cy="4417175"/>
          </a:xfrm>
          <a:prstGeom prst="rect">
            <a:avLst/>
          </a:prstGeom>
        </p:spPr>
      </p:pic>
      <p:pic>
        <p:nvPicPr>
          <p:cNvPr id="12" name="Picture 11">
            <a:extLst>
              <a:ext uri="{FF2B5EF4-FFF2-40B4-BE49-F238E27FC236}">
                <a16:creationId xmlns:a16="http://schemas.microsoft.com/office/drawing/2014/main" id="{D6CEF4D3-5BA9-BD97-BEB4-6E66A3F6E546}"/>
              </a:ext>
            </a:extLst>
          </p:cNvPr>
          <p:cNvPicPr>
            <a:picLocks noChangeAspect="1"/>
          </p:cNvPicPr>
          <p:nvPr/>
        </p:nvPicPr>
        <p:blipFill>
          <a:blip r:embed="rId4"/>
          <a:stretch>
            <a:fillRect/>
          </a:stretch>
        </p:blipFill>
        <p:spPr>
          <a:xfrm>
            <a:off x="4929810" y="1747731"/>
            <a:ext cx="2599332" cy="4417173"/>
          </a:xfrm>
          <a:prstGeom prst="rect">
            <a:avLst/>
          </a:prstGeom>
        </p:spPr>
      </p:pic>
      <p:pic>
        <p:nvPicPr>
          <p:cNvPr id="13" name="Picture 12">
            <a:extLst>
              <a:ext uri="{FF2B5EF4-FFF2-40B4-BE49-F238E27FC236}">
                <a16:creationId xmlns:a16="http://schemas.microsoft.com/office/drawing/2014/main" id="{1929BE2B-B750-862E-E7F8-E5055850943F}"/>
              </a:ext>
            </a:extLst>
          </p:cNvPr>
          <p:cNvPicPr>
            <a:picLocks noChangeAspect="1"/>
          </p:cNvPicPr>
          <p:nvPr/>
        </p:nvPicPr>
        <p:blipFill>
          <a:blip r:embed="rId5"/>
          <a:stretch>
            <a:fillRect/>
          </a:stretch>
        </p:blipFill>
        <p:spPr>
          <a:xfrm>
            <a:off x="8215088" y="1751360"/>
            <a:ext cx="2599330" cy="4417170"/>
          </a:xfrm>
          <a:prstGeom prst="rect">
            <a:avLst/>
          </a:prstGeom>
        </p:spPr>
      </p:pic>
      <p:sp>
        <p:nvSpPr>
          <p:cNvPr id="14" name="TextBox 13">
            <a:extLst>
              <a:ext uri="{FF2B5EF4-FFF2-40B4-BE49-F238E27FC236}">
                <a16:creationId xmlns:a16="http://schemas.microsoft.com/office/drawing/2014/main" id="{F6688653-755E-3CE2-5C89-C6F464C4D86D}"/>
              </a:ext>
            </a:extLst>
          </p:cNvPr>
          <p:cNvSpPr txBox="1"/>
          <p:nvPr/>
        </p:nvSpPr>
        <p:spPr>
          <a:xfrm>
            <a:off x="2314048" y="6125517"/>
            <a:ext cx="1337226" cy="461665"/>
          </a:xfrm>
          <a:prstGeom prst="rect">
            <a:avLst/>
          </a:prstGeom>
          <a:noFill/>
        </p:spPr>
        <p:txBody>
          <a:bodyPr wrap="none" rtlCol="0">
            <a:spAutoFit/>
          </a:bodyPr>
          <a:lstStyle/>
          <a:p>
            <a:pPr algn="ctr"/>
            <a:r>
              <a:rPr lang="en-US" sz="2400" noProof="0" dirty="0"/>
              <a:t>OpenMP</a:t>
            </a:r>
          </a:p>
        </p:txBody>
      </p:sp>
      <p:sp>
        <p:nvSpPr>
          <p:cNvPr id="17" name="TextBox 16">
            <a:extLst>
              <a:ext uri="{FF2B5EF4-FFF2-40B4-BE49-F238E27FC236}">
                <a16:creationId xmlns:a16="http://schemas.microsoft.com/office/drawing/2014/main" id="{667B5F2B-0CBE-6E78-3B10-333B35B0B297}"/>
              </a:ext>
            </a:extLst>
          </p:cNvPr>
          <p:cNvSpPr txBox="1"/>
          <p:nvPr/>
        </p:nvSpPr>
        <p:spPr>
          <a:xfrm>
            <a:off x="6216107" y="6077247"/>
            <a:ext cx="704039" cy="461665"/>
          </a:xfrm>
          <a:prstGeom prst="rect">
            <a:avLst/>
          </a:prstGeom>
          <a:noFill/>
        </p:spPr>
        <p:txBody>
          <a:bodyPr wrap="none" rtlCol="0">
            <a:spAutoFit/>
          </a:bodyPr>
          <a:lstStyle/>
          <a:p>
            <a:pPr algn="ctr"/>
            <a:r>
              <a:rPr lang="en-US" sz="2400" noProof="0" dirty="0"/>
              <a:t>TBB</a:t>
            </a:r>
          </a:p>
        </p:txBody>
      </p:sp>
      <p:sp>
        <p:nvSpPr>
          <p:cNvPr id="19" name="TextBox 18">
            <a:extLst>
              <a:ext uri="{FF2B5EF4-FFF2-40B4-BE49-F238E27FC236}">
                <a16:creationId xmlns:a16="http://schemas.microsoft.com/office/drawing/2014/main" id="{20442BAB-9C7C-A7E7-E003-E192B24A9990}"/>
              </a:ext>
            </a:extLst>
          </p:cNvPr>
          <p:cNvSpPr txBox="1"/>
          <p:nvPr/>
        </p:nvSpPr>
        <p:spPr>
          <a:xfrm>
            <a:off x="9484980" y="6125516"/>
            <a:ext cx="994439" cy="461665"/>
          </a:xfrm>
          <a:prstGeom prst="rect">
            <a:avLst/>
          </a:prstGeom>
          <a:noFill/>
        </p:spPr>
        <p:txBody>
          <a:bodyPr wrap="none" rtlCol="0">
            <a:spAutoFit/>
          </a:bodyPr>
          <a:lstStyle/>
          <a:p>
            <a:pPr algn="ctr"/>
            <a:r>
              <a:rPr lang="en-US" sz="2400" noProof="0" dirty="0"/>
              <a:t>CUDA</a:t>
            </a:r>
          </a:p>
        </p:txBody>
      </p:sp>
      <p:sp>
        <p:nvSpPr>
          <p:cNvPr id="15" name="TextBox 14">
            <a:extLst>
              <a:ext uri="{FF2B5EF4-FFF2-40B4-BE49-F238E27FC236}">
                <a16:creationId xmlns:a16="http://schemas.microsoft.com/office/drawing/2014/main" id="{2E799F0C-B061-4025-3DCB-D375FEAC5ADD}"/>
              </a:ext>
            </a:extLst>
          </p:cNvPr>
          <p:cNvSpPr txBox="1"/>
          <p:nvPr/>
        </p:nvSpPr>
        <p:spPr>
          <a:xfrm>
            <a:off x="8365923" y="1092101"/>
            <a:ext cx="2721384" cy="461665"/>
          </a:xfrm>
          <a:prstGeom prst="rect">
            <a:avLst/>
          </a:prstGeom>
          <a:noFill/>
        </p:spPr>
        <p:txBody>
          <a:bodyPr wrap="square" rtlCol="0" anchor="b">
            <a:spAutoFit/>
          </a:bodyPr>
          <a:lstStyle/>
          <a:p>
            <a:pPr algn="ctr"/>
            <a:r>
              <a:rPr lang="en-US" sz="2400" noProof="0" dirty="0" err="1"/>
              <a:t>PolyBench</a:t>
            </a:r>
            <a:r>
              <a:rPr lang="en-US" sz="2400" noProof="0" dirty="0"/>
              <a:t>/GPU</a:t>
            </a:r>
          </a:p>
        </p:txBody>
      </p:sp>
    </p:spTree>
    <p:extLst>
      <p:ext uri="{BB962C8B-B14F-4D97-AF65-F5344CB8AC3E}">
        <p14:creationId xmlns:p14="http://schemas.microsoft.com/office/powerpoint/2010/main" val="471930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nvPicPr>
        <p:blipFill>
          <a:blip r:embed="rId4"/>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D26600D9-4B00-4F31-3A6D-E2596CFC7619}"/>
              </a:ext>
            </a:extLst>
          </p:cNvPr>
          <p:cNvSpPr/>
          <p:nvPr/>
        </p:nvSpPr>
        <p:spPr>
          <a:xfrm>
            <a:off x="8417978" y="3220336"/>
            <a:ext cx="1433421" cy="433747"/>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1370E709-4729-0F29-3C2F-A7DF2A616475}"/>
              </a:ext>
            </a:extLst>
          </p:cNvPr>
          <p:cNvSpPr/>
          <p:nvPr/>
        </p:nvSpPr>
        <p:spPr>
          <a:xfrm>
            <a:off x="8447434" y="4587549"/>
            <a:ext cx="1433421" cy="906813"/>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nvPr>
        </p:nvSpPr>
        <p:spPr/>
        <p:txBody>
          <a:bodyPr/>
          <a:lstStyle/>
          <a:p>
            <a:fld id="{426C01F6-8E80-4F75-81D6-E35CABA351AD}"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nvPr>
        </p:nvSpPr>
        <p:spPr/>
        <p:txBody>
          <a:bodyPr/>
          <a:lstStyle/>
          <a:p>
            <a:fld id="{DA0BB241-1B5F-4309-9407-9EEA04D9598D}" type="slidenum">
              <a:rPr lang="en-US" noProof="0" smtClean="0"/>
              <a:t>12</a:t>
            </a:fld>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727AB4C-67A7-AAC7-2305-D1A2D7D919D3}"/>
              </a:ext>
            </a:extLst>
          </p:cNvPr>
          <p:cNvSpPr txBox="1"/>
          <p:nvPr/>
        </p:nvSpPr>
        <p:spPr>
          <a:xfrm>
            <a:off x="9053524" y="5523148"/>
            <a:ext cx="2882718" cy="578882"/>
          </a:xfrm>
          <a:prstGeom prst="roundRect">
            <a:avLst/>
          </a:prstGeom>
          <a:gradFill>
            <a:gsLst>
              <a:gs pos="0">
                <a:srgbClr val="AFD8F7"/>
              </a:gs>
              <a:gs pos="50000">
                <a:srgbClr val="A2CDEE"/>
              </a:gs>
              <a:gs pos="100000">
                <a:srgbClr val="8CC8F0"/>
              </a:gs>
            </a:gsLst>
          </a:gradFill>
          <a:ln w="19050">
            <a:solidFill>
              <a:srgbClr val="0F9ED5"/>
            </a:solidFill>
          </a:ln>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dirty="0">
                <a:solidFill>
                  <a:schemeClr val="tx1"/>
                </a:solidFill>
              </a:rPr>
              <a:t>Easier indexation</a:t>
            </a:r>
          </a:p>
        </p:txBody>
      </p:sp>
      <p:cxnSp>
        <p:nvCxnSpPr>
          <p:cNvPr id="21" name="Straight Connector 20">
            <a:extLst>
              <a:ext uri="{FF2B5EF4-FFF2-40B4-BE49-F238E27FC236}">
                <a16:creationId xmlns:a16="http://schemas.microsoft.com/office/drawing/2014/main" id="{81DDF38D-7C2E-B78B-A18E-D27404334146}"/>
              </a:ext>
            </a:extLst>
          </p:cNvPr>
          <p:cNvCxnSpPr>
            <a:cxnSpLocks/>
            <a:stCxn id="14" idx="5"/>
            <a:endCxn id="18" idx="0"/>
          </p:cNvCxnSpPr>
          <p:nvPr/>
        </p:nvCxnSpPr>
        <p:spPr>
          <a:xfrm>
            <a:off x="9670935" y="5361562"/>
            <a:ext cx="823948" cy="161586"/>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E9B890DD-3E8E-4986-8252-8F93582597DE}"/>
              </a:ext>
            </a:extLst>
          </p:cNvPr>
          <p:cNvSpPr txBox="1"/>
          <p:nvPr/>
        </p:nvSpPr>
        <p:spPr>
          <a:xfrm>
            <a:off x="2886552" y="5523148"/>
            <a:ext cx="425052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Less complex control flow</a:t>
            </a:r>
          </a:p>
        </p:txBody>
      </p:sp>
      <p:cxnSp>
        <p:nvCxnSpPr>
          <p:cNvPr id="30" name="Straight Connector 29">
            <a:extLst>
              <a:ext uri="{FF2B5EF4-FFF2-40B4-BE49-F238E27FC236}">
                <a16:creationId xmlns:a16="http://schemas.microsoft.com/office/drawing/2014/main" id="{5B97DB35-61F2-17C7-4287-77006A04D535}"/>
              </a:ext>
            </a:extLst>
          </p:cNvPr>
          <p:cNvCxnSpPr>
            <a:stCxn id="23" idx="3"/>
            <a:endCxn id="10" idx="3"/>
          </p:cNvCxnSpPr>
          <p:nvPr/>
        </p:nvCxnSpPr>
        <p:spPr>
          <a:xfrm flipV="1">
            <a:off x="7137073" y="3590562"/>
            <a:ext cx="1490825" cy="2222027"/>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
        <p:nvSpPr>
          <p:cNvPr id="31" name="TextBox 30">
            <a:extLst>
              <a:ext uri="{FF2B5EF4-FFF2-40B4-BE49-F238E27FC236}">
                <a16:creationId xmlns:a16="http://schemas.microsoft.com/office/drawing/2014/main" id="{CF6AD224-7830-5869-6729-C63C5D8E0FFF}"/>
              </a:ext>
            </a:extLst>
          </p:cNvPr>
          <p:cNvSpPr txBox="1"/>
          <p:nvPr/>
        </p:nvSpPr>
        <p:spPr>
          <a:xfrm>
            <a:off x="3784386" y="6214865"/>
            <a:ext cx="2104438"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800" dirty="0"/>
              <a:t>+ Flexibility</a:t>
            </a:r>
          </a:p>
        </p:txBody>
      </p:sp>
      <p:sp>
        <p:nvSpPr>
          <p:cNvPr id="32" name="TextBox 31">
            <a:extLst>
              <a:ext uri="{FF2B5EF4-FFF2-40B4-BE49-F238E27FC236}">
                <a16:creationId xmlns:a16="http://schemas.microsoft.com/office/drawing/2014/main" id="{77520BB6-B4CA-E0DE-29CF-16475D0921A2}"/>
              </a:ext>
            </a:extLst>
          </p:cNvPr>
          <p:cNvSpPr txBox="1"/>
          <p:nvPr/>
        </p:nvSpPr>
        <p:spPr>
          <a:xfrm>
            <a:off x="6303178" y="6221520"/>
            <a:ext cx="221114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 Type safety</a:t>
            </a:r>
          </a:p>
        </p:txBody>
      </p:sp>
      <p:cxnSp>
        <p:nvCxnSpPr>
          <p:cNvPr id="47" name="Straight Connector 46">
            <a:extLst>
              <a:ext uri="{FF2B5EF4-FFF2-40B4-BE49-F238E27FC236}">
                <a16:creationId xmlns:a16="http://schemas.microsoft.com/office/drawing/2014/main" id="{C1EB5605-1755-DC29-A293-2C533F0575EC}"/>
              </a:ext>
            </a:extLst>
          </p:cNvPr>
          <p:cNvCxnSpPr/>
          <p:nvPr/>
        </p:nvCxnSpPr>
        <p:spPr>
          <a:xfrm>
            <a:off x="381898" y="5404364"/>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F9331A32-DD4A-A8DD-55FF-2595D30008DA}"/>
              </a:ext>
            </a:extLst>
          </p:cNvPr>
          <p:cNvCxnSpPr/>
          <p:nvPr/>
        </p:nvCxnSpPr>
        <p:spPr>
          <a:xfrm>
            <a:off x="443756" y="4966539"/>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CAC765E-E823-B48A-C7B1-7D1D771C0FF1}"/>
              </a:ext>
            </a:extLst>
          </p:cNvPr>
          <p:cNvCxnSpPr>
            <a:cxnSpLocks/>
          </p:cNvCxnSpPr>
          <p:nvPr/>
        </p:nvCxnSpPr>
        <p:spPr>
          <a:xfrm>
            <a:off x="411732" y="3604140"/>
            <a:ext cx="2872012" cy="0"/>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318546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14" grpId="0" animBg="1"/>
      <p:bldP spid="7" grpId="0" animBg="1"/>
      <p:bldP spid="18" grpId="0" animBg="1"/>
      <p:bldP spid="23" grpId="0" animBg="1"/>
      <p:bldP spid="31" grpId="0" animBg="1"/>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nvPr>
        </p:nvSpPr>
        <p:spPr/>
        <p:txBody>
          <a:bodyPr/>
          <a:lstStyle/>
          <a:p>
            <a:fld id="{B7D82220-9CE2-4BC9-B6C9-7A7531EEF273}" type="datetime1">
              <a:rPr lang="en-US" noProof="0" smtClean="0"/>
              <a:t>9/6/2026</a:t>
            </a:fld>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nvPr>
        </p:nvSpPr>
        <p:spPr/>
        <p:txBody>
          <a:bodyPr/>
          <a:lstStyle/>
          <a:p>
            <a:fld id="{DA0BB241-1B5F-4309-9407-9EEA04D9598D}" type="slidenum">
              <a:rPr lang="en-US" noProof="0" smtClean="0"/>
              <a:t>13</a:t>
            </a:fld>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8" name="Arrow: Left-Right 7">
            <a:extLst>
              <a:ext uri="{FF2B5EF4-FFF2-40B4-BE49-F238E27FC236}">
                <a16:creationId xmlns:a16="http://schemas.microsoft.com/office/drawing/2014/main" id="{87FD7390-E206-0701-B169-9DA704B413EE}"/>
              </a:ext>
            </a:extLst>
          </p:cNvPr>
          <p:cNvSpPr/>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sp>
        <p:nvSpPr>
          <p:cNvPr id="11" name="Right Brace 10">
            <a:extLst>
              <a:ext uri="{FF2B5EF4-FFF2-40B4-BE49-F238E27FC236}">
                <a16:creationId xmlns:a16="http://schemas.microsoft.com/office/drawing/2014/main" id="{0E210CDB-EAA6-0C9F-CAB9-B16CAFD1D4A6}"/>
              </a:ext>
            </a:extLst>
          </p:cNvPr>
          <p:cNvSpPr/>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3" name="TextBox 12">
            <a:extLst>
              <a:ext uri="{FF2B5EF4-FFF2-40B4-BE49-F238E27FC236}">
                <a16:creationId xmlns:a16="http://schemas.microsoft.com/office/drawing/2014/main" id="{41D587DC-555E-F024-2296-A3954C42F0E6}"/>
              </a:ext>
            </a:extLst>
          </p:cNvPr>
          <p:cNvSpPr txBox="1"/>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
        <p:nvSpPr>
          <p:cNvPr id="12" name="TextBox 11">
            <a:extLst>
              <a:ext uri="{FF2B5EF4-FFF2-40B4-BE49-F238E27FC236}">
                <a16:creationId xmlns:a16="http://schemas.microsoft.com/office/drawing/2014/main" id="{2BC01B5D-4669-EF57-53C5-76363EAAF56F}"/>
              </a:ext>
            </a:extLst>
          </p:cNvPr>
          <p:cNvSpPr txBox="1"/>
          <p:nvPr/>
        </p:nvSpPr>
        <p:spPr>
          <a:xfrm>
            <a:off x="-106641" y="1765036"/>
            <a:ext cx="2824662" cy="461665"/>
          </a:xfrm>
          <a:prstGeom prst="rect">
            <a:avLst/>
          </a:prstGeom>
          <a:noFill/>
        </p:spPr>
        <p:txBody>
          <a:bodyPr wrap="square">
            <a:spAutoFit/>
          </a:bodyPr>
          <a:lstStyle/>
          <a:p>
            <a:pPr algn="ctr"/>
            <a:r>
              <a:rPr lang="en-US" sz="2400" noProof="0" dirty="0">
                <a:latin typeface="Fira Code" panose="020B0809050000020004" pitchFamily="49" charset="0"/>
                <a:ea typeface="Fira Code" panose="020B0809050000020004" pitchFamily="49" charset="0"/>
                <a:cs typeface="Fira Code" panose="020B0809050000020004" pitchFamily="49" charset="0"/>
              </a:rPr>
              <a:t>#if</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CHOICE</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1</a:t>
            </a:r>
          </a:p>
        </p:txBody>
      </p:sp>
      <p:sp>
        <p:nvSpPr>
          <p:cNvPr id="24" name="TextBox 23">
            <a:extLst>
              <a:ext uri="{FF2B5EF4-FFF2-40B4-BE49-F238E27FC236}">
                <a16:creationId xmlns:a16="http://schemas.microsoft.com/office/drawing/2014/main" id="{77BB89F9-EDA8-A4C1-2332-B3536B1F2FB3}"/>
              </a:ext>
            </a:extLst>
          </p:cNvPr>
          <p:cNvSpPr txBox="1"/>
          <p:nvPr/>
        </p:nvSpPr>
        <p:spPr>
          <a:xfrm>
            <a:off x="78828" y="2660980"/>
            <a:ext cx="2446546" cy="461665"/>
          </a:xfrm>
          <a:prstGeom prst="rect">
            <a:avLst/>
          </a:prstGeom>
          <a:noFill/>
        </p:spPr>
        <p:txBody>
          <a:bodyPr wrap="square">
            <a:spAutoFit/>
          </a:bodyPr>
          <a:lstStyle/>
          <a:p>
            <a:pPr algn="ctr"/>
            <a:r>
              <a:rPr lang="en-US" sz="2400" noProof="0" dirty="0"/>
              <a:t>I</a:t>
            </a:r>
            <a:r>
              <a:rPr lang="en-US" sz="1000" noProof="0" dirty="0"/>
              <a:t> </a:t>
            </a:r>
            <a:r>
              <a:rPr lang="en-US" sz="2400" noProof="0" dirty="0"/>
              <a:t>+=</a:t>
            </a:r>
            <a:r>
              <a:rPr lang="en-US" sz="1000" noProof="0" dirty="0"/>
              <a:t> </a:t>
            </a:r>
            <a:r>
              <a:rPr lang="en-US" sz="2400" noProof="0" dirty="0"/>
              <a:t>TILE_SIZE</a:t>
            </a: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Tree>
    <p:custDataLst>
      <p:tags r:id="rId1"/>
    </p:custDataLst>
    <p:extLst>
      <p:ext uri="{BB962C8B-B14F-4D97-AF65-F5344CB8AC3E}">
        <p14:creationId xmlns:p14="http://schemas.microsoft.com/office/powerpoint/2010/main" val="18933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 grpId="0" animBg="1"/>
      <p:bldP spid="6" grpId="0" animBg="1"/>
      <p:bldP spid="8" grpId="0" animBg="1"/>
      <p:bldP spid="11" grpId="0" animBg="1"/>
      <p:bldP spid="13" grpId="0"/>
      <p:bldP spid="10" grpId="0" animBg="1"/>
      <p:bldP spid="14" grpId="0" animBg="1"/>
      <p:bldP spid="40" grpId="0" animBg="1"/>
      <p:bldP spid="12" grpId="0"/>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8C6C-35FD-2FEA-9242-821C217B844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7FB453-EC7A-D91F-E119-90F829C062FE}"/>
              </a:ext>
            </a:extLst>
          </p:cNvPr>
          <p:cNvSpPr>
            <a:spLocks noGrp="1"/>
          </p:cNvSpPr>
          <p:nvPr>
            <p:ph type="title"/>
          </p:nvPr>
        </p:nvSpPr>
        <p:spPr/>
        <p:txBody>
          <a:bodyPr/>
          <a:lstStyle/>
          <a:p>
            <a:r>
              <a:rPr lang="en-US" noProof="0" dirty="0"/>
              <a:t>Autotuning</a:t>
            </a:r>
          </a:p>
        </p:txBody>
      </p:sp>
      <p:pic>
        <p:nvPicPr>
          <p:cNvPr id="9" name="Picture 8">
            <a:extLst>
              <a:ext uri="{FF2B5EF4-FFF2-40B4-BE49-F238E27FC236}">
                <a16:creationId xmlns:a16="http://schemas.microsoft.com/office/drawing/2014/main" id="{BA534CF3-92A6-3AD8-EC33-C0E5B76AC7F1}"/>
              </a:ext>
            </a:extLst>
          </p:cNvPr>
          <p:cNvPicPr>
            <a:picLocks noChangeAspect="1"/>
          </p:cNvPicPr>
          <p:nvPr/>
        </p:nvPicPr>
        <p:blipFill>
          <a:blip r:embed="rId4">
            <a:extLst>
              <a:ext uri="{28A0092B-C50C-407E-A947-70E740481C1C}">
                <a14:useLocalDpi xmlns:a14="http://schemas.microsoft.com/office/drawing/2010/main" val="0"/>
              </a:ext>
            </a:extLst>
          </a:blip>
          <a:srcRect l="9936" t="1446" r="3272" b="70120"/>
          <a:stretch>
            <a:fillRect/>
          </a:stretch>
        </p:blipFill>
        <p:spPr>
          <a:xfrm>
            <a:off x="2499553" y="3948155"/>
            <a:ext cx="6637132" cy="3075322"/>
          </a:xfrm>
          <a:prstGeom prst="rect">
            <a:avLst/>
          </a:prstGeom>
        </p:spPr>
      </p:pic>
      <p:pic>
        <p:nvPicPr>
          <p:cNvPr id="17" name="Picture 16" descr="OpenTuner - An extensible framework for program autotuning">
            <a:extLst>
              <a:ext uri="{FF2B5EF4-FFF2-40B4-BE49-F238E27FC236}">
                <a16:creationId xmlns:a16="http://schemas.microsoft.com/office/drawing/2014/main" id="{FE3C7D25-A0C7-30BA-2165-6EA2D87D81BB}"/>
              </a:ext>
            </a:extLst>
          </p:cNvPr>
          <p:cNvPicPr>
            <a:picLocks noChangeAspect="1"/>
          </p:cNvPicPr>
          <p:nvPr/>
        </p:nvPicPr>
        <p:blipFill>
          <a:blip r:embed="rId5"/>
          <a:stretch>
            <a:fillRect/>
          </a:stretch>
        </p:blipFill>
        <p:spPr>
          <a:xfrm>
            <a:off x="9640027" y="5107245"/>
            <a:ext cx="2455817" cy="842437"/>
          </a:xfrm>
          <a:prstGeom prst="rect">
            <a:avLst/>
          </a:prstGeom>
        </p:spPr>
      </p:pic>
      <p:pic>
        <p:nvPicPr>
          <p:cNvPr id="18" name="Picture 17" descr="Optuna: A hyperparameter optimization framework — Optuna 4.9.0 documentation">
            <a:extLst>
              <a:ext uri="{FF2B5EF4-FFF2-40B4-BE49-F238E27FC236}">
                <a16:creationId xmlns:a16="http://schemas.microsoft.com/office/drawing/2014/main" id="{276F9629-B02B-A507-E094-FF65209AF28B}"/>
              </a:ext>
            </a:extLst>
          </p:cNvPr>
          <p:cNvPicPr>
            <a:picLocks noChangeAspect="1"/>
          </p:cNvPicPr>
          <p:nvPr/>
        </p:nvPicPr>
        <p:blipFill>
          <a:blip r:embed="rId6"/>
          <a:stretch>
            <a:fillRect/>
          </a:stretch>
        </p:blipFill>
        <p:spPr>
          <a:xfrm>
            <a:off x="9640027" y="4293832"/>
            <a:ext cx="2455817" cy="515722"/>
          </a:xfrm>
          <a:prstGeom prst="rect">
            <a:avLst/>
          </a:prstGeom>
        </p:spPr>
      </p:pic>
      <p:pic>
        <p:nvPicPr>
          <p:cNvPr id="19" name="Picture 18" descr="Auto-Tuning Framework (ATF) · GitHub">
            <a:extLst>
              <a:ext uri="{FF2B5EF4-FFF2-40B4-BE49-F238E27FC236}">
                <a16:creationId xmlns:a16="http://schemas.microsoft.com/office/drawing/2014/main" id="{C5F993FA-C874-B590-DD09-C0C58ACA9323}"/>
              </a:ext>
            </a:extLst>
          </p:cNvPr>
          <p:cNvPicPr>
            <a:picLocks noChangeAspect="1"/>
          </p:cNvPicPr>
          <p:nvPr/>
        </p:nvPicPr>
        <p:blipFill>
          <a:blip r:embed="rId7"/>
          <a:srcRect/>
          <a:stretch>
            <a:fillRect/>
          </a:stretch>
        </p:blipFill>
        <p:spPr>
          <a:xfrm>
            <a:off x="10048422" y="2962990"/>
            <a:ext cx="1099238" cy="1099238"/>
          </a:xfrm>
          <a:prstGeom prst="rect">
            <a:avLst/>
          </a:prstGeom>
        </p:spPr>
      </p:pic>
      <p:sp>
        <p:nvSpPr>
          <p:cNvPr id="2" name="Date Placeholder 1">
            <a:extLst>
              <a:ext uri="{FF2B5EF4-FFF2-40B4-BE49-F238E27FC236}">
                <a16:creationId xmlns:a16="http://schemas.microsoft.com/office/drawing/2014/main" id="{28B895D9-C1B5-7C62-7214-2B741688C85D}"/>
              </a:ext>
            </a:extLst>
          </p:cNvPr>
          <p:cNvSpPr>
            <a:spLocks noGrp="1"/>
          </p:cNvSpPr>
          <p:nvPr>
            <p:ph type="dt" sz="half" idx="10"/>
          </p:nvPr>
        </p:nvSpPr>
        <p:spPr/>
        <p:txBody>
          <a:bodyPr/>
          <a:lstStyle/>
          <a:p>
            <a:fld id="{B7D82220-9CE2-4BC9-B6C9-7A7531EEF273}" type="datetime1">
              <a:rPr lang="en-US" noProof="0" smtClean="0"/>
              <a:t>9/6/2026</a:t>
            </a:fld>
            <a:endParaRPr lang="en-US" noProof="0" dirty="0"/>
          </a:p>
        </p:txBody>
      </p:sp>
      <p:sp>
        <p:nvSpPr>
          <p:cNvPr id="3" name="Slide Number Placeholder 2">
            <a:extLst>
              <a:ext uri="{FF2B5EF4-FFF2-40B4-BE49-F238E27FC236}">
                <a16:creationId xmlns:a16="http://schemas.microsoft.com/office/drawing/2014/main" id="{B3EF265E-E404-43CC-D6E4-8A6E2C58BC68}"/>
              </a:ext>
            </a:extLst>
          </p:cNvPr>
          <p:cNvSpPr>
            <a:spLocks noGrp="1"/>
          </p:cNvSpPr>
          <p:nvPr>
            <p:ph type="sldNum" sz="quarter" idx="12"/>
          </p:nvPr>
        </p:nvSpPr>
        <p:spPr/>
        <p:txBody>
          <a:bodyPr/>
          <a:lstStyle/>
          <a:p>
            <a:fld id="{DA0BB241-1B5F-4309-9407-9EEA04D9598D}" type="slidenum">
              <a:rPr lang="en-US" noProof="0" smtClean="0"/>
              <a:t>14</a:t>
            </a:fld>
            <a:endParaRPr lang="en-US" noProof="0" dirty="0"/>
          </a:p>
        </p:txBody>
      </p:sp>
      <p:cxnSp>
        <p:nvCxnSpPr>
          <p:cNvPr id="21" name="Straight Arrow Connector 20">
            <a:extLst>
              <a:ext uri="{FF2B5EF4-FFF2-40B4-BE49-F238E27FC236}">
                <a16:creationId xmlns:a16="http://schemas.microsoft.com/office/drawing/2014/main" id="{080E3B3C-6DC3-23E1-F613-5CB890D9FCC4}"/>
              </a:ext>
            </a:extLst>
          </p:cNvPr>
          <p:cNvCxnSpPr>
            <a:cxnSpLocks/>
            <a:endCxn id="19" idx="1"/>
          </p:cNvCxnSpPr>
          <p:nvPr/>
        </p:nvCxnSpPr>
        <p:spPr>
          <a:xfrm flipV="1">
            <a:off x="8831481" y="3512609"/>
            <a:ext cx="1216941" cy="9935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A3FB999-0F83-3972-3202-236033B9D716}"/>
              </a:ext>
            </a:extLst>
          </p:cNvPr>
          <p:cNvCxnSpPr>
            <a:cxnSpLocks/>
            <a:endCxn id="18" idx="1"/>
          </p:cNvCxnSpPr>
          <p:nvPr/>
        </p:nvCxnSpPr>
        <p:spPr>
          <a:xfrm>
            <a:off x="8831481" y="4534677"/>
            <a:ext cx="808546" cy="170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AB5D227-F743-8DE9-B931-2D340212DED2}"/>
              </a:ext>
            </a:extLst>
          </p:cNvPr>
          <p:cNvCxnSpPr>
            <a:cxnSpLocks/>
            <a:endCxn id="17" idx="1"/>
          </p:cNvCxnSpPr>
          <p:nvPr/>
        </p:nvCxnSpPr>
        <p:spPr>
          <a:xfrm>
            <a:off x="8831481" y="4551693"/>
            <a:ext cx="808546" cy="97677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Arrow: Down 14">
            <a:extLst>
              <a:ext uri="{FF2B5EF4-FFF2-40B4-BE49-F238E27FC236}">
                <a16:creationId xmlns:a16="http://schemas.microsoft.com/office/drawing/2014/main" id="{71F4EF2F-6E0C-390A-B96B-78A98DF8198D}"/>
              </a:ext>
            </a:extLst>
          </p:cNvPr>
          <p:cNvSpPr/>
          <p:nvPr/>
        </p:nvSpPr>
        <p:spPr>
          <a:xfrm>
            <a:off x="5546381" y="3265015"/>
            <a:ext cx="1099238" cy="61080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21D9C4A4-9547-55DA-3089-374CEE7F784A}"/>
              </a:ext>
            </a:extLst>
          </p:cNvPr>
          <p:cNvSpPr txBox="1"/>
          <p:nvPr/>
        </p:nvSpPr>
        <p:spPr>
          <a:xfrm>
            <a:off x="229487" y="4164317"/>
            <a:ext cx="3157188"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Parameters specified once</a:t>
            </a:r>
          </a:p>
        </p:txBody>
      </p:sp>
      <p:cxnSp>
        <p:nvCxnSpPr>
          <p:cNvPr id="27" name="Straight Connector 26">
            <a:extLst>
              <a:ext uri="{FF2B5EF4-FFF2-40B4-BE49-F238E27FC236}">
                <a16:creationId xmlns:a16="http://schemas.microsoft.com/office/drawing/2014/main" id="{D3BA2628-9E75-68E1-5FDB-1B2501B5D07A}"/>
              </a:ext>
            </a:extLst>
          </p:cNvPr>
          <p:cNvCxnSpPr>
            <a:endCxn id="20" idx="2"/>
          </p:cNvCxnSpPr>
          <p:nvPr/>
        </p:nvCxnSpPr>
        <p:spPr>
          <a:xfrm flipH="1" flipV="1">
            <a:off x="1808081" y="4606991"/>
            <a:ext cx="81886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8" name="Right Brace 7">
            <a:extLst>
              <a:ext uri="{FF2B5EF4-FFF2-40B4-BE49-F238E27FC236}">
                <a16:creationId xmlns:a16="http://schemas.microsoft.com/office/drawing/2014/main" id="{F6515878-1DFA-03A8-4EEB-60F2CDE02676}"/>
              </a:ext>
            </a:extLst>
          </p:cNvPr>
          <p:cNvSpPr/>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0" name="TextBox 9">
            <a:extLst>
              <a:ext uri="{FF2B5EF4-FFF2-40B4-BE49-F238E27FC236}">
                <a16:creationId xmlns:a16="http://schemas.microsoft.com/office/drawing/2014/main" id="{97A718B6-DF4F-3AB7-40D5-7116112700F5}"/>
              </a:ext>
            </a:extLst>
          </p:cNvPr>
          <p:cNvSpPr txBox="1"/>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1" name="Flowchart: Process 10">
            <a:extLst>
              <a:ext uri="{FF2B5EF4-FFF2-40B4-BE49-F238E27FC236}">
                <a16:creationId xmlns:a16="http://schemas.microsoft.com/office/drawing/2014/main" id="{26E37F59-4196-7649-B7D2-BB801E53E504}"/>
              </a:ext>
            </a:extLst>
          </p:cNvPr>
          <p:cNvSpPr/>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12" name="Flowchart: Process 11">
            <a:extLst>
              <a:ext uri="{FF2B5EF4-FFF2-40B4-BE49-F238E27FC236}">
                <a16:creationId xmlns:a16="http://schemas.microsoft.com/office/drawing/2014/main" id="{9F2F22A6-86BF-4BFC-64C7-6A15CEB87151}"/>
              </a:ext>
            </a:extLst>
          </p:cNvPr>
          <p:cNvSpPr/>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13" name="Arrow: Left-Right 12">
            <a:extLst>
              <a:ext uri="{FF2B5EF4-FFF2-40B4-BE49-F238E27FC236}">
                <a16:creationId xmlns:a16="http://schemas.microsoft.com/office/drawing/2014/main" id="{92459CEA-1CC1-7AFE-25A7-DEEB6918DF18}"/>
              </a:ext>
            </a:extLst>
          </p:cNvPr>
          <p:cNvSpPr/>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cxnSp>
        <p:nvCxnSpPr>
          <p:cNvPr id="14" name="Straight Connector 13">
            <a:extLst>
              <a:ext uri="{FF2B5EF4-FFF2-40B4-BE49-F238E27FC236}">
                <a16:creationId xmlns:a16="http://schemas.microsoft.com/office/drawing/2014/main" id="{E43CE43A-8545-77B8-3811-4F92BAE947E3}"/>
              </a:ext>
            </a:extLst>
          </p:cNvPr>
          <p:cNvCxnSpPr>
            <a:cxnSpLocks/>
            <a:endCxn id="32" idx="0"/>
          </p:cNvCxnSpPr>
          <p:nvPr/>
        </p:nvCxnSpPr>
        <p:spPr>
          <a:xfrm flipH="1">
            <a:off x="1494066" y="5242990"/>
            <a:ext cx="112945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16BAB3F-2C66-7B11-FCB8-A349105AB726}"/>
              </a:ext>
            </a:extLst>
          </p:cNvPr>
          <p:cNvSpPr txBox="1"/>
          <p:nvPr/>
        </p:nvSpPr>
        <p:spPr>
          <a:xfrm>
            <a:off x="141578" y="5878989"/>
            <a:ext cx="2704976"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Used as regular values</a:t>
            </a:r>
          </a:p>
        </p:txBody>
      </p:sp>
    </p:spTree>
    <p:custDataLst>
      <p:tags r:id="rId1"/>
    </p:custDataLst>
    <p:extLst>
      <p:ext uri="{BB962C8B-B14F-4D97-AF65-F5344CB8AC3E}">
        <p14:creationId xmlns:p14="http://schemas.microsoft.com/office/powerpoint/2010/main" val="83488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55" name="Rectangle 54">
            <a:extLst>
              <a:ext uri="{FF2B5EF4-FFF2-40B4-BE49-F238E27FC236}">
                <a16:creationId xmlns:a16="http://schemas.microsoft.com/office/drawing/2014/main" id="{EE3B59AB-A2B0-AC08-2ABA-C28A804C1D65}"/>
              </a:ext>
            </a:extLst>
          </p:cNvPr>
          <p:cNvSpPr/>
          <p:nvPr/>
        </p:nvSpPr>
        <p:spPr>
          <a:xfrm>
            <a:off x="7134062" y="3483908"/>
            <a:ext cx="757025" cy="217083"/>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7CDFDB58-EA38-9006-322B-F713E3FA8103}"/>
              </a:ext>
            </a:extLst>
          </p:cNvPr>
          <p:cNvSpPr>
            <a:spLocks noGrp="1"/>
          </p:cNvSpPr>
          <p:nvPr>
            <p:ph type="title"/>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nvPr>
        </p:nvSpPr>
        <p:spPr/>
        <p:txBody>
          <a:bodyPr/>
          <a:lstStyle/>
          <a:p>
            <a:fld id="{6D8553D1-8D82-4D70-AAA7-91480DF3CCDB}" type="datetime1">
              <a:rPr lang="en-US" noProof="0" smtClean="0"/>
              <a:t>9/6/2026</a:t>
            </a:fld>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nvPr>
        </p:nvSpPr>
        <p:spPr/>
        <p:txBody>
          <a:bodyPr/>
          <a:lstStyle/>
          <a:p>
            <a:fld id="{DA0BB241-1B5F-4309-9407-9EEA04D9598D}" type="slidenum">
              <a:rPr lang="en-US" noProof="0" smtClean="0"/>
              <a:t>15</a:t>
            </a:fld>
            <a:endParaRPr lang="en-US" noProof="0" dirty="0"/>
          </a:p>
        </p:txBody>
      </p:sp>
      <p:sp>
        <p:nvSpPr>
          <p:cNvPr id="25" name="TextBox 24">
            <a:extLst>
              <a:ext uri="{FF2B5EF4-FFF2-40B4-BE49-F238E27FC236}">
                <a16:creationId xmlns:a16="http://schemas.microsoft.com/office/drawing/2014/main" id="{770A04A5-C71E-DF2C-A354-3E03F875058A}"/>
              </a:ext>
            </a:extLst>
          </p:cNvPr>
          <p:cNvSpPr txBox="1"/>
          <p:nvPr/>
        </p:nvSpPr>
        <p:spPr>
          <a:xfrm>
            <a:off x="4418827" y="3026655"/>
            <a:ext cx="7472855" cy="3225555"/>
          </a:xfrm>
          <a:prstGeom prst="rect">
            <a:avLst/>
          </a:prstGeom>
          <a:noFill/>
          <a:ln>
            <a:solidFill>
              <a:schemeClr val="tx1"/>
            </a:solidFill>
          </a:ln>
        </p:spPr>
        <p:txBody>
          <a:bodyPr wrap="none">
            <a:no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noProof="0" dirty="0" err="1">
                <a:solidFill>
                  <a:srgbClr val="001080"/>
                </a:solidFill>
                <a:effectLst/>
                <a:latin typeface="Fira Code" panose="020B0809050000020004" pitchFamily="49" charset="0"/>
              </a:rPr>
              <a:t>MPItrav</a:t>
            </a:r>
            <a:r>
              <a:rPr lang="en-US" sz="10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    </a:t>
            </a:r>
            <a:r>
              <a:rPr lang="en-US" sz="2000" b="0" noProof="0" dirty="0" err="1">
                <a:solidFill>
                  <a:srgbClr val="795E26"/>
                </a:solidFill>
                <a:effectLst/>
                <a:latin typeface="Fira Code" panose="020B0809050000020004" pitchFamily="49" charset="0"/>
              </a:rPr>
              <a:t>mpi_traverser</a:t>
            </a:r>
            <a:r>
              <a:rPr lang="en-US" sz="4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&gt;</a:t>
            </a:r>
            <a:r>
              <a:rPr lang="en-US" sz="4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1000" b="0" noProof="0" dirty="0">
                <a:solidFill>
                  <a:srgbClr val="000000"/>
                </a:solidFill>
                <a:effectLst/>
                <a:latin typeface="Fira Code" panose="020B0809050000020004" pitchFamily="49" charset="0"/>
              </a:rPr>
              <a:t> </a:t>
            </a:r>
            <a:r>
              <a:rPr lang="en-US" b="0" noProof="0" dirty="0">
                <a:solidFill>
                  <a:srgbClr val="0000FF"/>
                </a:solidFill>
                <a:effectLst/>
                <a:latin typeface="Fira Code" panose="020B0809050000020004" pitchFamily="49" charset="0"/>
              </a:rPr>
              <a:t>MPI_COMM_WORLD</a:t>
            </a:r>
            <a:r>
              <a:rPr lang="en-US" sz="2000" b="0" noProof="0" dirty="0">
                <a:solidFill>
                  <a:srgbClr val="000000"/>
                </a:solidFill>
                <a:effectLst/>
                <a:latin typeface="Fira Code" panose="020B0809050000020004" pitchFamily="49" charset="0"/>
              </a:rPr>
              <a:t>);</a:t>
            </a:r>
            <a:endParaRPr lang="en-US" sz="2000" dirty="0">
              <a:solidFill>
                <a:srgbClr val="000000"/>
              </a:solidFill>
              <a:latin typeface="Fira Code" panose="020B0809050000020004" pitchFamily="49" charset="0"/>
            </a:endParaRPr>
          </a:p>
          <a:p>
            <a:pPr>
              <a:lnSpc>
                <a:spcPct val="113095"/>
              </a:lnSpc>
              <a:buNone/>
            </a:pPr>
            <a:endParaRPr lang="en-US" sz="2000" dirty="0">
              <a:solidFill>
                <a:srgbClr val="267F99"/>
              </a:solidFill>
              <a:latin typeface="Fira Code" panose="020B0809050000020004" pitchFamily="49" charset="0"/>
            </a:endParaRPr>
          </a:p>
          <a:p>
            <a:pPr>
              <a:lnSpc>
                <a:spcPct val="113095"/>
              </a:lnSpc>
              <a:buNone/>
            </a:pPr>
            <a:r>
              <a:rPr lang="en-US" sz="2000" dirty="0">
                <a:solidFill>
                  <a:srgbClr val="267F99"/>
                </a:solidFill>
                <a:latin typeface="Fira Code" panose="020B0809050000020004" pitchFamily="49" charset="0"/>
              </a:rPr>
              <a:t>auto Tile</a:t>
            </a:r>
            <a:r>
              <a:rPr lang="en-US" sz="2000" dirty="0">
                <a:solidFill>
                  <a:srgbClr val="000000"/>
                </a:solidFill>
                <a:latin typeface="Fira Code" panose="020B0809050000020004" pitchFamily="49" charset="0"/>
              </a:rPr>
              <a:t> = …</a:t>
            </a:r>
          </a:p>
          <a:p>
            <a:pPr>
              <a:lnSpc>
                <a:spcPct val="113095"/>
              </a:lnSpc>
              <a:buNone/>
            </a:pPr>
            <a:r>
              <a:rPr lang="en-US" sz="2000" dirty="0" err="1">
                <a:solidFill>
                  <a:srgbClr val="001080"/>
                </a:solidFill>
                <a:latin typeface="Fira Code" panose="020B0809050000020004" pitchFamily="49" charset="0"/>
              </a:rPr>
              <a:t>MPItrav</a:t>
            </a:r>
            <a:r>
              <a:rPr lang="en-US" sz="2000" dirty="0" err="1">
                <a:solidFill>
                  <a:srgbClr val="000000"/>
                </a:solidFill>
                <a:latin typeface="Fira Code" panose="020B0809050000020004" pitchFamily="49" charset="0"/>
              </a:rPr>
              <a:t>.</a:t>
            </a:r>
            <a:r>
              <a:rPr lang="en-US" sz="2000" dirty="0" err="1">
                <a:solidFill>
                  <a:srgbClr val="795E26"/>
                </a:solidFill>
                <a:latin typeface="Fira Code" panose="020B0809050000020004" pitchFamily="49" charset="0"/>
              </a:rPr>
              <a:t>for_each</a:t>
            </a:r>
            <a:r>
              <a:rPr lang="en-US" sz="2000" dirty="0">
                <a:solidFill>
                  <a:srgbClr val="000000"/>
                </a:solidFill>
                <a:latin typeface="Fira Code" panose="020B0809050000020004" pitchFamily="49" charset="0"/>
              </a:rPr>
              <a:t>([&amp;](</a:t>
            </a:r>
            <a:r>
              <a:rPr lang="en-US" sz="2000" dirty="0">
                <a:solidFill>
                  <a:srgbClr val="267F99"/>
                </a:solidFill>
                <a:latin typeface="Fira Code" panose="020B0809050000020004" pitchFamily="49" charset="0"/>
              </a:rPr>
              <a:t>auto</a:t>
            </a:r>
            <a:r>
              <a:rPr lang="en-US" sz="2000" dirty="0">
                <a:solidFill>
                  <a:srgbClr val="000000"/>
                </a:solidFill>
                <a:latin typeface="Fira Code" panose="020B0809050000020004" pitchFamily="49" charset="0"/>
              </a:rPr>
              <a:t> </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a:t>
            </a:r>
          </a:p>
          <a:p>
            <a:pPr>
              <a:lnSpc>
                <a:spcPct val="113095"/>
              </a:lnSpc>
              <a:buNone/>
            </a:pP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 </a:t>
            </a:r>
            <a:r>
              <a:rPr lang="en-US" sz="2000" dirty="0" err="1">
                <a:solidFill>
                  <a:srgbClr val="795E26"/>
                </a:solidFill>
                <a:latin typeface="Fira Code" panose="020B0809050000020004" pitchFamily="49" charset="0"/>
              </a:rPr>
              <a:t>init</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a:t>
            </a:r>
          </a:p>
          <a:p>
            <a:pPr>
              <a:lnSpc>
                <a:spcPct val="113095"/>
              </a:lnSpc>
              <a:buNone/>
            </a:pPr>
            <a:endParaRPr lang="en-US" sz="2000" dirty="0">
              <a:solidFill>
                <a:srgbClr val="000000"/>
              </a:solidFill>
              <a:latin typeface="Fira Code" panose="020B0809050000020004" pitchFamily="49" charset="0"/>
            </a:endParaRPr>
          </a:p>
          <a:p>
            <a:pPr>
              <a:lnSpc>
                <a:spcPct val="113095"/>
              </a:lnSpc>
            </a:pPr>
            <a:r>
              <a:rPr lang="en-US" sz="2000" dirty="0">
                <a:solidFill>
                  <a:srgbClr val="795E26"/>
                </a:solidFill>
                <a:latin typeface="Fira Code" panose="020B0809050000020004" pitchFamily="49" charset="0"/>
              </a:rPr>
              <a:t>gather</a:t>
            </a:r>
            <a:r>
              <a:rPr lang="en-US" sz="2000" dirty="0">
                <a:solidFill>
                  <a:srgbClr val="000000"/>
                </a:solidFill>
                <a:latin typeface="Fira Code" panose="020B0809050000020004" pitchFamily="49" charset="0"/>
              </a:rPr>
              <a:t>(</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Data</a:t>
            </a: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root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MPItrav</a:t>
            </a:r>
            <a:r>
              <a:rPr lang="en-US" sz="2000" dirty="0">
                <a:solidFill>
                  <a:srgbClr val="000000"/>
                </a:solidFill>
                <a:latin typeface="Fira Code" panose="020B0809050000020004" pitchFamily="49" charset="0"/>
              </a:rPr>
              <a:t>);</a:t>
            </a:r>
          </a:p>
          <a:p>
            <a:pPr>
              <a:lnSpc>
                <a:spcPct val="113095"/>
              </a:lnSpc>
              <a:buNone/>
            </a:pPr>
            <a:endParaRPr lang="en-US" sz="2000" b="0" noProof="0" dirty="0">
              <a:solidFill>
                <a:srgbClr val="000000"/>
              </a:solidFill>
              <a:effectLst/>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412156" y="5407427"/>
            <a:ext cx="521160" cy="521160"/>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E10E03B-CD42-27DC-6DF5-CB9596382EE5}"/>
                  </a:ext>
                </a:extLst>
              </p:cNvPr>
              <p:cNvSpPr txBox="1"/>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xmlns="">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nvSpPr>
            <p:spPr>
              <a:xfrm>
                <a:off x="2848591" y="4397966"/>
                <a:ext cx="1567391" cy="369332"/>
              </a:xfrm>
              <a:prstGeom prst="rect">
                <a:avLst/>
              </a:prstGeom>
              <a:blipFill>
                <a:blip r:embed="rId9"/>
                <a:stretch>
                  <a:fillRect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30D2A10-C3C9-5980-4B7C-1920E7A6499E}"/>
                  </a:ext>
                </a:extLst>
              </p:cNvPr>
              <p:cNvSpPr txBox="1"/>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xmlns="">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nvSpPr>
            <p:spPr>
              <a:xfrm>
                <a:off x="1033705" y="2614207"/>
                <a:ext cx="156739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9902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43" grpId="0"/>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3D26-2B4F-0ACB-E3E2-25555241B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75342-3158-BFC3-939C-F28445402BA4}"/>
              </a:ext>
            </a:extLst>
          </p:cNvPr>
          <p:cNvSpPr>
            <a:spLocks noGrp="1"/>
          </p:cNvSpPr>
          <p:nvPr>
            <p:ph type="title"/>
          </p:nvPr>
        </p:nvSpPr>
        <p:spPr/>
        <p:txBody>
          <a:bodyPr/>
          <a:lstStyle/>
          <a:p>
            <a:r>
              <a:rPr lang="en-US" noProof="0" dirty="0"/>
              <a:t>Automatic transformation in communication</a:t>
            </a:r>
          </a:p>
        </p:txBody>
      </p:sp>
      <p:sp>
        <p:nvSpPr>
          <p:cNvPr id="3" name="Date Placeholder 2">
            <a:extLst>
              <a:ext uri="{FF2B5EF4-FFF2-40B4-BE49-F238E27FC236}">
                <a16:creationId xmlns:a16="http://schemas.microsoft.com/office/drawing/2014/main" id="{95F10516-14DF-329F-F9DD-AD879766DCDB}"/>
              </a:ext>
            </a:extLst>
          </p:cNvPr>
          <p:cNvSpPr>
            <a:spLocks noGrp="1"/>
          </p:cNvSpPr>
          <p:nvPr>
            <p:ph type="dt" sz="half" idx="10"/>
          </p:nvPr>
        </p:nvSpPr>
        <p:spPr/>
        <p:txBody>
          <a:bodyPr/>
          <a:lstStyle/>
          <a:p>
            <a:fld id="{2B64091F-5E68-4514-9CCC-EC8E47A52419}" type="datetime1">
              <a:rPr lang="en-US" noProof="0" smtClean="0"/>
              <a:t>9/6/2026</a:t>
            </a:fld>
            <a:endParaRPr lang="en-US" noProof="0" dirty="0"/>
          </a:p>
        </p:txBody>
      </p:sp>
      <p:sp>
        <p:nvSpPr>
          <p:cNvPr id="7" name="Slide Number Placeholder 6">
            <a:extLst>
              <a:ext uri="{FF2B5EF4-FFF2-40B4-BE49-F238E27FC236}">
                <a16:creationId xmlns:a16="http://schemas.microsoft.com/office/drawing/2014/main" id="{4E29A66E-8887-529B-AA75-343549185834}"/>
              </a:ext>
            </a:extLst>
          </p:cNvPr>
          <p:cNvSpPr>
            <a:spLocks noGrp="1"/>
          </p:cNvSpPr>
          <p:nvPr>
            <p:ph type="sldNum" sz="quarter" idx="12"/>
          </p:nvPr>
        </p:nvSpPr>
        <p:spPr/>
        <p:txBody>
          <a:bodyPr/>
          <a:lstStyle/>
          <a:p>
            <a:fld id="{DA0BB241-1B5F-4309-9407-9EEA04D9598D}" type="slidenum">
              <a:rPr lang="en-US" noProof="0" smtClean="0"/>
              <a:t>16</a:t>
            </a:fld>
            <a:endParaRPr lang="en-US" noProof="0" dirty="0"/>
          </a:p>
        </p:txBody>
      </p:sp>
      <p:sp>
        <p:nvSpPr>
          <p:cNvPr id="6" name="TextBox 5">
            <a:extLst>
              <a:ext uri="{FF2B5EF4-FFF2-40B4-BE49-F238E27FC236}">
                <a16:creationId xmlns:a16="http://schemas.microsoft.com/office/drawing/2014/main" id="{C1A4FEEA-F6A5-2F0C-61D6-D842A122ADD5}"/>
              </a:ext>
            </a:extLst>
          </p:cNvPr>
          <p:cNvSpPr txBox="1"/>
          <p:nvPr/>
        </p:nvSpPr>
        <p:spPr>
          <a:xfrm>
            <a:off x="4667457" y="1339278"/>
            <a:ext cx="3134191" cy="461665"/>
          </a:xfrm>
          <a:prstGeom prst="rect">
            <a:avLst/>
          </a:prstGeom>
          <a:noFill/>
        </p:spPr>
        <p:txBody>
          <a:bodyPr wrap="none" rtlCol="0" anchor="b">
            <a:spAutoFit/>
          </a:bodyPr>
          <a:lstStyle/>
          <a:p>
            <a:pPr algn="ctr"/>
            <a:r>
              <a:rPr lang="en-US" sz="2400" noProof="0" dirty="0">
                <a:solidFill>
                  <a:srgbClr val="795E26"/>
                </a:solidFill>
                <a:latin typeface="Fira Code" panose="020B0809050000020004" pitchFamily="49" charset="0"/>
              </a:rPr>
              <a:t>send</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row_major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C10BA276-D3D5-43CD-BA0F-E78D4E84387D}"/>
              </a:ext>
            </a:extLst>
          </p:cNvPr>
          <p:cNvSpPr txBox="1"/>
          <p:nvPr/>
        </p:nvSpPr>
        <p:spPr>
          <a:xfrm>
            <a:off x="8023316" y="3551624"/>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14" name="TextBox 13">
            <a:extLst>
              <a:ext uri="{FF2B5EF4-FFF2-40B4-BE49-F238E27FC236}">
                <a16:creationId xmlns:a16="http://schemas.microsoft.com/office/drawing/2014/main" id="{662521EF-5391-2B3B-B4E1-631E6C4FEF95}"/>
              </a:ext>
            </a:extLst>
          </p:cNvPr>
          <p:cNvSpPr txBox="1"/>
          <p:nvPr/>
        </p:nvSpPr>
        <p:spPr>
          <a:xfrm>
            <a:off x="9133555" y="3085823"/>
            <a:ext cx="913712" cy="523220"/>
          </a:xfrm>
          <a:prstGeom prst="rect">
            <a:avLst/>
          </a:prstGeom>
          <a:noFill/>
        </p:spPr>
        <p:txBody>
          <a:bodyPr wrap="none" rtlCol="0">
            <a:spAutoFit/>
          </a:bodyPr>
          <a:lstStyle/>
          <a:p>
            <a:pPr marL="0" algn="l" rtl="0" eaLnBrk="1" latinLnBrk="0" hangingPunct="1">
              <a:buNone/>
            </a:pPr>
            <a:r>
              <a:rPr lang="en-US" sz="2800" b="1" kern="1200" noProof="0" dirty="0">
                <a:solidFill>
                  <a:srgbClr val="000000"/>
                </a:solidFill>
                <a:effectLst/>
                <a:latin typeface="Aptos" panose="020B0004020202020204" pitchFamily="34" charset="0"/>
                <a:ea typeface="+mn-ea"/>
                <a:cs typeface="+mn-cs"/>
              </a:rPr>
              <a:t>ours</a:t>
            </a:r>
            <a:endParaRPr lang="en-US" sz="2800" noProof="0" dirty="0">
              <a:effectLst/>
            </a:endParaRPr>
          </a:p>
        </p:txBody>
      </p:sp>
      <p:sp>
        <p:nvSpPr>
          <p:cNvPr id="13" name="TextBox 12">
            <a:extLst>
              <a:ext uri="{FF2B5EF4-FFF2-40B4-BE49-F238E27FC236}">
                <a16:creationId xmlns:a16="http://schemas.microsoft.com/office/drawing/2014/main" id="{439C9CAD-9E1E-7EC1-4429-D017CA1092E1}"/>
              </a:ext>
            </a:extLst>
          </p:cNvPr>
          <p:cNvSpPr txBox="1"/>
          <p:nvPr/>
        </p:nvSpPr>
        <p:spPr>
          <a:xfrm>
            <a:off x="2503783" y="3082682"/>
            <a:ext cx="1062791" cy="523220"/>
          </a:xfrm>
          <a:prstGeom prst="rect">
            <a:avLst/>
          </a:prstGeom>
          <a:noFill/>
        </p:spPr>
        <p:txBody>
          <a:bodyPr wrap="none" rtlCol="0">
            <a:spAutoFit/>
          </a:bodyPr>
          <a:lstStyle/>
          <a:p>
            <a:pPr marL="0" algn="l" rtl="0" eaLnBrk="1" latinLnBrk="0" hangingPunct="1">
              <a:buNone/>
            </a:pPr>
            <a:r>
              <a:rPr lang="en-US" sz="2800" b="1" kern="1200" noProof="0" dirty="0">
                <a:solidFill>
                  <a:srgbClr val="C00000"/>
                </a:solidFill>
                <a:effectLst/>
                <a:latin typeface="Aptos" panose="020B0004020202020204" pitchFamily="34" charset="0"/>
                <a:ea typeface="+mn-ea"/>
                <a:cs typeface="+mn-cs"/>
              </a:rPr>
              <a:t>naive</a:t>
            </a:r>
            <a:endParaRPr lang="en-US" sz="2800" noProof="0" dirty="0">
              <a:effectLst/>
            </a:endParaRPr>
          </a:p>
        </p:txBody>
      </p:sp>
      <p:sp>
        <p:nvSpPr>
          <p:cNvPr id="26" name="TextBox 25">
            <a:extLst>
              <a:ext uri="{FF2B5EF4-FFF2-40B4-BE49-F238E27FC236}">
                <a16:creationId xmlns:a16="http://schemas.microsoft.com/office/drawing/2014/main" id="{961FBEC7-CB4A-332B-8305-81A140E2B4BC}"/>
              </a:ext>
            </a:extLst>
          </p:cNvPr>
          <p:cNvSpPr txBox="1"/>
          <p:nvPr/>
        </p:nvSpPr>
        <p:spPr>
          <a:xfrm>
            <a:off x="1505514" y="3478608"/>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cxnSp>
        <p:nvCxnSpPr>
          <p:cNvPr id="28" name="Straight Arrow Connector 27">
            <a:extLst>
              <a:ext uri="{FF2B5EF4-FFF2-40B4-BE49-F238E27FC236}">
                <a16:creationId xmlns:a16="http://schemas.microsoft.com/office/drawing/2014/main" id="{2045E9BC-7505-AE12-2FF8-B6E23CAD3D28}"/>
              </a:ext>
            </a:extLst>
          </p:cNvPr>
          <p:cNvCxnSpPr>
            <a:cxnSpLocks/>
          </p:cNvCxnSpPr>
          <p:nvPr/>
        </p:nvCxnSpPr>
        <p:spPr>
          <a:xfrm flipH="1">
            <a:off x="4035771" y="3798827"/>
            <a:ext cx="2199832" cy="14401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BDE0C27-4E21-7450-D688-E0A67CB04B34}"/>
              </a:ext>
            </a:extLst>
          </p:cNvPr>
          <p:cNvCxnSpPr>
            <a:cxnSpLocks/>
          </p:cNvCxnSpPr>
          <p:nvPr/>
        </p:nvCxnSpPr>
        <p:spPr>
          <a:xfrm>
            <a:off x="6235603" y="3798827"/>
            <a:ext cx="2280209" cy="14766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E4C11DF-8744-F535-8D96-016E3870A3DE}"/>
              </a:ext>
            </a:extLst>
          </p:cNvPr>
          <p:cNvSpPr txBox="1"/>
          <p:nvPr/>
        </p:nvSpPr>
        <p:spPr>
          <a:xfrm rot="2037324">
            <a:off x="6321148" y="4578262"/>
            <a:ext cx="2350708" cy="461665"/>
          </a:xfrm>
          <a:prstGeom prst="rect">
            <a:avLst/>
          </a:prstGeom>
          <a:noFill/>
        </p:spPr>
        <p:txBody>
          <a:bodyPr wrap="none" rtlCol="0">
            <a:spAutoFit/>
          </a:bodyPr>
          <a:lstStyle/>
          <a:p>
            <a:pPr marL="0" algn="ctr" rtl="0" eaLnBrk="1" latinLnBrk="0" hangingPunct="1">
              <a:buNone/>
            </a:pPr>
            <a:r>
              <a:rPr lang="en-US" sz="2400" b="1" kern="1200" noProof="0" dirty="0">
                <a:solidFill>
                  <a:srgbClr val="000000"/>
                </a:solidFill>
                <a:effectLst/>
                <a:latin typeface="Aptos" panose="020B0004020202020204" pitchFamily="34" charset="0"/>
                <a:ea typeface="+mn-ea"/>
                <a:cs typeface="+mn-cs"/>
              </a:rPr>
              <a:t>logical ordering</a:t>
            </a:r>
            <a:endParaRPr lang="en-US" sz="2400" noProof="0" dirty="0">
              <a:effectLst/>
            </a:endParaRPr>
          </a:p>
        </p:txBody>
      </p:sp>
      <p:sp>
        <p:nvSpPr>
          <p:cNvPr id="33" name="TextBox 32">
            <a:extLst>
              <a:ext uri="{FF2B5EF4-FFF2-40B4-BE49-F238E27FC236}">
                <a16:creationId xmlns:a16="http://schemas.microsoft.com/office/drawing/2014/main" id="{C246AED9-F132-9733-D20A-38A72DC05DB0}"/>
              </a:ext>
            </a:extLst>
          </p:cNvPr>
          <p:cNvSpPr txBox="1"/>
          <p:nvPr/>
        </p:nvSpPr>
        <p:spPr>
          <a:xfrm rot="19575917">
            <a:off x="4072345" y="4454517"/>
            <a:ext cx="2297873" cy="461665"/>
          </a:xfrm>
          <a:prstGeom prst="rect">
            <a:avLst/>
          </a:prstGeom>
          <a:noFill/>
        </p:spPr>
        <p:txBody>
          <a:bodyPr wrap="none" rtlCol="0">
            <a:spAutoFit/>
          </a:bodyPr>
          <a:lstStyle/>
          <a:p>
            <a:pPr marL="0" algn="ctr" rtl="0" eaLnBrk="1" latinLnBrk="0" hangingPunct="1">
              <a:buNone/>
            </a:pPr>
            <a:r>
              <a:rPr lang="en-US" sz="2400" b="1" kern="1200" noProof="0" dirty="0">
                <a:solidFill>
                  <a:srgbClr val="C00000"/>
                </a:solidFill>
                <a:effectLst/>
                <a:latin typeface="Aptos" panose="020B0004020202020204" pitchFamily="34" charset="0"/>
                <a:ea typeface="+mn-ea"/>
                <a:cs typeface="+mn-cs"/>
              </a:rPr>
              <a:t>physical layout</a:t>
            </a:r>
            <a:endParaRPr lang="en-US" sz="2400" noProof="0" dirty="0">
              <a:effectLst/>
            </a:endParaRPr>
          </a:p>
        </p:txBody>
      </p:sp>
      <p:grpSp>
        <p:nvGrpSpPr>
          <p:cNvPr id="12" name="Group 11">
            <a:extLst>
              <a:ext uri="{FF2B5EF4-FFF2-40B4-BE49-F238E27FC236}">
                <a16:creationId xmlns:a16="http://schemas.microsoft.com/office/drawing/2014/main" id="{91C5C1F7-6962-E74A-2AAE-EC3FFFDE66D5}"/>
              </a:ext>
            </a:extLst>
          </p:cNvPr>
          <p:cNvGrpSpPr/>
          <p:nvPr/>
        </p:nvGrpSpPr>
        <p:grpSpPr>
          <a:xfrm>
            <a:off x="8023316" y="1515849"/>
            <a:ext cx="2743200" cy="912635"/>
            <a:chOff x="8661401" y="1810235"/>
            <a:chExt cx="2743200" cy="912635"/>
          </a:xfrm>
        </p:grpSpPr>
        <p:sp>
          <p:nvSpPr>
            <p:cNvPr id="5" name="Speech Bubble: Rectangle with Corners Rounded 4">
              <a:extLst>
                <a:ext uri="{FF2B5EF4-FFF2-40B4-BE49-F238E27FC236}">
                  <a16:creationId xmlns:a16="http://schemas.microsoft.com/office/drawing/2014/main" id="{3B3954D8-6618-8968-9344-B52E3B2C2D66}"/>
                </a:ext>
              </a:extLst>
            </p:cNvPr>
            <p:cNvSpPr/>
            <p:nvPr/>
          </p:nvSpPr>
          <p:spPr>
            <a:xfrm>
              <a:off x="8934595" y="1810235"/>
              <a:ext cx="2470005" cy="898064"/>
            </a:xfrm>
            <a:prstGeom prst="wedgeRoundRectCallout">
              <a:avLst>
                <a:gd name="adj1" fmla="val 26744"/>
                <a:gd name="adj2" fmla="val 179316"/>
                <a:gd name="adj3" fmla="val 16667"/>
              </a:avLst>
            </a:prstGeom>
            <a:solidFill>
              <a:srgbClr val="8EC8F0"/>
            </a:solidFill>
            <a:ln w="19050">
              <a:solidFill>
                <a:srgbClr val="44B9E8"/>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noProof="0" dirty="0"/>
            </a:p>
          </p:txBody>
        </p:sp>
        <p:sp>
          <p:nvSpPr>
            <p:cNvPr id="10" name="Speech Bubble: Rectangle with Corners Rounded 9">
              <a:extLst>
                <a:ext uri="{FF2B5EF4-FFF2-40B4-BE49-F238E27FC236}">
                  <a16:creationId xmlns:a16="http://schemas.microsoft.com/office/drawing/2014/main" id="{A64B26CC-455A-7502-D576-5F3D0CEC1479}"/>
                </a:ext>
              </a:extLst>
            </p:cNvPr>
            <p:cNvSpPr/>
            <p:nvPr/>
          </p:nvSpPr>
          <p:spPr>
            <a:xfrm>
              <a:off x="8661401" y="1812471"/>
              <a:ext cx="2743200" cy="898064"/>
            </a:xfrm>
            <a:prstGeom prst="wedgeRoundRectCallout">
              <a:avLst>
                <a:gd name="adj1" fmla="val -59905"/>
                <a:gd name="adj2" fmla="val -45335"/>
                <a:gd name="adj3" fmla="val 16667"/>
              </a:avLst>
            </a:prstGeom>
            <a:gradFill>
              <a:gsLst>
                <a:gs pos="0">
                  <a:srgbClr val="AFD8F7"/>
                </a:gs>
                <a:gs pos="50000">
                  <a:srgbClr val="A2CDEE"/>
                </a:gs>
                <a:gs pos="100000">
                  <a:srgbClr val="8CC8F0"/>
                </a:gs>
              </a:gsLst>
            </a:gradFill>
            <a:ln w="19050">
              <a:solidFill>
                <a:srgbClr val="44B9E8"/>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noProof="0" dirty="0"/>
                <a:t>Same for </a:t>
              </a:r>
              <a:r>
                <a:rPr lang="en-US" sz="2000" noProof="0" dirty="0" err="1">
                  <a:solidFill>
                    <a:srgbClr val="795E26"/>
                  </a:solidFill>
                  <a:latin typeface="Fira Code" panose="020B0809050000020004" pitchFamily="49" charset="0"/>
                </a:rPr>
                <a:t>bcast</a:t>
              </a:r>
              <a:r>
                <a:rPr lang="en-US" sz="2000" noProof="0" dirty="0"/>
                <a:t>, </a:t>
              </a:r>
              <a:r>
                <a:rPr lang="en-US" sz="2000" noProof="0" dirty="0">
                  <a:solidFill>
                    <a:srgbClr val="795E26"/>
                  </a:solidFill>
                  <a:latin typeface="Fira Code" panose="020B0809050000020004" pitchFamily="49" charset="0"/>
                </a:rPr>
                <a:t>scatter</a:t>
              </a:r>
              <a:r>
                <a:rPr lang="en-US" sz="2000" noProof="0" dirty="0"/>
                <a:t>, </a:t>
              </a:r>
              <a:r>
                <a:rPr lang="en-US" sz="2000" noProof="0" dirty="0">
                  <a:solidFill>
                    <a:srgbClr val="795E26"/>
                  </a:solidFill>
                  <a:latin typeface="Fira Code" panose="020B0809050000020004" pitchFamily="49" charset="0"/>
                </a:rPr>
                <a:t>gather</a:t>
              </a:r>
              <a:r>
                <a:rPr lang="en-US" sz="2000" noProof="0" dirty="0"/>
                <a:t>, …</a:t>
              </a:r>
            </a:p>
          </p:txBody>
        </p:sp>
        <p:sp>
          <p:nvSpPr>
            <p:cNvPr id="11" name="Rectangle: Rounded Corners 10">
              <a:extLst>
                <a:ext uri="{FF2B5EF4-FFF2-40B4-BE49-F238E27FC236}">
                  <a16:creationId xmlns:a16="http://schemas.microsoft.com/office/drawing/2014/main" id="{F41680C2-ADEE-FD1D-982B-41B9FF5E4258}"/>
                </a:ext>
              </a:extLst>
            </p:cNvPr>
            <p:cNvSpPr/>
            <p:nvPr/>
          </p:nvSpPr>
          <p:spPr>
            <a:xfrm>
              <a:off x="10358748" y="2621961"/>
              <a:ext cx="653208" cy="100909"/>
            </a:xfrm>
            <a:prstGeom prst="roundRect">
              <a:avLst>
                <a:gd name="adj" fmla="val 50000"/>
              </a:avLst>
            </a:prstGeom>
            <a:solidFill>
              <a:srgbClr val="8EC8F0"/>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noProof="0" dirty="0"/>
            </a:p>
          </p:txBody>
        </p:sp>
      </p:grpSp>
      <p:grpSp>
        <p:nvGrpSpPr>
          <p:cNvPr id="247" name="Group 246">
            <a:extLst>
              <a:ext uri="{FF2B5EF4-FFF2-40B4-BE49-F238E27FC236}">
                <a16:creationId xmlns:a16="http://schemas.microsoft.com/office/drawing/2014/main" id="{39546144-54F9-8B96-CF33-3E5BF0E44AE0}"/>
              </a:ext>
            </a:extLst>
          </p:cNvPr>
          <p:cNvGrpSpPr/>
          <p:nvPr/>
        </p:nvGrpSpPr>
        <p:grpSpPr>
          <a:xfrm>
            <a:off x="8560458" y="3978562"/>
            <a:ext cx="1959624" cy="2612861"/>
            <a:chOff x="2695324" y="4724546"/>
            <a:chExt cx="1959624" cy="2612861"/>
          </a:xfrm>
        </p:grpSpPr>
        <p:sp>
          <p:nvSpPr>
            <p:cNvPr id="248" name="Rectangle 247">
              <a:extLst>
                <a:ext uri="{FF2B5EF4-FFF2-40B4-BE49-F238E27FC236}">
                  <a16:creationId xmlns:a16="http://schemas.microsoft.com/office/drawing/2014/main" id="{67E95BE1-B58B-3D52-8832-A34FFB8E47B2}"/>
                </a:ext>
              </a:extLst>
            </p:cNvPr>
            <p:cNvSpPr/>
            <p:nvPr/>
          </p:nvSpPr>
          <p:spPr>
            <a:xfrm>
              <a:off x="2695324" y="4724546"/>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49" name="Rectangle 248">
              <a:extLst>
                <a:ext uri="{FF2B5EF4-FFF2-40B4-BE49-F238E27FC236}">
                  <a16:creationId xmlns:a16="http://schemas.microsoft.com/office/drawing/2014/main" id="{3C510894-67E4-56EC-75D0-C5A3D4CEDB8B}"/>
                </a:ext>
              </a:extLst>
            </p:cNvPr>
            <p:cNvSpPr/>
            <p:nvPr/>
          </p:nvSpPr>
          <p:spPr>
            <a:xfrm>
              <a:off x="2695324" y="5377761"/>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50" name="Rectangle 249">
              <a:extLst>
                <a:ext uri="{FF2B5EF4-FFF2-40B4-BE49-F238E27FC236}">
                  <a16:creationId xmlns:a16="http://schemas.microsoft.com/office/drawing/2014/main" id="{8BBB6E45-3B33-3D7B-ECFA-C6D524DC0C69}"/>
                </a:ext>
              </a:extLst>
            </p:cNvPr>
            <p:cNvSpPr/>
            <p:nvPr/>
          </p:nvSpPr>
          <p:spPr>
            <a:xfrm>
              <a:off x="2695324" y="6030977"/>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51" name="Rectangle 250">
              <a:extLst>
                <a:ext uri="{FF2B5EF4-FFF2-40B4-BE49-F238E27FC236}">
                  <a16:creationId xmlns:a16="http://schemas.microsoft.com/office/drawing/2014/main" id="{3C804533-48C9-60EF-0ED7-DAA1CB46E57F}"/>
                </a:ext>
              </a:extLst>
            </p:cNvPr>
            <p:cNvSpPr/>
            <p:nvPr/>
          </p:nvSpPr>
          <p:spPr>
            <a:xfrm>
              <a:off x="2695324" y="6684192"/>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52" name="Rectangle 251">
              <a:extLst>
                <a:ext uri="{FF2B5EF4-FFF2-40B4-BE49-F238E27FC236}">
                  <a16:creationId xmlns:a16="http://schemas.microsoft.com/office/drawing/2014/main" id="{F75E07F7-895B-5974-F694-EF3CBD895052}"/>
                </a:ext>
              </a:extLst>
            </p:cNvPr>
            <p:cNvSpPr/>
            <p:nvPr/>
          </p:nvSpPr>
          <p:spPr>
            <a:xfrm>
              <a:off x="3348532" y="4724546"/>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53" name="Rectangle 252">
              <a:extLst>
                <a:ext uri="{FF2B5EF4-FFF2-40B4-BE49-F238E27FC236}">
                  <a16:creationId xmlns:a16="http://schemas.microsoft.com/office/drawing/2014/main" id="{027BD938-2CE3-50FB-5A6C-DF7578D19233}"/>
                </a:ext>
              </a:extLst>
            </p:cNvPr>
            <p:cNvSpPr/>
            <p:nvPr/>
          </p:nvSpPr>
          <p:spPr>
            <a:xfrm>
              <a:off x="3348532" y="5377761"/>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54" name="Rectangle 253">
              <a:extLst>
                <a:ext uri="{FF2B5EF4-FFF2-40B4-BE49-F238E27FC236}">
                  <a16:creationId xmlns:a16="http://schemas.microsoft.com/office/drawing/2014/main" id="{CD2BF58C-4B2A-DDB2-0590-4FA5296E7978}"/>
                </a:ext>
              </a:extLst>
            </p:cNvPr>
            <p:cNvSpPr/>
            <p:nvPr/>
          </p:nvSpPr>
          <p:spPr>
            <a:xfrm>
              <a:off x="3348532" y="6030977"/>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55" name="Rectangle 254">
              <a:extLst>
                <a:ext uri="{FF2B5EF4-FFF2-40B4-BE49-F238E27FC236}">
                  <a16:creationId xmlns:a16="http://schemas.microsoft.com/office/drawing/2014/main" id="{B2D05F2D-BBAD-A3F2-4410-20DFB91A330C}"/>
                </a:ext>
              </a:extLst>
            </p:cNvPr>
            <p:cNvSpPr/>
            <p:nvPr/>
          </p:nvSpPr>
          <p:spPr>
            <a:xfrm>
              <a:off x="3348532" y="6684192"/>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56" name="Rectangle 255">
              <a:extLst>
                <a:ext uri="{FF2B5EF4-FFF2-40B4-BE49-F238E27FC236}">
                  <a16:creationId xmlns:a16="http://schemas.microsoft.com/office/drawing/2014/main" id="{11714080-B8B6-1EEC-E322-0AC57C54313B}"/>
                </a:ext>
              </a:extLst>
            </p:cNvPr>
            <p:cNvSpPr/>
            <p:nvPr/>
          </p:nvSpPr>
          <p:spPr>
            <a:xfrm>
              <a:off x="4001740" y="4724546"/>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57" name="Rectangle 256">
              <a:extLst>
                <a:ext uri="{FF2B5EF4-FFF2-40B4-BE49-F238E27FC236}">
                  <a16:creationId xmlns:a16="http://schemas.microsoft.com/office/drawing/2014/main" id="{404FCA19-9279-8EAF-394F-45A3EA34AFA0}"/>
                </a:ext>
              </a:extLst>
            </p:cNvPr>
            <p:cNvSpPr/>
            <p:nvPr/>
          </p:nvSpPr>
          <p:spPr>
            <a:xfrm>
              <a:off x="4001740" y="5377761"/>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58" name="Rectangle 257">
              <a:extLst>
                <a:ext uri="{FF2B5EF4-FFF2-40B4-BE49-F238E27FC236}">
                  <a16:creationId xmlns:a16="http://schemas.microsoft.com/office/drawing/2014/main" id="{E1955B61-0DF9-348A-80A9-1BF1B88C14B7}"/>
                </a:ext>
              </a:extLst>
            </p:cNvPr>
            <p:cNvSpPr/>
            <p:nvPr/>
          </p:nvSpPr>
          <p:spPr>
            <a:xfrm>
              <a:off x="4001740" y="6030977"/>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59" name="Rectangle 258">
              <a:extLst>
                <a:ext uri="{FF2B5EF4-FFF2-40B4-BE49-F238E27FC236}">
                  <a16:creationId xmlns:a16="http://schemas.microsoft.com/office/drawing/2014/main" id="{EE589CD3-DC6E-F797-F207-8CE5ABDE65D0}"/>
                </a:ext>
              </a:extLst>
            </p:cNvPr>
            <p:cNvSpPr/>
            <p:nvPr/>
          </p:nvSpPr>
          <p:spPr>
            <a:xfrm>
              <a:off x="4001740" y="6684192"/>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62" name="Group 261">
            <a:extLst>
              <a:ext uri="{FF2B5EF4-FFF2-40B4-BE49-F238E27FC236}">
                <a16:creationId xmlns:a16="http://schemas.microsoft.com/office/drawing/2014/main" id="{E3BFC522-F1EF-2168-0CD0-4D620EEFE5BA}"/>
              </a:ext>
            </a:extLst>
          </p:cNvPr>
          <p:cNvGrpSpPr/>
          <p:nvPr/>
        </p:nvGrpSpPr>
        <p:grpSpPr>
          <a:xfrm>
            <a:off x="4928137" y="1806440"/>
            <a:ext cx="2612833" cy="1959646"/>
            <a:chOff x="2695324" y="2111684"/>
            <a:chExt cx="2612833" cy="1959646"/>
          </a:xfrm>
        </p:grpSpPr>
        <p:sp>
          <p:nvSpPr>
            <p:cNvPr id="263" name="Rectangle 262">
              <a:extLst>
                <a:ext uri="{FF2B5EF4-FFF2-40B4-BE49-F238E27FC236}">
                  <a16:creationId xmlns:a16="http://schemas.microsoft.com/office/drawing/2014/main" id="{C24216A8-419D-DB33-BC85-B971CEB56A4E}"/>
                </a:ext>
              </a:extLst>
            </p:cNvPr>
            <p:cNvSpPr/>
            <p:nvPr/>
          </p:nvSpPr>
          <p:spPr>
            <a:xfrm>
              <a:off x="2695324"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64" name="Rectangle 263">
              <a:extLst>
                <a:ext uri="{FF2B5EF4-FFF2-40B4-BE49-F238E27FC236}">
                  <a16:creationId xmlns:a16="http://schemas.microsoft.com/office/drawing/2014/main" id="{311C226C-C930-FE9B-896D-7A8A1C8DC3AE}"/>
                </a:ext>
              </a:extLst>
            </p:cNvPr>
            <p:cNvSpPr/>
            <p:nvPr/>
          </p:nvSpPr>
          <p:spPr>
            <a:xfrm>
              <a:off x="334853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65" name="Rectangle 264">
              <a:extLst>
                <a:ext uri="{FF2B5EF4-FFF2-40B4-BE49-F238E27FC236}">
                  <a16:creationId xmlns:a16="http://schemas.microsoft.com/office/drawing/2014/main" id="{35980DA4-ADFC-6F8A-0BA1-010E6EE067E0}"/>
                </a:ext>
              </a:extLst>
            </p:cNvPr>
            <p:cNvSpPr/>
            <p:nvPr/>
          </p:nvSpPr>
          <p:spPr>
            <a:xfrm>
              <a:off x="400174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66" name="Rectangle 265">
              <a:extLst>
                <a:ext uri="{FF2B5EF4-FFF2-40B4-BE49-F238E27FC236}">
                  <a16:creationId xmlns:a16="http://schemas.microsoft.com/office/drawing/2014/main" id="{569D00A0-CC33-75F5-4446-A596ADE4352F}"/>
                </a:ext>
              </a:extLst>
            </p:cNvPr>
            <p:cNvSpPr/>
            <p:nvPr/>
          </p:nvSpPr>
          <p:spPr>
            <a:xfrm>
              <a:off x="4654949"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67" name="Rectangle 266">
              <a:extLst>
                <a:ext uri="{FF2B5EF4-FFF2-40B4-BE49-F238E27FC236}">
                  <a16:creationId xmlns:a16="http://schemas.microsoft.com/office/drawing/2014/main" id="{ACC0D66D-D18E-C431-AA37-49C15CC7EC41}"/>
                </a:ext>
              </a:extLst>
            </p:cNvPr>
            <p:cNvSpPr/>
            <p:nvPr/>
          </p:nvSpPr>
          <p:spPr>
            <a:xfrm>
              <a:off x="2695324"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68" name="Rectangle 267">
              <a:extLst>
                <a:ext uri="{FF2B5EF4-FFF2-40B4-BE49-F238E27FC236}">
                  <a16:creationId xmlns:a16="http://schemas.microsoft.com/office/drawing/2014/main" id="{A29CA531-0659-5409-828F-DD6F3284FF20}"/>
                </a:ext>
              </a:extLst>
            </p:cNvPr>
            <p:cNvSpPr/>
            <p:nvPr/>
          </p:nvSpPr>
          <p:spPr>
            <a:xfrm>
              <a:off x="3348532"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69" name="Rectangle 268">
              <a:extLst>
                <a:ext uri="{FF2B5EF4-FFF2-40B4-BE49-F238E27FC236}">
                  <a16:creationId xmlns:a16="http://schemas.microsoft.com/office/drawing/2014/main" id="{F2F9797C-CE4F-B9BB-281C-DA3FE25AE0A9}"/>
                </a:ext>
              </a:extLst>
            </p:cNvPr>
            <p:cNvSpPr/>
            <p:nvPr/>
          </p:nvSpPr>
          <p:spPr>
            <a:xfrm>
              <a:off x="400174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70" name="Rectangle 269">
              <a:extLst>
                <a:ext uri="{FF2B5EF4-FFF2-40B4-BE49-F238E27FC236}">
                  <a16:creationId xmlns:a16="http://schemas.microsoft.com/office/drawing/2014/main" id="{5260F082-0A0A-3985-3FAB-DD757292FF8E}"/>
                </a:ext>
              </a:extLst>
            </p:cNvPr>
            <p:cNvSpPr/>
            <p:nvPr/>
          </p:nvSpPr>
          <p:spPr>
            <a:xfrm>
              <a:off x="4654949"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71" name="Rectangle 270">
              <a:extLst>
                <a:ext uri="{FF2B5EF4-FFF2-40B4-BE49-F238E27FC236}">
                  <a16:creationId xmlns:a16="http://schemas.microsoft.com/office/drawing/2014/main" id="{8D3385A8-1686-1E53-4C0A-F729BFF0EA84}"/>
                </a:ext>
              </a:extLst>
            </p:cNvPr>
            <p:cNvSpPr/>
            <p:nvPr/>
          </p:nvSpPr>
          <p:spPr>
            <a:xfrm>
              <a:off x="2695324"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72" name="Rectangle 271">
              <a:extLst>
                <a:ext uri="{FF2B5EF4-FFF2-40B4-BE49-F238E27FC236}">
                  <a16:creationId xmlns:a16="http://schemas.microsoft.com/office/drawing/2014/main" id="{5EB78552-7BB3-5601-6FFD-E537D2448EA2}"/>
                </a:ext>
              </a:extLst>
            </p:cNvPr>
            <p:cNvSpPr/>
            <p:nvPr/>
          </p:nvSpPr>
          <p:spPr>
            <a:xfrm>
              <a:off x="3348532"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73" name="Rectangle 272">
              <a:extLst>
                <a:ext uri="{FF2B5EF4-FFF2-40B4-BE49-F238E27FC236}">
                  <a16:creationId xmlns:a16="http://schemas.microsoft.com/office/drawing/2014/main" id="{1B25A40A-A26F-7725-07CE-39A7BFF318BE}"/>
                </a:ext>
              </a:extLst>
            </p:cNvPr>
            <p:cNvSpPr/>
            <p:nvPr/>
          </p:nvSpPr>
          <p:spPr>
            <a:xfrm>
              <a:off x="4001740"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74" name="Rectangle 273">
              <a:extLst>
                <a:ext uri="{FF2B5EF4-FFF2-40B4-BE49-F238E27FC236}">
                  <a16:creationId xmlns:a16="http://schemas.microsoft.com/office/drawing/2014/main" id="{819EB925-88FA-DC61-7720-C364D646144D}"/>
                </a:ext>
              </a:extLst>
            </p:cNvPr>
            <p:cNvSpPr/>
            <p:nvPr/>
          </p:nvSpPr>
          <p:spPr>
            <a:xfrm>
              <a:off x="4654949"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75" name="Group 274">
            <a:extLst>
              <a:ext uri="{FF2B5EF4-FFF2-40B4-BE49-F238E27FC236}">
                <a16:creationId xmlns:a16="http://schemas.microsoft.com/office/drawing/2014/main" id="{417B981E-C63C-E124-C567-767FE72B7AAC}"/>
              </a:ext>
            </a:extLst>
          </p:cNvPr>
          <p:cNvGrpSpPr/>
          <p:nvPr/>
        </p:nvGrpSpPr>
        <p:grpSpPr>
          <a:xfrm>
            <a:off x="1998386" y="3932508"/>
            <a:ext cx="1959624" cy="2612861"/>
            <a:chOff x="7267782" y="2111684"/>
            <a:chExt cx="1959624" cy="2612861"/>
          </a:xfrm>
        </p:grpSpPr>
        <p:sp>
          <p:nvSpPr>
            <p:cNvPr id="276" name="Rectangle 275">
              <a:extLst>
                <a:ext uri="{FF2B5EF4-FFF2-40B4-BE49-F238E27FC236}">
                  <a16:creationId xmlns:a16="http://schemas.microsoft.com/office/drawing/2014/main" id="{E432A966-D3D9-4263-BD18-BBCFDC19418B}"/>
                </a:ext>
              </a:extLst>
            </p:cNvPr>
            <p:cNvSpPr/>
            <p:nvPr/>
          </p:nvSpPr>
          <p:spPr>
            <a:xfrm>
              <a:off x="726778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77" name="Rectangle 276">
              <a:extLst>
                <a:ext uri="{FF2B5EF4-FFF2-40B4-BE49-F238E27FC236}">
                  <a16:creationId xmlns:a16="http://schemas.microsoft.com/office/drawing/2014/main" id="{6D77121A-E1BE-4D31-20A0-203F0D202B63}"/>
                </a:ext>
              </a:extLst>
            </p:cNvPr>
            <p:cNvSpPr/>
            <p:nvPr/>
          </p:nvSpPr>
          <p:spPr>
            <a:xfrm>
              <a:off x="792099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78" name="Rectangle 277">
              <a:extLst>
                <a:ext uri="{FF2B5EF4-FFF2-40B4-BE49-F238E27FC236}">
                  <a16:creationId xmlns:a16="http://schemas.microsoft.com/office/drawing/2014/main" id="{C8419681-EE03-ECC7-F0F2-F2932A667AFE}"/>
                </a:ext>
              </a:extLst>
            </p:cNvPr>
            <p:cNvSpPr/>
            <p:nvPr/>
          </p:nvSpPr>
          <p:spPr>
            <a:xfrm>
              <a:off x="8574198"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79" name="Rectangle 278">
              <a:extLst>
                <a:ext uri="{FF2B5EF4-FFF2-40B4-BE49-F238E27FC236}">
                  <a16:creationId xmlns:a16="http://schemas.microsoft.com/office/drawing/2014/main" id="{F166A70F-73ED-803F-3F0C-71DE3565EDBC}"/>
                </a:ext>
              </a:extLst>
            </p:cNvPr>
            <p:cNvSpPr/>
            <p:nvPr/>
          </p:nvSpPr>
          <p:spPr>
            <a:xfrm>
              <a:off x="7267782" y="2764899"/>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80" name="Rectangle 279">
              <a:extLst>
                <a:ext uri="{FF2B5EF4-FFF2-40B4-BE49-F238E27FC236}">
                  <a16:creationId xmlns:a16="http://schemas.microsoft.com/office/drawing/2014/main" id="{E15C6862-61A1-8EFD-63CA-3918EB71239D}"/>
                </a:ext>
              </a:extLst>
            </p:cNvPr>
            <p:cNvSpPr/>
            <p:nvPr/>
          </p:nvSpPr>
          <p:spPr>
            <a:xfrm>
              <a:off x="792099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81" name="Rectangle 280">
              <a:extLst>
                <a:ext uri="{FF2B5EF4-FFF2-40B4-BE49-F238E27FC236}">
                  <a16:creationId xmlns:a16="http://schemas.microsoft.com/office/drawing/2014/main" id="{972B3B49-62D6-42EF-3FA1-8E655F00AA44}"/>
                </a:ext>
              </a:extLst>
            </p:cNvPr>
            <p:cNvSpPr/>
            <p:nvPr/>
          </p:nvSpPr>
          <p:spPr>
            <a:xfrm>
              <a:off x="8574198"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82" name="Rectangle 281">
              <a:extLst>
                <a:ext uri="{FF2B5EF4-FFF2-40B4-BE49-F238E27FC236}">
                  <a16:creationId xmlns:a16="http://schemas.microsoft.com/office/drawing/2014/main" id="{A1D4053D-B172-78CF-A694-B1E16F5EC418}"/>
                </a:ext>
              </a:extLst>
            </p:cNvPr>
            <p:cNvSpPr/>
            <p:nvPr/>
          </p:nvSpPr>
          <p:spPr>
            <a:xfrm>
              <a:off x="7267782"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83" name="Rectangle 282">
              <a:extLst>
                <a:ext uri="{FF2B5EF4-FFF2-40B4-BE49-F238E27FC236}">
                  <a16:creationId xmlns:a16="http://schemas.microsoft.com/office/drawing/2014/main" id="{80CA5CB3-BDE6-56FD-A424-135F609A4B33}"/>
                </a:ext>
              </a:extLst>
            </p:cNvPr>
            <p:cNvSpPr/>
            <p:nvPr/>
          </p:nvSpPr>
          <p:spPr>
            <a:xfrm>
              <a:off x="7920990"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84" name="Rectangle 283">
              <a:extLst>
                <a:ext uri="{FF2B5EF4-FFF2-40B4-BE49-F238E27FC236}">
                  <a16:creationId xmlns:a16="http://schemas.microsoft.com/office/drawing/2014/main" id="{DCF04BFA-01E3-13E2-55F2-91585F9FC85B}"/>
                </a:ext>
              </a:extLst>
            </p:cNvPr>
            <p:cNvSpPr/>
            <p:nvPr/>
          </p:nvSpPr>
          <p:spPr>
            <a:xfrm>
              <a:off x="8574198"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85" name="Rectangle 284">
              <a:extLst>
                <a:ext uri="{FF2B5EF4-FFF2-40B4-BE49-F238E27FC236}">
                  <a16:creationId xmlns:a16="http://schemas.microsoft.com/office/drawing/2014/main" id="{9D1404AE-BDF6-8EDE-8D97-2B7F5AD57054}"/>
                </a:ext>
              </a:extLst>
            </p:cNvPr>
            <p:cNvSpPr/>
            <p:nvPr/>
          </p:nvSpPr>
          <p:spPr>
            <a:xfrm>
              <a:off x="7267782"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86" name="Rectangle 285">
              <a:extLst>
                <a:ext uri="{FF2B5EF4-FFF2-40B4-BE49-F238E27FC236}">
                  <a16:creationId xmlns:a16="http://schemas.microsoft.com/office/drawing/2014/main" id="{D00AE7D2-DF24-407A-268B-452856AF8CC3}"/>
                </a:ext>
              </a:extLst>
            </p:cNvPr>
            <p:cNvSpPr/>
            <p:nvPr/>
          </p:nvSpPr>
          <p:spPr>
            <a:xfrm>
              <a:off x="7920990"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87" name="Rectangle 286">
              <a:extLst>
                <a:ext uri="{FF2B5EF4-FFF2-40B4-BE49-F238E27FC236}">
                  <a16:creationId xmlns:a16="http://schemas.microsoft.com/office/drawing/2014/main" id="{AB675FF9-4A7E-55C7-0BD7-BB123C923E54}"/>
                </a:ext>
              </a:extLst>
            </p:cNvPr>
            <p:cNvSpPr/>
            <p:nvPr/>
          </p:nvSpPr>
          <p:spPr>
            <a:xfrm>
              <a:off x="8574198"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spTree>
    <p:extLst>
      <p:ext uri="{BB962C8B-B14F-4D97-AF65-F5344CB8AC3E}">
        <p14:creationId xmlns:p14="http://schemas.microsoft.com/office/powerpoint/2010/main" val="148415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9E796-E8D3-B4A5-DE7B-322F63386F74}"/>
              </a:ext>
            </a:extLst>
          </p:cNvPr>
          <p:cNvSpPr>
            <a:spLocks noGrp="1"/>
          </p:cNvSpPr>
          <p:nvPr>
            <p:ph type="title"/>
          </p:nvPr>
        </p:nvSpPr>
        <p:spPr/>
        <p:txBody>
          <a:bodyPr/>
          <a:lstStyle/>
          <a:p>
            <a:r>
              <a:rPr lang="en-US" noProof="0" dirty="0"/>
              <a:t>Support for layout-agnostic data distribution</a:t>
            </a:r>
          </a:p>
        </p:txBody>
      </p:sp>
      <p:sp>
        <p:nvSpPr>
          <p:cNvPr id="3" name="Date Placeholder 2">
            <a:extLst>
              <a:ext uri="{FF2B5EF4-FFF2-40B4-BE49-F238E27FC236}">
                <a16:creationId xmlns:a16="http://schemas.microsoft.com/office/drawing/2014/main" id="{E10A9B0C-32AC-B4DC-D921-8746913B5E36}"/>
              </a:ext>
            </a:extLst>
          </p:cNvPr>
          <p:cNvSpPr>
            <a:spLocks noGrp="1"/>
          </p:cNvSpPr>
          <p:nvPr>
            <p:ph type="dt" sz="half" idx="10"/>
          </p:nvPr>
        </p:nvSpPr>
        <p:spPr/>
        <p:txBody>
          <a:bodyPr/>
          <a:lstStyle/>
          <a:p>
            <a:fld id="{D2B8A75C-05AF-4892-8E0E-22A5D3C1A1D7}"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AB163094-AC61-E3F3-BAF8-AC409B2B6F0A}"/>
              </a:ext>
            </a:extLst>
          </p:cNvPr>
          <p:cNvSpPr>
            <a:spLocks noGrp="1"/>
          </p:cNvSpPr>
          <p:nvPr>
            <p:ph type="sldNum" sz="quarter" idx="12"/>
          </p:nvPr>
        </p:nvSpPr>
        <p:spPr/>
        <p:txBody>
          <a:bodyPr/>
          <a:lstStyle/>
          <a:p>
            <a:fld id="{DA0BB241-1B5F-4309-9407-9EEA04D9598D}" type="slidenum">
              <a:rPr lang="en-US" noProof="0" smtClean="0"/>
              <a:t>17</a:t>
            </a:fld>
            <a:endParaRPr lang="en-US" noProof="0" dirty="0"/>
          </a:p>
        </p:txBody>
      </p:sp>
      <p:pic>
        <p:nvPicPr>
          <p:cNvPr id="8" name="Picture 7">
            <a:extLst>
              <a:ext uri="{FF2B5EF4-FFF2-40B4-BE49-F238E27FC236}">
                <a16:creationId xmlns:a16="http://schemas.microsoft.com/office/drawing/2014/main" id="{E0FCA7EC-7437-CC15-6D3A-990AAB3DDAFA}"/>
              </a:ext>
            </a:extLst>
          </p:cNvPr>
          <p:cNvPicPr>
            <a:picLocks noChangeAspect="1"/>
          </p:cNvPicPr>
          <p:nvPr/>
        </p:nvPicPr>
        <p:blipFill>
          <a:blip r:embed="rId3"/>
          <a:stretch>
            <a:fillRect/>
          </a:stretch>
        </p:blipFill>
        <p:spPr>
          <a:xfrm>
            <a:off x="152400" y="1690849"/>
            <a:ext cx="11887200" cy="3476302"/>
          </a:xfrm>
          <a:prstGeom prst="rect">
            <a:avLst/>
          </a:prstGeom>
        </p:spPr>
      </p:pic>
    </p:spTree>
    <p:extLst>
      <p:ext uri="{BB962C8B-B14F-4D97-AF65-F5344CB8AC3E}">
        <p14:creationId xmlns:p14="http://schemas.microsoft.com/office/powerpoint/2010/main" val="202421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3AE25-E132-6DBD-F16F-E9598EA68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CBB0C-3BD1-5355-89AC-1EFD3483308F}"/>
              </a:ext>
            </a:extLst>
          </p:cNvPr>
          <p:cNvSpPr>
            <a:spLocks noGrp="1"/>
          </p:cNvSpPr>
          <p:nvPr>
            <p:ph type="title"/>
          </p:nvPr>
        </p:nvSpPr>
        <p:spPr/>
        <p:txBody>
          <a:bodyPr/>
          <a:lstStyle/>
          <a:p>
            <a:r>
              <a:rPr lang="en-US" noProof="0" dirty="0"/>
              <a:t>Noarr-MPI does not introduce overhead</a:t>
            </a:r>
          </a:p>
        </p:txBody>
      </p:sp>
      <p:sp>
        <p:nvSpPr>
          <p:cNvPr id="3" name="Date Placeholder 2">
            <a:extLst>
              <a:ext uri="{FF2B5EF4-FFF2-40B4-BE49-F238E27FC236}">
                <a16:creationId xmlns:a16="http://schemas.microsoft.com/office/drawing/2014/main" id="{28BB4D7E-1AFC-CDF0-9265-FE90CABB0DF6}"/>
              </a:ext>
            </a:extLst>
          </p:cNvPr>
          <p:cNvSpPr>
            <a:spLocks noGrp="1"/>
          </p:cNvSpPr>
          <p:nvPr>
            <p:ph type="dt" sz="half" idx="10"/>
          </p:nvPr>
        </p:nvSpPr>
        <p:spPr/>
        <p:txBody>
          <a:bodyPr/>
          <a:lstStyle/>
          <a:p>
            <a:fld id="{D2B8A75C-05AF-4892-8E0E-22A5D3C1A1D7}"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5F5A869E-F9A0-1579-FBDB-E8F79B3DF8D9}"/>
              </a:ext>
            </a:extLst>
          </p:cNvPr>
          <p:cNvSpPr>
            <a:spLocks noGrp="1"/>
          </p:cNvSpPr>
          <p:nvPr>
            <p:ph type="sldNum" sz="quarter" idx="12"/>
          </p:nvPr>
        </p:nvSpPr>
        <p:spPr/>
        <p:txBody>
          <a:bodyPr/>
          <a:lstStyle/>
          <a:p>
            <a:fld id="{DA0BB241-1B5F-4309-9407-9EEA04D9598D}" type="slidenum">
              <a:rPr lang="en-US" noProof="0" smtClean="0"/>
              <a:t>18</a:t>
            </a:fld>
            <a:endParaRPr lang="en-US" noProof="0" dirty="0"/>
          </a:p>
        </p:txBody>
      </p:sp>
      <p:pic>
        <p:nvPicPr>
          <p:cNvPr id="8" name="Picture 7">
            <a:extLst>
              <a:ext uri="{FF2B5EF4-FFF2-40B4-BE49-F238E27FC236}">
                <a16:creationId xmlns:a16="http://schemas.microsoft.com/office/drawing/2014/main" id="{9B147978-2CA9-0505-C6D4-60F25215B78C}"/>
              </a:ext>
            </a:extLst>
          </p:cNvPr>
          <p:cNvPicPr>
            <a:picLocks noChangeAspect="1"/>
          </p:cNvPicPr>
          <p:nvPr/>
        </p:nvPicPr>
        <p:blipFill>
          <a:blip r:embed="rId3"/>
          <a:stretch>
            <a:fillRect/>
          </a:stretch>
        </p:blipFill>
        <p:spPr>
          <a:xfrm>
            <a:off x="2628" y="1466512"/>
            <a:ext cx="12189372" cy="3924976"/>
          </a:xfrm>
          <a:prstGeom prst="rect">
            <a:avLst/>
          </a:prstGeom>
        </p:spPr>
      </p:pic>
    </p:spTree>
    <p:extLst>
      <p:ext uri="{BB962C8B-B14F-4D97-AF65-F5344CB8AC3E}">
        <p14:creationId xmlns:p14="http://schemas.microsoft.com/office/powerpoint/2010/main" val="3972703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3A55-13AD-DFB3-5443-4EA6B4D358F5}"/>
              </a:ext>
            </a:extLst>
          </p:cNvPr>
          <p:cNvSpPr>
            <a:spLocks noGrp="1"/>
          </p:cNvSpPr>
          <p:nvPr>
            <p:ph type="title"/>
          </p:nvPr>
        </p:nvSpPr>
        <p:spPr/>
        <p:txBody>
          <a:bodyPr/>
          <a:lstStyle/>
          <a:p>
            <a:r>
              <a:rPr lang="en-US" noProof="0" dirty="0"/>
              <a:t>Stencil computation abstractions</a:t>
            </a:r>
          </a:p>
        </p:txBody>
      </p:sp>
      <p:sp>
        <p:nvSpPr>
          <p:cNvPr id="2" name="Date Placeholder 1">
            <a:extLst>
              <a:ext uri="{FF2B5EF4-FFF2-40B4-BE49-F238E27FC236}">
                <a16:creationId xmlns:a16="http://schemas.microsoft.com/office/drawing/2014/main" id="{EB9C5298-6963-89FD-4A0D-2B40AEF803B5}"/>
              </a:ext>
            </a:extLst>
          </p:cNvPr>
          <p:cNvSpPr>
            <a:spLocks noGrp="1"/>
          </p:cNvSpPr>
          <p:nvPr>
            <p:ph type="dt" sz="half" idx="10"/>
          </p:nvPr>
        </p:nvSpPr>
        <p:spPr/>
        <p:txBody>
          <a:bodyPr/>
          <a:lstStyle/>
          <a:p>
            <a:fld id="{3282519B-8553-4EB5-804E-C162E89AEEEB}" type="datetime1">
              <a:rPr lang="en-US" noProof="0" smtClean="0"/>
              <a:t>9/6/2026</a:t>
            </a:fld>
            <a:endParaRPr lang="en-US" noProof="0" dirty="0"/>
          </a:p>
        </p:txBody>
      </p:sp>
      <p:sp>
        <p:nvSpPr>
          <p:cNvPr id="3" name="Slide Number Placeholder 2">
            <a:extLst>
              <a:ext uri="{FF2B5EF4-FFF2-40B4-BE49-F238E27FC236}">
                <a16:creationId xmlns:a16="http://schemas.microsoft.com/office/drawing/2014/main" id="{7EB3A830-7137-2C37-9AF7-67F412109557}"/>
              </a:ext>
            </a:extLst>
          </p:cNvPr>
          <p:cNvSpPr>
            <a:spLocks noGrp="1"/>
          </p:cNvSpPr>
          <p:nvPr>
            <p:ph type="sldNum" sz="quarter" idx="12"/>
          </p:nvPr>
        </p:nvSpPr>
        <p:spPr/>
        <p:txBody>
          <a:bodyPr/>
          <a:lstStyle/>
          <a:p>
            <a:fld id="{DA0BB241-1B5F-4309-9407-9EEA04D9598D}" type="slidenum">
              <a:rPr lang="en-US" noProof="0" smtClean="0"/>
              <a:t>19</a:t>
            </a:fld>
            <a:endParaRPr lang="en-US" noProof="0" dirty="0"/>
          </a:p>
        </p:txBody>
      </p:sp>
      <p:grpSp>
        <p:nvGrpSpPr>
          <p:cNvPr id="10" name="Group 9">
            <a:extLst>
              <a:ext uri="{FF2B5EF4-FFF2-40B4-BE49-F238E27FC236}">
                <a16:creationId xmlns:a16="http://schemas.microsoft.com/office/drawing/2014/main" id="{DCEA82E3-1BE2-3FF6-28C1-ADABA685AC1D}"/>
              </a:ext>
            </a:extLst>
          </p:cNvPr>
          <p:cNvGrpSpPr/>
          <p:nvPr/>
        </p:nvGrpSpPr>
        <p:grpSpPr>
          <a:xfrm>
            <a:off x="6804263" y="5776906"/>
            <a:ext cx="2787375" cy="732656"/>
            <a:chOff x="6373769" y="1459455"/>
            <a:chExt cx="2787375" cy="732656"/>
          </a:xfrm>
        </p:grpSpPr>
        <p:pic>
          <p:nvPicPr>
            <p:cNvPr id="11" name="Graphic 10" descr="Images with solid fill">
              <a:extLst>
                <a:ext uri="{FF2B5EF4-FFF2-40B4-BE49-F238E27FC236}">
                  <a16:creationId xmlns:a16="http://schemas.microsoft.com/office/drawing/2014/main" id="{BCB8AB1E-4038-D3A7-C93F-C113F4A994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73769" y="1459455"/>
              <a:ext cx="732656" cy="732656"/>
            </a:xfrm>
            <a:prstGeom prst="rect">
              <a:avLst/>
            </a:prstGeom>
          </p:spPr>
        </p:pic>
        <p:sp>
          <p:nvSpPr>
            <p:cNvPr id="12" name="TextBox 11">
              <a:extLst>
                <a:ext uri="{FF2B5EF4-FFF2-40B4-BE49-F238E27FC236}">
                  <a16:creationId xmlns:a16="http://schemas.microsoft.com/office/drawing/2014/main" id="{FDC41653-37C0-2B80-EE45-53468F84FBC7}"/>
                </a:ext>
              </a:extLst>
            </p:cNvPr>
            <p:cNvSpPr txBox="1"/>
            <p:nvPr/>
          </p:nvSpPr>
          <p:spPr>
            <a:xfrm>
              <a:off x="7036845" y="1641117"/>
              <a:ext cx="2124299" cy="400110"/>
            </a:xfrm>
            <a:prstGeom prst="rect">
              <a:avLst/>
            </a:prstGeom>
            <a:noFill/>
          </p:spPr>
          <p:txBody>
            <a:bodyPr wrap="none" rtlCol="0" anchor="ctr">
              <a:spAutoFit/>
            </a:bodyPr>
            <a:lstStyle/>
            <a:p>
              <a:r>
                <a:rPr lang="en-US" sz="2000" noProof="0" dirty="0"/>
                <a:t>Image processing</a:t>
              </a:r>
            </a:p>
          </p:txBody>
        </p:sp>
      </p:grpSp>
      <p:sp>
        <p:nvSpPr>
          <p:cNvPr id="17" name="TextBox 16">
            <a:extLst>
              <a:ext uri="{FF2B5EF4-FFF2-40B4-BE49-F238E27FC236}">
                <a16:creationId xmlns:a16="http://schemas.microsoft.com/office/drawing/2014/main" id="{EDBA9A01-C547-889B-493B-188DC700AFAE}"/>
              </a:ext>
            </a:extLst>
          </p:cNvPr>
          <p:cNvSpPr txBox="1"/>
          <p:nvPr/>
        </p:nvSpPr>
        <p:spPr>
          <a:xfrm>
            <a:off x="1972661" y="1663006"/>
            <a:ext cx="4026808" cy="461665"/>
          </a:xfrm>
          <a:prstGeom prst="rect">
            <a:avLst/>
          </a:prstGeom>
          <a:noFill/>
        </p:spPr>
        <p:txBody>
          <a:bodyPr wrap="none" rtlCol="0" anchor="b">
            <a:spAutoFit/>
          </a:bodyPr>
          <a:lstStyle/>
          <a:p>
            <a:pPr algn="ctr"/>
            <a:r>
              <a:rPr lang="en-US" sz="2400" noProof="0" dirty="0"/>
              <a:t>Example of an 8-point stencil</a:t>
            </a:r>
          </a:p>
        </p:txBody>
      </p:sp>
      <p:grpSp>
        <p:nvGrpSpPr>
          <p:cNvPr id="8" name="Group 7">
            <a:extLst>
              <a:ext uri="{FF2B5EF4-FFF2-40B4-BE49-F238E27FC236}">
                <a16:creationId xmlns:a16="http://schemas.microsoft.com/office/drawing/2014/main" id="{8EAFD399-C8B3-F2C8-A168-313A709B17A8}"/>
              </a:ext>
            </a:extLst>
          </p:cNvPr>
          <p:cNvGrpSpPr/>
          <p:nvPr/>
        </p:nvGrpSpPr>
        <p:grpSpPr>
          <a:xfrm>
            <a:off x="7556282" y="2210069"/>
            <a:ext cx="4627188" cy="2320646"/>
            <a:chOff x="4042550" y="4991122"/>
            <a:chExt cx="4627188" cy="2320646"/>
          </a:xfrm>
        </p:grpSpPr>
        <p:pic>
          <p:nvPicPr>
            <p:cNvPr id="5" name="Picture 4">
              <a:extLst>
                <a:ext uri="{FF2B5EF4-FFF2-40B4-BE49-F238E27FC236}">
                  <a16:creationId xmlns:a16="http://schemas.microsoft.com/office/drawing/2014/main" id="{DBDA9C2C-E1CC-A951-8389-185C7CDBEF85}"/>
                </a:ext>
              </a:extLst>
            </p:cNvPr>
            <p:cNvPicPr>
              <a:picLocks noChangeAspect="1"/>
            </p:cNvPicPr>
            <p:nvPr/>
          </p:nvPicPr>
          <p:blipFill>
            <a:blip r:embed="rId4"/>
            <a:stretch>
              <a:fillRect/>
            </a:stretch>
          </p:blipFill>
          <p:spPr>
            <a:xfrm>
              <a:off x="6970149" y="5560830"/>
              <a:ext cx="1112954" cy="1298446"/>
            </a:xfrm>
            <a:prstGeom prst="rect">
              <a:avLst/>
            </a:prstGeom>
          </p:spPr>
        </p:pic>
        <p:sp>
          <p:nvSpPr>
            <p:cNvPr id="20" name="TextBox 19">
              <a:extLst>
                <a:ext uri="{FF2B5EF4-FFF2-40B4-BE49-F238E27FC236}">
                  <a16:creationId xmlns:a16="http://schemas.microsoft.com/office/drawing/2014/main" id="{00085155-9776-5628-AC7C-0E24C456238E}"/>
                </a:ext>
              </a:extLst>
            </p:cNvPr>
            <p:cNvSpPr txBox="1"/>
            <p:nvPr/>
          </p:nvSpPr>
          <p:spPr>
            <a:xfrm>
              <a:off x="4042550" y="4991122"/>
              <a:ext cx="3785232" cy="578882"/>
            </a:xfrm>
            <a:prstGeom prst="wedgeRoundRectCallout">
              <a:avLst>
                <a:gd name="adj1" fmla="val 32918"/>
                <a:gd name="adj2" fmla="val 128777"/>
                <a:gd name="adj3" fmla="val 16667"/>
              </a:avLst>
            </a:prstGeom>
            <a:gradFill>
              <a:gsLst>
                <a:gs pos="0">
                  <a:srgbClr val="ADD7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nchor="b">
              <a:spAutoFit/>
            </a:bodyPr>
            <a:lstStyle/>
            <a:p>
              <a:r>
                <a:rPr lang="en-US" sz="2800" noProof="0" dirty="0"/>
                <a:t>Can we abstract more?</a:t>
              </a:r>
            </a:p>
          </p:txBody>
        </p:sp>
        <p:sp>
          <p:nvSpPr>
            <p:cNvPr id="6" name="TextBox 5">
              <a:extLst>
                <a:ext uri="{FF2B5EF4-FFF2-40B4-BE49-F238E27FC236}">
                  <a16:creationId xmlns:a16="http://schemas.microsoft.com/office/drawing/2014/main" id="{A3ED9BA9-7D7E-319D-6BB0-E797117EB5EA}"/>
                </a:ext>
              </a:extLst>
            </p:cNvPr>
            <p:cNvSpPr txBox="1"/>
            <p:nvPr/>
          </p:nvSpPr>
          <p:spPr>
            <a:xfrm>
              <a:off x="6294921" y="6850103"/>
              <a:ext cx="2374817" cy="461665"/>
            </a:xfrm>
            <a:prstGeom prst="rect">
              <a:avLst/>
            </a:prstGeom>
            <a:noFill/>
          </p:spPr>
          <p:txBody>
            <a:bodyPr wrap="none" rtlCol="0">
              <a:spAutoFit/>
            </a:bodyPr>
            <a:lstStyle/>
            <a:p>
              <a:pPr algn="ctr"/>
              <a:r>
                <a:rPr lang="en-US" sz="2400" noProof="0" dirty="0" err="1"/>
                <a:t>Collegue</a:t>
              </a:r>
              <a:r>
                <a:rPr lang="en-US" sz="2400" noProof="0" dirty="0"/>
                <a:t> Brabec</a:t>
              </a:r>
            </a:p>
          </p:txBody>
        </p:sp>
      </p:grpSp>
      <p:sp>
        <p:nvSpPr>
          <p:cNvPr id="19" name="Rectangle 18">
            <a:extLst>
              <a:ext uri="{FF2B5EF4-FFF2-40B4-BE49-F238E27FC236}">
                <a16:creationId xmlns:a16="http://schemas.microsoft.com/office/drawing/2014/main" id="{6E59B725-5B8D-D594-A1C6-5596E71C41D8}"/>
              </a:ext>
            </a:extLst>
          </p:cNvPr>
          <p:cNvSpPr/>
          <p:nvPr/>
        </p:nvSpPr>
        <p:spPr>
          <a:xfrm>
            <a:off x="2534310" y="2124671"/>
            <a:ext cx="2705100" cy="2705100"/>
          </a:xfrm>
          <a:prstGeom prst="rect">
            <a:avLst/>
          </a:prstGeom>
          <a:solidFill>
            <a:srgbClr val="FFFFFF"/>
          </a:solidFill>
          <a:ln w="9525" cap="flat">
            <a:noFill/>
            <a:prstDash val="solid"/>
            <a:miter/>
          </a:ln>
        </p:spPr>
        <p:txBody>
          <a:bodyPr/>
          <a:lstStyle/>
          <a:p>
            <a:endParaRPr lang="en-US" noProof="0" dirty="0"/>
          </a:p>
        </p:txBody>
      </p:sp>
      <p:grpSp>
        <p:nvGrpSpPr>
          <p:cNvPr id="21" name="Graphic 14">
            <a:extLst>
              <a:ext uri="{FF2B5EF4-FFF2-40B4-BE49-F238E27FC236}">
                <a16:creationId xmlns:a16="http://schemas.microsoft.com/office/drawing/2014/main" id="{131381F6-097A-8BC9-D3A9-020A95F0412B}"/>
              </a:ext>
            </a:extLst>
          </p:cNvPr>
          <p:cNvGrpSpPr/>
          <p:nvPr/>
        </p:nvGrpSpPr>
        <p:grpSpPr>
          <a:xfrm>
            <a:off x="2548597" y="2138958"/>
            <a:ext cx="2667000" cy="2667000"/>
            <a:chOff x="4757737" y="2090737"/>
            <a:chExt cx="2667000" cy="2667000"/>
          </a:xfrm>
        </p:grpSpPr>
        <p:sp>
          <p:nvSpPr>
            <p:cNvPr id="22" name="Rectangle 21">
              <a:extLst>
                <a:ext uri="{FF2B5EF4-FFF2-40B4-BE49-F238E27FC236}">
                  <a16:creationId xmlns:a16="http://schemas.microsoft.com/office/drawing/2014/main" id="{EF7F5BCC-707A-C7A9-26AA-9EBB8EB6FDF3}"/>
                </a:ext>
              </a:extLst>
            </p:cNvPr>
            <p:cNvSpPr/>
            <p:nvPr/>
          </p:nvSpPr>
          <p:spPr>
            <a:xfrm>
              <a:off x="4757737" y="2090737"/>
              <a:ext cx="2667000" cy="2667000"/>
            </a:xfrm>
            <a:prstGeom prst="rect">
              <a:avLst/>
            </a:prstGeom>
            <a:noFill/>
            <a:ln w="28575" cap="flat">
              <a:solidFill>
                <a:srgbClr val="000000"/>
              </a:solidFill>
              <a:prstDash val="solid"/>
              <a:miter/>
            </a:ln>
          </p:spPr>
          <p:txBody>
            <a:bodyPr/>
            <a:lstStyle/>
            <a:p>
              <a:endParaRPr lang="en-US" noProof="0" dirty="0"/>
            </a:p>
          </p:txBody>
        </p:sp>
        <p:sp>
          <p:nvSpPr>
            <p:cNvPr id="23" name="Rectangle 22">
              <a:extLst>
                <a:ext uri="{FF2B5EF4-FFF2-40B4-BE49-F238E27FC236}">
                  <a16:creationId xmlns:a16="http://schemas.microsoft.com/office/drawing/2014/main" id="{6188D0D4-A30F-BF09-D1A4-991195FC2358}"/>
                </a:ext>
              </a:extLst>
            </p:cNvPr>
            <p:cNvSpPr/>
            <p:nvPr/>
          </p:nvSpPr>
          <p:spPr>
            <a:xfrm>
              <a:off x="4757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4" name="Rectangle 23">
              <a:extLst>
                <a:ext uri="{FF2B5EF4-FFF2-40B4-BE49-F238E27FC236}">
                  <a16:creationId xmlns:a16="http://schemas.microsoft.com/office/drawing/2014/main" id="{00188916-92A3-C146-6295-587F5EA3BBA0}"/>
                </a:ext>
              </a:extLst>
            </p:cNvPr>
            <p:cNvSpPr/>
            <p:nvPr/>
          </p:nvSpPr>
          <p:spPr>
            <a:xfrm>
              <a:off x="5138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5" name="Rectangle 24">
              <a:extLst>
                <a:ext uri="{FF2B5EF4-FFF2-40B4-BE49-F238E27FC236}">
                  <a16:creationId xmlns:a16="http://schemas.microsoft.com/office/drawing/2014/main" id="{D565B24B-CFB0-9AF6-2694-250DAAC2D82A}"/>
                </a:ext>
              </a:extLst>
            </p:cNvPr>
            <p:cNvSpPr/>
            <p:nvPr/>
          </p:nvSpPr>
          <p:spPr>
            <a:xfrm>
              <a:off x="4757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6" name="Rectangle 25">
              <a:extLst>
                <a:ext uri="{FF2B5EF4-FFF2-40B4-BE49-F238E27FC236}">
                  <a16:creationId xmlns:a16="http://schemas.microsoft.com/office/drawing/2014/main" id="{CFFB034F-FB02-984D-1C5D-AD7DADD8CCEE}"/>
                </a:ext>
              </a:extLst>
            </p:cNvPr>
            <p:cNvSpPr/>
            <p:nvPr/>
          </p:nvSpPr>
          <p:spPr>
            <a:xfrm>
              <a:off x="5138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7" name="Rectangle 26">
              <a:extLst>
                <a:ext uri="{FF2B5EF4-FFF2-40B4-BE49-F238E27FC236}">
                  <a16:creationId xmlns:a16="http://schemas.microsoft.com/office/drawing/2014/main" id="{016B05D1-22BF-3997-FCC5-A7BF9E1104CC}"/>
                </a:ext>
              </a:extLst>
            </p:cNvPr>
            <p:cNvSpPr/>
            <p:nvPr/>
          </p:nvSpPr>
          <p:spPr>
            <a:xfrm>
              <a:off x="5519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8" name="Rectangle 27">
              <a:extLst>
                <a:ext uri="{FF2B5EF4-FFF2-40B4-BE49-F238E27FC236}">
                  <a16:creationId xmlns:a16="http://schemas.microsoft.com/office/drawing/2014/main" id="{96FDCCAA-F3FB-DF0F-194B-10625614E55E}"/>
                </a:ext>
              </a:extLst>
            </p:cNvPr>
            <p:cNvSpPr/>
            <p:nvPr/>
          </p:nvSpPr>
          <p:spPr>
            <a:xfrm>
              <a:off x="5900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9" name="Rectangle 28">
              <a:extLst>
                <a:ext uri="{FF2B5EF4-FFF2-40B4-BE49-F238E27FC236}">
                  <a16:creationId xmlns:a16="http://schemas.microsoft.com/office/drawing/2014/main" id="{E566E2F5-E6AC-E8BB-DD7C-0DE27F52268C}"/>
                </a:ext>
              </a:extLst>
            </p:cNvPr>
            <p:cNvSpPr/>
            <p:nvPr/>
          </p:nvSpPr>
          <p:spPr>
            <a:xfrm>
              <a:off x="5519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0" name="Rectangle 29">
              <a:extLst>
                <a:ext uri="{FF2B5EF4-FFF2-40B4-BE49-F238E27FC236}">
                  <a16:creationId xmlns:a16="http://schemas.microsoft.com/office/drawing/2014/main" id="{6702C292-D602-F047-6E5D-07963C84A4EB}"/>
                </a:ext>
              </a:extLst>
            </p:cNvPr>
            <p:cNvSpPr/>
            <p:nvPr/>
          </p:nvSpPr>
          <p:spPr>
            <a:xfrm>
              <a:off x="5900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1" name="Rectangle 30">
              <a:extLst>
                <a:ext uri="{FF2B5EF4-FFF2-40B4-BE49-F238E27FC236}">
                  <a16:creationId xmlns:a16="http://schemas.microsoft.com/office/drawing/2014/main" id="{713BC10D-DEEF-977B-5260-48F3EFFA0845}"/>
                </a:ext>
              </a:extLst>
            </p:cNvPr>
            <p:cNvSpPr/>
            <p:nvPr/>
          </p:nvSpPr>
          <p:spPr>
            <a:xfrm>
              <a:off x="6281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2" name="Rectangle 31">
              <a:extLst>
                <a:ext uri="{FF2B5EF4-FFF2-40B4-BE49-F238E27FC236}">
                  <a16:creationId xmlns:a16="http://schemas.microsoft.com/office/drawing/2014/main" id="{8FAA4B6A-CFDE-D085-E468-CE06D057F64F}"/>
                </a:ext>
              </a:extLst>
            </p:cNvPr>
            <p:cNvSpPr/>
            <p:nvPr/>
          </p:nvSpPr>
          <p:spPr>
            <a:xfrm>
              <a:off x="6662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3" name="Rectangle 32">
              <a:extLst>
                <a:ext uri="{FF2B5EF4-FFF2-40B4-BE49-F238E27FC236}">
                  <a16:creationId xmlns:a16="http://schemas.microsoft.com/office/drawing/2014/main" id="{6389750B-27AD-9F2E-3F88-CFA26D7D8A81}"/>
                </a:ext>
              </a:extLst>
            </p:cNvPr>
            <p:cNvSpPr/>
            <p:nvPr/>
          </p:nvSpPr>
          <p:spPr>
            <a:xfrm>
              <a:off x="6281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4" name="Rectangle 33">
              <a:extLst>
                <a:ext uri="{FF2B5EF4-FFF2-40B4-BE49-F238E27FC236}">
                  <a16:creationId xmlns:a16="http://schemas.microsoft.com/office/drawing/2014/main" id="{3C890C6A-2351-89FA-0F19-374AD2365963}"/>
                </a:ext>
              </a:extLst>
            </p:cNvPr>
            <p:cNvSpPr/>
            <p:nvPr/>
          </p:nvSpPr>
          <p:spPr>
            <a:xfrm>
              <a:off x="6662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5" name="Rectangle 34">
              <a:extLst>
                <a:ext uri="{FF2B5EF4-FFF2-40B4-BE49-F238E27FC236}">
                  <a16:creationId xmlns:a16="http://schemas.microsoft.com/office/drawing/2014/main" id="{E5044FC0-207D-AD26-4347-8122E38748B0}"/>
                </a:ext>
              </a:extLst>
            </p:cNvPr>
            <p:cNvSpPr/>
            <p:nvPr/>
          </p:nvSpPr>
          <p:spPr>
            <a:xfrm>
              <a:off x="7043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6" name="Rectangle 35">
              <a:extLst>
                <a:ext uri="{FF2B5EF4-FFF2-40B4-BE49-F238E27FC236}">
                  <a16:creationId xmlns:a16="http://schemas.microsoft.com/office/drawing/2014/main" id="{9E0ADB09-AF36-DF07-D7AB-BB065EDC6924}"/>
                </a:ext>
              </a:extLst>
            </p:cNvPr>
            <p:cNvSpPr/>
            <p:nvPr/>
          </p:nvSpPr>
          <p:spPr>
            <a:xfrm>
              <a:off x="7043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7" name="Rectangle 36">
              <a:extLst>
                <a:ext uri="{FF2B5EF4-FFF2-40B4-BE49-F238E27FC236}">
                  <a16:creationId xmlns:a16="http://schemas.microsoft.com/office/drawing/2014/main" id="{22E54BAB-88FD-1454-1BD8-2B98F80E238A}"/>
                </a:ext>
              </a:extLst>
            </p:cNvPr>
            <p:cNvSpPr/>
            <p:nvPr/>
          </p:nvSpPr>
          <p:spPr>
            <a:xfrm>
              <a:off x="4757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8" name="Rectangle 37">
              <a:extLst>
                <a:ext uri="{FF2B5EF4-FFF2-40B4-BE49-F238E27FC236}">
                  <a16:creationId xmlns:a16="http://schemas.microsoft.com/office/drawing/2014/main" id="{358A08F8-CED6-6152-0F69-34DAEE3D4046}"/>
                </a:ext>
              </a:extLst>
            </p:cNvPr>
            <p:cNvSpPr/>
            <p:nvPr/>
          </p:nvSpPr>
          <p:spPr>
            <a:xfrm>
              <a:off x="5138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9" name="Rectangle 38">
              <a:extLst>
                <a:ext uri="{FF2B5EF4-FFF2-40B4-BE49-F238E27FC236}">
                  <a16:creationId xmlns:a16="http://schemas.microsoft.com/office/drawing/2014/main" id="{5A10A4CB-C35E-F199-070A-4C13EE0AF10C}"/>
                </a:ext>
              </a:extLst>
            </p:cNvPr>
            <p:cNvSpPr/>
            <p:nvPr/>
          </p:nvSpPr>
          <p:spPr>
            <a:xfrm>
              <a:off x="4757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0" name="Rectangle 39">
              <a:extLst>
                <a:ext uri="{FF2B5EF4-FFF2-40B4-BE49-F238E27FC236}">
                  <a16:creationId xmlns:a16="http://schemas.microsoft.com/office/drawing/2014/main" id="{824DB158-9A93-B150-0B6B-4432E7BF3A1D}"/>
                </a:ext>
              </a:extLst>
            </p:cNvPr>
            <p:cNvSpPr/>
            <p:nvPr/>
          </p:nvSpPr>
          <p:spPr>
            <a:xfrm>
              <a:off x="5138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1" name="Rectangle 40">
              <a:extLst>
                <a:ext uri="{FF2B5EF4-FFF2-40B4-BE49-F238E27FC236}">
                  <a16:creationId xmlns:a16="http://schemas.microsoft.com/office/drawing/2014/main" id="{BCDE420E-24C9-F752-1F86-628695037DFB}"/>
                </a:ext>
              </a:extLst>
            </p:cNvPr>
            <p:cNvSpPr/>
            <p:nvPr/>
          </p:nvSpPr>
          <p:spPr>
            <a:xfrm>
              <a:off x="5519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2" name="Rectangle 41">
              <a:extLst>
                <a:ext uri="{FF2B5EF4-FFF2-40B4-BE49-F238E27FC236}">
                  <a16:creationId xmlns:a16="http://schemas.microsoft.com/office/drawing/2014/main" id="{D2573C6B-914F-6E70-3607-01D6D4AA2171}"/>
                </a:ext>
              </a:extLst>
            </p:cNvPr>
            <p:cNvSpPr/>
            <p:nvPr/>
          </p:nvSpPr>
          <p:spPr>
            <a:xfrm>
              <a:off x="5900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3" name="Rectangle 42">
              <a:extLst>
                <a:ext uri="{FF2B5EF4-FFF2-40B4-BE49-F238E27FC236}">
                  <a16:creationId xmlns:a16="http://schemas.microsoft.com/office/drawing/2014/main" id="{4E9D0D9C-1D7E-4015-DC4B-F852F0E0E8C5}"/>
                </a:ext>
              </a:extLst>
            </p:cNvPr>
            <p:cNvSpPr/>
            <p:nvPr/>
          </p:nvSpPr>
          <p:spPr>
            <a:xfrm>
              <a:off x="5519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4" name="Rectangle 43">
              <a:extLst>
                <a:ext uri="{FF2B5EF4-FFF2-40B4-BE49-F238E27FC236}">
                  <a16:creationId xmlns:a16="http://schemas.microsoft.com/office/drawing/2014/main" id="{2009D743-456B-CC33-B852-F2B83A20B667}"/>
                </a:ext>
              </a:extLst>
            </p:cNvPr>
            <p:cNvSpPr/>
            <p:nvPr/>
          </p:nvSpPr>
          <p:spPr>
            <a:xfrm>
              <a:off x="5900737" y="3233737"/>
              <a:ext cx="381000" cy="381000"/>
            </a:xfrm>
            <a:prstGeom prst="rect">
              <a:avLst/>
            </a:prstGeom>
            <a:solidFill>
              <a:srgbClr val="000000"/>
            </a:solidFill>
            <a:ln w="9525" cap="flat">
              <a:solidFill>
                <a:srgbClr val="000000"/>
              </a:solidFill>
              <a:prstDash val="solid"/>
              <a:miter/>
            </a:ln>
          </p:spPr>
          <p:txBody>
            <a:bodyPr/>
            <a:lstStyle/>
            <a:p>
              <a:endParaRPr lang="en-US" noProof="0" dirty="0"/>
            </a:p>
          </p:txBody>
        </p:sp>
        <p:sp>
          <p:nvSpPr>
            <p:cNvPr id="45" name="Rectangle 44">
              <a:extLst>
                <a:ext uri="{FF2B5EF4-FFF2-40B4-BE49-F238E27FC236}">
                  <a16:creationId xmlns:a16="http://schemas.microsoft.com/office/drawing/2014/main" id="{51D6CE2D-EC21-F227-66B9-A82F2F55270F}"/>
                </a:ext>
              </a:extLst>
            </p:cNvPr>
            <p:cNvSpPr/>
            <p:nvPr/>
          </p:nvSpPr>
          <p:spPr>
            <a:xfrm>
              <a:off x="6281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6" name="Rectangle 45">
              <a:extLst>
                <a:ext uri="{FF2B5EF4-FFF2-40B4-BE49-F238E27FC236}">
                  <a16:creationId xmlns:a16="http://schemas.microsoft.com/office/drawing/2014/main" id="{69D39EEB-9B98-21F0-046F-3C36D161BCCE}"/>
                </a:ext>
              </a:extLst>
            </p:cNvPr>
            <p:cNvSpPr/>
            <p:nvPr/>
          </p:nvSpPr>
          <p:spPr>
            <a:xfrm>
              <a:off x="6662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7" name="Rectangle 46">
              <a:extLst>
                <a:ext uri="{FF2B5EF4-FFF2-40B4-BE49-F238E27FC236}">
                  <a16:creationId xmlns:a16="http://schemas.microsoft.com/office/drawing/2014/main" id="{D8023305-2D4B-C087-55B5-07F10F8019CD}"/>
                </a:ext>
              </a:extLst>
            </p:cNvPr>
            <p:cNvSpPr/>
            <p:nvPr/>
          </p:nvSpPr>
          <p:spPr>
            <a:xfrm>
              <a:off x="6281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8" name="Rectangle 47">
              <a:extLst>
                <a:ext uri="{FF2B5EF4-FFF2-40B4-BE49-F238E27FC236}">
                  <a16:creationId xmlns:a16="http://schemas.microsoft.com/office/drawing/2014/main" id="{D54D7C03-3CBC-B686-415D-AA21F544ACE7}"/>
                </a:ext>
              </a:extLst>
            </p:cNvPr>
            <p:cNvSpPr/>
            <p:nvPr/>
          </p:nvSpPr>
          <p:spPr>
            <a:xfrm>
              <a:off x="6662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9" name="Rectangle 48">
              <a:extLst>
                <a:ext uri="{FF2B5EF4-FFF2-40B4-BE49-F238E27FC236}">
                  <a16:creationId xmlns:a16="http://schemas.microsoft.com/office/drawing/2014/main" id="{5380EAF7-0F2E-056E-76E7-DF9F1382E993}"/>
                </a:ext>
              </a:extLst>
            </p:cNvPr>
            <p:cNvSpPr/>
            <p:nvPr/>
          </p:nvSpPr>
          <p:spPr>
            <a:xfrm>
              <a:off x="7043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0" name="Rectangle 49">
              <a:extLst>
                <a:ext uri="{FF2B5EF4-FFF2-40B4-BE49-F238E27FC236}">
                  <a16:creationId xmlns:a16="http://schemas.microsoft.com/office/drawing/2014/main" id="{CB5759A0-355A-D02E-5D90-8FC5737A3AA5}"/>
                </a:ext>
              </a:extLst>
            </p:cNvPr>
            <p:cNvSpPr/>
            <p:nvPr/>
          </p:nvSpPr>
          <p:spPr>
            <a:xfrm>
              <a:off x="7043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1" name="Rectangle 50">
              <a:extLst>
                <a:ext uri="{FF2B5EF4-FFF2-40B4-BE49-F238E27FC236}">
                  <a16:creationId xmlns:a16="http://schemas.microsoft.com/office/drawing/2014/main" id="{9DBB0A95-8172-7945-C268-841E3B935C4B}"/>
                </a:ext>
              </a:extLst>
            </p:cNvPr>
            <p:cNvSpPr/>
            <p:nvPr/>
          </p:nvSpPr>
          <p:spPr>
            <a:xfrm>
              <a:off x="4757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2" name="Rectangle 51">
              <a:extLst>
                <a:ext uri="{FF2B5EF4-FFF2-40B4-BE49-F238E27FC236}">
                  <a16:creationId xmlns:a16="http://schemas.microsoft.com/office/drawing/2014/main" id="{D8D4BD9B-EDF0-D194-D15E-B7B21262275A}"/>
                </a:ext>
              </a:extLst>
            </p:cNvPr>
            <p:cNvSpPr/>
            <p:nvPr/>
          </p:nvSpPr>
          <p:spPr>
            <a:xfrm>
              <a:off x="5138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3" name="Rectangle 52">
              <a:extLst>
                <a:ext uri="{FF2B5EF4-FFF2-40B4-BE49-F238E27FC236}">
                  <a16:creationId xmlns:a16="http://schemas.microsoft.com/office/drawing/2014/main" id="{AD785FB2-6A56-DB40-4026-78CF899FE89A}"/>
                </a:ext>
              </a:extLst>
            </p:cNvPr>
            <p:cNvSpPr/>
            <p:nvPr/>
          </p:nvSpPr>
          <p:spPr>
            <a:xfrm>
              <a:off x="4757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4" name="Rectangle 53">
              <a:extLst>
                <a:ext uri="{FF2B5EF4-FFF2-40B4-BE49-F238E27FC236}">
                  <a16:creationId xmlns:a16="http://schemas.microsoft.com/office/drawing/2014/main" id="{6DCBFF32-E6E1-23DE-1749-D186187E8D3B}"/>
                </a:ext>
              </a:extLst>
            </p:cNvPr>
            <p:cNvSpPr/>
            <p:nvPr/>
          </p:nvSpPr>
          <p:spPr>
            <a:xfrm>
              <a:off x="5138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5" name="Rectangle 54">
              <a:extLst>
                <a:ext uri="{FF2B5EF4-FFF2-40B4-BE49-F238E27FC236}">
                  <a16:creationId xmlns:a16="http://schemas.microsoft.com/office/drawing/2014/main" id="{330818D5-1AC3-12B2-BBBE-0FC00ADF755D}"/>
                </a:ext>
              </a:extLst>
            </p:cNvPr>
            <p:cNvSpPr/>
            <p:nvPr/>
          </p:nvSpPr>
          <p:spPr>
            <a:xfrm>
              <a:off x="5519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6" name="Rectangle 55">
              <a:extLst>
                <a:ext uri="{FF2B5EF4-FFF2-40B4-BE49-F238E27FC236}">
                  <a16:creationId xmlns:a16="http://schemas.microsoft.com/office/drawing/2014/main" id="{97126080-7EA2-8DEC-2EF7-686C0EEBD4C4}"/>
                </a:ext>
              </a:extLst>
            </p:cNvPr>
            <p:cNvSpPr/>
            <p:nvPr/>
          </p:nvSpPr>
          <p:spPr>
            <a:xfrm>
              <a:off x="5900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7" name="Rectangle 56">
              <a:extLst>
                <a:ext uri="{FF2B5EF4-FFF2-40B4-BE49-F238E27FC236}">
                  <a16:creationId xmlns:a16="http://schemas.microsoft.com/office/drawing/2014/main" id="{AEA4483D-3D15-9D38-0587-882779D8E507}"/>
                </a:ext>
              </a:extLst>
            </p:cNvPr>
            <p:cNvSpPr/>
            <p:nvPr/>
          </p:nvSpPr>
          <p:spPr>
            <a:xfrm>
              <a:off x="5519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8" name="Rectangle 57">
              <a:extLst>
                <a:ext uri="{FF2B5EF4-FFF2-40B4-BE49-F238E27FC236}">
                  <a16:creationId xmlns:a16="http://schemas.microsoft.com/office/drawing/2014/main" id="{84161FC5-3F75-246A-88F7-52C64A2E0528}"/>
                </a:ext>
              </a:extLst>
            </p:cNvPr>
            <p:cNvSpPr/>
            <p:nvPr/>
          </p:nvSpPr>
          <p:spPr>
            <a:xfrm>
              <a:off x="5900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9" name="Rectangle 58">
              <a:extLst>
                <a:ext uri="{FF2B5EF4-FFF2-40B4-BE49-F238E27FC236}">
                  <a16:creationId xmlns:a16="http://schemas.microsoft.com/office/drawing/2014/main" id="{F1EAC736-6456-0CE3-6AEF-2B8E3DA5A09B}"/>
                </a:ext>
              </a:extLst>
            </p:cNvPr>
            <p:cNvSpPr/>
            <p:nvPr/>
          </p:nvSpPr>
          <p:spPr>
            <a:xfrm>
              <a:off x="6281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60" name="Rectangle 59">
              <a:extLst>
                <a:ext uri="{FF2B5EF4-FFF2-40B4-BE49-F238E27FC236}">
                  <a16:creationId xmlns:a16="http://schemas.microsoft.com/office/drawing/2014/main" id="{EDAC7F04-1BD8-0A14-9AAA-0A3104224F6F}"/>
                </a:ext>
              </a:extLst>
            </p:cNvPr>
            <p:cNvSpPr/>
            <p:nvPr/>
          </p:nvSpPr>
          <p:spPr>
            <a:xfrm>
              <a:off x="6662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1" name="Rectangle 60">
              <a:extLst>
                <a:ext uri="{FF2B5EF4-FFF2-40B4-BE49-F238E27FC236}">
                  <a16:creationId xmlns:a16="http://schemas.microsoft.com/office/drawing/2014/main" id="{D87ED04B-9027-FAA2-A1B8-ED3C9DE2B44B}"/>
                </a:ext>
              </a:extLst>
            </p:cNvPr>
            <p:cNvSpPr/>
            <p:nvPr/>
          </p:nvSpPr>
          <p:spPr>
            <a:xfrm>
              <a:off x="6281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2" name="Rectangle 61">
              <a:extLst>
                <a:ext uri="{FF2B5EF4-FFF2-40B4-BE49-F238E27FC236}">
                  <a16:creationId xmlns:a16="http://schemas.microsoft.com/office/drawing/2014/main" id="{F097E7EE-FDEB-0281-CE11-213C25A9584A}"/>
                </a:ext>
              </a:extLst>
            </p:cNvPr>
            <p:cNvSpPr/>
            <p:nvPr/>
          </p:nvSpPr>
          <p:spPr>
            <a:xfrm>
              <a:off x="6662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3" name="Rectangle 62">
              <a:extLst>
                <a:ext uri="{FF2B5EF4-FFF2-40B4-BE49-F238E27FC236}">
                  <a16:creationId xmlns:a16="http://schemas.microsoft.com/office/drawing/2014/main" id="{A2B744D5-0A39-8D5B-2C2B-1934A69835CE}"/>
                </a:ext>
              </a:extLst>
            </p:cNvPr>
            <p:cNvSpPr/>
            <p:nvPr/>
          </p:nvSpPr>
          <p:spPr>
            <a:xfrm>
              <a:off x="7043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4" name="Rectangle 63">
              <a:extLst>
                <a:ext uri="{FF2B5EF4-FFF2-40B4-BE49-F238E27FC236}">
                  <a16:creationId xmlns:a16="http://schemas.microsoft.com/office/drawing/2014/main" id="{9DDD8BDB-2928-13A7-DA72-4276F995358C}"/>
                </a:ext>
              </a:extLst>
            </p:cNvPr>
            <p:cNvSpPr/>
            <p:nvPr/>
          </p:nvSpPr>
          <p:spPr>
            <a:xfrm>
              <a:off x="7043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5" name="Rectangle 64">
              <a:extLst>
                <a:ext uri="{FF2B5EF4-FFF2-40B4-BE49-F238E27FC236}">
                  <a16:creationId xmlns:a16="http://schemas.microsoft.com/office/drawing/2014/main" id="{96130875-0B1F-A0F1-5C8A-0B597CFA38EF}"/>
                </a:ext>
              </a:extLst>
            </p:cNvPr>
            <p:cNvSpPr/>
            <p:nvPr/>
          </p:nvSpPr>
          <p:spPr>
            <a:xfrm>
              <a:off x="4757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6" name="Rectangle 65">
              <a:extLst>
                <a:ext uri="{FF2B5EF4-FFF2-40B4-BE49-F238E27FC236}">
                  <a16:creationId xmlns:a16="http://schemas.microsoft.com/office/drawing/2014/main" id="{95A17DD4-7EEC-6816-B3AE-965CDD860873}"/>
                </a:ext>
              </a:extLst>
            </p:cNvPr>
            <p:cNvSpPr/>
            <p:nvPr/>
          </p:nvSpPr>
          <p:spPr>
            <a:xfrm>
              <a:off x="5138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7" name="Rectangle 66">
              <a:extLst>
                <a:ext uri="{FF2B5EF4-FFF2-40B4-BE49-F238E27FC236}">
                  <a16:creationId xmlns:a16="http://schemas.microsoft.com/office/drawing/2014/main" id="{9C9136F6-0E96-BCA6-AE37-27E0C1711017}"/>
                </a:ext>
              </a:extLst>
            </p:cNvPr>
            <p:cNvSpPr/>
            <p:nvPr/>
          </p:nvSpPr>
          <p:spPr>
            <a:xfrm>
              <a:off x="5519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8" name="Rectangle 67">
              <a:extLst>
                <a:ext uri="{FF2B5EF4-FFF2-40B4-BE49-F238E27FC236}">
                  <a16:creationId xmlns:a16="http://schemas.microsoft.com/office/drawing/2014/main" id="{8BA9E4EA-B9A7-45EA-6627-6E577E5ABF85}"/>
                </a:ext>
              </a:extLst>
            </p:cNvPr>
            <p:cNvSpPr/>
            <p:nvPr/>
          </p:nvSpPr>
          <p:spPr>
            <a:xfrm>
              <a:off x="5900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9" name="Rectangle 68">
              <a:extLst>
                <a:ext uri="{FF2B5EF4-FFF2-40B4-BE49-F238E27FC236}">
                  <a16:creationId xmlns:a16="http://schemas.microsoft.com/office/drawing/2014/main" id="{3575F222-3D19-8E86-D9EF-648AA78DAFF2}"/>
                </a:ext>
              </a:extLst>
            </p:cNvPr>
            <p:cNvSpPr/>
            <p:nvPr/>
          </p:nvSpPr>
          <p:spPr>
            <a:xfrm>
              <a:off x="6281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0" name="Rectangle 69">
              <a:extLst>
                <a:ext uri="{FF2B5EF4-FFF2-40B4-BE49-F238E27FC236}">
                  <a16:creationId xmlns:a16="http://schemas.microsoft.com/office/drawing/2014/main" id="{0B7B1F17-8648-71C3-9A16-DD3FD0A826A4}"/>
                </a:ext>
              </a:extLst>
            </p:cNvPr>
            <p:cNvSpPr/>
            <p:nvPr/>
          </p:nvSpPr>
          <p:spPr>
            <a:xfrm>
              <a:off x="6662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1" name="Rectangle 70">
              <a:extLst>
                <a:ext uri="{FF2B5EF4-FFF2-40B4-BE49-F238E27FC236}">
                  <a16:creationId xmlns:a16="http://schemas.microsoft.com/office/drawing/2014/main" id="{B0A66F5A-941C-CD39-1FB9-F29D909642CB}"/>
                </a:ext>
              </a:extLst>
            </p:cNvPr>
            <p:cNvSpPr/>
            <p:nvPr/>
          </p:nvSpPr>
          <p:spPr>
            <a:xfrm>
              <a:off x="7043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grpSp>
      <p:cxnSp>
        <p:nvCxnSpPr>
          <p:cNvPr id="73" name="Straight Arrow Connector 72">
            <a:extLst>
              <a:ext uri="{FF2B5EF4-FFF2-40B4-BE49-F238E27FC236}">
                <a16:creationId xmlns:a16="http://schemas.microsoft.com/office/drawing/2014/main" id="{1C7BF7AF-DC09-34FF-9444-944EDC6A9794}"/>
              </a:ext>
            </a:extLst>
          </p:cNvPr>
          <p:cNvCxnSpPr/>
          <p:nvPr/>
        </p:nvCxnSpPr>
        <p:spPr>
          <a:xfrm flipH="1" flipV="1">
            <a:off x="3896801" y="3489820"/>
            <a:ext cx="1898650" cy="241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2165F4C-C28A-EF05-DBA3-80C928C520DD}"/>
              </a:ext>
            </a:extLst>
          </p:cNvPr>
          <p:cNvSpPr txBox="1"/>
          <p:nvPr/>
        </p:nvSpPr>
        <p:spPr>
          <a:xfrm>
            <a:off x="5763902" y="3545839"/>
            <a:ext cx="1599797" cy="400110"/>
          </a:xfrm>
          <a:prstGeom prst="rect">
            <a:avLst/>
          </a:prstGeom>
          <a:noFill/>
        </p:spPr>
        <p:txBody>
          <a:bodyPr wrap="none" rtlCol="0" anchor="ctr">
            <a:spAutoFit/>
          </a:bodyPr>
          <a:lstStyle/>
          <a:p>
            <a:r>
              <a:rPr lang="en-US" sz="2000" noProof="0" dirty="0"/>
              <a:t>Updated cell</a:t>
            </a:r>
          </a:p>
        </p:txBody>
      </p:sp>
      <p:cxnSp>
        <p:nvCxnSpPr>
          <p:cNvPr id="76" name="Straight Arrow Connector 75">
            <a:extLst>
              <a:ext uri="{FF2B5EF4-FFF2-40B4-BE49-F238E27FC236}">
                <a16:creationId xmlns:a16="http://schemas.microsoft.com/office/drawing/2014/main" id="{C124EAF2-32DC-27D9-87E5-D12E3A32FC6C}"/>
              </a:ext>
            </a:extLst>
          </p:cNvPr>
          <p:cNvCxnSpPr/>
          <p:nvPr/>
        </p:nvCxnSpPr>
        <p:spPr>
          <a:xfrm flipH="1" flipV="1">
            <a:off x="4326970" y="3915786"/>
            <a:ext cx="1258931" cy="890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2AA0690-756B-164D-33E4-45263355827E}"/>
              </a:ext>
            </a:extLst>
          </p:cNvPr>
          <p:cNvSpPr txBox="1"/>
          <p:nvPr/>
        </p:nvSpPr>
        <p:spPr>
          <a:xfrm>
            <a:off x="5563245" y="4685147"/>
            <a:ext cx="1766830" cy="400110"/>
          </a:xfrm>
          <a:prstGeom prst="rect">
            <a:avLst/>
          </a:prstGeom>
          <a:noFill/>
        </p:spPr>
        <p:txBody>
          <a:bodyPr wrap="none" rtlCol="0">
            <a:spAutoFit/>
          </a:bodyPr>
          <a:lstStyle/>
          <a:p>
            <a:r>
              <a:rPr lang="en-US" sz="2000" noProof="0" dirty="0"/>
              <a:t>Neighborhood</a:t>
            </a:r>
          </a:p>
        </p:txBody>
      </p:sp>
      <p:grpSp>
        <p:nvGrpSpPr>
          <p:cNvPr id="16" name="Group 15">
            <a:extLst>
              <a:ext uri="{FF2B5EF4-FFF2-40B4-BE49-F238E27FC236}">
                <a16:creationId xmlns:a16="http://schemas.microsoft.com/office/drawing/2014/main" id="{5D8B1D59-EBBC-B833-68D2-16BD698052C9}"/>
              </a:ext>
            </a:extLst>
          </p:cNvPr>
          <p:cNvGrpSpPr/>
          <p:nvPr/>
        </p:nvGrpSpPr>
        <p:grpSpPr>
          <a:xfrm>
            <a:off x="3377999" y="5776906"/>
            <a:ext cx="2920332" cy="732656"/>
            <a:chOff x="3074132" y="1313599"/>
            <a:chExt cx="2920332" cy="732656"/>
          </a:xfrm>
        </p:grpSpPr>
        <p:sp>
          <p:nvSpPr>
            <p:cNvPr id="9" name="TextBox 8">
              <a:extLst>
                <a:ext uri="{FF2B5EF4-FFF2-40B4-BE49-F238E27FC236}">
                  <a16:creationId xmlns:a16="http://schemas.microsoft.com/office/drawing/2014/main" id="{9D4FD725-88BE-61BC-EA94-E5BEA6E7C2CD}"/>
                </a:ext>
              </a:extLst>
            </p:cNvPr>
            <p:cNvSpPr txBox="1"/>
            <p:nvPr/>
          </p:nvSpPr>
          <p:spPr>
            <a:xfrm>
              <a:off x="3740321" y="1563919"/>
              <a:ext cx="2254143" cy="400110"/>
            </a:xfrm>
            <a:prstGeom prst="rect">
              <a:avLst/>
            </a:prstGeom>
            <a:noFill/>
          </p:spPr>
          <p:txBody>
            <a:bodyPr wrap="none" rtlCol="0" anchor="ctr">
              <a:spAutoFit/>
            </a:bodyPr>
            <a:lstStyle/>
            <a:p>
              <a:r>
                <a:rPr lang="en-US" sz="2000" noProof="0" dirty="0"/>
                <a:t>Physics simulation</a:t>
              </a:r>
            </a:p>
          </p:txBody>
        </p:sp>
        <p:pic>
          <p:nvPicPr>
            <p:cNvPr id="15" name="Graphic 14" descr="Atom with solid fill">
              <a:extLst>
                <a:ext uri="{FF2B5EF4-FFF2-40B4-BE49-F238E27FC236}">
                  <a16:creationId xmlns:a16="http://schemas.microsoft.com/office/drawing/2014/main" id="{79E2538A-4E2F-2F10-C33E-80A662E8EB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74132" y="1313599"/>
              <a:ext cx="732656" cy="732656"/>
            </a:xfrm>
            <a:prstGeom prst="rect">
              <a:avLst/>
            </a:prstGeom>
          </p:spPr>
        </p:pic>
      </p:grpSp>
    </p:spTree>
    <p:extLst>
      <p:ext uri="{BB962C8B-B14F-4D97-AF65-F5344CB8AC3E}">
        <p14:creationId xmlns:p14="http://schemas.microsoft.com/office/powerpoint/2010/main" val="2630539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nvPr>
        </p:nvSpPr>
        <p:spPr/>
        <p:txBody>
          <a:bodyPr/>
          <a:lstStyle/>
          <a:p>
            <a:fld id="{3282519B-8553-4EB5-804E-C162E89AEEEB}" type="datetime1">
              <a:rPr lang="en-US" noProof="0" smtClean="0"/>
              <a:t>9/6/2026</a:t>
            </a:fld>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nvPr>
        </p:nvSpPr>
        <p:spPr/>
        <p:txBody>
          <a:bodyPr/>
          <a:lstStyle/>
          <a:p>
            <a:fld id="{DA0BB241-1B5F-4309-9407-9EEA04D9598D}" type="slidenum">
              <a:rPr lang="en-US" noProof="0" smtClean="0"/>
              <a:t>20</a:t>
            </a:fld>
            <a:endParaRPr lang="en-US" noProof="0" dirty="0"/>
          </a:p>
        </p:txBody>
      </p:sp>
      <p:grpSp>
        <p:nvGrpSpPr>
          <p:cNvPr id="11" name="Group 10">
            <a:extLst>
              <a:ext uri="{FF2B5EF4-FFF2-40B4-BE49-F238E27FC236}">
                <a16:creationId xmlns:a16="http://schemas.microsoft.com/office/drawing/2014/main" id="{81B3A7AE-4759-44E5-9C3B-C249E00BEB60}"/>
              </a:ext>
            </a:extLst>
          </p:cNvPr>
          <p:cNvGrpSpPr/>
          <p:nvPr/>
        </p:nvGrpSpPr>
        <p:grpSpPr>
          <a:xfrm>
            <a:off x="118662" y="3084212"/>
            <a:ext cx="4974439" cy="3318028"/>
            <a:chOff x="118662" y="3398116"/>
            <a:chExt cx="4974439" cy="3318028"/>
          </a:xfrm>
        </p:grpSpPr>
        <p:sp>
          <p:nvSpPr>
            <p:cNvPr id="31" name="TextBox 30">
              <a:extLst>
                <a:ext uri="{FF2B5EF4-FFF2-40B4-BE49-F238E27FC236}">
                  <a16:creationId xmlns:a16="http://schemas.microsoft.com/office/drawing/2014/main" id="{77E75B41-9FF8-203F-11A5-F4CDFE22F9AB}"/>
                </a:ext>
              </a:extLst>
            </p:cNvPr>
            <p:cNvSpPr txBox="1"/>
            <p:nvPr/>
          </p:nvSpPr>
          <p:spPr>
            <a:xfrm>
              <a:off x="118662" y="3816761"/>
              <a:ext cx="4974439" cy="2899383"/>
            </a:xfrm>
            <a:prstGeom prst="rect">
              <a:avLst/>
            </a:prstGeom>
            <a:noFill/>
            <a:ln>
              <a:solidFill>
                <a:schemeClr val="tx1"/>
              </a:solidFill>
            </a:ln>
          </p:spPr>
          <p:txBody>
            <a:bodyPr wrap="none">
              <a:spAutoFit/>
            </a:bodyPr>
            <a:lstStyle/>
            <a:p>
              <a:pPr>
                <a:lnSpc>
                  <a:spcPct val="113095"/>
                </a:lnSpc>
                <a:buNone/>
              </a:pPr>
              <a:r>
                <a:rPr lang="en-US" noProof="0" dirty="0">
                  <a:solidFill>
                    <a:srgbClr val="AF00DB"/>
                  </a:solidFill>
                  <a:effectLst/>
                  <a:latin typeface="Fira Code" panose="020B0809050000020004" pitchFamily="49" charset="0"/>
                </a:rPr>
                <a:t>if</a:t>
              </a:r>
              <a:r>
                <a:rPr lang="en-US" noProof="0" dirty="0">
                  <a:solidFill>
                    <a:srgbClr val="000000"/>
                  </a:solidFill>
                  <a:effectLst/>
                  <a:latin typeface="Fira Code" panose="020B0809050000020004" pitchFamily="49" charset="0"/>
                </a:rPr>
                <a:t> (</a:t>
              </a:r>
              <a:r>
                <a:rPr lang="en-US" noProof="0" dirty="0">
                  <a:solidFill>
                    <a:srgbClr val="001080"/>
                  </a:solidFill>
                  <a:effectLst/>
                  <a:latin typeface="Fira Code" panose="020B0809050000020004" pitchFamily="49" charset="0"/>
                </a:rPr>
                <a:t>current</a:t>
              </a:r>
              <a:r>
                <a:rPr lang="en-US" sz="500" noProof="0" dirty="0">
                  <a:solidFill>
                    <a:srgbClr val="000000"/>
                  </a:solidFill>
                  <a:effectLst/>
                  <a:latin typeface="Fira Code" panose="020B0809050000020004" pitchFamily="49" charset="0"/>
                </a:rPr>
                <a:t> </a:t>
              </a:r>
              <a:r>
                <a:rPr lang="en-US"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a:solidFill>
                    <a:srgbClr val="000000"/>
                  </a:solidFill>
                  <a:effectLst/>
                  <a:latin typeface="Fira Code" panose="020B0809050000020004" pitchFamily="49" charset="0"/>
                </a:rPr>
                <a:t>=</a:t>
              </a:r>
              <a:r>
                <a:rPr lang="en-US" sz="500" noProof="0" dirty="0">
                  <a:solidFill>
                    <a:srgbClr val="000000"/>
                  </a:solidFill>
                  <a:effectLst/>
                  <a:latin typeface="Fira Code" panose="020B0809050000020004" pitchFamily="49" charset="0"/>
                </a:rPr>
                <a:t> </a:t>
              </a:r>
              <a:r>
                <a:rPr lang="en-US" noProof="0" dirty="0">
                  <a:solidFill>
                    <a:srgbClr val="0070C1"/>
                  </a:solidFill>
                  <a:effectLst/>
                  <a:latin typeface="Fira Code" panose="020B0809050000020004" pitchFamily="49" charset="0"/>
                </a:rPr>
                <a:t>ALIVE</a:t>
              </a:r>
              <a:r>
                <a:rPr lang="en-US" noProof="0" dirty="0">
                  <a:solidFill>
                    <a:srgbClr val="000000"/>
                  </a:solidFill>
                  <a:effectLst/>
                  <a:latin typeface="Fira Code" panose="020B0809050000020004" pitchFamily="49" charset="0"/>
                </a:rPr>
                <a:t>) {</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2</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 </a:t>
              </a:r>
              <a:r>
                <a:rPr lang="en-US" b="0" noProof="0" dirty="0">
                  <a:solidFill>
                    <a:srgbClr val="000000"/>
                  </a:solidFill>
                  <a:effectLst/>
                  <a:latin typeface="Fira Code" panose="020B0809050000020004" pitchFamily="49" charset="0"/>
                </a:rPr>
                <a:t>=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p:txBody>
        </p:sp>
        <p:sp>
          <p:nvSpPr>
            <p:cNvPr id="40" name="TextBox 39">
              <a:extLst>
                <a:ext uri="{FF2B5EF4-FFF2-40B4-BE49-F238E27FC236}">
                  <a16:creationId xmlns:a16="http://schemas.microsoft.com/office/drawing/2014/main" id="{D1EFD203-2857-53F1-07FC-94B8A741639D}"/>
                </a:ext>
              </a:extLst>
            </p:cNvPr>
            <p:cNvSpPr txBox="1"/>
            <p:nvPr/>
          </p:nvSpPr>
          <p:spPr>
            <a:xfrm>
              <a:off x="781622" y="3398116"/>
              <a:ext cx="3899657" cy="461665"/>
            </a:xfrm>
            <a:prstGeom prst="rect">
              <a:avLst/>
            </a:prstGeom>
            <a:noFill/>
          </p:spPr>
          <p:txBody>
            <a:bodyPr wrap="none" rtlCol="0" anchor="b">
              <a:spAutoFit/>
            </a:bodyPr>
            <a:lstStyle/>
            <a:p>
              <a:pPr algn="ctr"/>
              <a:r>
                <a:rPr lang="en-US" sz="2400" noProof="0" dirty="0"/>
                <a:t>Update rule for Game of Life</a:t>
              </a:r>
            </a:p>
          </p:txBody>
        </p:sp>
      </p:grpSp>
      <p:grpSp>
        <p:nvGrpSpPr>
          <p:cNvPr id="12" name="Group 11">
            <a:extLst>
              <a:ext uri="{FF2B5EF4-FFF2-40B4-BE49-F238E27FC236}">
                <a16:creationId xmlns:a16="http://schemas.microsoft.com/office/drawing/2014/main" id="{0E365D69-516D-0808-8085-F8A462F03D96}"/>
              </a:ext>
            </a:extLst>
          </p:cNvPr>
          <p:cNvGrpSpPr/>
          <p:nvPr/>
        </p:nvGrpSpPr>
        <p:grpSpPr>
          <a:xfrm>
            <a:off x="5426127" y="3607154"/>
            <a:ext cx="6706530" cy="2225552"/>
            <a:chOff x="5703901" y="3724517"/>
            <a:chExt cx="6369437" cy="2225552"/>
          </a:xfrm>
        </p:grpSpPr>
        <p:sp>
          <p:nvSpPr>
            <p:cNvPr id="46" name="TextBox 45">
              <a:extLst>
                <a:ext uri="{FF2B5EF4-FFF2-40B4-BE49-F238E27FC236}">
                  <a16:creationId xmlns:a16="http://schemas.microsoft.com/office/drawing/2014/main" id="{0F7A28B7-7C76-0D69-D0F9-D698CC5C32FC}"/>
                </a:ext>
              </a:extLst>
            </p:cNvPr>
            <p:cNvSpPr txBox="1"/>
            <p:nvPr/>
          </p:nvSpPr>
          <p:spPr>
            <a:xfrm>
              <a:off x="5703901" y="4130212"/>
              <a:ext cx="6369437" cy="1819857"/>
            </a:xfrm>
            <a:prstGeom prst="rect">
              <a:avLst/>
            </a:prstGeom>
            <a:noFill/>
            <a:ln>
              <a:solidFill>
                <a:schemeClr val="tx1"/>
              </a:solidFill>
            </a:ln>
          </p:spPr>
          <p:txBody>
            <a:bodyPr wrap="none">
              <a:spAutoFit/>
            </a:bodyPr>
            <a:lstStyle/>
            <a:p>
              <a:pPr>
                <a:lnSpc>
                  <a:spcPct val="113095"/>
                </a:lnSpc>
                <a:buNone/>
              </a:pP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err="1">
                  <a:solidFill>
                    <a:srgbClr val="001080"/>
                  </a:solidFill>
                  <a:latin typeface="Fira Code" panose="020B0809050000020004" pitchFamily="49" charset="0"/>
                  <a:ea typeface="Fira Code" panose="020B0809050000020004" pitchFamily="49" charset="0"/>
                  <a:cs typeface="Fira Code" panose="020B0809050000020004" pitchFamily="49" charset="0"/>
                </a:rPr>
                <a:t>is_alive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  </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a:solidFill>
                    <a:srgbClr val="001080"/>
                  </a:solidFill>
                  <a:latin typeface="Fira Code" panose="020B0809050000020004" pitchFamily="49" charset="0"/>
                  <a:ea typeface="Fira Code" panose="020B0809050000020004" pitchFamily="49" charset="0"/>
                  <a:cs typeface="Fira Code" panose="020B0809050000020004" pitchFamily="49" charset="0"/>
                </a:rPr>
                <a:t>has3_or_2</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dead</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endParaRPr lang="en-US" sz="2000" noProof="0" dirty="0">
                <a:solidFill>
                  <a:srgbClr val="000000"/>
                </a:solidFill>
                <a:latin typeface="Fira Code" panose="020B0809050000020004" pitchFamily="49" charset="0"/>
                <a:ea typeface="Fira Code" panose="020B0809050000020004" pitchFamily="49" charset="0"/>
                <a:cs typeface="Fira Code" panose="020B0809050000020004" pitchFamily="49" charset="0"/>
              </a:endParaRP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  </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a:solidFill>
                    <a:srgbClr val="001080"/>
                  </a:solidFill>
                  <a:latin typeface="Fira Code" panose="020B0809050000020004" pitchFamily="49" charset="0"/>
                  <a:ea typeface="Fira Code" panose="020B0809050000020004" pitchFamily="49" charset="0"/>
                  <a:cs typeface="Fira Code" panose="020B0809050000020004" pitchFamily="49" charset="0"/>
                </a:rPr>
                <a:t>has3</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dead</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p>
          </p:txBody>
        </p:sp>
        <p:sp>
          <p:nvSpPr>
            <p:cNvPr id="50" name="TextBox 49">
              <a:extLst>
                <a:ext uri="{FF2B5EF4-FFF2-40B4-BE49-F238E27FC236}">
                  <a16:creationId xmlns:a16="http://schemas.microsoft.com/office/drawing/2014/main" id="{B0BF9745-75CB-C855-CD93-BB61357ED979}"/>
                </a:ext>
              </a:extLst>
            </p:cNvPr>
            <p:cNvSpPr txBox="1"/>
            <p:nvPr/>
          </p:nvSpPr>
          <p:spPr>
            <a:xfrm>
              <a:off x="6891475" y="3724517"/>
              <a:ext cx="4579776" cy="461665"/>
            </a:xfrm>
            <a:prstGeom prst="rect">
              <a:avLst/>
            </a:prstGeom>
            <a:noFill/>
          </p:spPr>
          <p:txBody>
            <a:bodyPr wrap="none" rtlCol="0" anchor="b">
              <a:spAutoFit/>
            </a:bodyPr>
            <a:lstStyle/>
            <a:p>
              <a:pPr algn="ctr"/>
              <a:r>
                <a:rPr lang="en-US" sz="2400" noProof="0" dirty="0">
                  <a:ea typeface="Fira Code" panose="020B0809050000020004" pitchFamily="49" charset="0"/>
                  <a:cs typeface="Fira Code" panose="020B0809050000020004" pitchFamily="49" charset="0"/>
                </a:rPr>
                <a:t>Type-level expression (Cellato DSL)</a:t>
              </a:r>
            </a:p>
          </p:txBody>
        </p:sp>
      </p:grpSp>
      <p:sp>
        <p:nvSpPr>
          <p:cNvPr id="10" name="TextBox 9">
            <a:extLst>
              <a:ext uri="{FF2B5EF4-FFF2-40B4-BE49-F238E27FC236}">
                <a16:creationId xmlns:a16="http://schemas.microsoft.com/office/drawing/2014/main" id="{F87652A6-37F0-2CC7-1FD2-E46D9878EE9E}"/>
              </a:ext>
            </a:extLst>
          </p:cNvPr>
          <p:cNvSpPr txBox="1"/>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
        <p:nvSpPr>
          <p:cNvPr id="7" name="TextBox 6">
            <a:extLst>
              <a:ext uri="{FF2B5EF4-FFF2-40B4-BE49-F238E27FC236}">
                <a16:creationId xmlns:a16="http://schemas.microsoft.com/office/drawing/2014/main" id="{558B0A78-F5BD-55EF-1087-A92815BCA5A1}"/>
              </a:ext>
            </a:extLst>
          </p:cNvPr>
          <p:cNvSpPr txBox="1"/>
          <p:nvPr/>
        </p:nvSpPr>
        <p:spPr>
          <a:xfrm>
            <a:off x="7068333" y="2078595"/>
            <a:ext cx="2994602" cy="830997"/>
          </a:xfrm>
          <a:prstGeom prst="rect">
            <a:avLst/>
          </a:prstGeom>
          <a:noFill/>
        </p:spPr>
        <p:txBody>
          <a:bodyPr wrap="none" rtlCol="0" anchor="ctr">
            <a:spAutoFit/>
          </a:bodyPr>
          <a:lstStyle/>
          <a:p>
            <a:r>
              <a:rPr lang="en-US" sz="2400" dirty="0"/>
              <a:t>Binary state</a:t>
            </a:r>
          </a:p>
          <a:p>
            <a:r>
              <a:rPr lang="en-US" sz="2400" dirty="0"/>
              <a:t>Neighbor-count rules</a:t>
            </a:r>
          </a:p>
        </p:txBody>
      </p:sp>
    </p:spTree>
    <p:extLst>
      <p:ext uri="{BB962C8B-B14F-4D97-AF65-F5344CB8AC3E}">
        <p14:creationId xmlns:p14="http://schemas.microsoft.com/office/powerpoint/2010/main" val="166418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4367950-8D7A-8F93-A9DA-64D5AC81F27E}"/>
              </a:ext>
            </a:extLst>
          </p:cNvPr>
          <p:cNvSpPr txBox="1"/>
          <p:nvPr/>
        </p:nvSpPr>
        <p:spPr>
          <a:xfrm>
            <a:off x="2787245" y="609035"/>
            <a:ext cx="6737742" cy="1819857"/>
          </a:xfrm>
          <a:prstGeom prst="rect">
            <a:avLst/>
          </a:prstGeom>
          <a:noFill/>
          <a:ln>
            <a:solidFill>
              <a:schemeClr val="tx1"/>
            </a:solidFill>
          </a:ln>
        </p:spPr>
        <p:txBody>
          <a:bodyPr wrap="none">
            <a:spAutoFit/>
          </a:bodyPr>
          <a:lstStyle/>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err="1">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is_alive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  </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has3_or_2</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dead</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  </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has3</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dead</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p:txBody>
      </p:sp>
      <p:sp>
        <p:nvSpPr>
          <p:cNvPr id="3" name="Date Placeholder 2">
            <a:extLst>
              <a:ext uri="{FF2B5EF4-FFF2-40B4-BE49-F238E27FC236}">
                <a16:creationId xmlns:a16="http://schemas.microsoft.com/office/drawing/2014/main" id="{B3684863-8FF8-82FF-0851-73946F133EDC}"/>
              </a:ext>
            </a:extLst>
          </p:cNvPr>
          <p:cNvSpPr>
            <a:spLocks noGrp="1"/>
          </p:cNvSpPr>
          <p:nvPr>
            <p:ph type="dt" sz="half" idx="10"/>
          </p:nvPr>
        </p:nvSpPr>
        <p:spPr/>
        <p:txBody>
          <a:bodyPr/>
          <a:lstStyle/>
          <a:p>
            <a:fld id="{1AB26190-46ED-4A0C-A5E8-CDBCA5C2D5C3}"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35D5ED14-BD2B-929B-4FDF-EB4408FEAFEC}"/>
              </a:ext>
            </a:extLst>
          </p:cNvPr>
          <p:cNvSpPr>
            <a:spLocks noGrp="1"/>
          </p:cNvSpPr>
          <p:nvPr>
            <p:ph type="sldNum" sz="quarter" idx="12"/>
          </p:nvPr>
        </p:nvSpPr>
        <p:spPr/>
        <p:txBody>
          <a:bodyPr/>
          <a:lstStyle/>
          <a:p>
            <a:fld id="{DA0BB241-1B5F-4309-9407-9EEA04D9598D}" type="slidenum">
              <a:rPr lang="en-US" noProof="0" smtClean="0"/>
              <a:t>21</a:t>
            </a:fld>
            <a:endParaRPr lang="en-US" noProof="0" dirty="0"/>
          </a:p>
        </p:txBody>
      </p:sp>
      <p:pic>
        <p:nvPicPr>
          <p:cNvPr id="6" name="Picture 5">
            <a:extLst>
              <a:ext uri="{FF2B5EF4-FFF2-40B4-BE49-F238E27FC236}">
                <a16:creationId xmlns:a16="http://schemas.microsoft.com/office/drawing/2014/main" id="{A443639C-7B66-77F3-B03F-A4476642A9B9}"/>
              </a:ext>
            </a:extLst>
          </p:cNvPr>
          <p:cNvPicPr>
            <a:picLocks noChangeAspect="1"/>
          </p:cNvPicPr>
          <p:nvPr/>
        </p:nvPicPr>
        <p:blipFill>
          <a:blip r:embed="rId3"/>
          <a:stretch>
            <a:fillRect/>
          </a:stretch>
        </p:blipFill>
        <p:spPr>
          <a:xfrm>
            <a:off x="1047003" y="2824126"/>
            <a:ext cx="10286254" cy="3636772"/>
          </a:xfrm>
          <a:prstGeom prst="rect">
            <a:avLst/>
          </a:prstGeom>
          <a:ln>
            <a:solidFill>
              <a:schemeClr val="tx1"/>
            </a:solidFill>
          </a:ln>
        </p:spPr>
      </p:pic>
      <p:cxnSp>
        <p:nvCxnSpPr>
          <p:cNvPr id="10" name="Straight Arrow Connector 9">
            <a:extLst>
              <a:ext uri="{FF2B5EF4-FFF2-40B4-BE49-F238E27FC236}">
                <a16:creationId xmlns:a16="http://schemas.microsoft.com/office/drawing/2014/main" id="{90207B99-7626-B9B7-5B84-847CAB7644E6}"/>
              </a:ext>
            </a:extLst>
          </p:cNvPr>
          <p:cNvCxnSpPr>
            <a:cxnSpLocks/>
          </p:cNvCxnSpPr>
          <p:nvPr/>
        </p:nvCxnSpPr>
        <p:spPr>
          <a:xfrm>
            <a:off x="8647386" y="2428892"/>
            <a:ext cx="930166" cy="944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9F90E6E-4EBE-508F-0BBE-D1A1083C436D}"/>
              </a:ext>
            </a:extLst>
          </p:cNvPr>
          <p:cNvSpPr txBox="1"/>
          <p:nvPr/>
        </p:nvSpPr>
        <p:spPr>
          <a:xfrm>
            <a:off x="3680915" y="166269"/>
            <a:ext cx="4830168" cy="461665"/>
          </a:xfrm>
          <a:prstGeom prst="rect">
            <a:avLst/>
          </a:prstGeom>
          <a:noFill/>
        </p:spPr>
        <p:txBody>
          <a:bodyPr wrap="none" rtlCol="0">
            <a:spAutoFit/>
          </a:bodyPr>
          <a:lstStyle/>
          <a:p>
            <a:pPr algn="ctr"/>
            <a:r>
              <a:rPr lang="en-US" sz="2400" noProof="0" dirty="0"/>
              <a:t>Type-level expression (Cellato DSL)</a:t>
            </a:r>
          </a:p>
        </p:txBody>
      </p:sp>
      <p:sp>
        <p:nvSpPr>
          <p:cNvPr id="11" name="TextBox 10">
            <a:extLst>
              <a:ext uri="{FF2B5EF4-FFF2-40B4-BE49-F238E27FC236}">
                <a16:creationId xmlns:a16="http://schemas.microsoft.com/office/drawing/2014/main" id="{04678AD1-9DFB-3AD1-C85E-E08FEAB31F7D}"/>
              </a:ext>
            </a:extLst>
          </p:cNvPr>
          <p:cNvSpPr txBox="1"/>
          <p:nvPr/>
        </p:nvSpPr>
        <p:spPr>
          <a:xfrm>
            <a:off x="1563128" y="4776952"/>
            <a:ext cx="2448234" cy="830997"/>
          </a:xfrm>
          <a:prstGeom prst="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nchor="ctr">
            <a:spAutoFit/>
          </a:bodyPr>
          <a:lstStyle/>
          <a:p>
            <a:pPr algn="ctr"/>
            <a:r>
              <a:rPr lang="en-US" sz="2400" noProof="0" dirty="0"/>
              <a:t>Already prepared</a:t>
            </a:r>
            <a:br>
              <a:rPr lang="en-US" sz="2400" noProof="0" dirty="0"/>
            </a:br>
            <a:r>
              <a:rPr lang="en-US" sz="2400" noProof="0" dirty="0"/>
              <a:t>in the library</a:t>
            </a:r>
          </a:p>
        </p:txBody>
      </p:sp>
      <p:cxnSp>
        <p:nvCxnSpPr>
          <p:cNvPr id="14" name="Straight Arrow Connector 13">
            <a:extLst>
              <a:ext uri="{FF2B5EF4-FFF2-40B4-BE49-F238E27FC236}">
                <a16:creationId xmlns:a16="http://schemas.microsoft.com/office/drawing/2014/main" id="{66F763AA-62BB-1A9E-B067-864136F9DBD9}"/>
              </a:ext>
            </a:extLst>
          </p:cNvPr>
          <p:cNvCxnSpPr>
            <a:stCxn id="11" idx="0"/>
          </p:cNvCxnSpPr>
          <p:nvPr/>
        </p:nvCxnSpPr>
        <p:spPr>
          <a:xfrm flipH="1" flipV="1">
            <a:off x="2388476" y="4099034"/>
            <a:ext cx="398769" cy="6779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2EA30E8-0AB2-E770-D08E-8C4BF7B98448}"/>
              </a:ext>
            </a:extLst>
          </p:cNvPr>
          <p:cNvCxnSpPr>
            <a:stCxn id="11" idx="3"/>
          </p:cNvCxnSpPr>
          <p:nvPr/>
        </p:nvCxnSpPr>
        <p:spPr>
          <a:xfrm>
            <a:off x="4011362" y="5192451"/>
            <a:ext cx="1341031" cy="3333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A2D40E2-56FA-1456-C944-4EAED82B478E}"/>
              </a:ext>
            </a:extLst>
          </p:cNvPr>
          <p:cNvCxnSpPr/>
          <p:nvPr/>
        </p:nvCxnSpPr>
        <p:spPr>
          <a:xfrm flipV="1">
            <a:off x="4011362" y="4035972"/>
            <a:ext cx="1199141" cy="7409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3544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207A5E-8CD8-50D6-0F99-3C19D813CE41}"/>
              </a:ext>
            </a:extLst>
          </p:cNvPr>
          <p:cNvPicPr>
            <a:picLocks noChangeAspect="1"/>
          </p:cNvPicPr>
          <p:nvPr/>
        </p:nvPicPr>
        <p:blipFill>
          <a:blip r:embed="rId3"/>
          <a:stretch>
            <a:fillRect/>
          </a:stretch>
        </p:blipFill>
        <p:spPr>
          <a:xfrm>
            <a:off x="0" y="1486810"/>
            <a:ext cx="12192000" cy="4511038"/>
          </a:xfrm>
          <a:prstGeom prst="rect">
            <a:avLst/>
          </a:prstGeom>
        </p:spPr>
      </p:pic>
      <p:sp>
        <p:nvSpPr>
          <p:cNvPr id="2" name="Title 1">
            <a:extLst>
              <a:ext uri="{FF2B5EF4-FFF2-40B4-BE49-F238E27FC236}">
                <a16:creationId xmlns:a16="http://schemas.microsoft.com/office/drawing/2014/main" id="{04F59CE6-2253-EE24-67C6-8EB494EB84BC}"/>
              </a:ext>
            </a:extLst>
          </p:cNvPr>
          <p:cNvSpPr>
            <a:spLocks noGrp="1"/>
          </p:cNvSpPr>
          <p:nvPr>
            <p:ph type="title"/>
          </p:nvPr>
        </p:nvSpPr>
        <p:spPr/>
        <p:txBody>
          <a:bodyPr/>
          <a:lstStyle/>
          <a:p>
            <a:r>
              <a:rPr lang="en-US" noProof="0" dirty="0"/>
              <a:t>What the design allows us to gain</a:t>
            </a:r>
          </a:p>
        </p:txBody>
      </p:sp>
      <p:sp>
        <p:nvSpPr>
          <p:cNvPr id="3" name="Date Placeholder 2">
            <a:extLst>
              <a:ext uri="{FF2B5EF4-FFF2-40B4-BE49-F238E27FC236}">
                <a16:creationId xmlns:a16="http://schemas.microsoft.com/office/drawing/2014/main" id="{A10CD936-56E6-AA18-96C2-8D61C51D1859}"/>
              </a:ext>
            </a:extLst>
          </p:cNvPr>
          <p:cNvSpPr>
            <a:spLocks noGrp="1"/>
          </p:cNvSpPr>
          <p:nvPr>
            <p:ph type="dt" sz="half" idx="10"/>
          </p:nvPr>
        </p:nvSpPr>
        <p:spPr/>
        <p:txBody>
          <a:bodyPr/>
          <a:lstStyle/>
          <a:p>
            <a:fld id="{78C2F5E9-57E3-4F5E-A80F-B6C9DE65874A}"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10D20B34-8FD2-D44C-9B00-2701B9B94787}"/>
              </a:ext>
            </a:extLst>
          </p:cNvPr>
          <p:cNvSpPr>
            <a:spLocks noGrp="1"/>
          </p:cNvSpPr>
          <p:nvPr>
            <p:ph type="sldNum" sz="quarter" idx="12"/>
          </p:nvPr>
        </p:nvSpPr>
        <p:spPr/>
        <p:txBody>
          <a:bodyPr/>
          <a:lstStyle/>
          <a:p>
            <a:fld id="{DA0BB241-1B5F-4309-9407-9EEA04D9598D}" type="slidenum">
              <a:rPr lang="en-US" noProof="0" smtClean="0"/>
              <a:t>22</a:t>
            </a:fld>
            <a:endParaRPr lang="en-US" noProof="0" dirty="0"/>
          </a:p>
        </p:txBody>
      </p:sp>
      <p:sp>
        <p:nvSpPr>
          <p:cNvPr id="6" name="TextBox 5">
            <a:extLst>
              <a:ext uri="{FF2B5EF4-FFF2-40B4-BE49-F238E27FC236}">
                <a16:creationId xmlns:a16="http://schemas.microsoft.com/office/drawing/2014/main" id="{358DA207-69B2-929A-62C9-4DE6DBD7195D}"/>
              </a:ext>
            </a:extLst>
          </p:cNvPr>
          <p:cNvSpPr txBox="1"/>
          <p:nvPr/>
        </p:nvSpPr>
        <p:spPr>
          <a:xfrm>
            <a:off x="1493490" y="5997848"/>
            <a:ext cx="9205020" cy="430887"/>
          </a:xfrm>
          <a:prstGeom prst="rect">
            <a:avLst/>
          </a:prstGeom>
          <a:noFill/>
        </p:spPr>
        <p:txBody>
          <a:bodyPr wrap="none" rtlCol="0">
            <a:spAutoFit/>
          </a:bodyPr>
          <a:lstStyle/>
          <a:p>
            <a:pPr algn="ctr"/>
            <a:r>
              <a:rPr lang="en-US" sz="2200" noProof="0" dirty="0"/>
              <a:t>Comparison of GPU-parallelized computation of various cellular automata</a:t>
            </a:r>
            <a:endParaRPr lang="en-US" sz="2200" i="1" noProof="0" dirty="0"/>
          </a:p>
        </p:txBody>
      </p:sp>
    </p:spTree>
    <p:extLst>
      <p:ext uri="{BB962C8B-B14F-4D97-AF65-F5344CB8AC3E}">
        <p14:creationId xmlns:p14="http://schemas.microsoft.com/office/powerpoint/2010/main" val="1310412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68984CF-F135-422A-BC96-9BDB08D720D4}"/>
              </a:ext>
            </a:extLst>
          </p:cNvPr>
          <p:cNvPicPr>
            <a:picLocks noChangeAspect="1"/>
          </p:cNvPicPr>
          <p:nvPr/>
        </p:nvPicPr>
        <p:blipFill>
          <a:blip r:embed="rId3"/>
          <a:srcRect l="12883" t="17084" r="11844" b="16205"/>
          <a:stretch>
            <a:fillRect/>
          </a:stretch>
        </p:blipFill>
        <p:spPr>
          <a:xfrm>
            <a:off x="5740045" y="4200417"/>
            <a:ext cx="1507332" cy="1335881"/>
          </a:xfrm>
          <a:prstGeom prst="rect">
            <a:avLst/>
          </a:prstGeom>
        </p:spPr>
      </p:pic>
      <p:sp>
        <p:nvSpPr>
          <p:cNvPr id="2" name="Title 1">
            <a:extLst>
              <a:ext uri="{FF2B5EF4-FFF2-40B4-BE49-F238E27FC236}">
                <a16:creationId xmlns:a16="http://schemas.microsoft.com/office/drawing/2014/main" id="{CA4F0FD2-3D3D-E4D8-0BE2-C6EA0F656E4D}"/>
              </a:ext>
            </a:extLst>
          </p:cNvPr>
          <p:cNvSpPr>
            <a:spLocks noGrp="1"/>
          </p:cNvSpPr>
          <p:nvPr>
            <p:ph type="title"/>
          </p:nvPr>
        </p:nvSpPr>
        <p:spPr/>
        <p:txBody>
          <a:bodyPr/>
          <a:lstStyle/>
          <a:p>
            <a:r>
              <a:rPr lang="en-US" noProof="0" dirty="0"/>
              <a:t>Abstractions summary</a:t>
            </a:r>
          </a:p>
        </p:txBody>
      </p:sp>
      <p:sp>
        <p:nvSpPr>
          <p:cNvPr id="5" name="Content Placeholder 4">
            <a:extLst>
              <a:ext uri="{FF2B5EF4-FFF2-40B4-BE49-F238E27FC236}">
                <a16:creationId xmlns:a16="http://schemas.microsoft.com/office/drawing/2014/main" id="{7E92FA72-0853-FBD0-690C-F10CAE3EEC08}"/>
              </a:ext>
            </a:extLst>
          </p:cNvPr>
          <p:cNvSpPr>
            <a:spLocks noGrp="1"/>
          </p:cNvSpPr>
          <p:nvPr>
            <p:ph idx="1"/>
          </p:nvPr>
        </p:nvSpPr>
        <p:spPr/>
        <p:txBody>
          <a:bodyPr/>
          <a:lstStyle/>
          <a:p>
            <a:pPr>
              <a:buFont typeface="Wingdings" panose="05000000000000000000" pitchFamily="2" charset="2"/>
              <a:buChar char="ü"/>
            </a:pPr>
            <a:r>
              <a:rPr lang="en-US" noProof="0" dirty="0"/>
              <a:t> Can transform layouts &amp; traversals</a:t>
            </a:r>
          </a:p>
          <a:p>
            <a:pPr>
              <a:buFont typeface="Wingdings" panose="05000000000000000000" pitchFamily="2" charset="2"/>
              <a:buChar char="ü"/>
            </a:pPr>
            <a:r>
              <a:rPr lang="en-US" noProof="0" dirty="0"/>
              <a:t> Parallel computing CPU, GPU</a:t>
            </a:r>
          </a:p>
          <a:p>
            <a:pPr>
              <a:buFont typeface="Wingdings" panose="05000000000000000000" pitchFamily="2" charset="2"/>
              <a:buChar char="ü"/>
            </a:pPr>
            <a:r>
              <a:rPr lang="en-US" noProof="0" dirty="0"/>
              <a:t> Distributed computing</a:t>
            </a:r>
          </a:p>
          <a:p>
            <a:pPr>
              <a:buFont typeface="Wingdings" panose="05000000000000000000" pitchFamily="2" charset="2"/>
              <a:buChar char="ü"/>
            </a:pPr>
            <a:r>
              <a:rPr lang="en-US" noProof="0" dirty="0"/>
              <a:t> Encoding &amp; Evaluation in Cellular Automata</a:t>
            </a:r>
          </a:p>
          <a:p>
            <a:pPr marL="0" indent="0">
              <a:buNone/>
            </a:pPr>
            <a:r>
              <a:rPr lang="en-US" noProof="0" dirty="0"/>
              <a:t>Improve</a:t>
            </a:r>
          </a:p>
          <a:p>
            <a:pPr lvl="1">
              <a:buFont typeface="Aptos" panose="020B0004020202020204" pitchFamily="34" charset="0"/>
              <a:buChar char="+"/>
            </a:pPr>
            <a:r>
              <a:rPr lang="en-US" noProof="0" dirty="0"/>
              <a:t> Simplicity</a:t>
            </a:r>
          </a:p>
          <a:p>
            <a:pPr lvl="1">
              <a:buFont typeface="Aptos" panose="020B0004020202020204" pitchFamily="34" charset="0"/>
              <a:buChar char="+"/>
            </a:pPr>
            <a:r>
              <a:rPr lang="en-US" noProof="0" dirty="0"/>
              <a:t> Flexibility</a:t>
            </a:r>
          </a:p>
          <a:p>
            <a:pPr lvl="1">
              <a:buFont typeface="Aptos" panose="020B0004020202020204" pitchFamily="34" charset="0"/>
              <a:buChar char="+"/>
            </a:pPr>
            <a:r>
              <a:rPr lang="en-US" noProof="0" dirty="0"/>
              <a:t> Automatability</a:t>
            </a:r>
          </a:p>
        </p:txBody>
      </p:sp>
      <p:sp>
        <p:nvSpPr>
          <p:cNvPr id="3" name="Date Placeholder 2">
            <a:extLst>
              <a:ext uri="{FF2B5EF4-FFF2-40B4-BE49-F238E27FC236}">
                <a16:creationId xmlns:a16="http://schemas.microsoft.com/office/drawing/2014/main" id="{4988AEDC-D367-7811-10AA-6C0AA66CFAB8}"/>
              </a:ext>
            </a:extLst>
          </p:cNvPr>
          <p:cNvSpPr>
            <a:spLocks noGrp="1"/>
          </p:cNvSpPr>
          <p:nvPr>
            <p:ph type="dt" sz="half" idx="10"/>
          </p:nvPr>
        </p:nvSpPr>
        <p:spPr/>
        <p:txBody>
          <a:bodyPr/>
          <a:lstStyle/>
          <a:p>
            <a:fld id="{1AB26190-46ED-4A0C-A5E8-CDBCA5C2D5C3}"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380F4037-5269-4CAD-BC9E-C76ACF79B7FD}"/>
              </a:ext>
            </a:extLst>
          </p:cNvPr>
          <p:cNvSpPr>
            <a:spLocks noGrp="1"/>
          </p:cNvSpPr>
          <p:nvPr>
            <p:ph type="sldNum" sz="quarter" idx="12"/>
          </p:nvPr>
        </p:nvSpPr>
        <p:spPr/>
        <p:txBody>
          <a:bodyPr/>
          <a:lstStyle/>
          <a:p>
            <a:fld id="{DA0BB241-1B5F-4309-9407-9EEA04D9598D}" type="slidenum">
              <a:rPr lang="en-US" noProof="0" smtClean="0"/>
              <a:t>23</a:t>
            </a:fld>
            <a:endParaRPr lang="en-US" noProof="0" dirty="0"/>
          </a:p>
        </p:txBody>
      </p:sp>
      <p:sp>
        <p:nvSpPr>
          <p:cNvPr id="6" name="Right Brace 5">
            <a:extLst>
              <a:ext uri="{FF2B5EF4-FFF2-40B4-BE49-F238E27FC236}">
                <a16:creationId xmlns:a16="http://schemas.microsoft.com/office/drawing/2014/main" id="{78CF35CC-A730-C361-5E7C-62A784D86C38}"/>
              </a:ext>
            </a:extLst>
          </p:cNvPr>
          <p:cNvSpPr/>
          <p:nvPr/>
        </p:nvSpPr>
        <p:spPr>
          <a:xfrm>
            <a:off x="3388659" y="3805519"/>
            <a:ext cx="296553" cy="1268296"/>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cxnSp>
        <p:nvCxnSpPr>
          <p:cNvPr id="10" name="Straight Connector 9">
            <a:extLst>
              <a:ext uri="{FF2B5EF4-FFF2-40B4-BE49-F238E27FC236}">
                <a16:creationId xmlns:a16="http://schemas.microsoft.com/office/drawing/2014/main" id="{6A7A7546-AB4B-B0AA-3591-AB55403B6F68}"/>
              </a:ext>
            </a:extLst>
          </p:cNvPr>
          <p:cNvCxnSpPr>
            <a:cxnSpLocks/>
            <a:stCxn id="6" idx="1"/>
            <a:endCxn id="9" idx="1"/>
          </p:cNvCxnSpPr>
          <p:nvPr/>
        </p:nvCxnSpPr>
        <p:spPr>
          <a:xfrm>
            <a:off x="3685212" y="4439667"/>
            <a:ext cx="2054833" cy="42869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6" name="Speech Bubble: Rectangle with Corners Rounded 15">
            <a:extLst>
              <a:ext uri="{FF2B5EF4-FFF2-40B4-BE49-F238E27FC236}">
                <a16:creationId xmlns:a16="http://schemas.microsoft.com/office/drawing/2014/main" id="{EEA29218-CBAB-5518-9C50-26809DEFD9F4}"/>
              </a:ext>
            </a:extLst>
          </p:cNvPr>
          <p:cNvSpPr/>
          <p:nvPr/>
        </p:nvSpPr>
        <p:spPr>
          <a:xfrm>
            <a:off x="6938950" y="3429000"/>
            <a:ext cx="4109740" cy="896259"/>
          </a:xfrm>
          <a:prstGeom prst="wedgeRoundRectCallout">
            <a:avLst>
              <a:gd name="adj1" fmla="val -46931"/>
              <a:gd name="adj2" fmla="val 78756"/>
              <a:gd name="adj3" fmla="val 16667"/>
            </a:avLst>
          </a:prstGeom>
          <a:gradFill>
            <a:gsLst>
              <a:gs pos="0">
                <a:srgbClr val="D7ADD0"/>
              </a:gs>
              <a:gs pos="50000">
                <a:srgbClr val="CD9FC6"/>
              </a:gs>
              <a:gs pos="100000">
                <a:srgbClr val="CE9AC5"/>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I, an LLM, can redesign algorithms</a:t>
            </a:r>
          </a:p>
        </p:txBody>
      </p:sp>
    </p:spTree>
    <p:extLst>
      <p:ext uri="{BB962C8B-B14F-4D97-AF65-F5344CB8AC3E}">
        <p14:creationId xmlns:p14="http://schemas.microsoft.com/office/powerpoint/2010/main" val="325976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1D975-7AEF-41C8-9128-2012304DE08F}"/>
              </a:ext>
            </a:extLst>
          </p:cNvPr>
          <p:cNvSpPr>
            <a:spLocks noGrp="1"/>
          </p:cNvSpPr>
          <p:nvPr>
            <p:ph type="title"/>
          </p:nvPr>
        </p:nvSpPr>
        <p:spPr/>
        <p:txBody>
          <a:bodyPr/>
          <a:lstStyle/>
          <a:p>
            <a:r>
              <a:rPr lang="en-US" noProof="0" dirty="0"/>
              <a:t>Tutoring LLMs for CUDA</a:t>
            </a:r>
          </a:p>
        </p:txBody>
      </p:sp>
      <p:sp>
        <p:nvSpPr>
          <p:cNvPr id="3" name="Date Placeholder 2">
            <a:extLst>
              <a:ext uri="{FF2B5EF4-FFF2-40B4-BE49-F238E27FC236}">
                <a16:creationId xmlns:a16="http://schemas.microsoft.com/office/drawing/2014/main" id="{DC8EF9FE-8675-53C4-C0C8-6B18ACCF6DA8}"/>
              </a:ext>
            </a:extLst>
          </p:cNvPr>
          <p:cNvSpPr>
            <a:spLocks noGrp="1"/>
          </p:cNvSpPr>
          <p:nvPr>
            <p:ph type="dt" sz="half" idx="10"/>
          </p:nvPr>
        </p:nvSpPr>
        <p:spPr/>
        <p:txBody>
          <a:bodyPr/>
          <a:lstStyle/>
          <a:p>
            <a:fld id="{472E5813-EC9F-4C36-A7F2-49C469A5F96E}"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AE5975AD-7C47-E1A4-2296-34363FEF7D11}"/>
              </a:ext>
            </a:extLst>
          </p:cNvPr>
          <p:cNvSpPr>
            <a:spLocks noGrp="1"/>
          </p:cNvSpPr>
          <p:nvPr>
            <p:ph type="sldNum" sz="quarter" idx="12"/>
          </p:nvPr>
        </p:nvSpPr>
        <p:spPr/>
        <p:txBody>
          <a:bodyPr/>
          <a:lstStyle/>
          <a:p>
            <a:fld id="{DA0BB241-1B5F-4309-9407-9EEA04D9598D}" type="slidenum">
              <a:rPr lang="en-US" noProof="0" smtClean="0"/>
              <a:t>24</a:t>
            </a:fld>
            <a:endParaRPr lang="en-US" noProof="0" dirty="0"/>
          </a:p>
        </p:txBody>
      </p:sp>
      <p:sp>
        <p:nvSpPr>
          <p:cNvPr id="17" name="TextBox 16">
            <a:extLst>
              <a:ext uri="{FF2B5EF4-FFF2-40B4-BE49-F238E27FC236}">
                <a16:creationId xmlns:a16="http://schemas.microsoft.com/office/drawing/2014/main" id="{BEC4E4EB-CC11-6E9C-D81F-7F68194B11AB}"/>
              </a:ext>
            </a:extLst>
          </p:cNvPr>
          <p:cNvSpPr txBox="1"/>
          <p:nvPr/>
        </p:nvSpPr>
        <p:spPr>
          <a:xfrm>
            <a:off x="40623" y="1417280"/>
            <a:ext cx="4423175"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Implement</a:t>
            </a:r>
            <a:br>
              <a:rPr lang="en-US" sz="3200" noProof="0" dirty="0"/>
            </a:br>
            <a:r>
              <a:rPr lang="en-US" sz="3200" noProof="0" dirty="0"/>
              <a:t>efficient algorithm</a:t>
            </a:r>
          </a:p>
        </p:txBody>
      </p:sp>
      <p:cxnSp>
        <p:nvCxnSpPr>
          <p:cNvPr id="20" name="Straight Arrow Connector 19">
            <a:extLst>
              <a:ext uri="{FF2B5EF4-FFF2-40B4-BE49-F238E27FC236}">
                <a16:creationId xmlns:a16="http://schemas.microsoft.com/office/drawing/2014/main" id="{820E3632-2126-AA09-4A31-A863B36D696D}"/>
              </a:ext>
            </a:extLst>
          </p:cNvPr>
          <p:cNvCxnSpPr>
            <a:cxnSpLocks/>
            <a:stCxn id="17" idx="4"/>
            <a:endCxn id="42" idx="0"/>
          </p:cNvCxnSpPr>
          <p:nvPr/>
        </p:nvCxnSpPr>
        <p:spPr>
          <a:xfrm flipH="1">
            <a:off x="2252208" y="3141444"/>
            <a:ext cx="3" cy="71068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3BE48174-A02F-06F5-85D2-5A536FDEDB7C}"/>
              </a:ext>
            </a:extLst>
          </p:cNvPr>
          <p:cNvSpPr/>
          <p:nvPr/>
        </p:nvSpPr>
        <p:spPr>
          <a:xfrm>
            <a:off x="229586" y="5440720"/>
            <a:ext cx="404524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Not very good code</a:t>
            </a:r>
          </a:p>
        </p:txBody>
      </p:sp>
      <p:cxnSp>
        <p:nvCxnSpPr>
          <p:cNvPr id="28" name="Straight Arrow Connector 27">
            <a:extLst>
              <a:ext uri="{FF2B5EF4-FFF2-40B4-BE49-F238E27FC236}">
                <a16:creationId xmlns:a16="http://schemas.microsoft.com/office/drawing/2014/main" id="{D2D887C2-E3E4-CB89-71D1-28346C510357}"/>
              </a:ext>
            </a:extLst>
          </p:cNvPr>
          <p:cNvCxnSpPr>
            <a:cxnSpLocks/>
            <a:stCxn id="42" idx="2"/>
            <a:endCxn id="24" idx="0"/>
          </p:cNvCxnSpPr>
          <p:nvPr/>
        </p:nvCxnSpPr>
        <p:spPr>
          <a:xfrm>
            <a:off x="2252208"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FAD4EE1-A685-999A-4B14-45D9D5B9DB08}"/>
              </a:ext>
            </a:extLst>
          </p:cNvPr>
          <p:cNvSpPr txBox="1"/>
          <p:nvPr/>
        </p:nvSpPr>
        <p:spPr>
          <a:xfrm>
            <a:off x="4616552" y="1450268"/>
            <a:ext cx="3549984"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 Here are</a:t>
            </a:r>
            <a:br>
              <a:rPr lang="en-US" sz="3200" noProof="0" dirty="0"/>
            </a:br>
            <a:r>
              <a:rPr lang="en-US" sz="3200" noProof="0" dirty="0"/>
              <a:t>some hints</a:t>
            </a:r>
          </a:p>
        </p:txBody>
      </p:sp>
      <p:cxnSp>
        <p:nvCxnSpPr>
          <p:cNvPr id="31" name="Straight Arrow Connector 30">
            <a:extLst>
              <a:ext uri="{FF2B5EF4-FFF2-40B4-BE49-F238E27FC236}">
                <a16:creationId xmlns:a16="http://schemas.microsoft.com/office/drawing/2014/main" id="{182A4212-A4DA-F723-BE49-8CBB358B83EE}"/>
              </a:ext>
            </a:extLst>
          </p:cNvPr>
          <p:cNvCxnSpPr>
            <a:cxnSpLocks/>
            <a:stCxn id="30" idx="4"/>
            <a:endCxn id="45" idx="0"/>
          </p:cNvCxnSpPr>
          <p:nvPr/>
        </p:nvCxnSpPr>
        <p:spPr>
          <a:xfrm>
            <a:off x="6391544" y="3174432"/>
            <a:ext cx="0" cy="67769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1E91551C-845A-9444-C470-26D5FFE36AB4}"/>
              </a:ext>
            </a:extLst>
          </p:cNvPr>
          <p:cNvSpPr/>
          <p:nvPr/>
        </p:nvSpPr>
        <p:spPr>
          <a:xfrm>
            <a:off x="4768213" y="5440720"/>
            <a:ext cx="3246662"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Better code</a:t>
            </a:r>
          </a:p>
        </p:txBody>
      </p:sp>
      <p:cxnSp>
        <p:nvCxnSpPr>
          <p:cNvPr id="33" name="Straight Arrow Connector 32">
            <a:extLst>
              <a:ext uri="{FF2B5EF4-FFF2-40B4-BE49-F238E27FC236}">
                <a16:creationId xmlns:a16="http://schemas.microsoft.com/office/drawing/2014/main" id="{0AC963EE-C48C-9FB8-06B7-25587D005F38}"/>
              </a:ext>
            </a:extLst>
          </p:cNvPr>
          <p:cNvCxnSpPr>
            <a:cxnSpLocks/>
            <a:stCxn id="45" idx="2"/>
            <a:endCxn id="32" idx="0"/>
          </p:cNvCxnSpPr>
          <p:nvPr/>
        </p:nvCxnSpPr>
        <p:spPr>
          <a:xfrm>
            <a:off x="6391544"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FAD29855-3079-7844-981D-E8EB78A92E21}"/>
              </a:ext>
            </a:extLst>
          </p:cNvPr>
          <p:cNvSpPr txBox="1"/>
          <p:nvPr/>
        </p:nvSpPr>
        <p:spPr>
          <a:xfrm>
            <a:off x="8319290" y="1515440"/>
            <a:ext cx="3615756" cy="162600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Follow this</a:t>
            </a:r>
            <a:br>
              <a:rPr lang="en-US" sz="3200" noProof="0" dirty="0"/>
            </a:br>
            <a:r>
              <a:rPr lang="en-US" sz="3200" noProof="0" dirty="0"/>
              <a:t>design</a:t>
            </a:r>
          </a:p>
        </p:txBody>
      </p:sp>
      <p:sp>
        <p:nvSpPr>
          <p:cNvPr id="61" name="Rectangle 60">
            <a:extLst>
              <a:ext uri="{FF2B5EF4-FFF2-40B4-BE49-F238E27FC236}">
                <a16:creationId xmlns:a16="http://schemas.microsoft.com/office/drawing/2014/main" id="{560AD894-F06B-81D0-4862-B5F5392198BC}"/>
              </a:ext>
            </a:extLst>
          </p:cNvPr>
          <p:cNvSpPr/>
          <p:nvPr/>
        </p:nvSpPr>
        <p:spPr>
          <a:xfrm>
            <a:off x="8473761" y="5440720"/>
            <a:ext cx="330681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Efficient code?</a:t>
            </a:r>
          </a:p>
        </p:txBody>
      </p:sp>
      <p:cxnSp>
        <p:nvCxnSpPr>
          <p:cNvPr id="65" name="Straight Arrow Connector 64">
            <a:extLst>
              <a:ext uri="{FF2B5EF4-FFF2-40B4-BE49-F238E27FC236}">
                <a16:creationId xmlns:a16="http://schemas.microsoft.com/office/drawing/2014/main" id="{1B02E96B-466B-BBC3-B8FB-DB7A29A2BB81}"/>
              </a:ext>
            </a:extLst>
          </p:cNvPr>
          <p:cNvCxnSpPr>
            <a:cxnSpLocks/>
            <a:stCxn id="47" idx="4"/>
            <a:endCxn id="46" idx="0"/>
          </p:cNvCxnSpPr>
          <p:nvPr/>
        </p:nvCxnSpPr>
        <p:spPr>
          <a:xfrm>
            <a:off x="10127168" y="3141444"/>
            <a:ext cx="0" cy="70564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F4C375B0-66D1-4094-A4CE-A46305DDB331}"/>
              </a:ext>
            </a:extLst>
          </p:cNvPr>
          <p:cNvCxnSpPr>
            <a:cxnSpLocks/>
            <a:stCxn id="46" idx="2"/>
            <a:endCxn id="61" idx="0"/>
          </p:cNvCxnSpPr>
          <p:nvPr/>
        </p:nvCxnSpPr>
        <p:spPr>
          <a:xfrm>
            <a:off x="10127168" y="4654328"/>
            <a:ext cx="0" cy="7863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45CEB7EB-9DDD-0346-0151-E8B9C95212BD}"/>
              </a:ext>
            </a:extLst>
          </p:cNvPr>
          <p:cNvSpPr txBox="1"/>
          <p:nvPr/>
        </p:nvSpPr>
        <p:spPr>
          <a:xfrm>
            <a:off x="4017106" y="4076450"/>
            <a:ext cx="381836" cy="369332"/>
          </a:xfrm>
          <a:prstGeom prst="rect">
            <a:avLst/>
          </a:prstGeom>
          <a:noFill/>
        </p:spPr>
        <p:txBody>
          <a:bodyPr wrap="none" rtlCol="0">
            <a:spAutoFit/>
          </a:bodyPr>
          <a:lstStyle/>
          <a:p>
            <a:r>
              <a:rPr lang="en-US" noProof="0" dirty="0"/>
              <a:t>…</a:t>
            </a:r>
          </a:p>
        </p:txBody>
      </p:sp>
      <p:sp>
        <p:nvSpPr>
          <p:cNvPr id="70" name="TextBox 69">
            <a:extLst>
              <a:ext uri="{FF2B5EF4-FFF2-40B4-BE49-F238E27FC236}">
                <a16:creationId xmlns:a16="http://schemas.microsoft.com/office/drawing/2014/main" id="{9F6F3DBF-1BFB-DB5C-2306-CC6096186851}"/>
              </a:ext>
            </a:extLst>
          </p:cNvPr>
          <p:cNvSpPr txBox="1"/>
          <p:nvPr/>
        </p:nvSpPr>
        <p:spPr>
          <a:xfrm>
            <a:off x="8091925" y="4148175"/>
            <a:ext cx="381836" cy="369332"/>
          </a:xfrm>
          <a:prstGeom prst="rect">
            <a:avLst/>
          </a:prstGeom>
          <a:noFill/>
        </p:spPr>
        <p:txBody>
          <a:bodyPr wrap="none" rtlCol="0">
            <a:spAutoFit/>
          </a:bodyPr>
          <a:lstStyle/>
          <a:p>
            <a:r>
              <a:rPr lang="en-US" noProof="0" dirty="0"/>
              <a:t>…</a:t>
            </a:r>
          </a:p>
        </p:txBody>
      </p:sp>
      <p:pic>
        <p:nvPicPr>
          <p:cNvPr id="42" name="Picture 41">
            <a:extLst>
              <a:ext uri="{FF2B5EF4-FFF2-40B4-BE49-F238E27FC236}">
                <a16:creationId xmlns:a16="http://schemas.microsoft.com/office/drawing/2014/main" id="{316BF04B-178F-112C-0FA1-1E930ED0B64B}"/>
              </a:ext>
            </a:extLst>
          </p:cNvPr>
          <p:cNvPicPr>
            <a:picLocks noChangeAspect="1"/>
          </p:cNvPicPr>
          <p:nvPr/>
        </p:nvPicPr>
        <p:blipFill>
          <a:blip r:embed="rId3"/>
          <a:srcRect l="12577" t="17864" r="12520" b="16352"/>
          <a:stretch>
            <a:fillRect/>
          </a:stretch>
        </p:blipFill>
        <p:spPr>
          <a:xfrm>
            <a:off x="1792626" y="3852129"/>
            <a:ext cx="919163" cy="807244"/>
          </a:xfrm>
          <a:prstGeom prst="rect">
            <a:avLst/>
          </a:prstGeom>
        </p:spPr>
      </p:pic>
      <p:pic>
        <p:nvPicPr>
          <p:cNvPr id="45" name="Picture 44">
            <a:extLst>
              <a:ext uri="{FF2B5EF4-FFF2-40B4-BE49-F238E27FC236}">
                <a16:creationId xmlns:a16="http://schemas.microsoft.com/office/drawing/2014/main" id="{D98B62BA-C0CE-0DD2-0B2E-7832065054EA}"/>
              </a:ext>
            </a:extLst>
          </p:cNvPr>
          <p:cNvPicPr>
            <a:picLocks noChangeAspect="1"/>
          </p:cNvPicPr>
          <p:nvPr/>
        </p:nvPicPr>
        <p:blipFill>
          <a:blip r:embed="rId3"/>
          <a:srcRect l="12577" t="17864" r="12520" b="16352"/>
          <a:stretch>
            <a:fillRect/>
          </a:stretch>
        </p:blipFill>
        <p:spPr>
          <a:xfrm>
            <a:off x="5931962" y="3852129"/>
            <a:ext cx="919163" cy="807244"/>
          </a:xfrm>
          <a:prstGeom prst="rect">
            <a:avLst/>
          </a:prstGeom>
        </p:spPr>
      </p:pic>
      <p:pic>
        <p:nvPicPr>
          <p:cNvPr id="46" name="Picture 45">
            <a:extLst>
              <a:ext uri="{FF2B5EF4-FFF2-40B4-BE49-F238E27FC236}">
                <a16:creationId xmlns:a16="http://schemas.microsoft.com/office/drawing/2014/main" id="{AC2085E0-A83D-2E90-B6F6-59D17C0E4A65}"/>
              </a:ext>
            </a:extLst>
          </p:cNvPr>
          <p:cNvPicPr>
            <a:picLocks noChangeAspect="1"/>
          </p:cNvPicPr>
          <p:nvPr/>
        </p:nvPicPr>
        <p:blipFill>
          <a:blip r:embed="rId3"/>
          <a:srcRect l="12577" t="17864" r="12520" b="16352"/>
          <a:stretch>
            <a:fillRect/>
          </a:stretch>
        </p:blipFill>
        <p:spPr>
          <a:xfrm>
            <a:off x="9667586" y="3847084"/>
            <a:ext cx="919163" cy="807244"/>
          </a:xfrm>
          <a:prstGeom prst="rect">
            <a:avLst/>
          </a:prstGeom>
        </p:spPr>
      </p:pic>
    </p:spTree>
    <p:extLst>
      <p:ext uri="{BB962C8B-B14F-4D97-AF65-F5344CB8AC3E}">
        <p14:creationId xmlns:p14="http://schemas.microsoft.com/office/powerpoint/2010/main" val="224525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P spid="47" grpId="0" animBg="1"/>
      <p:bldP spid="61" grpId="0" animBg="1"/>
      <p:bldP spid="68" grpId="0"/>
      <p:bldP spid="7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nvPr>
        </p:nvSpPr>
        <p:spPr/>
        <p:txBody>
          <a:bodyPr/>
          <a:lstStyle/>
          <a:p>
            <a:fld id="{472E5813-EC9F-4C36-A7F2-49C469A5F96E}"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nvPr>
        </p:nvSpPr>
        <p:spPr/>
        <p:txBody>
          <a:bodyPr/>
          <a:lstStyle/>
          <a:p>
            <a:fld id="{DA0BB241-1B5F-4309-9407-9EEA04D9598D}" type="slidenum">
              <a:rPr lang="en-US" noProof="0" smtClean="0"/>
              <a:t>25</a:t>
            </a:fld>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nvPicPr>
        <p:blipFill>
          <a:blip r:embed="rId3"/>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nvPicPr>
        <p:blipFill>
          <a:blip r:embed="rId4"/>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sp>
        <p:nvSpPr>
          <p:cNvPr id="15" name="TextBox 14">
            <a:extLst>
              <a:ext uri="{FF2B5EF4-FFF2-40B4-BE49-F238E27FC236}">
                <a16:creationId xmlns:a16="http://schemas.microsoft.com/office/drawing/2014/main" id="{1C57BF6A-0432-7C47-109B-427D20671C0F}"/>
              </a:ext>
            </a:extLst>
          </p:cNvPr>
          <p:cNvSpPr txBox="1"/>
          <p:nvPr/>
        </p:nvSpPr>
        <p:spPr>
          <a:xfrm>
            <a:off x="1052558" y="3468770"/>
            <a:ext cx="4358437" cy="400110"/>
          </a:xfrm>
          <a:prstGeom prst="rect">
            <a:avLst/>
          </a:prstGeom>
          <a:noFill/>
        </p:spPr>
        <p:txBody>
          <a:bodyPr wrap="none" rtlCol="0">
            <a:spAutoFit/>
          </a:bodyPr>
          <a:lstStyle/>
          <a:p>
            <a:pPr algn="ctr"/>
            <a:r>
              <a:rPr lang="en-US" sz="2000" noProof="0" dirty="0"/>
              <a:t>Privatization in GPU “shared memory”</a:t>
            </a:r>
          </a:p>
        </p:txBody>
      </p:sp>
      <p:sp>
        <p:nvSpPr>
          <p:cNvPr id="18" name="TextBox 17">
            <a:extLst>
              <a:ext uri="{FF2B5EF4-FFF2-40B4-BE49-F238E27FC236}">
                <a16:creationId xmlns:a16="http://schemas.microsoft.com/office/drawing/2014/main" id="{E3BD8334-0385-0BA4-2B6F-D1FA61D876C4}"/>
              </a:ext>
            </a:extLst>
          </p:cNvPr>
          <p:cNvSpPr txBox="1"/>
          <p:nvPr/>
        </p:nvSpPr>
        <p:spPr>
          <a:xfrm>
            <a:off x="5723626" y="3468770"/>
            <a:ext cx="2299027" cy="400110"/>
          </a:xfrm>
          <a:prstGeom prst="rect">
            <a:avLst/>
          </a:prstGeom>
          <a:noFill/>
        </p:spPr>
        <p:txBody>
          <a:bodyPr wrap="none" rtlCol="0">
            <a:spAutoFit/>
          </a:bodyPr>
          <a:lstStyle/>
          <a:p>
            <a:pPr algn="ctr"/>
            <a:r>
              <a:rPr lang="en-US" sz="2000" noProof="0" dirty="0"/>
              <a:t>Bit-</a:t>
            </a:r>
            <a:r>
              <a:rPr lang="en-US" sz="2000" noProof="0" dirty="0" err="1"/>
              <a:t>lvl</a:t>
            </a:r>
            <a:r>
              <a:rPr lang="en-US" sz="2000" noProof="0" dirty="0"/>
              <a:t> vectorization</a:t>
            </a:r>
          </a:p>
        </p:txBody>
      </p:sp>
      <p:sp>
        <p:nvSpPr>
          <p:cNvPr id="21" name="TextBox 20">
            <a:extLst>
              <a:ext uri="{FF2B5EF4-FFF2-40B4-BE49-F238E27FC236}">
                <a16:creationId xmlns:a16="http://schemas.microsoft.com/office/drawing/2014/main" id="{E9EBAD4A-8A58-61C5-702D-D937D74776C7}"/>
              </a:ext>
            </a:extLst>
          </p:cNvPr>
          <p:cNvSpPr txBox="1"/>
          <p:nvPr/>
        </p:nvSpPr>
        <p:spPr>
          <a:xfrm>
            <a:off x="8641777" y="3468770"/>
            <a:ext cx="3297634" cy="400110"/>
          </a:xfrm>
          <a:prstGeom prst="rect">
            <a:avLst/>
          </a:prstGeom>
          <a:noFill/>
        </p:spPr>
        <p:txBody>
          <a:bodyPr wrap="none" rtlCol="0">
            <a:spAutoFit/>
          </a:bodyPr>
          <a:lstStyle/>
          <a:p>
            <a:pPr algn="ctr"/>
            <a:r>
              <a:rPr lang="en-US" sz="2000" noProof="0" dirty="0"/>
              <a:t>Inter-thread communication</a:t>
            </a:r>
          </a:p>
        </p:txBody>
      </p:sp>
      <p:sp>
        <p:nvSpPr>
          <p:cNvPr id="25" name="TextBox 24">
            <a:extLst>
              <a:ext uri="{FF2B5EF4-FFF2-40B4-BE49-F238E27FC236}">
                <a16:creationId xmlns:a16="http://schemas.microsoft.com/office/drawing/2014/main" id="{27372CA7-7292-1BA8-43EB-1AB22F03FF4B}"/>
              </a:ext>
            </a:extLst>
          </p:cNvPr>
          <p:cNvSpPr txBox="1"/>
          <p:nvPr/>
        </p:nvSpPr>
        <p:spPr>
          <a:xfrm>
            <a:off x="380748" y="4106371"/>
            <a:ext cx="2214068" cy="461665"/>
          </a:xfrm>
          <a:prstGeom prst="rect">
            <a:avLst/>
          </a:prstGeom>
          <a:noFill/>
        </p:spPr>
        <p:txBody>
          <a:bodyPr wrap="none" rtlCol="0" anchor="ctr">
            <a:spAutoFit/>
          </a:bodyPr>
          <a:lstStyle/>
          <a:p>
            <a:pPr algn="ctr"/>
            <a:r>
              <a:rPr lang="en-US" sz="2400" noProof="0" dirty="0"/>
              <a:t>Just implement</a:t>
            </a:r>
          </a:p>
        </p:txBody>
      </p:sp>
      <p:sp>
        <p:nvSpPr>
          <p:cNvPr id="27" name="TextBox 26">
            <a:extLst>
              <a:ext uri="{FF2B5EF4-FFF2-40B4-BE49-F238E27FC236}">
                <a16:creationId xmlns:a16="http://schemas.microsoft.com/office/drawing/2014/main" id="{FBAF86EE-6508-A108-73BB-E3A6074BD8B8}"/>
              </a:ext>
            </a:extLst>
          </p:cNvPr>
          <p:cNvSpPr txBox="1"/>
          <p:nvPr/>
        </p:nvSpPr>
        <p:spPr>
          <a:xfrm>
            <a:off x="2822048" y="4105182"/>
            <a:ext cx="748923" cy="584775"/>
          </a:xfrm>
          <a:prstGeom prst="rect">
            <a:avLst/>
          </a:prstGeom>
          <a:noFill/>
        </p:spPr>
        <p:txBody>
          <a:bodyPr wrap="none" rtlCol="0">
            <a:spAutoFit/>
          </a:bodyPr>
          <a:lstStyle/>
          <a:p>
            <a:pPr algn="r"/>
            <a:r>
              <a:rPr lang="en-US" sz="3200" noProof="0" dirty="0"/>
              <a:t>✅</a:t>
            </a:r>
          </a:p>
        </p:txBody>
      </p:sp>
      <p:sp>
        <p:nvSpPr>
          <p:cNvPr id="35" name="TextBox 34">
            <a:extLst>
              <a:ext uri="{FF2B5EF4-FFF2-40B4-BE49-F238E27FC236}">
                <a16:creationId xmlns:a16="http://schemas.microsoft.com/office/drawing/2014/main" id="{04AEC432-25D7-7B96-183C-81D25BD15AD1}"/>
              </a:ext>
            </a:extLst>
          </p:cNvPr>
          <p:cNvSpPr txBox="1"/>
          <p:nvPr/>
        </p:nvSpPr>
        <p:spPr>
          <a:xfrm>
            <a:off x="6463411" y="4105182"/>
            <a:ext cx="748923" cy="584775"/>
          </a:xfrm>
          <a:prstGeom prst="rect">
            <a:avLst/>
          </a:prstGeom>
          <a:noFill/>
        </p:spPr>
        <p:txBody>
          <a:bodyPr wrap="none" rtlCol="0">
            <a:spAutoFit/>
          </a:bodyPr>
          <a:lstStyle/>
          <a:p>
            <a:pPr algn="r"/>
            <a:r>
              <a:rPr lang="en-US" sz="3200" noProof="0" dirty="0"/>
              <a:t>✅</a:t>
            </a:r>
          </a:p>
        </p:txBody>
      </p:sp>
      <p:sp>
        <p:nvSpPr>
          <p:cNvPr id="37" name="TextBox 36">
            <a:extLst>
              <a:ext uri="{FF2B5EF4-FFF2-40B4-BE49-F238E27FC236}">
                <a16:creationId xmlns:a16="http://schemas.microsoft.com/office/drawing/2014/main" id="{6F047493-C970-CEB3-77AE-369B5263B184}"/>
              </a:ext>
            </a:extLst>
          </p:cNvPr>
          <p:cNvSpPr txBox="1"/>
          <p:nvPr/>
        </p:nvSpPr>
        <p:spPr>
          <a:xfrm>
            <a:off x="9880866" y="4105182"/>
            <a:ext cx="748923" cy="584775"/>
          </a:xfrm>
          <a:prstGeom prst="rect">
            <a:avLst/>
          </a:prstGeom>
          <a:noFill/>
        </p:spPr>
        <p:txBody>
          <a:bodyPr wrap="none" rtlCol="0">
            <a:spAutoFit/>
          </a:bodyPr>
          <a:lstStyle/>
          <a:p>
            <a:pPr algn="r"/>
            <a:r>
              <a:rPr lang="en-US" sz="3200" noProof="0" dirty="0"/>
              <a:t>⚠️</a:t>
            </a:r>
          </a:p>
        </p:txBody>
      </p:sp>
      <p:sp>
        <p:nvSpPr>
          <p:cNvPr id="38" name="TextBox 37">
            <a:extLst>
              <a:ext uri="{FF2B5EF4-FFF2-40B4-BE49-F238E27FC236}">
                <a16:creationId xmlns:a16="http://schemas.microsoft.com/office/drawing/2014/main" id="{91C5CABB-484B-5D20-728D-363D4CA9B715}"/>
              </a:ext>
            </a:extLst>
          </p:cNvPr>
          <p:cNvSpPr txBox="1"/>
          <p:nvPr/>
        </p:nvSpPr>
        <p:spPr>
          <a:xfrm>
            <a:off x="724441" y="4793321"/>
            <a:ext cx="1525162" cy="461665"/>
          </a:xfrm>
          <a:prstGeom prst="rect">
            <a:avLst/>
          </a:prstGeom>
          <a:noFill/>
        </p:spPr>
        <p:txBody>
          <a:bodyPr wrap="none" rtlCol="0" anchor="ctr">
            <a:spAutoFit/>
          </a:bodyPr>
          <a:lstStyle/>
          <a:p>
            <a:pPr algn="ctr"/>
            <a:r>
              <a:rPr lang="en-US" sz="2400" noProof="0" dirty="0"/>
              <a:t>With hints</a:t>
            </a:r>
          </a:p>
        </p:txBody>
      </p:sp>
      <p:sp>
        <p:nvSpPr>
          <p:cNvPr id="39" name="TextBox 38">
            <a:extLst>
              <a:ext uri="{FF2B5EF4-FFF2-40B4-BE49-F238E27FC236}">
                <a16:creationId xmlns:a16="http://schemas.microsoft.com/office/drawing/2014/main" id="{FB8F57D5-3486-D39C-3F1A-AF9294B9546F}"/>
              </a:ext>
            </a:extLst>
          </p:cNvPr>
          <p:cNvSpPr txBox="1"/>
          <p:nvPr/>
        </p:nvSpPr>
        <p:spPr>
          <a:xfrm>
            <a:off x="3381318" y="4105182"/>
            <a:ext cx="748923" cy="584775"/>
          </a:xfrm>
          <a:prstGeom prst="rect">
            <a:avLst/>
          </a:prstGeom>
          <a:noFill/>
        </p:spPr>
        <p:txBody>
          <a:bodyPr wrap="none" rtlCol="0">
            <a:spAutoFit/>
          </a:bodyPr>
          <a:lstStyle/>
          <a:p>
            <a:r>
              <a:rPr lang="en-US" sz="3200" noProof="0" dirty="0"/>
              <a:t>🐌</a:t>
            </a:r>
          </a:p>
        </p:txBody>
      </p:sp>
      <p:sp>
        <p:nvSpPr>
          <p:cNvPr id="41" name="TextBox 40">
            <a:extLst>
              <a:ext uri="{FF2B5EF4-FFF2-40B4-BE49-F238E27FC236}">
                <a16:creationId xmlns:a16="http://schemas.microsoft.com/office/drawing/2014/main" id="{FC7057C3-CFAD-1A34-AF4A-6384A0FA4741}"/>
              </a:ext>
            </a:extLst>
          </p:cNvPr>
          <p:cNvSpPr txBox="1"/>
          <p:nvPr/>
        </p:nvSpPr>
        <p:spPr>
          <a:xfrm>
            <a:off x="6988894" y="4105182"/>
            <a:ext cx="748923" cy="584775"/>
          </a:xfrm>
          <a:prstGeom prst="rect">
            <a:avLst/>
          </a:prstGeom>
          <a:noFill/>
        </p:spPr>
        <p:txBody>
          <a:bodyPr wrap="none" rtlCol="0">
            <a:spAutoFit/>
          </a:bodyPr>
          <a:lstStyle/>
          <a:p>
            <a:r>
              <a:rPr lang="en-US" sz="3200" noProof="0" dirty="0"/>
              <a:t>🐌</a:t>
            </a:r>
          </a:p>
        </p:txBody>
      </p:sp>
      <p:sp>
        <p:nvSpPr>
          <p:cNvPr id="43" name="TextBox 42">
            <a:extLst>
              <a:ext uri="{FF2B5EF4-FFF2-40B4-BE49-F238E27FC236}">
                <a16:creationId xmlns:a16="http://schemas.microsoft.com/office/drawing/2014/main" id="{54AC2113-CF34-9C42-B33D-D4AC898FA2ED}"/>
              </a:ext>
            </a:extLst>
          </p:cNvPr>
          <p:cNvSpPr txBox="1"/>
          <p:nvPr/>
        </p:nvSpPr>
        <p:spPr>
          <a:xfrm>
            <a:off x="10409168" y="4105182"/>
            <a:ext cx="748923" cy="584775"/>
          </a:xfrm>
          <a:prstGeom prst="rect">
            <a:avLst/>
          </a:prstGeom>
          <a:noFill/>
        </p:spPr>
        <p:txBody>
          <a:bodyPr wrap="none" rtlCol="0">
            <a:spAutoFit/>
          </a:bodyPr>
          <a:lstStyle/>
          <a:p>
            <a:r>
              <a:rPr lang="en-US" sz="3200" noProof="0" dirty="0"/>
              <a:t>🐌</a:t>
            </a:r>
          </a:p>
        </p:txBody>
      </p:sp>
      <p:sp>
        <p:nvSpPr>
          <p:cNvPr id="44" name="TextBox 43">
            <a:extLst>
              <a:ext uri="{FF2B5EF4-FFF2-40B4-BE49-F238E27FC236}">
                <a16:creationId xmlns:a16="http://schemas.microsoft.com/office/drawing/2014/main" id="{0E57B5B0-DCBD-C30B-CC27-B13BCB58D132}"/>
              </a:ext>
            </a:extLst>
          </p:cNvPr>
          <p:cNvSpPr txBox="1"/>
          <p:nvPr/>
        </p:nvSpPr>
        <p:spPr>
          <a:xfrm>
            <a:off x="3381318" y="4695336"/>
            <a:ext cx="748923" cy="584775"/>
          </a:xfrm>
          <a:prstGeom prst="rect">
            <a:avLst/>
          </a:prstGeom>
          <a:noFill/>
        </p:spPr>
        <p:txBody>
          <a:bodyPr wrap="none" rtlCol="0">
            <a:spAutoFit/>
          </a:bodyPr>
          <a:lstStyle/>
          <a:p>
            <a:r>
              <a:rPr lang="en-US" sz="3200" noProof="0" dirty="0"/>
              <a:t>🐢</a:t>
            </a:r>
          </a:p>
        </p:txBody>
      </p:sp>
      <p:sp>
        <p:nvSpPr>
          <p:cNvPr id="46" name="TextBox 45">
            <a:extLst>
              <a:ext uri="{FF2B5EF4-FFF2-40B4-BE49-F238E27FC236}">
                <a16:creationId xmlns:a16="http://schemas.microsoft.com/office/drawing/2014/main" id="{02D1AA0A-0636-4E65-D880-856193D7CD72}"/>
              </a:ext>
            </a:extLst>
          </p:cNvPr>
          <p:cNvSpPr txBox="1"/>
          <p:nvPr/>
        </p:nvSpPr>
        <p:spPr>
          <a:xfrm>
            <a:off x="2822048" y="4736228"/>
            <a:ext cx="748923" cy="584775"/>
          </a:xfrm>
          <a:prstGeom prst="rect">
            <a:avLst/>
          </a:prstGeom>
          <a:noFill/>
        </p:spPr>
        <p:txBody>
          <a:bodyPr wrap="none" rtlCol="0">
            <a:spAutoFit/>
          </a:bodyPr>
          <a:lstStyle/>
          <a:p>
            <a:pPr algn="r"/>
            <a:r>
              <a:rPr lang="en-US" sz="3200" noProof="0" dirty="0"/>
              <a:t>✅</a:t>
            </a:r>
          </a:p>
        </p:txBody>
      </p:sp>
      <p:sp>
        <p:nvSpPr>
          <p:cNvPr id="49" name="TextBox 48">
            <a:extLst>
              <a:ext uri="{FF2B5EF4-FFF2-40B4-BE49-F238E27FC236}">
                <a16:creationId xmlns:a16="http://schemas.microsoft.com/office/drawing/2014/main" id="{ACE070EA-6968-5971-34E8-0B4B237BD0C6}"/>
              </a:ext>
            </a:extLst>
          </p:cNvPr>
          <p:cNvSpPr txBox="1"/>
          <p:nvPr/>
        </p:nvSpPr>
        <p:spPr>
          <a:xfrm>
            <a:off x="7019287" y="4695336"/>
            <a:ext cx="748923" cy="584775"/>
          </a:xfrm>
          <a:prstGeom prst="rect">
            <a:avLst/>
          </a:prstGeom>
          <a:noFill/>
        </p:spPr>
        <p:txBody>
          <a:bodyPr wrap="none" rtlCol="0">
            <a:spAutoFit/>
          </a:bodyPr>
          <a:lstStyle/>
          <a:p>
            <a:r>
              <a:rPr lang="en-US" sz="3200" noProof="0" dirty="0"/>
              <a:t>🐢</a:t>
            </a:r>
          </a:p>
        </p:txBody>
      </p:sp>
      <p:sp>
        <p:nvSpPr>
          <p:cNvPr id="51" name="TextBox 50">
            <a:extLst>
              <a:ext uri="{FF2B5EF4-FFF2-40B4-BE49-F238E27FC236}">
                <a16:creationId xmlns:a16="http://schemas.microsoft.com/office/drawing/2014/main" id="{5390C143-2BBA-5FC8-A7A1-1702F7B36EE9}"/>
              </a:ext>
            </a:extLst>
          </p:cNvPr>
          <p:cNvSpPr txBox="1"/>
          <p:nvPr/>
        </p:nvSpPr>
        <p:spPr>
          <a:xfrm>
            <a:off x="6460017" y="4736228"/>
            <a:ext cx="748923" cy="584775"/>
          </a:xfrm>
          <a:prstGeom prst="rect">
            <a:avLst/>
          </a:prstGeom>
          <a:noFill/>
        </p:spPr>
        <p:txBody>
          <a:bodyPr wrap="none" rtlCol="0">
            <a:spAutoFit/>
          </a:bodyPr>
          <a:lstStyle/>
          <a:p>
            <a:pPr algn="r"/>
            <a:r>
              <a:rPr lang="en-US" sz="3200" noProof="0" dirty="0"/>
              <a:t>⚠️</a:t>
            </a:r>
          </a:p>
        </p:txBody>
      </p:sp>
      <p:sp>
        <p:nvSpPr>
          <p:cNvPr id="53" name="TextBox 52">
            <a:extLst>
              <a:ext uri="{FF2B5EF4-FFF2-40B4-BE49-F238E27FC236}">
                <a16:creationId xmlns:a16="http://schemas.microsoft.com/office/drawing/2014/main" id="{6E5838EE-B8C5-9F68-CADA-001435EE4B34}"/>
              </a:ext>
            </a:extLst>
          </p:cNvPr>
          <p:cNvSpPr txBox="1"/>
          <p:nvPr/>
        </p:nvSpPr>
        <p:spPr>
          <a:xfrm>
            <a:off x="10157847" y="4731767"/>
            <a:ext cx="748923" cy="584775"/>
          </a:xfrm>
          <a:prstGeom prst="rect">
            <a:avLst/>
          </a:prstGeom>
          <a:noFill/>
        </p:spPr>
        <p:txBody>
          <a:bodyPr wrap="none" rtlCol="0">
            <a:spAutoFit/>
          </a:bodyPr>
          <a:lstStyle/>
          <a:p>
            <a:pPr algn="ctr"/>
            <a:r>
              <a:rPr lang="en-US" sz="3200" noProof="0" dirty="0"/>
              <a:t>❌</a:t>
            </a:r>
          </a:p>
        </p:txBody>
      </p:sp>
      <p:sp>
        <p:nvSpPr>
          <p:cNvPr id="54" name="TextBox 53">
            <a:extLst>
              <a:ext uri="{FF2B5EF4-FFF2-40B4-BE49-F238E27FC236}">
                <a16:creationId xmlns:a16="http://schemas.microsoft.com/office/drawing/2014/main" id="{6118E619-3F87-FB80-854F-4DCF9530E2F1}"/>
              </a:ext>
            </a:extLst>
          </p:cNvPr>
          <p:cNvSpPr txBox="1"/>
          <p:nvPr/>
        </p:nvSpPr>
        <p:spPr>
          <a:xfrm>
            <a:off x="315066" y="5384799"/>
            <a:ext cx="2343911" cy="461665"/>
          </a:xfrm>
          <a:prstGeom prst="rect">
            <a:avLst/>
          </a:prstGeom>
          <a:noFill/>
        </p:spPr>
        <p:txBody>
          <a:bodyPr wrap="none" rtlCol="0" anchor="ctr">
            <a:spAutoFit/>
          </a:bodyPr>
          <a:lstStyle/>
          <a:p>
            <a:pPr algn="ctr"/>
            <a:r>
              <a:rPr lang="en-US" sz="2400" noProof="0" dirty="0"/>
              <a:t>Design direction</a:t>
            </a:r>
          </a:p>
        </p:txBody>
      </p:sp>
      <p:sp>
        <p:nvSpPr>
          <p:cNvPr id="56" name="TextBox 55">
            <a:extLst>
              <a:ext uri="{FF2B5EF4-FFF2-40B4-BE49-F238E27FC236}">
                <a16:creationId xmlns:a16="http://schemas.microsoft.com/office/drawing/2014/main" id="{12A7F903-8467-48BA-F019-3DC25BE369AC}"/>
              </a:ext>
            </a:extLst>
          </p:cNvPr>
          <p:cNvSpPr txBox="1"/>
          <p:nvPr/>
        </p:nvSpPr>
        <p:spPr>
          <a:xfrm>
            <a:off x="3381318" y="5305044"/>
            <a:ext cx="748923" cy="584775"/>
          </a:xfrm>
          <a:prstGeom prst="rect">
            <a:avLst/>
          </a:prstGeom>
          <a:noFill/>
        </p:spPr>
        <p:txBody>
          <a:bodyPr wrap="none" rtlCol="0">
            <a:spAutoFit/>
          </a:bodyPr>
          <a:lstStyle/>
          <a:p>
            <a:r>
              <a:rPr lang="en-US" sz="3200" noProof="0" dirty="0"/>
              <a:t>🚀</a:t>
            </a:r>
          </a:p>
        </p:txBody>
      </p:sp>
      <p:sp>
        <p:nvSpPr>
          <p:cNvPr id="58" name="TextBox 57">
            <a:extLst>
              <a:ext uri="{FF2B5EF4-FFF2-40B4-BE49-F238E27FC236}">
                <a16:creationId xmlns:a16="http://schemas.microsoft.com/office/drawing/2014/main" id="{151696E4-B0FB-C0DF-97F3-C5C71AD6EE3C}"/>
              </a:ext>
            </a:extLst>
          </p:cNvPr>
          <p:cNvSpPr txBox="1"/>
          <p:nvPr/>
        </p:nvSpPr>
        <p:spPr>
          <a:xfrm>
            <a:off x="2822048" y="5345936"/>
            <a:ext cx="748923" cy="584775"/>
          </a:xfrm>
          <a:prstGeom prst="rect">
            <a:avLst/>
          </a:prstGeom>
          <a:noFill/>
        </p:spPr>
        <p:txBody>
          <a:bodyPr wrap="none" rtlCol="0">
            <a:spAutoFit/>
          </a:bodyPr>
          <a:lstStyle/>
          <a:p>
            <a:pPr algn="r"/>
            <a:r>
              <a:rPr lang="en-US" sz="3200" noProof="0" dirty="0"/>
              <a:t>✅</a:t>
            </a:r>
          </a:p>
        </p:txBody>
      </p:sp>
      <p:sp>
        <p:nvSpPr>
          <p:cNvPr id="60" name="TextBox 59">
            <a:extLst>
              <a:ext uri="{FF2B5EF4-FFF2-40B4-BE49-F238E27FC236}">
                <a16:creationId xmlns:a16="http://schemas.microsoft.com/office/drawing/2014/main" id="{E348268A-4787-4053-3F68-3D86F635C60E}"/>
              </a:ext>
            </a:extLst>
          </p:cNvPr>
          <p:cNvSpPr txBox="1"/>
          <p:nvPr/>
        </p:nvSpPr>
        <p:spPr>
          <a:xfrm>
            <a:off x="7019287" y="5263718"/>
            <a:ext cx="748923" cy="584775"/>
          </a:xfrm>
          <a:prstGeom prst="rect">
            <a:avLst/>
          </a:prstGeom>
          <a:noFill/>
        </p:spPr>
        <p:txBody>
          <a:bodyPr wrap="none" rtlCol="0">
            <a:spAutoFit/>
          </a:bodyPr>
          <a:lstStyle/>
          <a:p>
            <a:r>
              <a:rPr lang="en-US" sz="3200" noProof="0" dirty="0"/>
              <a:t>🚀</a:t>
            </a:r>
          </a:p>
        </p:txBody>
      </p:sp>
      <p:sp>
        <p:nvSpPr>
          <p:cNvPr id="64" name="TextBox 63">
            <a:extLst>
              <a:ext uri="{FF2B5EF4-FFF2-40B4-BE49-F238E27FC236}">
                <a16:creationId xmlns:a16="http://schemas.microsoft.com/office/drawing/2014/main" id="{2A2E43A5-314A-E8F9-B774-8DD706E19EC8}"/>
              </a:ext>
            </a:extLst>
          </p:cNvPr>
          <p:cNvSpPr txBox="1"/>
          <p:nvPr/>
        </p:nvSpPr>
        <p:spPr>
          <a:xfrm>
            <a:off x="6460017" y="5304610"/>
            <a:ext cx="748923" cy="584775"/>
          </a:xfrm>
          <a:prstGeom prst="rect">
            <a:avLst/>
          </a:prstGeom>
          <a:noFill/>
        </p:spPr>
        <p:txBody>
          <a:bodyPr wrap="none" rtlCol="0">
            <a:spAutoFit/>
          </a:bodyPr>
          <a:lstStyle/>
          <a:p>
            <a:pPr algn="r"/>
            <a:r>
              <a:rPr lang="en-US" sz="3200" noProof="0" dirty="0"/>
              <a:t>⚠️</a:t>
            </a:r>
          </a:p>
        </p:txBody>
      </p:sp>
      <p:sp>
        <p:nvSpPr>
          <p:cNvPr id="69" name="TextBox 68">
            <a:extLst>
              <a:ext uri="{FF2B5EF4-FFF2-40B4-BE49-F238E27FC236}">
                <a16:creationId xmlns:a16="http://schemas.microsoft.com/office/drawing/2014/main" id="{296BAB42-31A3-D342-F6EC-828DF204BB89}"/>
              </a:ext>
            </a:extLst>
          </p:cNvPr>
          <p:cNvSpPr txBox="1"/>
          <p:nvPr/>
        </p:nvSpPr>
        <p:spPr>
          <a:xfrm>
            <a:off x="10157847" y="5304610"/>
            <a:ext cx="748923" cy="584775"/>
          </a:xfrm>
          <a:prstGeom prst="rect">
            <a:avLst/>
          </a:prstGeom>
          <a:noFill/>
        </p:spPr>
        <p:txBody>
          <a:bodyPr wrap="none" rtlCol="0">
            <a:spAutoFit/>
          </a:bodyPr>
          <a:lstStyle/>
          <a:p>
            <a:pPr algn="ctr"/>
            <a:r>
              <a:rPr lang="en-US" sz="3200" noProof="0" dirty="0"/>
              <a:t>❌</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extLst>
      <p:ext uri="{BB962C8B-B14F-4D97-AF65-F5344CB8AC3E}">
        <p14:creationId xmlns:p14="http://schemas.microsoft.com/office/powerpoint/2010/main" val="186770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1" grpId="0"/>
      <p:bldP spid="25" grpId="0"/>
      <p:bldP spid="27" grpId="0"/>
      <p:bldP spid="35" grpId="0"/>
      <p:bldP spid="37" grpId="0"/>
      <p:bldP spid="38" grpId="0"/>
      <p:bldP spid="39" grpId="0"/>
      <p:bldP spid="41" grpId="0"/>
      <p:bldP spid="43" grpId="0"/>
      <p:bldP spid="44" grpId="0"/>
      <p:bldP spid="46" grpId="0"/>
      <p:bldP spid="49" grpId="0"/>
      <p:bldP spid="51" grpId="0"/>
      <p:bldP spid="53" grpId="0"/>
      <p:bldP spid="54" grpId="0"/>
      <p:bldP spid="56" grpId="0"/>
      <p:bldP spid="58" grpId="0"/>
      <p:bldP spid="60" grpId="0"/>
      <p:bldP spid="64" grpId="0"/>
      <p:bldP spid="6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0E109-C468-9CAD-7328-CB565CAB08E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D1A2F12-E0B1-E78D-1174-3E84B38E55D2}"/>
              </a:ext>
            </a:extLst>
          </p:cNvPr>
          <p:cNvPicPr>
            <a:picLocks noChangeAspect="1"/>
          </p:cNvPicPr>
          <p:nvPr/>
        </p:nvPicPr>
        <p:blipFill>
          <a:blip r:embed="rId3"/>
          <a:srcRect r="758"/>
          <a:stretch>
            <a:fillRect/>
          </a:stretch>
        </p:blipFill>
        <p:spPr>
          <a:xfrm>
            <a:off x="5725239" y="2414515"/>
            <a:ext cx="6428662" cy="3400819"/>
          </a:xfrm>
          <a:prstGeom prst="rect">
            <a:avLst/>
          </a:prstGeom>
        </p:spPr>
      </p:pic>
      <p:sp>
        <p:nvSpPr>
          <p:cNvPr id="2" name="Title 1">
            <a:extLst>
              <a:ext uri="{FF2B5EF4-FFF2-40B4-BE49-F238E27FC236}">
                <a16:creationId xmlns:a16="http://schemas.microsoft.com/office/drawing/2014/main" id="{15F9A852-DFA7-BB45-D52F-5ADF7BD5F985}"/>
              </a:ext>
            </a:extLst>
          </p:cNvPr>
          <p:cNvSpPr>
            <a:spLocks noGrp="1"/>
          </p:cNvSpPr>
          <p:nvPr>
            <p:ph type="title"/>
          </p:nvPr>
        </p:nvSpPr>
        <p:spPr/>
        <p:txBody>
          <a:bodyPr/>
          <a:lstStyle/>
          <a:p>
            <a:r>
              <a:rPr lang="en-US" noProof="0" dirty="0"/>
              <a:t>Tutoring LLMs for CUDA – submission</a:t>
            </a:r>
            <a:br>
              <a:rPr lang="en-US" noProof="0" dirty="0"/>
            </a:br>
            <a:r>
              <a:rPr lang="en-US" sz="2400" i="1" noProof="0" dirty="0"/>
              <a:t>OpenAI o3-mini</a:t>
            </a:r>
            <a:endParaRPr lang="en-US" sz="2400" noProof="0" dirty="0"/>
          </a:p>
        </p:txBody>
      </p:sp>
      <p:sp>
        <p:nvSpPr>
          <p:cNvPr id="3" name="Date Placeholder 2">
            <a:extLst>
              <a:ext uri="{FF2B5EF4-FFF2-40B4-BE49-F238E27FC236}">
                <a16:creationId xmlns:a16="http://schemas.microsoft.com/office/drawing/2014/main" id="{193E9B5A-3051-3FC5-830E-F33DF82F4788}"/>
              </a:ext>
            </a:extLst>
          </p:cNvPr>
          <p:cNvSpPr>
            <a:spLocks noGrp="1"/>
          </p:cNvSpPr>
          <p:nvPr>
            <p:ph type="dt" sz="half" idx="10"/>
          </p:nvPr>
        </p:nvSpPr>
        <p:spPr/>
        <p:txBody>
          <a:bodyPr/>
          <a:lstStyle/>
          <a:p>
            <a:fld id="{15A7FB29-F852-41FB-A0DF-F798C9C0E438}"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F170B554-C7EC-EA4A-7377-16FE1E7F2197}"/>
              </a:ext>
            </a:extLst>
          </p:cNvPr>
          <p:cNvSpPr>
            <a:spLocks noGrp="1"/>
          </p:cNvSpPr>
          <p:nvPr>
            <p:ph type="sldNum" sz="quarter" idx="12"/>
          </p:nvPr>
        </p:nvSpPr>
        <p:spPr/>
        <p:txBody>
          <a:bodyPr/>
          <a:lstStyle/>
          <a:p>
            <a:fld id="{DA0BB241-1B5F-4309-9407-9EEA04D9598D}" type="slidenum">
              <a:rPr lang="en-US" noProof="0" smtClean="0"/>
              <a:t>26</a:t>
            </a:fld>
            <a:endParaRPr lang="en-US" noProof="0" dirty="0"/>
          </a:p>
        </p:txBody>
      </p:sp>
      <p:sp>
        <p:nvSpPr>
          <p:cNvPr id="9" name="TextBox 8">
            <a:extLst>
              <a:ext uri="{FF2B5EF4-FFF2-40B4-BE49-F238E27FC236}">
                <a16:creationId xmlns:a16="http://schemas.microsoft.com/office/drawing/2014/main" id="{5F4D55C3-3077-8567-A06E-0244BA5AA6CA}"/>
              </a:ext>
            </a:extLst>
          </p:cNvPr>
          <p:cNvSpPr txBox="1"/>
          <p:nvPr/>
        </p:nvSpPr>
        <p:spPr>
          <a:xfrm>
            <a:off x="304855" y="5753021"/>
            <a:ext cx="5697394" cy="369332"/>
          </a:xfrm>
          <a:prstGeom prst="rect">
            <a:avLst/>
          </a:prstGeom>
          <a:noFill/>
        </p:spPr>
        <p:txBody>
          <a:bodyPr wrap="none" rtlCol="0">
            <a:spAutoFit/>
          </a:bodyPr>
          <a:lstStyle/>
          <a:p>
            <a:pPr algn="ctr"/>
            <a:r>
              <a:rPr lang="en-US" noProof="0" dirty="0"/>
              <a:t>Prompt specificity (naïve </a:t>
            </a:r>
            <a:r>
              <a:rPr lang="en-US" noProof="0" dirty="0">
                <a:sym typeface="Wingdings" panose="05000000000000000000" pitchFamily="2" charset="2"/>
              </a:rPr>
              <a:t> …  design specification)</a:t>
            </a:r>
            <a:endParaRPr lang="en-US" noProof="0" dirty="0"/>
          </a:p>
        </p:txBody>
      </p:sp>
      <p:sp>
        <p:nvSpPr>
          <p:cNvPr id="11" name="TextBox 10">
            <a:extLst>
              <a:ext uri="{FF2B5EF4-FFF2-40B4-BE49-F238E27FC236}">
                <a16:creationId xmlns:a16="http://schemas.microsoft.com/office/drawing/2014/main" id="{BEFC1A91-D2F9-8087-5FD2-A346BE6173B0}"/>
              </a:ext>
            </a:extLst>
          </p:cNvPr>
          <p:cNvSpPr txBox="1"/>
          <p:nvPr/>
        </p:nvSpPr>
        <p:spPr>
          <a:xfrm>
            <a:off x="6189752" y="5756063"/>
            <a:ext cx="5697394" cy="369332"/>
          </a:xfrm>
          <a:prstGeom prst="rect">
            <a:avLst/>
          </a:prstGeom>
          <a:noFill/>
        </p:spPr>
        <p:txBody>
          <a:bodyPr wrap="none" rtlCol="0">
            <a:spAutoFit/>
          </a:bodyPr>
          <a:lstStyle/>
          <a:p>
            <a:pPr algn="ctr"/>
            <a:r>
              <a:rPr lang="en-US" noProof="0" dirty="0"/>
              <a:t>Prompt specificity (naïve </a:t>
            </a:r>
            <a:r>
              <a:rPr lang="en-US" noProof="0" dirty="0">
                <a:sym typeface="Wingdings" panose="05000000000000000000" pitchFamily="2" charset="2"/>
              </a:rPr>
              <a:t> …  design specification)</a:t>
            </a:r>
            <a:endParaRPr lang="en-US" noProof="0" dirty="0"/>
          </a:p>
        </p:txBody>
      </p:sp>
      <p:pic>
        <p:nvPicPr>
          <p:cNvPr id="12" name="Picture 11">
            <a:extLst>
              <a:ext uri="{FF2B5EF4-FFF2-40B4-BE49-F238E27FC236}">
                <a16:creationId xmlns:a16="http://schemas.microsoft.com/office/drawing/2014/main" id="{F37C588F-446D-B5A9-2747-7A8074A7E755}"/>
              </a:ext>
            </a:extLst>
          </p:cNvPr>
          <p:cNvPicPr>
            <a:picLocks noChangeAspect="1"/>
          </p:cNvPicPr>
          <p:nvPr/>
        </p:nvPicPr>
        <p:blipFill>
          <a:blip r:embed="rId4"/>
          <a:stretch>
            <a:fillRect/>
          </a:stretch>
        </p:blipFill>
        <p:spPr>
          <a:xfrm>
            <a:off x="38099" y="1813041"/>
            <a:ext cx="5505218" cy="4002293"/>
          </a:xfrm>
          <a:prstGeom prst="rect">
            <a:avLst/>
          </a:prstGeom>
        </p:spPr>
      </p:pic>
      <p:sp>
        <p:nvSpPr>
          <p:cNvPr id="6" name="TextBox 5">
            <a:extLst>
              <a:ext uri="{FF2B5EF4-FFF2-40B4-BE49-F238E27FC236}">
                <a16:creationId xmlns:a16="http://schemas.microsoft.com/office/drawing/2014/main" id="{72D4F460-314F-F2C1-B648-8D4D93BCB4E5}"/>
              </a:ext>
            </a:extLst>
          </p:cNvPr>
          <p:cNvSpPr txBox="1"/>
          <p:nvPr/>
        </p:nvSpPr>
        <p:spPr>
          <a:xfrm>
            <a:off x="2078136" y="1390039"/>
            <a:ext cx="1789272" cy="523220"/>
          </a:xfrm>
          <a:prstGeom prst="rect">
            <a:avLst/>
          </a:prstGeom>
          <a:noFill/>
        </p:spPr>
        <p:txBody>
          <a:bodyPr wrap="none" rtlCol="0" anchor="b">
            <a:spAutoFit/>
          </a:bodyPr>
          <a:lstStyle/>
          <a:p>
            <a:pPr algn="ctr"/>
            <a:r>
              <a:rPr lang="en-US" sz="2800" noProof="0" dirty="0"/>
              <a:t>Histogram</a:t>
            </a:r>
          </a:p>
        </p:txBody>
      </p:sp>
      <p:sp>
        <p:nvSpPr>
          <p:cNvPr id="8" name="TextBox 7">
            <a:extLst>
              <a:ext uri="{FF2B5EF4-FFF2-40B4-BE49-F238E27FC236}">
                <a16:creationId xmlns:a16="http://schemas.microsoft.com/office/drawing/2014/main" id="{95B23757-4EAA-DF6D-49E2-44BDA612747C}"/>
              </a:ext>
            </a:extLst>
          </p:cNvPr>
          <p:cNvSpPr txBox="1"/>
          <p:nvPr/>
        </p:nvSpPr>
        <p:spPr>
          <a:xfrm>
            <a:off x="8261146" y="1971431"/>
            <a:ext cx="2135521" cy="523220"/>
          </a:xfrm>
          <a:prstGeom prst="rect">
            <a:avLst/>
          </a:prstGeom>
          <a:noFill/>
        </p:spPr>
        <p:txBody>
          <a:bodyPr wrap="none" rtlCol="0" anchor="b">
            <a:spAutoFit/>
          </a:bodyPr>
          <a:lstStyle/>
          <a:p>
            <a:pPr algn="ctr"/>
            <a:r>
              <a:rPr lang="en-US" sz="2800" noProof="0" dirty="0"/>
              <a:t>Game of Life</a:t>
            </a:r>
          </a:p>
        </p:txBody>
      </p:sp>
    </p:spTree>
    <p:extLst>
      <p:ext uri="{BB962C8B-B14F-4D97-AF65-F5344CB8AC3E}">
        <p14:creationId xmlns:p14="http://schemas.microsoft.com/office/powerpoint/2010/main" val="2307166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978C7-4C18-1E14-E39F-1667DC671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D726E-1126-5E1F-5D98-D610109CCB14}"/>
              </a:ext>
            </a:extLst>
          </p:cNvPr>
          <p:cNvSpPr>
            <a:spLocks noGrp="1"/>
          </p:cNvSpPr>
          <p:nvPr>
            <p:ph type="title"/>
          </p:nvPr>
        </p:nvSpPr>
        <p:spPr/>
        <p:txBody>
          <a:bodyPr/>
          <a:lstStyle/>
          <a:p>
            <a:r>
              <a:rPr lang="en-US" noProof="0" dirty="0"/>
              <a:t>Tutoring LLMs for CUDA – at conference</a:t>
            </a:r>
            <a:br>
              <a:rPr lang="en-US" noProof="0" dirty="0"/>
            </a:br>
            <a:r>
              <a:rPr lang="en-US" sz="2400" i="1" noProof="0" dirty="0"/>
              <a:t>OpenAI GPT-5</a:t>
            </a:r>
            <a:endParaRPr lang="en-US" sz="2400" noProof="0" dirty="0"/>
          </a:p>
        </p:txBody>
      </p:sp>
      <p:pic>
        <p:nvPicPr>
          <p:cNvPr id="14" name="Picture 13">
            <a:extLst>
              <a:ext uri="{FF2B5EF4-FFF2-40B4-BE49-F238E27FC236}">
                <a16:creationId xmlns:a16="http://schemas.microsoft.com/office/drawing/2014/main" id="{9A37D793-DB98-C60F-2025-13AB50A6AFD7}"/>
              </a:ext>
            </a:extLst>
          </p:cNvPr>
          <p:cNvPicPr>
            <a:picLocks noChangeAspect="1"/>
          </p:cNvPicPr>
          <p:nvPr/>
        </p:nvPicPr>
        <p:blipFill>
          <a:blip r:embed="rId3"/>
          <a:stretch>
            <a:fillRect/>
          </a:stretch>
        </p:blipFill>
        <p:spPr>
          <a:xfrm>
            <a:off x="521915" y="2091797"/>
            <a:ext cx="5419726" cy="3940140"/>
          </a:xfrm>
          <a:prstGeom prst="rect">
            <a:avLst/>
          </a:prstGeom>
        </p:spPr>
      </p:pic>
      <p:pic>
        <p:nvPicPr>
          <p:cNvPr id="17" name="Picture 16">
            <a:extLst>
              <a:ext uri="{FF2B5EF4-FFF2-40B4-BE49-F238E27FC236}">
                <a16:creationId xmlns:a16="http://schemas.microsoft.com/office/drawing/2014/main" id="{43D8561C-C389-8CD1-355F-3F17053E9681}"/>
              </a:ext>
            </a:extLst>
          </p:cNvPr>
          <p:cNvPicPr>
            <a:picLocks noChangeAspect="1"/>
          </p:cNvPicPr>
          <p:nvPr/>
        </p:nvPicPr>
        <p:blipFill>
          <a:blip r:embed="rId4"/>
          <a:stretch>
            <a:fillRect/>
          </a:stretch>
        </p:blipFill>
        <p:spPr>
          <a:xfrm>
            <a:off x="6350972" y="2037561"/>
            <a:ext cx="5494327" cy="3994376"/>
          </a:xfrm>
          <a:prstGeom prst="rect">
            <a:avLst/>
          </a:prstGeom>
        </p:spPr>
      </p:pic>
      <p:sp>
        <p:nvSpPr>
          <p:cNvPr id="3" name="Date Placeholder 2">
            <a:extLst>
              <a:ext uri="{FF2B5EF4-FFF2-40B4-BE49-F238E27FC236}">
                <a16:creationId xmlns:a16="http://schemas.microsoft.com/office/drawing/2014/main" id="{B6E2F9E9-446F-AB04-F509-E2224D7D2122}"/>
              </a:ext>
            </a:extLst>
          </p:cNvPr>
          <p:cNvSpPr>
            <a:spLocks noGrp="1"/>
          </p:cNvSpPr>
          <p:nvPr>
            <p:ph type="dt" sz="half" idx="10"/>
          </p:nvPr>
        </p:nvSpPr>
        <p:spPr/>
        <p:txBody>
          <a:bodyPr/>
          <a:lstStyle/>
          <a:p>
            <a:fld id="{15A7FB29-F852-41FB-A0DF-F798C9C0E438}"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C8E7E7C3-3B23-4ED6-C275-8801DBA6025D}"/>
              </a:ext>
            </a:extLst>
          </p:cNvPr>
          <p:cNvSpPr>
            <a:spLocks noGrp="1"/>
          </p:cNvSpPr>
          <p:nvPr>
            <p:ph type="sldNum" sz="quarter" idx="12"/>
          </p:nvPr>
        </p:nvSpPr>
        <p:spPr/>
        <p:txBody>
          <a:bodyPr/>
          <a:lstStyle/>
          <a:p>
            <a:fld id="{DA0BB241-1B5F-4309-9407-9EEA04D9598D}" type="slidenum">
              <a:rPr lang="en-US" noProof="0" smtClean="0"/>
              <a:t>27</a:t>
            </a:fld>
            <a:endParaRPr lang="en-US" noProof="0" dirty="0"/>
          </a:p>
        </p:txBody>
      </p:sp>
      <p:sp>
        <p:nvSpPr>
          <p:cNvPr id="10" name="TextBox 9">
            <a:extLst>
              <a:ext uri="{FF2B5EF4-FFF2-40B4-BE49-F238E27FC236}">
                <a16:creationId xmlns:a16="http://schemas.microsoft.com/office/drawing/2014/main" id="{EFE45328-838A-47CE-23A0-47149F269933}"/>
              </a:ext>
            </a:extLst>
          </p:cNvPr>
          <p:cNvSpPr txBox="1"/>
          <p:nvPr/>
        </p:nvSpPr>
        <p:spPr>
          <a:xfrm>
            <a:off x="2164017" y="1568577"/>
            <a:ext cx="2135521" cy="523220"/>
          </a:xfrm>
          <a:prstGeom prst="rect">
            <a:avLst/>
          </a:prstGeom>
          <a:noFill/>
        </p:spPr>
        <p:txBody>
          <a:bodyPr wrap="none" rtlCol="0" anchor="b">
            <a:spAutoFit/>
          </a:bodyPr>
          <a:lstStyle/>
          <a:p>
            <a:pPr algn="ctr"/>
            <a:r>
              <a:rPr lang="en-US" sz="2800" noProof="0" dirty="0"/>
              <a:t>Game of Life</a:t>
            </a:r>
          </a:p>
        </p:txBody>
      </p:sp>
      <p:sp>
        <p:nvSpPr>
          <p:cNvPr id="13" name="TextBox 12">
            <a:extLst>
              <a:ext uri="{FF2B5EF4-FFF2-40B4-BE49-F238E27FC236}">
                <a16:creationId xmlns:a16="http://schemas.microsoft.com/office/drawing/2014/main" id="{925974EF-A245-0905-3B10-966BC4F2328D}"/>
              </a:ext>
            </a:extLst>
          </p:cNvPr>
          <p:cNvSpPr txBox="1"/>
          <p:nvPr/>
        </p:nvSpPr>
        <p:spPr>
          <a:xfrm>
            <a:off x="7892464" y="1568577"/>
            <a:ext cx="3371436" cy="523220"/>
          </a:xfrm>
          <a:prstGeom prst="rect">
            <a:avLst/>
          </a:prstGeom>
          <a:noFill/>
        </p:spPr>
        <p:txBody>
          <a:bodyPr wrap="none" rtlCol="0" anchor="b">
            <a:spAutoFit/>
          </a:bodyPr>
          <a:lstStyle/>
          <a:p>
            <a:pPr algn="ctr"/>
            <a:r>
              <a:rPr lang="en-US" sz="2800" noProof="0" dirty="0"/>
              <a:t>k-Nearest Neighbors</a:t>
            </a:r>
          </a:p>
        </p:txBody>
      </p:sp>
      <p:sp>
        <p:nvSpPr>
          <p:cNvPr id="16" name="TextBox 15">
            <a:extLst>
              <a:ext uri="{FF2B5EF4-FFF2-40B4-BE49-F238E27FC236}">
                <a16:creationId xmlns:a16="http://schemas.microsoft.com/office/drawing/2014/main" id="{4CA870EA-9FA0-3527-D9FC-4D14AAF90D3C}"/>
              </a:ext>
            </a:extLst>
          </p:cNvPr>
          <p:cNvSpPr txBox="1"/>
          <p:nvPr/>
        </p:nvSpPr>
        <p:spPr>
          <a:xfrm>
            <a:off x="299642" y="6013676"/>
            <a:ext cx="5697394" cy="369332"/>
          </a:xfrm>
          <a:prstGeom prst="rect">
            <a:avLst/>
          </a:prstGeom>
          <a:noFill/>
        </p:spPr>
        <p:txBody>
          <a:bodyPr wrap="none" rtlCol="0">
            <a:spAutoFit/>
          </a:bodyPr>
          <a:lstStyle/>
          <a:p>
            <a:r>
              <a:rPr lang="en-US" noProof="0" dirty="0"/>
              <a:t>Prompt specificity (naïve </a:t>
            </a:r>
            <a:r>
              <a:rPr lang="en-US" noProof="0" dirty="0">
                <a:sym typeface="Wingdings" panose="05000000000000000000" pitchFamily="2" charset="2"/>
              </a:rPr>
              <a:t> …  design specification)</a:t>
            </a:r>
            <a:endParaRPr lang="en-US" noProof="0" dirty="0"/>
          </a:p>
        </p:txBody>
      </p:sp>
      <p:sp>
        <p:nvSpPr>
          <p:cNvPr id="21" name="TextBox 20">
            <a:extLst>
              <a:ext uri="{FF2B5EF4-FFF2-40B4-BE49-F238E27FC236}">
                <a16:creationId xmlns:a16="http://schemas.microsoft.com/office/drawing/2014/main" id="{EBEA3F10-024D-07D5-20F8-E8C233912E18}"/>
              </a:ext>
            </a:extLst>
          </p:cNvPr>
          <p:cNvSpPr txBox="1"/>
          <p:nvPr/>
        </p:nvSpPr>
        <p:spPr>
          <a:xfrm>
            <a:off x="6350972" y="5987018"/>
            <a:ext cx="5697394" cy="369332"/>
          </a:xfrm>
          <a:prstGeom prst="rect">
            <a:avLst/>
          </a:prstGeom>
          <a:noFill/>
        </p:spPr>
        <p:txBody>
          <a:bodyPr wrap="none" rtlCol="0">
            <a:spAutoFit/>
          </a:bodyPr>
          <a:lstStyle/>
          <a:p>
            <a:r>
              <a:rPr lang="en-US" noProof="0" dirty="0"/>
              <a:t>Prompt specificity (naïve </a:t>
            </a:r>
            <a:r>
              <a:rPr lang="en-US" noProof="0" dirty="0">
                <a:sym typeface="Wingdings" panose="05000000000000000000" pitchFamily="2" charset="2"/>
              </a:rPr>
              <a:t> …  design specification)</a:t>
            </a:r>
            <a:endParaRPr lang="en-US" noProof="0" dirty="0"/>
          </a:p>
        </p:txBody>
      </p:sp>
    </p:spTree>
    <p:extLst>
      <p:ext uri="{BB962C8B-B14F-4D97-AF65-F5344CB8AC3E}">
        <p14:creationId xmlns:p14="http://schemas.microsoft.com/office/powerpoint/2010/main" val="2128573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89876299-1652-9960-0CF0-FAE18BAA3D39}"/>
              </a:ext>
            </a:extLst>
          </p:cNvPr>
          <p:cNvCxnSpPr>
            <a:cxnSpLocks/>
            <a:stCxn id="14" idx="0"/>
            <a:endCxn id="6" idx="2"/>
          </p:cNvCxnSpPr>
          <p:nvPr/>
        </p:nvCxnSpPr>
        <p:spPr>
          <a:xfrm flipV="1">
            <a:off x="1910839" y="3369312"/>
            <a:ext cx="1779679" cy="242474"/>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9A658A6-462A-721C-919E-76FEB163D5B8}"/>
              </a:ext>
            </a:extLst>
          </p:cNvPr>
          <p:cNvCxnSpPr>
            <a:cxnSpLocks/>
            <a:stCxn id="6" idx="2"/>
            <a:endCxn id="24" idx="0"/>
          </p:cNvCxnSpPr>
          <p:nvPr/>
        </p:nvCxnSpPr>
        <p:spPr>
          <a:xfrm>
            <a:off x="3690518" y="3369312"/>
            <a:ext cx="1143970" cy="242998"/>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BD53AA8-39CA-47DE-F5FA-41E1EE49B24D}"/>
              </a:ext>
            </a:extLst>
          </p:cNvPr>
          <p:cNvCxnSpPr>
            <a:cxnSpLocks/>
            <a:stCxn id="16" idx="0"/>
            <a:endCxn id="7" idx="2"/>
          </p:cNvCxnSpPr>
          <p:nvPr/>
        </p:nvCxnSpPr>
        <p:spPr>
          <a:xfrm flipV="1">
            <a:off x="7621023" y="3291961"/>
            <a:ext cx="1261619" cy="327230"/>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7CF218E-2303-9C34-7EE9-CD93166E4988}"/>
              </a:ext>
            </a:extLst>
          </p:cNvPr>
          <p:cNvCxnSpPr>
            <a:cxnSpLocks/>
            <a:stCxn id="28" idx="0"/>
            <a:endCxn id="7" idx="2"/>
          </p:cNvCxnSpPr>
          <p:nvPr/>
        </p:nvCxnSpPr>
        <p:spPr>
          <a:xfrm flipH="1" flipV="1">
            <a:off x="8882642" y="3291961"/>
            <a:ext cx="1613721" cy="323659"/>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nvPr>
        </p:nvSpPr>
        <p:spPr/>
        <p:txBody>
          <a:bodyPr/>
          <a:lstStyle/>
          <a:p>
            <a:fld id="{1AB26190-46ED-4A0C-A5E8-CDBCA5C2D5C3}"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nvPr>
        </p:nvSpPr>
        <p:spPr/>
        <p:txBody>
          <a:bodyPr/>
          <a:lstStyle/>
          <a:p>
            <a:fld id="{DA0BB241-1B5F-4309-9407-9EEA04D9598D}" type="slidenum">
              <a:rPr lang="en-US" noProof="0" smtClean="0"/>
              <a:t>28</a:t>
            </a:fld>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
        <p:nvSpPr>
          <p:cNvPr id="14" name="TextBox 13">
            <a:extLst>
              <a:ext uri="{FF2B5EF4-FFF2-40B4-BE49-F238E27FC236}">
                <a16:creationId xmlns:a16="http://schemas.microsoft.com/office/drawing/2014/main" id="{FBC68EF8-2BD7-3EAB-EBBD-E77F253B6551}"/>
              </a:ext>
            </a:extLst>
          </p:cNvPr>
          <p:cNvSpPr txBox="1"/>
          <p:nvPr/>
        </p:nvSpPr>
        <p:spPr>
          <a:xfrm>
            <a:off x="792196" y="3611786"/>
            <a:ext cx="2237285"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Interpretable</a:t>
            </a:r>
          </a:p>
        </p:txBody>
      </p:sp>
      <p:sp>
        <p:nvSpPr>
          <p:cNvPr id="16" name="TextBox 15">
            <a:extLst>
              <a:ext uri="{FF2B5EF4-FFF2-40B4-BE49-F238E27FC236}">
                <a16:creationId xmlns:a16="http://schemas.microsoft.com/office/drawing/2014/main" id="{145ED155-D147-8024-5E14-14189388C2EE}"/>
              </a:ext>
            </a:extLst>
          </p:cNvPr>
          <p:cNvSpPr txBox="1"/>
          <p:nvPr/>
        </p:nvSpPr>
        <p:spPr>
          <a:xfrm>
            <a:off x="6906565" y="3619191"/>
            <a:ext cx="1428916"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Flexible</a:t>
            </a:r>
          </a:p>
        </p:txBody>
      </p:sp>
      <p:sp>
        <p:nvSpPr>
          <p:cNvPr id="20" name="TextBox 19">
            <a:extLst>
              <a:ext uri="{FF2B5EF4-FFF2-40B4-BE49-F238E27FC236}">
                <a16:creationId xmlns:a16="http://schemas.microsoft.com/office/drawing/2014/main" id="{2BAB4CE5-730D-15C7-FE5D-C7F62D2A14B1}"/>
              </a:ext>
            </a:extLst>
          </p:cNvPr>
          <p:cNvSpPr txBox="1"/>
          <p:nvPr/>
        </p:nvSpPr>
        <p:spPr>
          <a:xfrm>
            <a:off x="6256462" y="4333988"/>
            <a:ext cx="2626180"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Fully automatic</a:t>
            </a:r>
          </a:p>
        </p:txBody>
      </p:sp>
      <p:sp>
        <p:nvSpPr>
          <p:cNvPr id="22" name="TextBox 21">
            <a:extLst>
              <a:ext uri="{FF2B5EF4-FFF2-40B4-BE49-F238E27FC236}">
                <a16:creationId xmlns:a16="http://schemas.microsoft.com/office/drawing/2014/main" id="{00AE5E7C-9BCF-9753-06F8-EAF716A55760}"/>
              </a:ext>
            </a:extLst>
          </p:cNvPr>
          <p:cNvSpPr txBox="1"/>
          <p:nvPr/>
        </p:nvSpPr>
        <p:spPr>
          <a:xfrm>
            <a:off x="748894" y="4331346"/>
            <a:ext cx="2323888"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Deterministic</a:t>
            </a:r>
          </a:p>
        </p:txBody>
      </p:sp>
      <p:sp>
        <p:nvSpPr>
          <p:cNvPr id="24" name="TextBox 23">
            <a:extLst>
              <a:ext uri="{FF2B5EF4-FFF2-40B4-BE49-F238E27FC236}">
                <a16:creationId xmlns:a16="http://schemas.microsoft.com/office/drawing/2014/main" id="{56DFA2B2-D1FB-7E40-AA4F-77E26D5DACCE}"/>
              </a:ext>
            </a:extLst>
          </p:cNvPr>
          <p:cNvSpPr txBox="1"/>
          <p:nvPr/>
        </p:nvSpPr>
        <p:spPr>
          <a:xfrm>
            <a:off x="3585124" y="3612310"/>
            <a:ext cx="2498727"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Learning curve</a:t>
            </a:r>
          </a:p>
        </p:txBody>
      </p:sp>
      <p:sp>
        <p:nvSpPr>
          <p:cNvPr id="26" name="TextBox 25">
            <a:extLst>
              <a:ext uri="{FF2B5EF4-FFF2-40B4-BE49-F238E27FC236}">
                <a16:creationId xmlns:a16="http://schemas.microsoft.com/office/drawing/2014/main" id="{FDBFF3EE-C465-006F-A738-B2C3CB9FD4F2}"/>
              </a:ext>
            </a:extLst>
          </p:cNvPr>
          <p:cNvSpPr txBox="1"/>
          <p:nvPr/>
        </p:nvSpPr>
        <p:spPr>
          <a:xfrm>
            <a:off x="3781206" y="4331346"/>
            <a:ext cx="2003622"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Not general</a:t>
            </a:r>
          </a:p>
        </p:txBody>
      </p:sp>
      <p:sp>
        <p:nvSpPr>
          <p:cNvPr id="28" name="TextBox 27">
            <a:extLst>
              <a:ext uri="{FF2B5EF4-FFF2-40B4-BE49-F238E27FC236}">
                <a16:creationId xmlns:a16="http://schemas.microsoft.com/office/drawing/2014/main" id="{23290D71-6DEC-174A-0D4C-C5A0334D42F9}"/>
              </a:ext>
            </a:extLst>
          </p:cNvPr>
          <p:cNvSpPr txBox="1"/>
          <p:nvPr/>
        </p:nvSpPr>
        <p:spPr>
          <a:xfrm>
            <a:off x="9549708" y="3615620"/>
            <a:ext cx="1893310"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Stochastic</a:t>
            </a:r>
          </a:p>
        </p:txBody>
      </p:sp>
      <p:sp>
        <p:nvSpPr>
          <p:cNvPr id="30" name="TextBox 29">
            <a:extLst>
              <a:ext uri="{FF2B5EF4-FFF2-40B4-BE49-F238E27FC236}">
                <a16:creationId xmlns:a16="http://schemas.microsoft.com/office/drawing/2014/main" id="{52B42A5D-EA70-C360-ADE0-BC629217A2FF}"/>
              </a:ext>
            </a:extLst>
          </p:cNvPr>
          <p:cNvSpPr txBox="1"/>
          <p:nvPr/>
        </p:nvSpPr>
        <p:spPr>
          <a:xfrm>
            <a:off x="9081148" y="4333988"/>
            <a:ext cx="2727489"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Complex output</a:t>
            </a:r>
          </a:p>
        </p:txBody>
      </p:sp>
      <p:sp>
        <p:nvSpPr>
          <p:cNvPr id="35" name="Right Brace 34">
            <a:extLst>
              <a:ext uri="{FF2B5EF4-FFF2-40B4-BE49-F238E27FC236}">
                <a16:creationId xmlns:a16="http://schemas.microsoft.com/office/drawing/2014/main" id="{9F09A8EB-ABF6-B6C8-D0BA-80FB857DE93D}"/>
              </a:ext>
            </a:extLst>
          </p:cNvPr>
          <p:cNvSpPr/>
          <p:nvPr/>
        </p:nvSpPr>
        <p:spPr>
          <a:xfrm rot="5400000">
            <a:off x="6014510" y="898475"/>
            <a:ext cx="162980" cy="8496300"/>
          </a:xfrm>
          <a:prstGeom prst="rightBrace">
            <a:avLst/>
          </a:prstGeom>
          <a:ln w="19050">
            <a:solidFill>
              <a:srgbClr val="0D17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36" name="TextBox 35">
            <a:extLst>
              <a:ext uri="{FF2B5EF4-FFF2-40B4-BE49-F238E27FC236}">
                <a16:creationId xmlns:a16="http://schemas.microsoft.com/office/drawing/2014/main" id="{2389E2B3-4BCB-989F-B436-E7DF27AF788B}"/>
              </a:ext>
            </a:extLst>
          </p:cNvPr>
          <p:cNvSpPr txBox="1"/>
          <p:nvPr/>
        </p:nvSpPr>
        <p:spPr>
          <a:xfrm>
            <a:off x="3673702" y="5222758"/>
            <a:ext cx="4844596" cy="954107"/>
          </a:xfrm>
          <a:prstGeom prst="rect">
            <a:avLst/>
          </a:prstGeom>
          <a:noFill/>
        </p:spPr>
        <p:txBody>
          <a:bodyPr wrap="none" rtlCol="0">
            <a:spAutoFit/>
          </a:bodyPr>
          <a:lstStyle/>
          <a:p>
            <a:pPr algn="ctr"/>
            <a:r>
              <a:rPr lang="en-US" sz="2800" noProof="0" dirty="0"/>
              <a:t>Would abstractions help LLMs</a:t>
            </a:r>
            <a:br>
              <a:rPr lang="en-US" sz="2800" noProof="0" dirty="0"/>
            </a:br>
            <a:r>
              <a:rPr lang="en-US" sz="2800" noProof="0" dirty="0"/>
              <a:t>generate better code?</a:t>
            </a:r>
          </a:p>
        </p:txBody>
      </p:sp>
    </p:spTree>
    <p:extLst>
      <p:ext uri="{BB962C8B-B14F-4D97-AF65-F5344CB8AC3E}">
        <p14:creationId xmlns:p14="http://schemas.microsoft.com/office/powerpoint/2010/main" val="341810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20" grpId="0" animBg="1"/>
      <p:bldP spid="22" grpId="0" animBg="1"/>
      <p:bldP spid="24" grpId="0" animBg="1"/>
      <p:bldP spid="26" grpId="0" animBg="1"/>
      <p:bldP spid="28" grpId="0" animBg="1"/>
      <p:bldP spid="30" grpId="0" animBg="1"/>
      <p:bldP spid="35" grpId="0" animBg="1"/>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FE5F9-EFB1-2C3D-2EB1-4044711DA90C}"/>
              </a:ext>
            </a:extLst>
          </p:cNvPr>
          <p:cNvPicPr>
            <a:picLocks noChangeAspect="1"/>
          </p:cNvPicPr>
          <p:nvPr/>
        </p:nvPicPr>
        <p:blipFill>
          <a:blip r:embed="rId3"/>
          <a:stretch>
            <a:fillRect/>
          </a:stretch>
        </p:blipFill>
        <p:spPr>
          <a:xfrm>
            <a:off x="147523" y="2205523"/>
            <a:ext cx="11896954" cy="3659422"/>
          </a:xfrm>
          <a:prstGeom prst="rect">
            <a:avLst/>
          </a:prstGeom>
        </p:spPr>
      </p:pic>
      <p:sp>
        <p:nvSpPr>
          <p:cNvPr id="2" name="Title 1">
            <a:extLst>
              <a:ext uri="{FF2B5EF4-FFF2-40B4-BE49-F238E27FC236}">
                <a16:creationId xmlns:a16="http://schemas.microsoft.com/office/drawing/2014/main" id="{2E0C2664-DC88-E304-B076-8CF690BAF6A4}"/>
              </a:ext>
            </a:extLst>
          </p:cNvPr>
          <p:cNvSpPr>
            <a:spLocks noGrp="1"/>
          </p:cNvSpPr>
          <p:nvPr>
            <p:ph type="title"/>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9A1CFC6B-07B4-BDEC-76A2-BB27FFB2C420}"/>
              </a:ext>
            </a:extLst>
          </p:cNvPr>
          <p:cNvSpPr>
            <a:spLocks noGrp="1"/>
          </p:cNvSpPr>
          <p:nvPr>
            <p:ph type="dt" sz="half" idx="10"/>
          </p:nvPr>
        </p:nvSpPr>
        <p:spPr/>
        <p:txBody>
          <a:bodyPr/>
          <a:lstStyle/>
          <a:p>
            <a:fld id="{1AB26190-46ED-4A0C-A5E8-CDBCA5C2D5C3}"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7673A756-8275-BE08-DCD4-BFA841AFC05E}"/>
              </a:ext>
            </a:extLst>
          </p:cNvPr>
          <p:cNvSpPr>
            <a:spLocks noGrp="1"/>
          </p:cNvSpPr>
          <p:nvPr>
            <p:ph type="sldNum" sz="quarter" idx="12"/>
          </p:nvPr>
        </p:nvSpPr>
        <p:spPr/>
        <p:txBody>
          <a:bodyPr/>
          <a:lstStyle/>
          <a:p>
            <a:fld id="{DA0BB241-1B5F-4309-9407-9EEA04D9598D}" type="slidenum">
              <a:rPr lang="en-US" noProof="0" smtClean="0"/>
              <a:t>29</a:t>
            </a:fld>
            <a:endParaRPr lang="en-US" noProof="0" dirty="0"/>
          </a:p>
        </p:txBody>
      </p:sp>
      <p:cxnSp>
        <p:nvCxnSpPr>
          <p:cNvPr id="13" name="Straight Arrow Connector 12">
            <a:extLst>
              <a:ext uri="{FF2B5EF4-FFF2-40B4-BE49-F238E27FC236}">
                <a16:creationId xmlns:a16="http://schemas.microsoft.com/office/drawing/2014/main" id="{0AC0D334-1CA1-478B-E2DF-FDBB97BA6ED4}"/>
              </a:ext>
            </a:extLst>
          </p:cNvPr>
          <p:cNvCxnSpPr>
            <a:cxnSpLocks/>
            <a:stCxn id="7" idx="2"/>
          </p:cNvCxnSpPr>
          <p:nvPr/>
        </p:nvCxnSpPr>
        <p:spPr>
          <a:xfrm>
            <a:off x="2585951" y="2006531"/>
            <a:ext cx="0" cy="992163"/>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2B3DD40-0E3D-BE7E-C1A9-7FE95248193E}"/>
              </a:ext>
            </a:extLst>
          </p:cNvPr>
          <p:cNvCxnSpPr>
            <a:cxnSpLocks/>
            <a:stCxn id="11" idx="2"/>
          </p:cNvCxnSpPr>
          <p:nvPr/>
        </p:nvCxnSpPr>
        <p:spPr>
          <a:xfrm>
            <a:off x="8499278" y="1928644"/>
            <a:ext cx="0" cy="1461390"/>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DA1AECA-B818-9D85-2746-62B9AE88EC04}"/>
              </a:ext>
            </a:extLst>
          </p:cNvPr>
          <p:cNvSpPr txBox="1"/>
          <p:nvPr/>
        </p:nvSpPr>
        <p:spPr>
          <a:xfrm>
            <a:off x="81118" y="1928644"/>
            <a:ext cx="1905330" cy="461665"/>
          </a:xfrm>
          <a:prstGeom prst="rect">
            <a:avLst/>
          </a:prstGeom>
          <a:noFill/>
        </p:spPr>
        <p:txBody>
          <a:bodyPr wrap="none" rtlCol="0" anchor="b">
            <a:spAutoFit/>
          </a:bodyPr>
          <a:lstStyle/>
          <a:p>
            <a:pPr algn="ctr"/>
            <a:r>
              <a:rPr lang="en-US" sz="2400" dirty="0" err="1"/>
              <a:t>PolyBench</a:t>
            </a:r>
            <a:r>
              <a:rPr lang="en-US" sz="2400" dirty="0"/>
              <a:t>/C</a:t>
            </a:r>
          </a:p>
        </p:txBody>
      </p:sp>
      <p:pic>
        <p:nvPicPr>
          <p:cNvPr id="7" name="Picture 6">
            <a:extLst>
              <a:ext uri="{FF2B5EF4-FFF2-40B4-BE49-F238E27FC236}">
                <a16:creationId xmlns:a16="http://schemas.microsoft.com/office/drawing/2014/main" id="{B2DD5B8E-4E3D-5FCE-6E08-4D6F0F157642}"/>
              </a:ext>
            </a:extLst>
          </p:cNvPr>
          <p:cNvPicPr>
            <a:picLocks noChangeAspect="1"/>
          </p:cNvPicPr>
          <p:nvPr/>
        </p:nvPicPr>
        <p:blipFill>
          <a:blip r:embed="rId4"/>
          <a:srcRect l="12577" t="17864" r="12520" b="16352"/>
          <a:stretch>
            <a:fillRect/>
          </a:stretch>
        </p:blipFill>
        <p:spPr>
          <a:xfrm>
            <a:off x="2252997" y="1421705"/>
            <a:ext cx="665908" cy="584826"/>
          </a:xfrm>
          <a:prstGeom prst="rect">
            <a:avLst/>
          </a:prstGeom>
        </p:spPr>
      </p:pic>
      <p:pic>
        <p:nvPicPr>
          <p:cNvPr id="11" name="Picture 10">
            <a:extLst>
              <a:ext uri="{FF2B5EF4-FFF2-40B4-BE49-F238E27FC236}">
                <a16:creationId xmlns:a16="http://schemas.microsoft.com/office/drawing/2014/main" id="{59AD9D03-998D-F121-27FE-56A7D3065215}"/>
              </a:ext>
            </a:extLst>
          </p:cNvPr>
          <p:cNvPicPr>
            <a:picLocks noChangeAspect="1"/>
          </p:cNvPicPr>
          <p:nvPr/>
        </p:nvPicPr>
        <p:blipFill>
          <a:blip r:embed="rId4"/>
          <a:srcRect l="12577" t="17864" r="12520" b="16352"/>
          <a:stretch>
            <a:fillRect/>
          </a:stretch>
        </p:blipFill>
        <p:spPr>
          <a:xfrm>
            <a:off x="8166324" y="1343818"/>
            <a:ext cx="665908" cy="584826"/>
          </a:xfrm>
          <a:prstGeom prst="rect">
            <a:avLst/>
          </a:prstGeom>
        </p:spPr>
      </p:pic>
      <p:cxnSp>
        <p:nvCxnSpPr>
          <p:cNvPr id="14" name="Straight Arrow Connector 13">
            <a:extLst>
              <a:ext uri="{FF2B5EF4-FFF2-40B4-BE49-F238E27FC236}">
                <a16:creationId xmlns:a16="http://schemas.microsoft.com/office/drawing/2014/main" id="{BD834972-E809-4BF9-BFD2-EB6411C5399D}"/>
              </a:ext>
            </a:extLst>
          </p:cNvPr>
          <p:cNvCxnSpPr>
            <a:cxnSpLocks/>
            <a:stCxn id="5" idx="2"/>
          </p:cNvCxnSpPr>
          <p:nvPr/>
        </p:nvCxnSpPr>
        <p:spPr>
          <a:xfrm>
            <a:off x="1033783" y="2390309"/>
            <a:ext cx="0" cy="726747"/>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028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43DA17-E138-247B-4A07-447B5A24647A}"/>
              </a:ext>
            </a:extLst>
          </p:cNvPr>
          <p:cNvPicPr>
            <a:picLocks noChangeAspect="1"/>
          </p:cNvPicPr>
          <p:nvPr/>
        </p:nvPicPr>
        <p:blipFill>
          <a:blip r:embed="rId3"/>
          <a:stretch>
            <a:fillRect/>
          </a:stretch>
        </p:blipFill>
        <p:spPr>
          <a:xfrm>
            <a:off x="371719" y="952391"/>
            <a:ext cx="11607430" cy="5594782"/>
          </a:xfrm>
          <a:prstGeom prst="rect">
            <a:avLst/>
          </a:prstGeom>
        </p:spPr>
      </p:pic>
      <p:sp>
        <p:nvSpPr>
          <p:cNvPr id="6" name="Title 5">
            <a:extLst>
              <a:ext uri="{FF2B5EF4-FFF2-40B4-BE49-F238E27FC236}">
                <a16:creationId xmlns:a16="http://schemas.microsoft.com/office/drawing/2014/main" id="{7951329F-EFE3-A4A4-5416-4AA800AB8042}"/>
              </a:ext>
            </a:extLst>
          </p:cNvPr>
          <p:cNvSpPr>
            <a:spLocks noGrp="1"/>
          </p:cNvSpPr>
          <p:nvPr>
            <p:ph type="title"/>
          </p:nvPr>
        </p:nvSpPr>
        <p:spPr/>
        <p:txBody>
          <a:bodyPr/>
          <a:lstStyle/>
          <a:p>
            <a:r>
              <a:rPr lang="en-US" dirty="0"/>
              <a:t>C outperforms the abstractions</a:t>
            </a:r>
          </a:p>
        </p:txBody>
      </p:sp>
      <p:sp>
        <p:nvSpPr>
          <p:cNvPr id="3" name="Date Placeholder 2">
            <a:extLst>
              <a:ext uri="{FF2B5EF4-FFF2-40B4-BE49-F238E27FC236}">
                <a16:creationId xmlns:a16="http://schemas.microsoft.com/office/drawing/2014/main" id="{2CD49F71-7448-E212-BBEF-8893E6B1C5F2}"/>
              </a:ext>
            </a:extLst>
          </p:cNvPr>
          <p:cNvSpPr>
            <a:spLocks noGrp="1"/>
          </p:cNvSpPr>
          <p:nvPr>
            <p:ph type="dt" sz="half" idx="10"/>
          </p:nvPr>
        </p:nvSpPr>
        <p:spPr/>
        <p:txBody>
          <a:bodyPr/>
          <a:lstStyle/>
          <a:p>
            <a:fld id="{1AB26190-46ED-4A0C-A5E8-CDBCA5C2D5C3}"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B6276319-0BF2-515F-5739-FB698D92221B}"/>
              </a:ext>
            </a:extLst>
          </p:cNvPr>
          <p:cNvSpPr>
            <a:spLocks noGrp="1"/>
          </p:cNvSpPr>
          <p:nvPr>
            <p:ph type="sldNum" sz="quarter" idx="12"/>
          </p:nvPr>
        </p:nvSpPr>
        <p:spPr/>
        <p:txBody>
          <a:bodyPr/>
          <a:lstStyle/>
          <a:p>
            <a:fld id="{DA0BB241-1B5F-4309-9407-9EEA04D9598D}" type="slidenum">
              <a:rPr lang="en-US" noProof="0" smtClean="0"/>
              <a:t>30</a:t>
            </a:fld>
            <a:endParaRPr lang="en-US" noProof="0" dirty="0"/>
          </a:p>
        </p:txBody>
      </p:sp>
      <p:cxnSp>
        <p:nvCxnSpPr>
          <p:cNvPr id="8" name="Straight Arrow Connector 7">
            <a:extLst>
              <a:ext uri="{FF2B5EF4-FFF2-40B4-BE49-F238E27FC236}">
                <a16:creationId xmlns:a16="http://schemas.microsoft.com/office/drawing/2014/main" id="{C8052565-253C-E35C-2150-0BF281B9248A}"/>
              </a:ext>
            </a:extLst>
          </p:cNvPr>
          <p:cNvCxnSpPr>
            <a:cxnSpLocks/>
            <a:stCxn id="10" idx="2"/>
          </p:cNvCxnSpPr>
          <p:nvPr/>
        </p:nvCxnSpPr>
        <p:spPr>
          <a:xfrm>
            <a:off x="1224053" y="1613934"/>
            <a:ext cx="590330" cy="652813"/>
          </a:xfrm>
          <a:prstGeom prst="straightConnector1">
            <a:avLst/>
          </a:prstGeom>
          <a:ln>
            <a:solidFill>
              <a:srgbClr val="1F77B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4510F7E-BEF2-4291-2C14-78CF368B4E8A}"/>
              </a:ext>
            </a:extLst>
          </p:cNvPr>
          <p:cNvSpPr txBox="1"/>
          <p:nvPr/>
        </p:nvSpPr>
        <p:spPr>
          <a:xfrm>
            <a:off x="0" y="1213824"/>
            <a:ext cx="2448106" cy="400110"/>
          </a:xfrm>
          <a:prstGeom prst="rect">
            <a:avLst/>
          </a:prstGeom>
          <a:noFill/>
        </p:spPr>
        <p:txBody>
          <a:bodyPr wrap="none" rtlCol="0">
            <a:spAutoFit/>
          </a:bodyPr>
          <a:lstStyle/>
          <a:p>
            <a:pPr algn="ctr"/>
            <a:r>
              <a:rPr lang="en-US" noProof="0" dirty="0"/>
              <a:t>Best </a:t>
            </a:r>
            <a:r>
              <a:rPr lang="en-US" sz="2000" noProof="0" dirty="0"/>
              <a:t>performance</a:t>
            </a:r>
            <a:r>
              <a:rPr lang="en-US" noProof="0" dirty="0"/>
              <a:t> (C)</a:t>
            </a:r>
          </a:p>
        </p:txBody>
      </p:sp>
    </p:spTree>
    <p:extLst>
      <p:ext uri="{BB962C8B-B14F-4D97-AF65-F5344CB8AC3E}">
        <p14:creationId xmlns:p14="http://schemas.microsoft.com/office/powerpoint/2010/main" val="1341665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695E5EAD-8C5F-44D5-24B6-62E7988C0C83}"/>
              </a:ext>
            </a:extLst>
          </p:cNvPr>
          <p:cNvCxnSpPr/>
          <p:nvPr/>
        </p:nvCxnSpPr>
        <p:spPr>
          <a:xfrm flipH="1" flipV="1">
            <a:off x="5424075" y="4413726"/>
            <a:ext cx="3247447" cy="49085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1200874-7B6C-FB45-5B09-FF8BB238D79B}"/>
              </a:ext>
            </a:extLst>
          </p:cNvPr>
          <p:cNvCxnSpPr>
            <a:cxnSpLocks/>
            <a:stCxn id="20" idx="2"/>
            <a:endCxn id="27" idx="0"/>
          </p:cNvCxnSpPr>
          <p:nvPr/>
        </p:nvCxnSpPr>
        <p:spPr>
          <a:xfrm flipH="1">
            <a:off x="6489089" y="1036814"/>
            <a:ext cx="2344336" cy="66246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nector: Curved 103">
            <a:extLst>
              <a:ext uri="{FF2B5EF4-FFF2-40B4-BE49-F238E27FC236}">
                <a16:creationId xmlns:a16="http://schemas.microsoft.com/office/drawing/2014/main" id="{59BF5CAB-CE77-3E1E-A10F-85C7982CD7CE}"/>
              </a:ext>
            </a:extLst>
          </p:cNvPr>
          <p:cNvCxnSpPr>
            <a:cxnSpLocks/>
            <a:stCxn id="12" idx="0"/>
            <a:endCxn id="27" idx="1"/>
          </p:cNvCxnSpPr>
          <p:nvPr/>
        </p:nvCxnSpPr>
        <p:spPr>
          <a:xfrm rot="5400000" flipH="1" flipV="1">
            <a:off x="3239916" y="760661"/>
            <a:ext cx="898255" cy="3299462"/>
          </a:xfrm>
          <a:prstGeom prst="curvedConnector2">
            <a:avLst/>
          </a:prstGeom>
          <a:ln w="5715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33C5503-8ADB-3112-D468-A9D46C7291F9}"/>
              </a:ext>
            </a:extLst>
          </p:cNvPr>
          <p:cNvCxnSpPr>
            <a:cxnSpLocks/>
            <a:stCxn id="83" idx="0"/>
            <a:endCxn id="27" idx="2"/>
          </p:cNvCxnSpPr>
          <p:nvPr/>
        </p:nvCxnSpPr>
        <p:spPr>
          <a:xfrm flipV="1">
            <a:off x="6376588" y="2223248"/>
            <a:ext cx="112501" cy="64524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DEDBBB33-4558-F22F-1F22-F472582CA31D}"/>
              </a:ext>
            </a:extLst>
          </p:cNvPr>
          <p:cNvCxnSpPr>
            <a:cxnSpLocks/>
            <a:stCxn id="24" idx="1"/>
            <a:endCxn id="83" idx="0"/>
          </p:cNvCxnSpPr>
          <p:nvPr/>
        </p:nvCxnSpPr>
        <p:spPr>
          <a:xfrm flipH="1">
            <a:off x="6376588" y="2382425"/>
            <a:ext cx="1793571" cy="486069"/>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FAEA780-35AE-C922-6C99-138293EB3A99}"/>
              </a:ext>
            </a:extLst>
          </p:cNvPr>
          <p:cNvCxnSpPr>
            <a:cxnSpLocks/>
            <a:stCxn id="12" idx="3"/>
          </p:cNvCxnSpPr>
          <p:nvPr/>
        </p:nvCxnSpPr>
        <p:spPr>
          <a:xfrm>
            <a:off x="2817222" y="3114908"/>
            <a:ext cx="2606853" cy="78804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7" name="TextBox 26">
            <a:extLst>
              <a:ext uri="{FF2B5EF4-FFF2-40B4-BE49-F238E27FC236}">
                <a16:creationId xmlns:a16="http://schemas.microsoft.com/office/drawing/2014/main" id="{4C486DD0-E83D-76B8-FFAB-7DFBC00CF409}"/>
              </a:ext>
            </a:extLst>
          </p:cNvPr>
          <p:cNvSpPr txBox="1"/>
          <p:nvPr/>
        </p:nvSpPr>
        <p:spPr>
          <a:xfrm>
            <a:off x="5338774" y="1699280"/>
            <a:ext cx="2300630" cy="523968"/>
          </a:xfrm>
          <a:prstGeom prst="roundRect">
            <a:avLst>
              <a:gd name="adj" fmla="val 20286"/>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CA abstraction</a:t>
            </a:r>
          </a:p>
        </p:txBody>
      </p:sp>
      <p:sp>
        <p:nvSpPr>
          <p:cNvPr id="28" name="TextBox 27">
            <a:extLst>
              <a:ext uri="{FF2B5EF4-FFF2-40B4-BE49-F238E27FC236}">
                <a16:creationId xmlns:a16="http://schemas.microsoft.com/office/drawing/2014/main" id="{4E10342D-AF4F-9D7A-596A-774C5A75EE80}"/>
              </a:ext>
            </a:extLst>
          </p:cNvPr>
          <p:cNvSpPr txBox="1"/>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83" name="TextBox 82">
            <a:extLst>
              <a:ext uri="{FF2B5EF4-FFF2-40B4-BE49-F238E27FC236}">
                <a16:creationId xmlns:a16="http://schemas.microsoft.com/office/drawing/2014/main" id="{B8340993-B06E-A311-6876-6E4CE72B0A74}"/>
              </a:ext>
            </a:extLst>
          </p:cNvPr>
          <p:cNvSpPr txBox="1"/>
          <p:nvPr/>
        </p:nvSpPr>
        <p:spPr>
          <a:xfrm>
            <a:off x="4321131" y="2868494"/>
            <a:ext cx="4110914" cy="543595"/>
          </a:xfrm>
          <a:prstGeom prst="roundRect">
            <a:avLst>
              <a:gd name="adj" fmla="val 21669"/>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Bit-Planes for CA abstraction</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nvPr>
        </p:nvSpPr>
        <p:spPr/>
        <p:txBody>
          <a:bodyPr/>
          <a:lstStyle/>
          <a:p>
            <a:fld id="{6DAC1E11-C476-4762-AFFB-C3D6ECD7A44E}"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nvPr>
        </p:nvSpPr>
        <p:spPr/>
        <p:txBody>
          <a:bodyPr/>
          <a:lstStyle/>
          <a:p>
            <a:fld id="{DA0BB241-1B5F-4309-9407-9EEA04D9598D}" type="slidenum">
              <a:rPr lang="en-US" noProof="0" smtClean="0"/>
              <a:t>31</a:t>
            </a:fld>
            <a:endParaRPr lang="en-US" noProof="0" dirty="0"/>
          </a:p>
        </p:txBody>
      </p:sp>
      <p:sp>
        <p:nvSpPr>
          <p:cNvPr id="30" name="TextBox 29">
            <a:extLst>
              <a:ext uri="{FF2B5EF4-FFF2-40B4-BE49-F238E27FC236}">
                <a16:creationId xmlns:a16="http://schemas.microsoft.com/office/drawing/2014/main" id="{4AD7395F-5DE8-A141-7F54-EB10905B989D}"/>
              </a:ext>
            </a:extLst>
          </p:cNvPr>
          <p:cNvSpPr txBox="1"/>
          <p:nvPr/>
        </p:nvSpPr>
        <p:spPr>
          <a:xfrm>
            <a:off x="3818225" y="3902948"/>
            <a:ext cx="3211699" cy="510778"/>
          </a:xfrm>
          <a:prstGeom prst="roundRect">
            <a:avLst/>
          </a:prstGeom>
          <a:gradFill flip="none" rotWithShape="1">
            <a:gsLst>
              <a:gs pos="0">
                <a:schemeClr val="accent2">
                  <a:lumMod val="67000"/>
                </a:schemeClr>
              </a:gs>
              <a:gs pos="50000">
                <a:srgbClr val="8C7B14"/>
              </a:gs>
              <a:gs pos="100000">
                <a:schemeClr val="accent6">
                  <a:lumMod val="60000"/>
                  <a:lumOff val="40000"/>
                </a:schemeClr>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LLMs and abstractions</a:t>
            </a:r>
          </a:p>
        </p:txBody>
      </p:sp>
      <p:sp>
        <p:nvSpPr>
          <p:cNvPr id="105" name="TextBox 104">
            <a:extLst>
              <a:ext uri="{FF2B5EF4-FFF2-40B4-BE49-F238E27FC236}">
                <a16:creationId xmlns:a16="http://schemas.microsoft.com/office/drawing/2014/main" id="{34EEE70E-66B1-DBA0-D563-ADA02418E73F}"/>
              </a:ext>
            </a:extLst>
          </p:cNvPr>
          <p:cNvSpPr txBox="1"/>
          <p:nvPr/>
        </p:nvSpPr>
        <p:spPr>
          <a:xfrm rot="21191511">
            <a:off x="2323825" y="1656128"/>
            <a:ext cx="2731838" cy="461665"/>
          </a:xfrm>
          <a:prstGeom prst="rect">
            <a:avLst/>
          </a:prstGeom>
          <a:noFill/>
        </p:spPr>
        <p:txBody>
          <a:bodyPr wrap="none" rtlCol="0">
            <a:noAutofit/>
          </a:bodyPr>
          <a:lstStyle/>
          <a:p>
            <a:r>
              <a:rPr lang="en-US" sz="2400" noProof="0" dirty="0"/>
              <a:t>Knowledge transfer</a:t>
            </a:r>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7745" y="4557585"/>
            <a:ext cx="688481" cy="688481"/>
          </a:xfrm>
          <a:prstGeom prst="rect">
            <a:avLst/>
          </a:prstGeom>
        </p:spPr>
      </p:pic>
      <p:pic>
        <p:nvPicPr>
          <p:cNvPr id="118" name="Graphic 117" descr="Document with solid fill">
            <a:extLst>
              <a:ext uri="{FF2B5EF4-FFF2-40B4-BE49-F238E27FC236}">
                <a16:creationId xmlns:a16="http://schemas.microsoft.com/office/drawing/2014/main" id="{2272B4AB-7D5F-AB8E-81F9-35DCF3C22C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0988" y="2845627"/>
            <a:ext cx="684040" cy="684040"/>
          </a:xfrm>
          <a:prstGeom prst="rect">
            <a:avLst/>
          </a:prstGeom>
        </p:spPr>
      </p:pic>
      <p:pic>
        <p:nvPicPr>
          <p:cNvPr id="120" name="Graphic 119" descr="Document with solid fill">
            <a:extLst>
              <a:ext uri="{FF2B5EF4-FFF2-40B4-BE49-F238E27FC236}">
                <a16:creationId xmlns:a16="http://schemas.microsoft.com/office/drawing/2014/main" id="{0495A40B-1AEC-0013-8842-1E42AD2CB06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35326" y="1614868"/>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6770" y="5370763"/>
            <a:ext cx="684040" cy="684040"/>
          </a:xfrm>
          <a:prstGeom prst="rect">
            <a:avLst/>
          </a:prstGeom>
        </p:spPr>
      </p:pic>
      <p:pic>
        <p:nvPicPr>
          <p:cNvPr id="128" name="Graphic 127" descr="Document with solid fill">
            <a:extLst>
              <a:ext uri="{FF2B5EF4-FFF2-40B4-BE49-F238E27FC236}">
                <a16:creationId xmlns:a16="http://schemas.microsoft.com/office/drawing/2014/main" id="{E84D08A1-6570-0EBA-AB89-9527CFD7419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77217" y="3816317"/>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39057" y="5535157"/>
            <a:ext cx="372564" cy="372564"/>
          </a:xfrm>
          <a:prstGeom prst="rect">
            <a:avLst/>
          </a:prstGeom>
        </p:spPr>
      </p:pic>
      <p:pic>
        <p:nvPicPr>
          <p:cNvPr id="134" name="Graphic 133" descr="Hourglass 90% with solid fill">
            <a:extLst>
              <a:ext uri="{FF2B5EF4-FFF2-40B4-BE49-F238E27FC236}">
                <a16:creationId xmlns:a16="http://schemas.microsoft.com/office/drawing/2014/main" id="{3A28964A-C8E0-7C8E-551D-E262DC957E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10745" y="3001049"/>
            <a:ext cx="372564" cy="372564"/>
          </a:xfrm>
          <a:prstGeom prst="rect">
            <a:avLst/>
          </a:prstGeom>
        </p:spPr>
      </p:pic>
    </p:spTree>
    <p:extLst>
      <p:ext uri="{BB962C8B-B14F-4D97-AF65-F5344CB8AC3E}">
        <p14:creationId xmlns:p14="http://schemas.microsoft.com/office/powerpoint/2010/main" val="174548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2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animBg="1"/>
      <p:bldP spid="16" grpId="0" animBg="1"/>
      <p:bldP spid="24" grpId="0" animBg="1"/>
      <p:bldP spid="27" grpId="0" animBg="1"/>
      <p:bldP spid="28" grpId="0" animBg="1"/>
      <p:bldP spid="14" grpId="0" animBg="1"/>
      <p:bldP spid="83" grpId="0" animBg="1"/>
      <p:bldP spid="30" grpId="0" animBg="1"/>
      <p:bldP spid="10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6E2FB-C33B-F5A6-39E3-F8E23A8324D1}"/>
              </a:ext>
            </a:extLst>
          </p:cNvPr>
          <p:cNvSpPr>
            <a:spLocks noGrp="1"/>
          </p:cNvSpPr>
          <p:nvPr>
            <p:ph type="title"/>
          </p:nvPr>
        </p:nvSpPr>
        <p:spPr/>
        <p:txBody>
          <a:bodyPr/>
          <a:lstStyle/>
          <a:p>
            <a:r>
              <a:rPr lang="en-US" dirty="0"/>
              <a:t>Contribution s</a:t>
            </a:r>
            <a:r>
              <a:rPr lang="en-US" noProof="0" dirty="0" err="1"/>
              <a:t>ummary</a:t>
            </a:r>
            <a:endParaRPr lang="en-US" noProof="0" dirty="0"/>
          </a:p>
        </p:txBody>
      </p:sp>
      <p:sp>
        <p:nvSpPr>
          <p:cNvPr id="3" name="Date Placeholder 2">
            <a:extLst>
              <a:ext uri="{FF2B5EF4-FFF2-40B4-BE49-F238E27FC236}">
                <a16:creationId xmlns:a16="http://schemas.microsoft.com/office/drawing/2014/main" id="{619F2EFF-764E-D77C-839A-710FB5E7FAC9}"/>
              </a:ext>
            </a:extLst>
          </p:cNvPr>
          <p:cNvSpPr>
            <a:spLocks noGrp="1"/>
          </p:cNvSpPr>
          <p:nvPr>
            <p:ph type="dt" sz="half" idx="10"/>
          </p:nvPr>
        </p:nvSpPr>
        <p:spPr/>
        <p:txBody>
          <a:bodyPr/>
          <a:lstStyle/>
          <a:p>
            <a:fld id="{1AB26190-46ED-4A0C-A5E8-CDBCA5C2D5C3}" type="datetime1">
              <a:rPr lang="en-US" noProof="0" smtClean="0"/>
              <a:t>9/6/2026</a:t>
            </a:fld>
            <a:endParaRPr lang="en-US" noProof="0" dirty="0"/>
          </a:p>
        </p:txBody>
      </p:sp>
      <p:sp>
        <p:nvSpPr>
          <p:cNvPr id="4" name="Slide Number Placeholder 3">
            <a:extLst>
              <a:ext uri="{FF2B5EF4-FFF2-40B4-BE49-F238E27FC236}">
                <a16:creationId xmlns:a16="http://schemas.microsoft.com/office/drawing/2014/main" id="{63653686-DDC4-AE26-E80F-25922CD6EA22}"/>
              </a:ext>
            </a:extLst>
          </p:cNvPr>
          <p:cNvSpPr>
            <a:spLocks noGrp="1"/>
          </p:cNvSpPr>
          <p:nvPr>
            <p:ph type="sldNum" sz="quarter" idx="12"/>
          </p:nvPr>
        </p:nvSpPr>
        <p:spPr/>
        <p:txBody>
          <a:bodyPr/>
          <a:lstStyle/>
          <a:p>
            <a:fld id="{DA0BB241-1B5F-4309-9407-9EEA04D9598D}" type="slidenum">
              <a:rPr lang="en-US" noProof="0" smtClean="0"/>
              <a:t>32</a:t>
            </a:fld>
            <a:endParaRPr lang="en-US" noProof="0" dirty="0"/>
          </a:p>
        </p:txBody>
      </p:sp>
      <p:sp>
        <p:nvSpPr>
          <p:cNvPr id="5" name="TextBox 4">
            <a:extLst>
              <a:ext uri="{FF2B5EF4-FFF2-40B4-BE49-F238E27FC236}">
                <a16:creationId xmlns:a16="http://schemas.microsoft.com/office/drawing/2014/main" id="{07460CFD-1ADD-C377-3592-F33BC4F867B6}"/>
              </a:ext>
            </a:extLst>
          </p:cNvPr>
          <p:cNvSpPr txBox="1"/>
          <p:nvPr/>
        </p:nvSpPr>
        <p:spPr>
          <a:xfrm>
            <a:off x="2426878" y="1800983"/>
            <a:ext cx="1230658" cy="430887"/>
          </a:xfrm>
          <a:prstGeom prst="rect">
            <a:avLst/>
          </a:prstGeom>
          <a:noFill/>
        </p:spPr>
        <p:txBody>
          <a:bodyPr wrap="square" rtlCol="0">
            <a:spAutoFit/>
          </a:bodyPr>
          <a:lstStyle/>
          <a:p>
            <a:pPr algn="r"/>
            <a:r>
              <a:rPr lang="en-US" sz="2200" noProof="0" dirty="0"/>
              <a:t>Layouts</a:t>
            </a:r>
          </a:p>
        </p:txBody>
      </p:sp>
      <p:sp>
        <p:nvSpPr>
          <p:cNvPr id="8" name="TextBox 7">
            <a:extLst>
              <a:ext uri="{FF2B5EF4-FFF2-40B4-BE49-F238E27FC236}">
                <a16:creationId xmlns:a16="http://schemas.microsoft.com/office/drawing/2014/main" id="{8A890452-B9A2-74CC-8DAA-A01425E62FD3}"/>
              </a:ext>
            </a:extLst>
          </p:cNvPr>
          <p:cNvSpPr txBox="1"/>
          <p:nvPr/>
        </p:nvSpPr>
        <p:spPr>
          <a:xfrm>
            <a:off x="2252985" y="2116499"/>
            <a:ext cx="1404551" cy="430887"/>
          </a:xfrm>
          <a:prstGeom prst="rect">
            <a:avLst/>
          </a:prstGeom>
          <a:noFill/>
        </p:spPr>
        <p:txBody>
          <a:bodyPr wrap="none" rtlCol="0">
            <a:spAutoFit/>
          </a:bodyPr>
          <a:lstStyle/>
          <a:p>
            <a:pPr algn="r"/>
            <a:r>
              <a:rPr lang="en-US" sz="2200" noProof="0" dirty="0"/>
              <a:t>Traversals</a:t>
            </a:r>
          </a:p>
        </p:txBody>
      </p:sp>
      <p:sp>
        <p:nvSpPr>
          <p:cNvPr id="10" name="TextBox 9">
            <a:extLst>
              <a:ext uri="{FF2B5EF4-FFF2-40B4-BE49-F238E27FC236}">
                <a16:creationId xmlns:a16="http://schemas.microsoft.com/office/drawing/2014/main" id="{BD8A1E1A-6D5A-56E5-F8EC-DE0EA51B3C0D}"/>
              </a:ext>
            </a:extLst>
          </p:cNvPr>
          <p:cNvSpPr txBox="1"/>
          <p:nvPr/>
        </p:nvSpPr>
        <p:spPr>
          <a:xfrm>
            <a:off x="2061971" y="2399717"/>
            <a:ext cx="1595565" cy="430887"/>
          </a:xfrm>
          <a:prstGeom prst="rect">
            <a:avLst/>
          </a:prstGeom>
          <a:noFill/>
        </p:spPr>
        <p:txBody>
          <a:bodyPr wrap="none" rtlCol="0">
            <a:spAutoFit/>
          </a:bodyPr>
          <a:lstStyle/>
          <a:p>
            <a:pPr algn="r"/>
            <a:r>
              <a:rPr lang="en-US" sz="2200" b="1" noProof="0" dirty="0"/>
              <a:t>Autotuning</a:t>
            </a:r>
          </a:p>
        </p:txBody>
      </p:sp>
      <p:sp>
        <p:nvSpPr>
          <p:cNvPr id="12" name="TextBox 11">
            <a:extLst>
              <a:ext uri="{FF2B5EF4-FFF2-40B4-BE49-F238E27FC236}">
                <a16:creationId xmlns:a16="http://schemas.microsoft.com/office/drawing/2014/main" id="{F9277F25-EB33-FBD0-50C1-C49A0970F767}"/>
              </a:ext>
            </a:extLst>
          </p:cNvPr>
          <p:cNvSpPr txBox="1"/>
          <p:nvPr/>
        </p:nvSpPr>
        <p:spPr>
          <a:xfrm>
            <a:off x="2111920" y="2695114"/>
            <a:ext cx="1545616" cy="430887"/>
          </a:xfrm>
          <a:prstGeom prst="rect">
            <a:avLst/>
          </a:prstGeom>
          <a:noFill/>
        </p:spPr>
        <p:txBody>
          <a:bodyPr wrap="none" rtlCol="0">
            <a:spAutoFit/>
          </a:bodyPr>
          <a:lstStyle/>
          <a:p>
            <a:pPr algn="r"/>
            <a:r>
              <a:rPr lang="en-US" sz="2200" noProof="0" dirty="0"/>
              <a:t>Distributed</a:t>
            </a:r>
          </a:p>
        </p:txBody>
      </p:sp>
      <p:sp>
        <p:nvSpPr>
          <p:cNvPr id="14" name="TextBox 13">
            <a:extLst>
              <a:ext uri="{FF2B5EF4-FFF2-40B4-BE49-F238E27FC236}">
                <a16:creationId xmlns:a16="http://schemas.microsoft.com/office/drawing/2014/main" id="{CE8F7A3C-A424-8253-CB99-0B73DC4FE674}"/>
              </a:ext>
            </a:extLst>
          </p:cNvPr>
          <p:cNvSpPr txBox="1"/>
          <p:nvPr/>
        </p:nvSpPr>
        <p:spPr>
          <a:xfrm>
            <a:off x="1570426" y="2961166"/>
            <a:ext cx="2087110" cy="430887"/>
          </a:xfrm>
          <a:prstGeom prst="rect">
            <a:avLst/>
          </a:prstGeom>
          <a:noFill/>
        </p:spPr>
        <p:txBody>
          <a:bodyPr wrap="none" rtlCol="0">
            <a:spAutoFit/>
          </a:bodyPr>
          <a:lstStyle/>
          <a:p>
            <a:pPr algn="r"/>
            <a:r>
              <a:rPr lang="en-US" sz="2200" b="1" noProof="0" dirty="0"/>
              <a:t>CA abstraction</a:t>
            </a:r>
          </a:p>
        </p:txBody>
      </p:sp>
      <p:sp>
        <p:nvSpPr>
          <p:cNvPr id="16" name="TextBox 15">
            <a:extLst>
              <a:ext uri="{FF2B5EF4-FFF2-40B4-BE49-F238E27FC236}">
                <a16:creationId xmlns:a16="http://schemas.microsoft.com/office/drawing/2014/main" id="{92124A68-C53E-11BD-CAF9-0273F97C47FA}"/>
              </a:ext>
            </a:extLst>
          </p:cNvPr>
          <p:cNvSpPr txBox="1"/>
          <p:nvPr/>
        </p:nvSpPr>
        <p:spPr>
          <a:xfrm>
            <a:off x="603495" y="3232729"/>
            <a:ext cx="3054041" cy="430887"/>
          </a:xfrm>
          <a:prstGeom prst="rect">
            <a:avLst/>
          </a:prstGeom>
          <a:noFill/>
        </p:spPr>
        <p:txBody>
          <a:bodyPr wrap="none" rtlCol="0">
            <a:spAutoFit/>
          </a:bodyPr>
          <a:lstStyle/>
          <a:p>
            <a:pPr algn="r"/>
            <a:r>
              <a:rPr lang="en-US" sz="2200" noProof="0" dirty="0"/>
              <a:t>Tutoring LLMs for CUDA</a:t>
            </a:r>
          </a:p>
        </p:txBody>
      </p:sp>
      <p:sp>
        <p:nvSpPr>
          <p:cNvPr id="18" name="TextBox 17">
            <a:extLst>
              <a:ext uri="{FF2B5EF4-FFF2-40B4-BE49-F238E27FC236}">
                <a16:creationId xmlns:a16="http://schemas.microsoft.com/office/drawing/2014/main" id="{DD278D3E-9071-30B3-5084-67810955D802}"/>
              </a:ext>
            </a:extLst>
          </p:cNvPr>
          <p:cNvSpPr txBox="1"/>
          <p:nvPr/>
        </p:nvSpPr>
        <p:spPr>
          <a:xfrm>
            <a:off x="723721" y="3541885"/>
            <a:ext cx="2933815" cy="430887"/>
          </a:xfrm>
          <a:prstGeom prst="rect">
            <a:avLst/>
          </a:prstGeom>
          <a:noFill/>
        </p:spPr>
        <p:txBody>
          <a:bodyPr wrap="none" rtlCol="0">
            <a:spAutoFit/>
          </a:bodyPr>
          <a:lstStyle/>
          <a:p>
            <a:pPr algn="r"/>
            <a:r>
              <a:rPr lang="en-US" sz="2200" noProof="0" dirty="0"/>
              <a:t>LLMs and abstractions</a:t>
            </a:r>
          </a:p>
        </p:txBody>
      </p:sp>
      <p:sp>
        <p:nvSpPr>
          <p:cNvPr id="20" name="TextBox 19">
            <a:extLst>
              <a:ext uri="{FF2B5EF4-FFF2-40B4-BE49-F238E27FC236}">
                <a16:creationId xmlns:a16="http://schemas.microsoft.com/office/drawing/2014/main" id="{2EEB6927-BD1C-C0F1-C38D-1A40C72A2497}"/>
              </a:ext>
            </a:extLst>
          </p:cNvPr>
          <p:cNvSpPr txBox="1"/>
          <p:nvPr/>
        </p:nvSpPr>
        <p:spPr>
          <a:xfrm>
            <a:off x="1404996" y="4431055"/>
            <a:ext cx="2252540" cy="430887"/>
          </a:xfrm>
          <a:prstGeom prst="rect">
            <a:avLst/>
          </a:prstGeom>
          <a:noFill/>
        </p:spPr>
        <p:txBody>
          <a:bodyPr wrap="none" rtlCol="0">
            <a:spAutoFit/>
          </a:bodyPr>
          <a:lstStyle/>
          <a:p>
            <a:pPr algn="r"/>
            <a:r>
              <a:rPr lang="en-US" sz="2200" noProof="0" dirty="0"/>
              <a:t>GPU </a:t>
            </a:r>
            <a:r>
              <a:rPr lang="en-US" sz="2200" noProof="0" dirty="0" err="1"/>
              <a:t>EmbedSOM</a:t>
            </a:r>
            <a:endParaRPr lang="en-US" sz="2200" noProof="0" dirty="0"/>
          </a:p>
        </p:txBody>
      </p:sp>
      <p:sp>
        <p:nvSpPr>
          <p:cNvPr id="22" name="TextBox 21">
            <a:extLst>
              <a:ext uri="{FF2B5EF4-FFF2-40B4-BE49-F238E27FC236}">
                <a16:creationId xmlns:a16="http://schemas.microsoft.com/office/drawing/2014/main" id="{35C78A90-FEC1-2DB8-B891-AC8BDA35A2A4}"/>
              </a:ext>
            </a:extLst>
          </p:cNvPr>
          <p:cNvSpPr txBox="1"/>
          <p:nvPr/>
        </p:nvSpPr>
        <p:spPr>
          <a:xfrm>
            <a:off x="550596" y="4716295"/>
            <a:ext cx="3106940" cy="430887"/>
          </a:xfrm>
          <a:prstGeom prst="rect">
            <a:avLst/>
          </a:prstGeom>
          <a:noFill/>
        </p:spPr>
        <p:txBody>
          <a:bodyPr wrap="none" rtlCol="0">
            <a:spAutoFit/>
          </a:bodyPr>
          <a:lstStyle/>
          <a:p>
            <a:pPr algn="r"/>
            <a:r>
              <a:rPr lang="en-US" sz="2200" noProof="0" dirty="0"/>
              <a:t>Bitwise encoding of </a:t>
            </a:r>
            <a:r>
              <a:rPr lang="en-US" sz="2200" noProof="0" dirty="0" err="1"/>
              <a:t>GoL</a:t>
            </a:r>
            <a:endParaRPr lang="en-US" sz="2200" noProof="0" dirty="0"/>
          </a:p>
        </p:txBody>
      </p:sp>
      <p:sp>
        <p:nvSpPr>
          <p:cNvPr id="24" name="TextBox 23">
            <a:extLst>
              <a:ext uri="{FF2B5EF4-FFF2-40B4-BE49-F238E27FC236}">
                <a16:creationId xmlns:a16="http://schemas.microsoft.com/office/drawing/2014/main" id="{1A9FF1FA-5071-1EAC-9BA2-D4E5B82F1A7A}"/>
              </a:ext>
            </a:extLst>
          </p:cNvPr>
          <p:cNvSpPr txBox="1"/>
          <p:nvPr/>
        </p:nvSpPr>
        <p:spPr>
          <a:xfrm>
            <a:off x="778223" y="5026689"/>
            <a:ext cx="2879313" cy="430887"/>
          </a:xfrm>
          <a:prstGeom prst="rect">
            <a:avLst/>
          </a:prstGeom>
          <a:noFill/>
        </p:spPr>
        <p:txBody>
          <a:bodyPr wrap="none" rtlCol="0">
            <a:spAutoFit/>
          </a:bodyPr>
          <a:lstStyle/>
          <a:p>
            <a:pPr algn="r"/>
            <a:r>
              <a:rPr lang="en-US" sz="2200" b="1" noProof="0" dirty="0" err="1"/>
              <a:t>kNN</a:t>
            </a:r>
            <a:r>
              <a:rPr lang="en-US" sz="2200" b="1" noProof="0" dirty="0"/>
              <a:t> with </a:t>
            </a:r>
            <a:r>
              <a:rPr lang="en-US" sz="2200" b="1" noProof="0" dirty="0" err="1"/>
              <a:t>bitonic</a:t>
            </a:r>
            <a:r>
              <a:rPr lang="en-US" sz="2200" b="1" noProof="0" dirty="0"/>
              <a:t> sort</a:t>
            </a:r>
          </a:p>
        </p:txBody>
      </p:sp>
      <p:sp>
        <p:nvSpPr>
          <p:cNvPr id="25" name="TextBox 24">
            <a:extLst>
              <a:ext uri="{FF2B5EF4-FFF2-40B4-BE49-F238E27FC236}">
                <a16:creationId xmlns:a16="http://schemas.microsoft.com/office/drawing/2014/main" id="{1814196E-42A9-2357-683E-D9B1852BAD1C}"/>
              </a:ext>
            </a:extLst>
          </p:cNvPr>
          <p:cNvSpPr txBox="1"/>
          <p:nvPr/>
        </p:nvSpPr>
        <p:spPr>
          <a:xfrm>
            <a:off x="743853" y="5292203"/>
            <a:ext cx="2913683" cy="430887"/>
          </a:xfrm>
          <a:prstGeom prst="rect">
            <a:avLst/>
          </a:prstGeom>
          <a:noFill/>
        </p:spPr>
        <p:txBody>
          <a:bodyPr wrap="none" rtlCol="0">
            <a:spAutoFit/>
          </a:bodyPr>
          <a:lstStyle/>
          <a:p>
            <a:pPr algn="r"/>
            <a:r>
              <a:rPr lang="en-US" sz="2200" b="1" noProof="0" dirty="0"/>
              <a:t>Bit-Planes – CA </a:t>
            </a:r>
            <a:r>
              <a:rPr lang="en-US" sz="2200" b="1" noProof="0" dirty="0" err="1"/>
              <a:t>abstr</a:t>
            </a:r>
            <a:r>
              <a:rPr lang="en-US" sz="2200" b="1" noProof="0" dirty="0"/>
              <a:t>.</a:t>
            </a:r>
          </a:p>
        </p:txBody>
      </p:sp>
      <p:sp>
        <p:nvSpPr>
          <p:cNvPr id="7" name="Left Brace 6">
            <a:extLst>
              <a:ext uri="{FF2B5EF4-FFF2-40B4-BE49-F238E27FC236}">
                <a16:creationId xmlns:a16="http://schemas.microsoft.com/office/drawing/2014/main" id="{70FB1660-D075-7B01-57E6-A7BE0BF087E2}"/>
              </a:ext>
            </a:extLst>
          </p:cNvPr>
          <p:cNvSpPr/>
          <p:nvPr/>
        </p:nvSpPr>
        <p:spPr>
          <a:xfrm>
            <a:off x="1958742" y="1903362"/>
            <a:ext cx="183607" cy="1113856"/>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noProof="0" dirty="0"/>
          </a:p>
        </p:txBody>
      </p:sp>
      <p:sp>
        <p:nvSpPr>
          <p:cNvPr id="9" name="TextBox 8">
            <a:extLst>
              <a:ext uri="{FF2B5EF4-FFF2-40B4-BE49-F238E27FC236}">
                <a16:creationId xmlns:a16="http://schemas.microsoft.com/office/drawing/2014/main" id="{074A760B-F774-39E3-E0AC-9B2DEC8AF4DE}"/>
              </a:ext>
            </a:extLst>
          </p:cNvPr>
          <p:cNvSpPr txBox="1"/>
          <p:nvPr/>
        </p:nvSpPr>
        <p:spPr>
          <a:xfrm>
            <a:off x="1079975" y="2221582"/>
            <a:ext cx="878767" cy="430887"/>
          </a:xfrm>
          <a:prstGeom prst="rect">
            <a:avLst/>
          </a:prstGeom>
          <a:noFill/>
        </p:spPr>
        <p:txBody>
          <a:bodyPr wrap="none" rtlCol="0">
            <a:spAutoFit/>
          </a:bodyPr>
          <a:lstStyle/>
          <a:p>
            <a:r>
              <a:rPr lang="en-US" sz="2200" noProof="0" dirty="0"/>
              <a:t>Noarr</a:t>
            </a:r>
          </a:p>
        </p:txBody>
      </p:sp>
      <p:sp>
        <p:nvSpPr>
          <p:cNvPr id="13" name="Left Brace 12">
            <a:extLst>
              <a:ext uri="{FF2B5EF4-FFF2-40B4-BE49-F238E27FC236}">
                <a16:creationId xmlns:a16="http://schemas.microsoft.com/office/drawing/2014/main" id="{6258EB1D-0B46-9D04-4739-FBEC2EF2265A}"/>
              </a:ext>
            </a:extLst>
          </p:cNvPr>
          <p:cNvSpPr/>
          <p:nvPr/>
        </p:nvSpPr>
        <p:spPr>
          <a:xfrm>
            <a:off x="1469940" y="3017218"/>
            <a:ext cx="183607" cy="286541"/>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noProof="0" dirty="0"/>
          </a:p>
        </p:txBody>
      </p:sp>
      <p:sp>
        <p:nvSpPr>
          <p:cNvPr id="17" name="TextBox 16">
            <a:extLst>
              <a:ext uri="{FF2B5EF4-FFF2-40B4-BE49-F238E27FC236}">
                <a16:creationId xmlns:a16="http://schemas.microsoft.com/office/drawing/2014/main" id="{FD7B44A4-A32D-E3BD-91BE-CB60C63F0094}"/>
              </a:ext>
            </a:extLst>
          </p:cNvPr>
          <p:cNvSpPr txBox="1"/>
          <p:nvPr/>
        </p:nvSpPr>
        <p:spPr>
          <a:xfrm>
            <a:off x="408380" y="2941387"/>
            <a:ext cx="1066318" cy="430887"/>
          </a:xfrm>
          <a:prstGeom prst="rect">
            <a:avLst/>
          </a:prstGeom>
          <a:noFill/>
        </p:spPr>
        <p:txBody>
          <a:bodyPr wrap="none" rtlCol="0">
            <a:spAutoFit/>
          </a:bodyPr>
          <a:lstStyle/>
          <a:p>
            <a:pPr algn="r"/>
            <a:r>
              <a:rPr lang="en-US" sz="2200" noProof="0" dirty="0"/>
              <a:t>Cellato</a:t>
            </a:r>
          </a:p>
        </p:txBody>
      </p:sp>
      <p:pic>
        <p:nvPicPr>
          <p:cNvPr id="19" name="Picture 18">
            <a:extLst>
              <a:ext uri="{FF2B5EF4-FFF2-40B4-BE49-F238E27FC236}">
                <a16:creationId xmlns:a16="http://schemas.microsoft.com/office/drawing/2014/main" id="{7BBFF5E8-6F34-AD91-483A-BF96ED8BB2E9}"/>
              </a:ext>
            </a:extLst>
          </p:cNvPr>
          <p:cNvPicPr>
            <a:picLocks noChangeAspect="1"/>
          </p:cNvPicPr>
          <p:nvPr/>
        </p:nvPicPr>
        <p:blipFill>
          <a:blip r:embed="rId3"/>
          <a:srcRect l="8227"/>
          <a:stretch>
            <a:fillRect/>
          </a:stretch>
        </p:blipFill>
        <p:spPr>
          <a:xfrm>
            <a:off x="3690596" y="1422499"/>
            <a:ext cx="8501404" cy="4274301"/>
          </a:xfrm>
          <a:prstGeom prst="rect">
            <a:avLst/>
          </a:prstGeom>
        </p:spPr>
      </p:pic>
      <p:cxnSp>
        <p:nvCxnSpPr>
          <p:cNvPr id="37" name="Connector: Curved 36">
            <a:extLst>
              <a:ext uri="{FF2B5EF4-FFF2-40B4-BE49-F238E27FC236}">
                <a16:creationId xmlns:a16="http://schemas.microsoft.com/office/drawing/2014/main" id="{2240D803-50FC-D08D-43CC-A9BA0D55AD8B}"/>
              </a:ext>
            </a:extLst>
          </p:cNvPr>
          <p:cNvCxnSpPr>
            <a:cxnSpLocks/>
            <a:stCxn id="25" idx="1"/>
            <a:endCxn id="17" idx="1"/>
          </p:cNvCxnSpPr>
          <p:nvPr/>
        </p:nvCxnSpPr>
        <p:spPr>
          <a:xfrm rot="10800000">
            <a:off x="408381" y="3156831"/>
            <a:ext cx="335473" cy="2350816"/>
          </a:xfrm>
          <a:prstGeom prst="curvedConnector3">
            <a:avLst>
              <a:gd name="adj1" fmla="val 16814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Cloud 5">
            <a:extLst>
              <a:ext uri="{FF2B5EF4-FFF2-40B4-BE49-F238E27FC236}">
                <a16:creationId xmlns:a16="http://schemas.microsoft.com/office/drawing/2014/main" id="{649FBB15-DDE7-53A8-F2E8-FA8A59181102}"/>
              </a:ext>
            </a:extLst>
          </p:cNvPr>
          <p:cNvSpPr/>
          <p:nvPr/>
        </p:nvSpPr>
        <p:spPr>
          <a:xfrm>
            <a:off x="3610240" y="3574537"/>
            <a:ext cx="1718505" cy="390086"/>
          </a:xfrm>
          <a:prstGeom prst="cloud">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r"/>
            <a:r>
              <a:rPr lang="en-US" dirty="0">
                <a:solidFill>
                  <a:schemeClr val="tx1"/>
                </a:solidFill>
              </a:rPr>
              <a:t>ICA3PP         </a:t>
            </a:r>
          </a:p>
        </p:txBody>
      </p:sp>
    </p:spTree>
    <p:extLst>
      <p:ext uri="{BB962C8B-B14F-4D97-AF65-F5344CB8AC3E}">
        <p14:creationId xmlns:p14="http://schemas.microsoft.com/office/powerpoint/2010/main" val="2025371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14D937-1CAE-414B-A7D5-018C68698F98}"/>
              </a:ext>
            </a:extLst>
          </p:cNvPr>
          <p:cNvSpPr>
            <a:spLocks noGrp="1"/>
          </p:cNvSpPr>
          <p:nvPr>
            <p:ph type="title"/>
          </p:nvPr>
        </p:nvSpPr>
        <p:spPr/>
        <p:txBody>
          <a:bodyPr/>
          <a:lstStyle/>
          <a:p>
            <a:r>
              <a:rPr lang="en-US" noProof="0" dirty="0"/>
              <a:t>Review comments and questions</a:t>
            </a:r>
          </a:p>
        </p:txBody>
      </p:sp>
      <p:sp>
        <p:nvSpPr>
          <p:cNvPr id="7" name="Text Placeholder 6">
            <a:extLst>
              <a:ext uri="{FF2B5EF4-FFF2-40B4-BE49-F238E27FC236}">
                <a16:creationId xmlns:a16="http://schemas.microsoft.com/office/drawing/2014/main" id="{5130AF46-445A-EA10-5B0A-764E1CA13B08}"/>
              </a:ext>
            </a:extLst>
          </p:cNvPr>
          <p:cNvSpPr>
            <a:spLocks noGrp="1"/>
          </p:cNvSpPr>
          <p:nvPr>
            <p:ph type="body" idx="1"/>
          </p:nvPr>
        </p:nvSpPr>
        <p:spPr/>
        <p:txBody>
          <a:bodyPr/>
          <a:lstStyle/>
          <a:p>
            <a:endParaRPr lang="en-US" noProof="0" dirty="0"/>
          </a:p>
        </p:txBody>
      </p:sp>
      <p:sp>
        <p:nvSpPr>
          <p:cNvPr id="4" name="Date Placeholder 3">
            <a:extLst>
              <a:ext uri="{FF2B5EF4-FFF2-40B4-BE49-F238E27FC236}">
                <a16:creationId xmlns:a16="http://schemas.microsoft.com/office/drawing/2014/main" id="{1384B596-5AF7-51AF-3EE6-313BDA5CC3C0}"/>
              </a:ext>
            </a:extLst>
          </p:cNvPr>
          <p:cNvSpPr>
            <a:spLocks noGrp="1"/>
          </p:cNvSpPr>
          <p:nvPr>
            <p:ph type="dt" sz="half" idx="10"/>
          </p:nvPr>
        </p:nvSpPr>
        <p:spPr/>
        <p:txBody>
          <a:bodyPr/>
          <a:lstStyle/>
          <a:p>
            <a:fld id="{0601A530-81CA-410E-A053-EF7BD11F8EF0}"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3BD45EBF-BF5B-CB1B-7863-61BA3DD3C837}"/>
              </a:ext>
            </a:extLst>
          </p:cNvPr>
          <p:cNvSpPr>
            <a:spLocks noGrp="1"/>
          </p:cNvSpPr>
          <p:nvPr>
            <p:ph type="sldNum" sz="quarter" idx="12"/>
          </p:nvPr>
        </p:nvSpPr>
        <p:spPr/>
        <p:txBody>
          <a:bodyPr/>
          <a:lstStyle/>
          <a:p>
            <a:fld id="{DA0BB241-1B5F-4309-9407-9EEA04D9598D}" type="slidenum">
              <a:rPr lang="en-US" noProof="0" smtClean="0"/>
              <a:t>33</a:t>
            </a:fld>
            <a:endParaRPr lang="en-US" noProof="0" dirty="0"/>
          </a:p>
        </p:txBody>
      </p:sp>
    </p:spTree>
    <p:extLst>
      <p:ext uri="{BB962C8B-B14F-4D97-AF65-F5344CB8AC3E}">
        <p14:creationId xmlns:p14="http://schemas.microsoft.com/office/powerpoint/2010/main" val="2595384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DA3A68D-BA44-145A-8266-F48BAE5922B6}"/>
              </a:ext>
            </a:extLst>
          </p:cNvPr>
          <p:cNvSpPr>
            <a:spLocks noGrp="1"/>
          </p:cNvSpPr>
          <p:nvPr>
            <p:ph type="title"/>
          </p:nvPr>
        </p:nvSpPr>
        <p:spPr/>
        <p:txBody>
          <a:bodyPr>
            <a:normAutofit/>
          </a:bodyPr>
          <a:lstStyle/>
          <a:p>
            <a:r>
              <a:rPr lang="en-US" noProof="0" dirty="0"/>
              <a:t>Why is Cellato separate from Noarr?</a:t>
            </a:r>
          </a:p>
        </p:txBody>
      </p:sp>
      <p:sp>
        <p:nvSpPr>
          <p:cNvPr id="7" name="Content Placeholder 6">
            <a:extLst>
              <a:ext uri="{FF2B5EF4-FFF2-40B4-BE49-F238E27FC236}">
                <a16:creationId xmlns:a16="http://schemas.microsoft.com/office/drawing/2014/main" id="{78E4B909-7FF2-6BA5-88FD-CADA9D5BE98F}"/>
              </a:ext>
            </a:extLst>
          </p:cNvPr>
          <p:cNvSpPr>
            <a:spLocks noGrp="1"/>
          </p:cNvSpPr>
          <p:nvPr>
            <p:ph idx="1"/>
          </p:nvPr>
        </p:nvSpPr>
        <p:spPr/>
        <p:txBody>
          <a:bodyPr anchor="ctr"/>
          <a:lstStyle/>
          <a:p>
            <a:r>
              <a:rPr lang="en-US" noProof="0" dirty="0"/>
              <a:t>Optimization tied to bit-level encoding and bitwise evaluation</a:t>
            </a:r>
          </a:p>
          <a:p>
            <a:r>
              <a:rPr lang="en-US" noProof="0" dirty="0"/>
              <a:t>Noarr doesn’t inspect or abstract statements/expressions</a:t>
            </a:r>
          </a:p>
          <a:p>
            <a:r>
              <a:rPr lang="en-US" dirty="0"/>
              <a:t>Cellato adopts layout &amp; traversal agnosticism and the template metaprogramming implementation; the goals are more specific</a:t>
            </a:r>
          </a:p>
        </p:txBody>
      </p:sp>
      <p:sp>
        <p:nvSpPr>
          <p:cNvPr id="4" name="Date Placeholder 3">
            <a:extLst>
              <a:ext uri="{FF2B5EF4-FFF2-40B4-BE49-F238E27FC236}">
                <a16:creationId xmlns:a16="http://schemas.microsoft.com/office/drawing/2014/main" id="{165FE8C8-E861-092A-DD67-F97F8685CC22}"/>
              </a:ext>
            </a:extLst>
          </p:cNvPr>
          <p:cNvSpPr>
            <a:spLocks noGrp="1"/>
          </p:cNvSpPr>
          <p:nvPr>
            <p:ph type="dt" sz="half" idx="10"/>
          </p:nvPr>
        </p:nvSpPr>
        <p:spPr/>
        <p:txBody>
          <a:bodyPr/>
          <a:lstStyle/>
          <a:p>
            <a:fld id="{34463B7D-19AB-44BF-8DCC-FDF87A48CBC2}"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63AF3829-2535-EDEB-0FC1-2B5DC2FB518B}"/>
              </a:ext>
            </a:extLst>
          </p:cNvPr>
          <p:cNvSpPr>
            <a:spLocks noGrp="1"/>
          </p:cNvSpPr>
          <p:nvPr>
            <p:ph type="sldNum" sz="quarter" idx="12"/>
          </p:nvPr>
        </p:nvSpPr>
        <p:spPr/>
        <p:txBody>
          <a:bodyPr/>
          <a:lstStyle/>
          <a:p>
            <a:fld id="{DA0BB241-1B5F-4309-9407-9EEA04D9598D}" type="slidenum">
              <a:rPr lang="en-US" noProof="0" smtClean="0"/>
              <a:t>34</a:t>
            </a:fld>
            <a:endParaRPr lang="en-US" noProof="0" dirty="0"/>
          </a:p>
        </p:txBody>
      </p:sp>
    </p:spTree>
    <p:extLst>
      <p:ext uri="{BB962C8B-B14F-4D97-AF65-F5344CB8AC3E}">
        <p14:creationId xmlns:p14="http://schemas.microsoft.com/office/powerpoint/2010/main" val="3705317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595D-F97E-73E9-84DA-0FC353335568}"/>
              </a:ext>
            </a:extLst>
          </p:cNvPr>
          <p:cNvSpPr>
            <a:spLocks noGrp="1"/>
          </p:cNvSpPr>
          <p:nvPr>
            <p:ph type="title"/>
          </p:nvPr>
        </p:nvSpPr>
        <p:spPr/>
        <p:txBody>
          <a:bodyPr/>
          <a:lstStyle/>
          <a:p>
            <a:r>
              <a:rPr lang="en-US" noProof="0" dirty="0"/>
              <a:t>What do you think an abstraction designed specifically for an LLM should look like?</a:t>
            </a:r>
          </a:p>
        </p:txBody>
      </p:sp>
      <p:sp>
        <p:nvSpPr>
          <p:cNvPr id="3" name="Content Placeholder 2">
            <a:extLst>
              <a:ext uri="{FF2B5EF4-FFF2-40B4-BE49-F238E27FC236}">
                <a16:creationId xmlns:a16="http://schemas.microsoft.com/office/drawing/2014/main" id="{6F21508F-6DB1-BCB4-96D9-949E58869DE2}"/>
              </a:ext>
            </a:extLst>
          </p:cNvPr>
          <p:cNvSpPr>
            <a:spLocks noGrp="1"/>
          </p:cNvSpPr>
          <p:nvPr>
            <p:ph idx="1"/>
          </p:nvPr>
        </p:nvSpPr>
        <p:spPr/>
        <p:txBody>
          <a:bodyPr anchor="ctr"/>
          <a:lstStyle/>
          <a:p>
            <a:r>
              <a:rPr lang="en-US" noProof="0" dirty="0"/>
              <a:t>A good answer would require a specific study</a:t>
            </a:r>
          </a:p>
          <a:p>
            <a:r>
              <a:rPr lang="en-US" noProof="0" dirty="0"/>
              <a:t>I have identified (at the time of experiments) that C++ syntax was quite challenging to the LLM (particularly angle brackets)</a:t>
            </a:r>
          </a:p>
          <a:p>
            <a:r>
              <a:rPr lang="en-US" noProof="0" dirty="0"/>
              <a:t>Python-based Exo performed best out of the studied abstractions</a:t>
            </a:r>
          </a:p>
          <a:p>
            <a:r>
              <a:rPr lang="en-US" noProof="0" dirty="0"/>
              <a:t>Good performance on abstraction-less C suggests more explicit representation might perform better</a:t>
            </a:r>
          </a:p>
          <a:p>
            <a:endParaRPr lang="en-US" noProof="0" dirty="0"/>
          </a:p>
          <a:p>
            <a:r>
              <a:rPr lang="en-US" noProof="0" dirty="0"/>
              <a:t>Agentic LLMs might benefit from extensive compiler feedback and runtime metrics</a:t>
            </a:r>
          </a:p>
          <a:p>
            <a:r>
              <a:rPr lang="en-US" noProof="0" dirty="0"/>
              <a:t>Inspiration by ComPilot: structured back-and-forth communication</a:t>
            </a:r>
          </a:p>
        </p:txBody>
      </p:sp>
      <p:sp>
        <p:nvSpPr>
          <p:cNvPr id="4" name="Date Placeholder 3">
            <a:extLst>
              <a:ext uri="{FF2B5EF4-FFF2-40B4-BE49-F238E27FC236}">
                <a16:creationId xmlns:a16="http://schemas.microsoft.com/office/drawing/2014/main" id="{4D600627-2EB4-B0E4-6C58-9D40BFDA6DD6}"/>
              </a:ext>
            </a:extLst>
          </p:cNvPr>
          <p:cNvSpPr>
            <a:spLocks noGrp="1"/>
          </p:cNvSpPr>
          <p:nvPr>
            <p:ph type="dt" sz="half" idx="10"/>
          </p:nvPr>
        </p:nvSpPr>
        <p:spPr/>
        <p:txBody>
          <a:bodyPr/>
          <a:lstStyle/>
          <a:p>
            <a:fld id="{358C28A6-2969-482E-9A3B-5E13FCD8DD03}"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EDCA47EB-C20E-1A0D-DA75-7B7C311F0375}"/>
              </a:ext>
            </a:extLst>
          </p:cNvPr>
          <p:cNvSpPr>
            <a:spLocks noGrp="1"/>
          </p:cNvSpPr>
          <p:nvPr>
            <p:ph type="sldNum" sz="quarter" idx="12"/>
          </p:nvPr>
        </p:nvSpPr>
        <p:spPr/>
        <p:txBody>
          <a:bodyPr/>
          <a:lstStyle/>
          <a:p>
            <a:fld id="{DA0BB241-1B5F-4309-9407-9EEA04D9598D}" type="slidenum">
              <a:rPr lang="en-US" noProof="0" smtClean="0"/>
              <a:t>35</a:t>
            </a:fld>
            <a:endParaRPr lang="en-US" noProof="0" dirty="0"/>
          </a:p>
        </p:txBody>
      </p:sp>
    </p:spTree>
    <p:extLst>
      <p:ext uri="{BB962C8B-B14F-4D97-AF65-F5344CB8AC3E}">
        <p14:creationId xmlns:p14="http://schemas.microsoft.com/office/powerpoint/2010/main" val="4269704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31CC-E8C4-0B21-8037-B59EAE91DFC2}"/>
              </a:ext>
            </a:extLst>
          </p:cNvPr>
          <p:cNvSpPr>
            <a:spLocks noGrp="1"/>
          </p:cNvSpPr>
          <p:nvPr>
            <p:ph type="title"/>
          </p:nvPr>
        </p:nvSpPr>
        <p:spPr/>
        <p:txBody>
          <a:bodyPr/>
          <a:lstStyle/>
          <a:p>
            <a:r>
              <a:rPr lang="en-US" noProof="0" dirty="0"/>
              <a:t> Is </a:t>
            </a:r>
            <a:r>
              <a:rPr lang="en-US" noProof="0" dirty="0" err="1"/>
              <a:t>hvector</a:t>
            </a:r>
            <a:r>
              <a:rPr lang="en-US" noProof="0" dirty="0"/>
              <a:t> necessary?</a:t>
            </a:r>
            <a:br>
              <a:rPr lang="en-US" noProof="0" dirty="0"/>
            </a:br>
            <a:r>
              <a:rPr lang="en-US" noProof="0" dirty="0"/>
              <a:t>vector more convenient?</a:t>
            </a:r>
          </a:p>
        </p:txBody>
      </p:sp>
      <p:sp>
        <p:nvSpPr>
          <p:cNvPr id="3" name="Content Placeholder 2">
            <a:extLst>
              <a:ext uri="{FF2B5EF4-FFF2-40B4-BE49-F238E27FC236}">
                <a16:creationId xmlns:a16="http://schemas.microsoft.com/office/drawing/2014/main" id="{671A00C2-D819-CE9A-6EA6-9695C2780324}"/>
              </a:ext>
            </a:extLst>
          </p:cNvPr>
          <p:cNvSpPr>
            <a:spLocks noGrp="1"/>
          </p:cNvSpPr>
          <p:nvPr>
            <p:ph idx="1"/>
          </p:nvPr>
        </p:nvSpPr>
        <p:spPr/>
        <p:txBody>
          <a:bodyPr anchor="ctr"/>
          <a:lstStyle/>
          <a:p>
            <a:r>
              <a:rPr lang="en-US" noProof="0" dirty="0"/>
              <a:t>For a general multidimensional structure, </a:t>
            </a:r>
            <a:r>
              <a:rPr lang="en-US" noProof="0" dirty="0" err="1"/>
              <a:t>hvector</a:t>
            </a:r>
            <a:r>
              <a:rPr lang="en-US" noProof="0" dirty="0"/>
              <a:t> is more convenient</a:t>
            </a:r>
          </a:p>
          <a:p>
            <a:pPr lvl="1"/>
            <a:r>
              <a:rPr lang="en-US" noProof="0" dirty="0"/>
              <a:t>For the first iteration, vector seems like the right choice</a:t>
            </a:r>
          </a:p>
          <a:p>
            <a:pPr lvl="1"/>
            <a:r>
              <a:rPr lang="en-US" noProof="0" dirty="0"/>
              <a:t>For later iterations, the underlying datatype is the previous iteration</a:t>
            </a:r>
          </a:p>
          <a:p>
            <a:pPr lvl="2"/>
            <a:r>
              <a:rPr lang="en-US" noProof="0" dirty="0"/>
              <a:t>Then works conveniently only for contiguous-like encodings</a:t>
            </a:r>
          </a:p>
          <a:p>
            <a:pPr lvl="2"/>
            <a:r>
              <a:rPr lang="en-US" noProof="0" dirty="0"/>
              <a:t>Not for the following: the extent of sub-layout does not divide the stride of the result layout</a:t>
            </a:r>
            <a:br>
              <a:rPr lang="en-US" noProof="0" dirty="0"/>
            </a:br>
            <a:r>
              <a:rPr lang="en-US" noProof="0" dirty="0"/>
              <a:t>(see Slide 4 for better visualization of the two communicated layouts)</a:t>
            </a:r>
          </a:p>
        </p:txBody>
      </p:sp>
      <p:sp>
        <p:nvSpPr>
          <p:cNvPr id="4" name="Date Placeholder 3">
            <a:extLst>
              <a:ext uri="{FF2B5EF4-FFF2-40B4-BE49-F238E27FC236}">
                <a16:creationId xmlns:a16="http://schemas.microsoft.com/office/drawing/2014/main" id="{74CE120E-B666-59CF-BAF9-35F39BFC89E6}"/>
              </a:ext>
            </a:extLst>
          </p:cNvPr>
          <p:cNvSpPr>
            <a:spLocks noGrp="1"/>
          </p:cNvSpPr>
          <p:nvPr>
            <p:ph type="dt" sz="half" idx="10"/>
          </p:nvPr>
        </p:nvSpPr>
        <p:spPr/>
        <p:txBody>
          <a:bodyPr/>
          <a:lstStyle/>
          <a:p>
            <a:fld id="{358C28A6-2969-482E-9A3B-5E13FCD8DD03}"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18EED586-2A74-4D32-AAE4-9ED352AB10CB}"/>
              </a:ext>
            </a:extLst>
          </p:cNvPr>
          <p:cNvSpPr>
            <a:spLocks noGrp="1"/>
          </p:cNvSpPr>
          <p:nvPr>
            <p:ph type="sldNum" sz="quarter" idx="12"/>
          </p:nvPr>
        </p:nvSpPr>
        <p:spPr/>
        <p:txBody>
          <a:bodyPr/>
          <a:lstStyle/>
          <a:p>
            <a:fld id="{DA0BB241-1B5F-4309-9407-9EEA04D9598D}" type="slidenum">
              <a:rPr lang="en-US" noProof="0" smtClean="0"/>
              <a:t>36</a:t>
            </a:fld>
            <a:endParaRPr lang="en-US" noProof="0" dirty="0"/>
          </a:p>
        </p:txBody>
      </p:sp>
      <p:sp>
        <p:nvSpPr>
          <p:cNvPr id="6" name="TextBox 5">
            <a:extLst>
              <a:ext uri="{FF2B5EF4-FFF2-40B4-BE49-F238E27FC236}">
                <a16:creationId xmlns:a16="http://schemas.microsoft.com/office/drawing/2014/main" id="{E4446F09-51B2-65D1-B5C7-B33B2B727078}"/>
              </a:ext>
            </a:extLst>
          </p:cNvPr>
          <p:cNvSpPr txBox="1"/>
          <p:nvPr/>
        </p:nvSpPr>
        <p:spPr>
          <a:xfrm>
            <a:off x="4267201" y="5495658"/>
            <a:ext cx="373820" cy="369332"/>
          </a:xfrm>
          <a:prstGeom prst="rect">
            <a:avLst/>
          </a:prstGeom>
          <a:noFill/>
        </p:spPr>
        <p:txBody>
          <a:bodyPr wrap="none" rtlCol="0">
            <a:spAutoFit/>
          </a:bodyPr>
          <a:lstStyle/>
          <a:p>
            <a:r>
              <a:rPr lang="en-US" noProof="0" dirty="0"/>
              <a:t>1.</a:t>
            </a:r>
          </a:p>
        </p:txBody>
      </p:sp>
      <p:sp>
        <p:nvSpPr>
          <p:cNvPr id="7" name="Rectangle 6">
            <a:extLst>
              <a:ext uri="{FF2B5EF4-FFF2-40B4-BE49-F238E27FC236}">
                <a16:creationId xmlns:a16="http://schemas.microsoft.com/office/drawing/2014/main" id="{ED173626-BF0E-DC66-AF9C-49C4425418EF}"/>
              </a:ext>
            </a:extLst>
          </p:cNvPr>
          <p:cNvSpPr/>
          <p:nvPr/>
        </p:nvSpPr>
        <p:spPr>
          <a:xfrm>
            <a:off x="4771698" y="5495658"/>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72FE75E6-20CA-0C32-444D-F5E72974B166}"/>
              </a:ext>
            </a:extLst>
          </p:cNvPr>
          <p:cNvSpPr/>
          <p:nvPr/>
        </p:nvSpPr>
        <p:spPr>
          <a:xfrm>
            <a:off x="5906814" y="5495653"/>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AACFBA8D-FE38-38D4-9ED4-818152959C8D}"/>
              </a:ext>
            </a:extLst>
          </p:cNvPr>
          <p:cNvSpPr/>
          <p:nvPr/>
        </p:nvSpPr>
        <p:spPr>
          <a:xfrm>
            <a:off x="7049968" y="5495650"/>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D81B5FB8-3E80-148D-A1CF-7D8097D394FC}"/>
              </a:ext>
            </a:extLst>
          </p:cNvPr>
          <p:cNvSpPr/>
          <p:nvPr/>
        </p:nvSpPr>
        <p:spPr>
          <a:xfrm>
            <a:off x="8195443" y="5495650"/>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extBox 14">
            <a:extLst>
              <a:ext uri="{FF2B5EF4-FFF2-40B4-BE49-F238E27FC236}">
                <a16:creationId xmlns:a16="http://schemas.microsoft.com/office/drawing/2014/main" id="{C63AD2B4-D9EF-D3CE-FC20-5695D2C82C8E}"/>
              </a:ext>
            </a:extLst>
          </p:cNvPr>
          <p:cNvSpPr txBox="1"/>
          <p:nvPr/>
        </p:nvSpPr>
        <p:spPr>
          <a:xfrm>
            <a:off x="4267201" y="5987017"/>
            <a:ext cx="373820" cy="369332"/>
          </a:xfrm>
          <a:prstGeom prst="rect">
            <a:avLst/>
          </a:prstGeom>
          <a:noFill/>
        </p:spPr>
        <p:txBody>
          <a:bodyPr wrap="none" rtlCol="0">
            <a:spAutoFit/>
          </a:bodyPr>
          <a:lstStyle/>
          <a:p>
            <a:r>
              <a:rPr lang="en-US" noProof="0" dirty="0"/>
              <a:t>2.</a:t>
            </a:r>
          </a:p>
        </p:txBody>
      </p:sp>
      <p:sp>
        <p:nvSpPr>
          <p:cNvPr id="17" name="Rectangle 16">
            <a:extLst>
              <a:ext uri="{FF2B5EF4-FFF2-40B4-BE49-F238E27FC236}">
                <a16:creationId xmlns:a16="http://schemas.microsoft.com/office/drawing/2014/main" id="{BE996E37-8BAE-6155-A295-145A6CCF4B82}"/>
              </a:ext>
            </a:extLst>
          </p:cNvPr>
          <p:cNvSpPr/>
          <p:nvPr/>
        </p:nvSpPr>
        <p:spPr>
          <a:xfrm>
            <a:off x="4771698" y="5987017"/>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C77AC894-FDFC-15D2-D531-72EF1A4246F3}"/>
              </a:ext>
            </a:extLst>
          </p:cNvPr>
          <p:cNvSpPr/>
          <p:nvPr/>
        </p:nvSpPr>
        <p:spPr>
          <a:xfrm>
            <a:off x="5906814" y="5987012"/>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AAD899D7-8DF9-519A-B48F-0662D93D854D}"/>
              </a:ext>
            </a:extLst>
          </p:cNvPr>
          <p:cNvSpPr/>
          <p:nvPr/>
        </p:nvSpPr>
        <p:spPr>
          <a:xfrm>
            <a:off x="7049968" y="5987009"/>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tangle 22">
            <a:extLst>
              <a:ext uri="{FF2B5EF4-FFF2-40B4-BE49-F238E27FC236}">
                <a16:creationId xmlns:a16="http://schemas.microsoft.com/office/drawing/2014/main" id="{1E53DBD4-FED9-7F10-40C8-168760C29B11}"/>
              </a:ext>
            </a:extLst>
          </p:cNvPr>
          <p:cNvSpPr/>
          <p:nvPr/>
        </p:nvSpPr>
        <p:spPr>
          <a:xfrm>
            <a:off x="8195443" y="5987009"/>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24">
            <a:extLst>
              <a:ext uri="{FF2B5EF4-FFF2-40B4-BE49-F238E27FC236}">
                <a16:creationId xmlns:a16="http://schemas.microsoft.com/office/drawing/2014/main" id="{C071E504-7CC1-B356-FAE6-A5DBFF0C87C7}"/>
              </a:ext>
            </a:extLst>
          </p:cNvPr>
          <p:cNvSpPr/>
          <p:nvPr/>
        </p:nvSpPr>
        <p:spPr>
          <a:xfrm>
            <a:off x="5150070" y="5987016"/>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27" name="Rectangle 26">
            <a:extLst>
              <a:ext uri="{FF2B5EF4-FFF2-40B4-BE49-F238E27FC236}">
                <a16:creationId xmlns:a16="http://schemas.microsoft.com/office/drawing/2014/main" id="{F6CB748B-0E70-E5A5-F020-DA07D9CB2730}"/>
              </a:ext>
            </a:extLst>
          </p:cNvPr>
          <p:cNvSpPr/>
          <p:nvPr/>
        </p:nvSpPr>
        <p:spPr>
          <a:xfrm>
            <a:off x="6285186" y="5987011"/>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D8CFBA8D-EA0C-ED86-7BBC-6F8DB3D90524}"/>
              </a:ext>
            </a:extLst>
          </p:cNvPr>
          <p:cNvSpPr/>
          <p:nvPr/>
        </p:nvSpPr>
        <p:spPr>
          <a:xfrm>
            <a:off x="7428340" y="5987008"/>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FFC0ADC7-CBA2-EB31-FD31-8FAB768F3C96}"/>
              </a:ext>
            </a:extLst>
          </p:cNvPr>
          <p:cNvSpPr/>
          <p:nvPr/>
        </p:nvSpPr>
        <p:spPr>
          <a:xfrm>
            <a:off x="8573815" y="5987008"/>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33" name="Rectangle 32">
            <a:extLst>
              <a:ext uri="{FF2B5EF4-FFF2-40B4-BE49-F238E27FC236}">
                <a16:creationId xmlns:a16="http://schemas.microsoft.com/office/drawing/2014/main" id="{0BB49EF2-834B-00B9-CCAF-6035659289E3}"/>
              </a:ext>
            </a:extLst>
          </p:cNvPr>
          <p:cNvSpPr/>
          <p:nvPr/>
        </p:nvSpPr>
        <p:spPr>
          <a:xfrm>
            <a:off x="5528442" y="5987014"/>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03556D99-5A2D-184E-D039-451132AD5FE0}"/>
              </a:ext>
            </a:extLst>
          </p:cNvPr>
          <p:cNvSpPr/>
          <p:nvPr/>
        </p:nvSpPr>
        <p:spPr>
          <a:xfrm>
            <a:off x="6663558" y="5987009"/>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D658752F-1256-ECD3-4378-261ADA797F54}"/>
              </a:ext>
            </a:extLst>
          </p:cNvPr>
          <p:cNvSpPr/>
          <p:nvPr/>
        </p:nvSpPr>
        <p:spPr>
          <a:xfrm>
            <a:off x="7806712" y="5987006"/>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9" name="Rectangle 38">
            <a:extLst>
              <a:ext uri="{FF2B5EF4-FFF2-40B4-BE49-F238E27FC236}">
                <a16:creationId xmlns:a16="http://schemas.microsoft.com/office/drawing/2014/main" id="{4812BFAD-5F87-4E46-3C3B-8B136D168949}"/>
              </a:ext>
            </a:extLst>
          </p:cNvPr>
          <p:cNvSpPr/>
          <p:nvPr/>
        </p:nvSpPr>
        <p:spPr>
          <a:xfrm>
            <a:off x="8952187" y="5987006"/>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40" name="TextBox 39">
            <a:extLst>
              <a:ext uri="{FF2B5EF4-FFF2-40B4-BE49-F238E27FC236}">
                <a16:creationId xmlns:a16="http://schemas.microsoft.com/office/drawing/2014/main" id="{3B057709-2131-BEA4-A760-B569B0EC1EFB}"/>
              </a:ext>
            </a:extLst>
          </p:cNvPr>
          <p:cNvSpPr txBox="1"/>
          <p:nvPr/>
        </p:nvSpPr>
        <p:spPr>
          <a:xfrm>
            <a:off x="328993" y="1734207"/>
            <a:ext cx="10966465" cy="523220"/>
          </a:xfrm>
          <a:prstGeom prst="rect">
            <a:avLst/>
          </a:prstGeom>
          <a:noFill/>
        </p:spPr>
        <p:txBody>
          <a:bodyPr wrap="none" rtlCol="0">
            <a:spAutoFit/>
          </a:bodyPr>
          <a:lstStyle/>
          <a:p>
            <a:pPr algn="ctr"/>
            <a:r>
              <a:rPr lang="en-US" sz="2800" dirty="0"/>
              <a:t>(context: </a:t>
            </a:r>
            <a:r>
              <a:rPr lang="en-US" sz="2800" dirty="0" err="1"/>
              <a:t>type_vector</a:t>
            </a:r>
            <a:r>
              <a:rPr lang="en-US" sz="2800" dirty="0"/>
              <a:t> uses extent of the underlying type for offset calc.)</a:t>
            </a:r>
          </a:p>
        </p:txBody>
      </p:sp>
      <p:sp>
        <p:nvSpPr>
          <p:cNvPr id="8" name="Right Brace 7">
            <a:extLst>
              <a:ext uri="{FF2B5EF4-FFF2-40B4-BE49-F238E27FC236}">
                <a16:creationId xmlns:a16="http://schemas.microsoft.com/office/drawing/2014/main" id="{A97C4AB7-8F17-4C92-1028-4CC06934D205}"/>
              </a:ext>
            </a:extLst>
          </p:cNvPr>
          <p:cNvSpPr/>
          <p:nvPr/>
        </p:nvSpPr>
        <p:spPr>
          <a:xfrm rot="16200000">
            <a:off x="6611251" y="3528668"/>
            <a:ext cx="104615" cy="380211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A02E8D5-F21B-9668-E4EF-AB0E1DD30169}"/>
              </a:ext>
            </a:extLst>
          </p:cNvPr>
          <p:cNvSpPr txBox="1"/>
          <p:nvPr/>
        </p:nvSpPr>
        <p:spPr>
          <a:xfrm>
            <a:off x="6228375" y="5026152"/>
            <a:ext cx="870367" cy="400110"/>
          </a:xfrm>
          <a:prstGeom prst="rect">
            <a:avLst/>
          </a:prstGeom>
          <a:noFill/>
        </p:spPr>
        <p:txBody>
          <a:bodyPr wrap="none" rtlCol="0" anchor="b">
            <a:spAutoFit/>
          </a:bodyPr>
          <a:lstStyle/>
          <a:p>
            <a:pPr algn="ctr"/>
            <a:r>
              <a:rPr lang="en-US" sz="2000" dirty="0"/>
              <a:t>extent</a:t>
            </a:r>
          </a:p>
        </p:txBody>
      </p:sp>
      <p:sp>
        <p:nvSpPr>
          <p:cNvPr id="14" name="Right Brace 13">
            <a:extLst>
              <a:ext uri="{FF2B5EF4-FFF2-40B4-BE49-F238E27FC236}">
                <a16:creationId xmlns:a16="http://schemas.microsoft.com/office/drawing/2014/main" id="{A67D3EE3-3CE5-18DC-C41F-978BC4DB7EEF}"/>
              </a:ext>
            </a:extLst>
          </p:cNvPr>
          <p:cNvSpPr/>
          <p:nvPr/>
        </p:nvSpPr>
        <p:spPr>
          <a:xfrm rot="5400000">
            <a:off x="5120513" y="6223859"/>
            <a:ext cx="59115" cy="37837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18F4901-DE99-509C-6FD1-48F638F093B4}"/>
              </a:ext>
            </a:extLst>
          </p:cNvPr>
          <p:cNvSpPr txBox="1"/>
          <p:nvPr/>
        </p:nvSpPr>
        <p:spPr>
          <a:xfrm>
            <a:off x="4749560" y="6410087"/>
            <a:ext cx="817853" cy="400110"/>
          </a:xfrm>
          <a:prstGeom prst="rect">
            <a:avLst/>
          </a:prstGeom>
          <a:noFill/>
        </p:spPr>
        <p:txBody>
          <a:bodyPr wrap="none" rtlCol="0" anchor="t">
            <a:spAutoFit/>
          </a:bodyPr>
          <a:lstStyle/>
          <a:p>
            <a:pPr algn="ctr"/>
            <a:r>
              <a:rPr lang="en-US" sz="2000" dirty="0"/>
              <a:t>stride</a:t>
            </a:r>
          </a:p>
        </p:txBody>
      </p:sp>
    </p:spTree>
    <p:extLst>
      <p:ext uri="{BB962C8B-B14F-4D97-AF65-F5344CB8AC3E}">
        <p14:creationId xmlns:p14="http://schemas.microsoft.com/office/powerpoint/2010/main" val="134891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9577-4141-543D-D922-3370CFEB625E}"/>
              </a:ext>
            </a:extLst>
          </p:cNvPr>
          <p:cNvSpPr>
            <a:spLocks noGrp="1"/>
          </p:cNvSpPr>
          <p:nvPr>
            <p:ph type="title"/>
          </p:nvPr>
        </p:nvSpPr>
        <p:spPr/>
        <p:txBody>
          <a:bodyPr/>
          <a:lstStyle/>
          <a:p>
            <a:r>
              <a:rPr lang="en-US" noProof="0" dirty="0"/>
              <a:t>Is Noarr used outside the department?</a:t>
            </a:r>
            <a:br>
              <a:rPr lang="en-US" noProof="0" dirty="0"/>
            </a:br>
            <a:r>
              <a:rPr lang="en-US" noProof="0" dirty="0"/>
              <a:t>If not, why?</a:t>
            </a:r>
          </a:p>
        </p:txBody>
      </p:sp>
      <p:sp>
        <p:nvSpPr>
          <p:cNvPr id="3" name="Content Placeholder 2">
            <a:extLst>
              <a:ext uri="{FF2B5EF4-FFF2-40B4-BE49-F238E27FC236}">
                <a16:creationId xmlns:a16="http://schemas.microsoft.com/office/drawing/2014/main" id="{31E821CD-BE7F-B010-9DB1-510E4FCFFBDE}"/>
              </a:ext>
            </a:extLst>
          </p:cNvPr>
          <p:cNvSpPr>
            <a:spLocks noGrp="1"/>
          </p:cNvSpPr>
          <p:nvPr>
            <p:ph idx="1"/>
          </p:nvPr>
        </p:nvSpPr>
        <p:spPr/>
        <p:txBody>
          <a:bodyPr anchor="ctr"/>
          <a:lstStyle/>
          <a:p>
            <a:r>
              <a:rPr lang="en-US" noProof="0" dirty="0"/>
              <a:t>Some little use</a:t>
            </a:r>
          </a:p>
          <a:p>
            <a:pPr lvl="1"/>
            <a:r>
              <a:rPr lang="en-US" noProof="0" dirty="0"/>
              <a:t>Adam </a:t>
            </a:r>
            <a:r>
              <a:rPr lang="en-US" noProof="0" dirty="0" err="1"/>
              <a:t>Šmelko</a:t>
            </a:r>
            <a:r>
              <a:rPr lang="en-US" noProof="0" dirty="0"/>
              <a:t> (past member of the department)</a:t>
            </a:r>
          </a:p>
          <a:p>
            <a:pPr lvl="1"/>
            <a:r>
              <a:rPr lang="en-US" noProof="0" dirty="0"/>
              <a:t>Marek </a:t>
            </a:r>
            <a:r>
              <a:rPr lang="en-US" noProof="0" dirty="0" err="1"/>
              <a:t>Čupr</a:t>
            </a:r>
            <a:r>
              <a:rPr lang="en-US" noProof="0" dirty="0"/>
              <a:t> (BUT student)</a:t>
            </a:r>
          </a:p>
          <a:p>
            <a:r>
              <a:rPr lang="en-US" noProof="0" dirty="0"/>
              <a:t>Noarr is mostly an experimental tool</a:t>
            </a:r>
          </a:p>
          <a:p>
            <a:r>
              <a:rPr lang="en-US" noProof="0" dirty="0"/>
              <a:t>Development tied to research</a:t>
            </a:r>
            <a:endParaRPr lang="cs-CZ" noProof="0" dirty="0"/>
          </a:p>
          <a:p>
            <a:r>
              <a:rPr lang="cs-CZ" dirty="0"/>
              <a:t>CuTe?</a:t>
            </a:r>
            <a:endParaRPr lang="en-US" noProof="0" dirty="0"/>
          </a:p>
        </p:txBody>
      </p:sp>
      <p:sp>
        <p:nvSpPr>
          <p:cNvPr id="4" name="Date Placeholder 3">
            <a:extLst>
              <a:ext uri="{FF2B5EF4-FFF2-40B4-BE49-F238E27FC236}">
                <a16:creationId xmlns:a16="http://schemas.microsoft.com/office/drawing/2014/main" id="{24530F84-F1D1-A8AF-C539-37F86DA2DC81}"/>
              </a:ext>
            </a:extLst>
          </p:cNvPr>
          <p:cNvSpPr>
            <a:spLocks noGrp="1"/>
          </p:cNvSpPr>
          <p:nvPr>
            <p:ph type="dt" sz="half" idx="10"/>
          </p:nvPr>
        </p:nvSpPr>
        <p:spPr/>
        <p:txBody>
          <a:bodyPr/>
          <a:lstStyle/>
          <a:p>
            <a:fld id="{358C28A6-2969-482E-9A3B-5E13FCD8DD03}"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02BCFBEF-2181-071A-E2A2-850955C7B133}"/>
              </a:ext>
            </a:extLst>
          </p:cNvPr>
          <p:cNvSpPr>
            <a:spLocks noGrp="1"/>
          </p:cNvSpPr>
          <p:nvPr>
            <p:ph type="sldNum" sz="quarter" idx="12"/>
          </p:nvPr>
        </p:nvSpPr>
        <p:spPr/>
        <p:txBody>
          <a:bodyPr/>
          <a:lstStyle/>
          <a:p>
            <a:fld id="{DA0BB241-1B5F-4309-9407-9EEA04D9598D}" type="slidenum">
              <a:rPr lang="en-US" noProof="0" smtClean="0"/>
              <a:t>37</a:t>
            </a:fld>
            <a:endParaRPr lang="en-US" noProof="0" dirty="0"/>
          </a:p>
        </p:txBody>
      </p:sp>
    </p:spTree>
    <p:extLst>
      <p:ext uri="{BB962C8B-B14F-4D97-AF65-F5344CB8AC3E}">
        <p14:creationId xmlns:p14="http://schemas.microsoft.com/office/powerpoint/2010/main" val="1750738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13DB4-56B7-B5F6-DADB-224E92331A19}"/>
              </a:ext>
            </a:extLst>
          </p:cNvPr>
          <p:cNvSpPr>
            <a:spLocks noGrp="1"/>
          </p:cNvSpPr>
          <p:nvPr>
            <p:ph type="title"/>
          </p:nvPr>
        </p:nvSpPr>
        <p:spPr/>
        <p:txBody>
          <a:bodyPr>
            <a:normAutofit/>
          </a:bodyPr>
          <a:lstStyle/>
          <a:p>
            <a:r>
              <a:rPr lang="en-US" noProof="0" dirty="0"/>
              <a:t>Can Noarr naturally incorporate</a:t>
            </a:r>
            <a:br>
              <a:rPr lang="en-US" noProof="0" dirty="0"/>
            </a:br>
            <a:r>
              <a:rPr lang="en-US" noProof="0" dirty="0"/>
              <a:t>#pragma </a:t>
            </a:r>
            <a:r>
              <a:rPr lang="en-US" noProof="0" dirty="0" err="1"/>
              <a:t>omp</a:t>
            </a:r>
            <a:r>
              <a:rPr lang="en-US" noProof="0" dirty="0"/>
              <a:t> </a:t>
            </a:r>
            <a:r>
              <a:rPr lang="en-US" noProof="0" dirty="0" err="1"/>
              <a:t>simd</a:t>
            </a:r>
            <a:r>
              <a:rPr lang="en-US" noProof="0" dirty="0"/>
              <a:t> or SIMD-aware traversers</a:t>
            </a:r>
          </a:p>
        </p:txBody>
      </p:sp>
      <p:sp>
        <p:nvSpPr>
          <p:cNvPr id="3" name="Content Placeholder 2">
            <a:extLst>
              <a:ext uri="{FF2B5EF4-FFF2-40B4-BE49-F238E27FC236}">
                <a16:creationId xmlns:a16="http://schemas.microsoft.com/office/drawing/2014/main" id="{BC42B871-DAA1-BBF1-B375-5D0537118BC2}"/>
              </a:ext>
            </a:extLst>
          </p:cNvPr>
          <p:cNvSpPr>
            <a:spLocks noGrp="1"/>
          </p:cNvSpPr>
          <p:nvPr>
            <p:ph idx="1"/>
          </p:nvPr>
        </p:nvSpPr>
        <p:spPr/>
        <p:txBody>
          <a:bodyPr anchor="ctr"/>
          <a:lstStyle/>
          <a:p>
            <a:r>
              <a:rPr lang="en-US" noProof="0" dirty="0"/>
              <a:t>OpenMP SIMD explicitly rejects class-based iteration (e.g., range-based for)</a:t>
            </a:r>
          </a:p>
          <a:p>
            <a:pPr lvl="1"/>
            <a:r>
              <a:rPr lang="en-US" noProof="0" dirty="0">
                <a:latin typeface="Fira Code" panose="020B0809050000020004" pitchFamily="49" charset="0"/>
                <a:ea typeface="Fira Code" panose="020B0809050000020004" pitchFamily="49" charset="0"/>
                <a:cs typeface="Fira Code" panose="020B0809050000020004" pitchFamily="49" charset="0"/>
              </a:rPr>
              <a:t>#pragma </a:t>
            </a:r>
            <a:r>
              <a:rPr lang="en-US" noProof="0" dirty="0" err="1">
                <a:latin typeface="Fira Code" panose="020B0809050000020004" pitchFamily="49" charset="0"/>
                <a:ea typeface="Fira Code" panose="020B0809050000020004" pitchFamily="49" charset="0"/>
                <a:cs typeface="Fira Code" panose="020B0809050000020004" pitchFamily="49" charset="0"/>
              </a:rPr>
              <a:t>omp</a:t>
            </a:r>
            <a:r>
              <a:rPr lang="en-US"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err="1">
                <a:latin typeface="Fira Code" panose="020B0809050000020004" pitchFamily="49" charset="0"/>
                <a:ea typeface="Fira Code" panose="020B0809050000020004" pitchFamily="49" charset="0"/>
                <a:cs typeface="Fira Code" panose="020B0809050000020004" pitchFamily="49" charset="0"/>
              </a:rPr>
              <a:t>simd</a:t>
            </a:r>
            <a:r>
              <a:rPr lang="en-US" noProof="0" dirty="0"/>
              <a:t> specifically may be in explicit SIMD-enabled for_each</a:t>
            </a:r>
          </a:p>
          <a:p>
            <a:pPr marL="914400" lvl="2" indent="0">
              <a:buNone/>
            </a:pPr>
            <a:r>
              <a:rPr lang="en-US" dirty="0" err="1">
                <a:solidFill>
                  <a:srgbClr val="001080"/>
                </a:solidFill>
                <a:latin typeface="Fira Code" panose="020B0809050000020004" pitchFamily="49" charset="0"/>
              </a:rPr>
              <a:t>traverser</a:t>
            </a:r>
            <a:r>
              <a:rPr lang="en-US" dirty="0" err="1">
                <a:latin typeface="Fira Code" panose="020B0809050000020004" pitchFamily="49" charset="0"/>
                <a:ea typeface="Fira Code" panose="020B0809050000020004" pitchFamily="49" charset="0"/>
                <a:cs typeface="Fira Code" panose="020B0809050000020004" pitchFamily="49" charset="0"/>
              </a:rPr>
              <a:t>.</a:t>
            </a:r>
            <a:r>
              <a:rPr lang="en-US" dirty="0" err="1">
                <a:solidFill>
                  <a:srgbClr val="795E26"/>
                </a:solidFill>
                <a:latin typeface="Fira Code" panose="020B0809050000020004" pitchFamily="49" charset="0"/>
                <a:ea typeface="Fira Code" panose="020B0809050000020004" pitchFamily="49" charset="0"/>
                <a:cs typeface="Fira Code" panose="020B0809050000020004" pitchFamily="49" charset="0"/>
              </a:rPr>
              <a:t>omp_simd_for_each</a:t>
            </a:r>
            <a:r>
              <a:rPr lang="en-US" noProof="0" dirty="0">
                <a:latin typeface="Fira Code" panose="020B0809050000020004" pitchFamily="49" charset="0"/>
                <a:ea typeface="Fira Code" panose="020B0809050000020004" pitchFamily="49" charset="0"/>
                <a:cs typeface="Fira Code" panose="020B0809050000020004" pitchFamily="49" charset="0"/>
              </a:rPr>
              <a:t>(…)</a:t>
            </a:r>
          </a:p>
          <a:p>
            <a:r>
              <a:rPr lang="en-US" noProof="0" dirty="0"/>
              <a:t>More extensive OpenMP pragma support challenging</a:t>
            </a:r>
          </a:p>
          <a:p>
            <a:r>
              <a:rPr lang="en-US" noProof="0" dirty="0"/>
              <a:t>Future SIMD-aware traversers</a:t>
            </a:r>
          </a:p>
          <a:p>
            <a:pPr lvl="1"/>
            <a:r>
              <a:rPr lang="en-US" noProof="0" dirty="0"/>
              <a:t>Possible with computation-aware abstractions</a:t>
            </a:r>
          </a:p>
          <a:p>
            <a:pPr lvl="1"/>
            <a:r>
              <a:rPr lang="en-US" noProof="0" dirty="0"/>
              <a:t>Noarr already implements “planners” </a:t>
            </a:r>
            <a:r>
              <a:rPr lang="en-US" noProof="0" dirty="0">
                <a:sym typeface="Wingdings" panose="05000000000000000000" pitchFamily="2" charset="2"/>
              </a:rPr>
              <a:t> traversers that store the computation and enable more expressive transformations</a:t>
            </a:r>
            <a:endParaRPr lang="en-US" noProof="0" dirty="0"/>
          </a:p>
        </p:txBody>
      </p:sp>
      <p:sp>
        <p:nvSpPr>
          <p:cNvPr id="4" name="Date Placeholder 3">
            <a:extLst>
              <a:ext uri="{FF2B5EF4-FFF2-40B4-BE49-F238E27FC236}">
                <a16:creationId xmlns:a16="http://schemas.microsoft.com/office/drawing/2014/main" id="{1892527F-86FC-931B-BB6D-A846949E1C75}"/>
              </a:ext>
            </a:extLst>
          </p:cNvPr>
          <p:cNvSpPr>
            <a:spLocks noGrp="1"/>
          </p:cNvSpPr>
          <p:nvPr>
            <p:ph type="dt" sz="half" idx="10"/>
          </p:nvPr>
        </p:nvSpPr>
        <p:spPr/>
        <p:txBody>
          <a:bodyPr/>
          <a:lstStyle/>
          <a:p>
            <a:fld id="{358C28A6-2969-482E-9A3B-5E13FCD8DD03}"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8311E580-80EB-54AE-90EB-F7D45DA0B45E}"/>
              </a:ext>
            </a:extLst>
          </p:cNvPr>
          <p:cNvSpPr>
            <a:spLocks noGrp="1"/>
          </p:cNvSpPr>
          <p:nvPr>
            <p:ph type="sldNum" sz="quarter" idx="12"/>
          </p:nvPr>
        </p:nvSpPr>
        <p:spPr/>
        <p:txBody>
          <a:bodyPr/>
          <a:lstStyle/>
          <a:p>
            <a:fld id="{DA0BB241-1B5F-4309-9407-9EEA04D9598D}" type="slidenum">
              <a:rPr lang="en-US" noProof="0" smtClean="0"/>
              <a:t>38</a:t>
            </a:fld>
            <a:endParaRPr lang="en-US" noProof="0" dirty="0"/>
          </a:p>
        </p:txBody>
      </p:sp>
    </p:spTree>
    <p:extLst>
      <p:ext uri="{BB962C8B-B14F-4D97-AF65-F5344CB8AC3E}">
        <p14:creationId xmlns:p14="http://schemas.microsoft.com/office/powerpoint/2010/main" val="20295816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DEE5-750D-2E34-780B-7B30703452C0}"/>
              </a:ext>
            </a:extLst>
          </p:cNvPr>
          <p:cNvSpPr>
            <a:spLocks noGrp="1"/>
          </p:cNvSpPr>
          <p:nvPr>
            <p:ph type="title"/>
          </p:nvPr>
        </p:nvSpPr>
        <p:spPr/>
        <p:txBody>
          <a:bodyPr/>
          <a:lstStyle/>
          <a:p>
            <a:r>
              <a:rPr lang="en-US" noProof="0" dirty="0"/>
              <a:t>Novelty in layout- and traversal-agnosticism</a:t>
            </a:r>
          </a:p>
        </p:txBody>
      </p:sp>
      <p:sp>
        <p:nvSpPr>
          <p:cNvPr id="3" name="Content Placeholder 2">
            <a:extLst>
              <a:ext uri="{FF2B5EF4-FFF2-40B4-BE49-F238E27FC236}">
                <a16:creationId xmlns:a16="http://schemas.microsoft.com/office/drawing/2014/main" id="{7A4C7CE7-A5CF-9AB9-4808-73A235F6B8CE}"/>
              </a:ext>
            </a:extLst>
          </p:cNvPr>
          <p:cNvSpPr>
            <a:spLocks noGrp="1"/>
          </p:cNvSpPr>
          <p:nvPr>
            <p:ph idx="1"/>
          </p:nvPr>
        </p:nvSpPr>
        <p:spPr/>
        <p:txBody>
          <a:bodyPr anchor="ctr"/>
          <a:lstStyle/>
          <a:p>
            <a:r>
              <a:rPr lang="en-US" noProof="0" dirty="0"/>
              <a:t>We do not claim to invent these two concepts as new paradigms</a:t>
            </a:r>
          </a:p>
          <a:p>
            <a:pPr lvl="1"/>
            <a:r>
              <a:rPr lang="en-US" noProof="0" dirty="0"/>
              <a:t>The thesis explicitly studies the two concepts</a:t>
            </a:r>
          </a:p>
          <a:p>
            <a:pPr lvl="2"/>
            <a:r>
              <a:rPr lang="en-US" noProof="0" dirty="0"/>
              <a:t>introducing them as two identified underexplored principles</a:t>
            </a:r>
          </a:p>
          <a:p>
            <a:r>
              <a:rPr lang="en-US" noProof="0" dirty="0"/>
              <a:t>Main novelty</a:t>
            </a:r>
          </a:p>
          <a:p>
            <a:pPr lvl="1"/>
            <a:r>
              <a:rPr lang="en-US" noProof="0" dirty="0"/>
              <a:t>Unified approach for layout &amp; traversal-agnostic algorithm design</a:t>
            </a:r>
          </a:p>
          <a:p>
            <a:pPr lvl="1"/>
            <a:r>
              <a:rPr lang="en-US" noProof="0" dirty="0"/>
              <a:t>Named dimensions and compositional approach</a:t>
            </a:r>
          </a:p>
          <a:p>
            <a:pPr lvl="1"/>
            <a:r>
              <a:rPr lang="en-US" noProof="0" dirty="0"/>
              <a:t>Abstracting evaluation strategy and encoding for Cellular Automata</a:t>
            </a:r>
          </a:p>
        </p:txBody>
      </p:sp>
      <p:sp>
        <p:nvSpPr>
          <p:cNvPr id="4" name="Date Placeholder 3">
            <a:extLst>
              <a:ext uri="{FF2B5EF4-FFF2-40B4-BE49-F238E27FC236}">
                <a16:creationId xmlns:a16="http://schemas.microsoft.com/office/drawing/2014/main" id="{948C54E1-6E6D-2E32-65E2-74ED092C4452}"/>
              </a:ext>
            </a:extLst>
          </p:cNvPr>
          <p:cNvSpPr>
            <a:spLocks noGrp="1"/>
          </p:cNvSpPr>
          <p:nvPr>
            <p:ph type="dt" sz="half" idx="10"/>
          </p:nvPr>
        </p:nvSpPr>
        <p:spPr/>
        <p:txBody>
          <a:bodyPr/>
          <a:lstStyle/>
          <a:p>
            <a:fld id="{358C28A6-2969-482E-9A3B-5E13FCD8DD03}"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4F0AAC9A-8584-05EF-C97F-9A8A4DE36F9D}"/>
              </a:ext>
            </a:extLst>
          </p:cNvPr>
          <p:cNvSpPr>
            <a:spLocks noGrp="1"/>
          </p:cNvSpPr>
          <p:nvPr>
            <p:ph type="sldNum" sz="quarter" idx="12"/>
          </p:nvPr>
        </p:nvSpPr>
        <p:spPr/>
        <p:txBody>
          <a:bodyPr/>
          <a:lstStyle/>
          <a:p>
            <a:fld id="{DA0BB241-1B5F-4309-9407-9EEA04D9598D}" type="slidenum">
              <a:rPr lang="en-US" noProof="0" smtClean="0"/>
              <a:t>39</a:t>
            </a:fld>
            <a:endParaRPr lang="en-US" noProof="0" dirty="0"/>
          </a:p>
        </p:txBody>
      </p:sp>
    </p:spTree>
    <p:extLst>
      <p:ext uri="{BB962C8B-B14F-4D97-AF65-F5344CB8AC3E}">
        <p14:creationId xmlns:p14="http://schemas.microsoft.com/office/powerpoint/2010/main" val="17565713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B94CF-19F9-112D-5812-9019906C4F6E}"/>
              </a:ext>
            </a:extLst>
          </p:cNvPr>
          <p:cNvSpPr>
            <a:spLocks noGrp="1"/>
          </p:cNvSpPr>
          <p:nvPr>
            <p:ph type="title"/>
          </p:nvPr>
        </p:nvSpPr>
        <p:spPr/>
        <p:txBody>
          <a:bodyPr>
            <a:normAutofit/>
          </a:bodyPr>
          <a:lstStyle/>
          <a:p>
            <a:r>
              <a:rPr lang="en-US" noProof="0" dirty="0"/>
              <a:t>Which of these ideas can be found in software like Kokkos or OpenMP's loop transformations?</a:t>
            </a:r>
          </a:p>
        </p:txBody>
      </p:sp>
      <p:sp>
        <p:nvSpPr>
          <p:cNvPr id="3" name="Content Placeholder 2">
            <a:extLst>
              <a:ext uri="{FF2B5EF4-FFF2-40B4-BE49-F238E27FC236}">
                <a16:creationId xmlns:a16="http://schemas.microsoft.com/office/drawing/2014/main" id="{5E30BABB-A5A5-A95D-8DB1-6B93F86A91B6}"/>
              </a:ext>
            </a:extLst>
          </p:cNvPr>
          <p:cNvSpPr>
            <a:spLocks noGrp="1"/>
          </p:cNvSpPr>
          <p:nvPr>
            <p:ph idx="1"/>
          </p:nvPr>
        </p:nvSpPr>
        <p:spPr/>
        <p:txBody>
          <a:bodyPr>
            <a:noAutofit/>
          </a:bodyPr>
          <a:lstStyle/>
          <a:p>
            <a:pPr marL="0" indent="0">
              <a:buNone/>
            </a:pPr>
            <a:r>
              <a:rPr lang="en-US" noProof="0" dirty="0"/>
              <a:t>(reaction to layout- and traversal-agnostic design)</a:t>
            </a:r>
          </a:p>
          <a:p>
            <a:endParaRPr lang="en-US" noProof="0" dirty="0"/>
          </a:p>
          <a:p>
            <a:r>
              <a:rPr lang="en-US" noProof="0" dirty="0"/>
              <a:t>Kokkos Views (and </a:t>
            </a:r>
            <a:r>
              <a:rPr lang="en-US" noProof="0" dirty="0" err="1"/>
              <a:t>mdspans</a:t>
            </a:r>
            <a:r>
              <a:rPr lang="en-US" noProof="0" dirty="0"/>
              <a:t>) abstract physical memory layout</a:t>
            </a:r>
          </a:p>
          <a:p>
            <a:pPr lvl="1"/>
            <a:r>
              <a:rPr lang="en-US" noProof="0" dirty="0"/>
              <a:t>Limited to multidimensional arrays</a:t>
            </a:r>
          </a:p>
          <a:p>
            <a:pPr lvl="1"/>
            <a:r>
              <a:rPr lang="en-US" noProof="0" dirty="0"/>
              <a:t>Mostly focus row-major vs column-major (and custom strides)</a:t>
            </a:r>
          </a:p>
          <a:p>
            <a:pPr lvl="1"/>
            <a:r>
              <a:rPr lang="en-US" noProof="0" dirty="0" err="1"/>
              <a:t>Subviews</a:t>
            </a:r>
            <a:endParaRPr lang="en-US" noProof="0" dirty="0"/>
          </a:p>
          <a:p>
            <a:pPr lvl="1"/>
            <a:r>
              <a:rPr lang="en-US" noProof="0" dirty="0">
                <a:sym typeface="Wingdings" panose="05000000000000000000" pitchFamily="2" charset="2"/>
              </a:rPr>
              <a:t>CuTe supports more general layout algebra</a:t>
            </a:r>
          </a:p>
          <a:p>
            <a:r>
              <a:rPr lang="en-US" noProof="0" dirty="0">
                <a:sym typeface="Wingdings" panose="05000000000000000000" pitchFamily="2" charset="2"/>
              </a:rPr>
              <a:t>OpenMP (6.0)  some powerful loop transformation directives</a:t>
            </a:r>
          </a:p>
          <a:p>
            <a:pPr lvl="1"/>
            <a:r>
              <a:rPr lang="en-US" noProof="0" dirty="0"/>
              <a:t>Not exactly traversal-agnostic design; good alternative in many use cases</a:t>
            </a:r>
          </a:p>
        </p:txBody>
      </p:sp>
      <p:sp>
        <p:nvSpPr>
          <p:cNvPr id="4" name="Date Placeholder 3">
            <a:extLst>
              <a:ext uri="{FF2B5EF4-FFF2-40B4-BE49-F238E27FC236}">
                <a16:creationId xmlns:a16="http://schemas.microsoft.com/office/drawing/2014/main" id="{1D30CB14-538F-D9BD-31BC-4BF79D148A24}"/>
              </a:ext>
            </a:extLst>
          </p:cNvPr>
          <p:cNvSpPr>
            <a:spLocks noGrp="1"/>
          </p:cNvSpPr>
          <p:nvPr>
            <p:ph type="dt" sz="half" idx="10"/>
          </p:nvPr>
        </p:nvSpPr>
        <p:spPr/>
        <p:txBody>
          <a:bodyPr/>
          <a:lstStyle/>
          <a:p>
            <a:fld id="{358C28A6-2969-482E-9A3B-5E13FCD8DD03}"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6CB55591-70A5-4366-E73A-F1A5B371B2E3}"/>
              </a:ext>
            </a:extLst>
          </p:cNvPr>
          <p:cNvSpPr>
            <a:spLocks noGrp="1"/>
          </p:cNvSpPr>
          <p:nvPr>
            <p:ph type="sldNum" sz="quarter" idx="12"/>
          </p:nvPr>
        </p:nvSpPr>
        <p:spPr/>
        <p:txBody>
          <a:bodyPr/>
          <a:lstStyle/>
          <a:p>
            <a:fld id="{DA0BB241-1B5F-4309-9407-9EEA04D9598D}" type="slidenum">
              <a:rPr lang="en-US" noProof="0" smtClean="0"/>
              <a:t>40</a:t>
            </a:fld>
            <a:endParaRPr lang="en-US" noProof="0" dirty="0"/>
          </a:p>
        </p:txBody>
      </p:sp>
    </p:spTree>
    <p:extLst>
      <p:ext uri="{BB962C8B-B14F-4D97-AF65-F5344CB8AC3E}">
        <p14:creationId xmlns:p14="http://schemas.microsoft.com/office/powerpoint/2010/main" val="3901880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6747-FA1D-0A89-B23F-652400CDBDA3}"/>
              </a:ext>
            </a:extLst>
          </p:cNvPr>
          <p:cNvSpPr>
            <a:spLocks noGrp="1"/>
          </p:cNvSpPr>
          <p:nvPr>
            <p:ph type="title"/>
          </p:nvPr>
        </p:nvSpPr>
        <p:spPr/>
        <p:txBody>
          <a:bodyPr/>
          <a:lstStyle/>
          <a:p>
            <a:r>
              <a:rPr lang="en-US" dirty="0"/>
              <a:t>State of the art summary and our novelty</a:t>
            </a:r>
          </a:p>
        </p:txBody>
      </p:sp>
      <p:sp>
        <p:nvSpPr>
          <p:cNvPr id="3" name="Content Placeholder 2">
            <a:extLst>
              <a:ext uri="{FF2B5EF4-FFF2-40B4-BE49-F238E27FC236}">
                <a16:creationId xmlns:a16="http://schemas.microsoft.com/office/drawing/2014/main" id="{8AC28D19-3293-E69A-8D0A-95CD64D09AD4}"/>
              </a:ext>
            </a:extLst>
          </p:cNvPr>
          <p:cNvSpPr>
            <a:spLocks noGrp="1"/>
          </p:cNvSpPr>
          <p:nvPr>
            <p:ph idx="1"/>
          </p:nvPr>
        </p:nvSpPr>
        <p:spPr/>
        <p:txBody>
          <a:bodyPr/>
          <a:lstStyle/>
          <a:p>
            <a:r>
              <a:rPr lang="en-US" dirty="0"/>
              <a:t>Layout abstractions</a:t>
            </a:r>
          </a:p>
          <a:p>
            <a:pPr lvl="1"/>
            <a:r>
              <a:rPr lang="en-US" dirty="0"/>
              <a:t>Kokkos Views for general use, </a:t>
            </a:r>
            <a:r>
              <a:rPr lang="en-US" dirty="0" err="1"/>
              <a:t>GridTools</a:t>
            </a:r>
            <a:r>
              <a:rPr lang="en-US" dirty="0"/>
              <a:t> for stencils</a:t>
            </a:r>
          </a:p>
          <a:p>
            <a:pPr lvl="1"/>
            <a:r>
              <a:rPr lang="en-US" dirty="0"/>
              <a:t>Both target CPU &amp; GPU</a:t>
            </a:r>
          </a:p>
          <a:p>
            <a:pPr lvl="1"/>
            <a:r>
              <a:rPr lang="en-US" dirty="0"/>
              <a:t>Both implement facilities for automatic parallelization, tiling (, halo exchange)</a:t>
            </a:r>
          </a:p>
          <a:p>
            <a:r>
              <a:rPr lang="en-US" dirty="0"/>
              <a:t>Alternative layout and traversal transformation, parallelization</a:t>
            </a:r>
          </a:p>
          <a:p>
            <a:pPr lvl="1"/>
            <a:r>
              <a:rPr lang="en-US" dirty="0"/>
              <a:t>Algorithm + schedule model: Halide, Tiramisu, Exo, OpenMP, …</a:t>
            </a:r>
          </a:p>
          <a:p>
            <a:pPr lvl="2"/>
            <a:r>
              <a:rPr lang="en-US" dirty="0"/>
              <a:t>Tools/frameworks that rely on (custom) compilation pipelines</a:t>
            </a:r>
          </a:p>
          <a:p>
            <a:pPr lvl="1"/>
            <a:r>
              <a:rPr lang="en-US" dirty="0"/>
              <a:t>Policy-based execution model: Kokkos, standard C++ algorithms</a:t>
            </a:r>
          </a:p>
          <a:p>
            <a:r>
              <a:rPr lang="en-US" dirty="0"/>
              <a:t>Novelty</a:t>
            </a:r>
          </a:p>
          <a:p>
            <a:pPr lvl="1"/>
            <a:r>
              <a:rPr lang="en-US" dirty="0"/>
              <a:t>Native C++ compositional approach with named dimensions (Noarr)</a:t>
            </a:r>
          </a:p>
          <a:p>
            <a:pPr lvl="1"/>
            <a:r>
              <a:rPr lang="en-US" dirty="0"/>
              <a:t>Sub-byte encoding and bitwise evaluation strategies (Cellato)</a:t>
            </a:r>
          </a:p>
        </p:txBody>
      </p:sp>
      <p:sp>
        <p:nvSpPr>
          <p:cNvPr id="4" name="Date Placeholder 3">
            <a:extLst>
              <a:ext uri="{FF2B5EF4-FFF2-40B4-BE49-F238E27FC236}">
                <a16:creationId xmlns:a16="http://schemas.microsoft.com/office/drawing/2014/main" id="{5C5A991F-3D47-EA5C-A204-1DEF76D41D0A}"/>
              </a:ext>
            </a:extLst>
          </p:cNvPr>
          <p:cNvSpPr>
            <a:spLocks noGrp="1"/>
          </p:cNvSpPr>
          <p:nvPr>
            <p:ph type="dt" sz="half" idx="10"/>
          </p:nvPr>
        </p:nvSpPr>
        <p:spPr/>
        <p:txBody>
          <a:bodyPr/>
          <a:lstStyle/>
          <a:p>
            <a:fld id="{358C28A6-2969-482E-9A3B-5E13FCD8DD03}" type="datetime1">
              <a:rPr lang="en-US" smtClean="0"/>
              <a:t>9/6/2026</a:t>
            </a:fld>
            <a:endParaRPr lang="en-US"/>
          </a:p>
        </p:txBody>
      </p:sp>
      <p:sp>
        <p:nvSpPr>
          <p:cNvPr id="5" name="Slide Number Placeholder 4">
            <a:extLst>
              <a:ext uri="{FF2B5EF4-FFF2-40B4-BE49-F238E27FC236}">
                <a16:creationId xmlns:a16="http://schemas.microsoft.com/office/drawing/2014/main" id="{38353882-5ADB-9DD8-85F7-D28B47129FA0}"/>
              </a:ext>
            </a:extLst>
          </p:cNvPr>
          <p:cNvSpPr>
            <a:spLocks noGrp="1"/>
          </p:cNvSpPr>
          <p:nvPr>
            <p:ph type="sldNum" sz="quarter" idx="12"/>
          </p:nvPr>
        </p:nvSpPr>
        <p:spPr/>
        <p:txBody>
          <a:bodyPr/>
          <a:lstStyle/>
          <a:p>
            <a:fld id="{DA0BB241-1B5F-4309-9407-9EEA04D9598D}" type="slidenum">
              <a:rPr lang="en-US" smtClean="0"/>
              <a:t>41</a:t>
            </a:fld>
            <a:endParaRPr lang="en-US"/>
          </a:p>
        </p:txBody>
      </p:sp>
    </p:spTree>
    <p:extLst>
      <p:ext uri="{BB962C8B-B14F-4D97-AF65-F5344CB8AC3E}">
        <p14:creationId xmlns:p14="http://schemas.microsoft.com/office/powerpoint/2010/main" val="33952908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5C75-72D4-F8D1-AAB2-87E7B5F2197D}"/>
              </a:ext>
            </a:extLst>
          </p:cNvPr>
          <p:cNvSpPr>
            <a:spLocks noGrp="1"/>
          </p:cNvSpPr>
          <p:nvPr>
            <p:ph type="title"/>
          </p:nvPr>
        </p:nvSpPr>
        <p:spPr/>
        <p:txBody>
          <a:bodyPr/>
          <a:lstStyle/>
          <a:p>
            <a:r>
              <a:rPr lang="en-US" noProof="0" dirty="0"/>
              <a:t>Comparison table</a:t>
            </a:r>
          </a:p>
        </p:txBody>
      </p:sp>
      <p:sp>
        <p:nvSpPr>
          <p:cNvPr id="4" name="Date Placeholder 3">
            <a:extLst>
              <a:ext uri="{FF2B5EF4-FFF2-40B4-BE49-F238E27FC236}">
                <a16:creationId xmlns:a16="http://schemas.microsoft.com/office/drawing/2014/main" id="{AC63D3EB-3E46-0420-084C-0ABC25889B18}"/>
              </a:ext>
            </a:extLst>
          </p:cNvPr>
          <p:cNvSpPr>
            <a:spLocks noGrp="1"/>
          </p:cNvSpPr>
          <p:nvPr>
            <p:ph type="dt" sz="half" idx="10"/>
          </p:nvPr>
        </p:nvSpPr>
        <p:spPr/>
        <p:txBody>
          <a:bodyPr/>
          <a:lstStyle/>
          <a:p>
            <a:fld id="{358C28A6-2969-482E-9A3B-5E13FCD8DD03}"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69B0E3B4-2FE9-EF9E-DBB8-AFE3DD090B8B}"/>
              </a:ext>
            </a:extLst>
          </p:cNvPr>
          <p:cNvSpPr>
            <a:spLocks noGrp="1"/>
          </p:cNvSpPr>
          <p:nvPr>
            <p:ph type="sldNum" sz="quarter" idx="12"/>
          </p:nvPr>
        </p:nvSpPr>
        <p:spPr/>
        <p:txBody>
          <a:bodyPr/>
          <a:lstStyle/>
          <a:p>
            <a:fld id="{DA0BB241-1B5F-4309-9407-9EEA04D9598D}" type="slidenum">
              <a:rPr lang="en-US" noProof="0" smtClean="0"/>
              <a:t>42</a:t>
            </a:fld>
            <a:endParaRPr lang="en-US" noProof="0" dirty="0"/>
          </a:p>
        </p:txBody>
      </p:sp>
      <p:pic>
        <p:nvPicPr>
          <p:cNvPr id="7" name="Picture 6">
            <a:extLst>
              <a:ext uri="{FF2B5EF4-FFF2-40B4-BE49-F238E27FC236}">
                <a16:creationId xmlns:a16="http://schemas.microsoft.com/office/drawing/2014/main" id="{1C400F22-D6D2-9A75-14E4-C50B839EF947}"/>
              </a:ext>
            </a:extLst>
          </p:cNvPr>
          <p:cNvPicPr>
            <a:picLocks noChangeAspect="1"/>
          </p:cNvPicPr>
          <p:nvPr/>
        </p:nvPicPr>
        <p:blipFill>
          <a:blip r:embed="rId3"/>
          <a:stretch>
            <a:fillRect/>
          </a:stretch>
        </p:blipFill>
        <p:spPr>
          <a:xfrm>
            <a:off x="0" y="1529445"/>
            <a:ext cx="12192000" cy="3799111"/>
          </a:xfrm>
          <a:prstGeom prst="rect">
            <a:avLst/>
          </a:prstGeom>
        </p:spPr>
      </p:pic>
    </p:spTree>
    <p:extLst>
      <p:ext uri="{BB962C8B-B14F-4D97-AF65-F5344CB8AC3E}">
        <p14:creationId xmlns:p14="http://schemas.microsoft.com/office/powerpoint/2010/main" val="1413752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8C31-21B3-4C00-B5D8-7F093ABFEC3C}"/>
              </a:ext>
            </a:extLst>
          </p:cNvPr>
          <p:cNvSpPr>
            <a:spLocks noGrp="1"/>
          </p:cNvSpPr>
          <p:nvPr>
            <p:ph type="title"/>
          </p:nvPr>
        </p:nvSpPr>
        <p:spPr/>
        <p:txBody>
          <a:bodyPr/>
          <a:lstStyle/>
          <a:p>
            <a:r>
              <a:rPr lang="en-US" dirty="0"/>
              <a:t>Genuine limitations of Noarr and Cellato</a:t>
            </a:r>
          </a:p>
        </p:txBody>
      </p:sp>
      <p:sp>
        <p:nvSpPr>
          <p:cNvPr id="5" name="Content Placeholder 4">
            <a:extLst>
              <a:ext uri="{FF2B5EF4-FFF2-40B4-BE49-F238E27FC236}">
                <a16:creationId xmlns:a16="http://schemas.microsoft.com/office/drawing/2014/main" id="{8A184959-C556-48E5-BDD9-ED0CC2A4736A}"/>
              </a:ext>
            </a:extLst>
          </p:cNvPr>
          <p:cNvSpPr>
            <a:spLocks noGrp="1"/>
          </p:cNvSpPr>
          <p:nvPr>
            <p:ph idx="1"/>
          </p:nvPr>
        </p:nvSpPr>
        <p:spPr/>
        <p:txBody>
          <a:bodyPr anchor="ctr"/>
          <a:lstStyle/>
          <a:p>
            <a:r>
              <a:rPr lang="en-US" dirty="0"/>
              <a:t>Not paired with formal verification</a:t>
            </a:r>
          </a:p>
          <a:p>
            <a:r>
              <a:rPr lang="en-US" dirty="0"/>
              <a:t>Compilation time overhead</a:t>
            </a:r>
          </a:p>
          <a:p>
            <a:r>
              <a:rPr lang="en-US" dirty="0"/>
              <a:t>Template metaprogramming imposes some limitations</a:t>
            </a:r>
          </a:p>
          <a:p>
            <a:pPr lvl="1"/>
            <a:r>
              <a:rPr lang="en-US" dirty="0"/>
              <a:t>The syntax of the resulting DSLs may be awkward</a:t>
            </a:r>
          </a:p>
          <a:p>
            <a:pPr lvl="1"/>
            <a:r>
              <a:rPr lang="en-US" dirty="0"/>
              <a:t>Makes online tuning more costly compared to alternatives such as </a:t>
            </a:r>
            <a:r>
              <a:rPr lang="en-US" dirty="0" err="1"/>
              <a:t>mdspans</a:t>
            </a:r>
            <a:r>
              <a:rPr lang="en-US" dirty="0"/>
              <a:t> or Kokkos Views (recompilation)</a:t>
            </a:r>
          </a:p>
          <a:p>
            <a:r>
              <a:rPr lang="en-US" dirty="0"/>
              <a:t>Usability not supported by user studies</a:t>
            </a:r>
          </a:p>
        </p:txBody>
      </p:sp>
      <p:sp>
        <p:nvSpPr>
          <p:cNvPr id="3" name="Date Placeholder 2">
            <a:extLst>
              <a:ext uri="{FF2B5EF4-FFF2-40B4-BE49-F238E27FC236}">
                <a16:creationId xmlns:a16="http://schemas.microsoft.com/office/drawing/2014/main" id="{D76BAA40-3587-0EAB-97D0-C6C555DE4F28}"/>
              </a:ext>
            </a:extLst>
          </p:cNvPr>
          <p:cNvSpPr>
            <a:spLocks noGrp="1"/>
          </p:cNvSpPr>
          <p:nvPr>
            <p:ph type="dt" sz="half" idx="10"/>
          </p:nvPr>
        </p:nvSpPr>
        <p:spPr/>
        <p:txBody>
          <a:bodyPr/>
          <a:lstStyle/>
          <a:p>
            <a:fld id="{1AB26190-46ED-4A0C-A5E8-CDBCA5C2D5C3}" type="datetime1">
              <a:rPr lang="en-US" smtClean="0"/>
              <a:t>9/6/2026</a:t>
            </a:fld>
            <a:endParaRPr lang="en-US" dirty="0"/>
          </a:p>
        </p:txBody>
      </p:sp>
      <p:sp>
        <p:nvSpPr>
          <p:cNvPr id="4" name="Slide Number Placeholder 3">
            <a:extLst>
              <a:ext uri="{FF2B5EF4-FFF2-40B4-BE49-F238E27FC236}">
                <a16:creationId xmlns:a16="http://schemas.microsoft.com/office/drawing/2014/main" id="{FA0D4A39-443E-0EE9-F71D-F4A2060B2526}"/>
              </a:ext>
            </a:extLst>
          </p:cNvPr>
          <p:cNvSpPr>
            <a:spLocks noGrp="1"/>
          </p:cNvSpPr>
          <p:nvPr>
            <p:ph type="sldNum" sz="quarter" idx="12"/>
          </p:nvPr>
        </p:nvSpPr>
        <p:spPr/>
        <p:txBody>
          <a:bodyPr/>
          <a:lstStyle/>
          <a:p>
            <a:fld id="{DA0BB241-1B5F-4309-9407-9EEA04D9598D}" type="slidenum">
              <a:rPr lang="en-US" smtClean="0"/>
              <a:t>43</a:t>
            </a:fld>
            <a:endParaRPr lang="en-US"/>
          </a:p>
        </p:txBody>
      </p:sp>
    </p:spTree>
    <p:extLst>
      <p:ext uri="{BB962C8B-B14F-4D97-AF65-F5344CB8AC3E}">
        <p14:creationId xmlns:p14="http://schemas.microsoft.com/office/powerpoint/2010/main" val="7078600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0497-CBB6-D2E1-4D1A-ED2AA0BB7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ECE5F-2C1C-357D-AE8A-7FA4DA556E91}"/>
              </a:ext>
            </a:extLst>
          </p:cNvPr>
          <p:cNvSpPr>
            <a:spLocks noGrp="1"/>
          </p:cNvSpPr>
          <p:nvPr>
            <p:ph type="title"/>
          </p:nvPr>
        </p:nvSpPr>
        <p:spPr/>
        <p:txBody>
          <a:bodyPr/>
          <a:lstStyle/>
          <a:p>
            <a:r>
              <a:rPr lang="en-US" noProof="0" dirty="0"/>
              <a:t>Template-exclusive statements</a:t>
            </a:r>
          </a:p>
        </p:txBody>
      </p:sp>
      <p:sp>
        <p:nvSpPr>
          <p:cNvPr id="3" name="Content Placeholder 2">
            <a:extLst>
              <a:ext uri="{FF2B5EF4-FFF2-40B4-BE49-F238E27FC236}">
                <a16:creationId xmlns:a16="http://schemas.microsoft.com/office/drawing/2014/main" id="{8FF9516C-E8E3-08CD-1240-AB67A5640919}"/>
              </a:ext>
            </a:extLst>
          </p:cNvPr>
          <p:cNvSpPr>
            <a:spLocks noGrp="1"/>
          </p:cNvSpPr>
          <p:nvPr>
            <p:ph idx="1"/>
          </p:nvPr>
        </p:nvSpPr>
        <p:spPr/>
        <p:txBody>
          <a:bodyPr anchor="ctr"/>
          <a:lstStyle/>
          <a:p>
            <a:r>
              <a:rPr lang="en-US" noProof="0" dirty="0"/>
              <a:t>I do not </a:t>
            </a:r>
            <a:r>
              <a:rPr lang="en-US" noProof="0" dirty="0" err="1"/>
              <a:t>clai</a:t>
            </a:r>
            <a:r>
              <a:rPr lang="en-US" dirty="0"/>
              <a:t>m that templates are the only solution</a:t>
            </a:r>
          </a:p>
          <a:p>
            <a:r>
              <a:rPr lang="en-US" noProof="0" dirty="0"/>
              <a:t>We do not consider compilation pipeline extensions (e.g., compiler extensions) due to:</a:t>
            </a:r>
          </a:p>
          <a:p>
            <a:pPr lvl="1"/>
            <a:r>
              <a:rPr lang="en-US" noProof="0" dirty="0"/>
              <a:t>Such solutions hindering portability; reliance on external tools</a:t>
            </a:r>
          </a:p>
          <a:p>
            <a:pPr lvl="1"/>
            <a:r>
              <a:rPr lang="en-US" dirty="0"/>
              <a:t>Core research group focus and expertise</a:t>
            </a:r>
          </a:p>
          <a:p>
            <a:pPr lvl="1"/>
            <a:r>
              <a:rPr lang="en-US" noProof="0" dirty="0"/>
              <a:t>Research scope closely tied to algorithm design</a:t>
            </a:r>
          </a:p>
        </p:txBody>
      </p:sp>
      <p:sp>
        <p:nvSpPr>
          <p:cNvPr id="4" name="Date Placeholder 3">
            <a:extLst>
              <a:ext uri="{FF2B5EF4-FFF2-40B4-BE49-F238E27FC236}">
                <a16:creationId xmlns:a16="http://schemas.microsoft.com/office/drawing/2014/main" id="{201D6062-9A3A-0AD5-574A-E26659D7FBAC}"/>
              </a:ext>
            </a:extLst>
          </p:cNvPr>
          <p:cNvSpPr>
            <a:spLocks noGrp="1"/>
          </p:cNvSpPr>
          <p:nvPr>
            <p:ph type="dt" sz="half" idx="10"/>
          </p:nvPr>
        </p:nvSpPr>
        <p:spPr/>
        <p:txBody>
          <a:bodyPr/>
          <a:lstStyle/>
          <a:p>
            <a:fld id="{0601A530-81CA-410E-A053-EF7BD11F8EF0}"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86B73E9E-8DA4-6D98-F073-7AF2BF2083AC}"/>
              </a:ext>
            </a:extLst>
          </p:cNvPr>
          <p:cNvSpPr>
            <a:spLocks noGrp="1"/>
          </p:cNvSpPr>
          <p:nvPr>
            <p:ph type="sldNum" sz="quarter" idx="12"/>
          </p:nvPr>
        </p:nvSpPr>
        <p:spPr/>
        <p:txBody>
          <a:bodyPr/>
          <a:lstStyle/>
          <a:p>
            <a:fld id="{DA0BB241-1B5F-4309-9407-9EEA04D9598D}" type="slidenum">
              <a:rPr lang="en-US" noProof="0" smtClean="0"/>
              <a:t>44</a:t>
            </a:fld>
            <a:endParaRPr lang="en-US" noProof="0" dirty="0"/>
          </a:p>
        </p:txBody>
      </p:sp>
    </p:spTree>
    <p:extLst>
      <p:ext uri="{BB962C8B-B14F-4D97-AF65-F5344CB8AC3E}">
        <p14:creationId xmlns:p14="http://schemas.microsoft.com/office/powerpoint/2010/main" val="3444521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6181A-2F41-81F5-2007-5244DC687F1D}"/>
              </a:ext>
            </a:extLst>
          </p:cNvPr>
          <p:cNvSpPr>
            <a:spLocks noGrp="1"/>
          </p:cNvSpPr>
          <p:nvPr>
            <p:ph type="title"/>
          </p:nvPr>
        </p:nvSpPr>
        <p:spPr/>
        <p:txBody>
          <a:bodyPr/>
          <a:lstStyle/>
          <a:p>
            <a:r>
              <a:rPr lang="en-US" noProof="0" dirty="0"/>
              <a:t>Why did the abstractions hinder the LLM</a:t>
            </a:r>
          </a:p>
        </p:txBody>
      </p:sp>
      <p:sp>
        <p:nvSpPr>
          <p:cNvPr id="3" name="Content Placeholder 2">
            <a:extLst>
              <a:ext uri="{FF2B5EF4-FFF2-40B4-BE49-F238E27FC236}">
                <a16:creationId xmlns:a16="http://schemas.microsoft.com/office/drawing/2014/main" id="{BFE9388A-2481-EE41-E355-566C2612FC2B}"/>
              </a:ext>
            </a:extLst>
          </p:cNvPr>
          <p:cNvSpPr>
            <a:spLocks noGrp="1"/>
          </p:cNvSpPr>
          <p:nvPr>
            <p:ph idx="1"/>
          </p:nvPr>
        </p:nvSpPr>
        <p:spPr/>
        <p:txBody>
          <a:bodyPr anchor="ctr"/>
          <a:lstStyle/>
          <a:p>
            <a:r>
              <a:rPr lang="en-US" dirty="0"/>
              <a:t>Some generated Noarr layouts preserve syntactic order of dimensions rather than the semantic one (unintended layout transformations)</a:t>
            </a:r>
          </a:p>
          <a:p>
            <a:r>
              <a:rPr lang="en-US" noProof="0" dirty="0"/>
              <a:t>Halide was an awkward representation </a:t>
            </a:r>
            <a:r>
              <a:rPr lang="en-US" dirty="0"/>
              <a:t>for many algorithms</a:t>
            </a:r>
          </a:p>
          <a:p>
            <a:r>
              <a:rPr lang="en-US" noProof="0" dirty="0"/>
              <a:t>Hallucinated API</a:t>
            </a:r>
          </a:p>
          <a:p>
            <a:pPr lvl="1"/>
            <a:r>
              <a:rPr lang="en-US" noProof="0" dirty="0"/>
              <a:t>(mostly for Halide), the LLM considered more general function overloads</a:t>
            </a:r>
          </a:p>
          <a:p>
            <a:pPr lvl="1"/>
            <a:r>
              <a:rPr lang="en-US" dirty="0"/>
              <a:t>(mostly for Exo), the LLM failed to preserve expected invariants</a:t>
            </a:r>
          </a:p>
          <a:p>
            <a:pPr lvl="1"/>
            <a:r>
              <a:rPr lang="en-US" noProof="0" dirty="0"/>
              <a:t>(mostly for Noarr), the LLM made </a:t>
            </a:r>
            <a:r>
              <a:rPr lang="en-US" dirty="0"/>
              <a:t>genuine mistakes (e.g., replaced angle brackets with square brackets)</a:t>
            </a:r>
          </a:p>
        </p:txBody>
      </p:sp>
      <p:sp>
        <p:nvSpPr>
          <p:cNvPr id="4" name="Date Placeholder 3">
            <a:extLst>
              <a:ext uri="{FF2B5EF4-FFF2-40B4-BE49-F238E27FC236}">
                <a16:creationId xmlns:a16="http://schemas.microsoft.com/office/drawing/2014/main" id="{38A398BB-7A0C-F187-3DAA-0CA6E59EF3D1}"/>
              </a:ext>
            </a:extLst>
          </p:cNvPr>
          <p:cNvSpPr>
            <a:spLocks noGrp="1"/>
          </p:cNvSpPr>
          <p:nvPr>
            <p:ph type="dt" sz="half" idx="10"/>
          </p:nvPr>
        </p:nvSpPr>
        <p:spPr/>
        <p:txBody>
          <a:bodyPr/>
          <a:lstStyle/>
          <a:p>
            <a:fld id="{358C28A6-2969-482E-9A3B-5E13FCD8DD03}" type="datetime1">
              <a:rPr lang="en-US" noProof="0" smtClean="0"/>
              <a:t>9/6/2026</a:t>
            </a:fld>
            <a:endParaRPr lang="en-US" noProof="0" dirty="0"/>
          </a:p>
        </p:txBody>
      </p:sp>
      <p:sp>
        <p:nvSpPr>
          <p:cNvPr id="5" name="Slide Number Placeholder 4">
            <a:extLst>
              <a:ext uri="{FF2B5EF4-FFF2-40B4-BE49-F238E27FC236}">
                <a16:creationId xmlns:a16="http://schemas.microsoft.com/office/drawing/2014/main" id="{A236833A-9918-E7AE-C3D5-650A1C45B68A}"/>
              </a:ext>
            </a:extLst>
          </p:cNvPr>
          <p:cNvSpPr>
            <a:spLocks noGrp="1"/>
          </p:cNvSpPr>
          <p:nvPr>
            <p:ph type="sldNum" sz="quarter" idx="12"/>
          </p:nvPr>
        </p:nvSpPr>
        <p:spPr/>
        <p:txBody>
          <a:bodyPr/>
          <a:lstStyle/>
          <a:p>
            <a:fld id="{DA0BB241-1B5F-4309-9407-9EEA04D9598D}" type="slidenum">
              <a:rPr lang="en-US" noProof="0" smtClean="0"/>
              <a:t>45</a:t>
            </a:fld>
            <a:endParaRPr lang="en-US" noProof="0" dirty="0"/>
          </a:p>
        </p:txBody>
      </p:sp>
    </p:spTree>
    <p:extLst>
      <p:ext uri="{BB962C8B-B14F-4D97-AF65-F5344CB8AC3E}">
        <p14:creationId xmlns:p14="http://schemas.microsoft.com/office/powerpoint/2010/main" val="4113959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r>
              <a:rPr lang="en-US" noProof="0" dirty="0"/>
              <a:t>Re-evaluate on agentic LLMs</a:t>
            </a:r>
          </a:p>
          <a:p>
            <a:pPr lvl="2"/>
            <a:r>
              <a:rPr lang="en-US" noProof="0" dirty="0"/>
              <a:t>Gather feedback (performance, compile errors, …)</a:t>
            </a:r>
          </a:p>
          <a:p>
            <a:pPr lvl="2"/>
            <a:r>
              <a:rPr lang="en-US" noProof="0" dirty="0"/>
              <a:t>Collect necessary context (e.g., work with an abstraction reference)</a:t>
            </a:r>
          </a:p>
          <a:p>
            <a:pPr lvl="1"/>
            <a:endParaRPr lang="en-US" noProof="0" dirty="0"/>
          </a:p>
          <a:p>
            <a:pPr lvl="1"/>
            <a:r>
              <a:rPr lang="en-US" noProof="0" dirty="0"/>
              <a:t>More LLM-focused abstractions and scaffolding</a:t>
            </a:r>
          </a:p>
          <a:p>
            <a:r>
              <a:rPr lang="en-US" noProof="0" dirty="0"/>
              <a:t>LLMs still do not replace abstractions (</a:t>
            </a:r>
            <a:r>
              <a:rPr lang="en-US" sz="2400" noProof="0" dirty="0"/>
              <a:t>⬆️flexibility</a:t>
            </a:r>
            <a:r>
              <a:rPr lang="en-US" noProof="0" dirty="0"/>
              <a:t>, </a:t>
            </a:r>
            <a:r>
              <a:rPr lang="en-US" sz="2400" noProof="0" dirty="0"/>
              <a:t>⬇️                                </a:t>
            </a:r>
            <a:r>
              <a:rPr lang="en-US" noProof="0" dirty="0"/>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nvPr>
        </p:nvSpPr>
        <p:spPr/>
        <p:txBody>
          <a:bodyPr/>
          <a:lstStyle/>
          <a:p>
            <a:fld id="{2E4D20BF-4C0E-41E5-B4FC-9D48FCD3AF33}" type="datetime1">
              <a:rPr lang="en-US" noProof="0" smtClean="0"/>
              <a:t>9/6/2026</a:t>
            </a:fld>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nvPr>
        </p:nvSpPr>
        <p:spPr/>
        <p:txBody>
          <a:bodyPr/>
          <a:lstStyle/>
          <a:p>
            <a:fld id="{DA0BB241-1B5F-4309-9407-9EEA04D9598D}" type="slidenum">
              <a:rPr lang="en-US" noProof="0" smtClean="0"/>
              <a:t>46</a:t>
            </a:fld>
            <a:endParaRPr lang="en-US" noProof="0" dirty="0"/>
          </a:p>
        </p:txBody>
      </p:sp>
      <p:sp>
        <p:nvSpPr>
          <p:cNvPr id="4" name="TextBox 3">
            <a:extLst>
              <a:ext uri="{FF2B5EF4-FFF2-40B4-BE49-F238E27FC236}">
                <a16:creationId xmlns:a16="http://schemas.microsoft.com/office/drawing/2014/main" id="{B965D0A2-488C-6AE6-55B4-95CCADB0A059}"/>
              </a:ext>
            </a:extLst>
          </p:cNvPr>
          <p:cNvSpPr txBox="1"/>
          <p:nvPr/>
        </p:nvSpPr>
        <p:spPr>
          <a:xfrm>
            <a:off x="9138232" y="5688871"/>
            <a:ext cx="2125390" cy="461665"/>
          </a:xfrm>
          <a:prstGeom prst="rect">
            <a:avLst/>
          </a:prstGeom>
          <a:noFill/>
        </p:spPr>
        <p:txBody>
          <a:bodyPr wrap="none" rtlCol="0">
            <a:spAutoFit/>
          </a:bodyPr>
          <a:lstStyle/>
          <a:p>
            <a:pPr algn="ctr"/>
            <a:r>
              <a:rPr lang="en-US" sz="2400" noProof="0" dirty="0"/>
              <a:t>interpretability</a:t>
            </a:r>
          </a:p>
        </p:txBody>
      </p:sp>
      <p:sp>
        <p:nvSpPr>
          <p:cNvPr id="8" name="TextBox 7">
            <a:extLst>
              <a:ext uri="{FF2B5EF4-FFF2-40B4-BE49-F238E27FC236}">
                <a16:creationId xmlns:a16="http://schemas.microsoft.com/office/drawing/2014/main" id="{DFEF80E3-6A55-EBC0-500C-3DC766A1C247}"/>
              </a:ext>
            </a:extLst>
          </p:cNvPr>
          <p:cNvSpPr txBox="1"/>
          <p:nvPr/>
        </p:nvSpPr>
        <p:spPr>
          <a:xfrm>
            <a:off x="9258453" y="5397074"/>
            <a:ext cx="1884948" cy="461665"/>
          </a:xfrm>
          <a:prstGeom prst="rect">
            <a:avLst/>
          </a:prstGeom>
          <a:noFill/>
        </p:spPr>
        <p:txBody>
          <a:bodyPr wrap="square">
            <a:spAutoFit/>
          </a:bodyPr>
          <a:lstStyle/>
          <a:p>
            <a:pPr algn="ctr"/>
            <a:r>
              <a:rPr lang="en-US" sz="2400" noProof="0" dirty="0"/>
              <a:t>determinism</a:t>
            </a:r>
            <a:endParaRPr lang="en-US" noProof="0" dirty="0"/>
          </a:p>
        </p:txBody>
      </p:sp>
    </p:spTree>
    <p:extLst>
      <p:ext uri="{BB962C8B-B14F-4D97-AF65-F5344CB8AC3E}">
        <p14:creationId xmlns:p14="http://schemas.microsoft.com/office/powerpoint/2010/main" val="270994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1.4|4.1|8.8|13.5|3.5|9.8"/>
</p:tagLst>
</file>

<file path=ppt/tags/tag2.xml><?xml version="1.0" encoding="utf-8"?>
<p:tagLst xmlns:a="http://schemas.openxmlformats.org/drawingml/2006/main" xmlns:r="http://schemas.openxmlformats.org/officeDocument/2006/relationships" xmlns:p="http://schemas.openxmlformats.org/presentationml/2006/main">
  <p:tag name="TIMING" val="|25.6|21.7"/>
</p:tagLst>
</file>

<file path=ppt/tags/tag3.xml><?xml version="1.0" encoding="utf-8"?>
<p:tagLst xmlns:a="http://schemas.openxmlformats.org/drawingml/2006/main" xmlns:r="http://schemas.openxmlformats.org/officeDocument/2006/relationships" xmlns:p="http://schemas.openxmlformats.org/presentationml/2006/main">
  <p:tag name="TIMING" val="|7.8|12.9|1|16.1"/>
</p:tagLst>
</file>

<file path=ppt/tags/tag4.xml><?xml version="1.0" encoding="utf-8"?>
<p:tagLst xmlns:a="http://schemas.openxmlformats.org/drawingml/2006/main" xmlns:r="http://schemas.openxmlformats.org/officeDocument/2006/relationships" xmlns:p="http://schemas.openxmlformats.org/presentationml/2006/main">
  <p:tag name="TIMING" val="|19.5|1.3|5.3|13.4|13.7|15.4"/>
</p:tagLst>
</file>

<file path=ppt/tags/tag5.xml><?xml version="1.0" encoding="utf-8"?>
<p:tagLst xmlns:a="http://schemas.openxmlformats.org/drawingml/2006/main" xmlns:r="http://schemas.openxmlformats.org/officeDocument/2006/relationships" xmlns:p="http://schemas.openxmlformats.org/presentationml/2006/main">
  <p:tag name="TIMING" val="|24|47.1"/>
</p:tagLst>
</file>

<file path=ppt/tags/tag6.xml><?xml version="1.0" encoding="utf-8"?>
<p:tagLst xmlns:a="http://schemas.openxmlformats.org/drawingml/2006/main" xmlns:r="http://schemas.openxmlformats.org/officeDocument/2006/relationships" xmlns:p="http://schemas.openxmlformats.org/presentationml/2006/main">
  <p:tag name="TIMING" val="|38|21.1|13.6|7.7|40.3|4"/>
</p:tagLst>
</file>

<file path=ppt/tags/tag7.xml><?xml version="1.0" encoding="utf-8"?>
<p:tagLst xmlns:a="http://schemas.openxmlformats.org/drawingml/2006/main" xmlns:r="http://schemas.openxmlformats.org/officeDocument/2006/relationships" xmlns:p="http://schemas.openxmlformats.org/presentationml/2006/main">
  <p:tag name="TIMING" val="|23"/>
</p:tagLst>
</file>

<file path=ppt/tags/tag8.xml><?xml version="1.0" encoding="utf-8"?>
<p:tagLst xmlns:a="http://schemas.openxmlformats.org/drawingml/2006/main" xmlns:r="http://schemas.openxmlformats.org/officeDocument/2006/relationships" xmlns:p="http://schemas.openxmlformats.org/presentationml/2006/main">
  <p:tag name="TIMING" val="|19.2"/>
</p:tagLst>
</file>

<file path=ppt/tags/tag9.xml><?xml version="1.0" encoding="utf-8"?>
<p:tagLst xmlns:a="http://schemas.openxmlformats.org/drawingml/2006/main" xmlns:r="http://schemas.openxmlformats.org/officeDocument/2006/relationships" xmlns:p="http://schemas.openxmlformats.org/presentationml/2006/main">
  <p:tag name="TIMING" val="|0.9|0.3|0.2|0.2"/>
</p:tagLst>
</file>

<file path=ppt/tags/tag10.xml><?xml version="1.0" encoding="utf-8"?>
<p:tagLst xmlns:a="http://schemas.openxmlformats.org/drawingml/2006/main" xmlns:r="http://schemas.openxmlformats.org/officeDocument/2006/relationships" xmlns:p="http://schemas.openxmlformats.org/presentationml/2006/main">
  <p:tag name="TIMING" val="|36|17.8|11|8.4|16.3"/>
</p:tagLst>
</file>

<file path=ppt/tags/tag11.xml><?xml version="1.0" encoding="utf-8"?>
<p:tagLst xmlns:a="http://schemas.openxmlformats.org/drawingml/2006/main" xmlns:r="http://schemas.openxmlformats.org/officeDocument/2006/relationships" xmlns:p="http://schemas.openxmlformats.org/presentationml/2006/main">
  <p:tag name="TIMING" val="|39.4"/>
</p:tagLst>
</file>

<file path=ppt/tags/tag12.xml><?xml version="1.0" encoding="utf-8"?>
<p:tagLst xmlns:a="http://schemas.openxmlformats.org/drawingml/2006/main" xmlns:r="http://schemas.openxmlformats.org/officeDocument/2006/relationships" xmlns:p="http://schemas.openxmlformats.org/presentationml/2006/main">
  <p:tag name="TIMING" val="|0.4|0.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8639</TotalTime>
  <Words>5869</Words>
  <Application>Microsoft Office PowerPoint</Application>
  <PresentationFormat>Widescreen</PresentationFormat>
  <Paragraphs>908</Paragraphs>
  <Slides>46</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Aptos</vt:lpstr>
      <vt:lpstr>Aptos Display</vt:lpstr>
      <vt:lpstr>Arial</vt:lpstr>
      <vt:lpstr>Cambria Math</vt:lpstr>
      <vt:lpstr>Fira Code</vt:lpstr>
      <vt:lpstr>Wingdings</vt:lpstr>
      <vt:lpstr>Office Theme</vt:lpstr>
      <vt:lpstr>Optimizing Memory Layouts and Traversal Orders in HPC</vt:lpstr>
      <vt:lpstr>Motivation</vt:lpstr>
      <vt:lpstr>Why layouts matter</vt:lpstr>
      <vt:lpstr>Layout-agnostic design</vt:lpstr>
      <vt:lpstr>Layout abstractions (Noarr)</vt:lpstr>
      <vt:lpstr>Traversal abstractions</vt:lpstr>
      <vt:lpstr>Structures with different index spaces</vt:lpstr>
      <vt:lpstr>Traversal transformations</vt:lpstr>
      <vt:lpstr>Traversal parallelization</vt:lpstr>
      <vt:lpstr>No measurable runtime overhead</vt:lpstr>
      <vt:lpstr>Parallel computation</vt:lpstr>
      <vt:lpstr>Code metrics</vt:lpstr>
      <vt:lpstr>Autotuning</vt:lpstr>
      <vt:lpstr>Autotuning</vt:lpstr>
      <vt:lpstr>Distributed initialization using MPI</vt:lpstr>
      <vt:lpstr>Automatic transformation in communication</vt:lpstr>
      <vt:lpstr>Support for layout-agnostic data distribution</vt:lpstr>
      <vt:lpstr>Noarr-MPI does not introduce overhead</vt:lpstr>
      <vt:lpstr>Stencil computation abstractions</vt:lpstr>
      <vt:lpstr>Discrete stencils – Cellular  automata</vt:lpstr>
      <vt:lpstr>PowerPoint Presentation</vt:lpstr>
      <vt:lpstr>What the design allows us to gain</vt:lpstr>
      <vt:lpstr>Abstractions summary</vt:lpstr>
      <vt:lpstr>Tutoring LLMs for CUDA</vt:lpstr>
      <vt:lpstr>Tutoring LLMs for CUDA OpenAI o3-mini</vt:lpstr>
      <vt:lpstr>Tutoring LLMs for CUDA – submission OpenAI o3-mini</vt:lpstr>
      <vt:lpstr>Tutoring LLMs for CUDA – at conference OpenAI GPT-5</vt:lpstr>
      <vt:lpstr>LLMs and abstractions</vt:lpstr>
      <vt:lpstr>LLMs and abstractions</vt:lpstr>
      <vt:lpstr>C outperforms the abstractions</vt:lpstr>
      <vt:lpstr>Contribution map</vt:lpstr>
      <vt:lpstr>Contribution summary</vt:lpstr>
      <vt:lpstr>Review comments and questions</vt:lpstr>
      <vt:lpstr>Why is Cellato separate from Noarr?</vt:lpstr>
      <vt:lpstr>What do you think an abstraction designed specifically for an LLM should look like?</vt:lpstr>
      <vt:lpstr> Is hvector necessary? vector more convenient?</vt:lpstr>
      <vt:lpstr>Is Noarr used outside the department? If not, why?</vt:lpstr>
      <vt:lpstr>Can Noarr naturally incorporate #pragma omp simd or SIMD-aware traversers</vt:lpstr>
      <vt:lpstr>Novelty in layout- and traversal-agnosticism</vt:lpstr>
      <vt:lpstr>Which of these ideas can be found in software like Kokkos or OpenMP's loop transformations?</vt:lpstr>
      <vt:lpstr>State of the art summary and our novelty</vt:lpstr>
      <vt:lpstr>Comparison table</vt:lpstr>
      <vt:lpstr>Genuine limitations of Noarr and Cellato</vt:lpstr>
      <vt:lpstr>Template-exclusive statements</vt:lpstr>
      <vt:lpstr>Why did the abstractions hinder the LLM</vt:lpstr>
      <vt:lpstr>LLM-guided optimization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Jiří Klepl</dc:creator>
  <cp:lastModifiedBy>Jiří Klepl</cp:lastModifiedBy>
  <cp:revision>597</cp:revision>
  <cp:lastPrinted>2026-09-06T20:26:24Z</cp:lastPrinted>
  <dcterms:created xsi:type="dcterms:W3CDTF">2026-08-08T18:10:38Z</dcterms:created>
  <dcterms:modified xsi:type="dcterms:W3CDTF">2026-09-06T20:47:24Z</dcterms:modified>
</cp:coreProperties>
</file>