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0" r:id="rId36"/>
    <p:sldId id="318" r:id="rId37"/>
    <p:sldId id="319" r:id="rId38"/>
    <p:sldId id="317" r:id="rId39"/>
    <p:sldId id="321"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B2B2"/>
    <a:srgbClr val="0F9ED5"/>
    <a:srgbClr val="7ABEED"/>
    <a:srgbClr val="0D1717"/>
    <a:srgbClr val="FCBCF1"/>
    <a:srgbClr val="C7DCFB"/>
    <a:srgbClr val="A2F4A6"/>
    <a:srgbClr val="DAFCDC"/>
    <a:srgbClr val="969696"/>
    <a:srgbClr val="DAE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6267" autoAdjust="0"/>
  </p:normalViewPr>
  <p:slideViewPr>
    <p:cSldViewPr snapToGrid="0">
      <p:cViewPr varScale="1">
        <p:scale>
          <a:sx n="121" d="100"/>
          <a:sy n="121" d="100"/>
        </p:scale>
        <p:origin x="317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“scalar,” which names a single value, or “vector,” 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png"/><Relationship Id="rId3" Type="http://schemas.openxmlformats.org/officeDocument/2006/relationships/notesSlide" Target="../notesSlides/notesSlide4.xml"/><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 Type="http://schemas.openxmlformats.org/officeDocument/2006/relationships/slideLayout" Target="../slideLayouts/slideLayout6.xml"/><Relationship Id="rId16" Type="http://schemas.openxmlformats.org/officeDocument/2006/relationships/image" Target="../media/image21.png"/><Relationship Id="rId20" Type="http://schemas.openxmlformats.org/officeDocument/2006/relationships/image" Target="../media/image25.png"/><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19"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14.png"/><Relationship Id="rId1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53.png"/><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svg"/><Relationship Id="rId7" Type="http://schemas.openxmlformats.org/officeDocument/2006/relationships/image" Target="../media/image59.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66.png"/><Relationship Id="rId4" Type="http://schemas.openxmlformats.org/officeDocument/2006/relationships/image" Target="../media/image65.svg"/></Relationships>
</file>

<file path=ppt/slides/_rels/slide20.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69.jpeg"/><Relationship Id="rId4" Type="http://schemas.openxmlformats.org/officeDocument/2006/relationships/image" Target="../media/image68.png"/></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74.png"/><Relationship Id="rId4" Type="http://schemas.openxmlformats.org/officeDocument/2006/relationships/image" Target="../media/image67.gif"/></Relationships>
</file>

<file path=ppt/slides/_rels/slide2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7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86.svg"/><Relationship Id="rId3" Type="http://schemas.openxmlformats.org/officeDocument/2006/relationships/image" Target="../media/image81.svg"/><Relationship Id="rId7" Type="http://schemas.openxmlformats.org/officeDocument/2006/relationships/image" Target="../media/image85.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84.svg"/><Relationship Id="rId5" Type="http://schemas.openxmlformats.org/officeDocument/2006/relationships/image" Target="../media/image83.svg"/><Relationship Id="rId10" Type="http://schemas.openxmlformats.org/officeDocument/2006/relationships/image" Target="../media/image88.svg"/><Relationship Id="rId4" Type="http://schemas.openxmlformats.org/officeDocument/2006/relationships/image" Target="../media/image82.svg"/><Relationship Id="rId9" Type="http://schemas.openxmlformats.org/officeDocument/2006/relationships/image" Target="../media/image87.svg"/></Relationships>
</file>

<file path=ppt/slides/_rels/slide3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765493" y="632847"/>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950655" y="2887445"/>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596543"/>
                <a:ext cx="8184164" cy="461665"/>
              </a:xfrm>
              <a:prstGeom prst="rect">
                <a:avLst/>
              </a:prstGeom>
              <a:noFill/>
            </p:spPr>
            <p:txBody>
              <a:bodyPr wrap="none" rtlCol="0">
                <a:spAutoFit/>
              </a:bodyPr>
              <a:lstStyle/>
              <a:p>
                <a:pPr algn="ctr"/>
                <a14:m>
                  <m:oMath xmlns:m="http://schemas.openxmlformats.org/officeDocument/2006/math">
                    <m:r>
                      <a:rPr lang="en-US" sz="2400" b="0" i="1" noProof="0" smtClean="0"/>
                      <m:t>𝑚</m:t>
                    </m:r>
                    <m:r>
                      <a:rPr lang="en-US" sz="2400" b="0" i="1" noProof="0" smtClean="0"/>
                      <m:t>×</m:t>
                    </m:r>
                    <m:r>
                      <a:rPr lang="en-US" sz="2400" b="0" i="1" noProof="0" smtClean="0"/>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596543"/>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86743" y="2049056"/>
            <a:ext cx="6618514"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square">
            <a:spAutoFit/>
          </a:bodyPr>
          <a:lstStyle/>
          <a:p>
            <a:pPr>
              <a:lnSpc>
                <a:spcPct val="113095"/>
              </a:lnSpc>
              <a:buNone/>
            </a:pP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M</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AF00DB"/>
                </a:solidFill>
                <a:latin typeface="Fira Code" panose="020B0809050000020004" pitchFamily="49" charset="0"/>
              </a:rPr>
              <a:t>for</a:t>
            </a:r>
            <a:r>
              <a:rPr lang="en-US" sz="2400" dirty="0">
                <a:solidFill>
                  <a:srgbClr val="000000"/>
                </a:solidFill>
                <a:latin typeface="Fira Code" panose="020B0809050000020004" pitchFamily="49" charset="0"/>
              </a:rPr>
              <a:t> (</a:t>
            </a:r>
            <a:r>
              <a:rPr lang="en-US" sz="2400" dirty="0">
                <a:solidFill>
                  <a:srgbClr val="0000FF"/>
                </a:solidFill>
                <a:latin typeface="Fira Code" panose="020B0809050000020004" pitchFamily="49" charset="0"/>
              </a:rPr>
              <a:t>int</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a:solidFill>
                  <a:srgbClr val="098658"/>
                </a:solidFill>
                <a:latin typeface="Fira Code" panose="020B0809050000020004" pitchFamily="49" charset="0"/>
              </a:rPr>
              <a:t>0</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&lt; </a:t>
            </a:r>
            <a:r>
              <a:rPr lang="en-US" sz="2400" dirty="0">
                <a:solidFill>
                  <a:srgbClr val="0070C1"/>
                </a:solidFill>
                <a:latin typeface="Fira Code" panose="020B0809050000020004" pitchFamily="49" charset="0"/>
              </a:rPr>
              <a:t>N</a:t>
            </a:r>
            <a:r>
              <a:rPr lang="en-US" sz="2400" dirty="0">
                <a:solidFill>
                  <a:srgbClr val="000000"/>
                </a:solidFill>
                <a:latin typeface="Fira Code" panose="020B0809050000020004" pitchFamily="49" charset="0"/>
              </a:rPr>
              <a:t>; </a:t>
            </a:r>
            <a:r>
              <a:rPr lang="en-US" sz="2400" dirty="0" err="1">
                <a:solidFill>
                  <a:srgbClr val="001080"/>
                </a:solidFill>
                <a:latin typeface="Fira Code" panose="020B0809050000020004" pitchFamily="49" charset="0"/>
              </a:rPr>
              <a:t>j</a:t>
            </a:r>
            <a:r>
              <a:rPr lang="en-US" sz="2400" dirty="0" err="1">
                <a:solidFill>
                  <a:srgbClr val="000000"/>
                </a:solidFill>
                <a:latin typeface="Fira Code" panose="020B0809050000020004" pitchFamily="49" charset="0"/>
              </a:rPr>
              <a:t>++</a:t>
            </a:r>
            <a:r>
              <a:rPr lang="en-US" sz="2400" dirty="0">
                <a:solidFill>
                  <a:srgbClr val="000000"/>
                </a:solidFill>
                <a:latin typeface="Fira Code" panose="020B0809050000020004" pitchFamily="49" charset="0"/>
              </a:rPr>
              <a:t>)</a:t>
            </a:r>
          </a:p>
          <a:p>
            <a:pPr>
              <a:lnSpc>
                <a:spcPct val="113095"/>
              </a:lnSpc>
              <a:buNone/>
            </a:pP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matrix</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 = </a:t>
            </a:r>
            <a:r>
              <a:rPr lang="en-US" sz="2400" dirty="0" err="1">
                <a:solidFill>
                  <a:srgbClr val="795E26"/>
                </a:solidFill>
                <a:latin typeface="Fira Code" panose="020B0809050000020004" pitchFamily="49" charset="0"/>
              </a:rPr>
              <a:t>init</a:t>
            </a:r>
            <a:r>
              <a:rPr lang="en-US" sz="2400" dirty="0">
                <a:solidFill>
                  <a:srgbClr val="000000"/>
                </a:solidFill>
                <a:latin typeface="Fira Code" panose="020B0809050000020004" pitchFamily="49" charset="0"/>
              </a:rPr>
              <a:t>(</a:t>
            </a:r>
            <a:r>
              <a:rPr lang="en-US" sz="2400" dirty="0" err="1">
                <a:solidFill>
                  <a:srgbClr val="001080"/>
                </a:solidFill>
                <a:latin typeface="Fira Code" panose="020B0809050000020004" pitchFamily="49" charset="0"/>
              </a:rPr>
              <a:t>i</a:t>
            </a:r>
            <a:r>
              <a:rPr lang="en-US" sz="2400" dirty="0">
                <a:solidFill>
                  <a:srgbClr val="000000"/>
                </a:solidFill>
                <a:latin typeface="Fira Code" panose="020B0809050000020004" pitchFamily="49" charset="0"/>
              </a:rPr>
              <a:t>, </a:t>
            </a:r>
            <a:r>
              <a:rPr lang="en-US" sz="2400" dirty="0">
                <a:solidFill>
                  <a:srgbClr val="001080"/>
                </a:solidFill>
                <a:latin typeface="Fira Code" panose="020B0809050000020004" pitchFamily="49" charset="0"/>
              </a:rPr>
              <a:t>j</a:t>
            </a:r>
            <a:r>
              <a:rPr lang="en-US" sz="24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6" name="Group 145">
            <a:extLst>
              <a:ext uri="{FF2B5EF4-FFF2-40B4-BE49-F238E27FC236}">
                <a16:creationId xmlns:a16="http://schemas.microsoft.com/office/drawing/2014/main" id="{FB40E9E6-741A-9567-ADCE-7B9773AC03F3}"/>
              </a:ext>
            </a:extLst>
          </p:cNvPr>
          <p:cNvGrpSpPr/>
          <p:nvPr/>
        </p:nvGrpSpPr>
        <p:grpSpPr>
          <a:xfrm>
            <a:off x="1424602" y="3716969"/>
            <a:ext cx="1524000" cy="1142977"/>
            <a:chOff x="1424602" y="3716969"/>
            <a:chExt cx="1524000" cy="1142977"/>
          </a:xfrm>
        </p:grpSpPr>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39" name="Picture 38">
              <a:extLst>
                <a:ext uri="{FF2B5EF4-FFF2-40B4-BE49-F238E27FC236}">
                  <a16:creationId xmlns:a16="http://schemas.microsoft.com/office/drawing/2014/main" id="{721B85E5-2E00-9054-172B-11BDE4B510E3}"/>
                </a:ext>
              </a:extLst>
            </p:cNvPr>
            <p:cNvPicPr>
              <a:picLocks noChangeAspect="1"/>
            </p:cNvPicPr>
            <p:nvPr/>
          </p:nvPicPr>
          <p:blipFill>
            <a:blip r:embed="rId5"/>
            <a:stretch>
              <a:fillRect/>
            </a:stretch>
          </p:blipFill>
          <p:spPr>
            <a:xfrm>
              <a:off x="1810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42" name="Picture 41">
              <a:extLst>
                <a:ext uri="{FF2B5EF4-FFF2-40B4-BE49-F238E27FC236}">
                  <a16:creationId xmlns:a16="http://schemas.microsoft.com/office/drawing/2014/main" id="{162B44C7-C220-13FE-0B31-B9157380C401}"/>
                </a:ext>
              </a:extLst>
            </p:cNvPr>
            <p:cNvPicPr>
              <a:picLocks noChangeAspect="1"/>
            </p:cNvPicPr>
            <p:nvPr/>
          </p:nvPicPr>
          <p:blipFill>
            <a:blip r:embed="rId6"/>
            <a:stretch>
              <a:fillRect/>
            </a:stretch>
          </p:blipFill>
          <p:spPr>
            <a:xfrm>
              <a:off x="1810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45" name="Picture 44">
              <a:extLst>
                <a:ext uri="{FF2B5EF4-FFF2-40B4-BE49-F238E27FC236}">
                  <a16:creationId xmlns:a16="http://schemas.microsoft.com/office/drawing/2014/main" id="{89E05D9C-0DA3-CD77-0E70-D25122929E19}"/>
                </a:ext>
              </a:extLst>
            </p:cNvPr>
            <p:cNvPicPr>
              <a:picLocks noChangeAspect="1"/>
            </p:cNvPicPr>
            <p:nvPr/>
          </p:nvPicPr>
          <p:blipFill>
            <a:blip r:embed="rId7"/>
            <a:stretch>
              <a:fillRect/>
            </a:stretch>
          </p:blipFill>
          <p:spPr>
            <a:xfrm>
              <a:off x="2572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48" name="Picture 47">
              <a:extLst>
                <a:ext uri="{FF2B5EF4-FFF2-40B4-BE49-F238E27FC236}">
                  <a16:creationId xmlns:a16="http://schemas.microsoft.com/office/drawing/2014/main" id="{BFB251CE-59DB-56C2-6D95-7217C38E04DC}"/>
                </a:ext>
              </a:extLst>
            </p:cNvPr>
            <p:cNvPicPr>
              <a:picLocks noChangeAspect="1"/>
            </p:cNvPicPr>
            <p:nvPr/>
          </p:nvPicPr>
          <p:blipFill>
            <a:blip r:embed="rId8"/>
            <a:stretch>
              <a:fillRect/>
            </a:stretch>
          </p:blipFill>
          <p:spPr>
            <a:xfrm>
              <a:off x="2191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51" name="Picture 50">
              <a:extLst>
                <a:ext uri="{FF2B5EF4-FFF2-40B4-BE49-F238E27FC236}">
                  <a16:creationId xmlns:a16="http://schemas.microsoft.com/office/drawing/2014/main" id="{C8A256E7-ADCA-7315-841E-2BB0BCEBA83E}"/>
                </a:ext>
              </a:extLst>
            </p:cNvPr>
            <p:cNvPicPr>
              <a:picLocks noChangeAspect="1"/>
            </p:cNvPicPr>
            <p:nvPr/>
          </p:nvPicPr>
          <p:blipFill>
            <a:blip r:embed="rId9"/>
            <a:stretch>
              <a:fillRect/>
            </a:stretch>
          </p:blipFill>
          <p:spPr>
            <a:xfrm>
              <a:off x="1429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54" name="Picture 53">
              <a:extLst>
                <a:ext uri="{FF2B5EF4-FFF2-40B4-BE49-F238E27FC236}">
                  <a16:creationId xmlns:a16="http://schemas.microsoft.com/office/drawing/2014/main" id="{2E27AAFC-4379-5D81-D3E3-F46F235E09CC}"/>
                </a:ext>
              </a:extLst>
            </p:cNvPr>
            <p:cNvPicPr>
              <a:picLocks noChangeAspect="1"/>
            </p:cNvPicPr>
            <p:nvPr/>
          </p:nvPicPr>
          <p:blipFill>
            <a:blip r:embed="rId10"/>
            <a:stretch>
              <a:fillRect/>
            </a:stretch>
          </p:blipFill>
          <p:spPr>
            <a:xfrm>
              <a:off x="1429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57" name="Picture 56">
              <a:extLst>
                <a:ext uri="{FF2B5EF4-FFF2-40B4-BE49-F238E27FC236}">
                  <a16:creationId xmlns:a16="http://schemas.microsoft.com/office/drawing/2014/main" id="{55A3CD26-6778-0801-2023-C975586D7189}"/>
                </a:ext>
              </a:extLst>
            </p:cNvPr>
            <p:cNvPicPr>
              <a:picLocks noChangeAspect="1"/>
            </p:cNvPicPr>
            <p:nvPr/>
          </p:nvPicPr>
          <p:blipFill>
            <a:blip r:embed="rId11"/>
            <a:stretch>
              <a:fillRect/>
            </a:stretch>
          </p:blipFill>
          <p:spPr>
            <a:xfrm>
              <a:off x="1429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60" name="Picture 59">
              <a:extLst>
                <a:ext uri="{FF2B5EF4-FFF2-40B4-BE49-F238E27FC236}">
                  <a16:creationId xmlns:a16="http://schemas.microsoft.com/office/drawing/2014/main" id="{C7C10D27-CCA3-E10B-2F42-B5BDED49E5B3}"/>
                </a:ext>
              </a:extLst>
            </p:cNvPr>
            <p:cNvPicPr>
              <a:picLocks noChangeAspect="1"/>
            </p:cNvPicPr>
            <p:nvPr/>
          </p:nvPicPr>
          <p:blipFill>
            <a:blip r:embed="rId12"/>
            <a:stretch>
              <a:fillRect/>
            </a:stretch>
          </p:blipFill>
          <p:spPr>
            <a:xfrm>
              <a:off x="2191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63" name="Picture 62">
              <a:extLst>
                <a:ext uri="{FF2B5EF4-FFF2-40B4-BE49-F238E27FC236}">
                  <a16:creationId xmlns:a16="http://schemas.microsoft.com/office/drawing/2014/main" id="{86B3F33A-0299-A90A-641B-C845F5DB2E2B}"/>
                </a:ext>
              </a:extLst>
            </p:cNvPr>
            <p:cNvPicPr>
              <a:picLocks noChangeAspect="1"/>
            </p:cNvPicPr>
            <p:nvPr/>
          </p:nvPicPr>
          <p:blipFill>
            <a:blip r:embed="rId13"/>
            <a:stretch>
              <a:fillRect/>
            </a:stretch>
          </p:blipFill>
          <p:spPr>
            <a:xfrm>
              <a:off x="2572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66" name="Picture 65">
              <a:extLst>
                <a:ext uri="{FF2B5EF4-FFF2-40B4-BE49-F238E27FC236}">
                  <a16:creationId xmlns:a16="http://schemas.microsoft.com/office/drawing/2014/main" id="{B2E57E21-34F8-5F9F-9E50-BEC98658384E}"/>
                </a:ext>
              </a:extLst>
            </p:cNvPr>
            <p:cNvPicPr>
              <a:picLocks noChangeAspect="1"/>
            </p:cNvPicPr>
            <p:nvPr/>
          </p:nvPicPr>
          <p:blipFill>
            <a:blip r:embed="rId14"/>
            <a:stretch>
              <a:fillRect/>
            </a:stretch>
          </p:blipFill>
          <p:spPr>
            <a:xfrm>
              <a:off x="2572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69" name="Picture 68">
              <a:extLst>
                <a:ext uri="{FF2B5EF4-FFF2-40B4-BE49-F238E27FC236}">
                  <a16:creationId xmlns:a16="http://schemas.microsoft.com/office/drawing/2014/main" id="{C5AF6EA6-D592-DE75-4BF0-6F581F34EFC3}"/>
                </a:ext>
              </a:extLst>
            </p:cNvPr>
            <p:cNvPicPr>
              <a:picLocks noChangeAspect="1"/>
            </p:cNvPicPr>
            <p:nvPr/>
          </p:nvPicPr>
          <p:blipFill>
            <a:blip r:embed="rId15"/>
            <a:stretch>
              <a:fillRect/>
            </a:stretch>
          </p:blipFill>
          <p:spPr>
            <a:xfrm>
              <a:off x="1810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72" name="Picture 71">
              <a:extLst>
                <a:ext uri="{FF2B5EF4-FFF2-40B4-BE49-F238E27FC236}">
                  <a16:creationId xmlns:a16="http://schemas.microsoft.com/office/drawing/2014/main" id="{6ACCD2FE-717C-1242-DD03-D72B7CA85DBE}"/>
                </a:ext>
              </a:extLst>
            </p:cNvPr>
            <p:cNvPicPr>
              <a:picLocks noChangeAspect="1"/>
            </p:cNvPicPr>
            <p:nvPr/>
          </p:nvPicPr>
          <p:blipFill>
            <a:blip r:embed="rId16"/>
            <a:stretch>
              <a:fillRect/>
            </a:stretch>
          </p:blipFill>
          <p:spPr>
            <a:xfrm>
              <a:off x="2191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7" name="Group 146">
            <a:extLst>
              <a:ext uri="{FF2B5EF4-FFF2-40B4-BE49-F238E27FC236}">
                <a16:creationId xmlns:a16="http://schemas.microsoft.com/office/drawing/2014/main" id="{B4AF7840-89A6-CD92-9692-09B3AB0484BA}"/>
              </a:ext>
            </a:extLst>
          </p:cNvPr>
          <p:cNvGrpSpPr/>
          <p:nvPr/>
        </p:nvGrpSpPr>
        <p:grpSpPr>
          <a:xfrm>
            <a:off x="4879317" y="3482997"/>
            <a:ext cx="4572000" cy="380992"/>
            <a:chOff x="4879317" y="3482997"/>
            <a:chExt cx="4572000" cy="380992"/>
          </a:xfrm>
        </p:grpSpPr>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75" name="Picture 74">
              <a:extLst>
                <a:ext uri="{FF2B5EF4-FFF2-40B4-BE49-F238E27FC236}">
                  <a16:creationId xmlns:a16="http://schemas.microsoft.com/office/drawing/2014/main" id="{7446D7D0-9371-E394-B415-0605C97B8DE3}"/>
                </a:ext>
              </a:extLst>
            </p:cNvPr>
            <p:cNvPicPr>
              <a:picLocks noChangeAspect="1"/>
            </p:cNvPicPr>
            <p:nvPr/>
          </p:nvPicPr>
          <p:blipFill>
            <a:blip r:embed="rId5"/>
            <a:stretch>
              <a:fillRect/>
            </a:stretch>
          </p:blipFill>
          <p:spPr>
            <a:xfrm>
              <a:off x="526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78" name="Picture 77">
              <a:extLst>
                <a:ext uri="{FF2B5EF4-FFF2-40B4-BE49-F238E27FC236}">
                  <a16:creationId xmlns:a16="http://schemas.microsoft.com/office/drawing/2014/main" id="{A5E0FAB0-27EB-E8C8-88B9-93737F0E88C8}"/>
                </a:ext>
              </a:extLst>
            </p:cNvPr>
            <p:cNvPicPr>
              <a:picLocks noChangeAspect="1"/>
            </p:cNvPicPr>
            <p:nvPr/>
          </p:nvPicPr>
          <p:blipFill>
            <a:blip r:embed="rId6"/>
            <a:stretch>
              <a:fillRect/>
            </a:stretch>
          </p:blipFill>
          <p:spPr>
            <a:xfrm>
              <a:off x="6789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81" name="Picture 80">
              <a:extLst>
                <a:ext uri="{FF2B5EF4-FFF2-40B4-BE49-F238E27FC236}">
                  <a16:creationId xmlns:a16="http://schemas.microsoft.com/office/drawing/2014/main" id="{967311A6-A874-5B30-4CBE-34A2C81BECFD}"/>
                </a:ext>
              </a:extLst>
            </p:cNvPr>
            <p:cNvPicPr>
              <a:picLocks noChangeAspect="1"/>
            </p:cNvPicPr>
            <p:nvPr/>
          </p:nvPicPr>
          <p:blipFill>
            <a:blip r:embed="rId7"/>
            <a:stretch>
              <a:fillRect/>
            </a:stretch>
          </p:blipFill>
          <p:spPr>
            <a:xfrm>
              <a:off x="7551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84" name="Picture 83">
              <a:extLst>
                <a:ext uri="{FF2B5EF4-FFF2-40B4-BE49-F238E27FC236}">
                  <a16:creationId xmlns:a16="http://schemas.microsoft.com/office/drawing/2014/main" id="{5D7C2700-BDEF-0E35-2BBC-95CCB0E6556C}"/>
                </a:ext>
              </a:extLst>
            </p:cNvPr>
            <p:cNvPicPr>
              <a:picLocks noChangeAspect="1"/>
            </p:cNvPicPr>
            <p:nvPr/>
          </p:nvPicPr>
          <p:blipFill>
            <a:blip r:embed="rId8"/>
            <a:stretch>
              <a:fillRect/>
            </a:stretch>
          </p:blipFill>
          <p:spPr>
            <a:xfrm>
              <a:off x="7170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87" name="Picture 86">
              <a:extLst>
                <a:ext uri="{FF2B5EF4-FFF2-40B4-BE49-F238E27FC236}">
                  <a16:creationId xmlns:a16="http://schemas.microsoft.com/office/drawing/2014/main" id="{1995CD41-7A7C-8584-09A1-544A4EF98B26}"/>
                </a:ext>
              </a:extLst>
            </p:cNvPr>
            <p:cNvPicPr>
              <a:picLocks noChangeAspect="1"/>
            </p:cNvPicPr>
            <p:nvPr/>
          </p:nvPicPr>
          <p:blipFill>
            <a:blip r:embed="rId9"/>
            <a:stretch>
              <a:fillRect/>
            </a:stretch>
          </p:blipFill>
          <p:spPr>
            <a:xfrm>
              <a:off x="6408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90" name="Picture 89">
              <a:extLst>
                <a:ext uri="{FF2B5EF4-FFF2-40B4-BE49-F238E27FC236}">
                  <a16:creationId xmlns:a16="http://schemas.microsoft.com/office/drawing/2014/main" id="{7D4F2FC9-0586-61EA-C12B-BA0106CD42EB}"/>
                </a:ext>
              </a:extLst>
            </p:cNvPr>
            <p:cNvPicPr>
              <a:picLocks noChangeAspect="1"/>
            </p:cNvPicPr>
            <p:nvPr/>
          </p:nvPicPr>
          <p:blipFill>
            <a:blip r:embed="rId10"/>
            <a:stretch>
              <a:fillRect/>
            </a:stretch>
          </p:blipFill>
          <p:spPr>
            <a:xfrm>
              <a:off x="488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93" name="Picture 92">
              <a:extLst>
                <a:ext uri="{FF2B5EF4-FFF2-40B4-BE49-F238E27FC236}">
                  <a16:creationId xmlns:a16="http://schemas.microsoft.com/office/drawing/2014/main" id="{FF25E454-3AF7-D6B3-53B4-9D1C6571F9B2}"/>
                </a:ext>
              </a:extLst>
            </p:cNvPr>
            <p:cNvPicPr>
              <a:picLocks noChangeAspect="1"/>
            </p:cNvPicPr>
            <p:nvPr/>
          </p:nvPicPr>
          <p:blipFill>
            <a:blip r:embed="rId11"/>
            <a:stretch>
              <a:fillRect/>
            </a:stretch>
          </p:blipFill>
          <p:spPr>
            <a:xfrm>
              <a:off x="7932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96" name="Picture 95">
              <a:extLst>
                <a:ext uri="{FF2B5EF4-FFF2-40B4-BE49-F238E27FC236}">
                  <a16:creationId xmlns:a16="http://schemas.microsoft.com/office/drawing/2014/main" id="{51B8802B-63CC-3913-5C5E-CBE3CEE5C679}"/>
                </a:ext>
              </a:extLst>
            </p:cNvPr>
            <p:cNvPicPr>
              <a:picLocks noChangeAspect="1"/>
            </p:cNvPicPr>
            <p:nvPr/>
          </p:nvPicPr>
          <p:blipFill>
            <a:blip r:embed="rId12"/>
            <a:stretch>
              <a:fillRect/>
            </a:stretch>
          </p:blipFill>
          <p:spPr>
            <a:xfrm>
              <a:off x="5646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99" name="Picture 98">
              <a:extLst>
                <a:ext uri="{FF2B5EF4-FFF2-40B4-BE49-F238E27FC236}">
                  <a16:creationId xmlns:a16="http://schemas.microsoft.com/office/drawing/2014/main" id="{64568559-844F-FE37-C370-52F0002F10D8}"/>
                </a:ext>
              </a:extLst>
            </p:cNvPr>
            <p:cNvPicPr>
              <a:picLocks noChangeAspect="1"/>
            </p:cNvPicPr>
            <p:nvPr/>
          </p:nvPicPr>
          <p:blipFill>
            <a:blip r:embed="rId13"/>
            <a:stretch>
              <a:fillRect/>
            </a:stretch>
          </p:blipFill>
          <p:spPr>
            <a:xfrm>
              <a:off x="6027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02" name="Picture 101">
              <a:extLst>
                <a:ext uri="{FF2B5EF4-FFF2-40B4-BE49-F238E27FC236}">
                  <a16:creationId xmlns:a16="http://schemas.microsoft.com/office/drawing/2014/main" id="{6DD0EA55-01E2-5FA2-F59F-40B0A37B93D8}"/>
                </a:ext>
              </a:extLst>
            </p:cNvPr>
            <p:cNvPicPr>
              <a:picLocks noChangeAspect="1"/>
            </p:cNvPicPr>
            <p:nvPr/>
          </p:nvPicPr>
          <p:blipFill>
            <a:blip r:embed="rId14"/>
            <a:stretch>
              <a:fillRect/>
            </a:stretch>
          </p:blipFill>
          <p:spPr>
            <a:xfrm>
              <a:off x="907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05" name="Picture 104">
              <a:extLst>
                <a:ext uri="{FF2B5EF4-FFF2-40B4-BE49-F238E27FC236}">
                  <a16:creationId xmlns:a16="http://schemas.microsoft.com/office/drawing/2014/main" id="{78D74582-2219-078F-47F2-E95A8D6431A5}"/>
                </a:ext>
              </a:extLst>
            </p:cNvPr>
            <p:cNvPicPr>
              <a:picLocks noChangeAspect="1"/>
            </p:cNvPicPr>
            <p:nvPr/>
          </p:nvPicPr>
          <p:blipFill>
            <a:blip r:embed="rId15"/>
            <a:stretch>
              <a:fillRect/>
            </a:stretch>
          </p:blipFill>
          <p:spPr>
            <a:xfrm>
              <a:off x="8313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08" name="Picture 107">
              <a:extLst>
                <a:ext uri="{FF2B5EF4-FFF2-40B4-BE49-F238E27FC236}">
                  <a16:creationId xmlns:a16="http://schemas.microsoft.com/office/drawing/2014/main" id="{9062360C-57ED-C022-5EC7-A12A8005D5CD}"/>
                </a:ext>
              </a:extLst>
            </p:cNvPr>
            <p:cNvPicPr>
              <a:picLocks noChangeAspect="1"/>
            </p:cNvPicPr>
            <p:nvPr/>
          </p:nvPicPr>
          <p:blipFill>
            <a:blip r:embed="rId16"/>
            <a:stretch>
              <a:fillRect/>
            </a:stretch>
          </p:blipFill>
          <p:spPr>
            <a:xfrm>
              <a:off x="869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8" name="Group 147">
            <a:extLst>
              <a:ext uri="{FF2B5EF4-FFF2-40B4-BE49-F238E27FC236}">
                <a16:creationId xmlns:a16="http://schemas.microsoft.com/office/drawing/2014/main" id="{50CC4D80-4475-6AE7-E2B7-52246548CD46}"/>
              </a:ext>
            </a:extLst>
          </p:cNvPr>
          <p:cNvGrpSpPr/>
          <p:nvPr/>
        </p:nvGrpSpPr>
        <p:grpSpPr>
          <a:xfrm>
            <a:off x="4879317" y="4794565"/>
            <a:ext cx="4572000" cy="380992"/>
            <a:chOff x="4879317" y="4794565"/>
            <a:chExt cx="4572000" cy="380992"/>
          </a:xfrm>
        </p:grpSpPr>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11" name="Picture 110">
              <a:extLst>
                <a:ext uri="{FF2B5EF4-FFF2-40B4-BE49-F238E27FC236}">
                  <a16:creationId xmlns:a16="http://schemas.microsoft.com/office/drawing/2014/main" id="{C534399D-250E-CAE1-8FC3-5EAA258E8B78}"/>
                </a:ext>
              </a:extLst>
            </p:cNvPr>
            <p:cNvPicPr>
              <a:picLocks noChangeAspect="1"/>
            </p:cNvPicPr>
            <p:nvPr/>
          </p:nvPicPr>
          <p:blipFill>
            <a:blip r:embed="rId5"/>
            <a:stretch>
              <a:fillRect/>
            </a:stretch>
          </p:blipFill>
          <p:spPr>
            <a:xfrm>
              <a:off x="6027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14" name="Picture 113">
              <a:extLst>
                <a:ext uri="{FF2B5EF4-FFF2-40B4-BE49-F238E27FC236}">
                  <a16:creationId xmlns:a16="http://schemas.microsoft.com/office/drawing/2014/main" id="{EFBD2738-E0DE-87AC-D627-E8844382C5FE}"/>
                </a:ext>
              </a:extLst>
            </p:cNvPr>
            <p:cNvPicPr>
              <a:picLocks noChangeAspect="1"/>
            </p:cNvPicPr>
            <p:nvPr/>
          </p:nvPicPr>
          <p:blipFill>
            <a:blip r:embed="rId6"/>
            <a:stretch>
              <a:fillRect/>
            </a:stretch>
          </p:blipFill>
          <p:spPr>
            <a:xfrm>
              <a:off x="6408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17" name="Picture 116">
              <a:extLst>
                <a:ext uri="{FF2B5EF4-FFF2-40B4-BE49-F238E27FC236}">
                  <a16:creationId xmlns:a16="http://schemas.microsoft.com/office/drawing/2014/main" id="{F7F465E9-0529-D63E-4FB6-6636EA296402}"/>
                </a:ext>
              </a:extLst>
            </p:cNvPr>
            <p:cNvPicPr>
              <a:picLocks noChangeAspect="1"/>
            </p:cNvPicPr>
            <p:nvPr/>
          </p:nvPicPr>
          <p:blipFill>
            <a:blip r:embed="rId7"/>
            <a:stretch>
              <a:fillRect/>
            </a:stretch>
          </p:blipFill>
          <p:spPr>
            <a:xfrm>
              <a:off x="869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20" name="Picture 119">
              <a:extLst>
                <a:ext uri="{FF2B5EF4-FFF2-40B4-BE49-F238E27FC236}">
                  <a16:creationId xmlns:a16="http://schemas.microsoft.com/office/drawing/2014/main" id="{C88C4A54-1441-DB9C-4C08-C677B58E2DB3}"/>
                </a:ext>
              </a:extLst>
            </p:cNvPr>
            <p:cNvPicPr>
              <a:picLocks noChangeAspect="1"/>
            </p:cNvPicPr>
            <p:nvPr/>
          </p:nvPicPr>
          <p:blipFill>
            <a:blip r:embed="rId8"/>
            <a:stretch>
              <a:fillRect/>
            </a:stretch>
          </p:blipFill>
          <p:spPr>
            <a:xfrm>
              <a:off x="7551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23" name="Picture 122">
              <a:extLst>
                <a:ext uri="{FF2B5EF4-FFF2-40B4-BE49-F238E27FC236}">
                  <a16:creationId xmlns:a16="http://schemas.microsoft.com/office/drawing/2014/main" id="{97F61042-3CF3-17DA-E188-54A79DC08D55}"/>
                </a:ext>
              </a:extLst>
            </p:cNvPr>
            <p:cNvPicPr>
              <a:picLocks noChangeAspect="1"/>
            </p:cNvPicPr>
            <p:nvPr/>
          </p:nvPicPr>
          <p:blipFill>
            <a:blip r:embed="rId9"/>
            <a:stretch>
              <a:fillRect/>
            </a:stretch>
          </p:blipFill>
          <p:spPr>
            <a:xfrm>
              <a:off x="526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26" name="Picture 125">
              <a:extLst>
                <a:ext uri="{FF2B5EF4-FFF2-40B4-BE49-F238E27FC236}">
                  <a16:creationId xmlns:a16="http://schemas.microsoft.com/office/drawing/2014/main" id="{A0E371F5-0D59-0C2B-6B24-307E6E522232}"/>
                </a:ext>
              </a:extLst>
            </p:cNvPr>
            <p:cNvPicPr>
              <a:picLocks noChangeAspect="1"/>
            </p:cNvPicPr>
            <p:nvPr/>
          </p:nvPicPr>
          <p:blipFill>
            <a:blip r:embed="rId10"/>
            <a:stretch>
              <a:fillRect/>
            </a:stretch>
          </p:blipFill>
          <p:spPr>
            <a:xfrm>
              <a:off x="488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29" name="Picture 128">
              <a:extLst>
                <a:ext uri="{FF2B5EF4-FFF2-40B4-BE49-F238E27FC236}">
                  <a16:creationId xmlns:a16="http://schemas.microsoft.com/office/drawing/2014/main" id="{D5B3CC37-EF09-2635-E2D4-E54FCB5D266C}"/>
                </a:ext>
              </a:extLst>
            </p:cNvPr>
            <p:cNvPicPr>
              <a:picLocks noChangeAspect="1"/>
            </p:cNvPicPr>
            <p:nvPr/>
          </p:nvPicPr>
          <p:blipFill>
            <a:blip r:embed="rId11"/>
            <a:stretch>
              <a:fillRect/>
            </a:stretch>
          </p:blipFill>
          <p:spPr>
            <a:xfrm>
              <a:off x="5646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32" name="Picture 131">
              <a:extLst>
                <a:ext uri="{FF2B5EF4-FFF2-40B4-BE49-F238E27FC236}">
                  <a16:creationId xmlns:a16="http://schemas.microsoft.com/office/drawing/2014/main" id="{C8EC1A97-E338-94CC-7E5F-6892FCFC4AC8}"/>
                </a:ext>
              </a:extLst>
            </p:cNvPr>
            <p:cNvPicPr>
              <a:picLocks noChangeAspect="1"/>
            </p:cNvPicPr>
            <p:nvPr/>
          </p:nvPicPr>
          <p:blipFill>
            <a:blip r:embed="rId12"/>
            <a:stretch>
              <a:fillRect/>
            </a:stretch>
          </p:blipFill>
          <p:spPr>
            <a:xfrm>
              <a:off x="7170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35" name="Picture 134">
              <a:extLst>
                <a:ext uri="{FF2B5EF4-FFF2-40B4-BE49-F238E27FC236}">
                  <a16:creationId xmlns:a16="http://schemas.microsoft.com/office/drawing/2014/main" id="{0C5DE25B-846E-71E6-8099-DED1598D19A0}"/>
                </a:ext>
              </a:extLst>
            </p:cNvPr>
            <p:cNvPicPr>
              <a:picLocks noChangeAspect="1"/>
            </p:cNvPicPr>
            <p:nvPr/>
          </p:nvPicPr>
          <p:blipFill>
            <a:blip r:embed="rId13"/>
            <a:stretch>
              <a:fillRect/>
            </a:stretch>
          </p:blipFill>
          <p:spPr>
            <a:xfrm>
              <a:off x="8313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38" name="Picture 137">
              <a:extLst>
                <a:ext uri="{FF2B5EF4-FFF2-40B4-BE49-F238E27FC236}">
                  <a16:creationId xmlns:a16="http://schemas.microsoft.com/office/drawing/2014/main" id="{AA74EA65-7F21-9155-B042-04EFE3E9028E}"/>
                </a:ext>
              </a:extLst>
            </p:cNvPr>
            <p:cNvPicPr>
              <a:picLocks noChangeAspect="1"/>
            </p:cNvPicPr>
            <p:nvPr/>
          </p:nvPicPr>
          <p:blipFill>
            <a:blip r:embed="rId14"/>
            <a:stretch>
              <a:fillRect/>
            </a:stretch>
          </p:blipFill>
          <p:spPr>
            <a:xfrm>
              <a:off x="907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41" name="Picture 140">
              <a:extLst>
                <a:ext uri="{FF2B5EF4-FFF2-40B4-BE49-F238E27FC236}">
                  <a16:creationId xmlns:a16="http://schemas.microsoft.com/office/drawing/2014/main" id="{77F4CED9-5205-B36D-6BEA-812ED8A72638}"/>
                </a:ext>
              </a:extLst>
            </p:cNvPr>
            <p:cNvPicPr>
              <a:picLocks noChangeAspect="1"/>
            </p:cNvPicPr>
            <p:nvPr/>
          </p:nvPicPr>
          <p:blipFill>
            <a:blip r:embed="rId15"/>
            <a:stretch>
              <a:fillRect/>
            </a:stretch>
          </p:blipFill>
          <p:spPr>
            <a:xfrm>
              <a:off x="6789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DAE8FC"/>
            </a:solidFill>
            <a:ln w="9525" cap="flat">
              <a:solidFill>
                <a:srgbClr val="6C8EBF"/>
              </a:solidFill>
              <a:prstDash val="solid"/>
              <a:miter/>
            </a:ln>
          </p:spPr>
          <p:txBody>
            <a:bodyPr/>
            <a:lstStyle/>
            <a:p>
              <a:endParaRPr lang="en-US"/>
            </a:p>
          </p:txBody>
        </p:sp>
        <p:pic>
          <p:nvPicPr>
            <p:cNvPr id="144" name="Picture 143">
              <a:extLst>
                <a:ext uri="{FF2B5EF4-FFF2-40B4-BE49-F238E27FC236}">
                  <a16:creationId xmlns:a16="http://schemas.microsoft.com/office/drawing/2014/main" id="{1923DC06-1C6E-B68B-E5FF-94FB3A644604}"/>
                </a:ext>
              </a:extLst>
            </p:cNvPr>
            <p:cNvPicPr>
              <a:picLocks noChangeAspect="1"/>
            </p:cNvPicPr>
            <p:nvPr/>
          </p:nvPicPr>
          <p:blipFill>
            <a:blip r:embed="rId16"/>
            <a:stretch>
              <a:fillRect/>
            </a:stretch>
          </p:blipFill>
          <p:spPr>
            <a:xfrm>
              <a:off x="7932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𝑖</m:t>
                      </m:r>
                      <m:r>
                        <a:rPr lang="en-US" sz="2000" b="0" i="1" smtClean="0">
                          <a:latin typeface="Cambria Math" panose="02040503050406030204" pitchFamily="18" charset="0"/>
                        </a:rPr>
                        <m:t>⋅</m:t>
                      </m:r>
                      <m:r>
                        <a:rPr lang="en-US" sz="2000" b="0" i="1" smtClean="0">
                          <a:latin typeface="Cambria Math" panose="02040503050406030204" pitchFamily="18" charset="0"/>
                        </a:rPr>
                        <m:t>𝑁</m:t>
                      </m:r>
                      <m:r>
                        <a:rPr lang="en-US" sz="2000" b="0" i="1" smtClean="0">
                          <a:latin typeface="Cambria Math" panose="02040503050406030204" pitchFamily="18" charset="0"/>
                        </a:rPr>
                        <m:t>+</m:t>
                      </m:r>
                      <m:r>
                        <a:rPr lang="en-US" sz="2000" b="0" i="1" smtClean="0">
                          <a:latin typeface="Cambria Math" panose="02040503050406030204" pitchFamily="18" charset="0"/>
                        </a:rPr>
                        <m:t>𝑗</m:t>
                      </m:r>
                    </m:oMath>
                  </m:oMathPara>
                </a14:m>
                <a:endParaRPr lang="en-US" sz="200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𝑗</m:t>
                      </m:r>
                      <m:r>
                        <a:rPr lang="en-US" sz="2000" b="0" i="1" smtClean="0">
                          <a:latin typeface="Cambria Math" panose="02040503050406030204" pitchFamily="18" charset="0"/>
                        </a:rPr>
                        <m:t>⋅</m:t>
                      </m:r>
                      <m:r>
                        <a:rPr lang="en-US" sz="2000" b="0" i="1" smtClean="0">
                          <a:latin typeface="Cambria Math" panose="02040503050406030204" pitchFamily="18" charset="0"/>
                        </a:rPr>
                        <m:t>𝑀</m:t>
                      </m:r>
                      <m:r>
                        <a:rPr lang="en-US" sz="2000" b="0" i="1" smtClean="0">
                          <a:latin typeface="Cambria Math" panose="02040503050406030204" pitchFamily="18" charset="0"/>
                        </a:rPr>
                        <m:t>+</m:t>
                      </m:r>
                      <m:r>
                        <a:rPr lang="en-US" sz="2000" b="0" i="1" smtClean="0">
                          <a:latin typeface="Cambria Math" panose="02040503050406030204" pitchFamily="18" charset="0"/>
                        </a:rPr>
                        <m:t>𝑖</m:t>
                      </m:r>
                    </m:oMath>
                  </m:oMathPara>
                </a14:m>
                <a:endParaRPr lang="en-US" sz="200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4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459562" cy="1706429"/>
          </a:xfrm>
          <a:prstGeom prst="rect">
            <a:avLst/>
          </a:prstGeom>
          <a:noFill/>
        </p:spPr>
        <p:txBody>
          <a:bodyPr wrap="squar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squar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𝑚</m:t>
                      </m:r>
                    </m:oMath>
                  </m:oMathPara>
                </a14:m>
                <a:endParaRPr lang="en-US" sz="240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dirty="0" smtClean="0">
                          <a:latin typeface="Cambria Math" panose="02040503050406030204" pitchFamily="18" charset="0"/>
                        </a:rPr>
                        <m:t>𝑛</m:t>
                      </m:r>
                    </m:oMath>
                  </m:oMathPara>
                </a14:m>
                <a:endParaRPr lang="en-US" sz="240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473262" y="1174507"/>
            <a:ext cx="5245475" cy="461665"/>
          </a:xfrm>
          <a:prstGeom prst="rect">
            <a:avLst/>
          </a:prstGeom>
          <a:noFill/>
        </p:spPr>
        <p:txBody>
          <a:bodyPr wrap="none" rtlCol="0">
            <a:spAutoFit/>
          </a:bodyPr>
          <a:lstStyle/>
          <a:p>
            <a:r>
              <a:rPr lang="en-US" sz="2400" dirty="0"/>
              <a:t>Native C++ abstraction (via templates)</a:t>
            </a:r>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square">
            <a:spAutoFit/>
          </a:bodyPr>
          <a:lstStyle/>
          <a:p>
            <a:pPr>
              <a:lnSpc>
                <a:spcPct val="113095"/>
              </a:lnSpc>
              <a:buNone/>
            </a:pP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N</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j</a:t>
            </a:r>
            <a:r>
              <a:rPr lang="en-US" sz="2000" b="0" dirty="0" err="1">
                <a:solidFill>
                  <a:srgbClr val="000000"/>
                </a:solidFill>
                <a:effectLst/>
                <a:latin typeface="Fira Code" panose="020B0809050000020004" pitchFamily="49" charset="0"/>
              </a:rPr>
              <a:t>++</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matrix</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err="1">
                <a:solidFill>
                  <a:srgbClr val="795E26"/>
                </a:solidFill>
                <a:effectLst/>
                <a:latin typeface="Fira Code" panose="020B0809050000020004" pitchFamily="49" charset="0"/>
              </a:rPr>
              <a:t>init</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dirty="0"/>
              <a:t>Traversal-agnostic </a:t>
            </a:r>
            <a:r>
              <a:rPr lang="en-US" sz="2400"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squar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dirty="0"/>
          </a:p>
        </p:txBody>
      </p: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10267829" y="4494662"/>
            <a:ext cx="245269" cy="323451"/>
          </a:xfrm>
          <a:prstGeom prst="rect">
            <a:avLst/>
          </a:prstGeom>
          <a:solidFill>
            <a:srgbClr val="D5E8D4"/>
          </a:solidFill>
          <a:ln w="9525" cap="flat">
            <a:solidFill>
              <a:srgbClr val="82B366"/>
            </a:solidFill>
            <a:prstDash val="solid"/>
            <a:miter/>
          </a:ln>
        </p:spPr>
        <p:txBody>
          <a:bodyPr/>
          <a:lstStyle/>
          <a:p>
            <a:endParaRPr lang="en-US" sz="2400"/>
          </a:p>
        </p:txBody>
      </p:sp>
      <p:sp>
        <p:nvSpPr>
          <p:cNvPr id="46" name="Rectangle 45">
            <a:extLst>
              <a:ext uri="{FF2B5EF4-FFF2-40B4-BE49-F238E27FC236}">
                <a16:creationId xmlns:a16="http://schemas.microsoft.com/office/drawing/2014/main" id="{911B9DBE-6587-8382-9E03-37F6BAC2D133}"/>
              </a:ext>
            </a:extLst>
          </p:cNvPr>
          <p:cNvSpPr/>
          <p:nvPr/>
        </p:nvSpPr>
        <p:spPr>
          <a:xfrm>
            <a:off x="10267828" y="5327291"/>
            <a:ext cx="245269" cy="318591"/>
          </a:xfrm>
          <a:prstGeom prst="rect">
            <a:avLst/>
          </a:prstGeom>
          <a:solidFill>
            <a:srgbClr val="DAE8FC"/>
          </a:solidFill>
          <a:ln w="9525" cap="flat">
            <a:solidFill>
              <a:srgbClr val="6C8EBF"/>
            </a:solidFill>
            <a:prstDash val="solid"/>
            <a:miter/>
          </a:ln>
        </p:spPr>
        <p:txBody>
          <a:bodyPr/>
          <a:lstStyle/>
          <a:p>
            <a:endParaRPr lang="en-US" sz="2400"/>
          </a:p>
        </p:txBody>
      </p:sp>
      <p:sp>
        <p:nvSpPr>
          <p:cNvPr id="47" name="Rectangle 46">
            <a:extLst>
              <a:ext uri="{FF2B5EF4-FFF2-40B4-BE49-F238E27FC236}">
                <a16:creationId xmlns:a16="http://schemas.microsoft.com/office/drawing/2014/main" id="{68983F2C-1668-52BB-B4F9-C612E7B2F10A}"/>
              </a:ext>
            </a:extLst>
          </p:cNvPr>
          <p:cNvSpPr/>
          <p:nvPr/>
        </p:nvSpPr>
        <p:spPr>
          <a:xfrm>
            <a:off x="10267828" y="4913407"/>
            <a:ext cx="245269" cy="318590"/>
          </a:xfrm>
          <a:prstGeom prst="rect">
            <a:avLst/>
          </a:prstGeom>
          <a:solidFill>
            <a:srgbClr val="F8CECC"/>
          </a:solidFill>
          <a:ln w="9525" cap="flat">
            <a:solidFill>
              <a:srgbClr val="B85450"/>
            </a:solidFill>
            <a:prstDash val="solid"/>
            <a:miter/>
          </a:ln>
        </p:spPr>
        <p:txBody>
          <a:bodyPr/>
          <a:lstStyle/>
          <a:p>
            <a:endParaRPr lang="en-US" sz="2400"/>
          </a:p>
        </p:txBody>
      </p:sp>
      <p:sp>
        <p:nvSpPr>
          <p:cNvPr id="19" name="Rectangle 18">
            <a:extLst>
              <a:ext uri="{FF2B5EF4-FFF2-40B4-BE49-F238E27FC236}">
                <a16:creationId xmlns:a16="http://schemas.microsoft.com/office/drawing/2014/main" id="{B800FBA5-1D37-3DF6-701A-70896D275692}"/>
              </a:ext>
            </a:extLst>
          </p:cNvPr>
          <p:cNvSpPr/>
          <p:nvPr/>
        </p:nvSpPr>
        <p:spPr>
          <a:xfrm>
            <a:off x="4068095" y="5546877"/>
            <a:ext cx="222808" cy="279329"/>
          </a:xfrm>
          <a:prstGeom prst="rect">
            <a:avLst/>
          </a:prstGeom>
          <a:solidFill>
            <a:srgbClr val="DAE8FC"/>
          </a:solidFill>
          <a:ln w="9525" cap="flat">
            <a:solidFill>
              <a:srgbClr val="6C8EBF"/>
            </a:solidFill>
            <a:prstDash val="solid"/>
            <a:miter/>
          </a:ln>
        </p:spPr>
        <p:txBody>
          <a:bodyPr/>
          <a:lstStyle/>
          <a:p>
            <a:endParaRPr lang="en-US" sz="2400"/>
          </a:p>
        </p:txBody>
      </p:sp>
      <p:sp>
        <p:nvSpPr>
          <p:cNvPr id="13" name="Rectangle 12">
            <a:extLst>
              <a:ext uri="{FF2B5EF4-FFF2-40B4-BE49-F238E27FC236}">
                <a16:creationId xmlns:a16="http://schemas.microsoft.com/office/drawing/2014/main" id="{666A78F4-88C1-5BB5-A720-F8E1C747C4A4}"/>
              </a:ext>
            </a:extLst>
          </p:cNvPr>
          <p:cNvSpPr/>
          <p:nvPr/>
        </p:nvSpPr>
        <p:spPr>
          <a:xfrm>
            <a:off x="3605646" y="5546877"/>
            <a:ext cx="222808" cy="279329"/>
          </a:xfrm>
          <a:prstGeom prst="rect">
            <a:avLst/>
          </a:prstGeom>
          <a:solidFill>
            <a:srgbClr val="F8CECC"/>
          </a:solidFill>
          <a:ln w="9525" cap="flat">
            <a:solidFill>
              <a:srgbClr val="B85450"/>
            </a:solidFill>
            <a:prstDash val="solid"/>
            <a:miter/>
          </a:ln>
        </p:spPr>
        <p:txBody>
          <a:bodyPr/>
          <a:lstStyle/>
          <a:p>
            <a:endParaRPr lang="en-US" sz="2400"/>
          </a:p>
        </p:txBody>
      </p:sp>
      <p:sp>
        <p:nvSpPr>
          <p:cNvPr id="11" name="Rectangle 10">
            <a:extLst>
              <a:ext uri="{FF2B5EF4-FFF2-40B4-BE49-F238E27FC236}">
                <a16:creationId xmlns:a16="http://schemas.microsoft.com/office/drawing/2014/main" id="{45C6B551-6774-AC99-228E-D1F7AAF62B05}"/>
              </a:ext>
            </a:extLst>
          </p:cNvPr>
          <p:cNvSpPr/>
          <p:nvPr/>
        </p:nvSpPr>
        <p:spPr>
          <a:xfrm>
            <a:off x="3152728" y="5546876"/>
            <a:ext cx="222807" cy="279329"/>
          </a:xfrm>
          <a:prstGeom prst="rect">
            <a:avLst/>
          </a:prstGeom>
          <a:solidFill>
            <a:srgbClr val="D5E8D4"/>
          </a:solidFill>
          <a:ln w="9525" cap="flat">
            <a:solidFill>
              <a:srgbClr val="82B366"/>
            </a:solidFill>
            <a:prstDash val="solid"/>
            <a:miter/>
          </a:ln>
        </p:spPr>
        <p:txBody>
          <a:bodyPr/>
          <a:lstStyle/>
          <a:p>
            <a:endParaRPr lang="en-US" sz="240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5462412" y="2355314"/>
            <a:ext cx="6525363" cy="1472070"/>
          </a:xfrm>
          <a:prstGeom prst="rect">
            <a:avLst/>
          </a:prstGeom>
          <a:noFill/>
          <a:ln>
            <a:solidFill>
              <a:schemeClr val="tx1"/>
            </a:solidFill>
          </a:ln>
        </p:spPr>
        <p:txBody>
          <a:bodyPr wrap="squar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j</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N</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j</a:t>
            </a:r>
            <a:r>
              <a:rPr lang="en-US" sz="2000" dirty="0" err="1">
                <a:solidFill>
                  <a:srgbClr val="000000"/>
                </a:solidFill>
                <a:latin typeface="Fira Code" panose="020B0809050000020004" pitchFamily="49" charset="0"/>
              </a:rPr>
              <a:t>++</a:t>
            </a:r>
            <a:r>
              <a:rPr lang="en-US" sz="2000" dirty="0">
                <a:solidFill>
                  <a:srgbClr val="000000"/>
                </a:solidFill>
                <a:latin typeface="Fira Code" panose="020B0809050000020004" pitchFamily="49" charset="0"/>
              </a:rPr>
              <a:t>)</a:t>
            </a:r>
          </a:p>
          <a:p>
            <a:pPr>
              <a:lnSpc>
                <a:spcPct val="113095"/>
              </a:lnSpc>
              <a:buNone/>
            </a:pPr>
            <a:r>
              <a:rPr lang="en-US" sz="2000" b="0" dirty="0">
                <a:solidFill>
                  <a:srgbClr val="AF00DB"/>
                </a:solidFill>
                <a:effectLst/>
                <a:latin typeface="Fira Code" panose="020B0809050000020004" pitchFamily="49" charset="0"/>
              </a:rPr>
              <a:t>    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M</a:t>
            </a:r>
            <a:r>
              <a:rPr lang="en-US" sz="2000" b="0" dirty="0">
                <a:solidFill>
                  <a:srgbClr val="000000"/>
                </a:solidFill>
                <a:effectLst/>
                <a:latin typeface="Fira Code" panose="020B0809050000020004" pitchFamily="49" charset="0"/>
              </a:rPr>
              <a:t>; </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AF00DB"/>
                </a:solidFill>
                <a:effectLst/>
                <a:latin typeface="Fira Code" panose="020B0809050000020004" pitchFamily="49" charset="0"/>
              </a:rPr>
              <a:t>for</a:t>
            </a:r>
            <a:r>
              <a:rPr lang="en-US" sz="2000" b="0" dirty="0">
                <a:solidFill>
                  <a:srgbClr val="000000"/>
                </a:solidFill>
                <a:effectLst/>
                <a:latin typeface="Fira Code" panose="020B0809050000020004" pitchFamily="49" charset="0"/>
              </a:rPr>
              <a:t> (</a:t>
            </a:r>
            <a:r>
              <a:rPr lang="en-US" sz="2000" b="0" dirty="0">
                <a:solidFill>
                  <a:srgbClr val="0000FF"/>
                </a:solidFill>
                <a:effectLst/>
                <a:latin typeface="Fira Code" panose="020B0809050000020004" pitchFamily="49" charset="0"/>
              </a:rPr>
              <a:t>int</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98658"/>
                </a:solidFill>
                <a:effectLst/>
                <a:latin typeface="Fira Code" panose="020B0809050000020004" pitchFamily="49" charset="0"/>
              </a:rPr>
              <a:t>0</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&lt; </a:t>
            </a:r>
            <a:r>
              <a:rPr lang="en-US" sz="2000" b="0" dirty="0">
                <a:solidFill>
                  <a:srgbClr val="0070C1"/>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p>
          <a:p>
            <a:pPr>
              <a:lnSpc>
                <a:spcPct val="113095"/>
              </a:lnSpc>
              <a:buNone/>
            </a:pPr>
            <a:r>
              <a:rPr lang="en-US" sz="2000" b="0" dirty="0">
                <a:solidFill>
                  <a:srgbClr val="000000"/>
                </a:solidFill>
                <a:effectLst/>
                <a:latin typeface="Fira Code" panose="020B0809050000020004" pitchFamily="49" charset="0"/>
              </a:rPr>
              <a:t>            </a:t>
            </a:r>
            <a:r>
              <a:rPr lang="en-US" sz="2000" b="0" dirty="0">
                <a:solidFill>
                  <a:srgbClr val="001080"/>
                </a:solidFill>
                <a:effectLst/>
                <a:latin typeface="Fira Code" panose="020B0809050000020004" pitchFamily="49" charset="0"/>
              </a:rPr>
              <a:t>C</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A</a:t>
            </a:r>
            <a:r>
              <a:rPr lang="en-US" sz="2000" b="0" dirty="0">
                <a:solidFill>
                  <a:srgbClr val="000000"/>
                </a:solidFill>
                <a:effectLst/>
                <a:latin typeface="Fira Code" panose="020B0809050000020004" pitchFamily="49" charset="0"/>
              </a:rPr>
              <a:t>[</a:t>
            </a:r>
            <a:r>
              <a:rPr lang="en-US" sz="2000" b="0" dirty="0" err="1">
                <a:solidFill>
                  <a:srgbClr val="001080"/>
                </a:solidFill>
                <a:effectLst/>
                <a:latin typeface="Fira Code" panose="020B0809050000020004" pitchFamily="49" charset="0"/>
              </a:rPr>
              <a:t>i</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 * </a:t>
            </a:r>
            <a:r>
              <a:rPr lang="en-US" sz="2000" b="0" dirty="0">
                <a:solidFill>
                  <a:srgbClr val="001080"/>
                </a:solidFill>
                <a:effectLst/>
                <a:latin typeface="Fira Code" panose="020B0809050000020004" pitchFamily="49" charset="0"/>
              </a:rPr>
              <a:t>B</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k</a:t>
            </a:r>
            <a:r>
              <a:rPr lang="en-US" sz="2000" b="0" dirty="0">
                <a:solidFill>
                  <a:srgbClr val="000000"/>
                </a:solidFill>
                <a:effectLst/>
                <a:latin typeface="Fira Code" panose="020B0809050000020004" pitchFamily="49" charset="0"/>
              </a:rPr>
              <a:t>][</a:t>
            </a:r>
            <a:r>
              <a:rPr lang="en-US" sz="2000" b="0" dirty="0">
                <a:solidFill>
                  <a:srgbClr val="001080"/>
                </a:solidFill>
                <a:effectLst/>
                <a:latin typeface="Fira Code" panose="020B0809050000020004" pitchFamily="49" charset="0"/>
              </a:rPr>
              <a:t>j</a:t>
            </a:r>
            <a:r>
              <a:rPr lang="en-US" sz="20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7192643" y="4882343"/>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7" name="Rectangle 16">
            <a:extLst>
              <a:ext uri="{FF2B5EF4-FFF2-40B4-BE49-F238E27FC236}">
                <a16:creationId xmlns:a16="http://schemas.microsoft.com/office/drawing/2014/main" id="{0E5347DA-3F5A-6C6C-F424-88F41C72727D}"/>
              </a:ext>
            </a:extLst>
          </p:cNvPr>
          <p:cNvSpPr/>
          <p:nvPr/>
        </p:nvSpPr>
        <p:spPr>
          <a:xfrm>
            <a:off x="7192643" y="4540880"/>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Rectangle 19">
            <a:extLst>
              <a:ext uri="{FF2B5EF4-FFF2-40B4-BE49-F238E27FC236}">
                <a16:creationId xmlns:a16="http://schemas.microsoft.com/office/drawing/2014/main" id="{8BB2AD3C-93CE-6E6C-6024-6CF36DA40579}"/>
              </a:ext>
            </a:extLst>
          </p:cNvPr>
          <p:cNvSpPr/>
          <p:nvPr/>
        </p:nvSpPr>
        <p:spPr>
          <a:xfrm>
            <a:off x="7192643" y="4193714"/>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9E2F7AA6-5F7F-99DE-465E-A4472E5548CB}"/>
              </a:ext>
            </a:extLst>
          </p:cNvPr>
          <p:cNvSpPr txBox="1"/>
          <p:nvPr/>
        </p:nvSpPr>
        <p:spPr>
          <a:xfrm>
            <a:off x="1565505" y="4089155"/>
            <a:ext cx="8291159" cy="251543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b="0" noProof="0" dirty="0" err="1">
                <a:solidFill>
                  <a:srgbClr val="000000"/>
                </a:solidFill>
                <a:effectLst/>
                <a:latin typeface="Fira Code" panose="020B0809050000020004" pitchFamily="49" charset="0"/>
              </a:rPr>
              <a:t>,</a:t>
            </a:r>
            <a:r>
              <a:rPr lang="en-US" sz="2000" noProof="0" dirty="0" err="1">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noProof="0" dirty="0">
                <a:solidFill>
                  <a:srgbClr val="A31515"/>
                </a:solidFill>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pPr>
            <a:r>
              <a:rPr lang="en-US" sz="2000" noProof="0" dirty="0">
                <a:solidFill>
                  <a:srgbClr val="267F99"/>
                </a:solidFill>
                <a:latin typeface="Fira Code" panose="020B0809050000020004" pitchFamily="49" charset="0"/>
              </a:rPr>
              <a:t>auto</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C</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bag</a:t>
            </a:r>
            <a:r>
              <a:rPr lang="en-US" sz="2000" noProof="0" dirty="0">
                <a:solidFill>
                  <a:srgbClr val="000000"/>
                </a:solidFill>
                <a:latin typeface="Fira Code" panose="020B0809050000020004" pitchFamily="49" charset="0"/>
              </a:rPr>
              <a:t>(</a:t>
            </a:r>
            <a:r>
              <a:rPr lang="en-US" sz="2000" noProof="0" dirty="0">
                <a:solidFill>
                  <a:srgbClr val="267F99"/>
                </a:solidFill>
                <a:latin typeface="Fira Code" panose="020B0809050000020004" pitchFamily="49" charset="0"/>
              </a:rPr>
              <a:t>scalar</a:t>
            </a:r>
            <a:r>
              <a:rPr lang="en-US" sz="2000" noProof="0" dirty="0">
                <a:solidFill>
                  <a:srgbClr val="000000"/>
                </a:solidFill>
                <a:latin typeface="Fira Code" panose="020B0809050000020004" pitchFamily="49" charset="0"/>
              </a:rPr>
              <a:t>&lt;</a:t>
            </a:r>
            <a:r>
              <a:rPr lang="en-US" sz="2000" noProof="0" dirty="0">
                <a:solidFill>
                  <a:srgbClr val="0000FF"/>
                </a:solidFill>
                <a:latin typeface="Fira Code" panose="020B0809050000020004" pitchFamily="49" charset="0"/>
              </a:rPr>
              <a:t>float</a:t>
            </a:r>
            <a:r>
              <a:rPr lang="en-US" sz="2000" noProof="0" dirty="0">
                <a:solidFill>
                  <a:srgbClr val="000000"/>
                </a:solidFill>
                <a:latin typeface="Fira Code" panose="020B0809050000020004" pitchFamily="49" charset="0"/>
              </a:rPr>
              <a:t>&gt;()</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vectors</a:t>
            </a:r>
            <a:r>
              <a:rPr lang="en-US" sz="600" noProof="0" dirty="0">
                <a:solidFill>
                  <a:srgbClr val="795E26"/>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M</a:t>
            </a:r>
            <a:r>
              <a:rPr lang="en-US" sz="2000" noProof="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2641591" y="4143314"/>
            <a:ext cx="7126173" cy="1047946"/>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dirty="0" smtClean="0">
                              <a:latin typeface="Cambria Math" panose="02040503050406030204" pitchFamily="18" charset="0"/>
                            </a:rPr>
                            <m:t>𝑚</m:t>
                          </m:r>
                        </m:oMath>
                      </m:oMathPara>
                    </a14:m>
                    <a:endParaRPr lang="en-US" sz="200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𝑚</m:t>
                          </m:r>
                        </m:oMath>
                      </m:oMathPara>
                    </a14:m>
                    <a:endParaRPr lang="en-US" sz="200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610717" y="1125777"/>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𝑖𝑗</m:t>
                          </m:r>
                        </m:sub>
                      </m:sSub>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𝑘</m:t>
                          </m:r>
                          <m:r>
                            <m:rPr>
                              <m:brk m:alnAt="23"/>
                            </m:rPr>
                            <a:rPr lang="en-US" sz="2000" b="0" i="1" smtClean="0">
                              <a:latin typeface="Cambria Math" panose="02040503050406030204" pitchFamily="18" charset="0"/>
                            </a:rPr>
                            <m:t>=</m:t>
                          </m:r>
                          <m:r>
                            <m:rPr>
                              <m:brk m:alnAt="23"/>
                            </m:rPr>
                            <a:rPr lang="en-US" sz="2000" b="0" i="1" smtClean="0">
                              <a:latin typeface="Cambria Math" panose="02040503050406030204" pitchFamily="18" charset="0"/>
                            </a:rPr>
                            <m:t>0</m:t>
                          </m:r>
                        </m:sub>
                        <m:sup>
                          <m:r>
                            <a:rPr lang="en-US" sz="2000" b="0" i="1" smtClean="0">
                              <a:latin typeface="Cambria Math" panose="02040503050406030204" pitchFamily="18" charset="0"/>
                            </a:rPr>
                            <m:t>𝐾</m:t>
                          </m:r>
                          <m:r>
                            <a:rPr lang="en-US" sz="2000" b="0" i="1" smtClean="0">
                              <a:latin typeface="Cambria Math" panose="02040503050406030204" pitchFamily="18" charset="0"/>
                            </a:rPr>
                            <m:t>−1</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𝐴</m:t>
                              </m:r>
                            </m:e>
                            <m:sub>
                              <m:r>
                                <a:rPr lang="en-US" sz="2000" b="0" i="1" smtClean="0">
                                  <a:latin typeface="Cambria Math" panose="02040503050406030204" pitchFamily="18" charset="0"/>
                                </a:rPr>
                                <m:t>𝑖𝑘</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𝐵</m:t>
                              </m:r>
                            </m:e>
                            <m:sub>
                              <m:r>
                                <a:rPr lang="en-US" sz="2000" b="0" i="1" smtClean="0">
                                  <a:latin typeface="Cambria Math" panose="02040503050406030204" pitchFamily="18" charset="0"/>
                                </a:rPr>
                                <m:t>𝑘𝑗</m:t>
                              </m:r>
                            </m:sub>
                          </m:sSub>
                        </m:e>
                      </m:nary>
                    </m:oMath>
                  </m:oMathPara>
                </a14:m>
                <a:endParaRPr lang="en-US" sz="200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610717" y="1125777"/>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16200000" flipH="1">
            <a:off x="8589366" y="2219586"/>
            <a:ext cx="271454"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087205" y="2451265"/>
            <a:ext cx="261771" cy="3014009"/>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10194804" y="4399369"/>
                <a:ext cx="1508618" cy="1384995"/>
              </a:xfrm>
              <a:prstGeom prst="rect">
                <a:avLst/>
              </a:prstGeom>
              <a:noFill/>
            </p:spPr>
            <p:txBody>
              <a:bodyPr wrap="none" rtlCol="0">
                <a:spAutoFit/>
              </a:bodyPr>
              <a:lstStyle/>
              <a:p>
                <a:r>
                  <a:rPr lang="en-US" sz="2800" dirty="0">
                    <a:solidFill>
                      <a:srgbClr val="001080"/>
                    </a:solidFill>
                    <a:latin typeface="Fira Code" panose="020B0809050000020004" pitchFamily="49" charset="0"/>
                  </a:rPr>
                  <a:t>A</a:t>
                </a:r>
                <a:r>
                  <a:rPr lang="en-US" sz="2800" dirty="0"/>
                  <a:t>: </a:t>
                </a:r>
                <a14:m>
                  <m:oMath xmlns:m="http://schemas.openxmlformats.org/officeDocument/2006/math">
                    <m:r>
                      <a:rPr lang="en-US" sz="2800" b="0" i="1" smtClean="0"/>
                      <m:t>𝑚</m:t>
                    </m:r>
                    <m:r>
                      <a:rPr lang="en-US" sz="2800" b="0" i="1" smtClean="0"/>
                      <m:t>×</m:t>
                    </m:r>
                    <m:r>
                      <a:rPr lang="en-US" sz="2800" b="0" i="1" smtClean="0"/>
                      <m:t>𝑘</m:t>
                    </m:r>
                  </m:oMath>
                </a14:m>
                <a:endParaRPr lang="en-US" sz="2800" b="0" dirty="0"/>
              </a:p>
              <a:p>
                <a:r>
                  <a:rPr lang="en-US" sz="2800" dirty="0">
                    <a:solidFill>
                      <a:srgbClr val="001080"/>
                    </a:solidFill>
                    <a:latin typeface="Fira Code" panose="020B0809050000020004" pitchFamily="49" charset="0"/>
                  </a:rPr>
                  <a:t>B</a:t>
                </a:r>
                <a:r>
                  <a:rPr lang="en-US" sz="2800" dirty="0"/>
                  <a:t>: </a:t>
                </a:r>
                <a14:m>
                  <m:oMath xmlns:m="http://schemas.openxmlformats.org/officeDocument/2006/math">
                    <m:r>
                      <m:rPr>
                        <m:sty m:val="p"/>
                      </m:rPr>
                      <a:rPr lang="en-US" sz="2800" dirty="0"/>
                      <m:t>k</m:t>
                    </m:r>
                    <m:r>
                      <a:rPr lang="en-US" sz="2800" i="1"/>
                      <m:t>×</m:t>
                    </m:r>
                    <m:r>
                      <a:rPr lang="en-US" sz="2800" i="1"/>
                      <m:t>𝑛</m:t>
                    </m:r>
                  </m:oMath>
                </a14:m>
                <a:endParaRPr lang="en-US" sz="2800" dirty="0"/>
              </a:p>
              <a:p>
                <a:r>
                  <a:rPr lang="en-US" sz="2800" dirty="0">
                    <a:solidFill>
                      <a:srgbClr val="001080"/>
                    </a:solidFill>
                    <a:latin typeface="Fira Code" panose="020B0809050000020004" pitchFamily="49" charset="0"/>
                  </a:rPr>
                  <a:t>C</a:t>
                </a:r>
                <a:r>
                  <a:rPr lang="en-US" sz="2800" dirty="0"/>
                  <a:t>: </a:t>
                </a:r>
                <a14:m>
                  <m:oMath xmlns:m="http://schemas.openxmlformats.org/officeDocument/2006/math">
                    <m:r>
                      <a:rPr lang="en-US" sz="2800" i="1"/>
                      <m:t>𝑚</m:t>
                    </m:r>
                    <m:r>
                      <a:rPr lang="en-US" sz="2800" i="1"/>
                      <m:t>×</m:t>
                    </m:r>
                    <m:r>
                      <a:rPr lang="en-US" sz="2800" i="1"/>
                      <m:t>𝑛</m:t>
                    </m:r>
                  </m:oMath>
                </a14:m>
                <a:endParaRPr lang="en-US" sz="280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10194804" y="4399369"/>
                <a:ext cx="1508618" cy="1384995"/>
              </a:xfrm>
              <a:prstGeom prst="rect">
                <a:avLst/>
              </a:prstGeom>
              <a:blipFill>
                <a:blip r:embed="rId12"/>
                <a:stretch>
                  <a:fillRect l="-8065" t="-528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1064217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F2118018-0BAA-9CA8-C6F1-FC0D7AF4E40D}"/>
              </a:ext>
            </a:extLst>
          </p:cNvPr>
          <p:cNvSpPr/>
          <p:nvPr/>
        </p:nvSpPr>
        <p:spPr>
          <a:xfrm>
            <a:off x="1128468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FA30D08-7546-1C19-C43C-639429F560C8}"/>
              </a:ext>
            </a:extLst>
          </p:cNvPr>
          <p:cNvSpPr/>
          <p:nvPr/>
        </p:nvSpPr>
        <p:spPr>
          <a:xfrm>
            <a:off x="11183081" y="4921614"/>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5" grpId="0" animBg="1"/>
      <p:bldP spid="17" grpId="0" animBg="1"/>
      <p:bldP spid="20" grpId="0" animBg="1"/>
      <p:bldP spid="8" grpId="0" animBg="1"/>
      <p:bldP spid="25" grpId="0" animBg="1"/>
      <p:bldP spid="44" grpId="0"/>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422427" cy="545746"/>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586414" cy="545746"/>
                    </a:xfrm>
                    <a:prstGeom prst="rect">
                      <a:avLst/>
                    </a:prstGeom>
                    <a:noFill/>
                  </p:spPr>
                  <p:txBody>
                    <a:bodyPr wrap="none" rtlCol="0">
                      <a:spAutoFit/>
                    </a:bodyPr>
                    <a:lstStyle/>
                    <a:p>
                      <a:pPr/>
                      <a14:m>
                        <m:oMathPara xmlns:m="http://schemas.openxmlformats.org/officeDocument/2006/math">
                          <m:oMath>
                            <m:r>
                              <a:rPr lang="en-US" sz="2000" b="0" i="1" smtClean="0">
                                <a:latin typeface="Cambria Math" panose="02040503050406030204" pitchFamily="18" charset="0"/>
                              </a:rPr>
                              <m:t>=</m:t>
                            </m:r>
                          </m:oMath>
                        </m:oMathPara>
                      </a14:m>
                      <a:endParaRPr lang="en-US" sz="200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586414" cy="545746"/>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dirty="0" smtClean="0">
                                <a:latin typeface="Cambria Math" panose="02040503050406030204" pitchFamily="18" charset="0"/>
                              </a:rPr>
                              <m:t>𝑚</m:t>
                            </m:r>
                          </m:oMath>
                        </m:oMathPara>
                      </a14:m>
                      <a:endParaRPr lang="en-US" sz="2000"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𝑘</m:t>
                            </m:r>
                          </m:oMath>
                        </m:oMathPara>
                      </a14:m>
                      <a:endParaRPr lang="en-US" sz="2000"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𝑚</m:t>
                            </m:r>
                          </m:oMath>
                        </m:oMathPara>
                      </a14:m>
                      <a:endParaRPr lang="en-US" sz="2000"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dirty="0" smtClean="0">
                                <a:latin typeface="Cambria Math" panose="02040503050406030204" pitchFamily="18" charset="0"/>
                              </a:rPr>
                              <m:t>𝑛</m:t>
                            </m:r>
                          </m:oMath>
                        </m:oMathPara>
                      </a14:m>
                      <a:endParaRPr lang="en-US" sz="2000"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square">
            <a:spAutoFit/>
          </a:bodyPr>
          <a:lstStyle/>
          <a:p>
            <a:pPr>
              <a:lnSpc>
                <a:spcPct val="113095"/>
              </a:lnSpc>
              <a:buNone/>
            </a:pPr>
            <a:r>
              <a:rPr lang="en-US" sz="200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2"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dirty="0"/>
              <a:t>CPU</a:t>
            </a:r>
          </a:p>
          <a:p>
            <a:pPr lvl="1"/>
            <a:r>
              <a:rPr lang="en-US" dirty="0"/>
              <a:t>OpenMP</a:t>
            </a:r>
          </a:p>
          <a:p>
            <a:pPr marL="457200" lvl="1" indent="0">
              <a:buNone/>
            </a:pPr>
            <a:r>
              <a:rPr lang="en-US" dirty="0" err="1">
                <a:solidFill>
                  <a:srgbClr val="795E26"/>
                </a:solidFill>
                <a:latin typeface="Fira Code" panose="020B0809050000020004" pitchFamily="49" charset="0"/>
              </a:rPr>
              <a:t>omp_for_each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endParaRPr lang="en-US" dirty="0"/>
          </a:p>
          <a:p>
            <a:pPr lvl="1"/>
            <a:endParaRPr lang="en-US" dirty="0"/>
          </a:p>
          <a:p>
            <a:pPr lvl="1"/>
            <a:r>
              <a:rPr lang="en-US" dirty="0" err="1"/>
              <a:t>oneTBB</a:t>
            </a:r>
            <a:endParaRPr lang="en-US" dirty="0"/>
          </a:p>
          <a:p>
            <a:pPr marL="457200" lvl="1" indent="0">
              <a:buNone/>
            </a:pPr>
            <a:r>
              <a:rPr lang="en-US" dirty="0" err="1">
                <a:solidFill>
                  <a:srgbClr val="795E26"/>
                </a:solidFill>
                <a:latin typeface="Fira Code" panose="020B0809050000020004" pitchFamily="49" charset="0"/>
              </a:rPr>
              <a:t>tbb_for_each</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 …)</a:t>
            </a:r>
            <a:r>
              <a:rPr lang="en-US" dirty="0"/>
              <a:t>	</a:t>
            </a:r>
          </a:p>
          <a:p>
            <a:endParaRPr lang="en-US" dirty="0"/>
          </a:p>
          <a:p>
            <a:r>
              <a:rPr lang="en-US" dirty="0"/>
              <a:t>GPU</a:t>
            </a:r>
          </a:p>
          <a:p>
            <a:pPr marL="457200" lvl="1" indent="0">
              <a:buNone/>
            </a:pPr>
            <a:r>
              <a:rPr lang="en-US" dirty="0" err="1">
                <a:solidFill>
                  <a:srgbClr val="001080"/>
                </a:solidFill>
                <a:latin typeface="Fira Code" panose="020B0809050000020004" pitchFamily="49" charset="0"/>
              </a:rPr>
              <a:t>cuda_traverser</a:t>
            </a:r>
            <a:r>
              <a:rPr lang="en-US" dirty="0">
                <a:latin typeface="Fira Code" panose="020B0809050000020004" pitchFamily="49" charset="0"/>
              </a:rPr>
              <a:t> = </a:t>
            </a:r>
            <a:r>
              <a:rPr lang="en-US" dirty="0" err="1">
                <a:solidFill>
                  <a:srgbClr val="795E26"/>
                </a:solidFill>
                <a:latin typeface="Fira Code" panose="020B0809050000020004" pitchFamily="49" charset="0"/>
              </a:rPr>
              <a:t>cuda_threads</a:t>
            </a:r>
            <a:r>
              <a:rPr lang="en-US" sz="400" dirty="0">
                <a:solidFill>
                  <a:srgbClr val="795E26"/>
                </a:solidFill>
                <a:latin typeface="Fira Code" panose="020B0809050000020004" pitchFamily="49" charset="0"/>
              </a:rPr>
              <a:t> </a:t>
            </a:r>
            <a:r>
              <a:rPr lang="en-US" dirty="0">
                <a:latin typeface="Fira Code" panose="020B0809050000020004" pitchFamily="49" charset="0"/>
              </a:rPr>
              <a:t>&lt;</a:t>
            </a:r>
            <a:r>
              <a:rPr lang="en-US" dirty="0">
                <a:solidFill>
                  <a:srgbClr val="FF0000"/>
                </a:solidFill>
                <a:latin typeface="Fira Code" panose="020B0809050000020004" pitchFamily="49" charset="0"/>
              </a:rPr>
              <a:t>'</a:t>
            </a:r>
            <a:r>
              <a:rPr lang="en-US" dirty="0" err="1">
                <a:solidFill>
                  <a:srgbClr val="FF0000"/>
                </a:solidFill>
                <a:latin typeface="Fira Code" panose="020B0809050000020004" pitchFamily="49" charset="0"/>
              </a:rPr>
              <a:t>t'</a:t>
            </a:r>
            <a:r>
              <a:rPr lang="en-US" dirty="0" err="1">
                <a:latin typeface="Fira Code" panose="020B0809050000020004" pitchFamily="49" charset="0"/>
              </a:rPr>
              <a:t>,</a:t>
            </a:r>
            <a:r>
              <a:rPr lang="en-US" dirty="0" err="1">
                <a:solidFill>
                  <a:srgbClr val="FF0000"/>
                </a:solidFill>
                <a:latin typeface="Fira Code" panose="020B0809050000020004" pitchFamily="49" charset="0"/>
              </a:rPr>
              <a:t>'b</a:t>
            </a:r>
            <a:r>
              <a:rPr lang="en-US" dirty="0">
                <a:solidFill>
                  <a:srgbClr val="FF0000"/>
                </a:solidFill>
                <a:latin typeface="Fira Code" panose="020B0809050000020004" pitchFamily="49" charset="0"/>
              </a:rPr>
              <a:t>'</a:t>
            </a:r>
            <a:r>
              <a:rPr lang="en-US" dirty="0">
                <a:latin typeface="Fira Code" panose="020B0809050000020004" pitchFamily="49" charset="0"/>
              </a:rPr>
              <a:t>&gt;</a:t>
            </a:r>
            <a:r>
              <a:rPr lang="en-US" sz="400" dirty="0">
                <a:latin typeface="Fira Code" panose="020B0809050000020004" pitchFamily="49" charset="0"/>
              </a:rPr>
              <a:t> </a:t>
            </a:r>
            <a:r>
              <a:rPr lang="en-US" dirty="0">
                <a:latin typeface="Fira Code" panose="020B0809050000020004" pitchFamily="49" charset="0"/>
              </a:rPr>
              <a:t>(</a:t>
            </a:r>
            <a:r>
              <a:rPr lang="en-US" dirty="0">
                <a:solidFill>
                  <a:srgbClr val="001080"/>
                </a:solidFill>
                <a:latin typeface="Fira Code" panose="020B0809050000020004" pitchFamily="49" charset="0"/>
              </a:rPr>
              <a:t>traverser</a:t>
            </a:r>
            <a:r>
              <a:rPr lang="en-US" dirty="0">
                <a:latin typeface="Fira Code" panose="020B0809050000020004" pitchFamily="49" charset="0"/>
              </a:rPr>
              <a:t>)</a:t>
            </a:r>
          </a:p>
          <a:p>
            <a:pPr marL="457200" lvl="1" indent="0">
              <a:buNone/>
            </a:pPr>
            <a:r>
              <a:rPr lang="en-US" dirty="0" err="1">
                <a:solidFill>
                  <a:srgbClr val="001080"/>
                </a:solidFill>
                <a:latin typeface="Fira Code" panose="020B0809050000020004" pitchFamily="49" charset="0"/>
              </a:rPr>
              <a:t>cuda_traverser</a:t>
            </a:r>
            <a:r>
              <a:rPr lang="en-US" dirty="0" err="1">
                <a:latin typeface="Fira Code" panose="020B0809050000020004" pitchFamily="49" charset="0"/>
              </a:rPr>
              <a:t>.</a:t>
            </a:r>
            <a:r>
              <a:rPr lang="en-US" dirty="0" err="1">
                <a:solidFill>
                  <a:srgbClr val="795E26"/>
                </a:solidFill>
                <a:latin typeface="Fira Code" panose="020B0809050000020004" pitchFamily="49" charset="0"/>
              </a:rPr>
              <a:t>simple_run</a:t>
            </a:r>
            <a:r>
              <a:rPr lang="en-US" dirty="0">
                <a:latin typeface="Fira Code" panose="020B0809050000020004" pitchFamily="49" charset="0"/>
              </a:rPr>
              <a:t>(…)</a:t>
            </a:r>
            <a:endParaRPr lang="en-US"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19622" y="2284938"/>
            <a:ext cx="2407303" cy="842437"/>
          </a:xfrm>
          <a:prstGeom prst="wedgeRoundRectCallout">
            <a:avLst>
              <a:gd name="adj1" fmla="val 54139"/>
              <a:gd name="adj2" fmla="val -3935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Tile</a:t>
            </a:r>
            <a:r>
              <a:rPr lang="en-US" sz="1600" dirty="0"/>
              <a:t> </a:t>
            </a:r>
            <a:r>
              <a:rPr lang="en-US" sz="2400" dirty="0"/>
              <a:t>size</a:t>
            </a:r>
            <a:r>
              <a:rPr lang="en-US" sz="1600" dirty="0"/>
              <a:t> </a:t>
            </a:r>
            <a:r>
              <a:rPr lang="en-US" sz="2400" dirty="0"/>
              <a:t>for</a:t>
            </a:r>
            <a:r>
              <a:rPr lang="en-US" sz="1600" dirty="0"/>
              <a:t> </a:t>
            </a:r>
            <a:r>
              <a:rPr lang="en-US" sz="2400" dirty="0"/>
              <a:t>tiling</a:t>
            </a:r>
            <a:br>
              <a:rPr lang="en-US" sz="2400" dirty="0"/>
            </a:br>
            <a:endParaRPr lang="en-US" sz="240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23210" y="1348548"/>
            <a:ext cx="2407305" cy="842437"/>
          </a:xfrm>
          <a:prstGeom prst="wedgeRoundRectCallout">
            <a:avLst>
              <a:gd name="adj1" fmla="val 54538"/>
              <a:gd name="adj2" fmla="val 2562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t>Choice</a:t>
            </a:r>
            <a:r>
              <a:rPr lang="en-US" sz="1600" dirty="0"/>
              <a:t> </a:t>
            </a:r>
            <a:r>
              <a:rPr lang="en-US" sz="2400" dirty="0"/>
              <a:t>of</a:t>
            </a:r>
            <a:r>
              <a:rPr lang="en-US" sz="1600" dirty="0"/>
              <a:t> </a:t>
            </a:r>
            <a:r>
              <a:rPr lang="en-US" sz="2400" dirty="0"/>
              <a:t>layout</a:t>
            </a:r>
          </a:p>
          <a:p>
            <a:pPr algn="ctr"/>
            <a:endParaRPr lang="en-US" sz="240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656391" y="1571605"/>
            <a:ext cx="2543412" cy="396321"/>
          </a:xfrm>
          <a:prstGeom prst="wedgeRoundRectCallout">
            <a:avLst>
              <a:gd name="adj1" fmla="val -53824"/>
              <a:gd name="adj2" fmla="val 2933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656391" y="2414044"/>
            <a:ext cx="2543412" cy="396321"/>
          </a:xfrm>
          <a:prstGeom prst="wedgeRoundRectCallout">
            <a:avLst>
              <a:gd name="adj1" fmla="val -53454"/>
              <a:gd name="adj2" fmla="val -3498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Numerical value</a:t>
            </a:r>
            <a:endParaRPr lang="en-US" sz="240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85469" y="1769766"/>
            <a:ext cx="2824662" cy="461665"/>
          </a:xfrm>
          <a:prstGeom prst="rect">
            <a:avLst/>
          </a:prstGeom>
          <a:noFill/>
        </p:spPr>
        <p:txBody>
          <a:bodyPr wrap="square">
            <a:spAutoFit/>
          </a:bodyPr>
          <a:lstStyle/>
          <a:p>
            <a:pPr algn="ctr"/>
            <a:r>
              <a:rPr lang="en-US" sz="2400" dirty="0">
                <a:latin typeface="Fira Code" panose="020B0809050000020004" pitchFamily="49" charset="0"/>
                <a:ea typeface="Fira Code" panose="020B0809050000020004" pitchFamily="49" charset="0"/>
                <a:cs typeface="Fira Code" panose="020B0809050000020004" pitchFamily="49" charset="0"/>
              </a:rPr>
              <a:t>#if</a:t>
            </a:r>
            <a:r>
              <a:rPr lang="en-US" sz="900" dirty="0">
                <a:latin typeface="Fira Code" panose="020B0809050000020004" pitchFamily="49" charset="0"/>
                <a:ea typeface="Fira Code" panose="020B0809050000020004" pitchFamily="49" charset="0"/>
                <a:cs typeface="Fira Code" panose="020B0809050000020004" pitchFamily="49" charset="0"/>
              </a:rPr>
              <a:t> </a:t>
            </a:r>
            <a:r>
              <a:rPr lang="en-US" sz="2400" dirty="0">
                <a:latin typeface="Fira Code" panose="020B0809050000020004" pitchFamily="49" charset="0"/>
                <a:ea typeface="Fira Code" panose="020B0809050000020004" pitchFamily="49" charset="0"/>
                <a:cs typeface="Fira Code" panose="020B0809050000020004" pitchFamily="49" charset="0"/>
              </a:rPr>
              <a:t>CHOICE</a:t>
            </a:r>
            <a:r>
              <a:rPr lang="en-US" sz="900" dirty="0">
                <a:latin typeface="Fira Code" panose="020B0809050000020004" pitchFamily="49" charset="0"/>
                <a:ea typeface="Fira Code" panose="020B0809050000020004" pitchFamily="49" charset="0"/>
                <a:cs typeface="Fira Code" panose="020B0809050000020004" pitchFamily="49" charset="0"/>
              </a:rPr>
              <a:t> </a:t>
            </a:r>
            <a:r>
              <a:rPr lang="en-US" sz="2400" dirty="0">
                <a:latin typeface="Fira Code" panose="020B0809050000020004" pitchFamily="49" charset="0"/>
                <a:ea typeface="Fira Code" panose="020B0809050000020004" pitchFamily="49" charset="0"/>
                <a:cs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2400" dirty="0">
                <a:latin typeface="Fira Code" panose="020B0809050000020004" pitchFamily="49" charset="0"/>
                <a:ea typeface="Fira Code" panose="020B0809050000020004" pitchFamily="49" charset="0"/>
                <a:cs typeface="Fira Code" panose="020B0809050000020004" pitchFamily="49" charset="0"/>
              </a:rPr>
              <a:t>=</a:t>
            </a:r>
            <a:r>
              <a:rPr lang="en-US" sz="900" dirty="0">
                <a:latin typeface="Fira Code" panose="020B0809050000020004" pitchFamily="49" charset="0"/>
                <a:ea typeface="Fira Code" panose="020B0809050000020004" pitchFamily="49" charset="0"/>
                <a:cs typeface="Fira Code" panose="020B0809050000020004" pitchFamily="49" charset="0"/>
              </a:rPr>
              <a:t> </a:t>
            </a:r>
            <a:r>
              <a:rPr lang="en-US" sz="240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0" y="2665710"/>
            <a:ext cx="2446546" cy="461665"/>
          </a:xfrm>
          <a:prstGeom prst="rect">
            <a:avLst/>
          </a:prstGeom>
          <a:noFill/>
        </p:spPr>
        <p:txBody>
          <a:bodyPr wrap="square">
            <a:spAutoFit/>
          </a:bodyPr>
          <a:lstStyle/>
          <a:p>
            <a:pPr algn="ctr"/>
            <a:r>
              <a:rPr lang="en-US" sz="2400" dirty="0"/>
              <a:t>I</a:t>
            </a:r>
            <a:r>
              <a:rPr lang="en-US" sz="1000" dirty="0"/>
              <a:t> </a:t>
            </a:r>
            <a:r>
              <a:rPr lang="en-US" sz="2400" dirty="0"/>
              <a:t>+=</a:t>
            </a:r>
            <a:r>
              <a:rPr lang="en-US" sz="1000" dirty="0"/>
              <a:t> </a:t>
            </a:r>
            <a:r>
              <a:rPr lang="en-US" sz="2400" dirty="0"/>
              <a:t>TILE_SIZE</a:t>
            </a:r>
            <a:endParaRPr lang="en-US" sz="24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22" name="Flowchart: Process 21">
            <a:extLst>
              <a:ext uri="{FF2B5EF4-FFF2-40B4-BE49-F238E27FC236}">
                <a16:creationId xmlns:a16="http://schemas.microsoft.com/office/drawing/2014/main" id="{E9BDDB53-4662-041D-2276-7B45295B7518}"/>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24" name="Flowchart: Process 23">
            <a:extLst>
              <a:ext uri="{FF2B5EF4-FFF2-40B4-BE49-F238E27FC236}">
                <a16:creationId xmlns:a16="http://schemas.microsoft.com/office/drawing/2014/main" id="{84D8475D-C4B4-DE3C-4641-D78673634326}"/>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26" name="Arrow: Left-Right 25">
            <a:extLst>
              <a:ext uri="{FF2B5EF4-FFF2-40B4-BE49-F238E27FC236}">
                <a16:creationId xmlns:a16="http://schemas.microsoft.com/office/drawing/2014/main" id="{5719DD8E-923E-F6C0-609A-234CC594A82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28" name="Right Brace 27">
            <a:extLst>
              <a:ext uri="{FF2B5EF4-FFF2-40B4-BE49-F238E27FC236}">
                <a16:creationId xmlns:a16="http://schemas.microsoft.com/office/drawing/2014/main" id="{8A1FB7D0-88F3-E9A7-A662-9D792D1791B3}"/>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29" name="TextBox 28">
            <a:extLst>
              <a:ext uri="{FF2B5EF4-FFF2-40B4-BE49-F238E27FC236}">
                <a16:creationId xmlns:a16="http://schemas.microsoft.com/office/drawing/2014/main" id="{511A49BC-6C46-EC35-218A-3122DF501028}"/>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6199549-C2F9-0F20-FD16-454B08B67F83}"/>
              </a:ext>
            </a:extLst>
          </p:cNvPr>
          <p:cNvGrpSpPr/>
          <p:nvPr/>
        </p:nvGrpSpPr>
        <p:grpSpPr>
          <a:xfrm>
            <a:off x="4663797" y="324095"/>
            <a:ext cx="7413728" cy="3871387"/>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129296" cy="2167645"/>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8685169" cy="2167645"/>
          </a:xfrm>
          <a:prstGeom prst="rect">
            <a:avLst/>
          </a:prstGeom>
          <a:noFill/>
        </p:spPr>
        <p:txBody>
          <a:bodyPr wrap="square">
            <a:sp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endParaRPr lang="en-US" sz="2000" noProof="0" dirty="0">
              <a:solidFill>
                <a:srgbClr val="000000"/>
              </a:solidFill>
              <a:latin typeface="Fira Code" panose="020B0809050000020004" pitchFamily="49" charset="0"/>
            </a:endParaRPr>
          </a:p>
          <a:p>
            <a:pPr>
              <a:lnSpc>
                <a:spcPct val="113095"/>
              </a:lnSpc>
              <a:buNone/>
            </a:pPr>
            <a:r>
              <a:rPr lang="en-US" sz="2000" b="0" noProof="0" dirty="0" err="1">
                <a:solidFill>
                  <a:srgbClr val="001080"/>
                </a:solidFill>
                <a:effectLst/>
                <a:latin typeface="Fira Code" panose="020B0809050000020004" pitchFamily="49" charset="0"/>
              </a:rPr>
              <a:t>MPItrav</a:t>
            </a:r>
            <a:r>
              <a:rPr lang="en-US" sz="2000" dirty="0">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dirty="0">
                <a:solidFill>
                  <a:srgbClr val="000000"/>
                </a:solidFill>
                <a:effectLst/>
                <a:latin typeface="Aptos" panose="020B0004020202020204" pitchFamily="34" charset="0"/>
                <a:ea typeface="+mn-ea"/>
                <a:cs typeface="+mn-cs"/>
              </a:rPr>
              <a:t>ours</a:t>
            </a:r>
            <a:endParaRPr lang="en-US" sz="280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dirty="0">
                <a:solidFill>
                  <a:srgbClr val="C00000"/>
                </a:solidFill>
                <a:effectLst/>
                <a:latin typeface="Aptos" panose="020B0004020202020204" pitchFamily="34" charset="0"/>
                <a:ea typeface="+mn-ea"/>
                <a:cs typeface="+mn-cs"/>
              </a:rPr>
              <a:t>naive</a:t>
            </a:r>
            <a:endParaRPr lang="en-US" sz="280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dirty="0">
                <a:solidFill>
                  <a:srgbClr val="000000"/>
                </a:solidFill>
                <a:effectLst/>
                <a:latin typeface="Aptos" panose="020B0004020202020204" pitchFamily="34" charset="0"/>
                <a:ea typeface="+mn-ea"/>
                <a:cs typeface="+mn-cs"/>
              </a:rPr>
              <a:t>logical ordering</a:t>
            </a:r>
            <a:endParaRPr lang="en-US" sz="240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dirty="0">
                <a:solidFill>
                  <a:srgbClr val="C00000"/>
                </a:solidFill>
                <a:effectLst/>
                <a:latin typeface="Aptos" panose="020B0004020202020204" pitchFamily="34" charset="0"/>
                <a:ea typeface="+mn-ea"/>
                <a:cs typeface="+mn-cs"/>
              </a:rPr>
              <a:t>physical layout</a:t>
            </a:r>
            <a:endParaRPr lang="en-US" sz="240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7ABEED"/>
            </a:solidFill>
            <a:ln w="19050"/>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ln w="19050"/>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dirty="0"/>
                <a:t>Same for </a:t>
              </a:r>
              <a:r>
                <a:rPr lang="en-US" sz="2000" dirty="0" err="1">
                  <a:solidFill>
                    <a:srgbClr val="795E26"/>
                  </a:solidFill>
                  <a:latin typeface="Fira Code" panose="020B0809050000020004" pitchFamily="49" charset="0"/>
                </a:rPr>
                <a:t>bcast</a:t>
              </a:r>
              <a:r>
                <a:rPr lang="en-US" sz="2000" dirty="0"/>
                <a:t>, </a:t>
              </a:r>
              <a:r>
                <a:rPr lang="en-US" sz="2000" dirty="0">
                  <a:solidFill>
                    <a:srgbClr val="795E26"/>
                  </a:solidFill>
                  <a:latin typeface="Fira Code" panose="020B0809050000020004" pitchFamily="49" charset="0"/>
                </a:rPr>
                <a:t>scatter</a:t>
              </a:r>
              <a:r>
                <a:rPr lang="en-US" sz="2000" dirty="0"/>
                <a:t>, </a:t>
              </a:r>
              <a:r>
                <a:rPr lang="en-US" sz="2000" dirty="0">
                  <a:solidFill>
                    <a:srgbClr val="795E26"/>
                  </a:solidFill>
                  <a:latin typeface="Fira Code" panose="020B0809050000020004" pitchFamily="49" charset="0"/>
                </a:rPr>
                <a:t>gather</a:t>
              </a:r>
              <a:r>
                <a:rPr lang="en-US" sz="200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7ABEED"/>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rgbClr val="0D1717"/>
              </a:solidFill>
              <a:prstDash val="solid"/>
              <a:miter/>
            </a:ln>
          </p:spPr>
          <p:txBody>
            <a:bodyPr anchor="ctr"/>
            <a:lstStyle/>
            <a:p>
              <a:pPr algn="ctr"/>
              <a:r>
                <a:rPr lang="en-US" sz="240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dirty="0" err="1"/>
                <a:t>Collegue</a:t>
              </a:r>
              <a:r>
                <a:rPr lang="en-US" sz="240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5225579" cy="3318028"/>
            <a:chOff x="118662" y="3398116"/>
            <a:chExt cx="522557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899383"/>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squar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a:t>
              </a:r>
              <a:r>
                <a:rPr lang="en-US" sz="2400" noProof="0" dirty="0" err="1">
                  <a:ea typeface="Fira Code" panose="020B0809050000020004" pitchFamily="49" charset="0"/>
                  <a:cs typeface="Fira Code" panose="020B0809050000020004" pitchFamily="49" charset="0"/>
                </a:rPr>
                <a:t>Cellato</a:t>
              </a:r>
              <a:r>
                <a:rPr lang="en-US" sz="2400" noProof="0" dirty="0">
                  <a:ea typeface="Fira Code" panose="020B0809050000020004" pitchFamily="49" charset="0"/>
                  <a:cs typeface="Fira Code" panose="020B0809050000020004" pitchFamily="49" charset="0"/>
                </a:rPr>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617508" cy="2167645"/>
          </a:xfrm>
          <a:prstGeom prst="rect">
            <a:avLst/>
          </a:prstGeom>
          <a:noFill/>
          <a:ln>
            <a:solidFill>
              <a:schemeClr val="tx1"/>
            </a:solidFill>
          </a:ln>
        </p:spPr>
        <p:txBody>
          <a:bodyPr wrap="squar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00090" y="2405746"/>
            <a:ext cx="977462" cy="968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a:t>
            </a:r>
            <a:r>
              <a:rPr lang="en-US" sz="2400" noProof="0" dirty="0" err="1"/>
              <a:t>Cellato</a:t>
            </a:r>
            <a:r>
              <a:rPr lang="en-US" sz="2400" noProof="0" dirty="0"/>
              <a:t>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dirty="0"/>
              <a:t>Already prepared</a:t>
            </a:r>
            <a:br>
              <a:rPr lang="en-US" sz="2400" dirty="0"/>
            </a:br>
            <a:r>
              <a:rPr lang="en-US" sz="240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191" y="6114784"/>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670528" y="521647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32549" y="579161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dirty="0"/>
              <a:t>Would abstractions help LLMs</a:t>
            </a:r>
            <a:br>
              <a:rPr lang="en-US" sz="2800" dirty="0"/>
            </a:br>
            <a:r>
              <a:rPr lang="en-US" sz="28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489544" y="3744795"/>
            <a:ext cx="1717472"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070522" y="4624640"/>
            <a:ext cx="1686131"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103226" y="566078"/>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defPPr>
              <a:defRPr lang="en-US"/>
            </a:defPPr>
            <a:lvl1pPr algn="ctr">
              <a:defRPr sz="2400"/>
            </a:lvl1pPr>
          </a:lstStyle>
          <a:p>
            <a:r>
              <a:rPr lang="en-US" sz="280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234151" y="23019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3893672" y="2845393"/>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350642" y="3959149"/>
            <a:ext cx="3180935" cy="461665"/>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348280" y="3370297"/>
            <a:ext cx="691032" cy="37449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039312" y="3370297"/>
            <a:ext cx="874276" cy="125434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flipH="1">
            <a:off x="9985081" y="1089298"/>
            <a:ext cx="612305" cy="1212643"/>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89298"/>
            <a:ext cx="4108297" cy="609981"/>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4941110" y="4420814"/>
            <a:ext cx="3730412" cy="483771"/>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24785" y="3244289"/>
            <a:ext cx="2007034" cy="1313559"/>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123888" cy="844241"/>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sp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55319" y="459122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915" y="3667354"/>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25547" y="2853336"/>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78121" y="2867246"/>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72227" y="3815400"/>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33641" y="4003059"/>
            <a:ext cx="373844" cy="37384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3844" cy="37384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505304" y="3008758"/>
            <a:ext cx="373844" cy="37384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95140" y="484797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28085" y="3954139"/>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5949129" y="2308284"/>
            <a:ext cx="539960" cy="53710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5949129" y="2599746"/>
            <a:ext cx="2285022" cy="24564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95132" y="277601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dirty="0"/>
              <a:t>GPU </a:t>
            </a:r>
            <a:r>
              <a:rPr lang="en-US" sz="2200" dirty="0" err="1"/>
              <a:t>EmbedSOM</a:t>
            </a:r>
            <a:endParaRPr lang="en-US" sz="220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dirty="0"/>
              <a:t>Bitwise encoding of </a:t>
            </a:r>
            <a:r>
              <a:rPr lang="en-US" sz="2200" dirty="0" err="1"/>
              <a:t>GoL</a:t>
            </a:r>
            <a:endParaRPr lang="en-US" sz="220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dirty="0" err="1"/>
              <a:t>kNN</a:t>
            </a:r>
            <a:r>
              <a:rPr lang="en-US" sz="2200" b="1" dirty="0"/>
              <a:t> with </a:t>
            </a:r>
            <a:r>
              <a:rPr lang="en-US" sz="2200" b="1" dirty="0" err="1"/>
              <a:t>bitonic</a:t>
            </a:r>
            <a:r>
              <a:rPr lang="en-US" sz="2200"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dirty="0"/>
              <a:t>Bit-Planes – CA </a:t>
            </a:r>
            <a:r>
              <a:rPr lang="en-US" sz="2200" b="1" dirty="0" err="1"/>
              <a:t>abstr</a:t>
            </a:r>
            <a:r>
              <a:rPr lang="en-US" sz="2200" b="1"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dirty="0" err="1"/>
              <a:t>Noarr</a:t>
            </a:r>
            <a:endParaRPr lang="en-US" sz="2200" dirty="0"/>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dirty="0" err="1"/>
              <a:t>Cellato</a:t>
            </a:r>
            <a:endParaRPr lang="en-US" sz="2200" dirty="0"/>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7565713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901880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4137525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6195</TotalTime>
  <Words>6055</Words>
  <Application>Microsoft Office PowerPoint</Application>
  <PresentationFormat>Widescreen</PresentationFormat>
  <Paragraphs>823</Paragraphs>
  <Slides>39</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444</cp:revision>
  <dcterms:created xsi:type="dcterms:W3CDTF">2026-08-08T18:10:38Z</dcterms:created>
  <dcterms:modified xsi:type="dcterms:W3CDTF">2026-09-02T20:55:54Z</dcterms:modified>
</cp:coreProperties>
</file>