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93" r:id="rId3"/>
    <p:sldId id="277" r:id="rId4"/>
    <p:sldId id="296" r:id="rId5"/>
    <p:sldId id="297" r:id="rId6"/>
    <p:sldId id="298" r:id="rId7"/>
    <p:sldId id="283" r:id="rId8"/>
    <p:sldId id="284" r:id="rId9"/>
    <p:sldId id="285" r:id="rId10"/>
    <p:sldId id="278" r:id="rId11"/>
    <p:sldId id="300" r:id="rId12"/>
    <p:sldId id="286" r:id="rId13"/>
    <p:sldId id="290" r:id="rId14"/>
    <p:sldId id="279" r:id="rId15"/>
    <p:sldId id="287" r:id="rId16"/>
    <p:sldId id="302" r:id="rId17"/>
    <p:sldId id="280" r:id="rId18"/>
    <p:sldId id="310" r:id="rId19"/>
    <p:sldId id="295" r:id="rId20"/>
    <p:sldId id="288" r:id="rId21"/>
    <p:sldId id="305" r:id="rId22"/>
    <p:sldId id="291" r:id="rId23"/>
    <p:sldId id="306" r:id="rId24"/>
    <p:sldId id="307" r:id="rId25"/>
    <p:sldId id="308" r:id="rId26"/>
    <p:sldId id="309" r:id="rId27"/>
    <p:sldId id="311" r:id="rId28"/>
    <p:sldId id="266" r:id="rId29"/>
    <p:sldId id="312" r:id="rId30"/>
    <p:sldId id="262" r:id="rId31"/>
    <p:sldId id="299"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98"/>
            <p14:sldId id="283"/>
            <p14:sldId id="284"/>
            <p14:sldId id="285"/>
            <p14:sldId id="278"/>
            <p14:sldId id="300"/>
            <p14:sldId id="286"/>
            <p14:sldId id="290"/>
            <p14:sldId id="279"/>
            <p14:sldId id="287"/>
            <p14:sldId id="302"/>
            <p14:sldId id="280"/>
            <p14:sldId id="310"/>
          </p14:sldIdLst>
        </p14:section>
        <p14:section name="llms" id="{2FE3CF17-CBFB-48E9-A3BF-DD99B7D2F01E}">
          <p14:sldIdLst>
            <p14:sldId id="295"/>
            <p14:sldId id="288"/>
            <p14:sldId id="305"/>
            <p14:sldId id="291"/>
            <p14:sldId id="306"/>
            <p14:sldId id="307"/>
            <p14:sldId id="308"/>
            <p14:sldId id="309"/>
            <p14:sldId id="311"/>
          </p14:sldIdLst>
        </p14:section>
        <p14:section name="summary" id="{D3BAAF83-51D3-4EFD-B7CC-7BA6DAC4A838}">
          <p14:sldIdLst>
            <p14:sldId id="266"/>
            <p14:sldId id="312"/>
          </p14:sldIdLst>
        </p14:section>
        <p14:section name="Reviewers' comments" id="{40190F67-0659-405D-810E-4AC194B72FA5}">
          <p14:sldIdLst>
            <p14:sldId id="262"/>
          </p14:sldIdLst>
        </p14:section>
        <p14:section name="supplementary" id="{5D95F6E9-DF15-476C-BE69-BBEF48AA8B86}">
          <p14:sldIdLst>
            <p14:sldId id="29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9A19"/>
    <a:srgbClr val="2E7B9E"/>
    <a:srgbClr val="A53535"/>
    <a:srgbClr val="A74747"/>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86509" autoAdjust="0"/>
  </p:normalViewPr>
  <p:slideViewPr>
    <p:cSldViewPr snapToGrid="0">
      <p:cViewPr varScale="1">
        <p:scale>
          <a:sx n="137" d="100"/>
          <a:sy n="137" d="100"/>
        </p:scale>
        <p:origin x="2496" y="13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These algorithms often contain multidimensional structures and computation in regular loops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endParaRPr lang="en-US" dirty="0"/>
          </a:p>
          <a:p>
            <a:r>
              <a:rPr lang="en-US" dirty="0"/>
              <a:t>Even simple data structures such as matrices can be stored in many different ways, such as:</a:t>
            </a:r>
          </a:p>
          <a:p>
            <a:pPr marL="171450" indent="-171450">
              <a:buFontTx/>
              <a:buChar char="-"/>
            </a:pPr>
            <a:r>
              <a:rPr lang="en-US" dirty="0"/>
              <a:t>row-major, which stores the rows of elements sequentially</a:t>
            </a:r>
          </a:p>
          <a:p>
            <a:pPr marL="171450" indent="-171450">
              <a:buFontTx/>
              <a:buChar char="-"/>
            </a:pPr>
            <a:r>
              <a:rPr lang="en-US" dirty="0"/>
              <a:t>Column-major, which stores the columns sequentially</a:t>
            </a:r>
          </a:p>
          <a:p>
            <a:pPr marL="0" indent="0">
              <a:buFontTx/>
              <a:buNone/>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cool things that can help explain some MPI stuff etc. later on; but they are cool on their own too)</a:t>
            </a:r>
          </a:p>
          <a:p>
            <a:endParaRPr lang="en-US" dirty="0"/>
          </a:p>
          <a:p>
            <a:r>
              <a:rPr lang="en-US" dirty="0"/>
              <a:t>The design of the layout abstractions allows us to easily compose simple transformations into more complicated ones and then apply them to some base structure. This is possible due to the full associativity of the composition.</a:t>
            </a:r>
          </a:p>
          <a:p>
            <a:endParaRPr lang="en-US" dirty="0"/>
          </a:p>
          <a:p>
            <a:r>
              <a:rPr lang="en-US" dirty="0"/>
              <a:t>We can also leave out specific sizes of the transformations and thus define abstract layouts that can be later instantiated with specific sizes.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4013070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Handle communication with the autotuning framework</a:t>
            </a:r>
          </a:p>
          <a:p>
            <a:pPr marL="171450" indent="-171450">
              <a:buFontTx/>
              <a:buChar char="-"/>
            </a:pPr>
            <a:r>
              <a:rPr lang="en-US" dirty="0"/>
              <a:t>Define the parameter on the </a:t>
            </a:r>
            <a:r>
              <a:rPr lang="en-US" dirty="0" err="1"/>
              <a:t>autotuner’s</a:t>
            </a:r>
            <a:r>
              <a:rPr lang="en-US" dirty="0"/>
              <a:t> side</a:t>
            </a:r>
          </a:p>
          <a:p>
            <a:pPr marL="0" indent="0">
              <a:buFontTx/>
              <a:buNone/>
            </a:pPr>
            <a:endParaRPr lang="en-US" dirty="0"/>
          </a:p>
          <a:p>
            <a:pPr marL="0" indent="0">
              <a:buFontTx/>
              <a:buNone/>
            </a:pPr>
            <a:r>
              <a:rPr lang="en-US" dirty="0"/>
              <a:t>This creates unnecessary amount of boilerplate definitions and communication specification that is difficult to maintain and easy to make mistakes in.</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endParaRPr lang="en-US" dirty="0"/>
          </a:p>
          <a:p>
            <a:r>
              <a:rPr lang="en-US" dirty="0"/>
              <a:t>Since the specification is independent of the autotuning backend, this also makes switching between different autotuning frameworks easy.</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as the abstraction encodes more information overall (such as names of dimensions), but contains slightly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(perhaps due to optimization).</a:t>
            </a:r>
          </a:p>
          <a:p>
            <a:r>
              <a:rPr lang="en-US" dirty="0"/>
              <a:t>If this was done naively. the MPI backend would corrupt the data by preserving the physical layout and not the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to various state-of-the-art C++ bindings for MPI in terms of how they manage to seamlessly enable layout-agnostic communication of data over MPI.</a:t>
            </a:r>
          </a:p>
          <a:p>
            <a:endParaRPr lang="en-US" dirty="0"/>
          </a:p>
          <a:p>
            <a:r>
              <a:rPr lang="en-US" dirty="0"/>
              <a:t>Our approach is the only one that automatically handles differing physical layouts on opposite endpoints of communication (as shown on the previous slide),</a:t>
            </a:r>
          </a:p>
          <a:p>
            <a:r>
              <a:rPr lang="en-US" dirty="0"/>
              <a:t>And it also handles general multidimensional data layouts.</a:t>
            </a:r>
          </a:p>
          <a:p>
            <a:endParaRPr lang="en-US" dirty="0"/>
          </a:p>
          <a:p>
            <a:r>
              <a:rPr lang="en-US" dirty="0"/>
              <a:t>And, in terms of performance, it does not add overhead compared to a hand-written native MPI distributed computation.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cellular automata simulation; what is going 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cellular automata simulation.</a:t>
            </a:r>
          </a:p>
          <a:p>
            <a:r>
              <a:rPr lang="en-US" dirty="0"/>
              <a:t>It is used for modelling various systems such as fluid dynamics or material sciences.</a:t>
            </a:r>
          </a:p>
          <a:p>
            <a:endParaRPr lang="en-US" dirty="0"/>
          </a:p>
          <a:p>
            <a:r>
              <a:rPr lang="en-US" dirty="0"/>
              <a:t>They are computed on regular grids where each cell has one of a limited number of possible states;</a:t>
            </a:r>
          </a:p>
          <a:p>
            <a:r>
              <a:rPr lang="en-US" dirty="0"/>
              <a:t>The grid is updated in discrete time steps by applying a neighborhood-based rule to each cell.</a:t>
            </a:r>
          </a:p>
          <a:p>
            <a:endParaRPr lang="en-US" dirty="0"/>
          </a:p>
          <a:p>
            <a:r>
              <a:rPr lang="en-US" dirty="0"/>
              <a:t>The rule can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a:t>
            </a:r>
          </a:p>
          <a:p>
            <a:pPr marL="171450" indent="-171450">
              <a:buFontTx/>
              <a:buChar char="-"/>
            </a:pPr>
            <a:r>
              <a:rPr lang="en-US" dirty="0"/>
              <a:t>Memory Layouts that specify how the grid and the single cells are encoded</a:t>
            </a:r>
          </a:p>
          <a:p>
            <a:pPr marL="171450" indent="-171450">
              <a:buFontTx/>
              <a:buChar char="-"/>
            </a:pPr>
            <a:r>
              <a:rPr lang="en-US" dirty="0"/>
              <a:t>Evaluators that specify how the update rules should be computed on the specific Memory Layouts</a:t>
            </a:r>
          </a:p>
          <a:p>
            <a:pPr marL="171450" indent="-171450">
              <a:buFontTx/>
              <a:buChar char="-"/>
            </a:pPr>
            <a:r>
              <a:rPr lang="en-US" dirty="0"/>
              <a:t>And Traversers that specify the evaluation order as well as parallelization of the computation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 have shown that the abstractions offer a practical solution to parallel CPU and GPU, as well as distributed computations in High-Performance Computing,</a:t>
            </a:r>
          </a:p>
          <a:p>
            <a:r>
              <a:rPr lang="en-US" dirty="0"/>
              <a:t>And enable even stronger optimizations for specific domains, such as Cellular Automata simulation</a:t>
            </a:r>
          </a:p>
          <a:p>
            <a:endParaRPr lang="en-US" dirty="0"/>
          </a:p>
          <a:p>
            <a:r>
              <a:rPr lang="en-US" dirty="0"/>
              <a:t>These abstractions make the developed algorithms easier to manage, more flexible to transform, and allow automatic application of advanced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r>
              <a:rPr lang="en-US" dirty="0"/>
              <a:t>After extending our earlier work to cover distributed computing as well and adapting it for a specific domain,</a:t>
            </a:r>
          </a:p>
          <a:p>
            <a:r>
              <a:rPr lang="en-US" dirty="0"/>
              <a:t>We have started to do research in a different approach for simplifying HPC algorithm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work reacts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the time of the beginning of our research in this area, LLM models were capable of implementing simple algorithms (like data visualization, simple scripting, </a:t>
            </a:r>
            <a:r>
              <a:rPr lang="en-US" dirty="0" err="1"/>
              <a:t>etc</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not yet that competent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In our first work in this area, we focused on CUDA code generation, which was one of the challenging areas for the contemporary LLMs; more specifically,</a:t>
            </a:r>
            <a:br>
              <a:rPr lang="en-US" dirty="0"/>
            </a:br>
            <a:r>
              <a:rPr lang="en-US" dirty="0"/>
              <a:t>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GPT-o3-mini, a </a:t>
            </a:r>
            <a:r>
              <a:rPr lang="en-US" dirty="0" err="1"/>
              <a:t>SotA</a:t>
            </a:r>
            <a:r>
              <a:rPr lang="en-US" dirty="0"/>
              <a:t> LLM model at that time, generated progressively better code,</a:t>
            </a:r>
            <a:br>
              <a:rPr lang="en-US" dirty="0"/>
            </a:br>
            <a:r>
              <a:rPr lang="en-US" dirty="0"/>
              <a:t>but for the k-Nearest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(on the y-axis), lower is better;</a:t>
            </a:r>
          </a:p>
          <a:p>
            <a:r>
              <a:rPr lang="en-US" dirty="0"/>
              <a:t>And the x-axis of both shows the incrementally more specific prompts.</a:t>
            </a:r>
          </a:p>
          <a:p>
            <a:endParaRPr lang="en-US" dirty="0"/>
          </a:p>
          <a:p>
            <a:r>
              <a:rPr lang="en-US" dirty="0"/>
              <a:t>The horizontal lines show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the LLM state of the art had already shifted;</a:t>
            </a:r>
          </a:p>
          <a:p>
            <a:r>
              <a:rPr lang="en-US" dirty="0"/>
              <a:t>The then-current GPT-5 provided expert-level performance on the Game of Life algorithm for all prompts except the naïve one,</a:t>
            </a:r>
          </a:p>
          <a:p>
            <a:r>
              <a:rPr lang="en-US" dirty="0"/>
              <a:t>And it successfully benefitted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combining the two branches)</a:t>
            </a:r>
          </a:p>
          <a:p>
            <a:endParaRPr lang="en-US" dirty="0"/>
          </a:p>
          <a:p>
            <a:r>
              <a:rPr lang="en-US" dirty="0"/>
              <a:t>Then, we have studied whether the earlier studied abstractions enabling layout- and traversal-agnostic design significantly improve the correctness and efficiency of the generated parallel code during optimization tasks.</a:t>
            </a:r>
          </a:p>
          <a:p>
            <a:endParaRPr lang="en-US" dirty="0"/>
          </a:p>
          <a:p>
            <a:r>
              <a:rPr lang="en-US" dirty="0"/>
              <a:t>For that, we have compared 3 abstractions (Halide, Exo and </a:t>
            </a:r>
            <a:r>
              <a:rPr lang="en-US" dirty="0" err="1"/>
              <a:t>Noarr</a:t>
            </a:r>
            <a:r>
              <a:rPr lang="en-US" dirty="0"/>
              <a:t>) with different designs and principles as well as outputting pure C on the 30 algorithms from the </a:t>
            </a:r>
            <a:r>
              <a:rPr lang="en-US" dirty="0" err="1"/>
              <a:t>PolyBench</a:t>
            </a:r>
            <a:r>
              <a:rPr lang="en-US" dirty="0"/>
              <a:t>/C benchmark suite.</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4361901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we have used a multithreaded datacenter-grade computer, and to avoid many mistakes,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 improving the overall correctness rate.</a:t>
            </a:r>
          </a:p>
          <a:p>
            <a:pPr marL="0" indent="0">
              <a:buFontTx/>
              <a:buNone/>
            </a:pPr>
            <a:endParaRPr lang="en-US" dirty="0"/>
          </a:p>
          <a:p>
            <a:pPr marL="0" indent="0">
              <a:buFontTx/>
              <a:buNone/>
            </a:pPr>
            <a:r>
              <a:rPr lang="en-US" dirty="0"/>
              <a:t>In both generation steps, the prompts were accompanied by official developer guides and custom abstraction-specific hints for the given abstractions</a:t>
            </a:r>
            <a:br>
              <a:rPr lang="en-US" dirty="0"/>
            </a:br>
            <a:r>
              <a:rPr lang="en-US" dirty="0"/>
              <a:t>to give the LLM a good understanding how to use them, and the translation tasks were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With the 30 </a:t>
            </a:r>
            <a:r>
              <a:rPr lang="en-US" dirty="0" err="1"/>
              <a:t>polybench</a:t>
            </a:r>
            <a:r>
              <a:rPr lang="en-US" dirty="0"/>
              <a:t> algorithms, 4 different abstraction choices, and 4 prompting strategies, this gives almost 500 optimization experiments.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with increasing number of optimization attempts from 1to5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We didn’t study just the specificity of the hints, but also their </a:t>
            </a:r>
            <a:r>
              <a:rPr lang="en-US" dirty="0" err="1"/>
              <a:t>aggresiveness</a:t>
            </a:r>
            <a:r>
              <a:rPr lang="en-US" dirty="0"/>
              <a:t> (more assertive hints yielding slightly better performance),</a:t>
            </a:r>
          </a:p>
          <a:p>
            <a:r>
              <a:rPr lang="en-US" dirty="0"/>
              <a:t>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the contemporary abstractions do not help.</a:t>
            </a:r>
          </a:p>
          <a:p>
            <a:endParaRPr lang="en-US" dirty="0"/>
          </a:p>
          <a:p>
            <a:r>
              <a:rPr lang="en-US" dirty="0"/>
              <a:t>Future research may re-evaluate our approach to agentic LLMs that can automatically gather feedback</a:t>
            </a:r>
            <a:br>
              <a:rPr lang="en-US" dirty="0"/>
            </a:br>
            <a:r>
              <a:rPr lang="en-US" dirty="0"/>
              <a:t>(from compiling and running the generated implementations) and they can collect the necessary context,</a:t>
            </a:r>
          </a:p>
          <a:p>
            <a:r>
              <a:rPr lang="en-US" dirty="0"/>
              <a:t>So they can, </a:t>
            </a:r>
            <a:r>
              <a:rPr lang="en-US"/>
              <a:t>for example, </a:t>
            </a:r>
            <a:r>
              <a:rPr lang="en-US" dirty="0"/>
              <a:t>look up how to use specific abstractions or what algorithm designs to use.</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do not forget to copy from upward)---</a:t>
            </a:r>
            <a:br>
              <a:rPr lang="en-US" dirty="0"/>
            </a:br>
            <a:br>
              <a:rPr lang="en-US" dirty="0"/>
            </a:br>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539622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8/28/2026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8/28/2026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8/28/2026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8/28/2026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8/28/2026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8/28/2026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8/28/2026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8/28/2026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8/28/2026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8/28/2026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gif"/></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0" Type="http://schemas.openxmlformats.org/officeDocument/2006/relationships/image" Target="../media/image39.svg"/><Relationship Id="rId4" Type="http://schemas.openxmlformats.org/officeDocument/2006/relationships/image" Target="../media/image33.svg"/><Relationship Id="rId9" Type="http://schemas.openxmlformats.org/officeDocument/2006/relationships/image" Target="../media/image38.svg"/></Relationships>
</file>

<file path=ppt/slides/_rels/slide2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smtClean="0"/>
              <a:t>8/28/2026</a:t>
            </a:fld>
            <a:endParaRPr lang="en-US"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smtClean="0"/>
              <a:t>1</a:t>
            </a:fld>
            <a:endParaRPr lang="en-US"/>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r>
              <a:rPr lang="en-US" dirty="0"/>
              <a:t>Development of algorithms for scientific computing</a:t>
            </a:r>
          </a:p>
          <a:p>
            <a:pPr lvl="1"/>
            <a:r>
              <a:rPr lang="en-US" dirty="0"/>
              <a:t>Multidimensional data structures</a:t>
            </a:r>
          </a:p>
          <a:p>
            <a:pPr lvl="1"/>
            <a:r>
              <a:rPr lang="en-US" dirty="0"/>
              <a:t>Regular loops</a:t>
            </a:r>
          </a:p>
          <a:p>
            <a:r>
              <a:rPr lang="en-US" dirty="0"/>
              <a:t>Complexity rises with every design decision</a:t>
            </a:r>
          </a:p>
          <a:p>
            <a:pPr lvl="1"/>
            <a:r>
              <a:rPr lang="en-US" dirty="0"/>
              <a:t>How to store the data</a:t>
            </a:r>
          </a:p>
          <a:p>
            <a:pPr lvl="1"/>
            <a:r>
              <a:rPr lang="en-US" dirty="0"/>
              <a:t>In what order do the computations</a:t>
            </a:r>
          </a:p>
          <a:p>
            <a:endParaRPr lang="en-US" dirty="0"/>
          </a:p>
          <a:p>
            <a:r>
              <a:rPr lang="en-US" dirty="0"/>
              <a:t>Performance very difficult to predict</a:t>
            </a:r>
          </a:p>
          <a:p>
            <a:endParaRPr lang="en-US" dirty="0"/>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smtClean="0"/>
              <a:t>8/28/2026</a:t>
            </a:fld>
            <a:endParaRPr lang="en-US" dirty="0"/>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smtClean="0"/>
              <a:t>2</a:t>
            </a:fld>
            <a:endParaRPr lang="en-US"/>
          </a:p>
        </p:txBody>
      </p:sp>
      <p:grpSp>
        <p:nvGrpSpPr>
          <p:cNvPr id="20" name="Group 19">
            <a:extLst>
              <a:ext uri="{FF2B5EF4-FFF2-40B4-BE49-F238E27FC236}">
                <a16:creationId xmlns:a16="http://schemas.microsoft.com/office/drawing/2014/main" id="{D31BF4A6-7253-D11D-84B7-D42F1AD2EF67}"/>
              </a:ext>
            </a:extLst>
          </p:cNvPr>
          <p:cNvGrpSpPr/>
          <p:nvPr/>
        </p:nvGrpSpPr>
        <p:grpSpPr>
          <a:xfrm>
            <a:off x="7917292" y="4385692"/>
            <a:ext cx="1392432" cy="1551380"/>
            <a:chOff x="7917292" y="4385692"/>
            <a:chExt cx="1392432" cy="1551380"/>
          </a:xfrm>
        </p:grpSpPr>
        <p:pic>
          <p:nvPicPr>
            <p:cNvPr id="7" name="Graphic 6">
              <a:extLst>
                <a:ext uri="{FF2B5EF4-FFF2-40B4-BE49-F238E27FC236}">
                  <a16:creationId xmlns:a16="http://schemas.microsoft.com/office/drawing/2014/main" id="{20834440-26BB-F283-4FB8-38CBF311FAB3}"/>
                </a:ext>
              </a:extLst>
            </p:cNvPr>
            <p:cNvPicPr>
              <a:picLocks noChangeAspect="1"/>
            </p:cNvPicPr>
            <p:nvPr/>
          </p:nvPicPr>
          <p:blipFill>
            <a:blip>
              <a:extLst>
                <a:ext uri="{96DAC541-7B7A-43D3-8B79-37D633B846F1}">
                  <asvg:svgBlip xmlns:asvg="http://schemas.microsoft.com/office/drawing/2016/SVG/main" r:embed="rId3"/>
                </a:ext>
              </a:extLst>
            </a:blip>
            <a:srcRect l="11516" t="5324" r="66027" b="77812"/>
            <a:stretch>
              <a:fillRect/>
            </a:stretch>
          </p:blipFill>
          <p:spPr>
            <a:xfrm>
              <a:off x="8069057" y="4385692"/>
              <a:ext cx="1088904" cy="1156549"/>
            </a:xfrm>
            <a:prstGeom prst="rect">
              <a:avLst/>
            </a:prstGeom>
          </p:spPr>
        </p:pic>
        <p:sp>
          <p:nvSpPr>
            <p:cNvPr id="12" name="TextBox 11">
              <a:extLst>
                <a:ext uri="{FF2B5EF4-FFF2-40B4-BE49-F238E27FC236}">
                  <a16:creationId xmlns:a16="http://schemas.microsoft.com/office/drawing/2014/main" id="{B3674D75-42D7-D92A-C7F7-F9D2FF083A67}"/>
                </a:ext>
              </a:extLst>
            </p:cNvPr>
            <p:cNvSpPr txBox="1"/>
            <p:nvPr/>
          </p:nvSpPr>
          <p:spPr>
            <a:xfrm>
              <a:off x="7917292" y="5536962"/>
              <a:ext cx="1392432" cy="400110"/>
            </a:xfrm>
            <a:prstGeom prst="rect">
              <a:avLst/>
            </a:prstGeom>
            <a:noFill/>
          </p:spPr>
          <p:txBody>
            <a:bodyPr wrap="none" rtlCol="0">
              <a:spAutoFit/>
            </a:bodyPr>
            <a:lstStyle/>
            <a:p>
              <a:pPr algn="ctr"/>
              <a:r>
                <a:rPr lang="en-US" sz="2000" dirty="0"/>
                <a:t>Row-major</a:t>
              </a:r>
              <a:endParaRPr lang="en-US" dirty="0"/>
            </a:p>
          </p:txBody>
        </p:sp>
      </p:grpSp>
      <p:grpSp>
        <p:nvGrpSpPr>
          <p:cNvPr id="21" name="Group 20">
            <a:extLst>
              <a:ext uri="{FF2B5EF4-FFF2-40B4-BE49-F238E27FC236}">
                <a16:creationId xmlns:a16="http://schemas.microsoft.com/office/drawing/2014/main" id="{4BD46A3F-D0F6-ECEE-6E08-8C4902E89C78}"/>
              </a:ext>
            </a:extLst>
          </p:cNvPr>
          <p:cNvGrpSpPr/>
          <p:nvPr/>
        </p:nvGrpSpPr>
        <p:grpSpPr>
          <a:xfrm>
            <a:off x="9400882" y="4385692"/>
            <a:ext cx="1802096" cy="1551380"/>
            <a:chOff x="9685588" y="4410422"/>
            <a:chExt cx="1802096" cy="1551380"/>
          </a:xfrm>
        </p:grpSpPr>
        <p:pic>
          <p:nvPicPr>
            <p:cNvPr id="9" name="Graphic 8">
              <a:extLst>
                <a:ext uri="{FF2B5EF4-FFF2-40B4-BE49-F238E27FC236}">
                  <a16:creationId xmlns:a16="http://schemas.microsoft.com/office/drawing/2014/main" id="{F717ED1E-4878-0E07-7465-3F66C082FD59}"/>
                </a:ext>
              </a:extLst>
            </p:cNvPr>
            <p:cNvPicPr>
              <a:picLocks noChangeAspect="1"/>
            </p:cNvPicPr>
            <p:nvPr/>
          </p:nvPicPr>
          <p:blipFill>
            <a:blip>
              <a:extLst>
                <a:ext uri="{96DAC541-7B7A-43D3-8B79-37D633B846F1}">
                  <asvg:svgBlip xmlns:asvg="http://schemas.microsoft.com/office/drawing/2016/SVG/main" r:embed="rId4"/>
                </a:ext>
              </a:extLst>
            </a:blip>
            <a:srcRect l="11494" t="5314" r="66092" b="77854"/>
            <a:stretch>
              <a:fillRect/>
            </a:stretch>
          </p:blipFill>
          <p:spPr>
            <a:xfrm>
              <a:off x="10042184" y="4410422"/>
              <a:ext cx="1088904" cy="1156549"/>
            </a:xfrm>
            <a:prstGeom prst="rect">
              <a:avLst/>
            </a:prstGeom>
          </p:spPr>
        </p:pic>
        <p:sp>
          <p:nvSpPr>
            <p:cNvPr id="14" name="TextBox 13">
              <a:extLst>
                <a:ext uri="{FF2B5EF4-FFF2-40B4-BE49-F238E27FC236}">
                  <a16:creationId xmlns:a16="http://schemas.microsoft.com/office/drawing/2014/main" id="{2793AF0B-9B42-D6E4-4BC9-0BDA37B37DE2}"/>
                </a:ext>
              </a:extLst>
            </p:cNvPr>
            <p:cNvSpPr txBox="1"/>
            <p:nvPr/>
          </p:nvSpPr>
          <p:spPr>
            <a:xfrm>
              <a:off x="9685588" y="5561692"/>
              <a:ext cx="1802096" cy="400110"/>
            </a:xfrm>
            <a:prstGeom prst="rect">
              <a:avLst/>
            </a:prstGeom>
            <a:noFill/>
          </p:spPr>
          <p:txBody>
            <a:bodyPr wrap="none" rtlCol="0">
              <a:spAutoFit/>
            </a:bodyPr>
            <a:lstStyle/>
            <a:p>
              <a:pPr algn="ctr"/>
              <a:r>
                <a:rPr lang="en-US" sz="2000" dirty="0"/>
                <a:t>Column-major</a:t>
              </a:r>
              <a:endParaRPr lang="en-US" dirty="0"/>
            </a:p>
          </p:txBody>
        </p:sp>
      </p:grpSp>
      <p:sp>
        <p:nvSpPr>
          <p:cNvPr id="17" name="Right Brace 16">
            <a:extLst>
              <a:ext uri="{FF2B5EF4-FFF2-40B4-BE49-F238E27FC236}">
                <a16:creationId xmlns:a16="http://schemas.microsoft.com/office/drawing/2014/main" id="{816700F3-DB4A-EE30-E277-3B57DB485047}"/>
              </a:ext>
            </a:extLst>
          </p:cNvPr>
          <p:cNvSpPr/>
          <p:nvPr/>
        </p:nvSpPr>
        <p:spPr>
          <a:xfrm rot="16200000">
            <a:off x="9944493" y="2400051"/>
            <a:ext cx="199900" cy="395076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0EB5D9BA-3BCE-1552-AA92-B473A6CD520E}"/>
              </a:ext>
            </a:extLst>
          </p:cNvPr>
          <p:cNvSpPr txBox="1"/>
          <p:nvPr/>
        </p:nvSpPr>
        <p:spPr>
          <a:xfrm>
            <a:off x="8444966" y="3813819"/>
            <a:ext cx="3198954" cy="461665"/>
          </a:xfrm>
          <a:prstGeom prst="rect">
            <a:avLst/>
          </a:prstGeom>
          <a:noFill/>
        </p:spPr>
        <p:txBody>
          <a:bodyPr wrap="none" rtlCol="0">
            <a:spAutoFit/>
          </a:bodyPr>
          <a:lstStyle/>
          <a:p>
            <a:pPr algn="ctr"/>
            <a:r>
              <a:rPr lang="en-US" sz="2400" dirty="0"/>
              <a:t>Matrix memory layouts</a:t>
            </a:r>
          </a:p>
        </p:txBody>
      </p:sp>
      <p:sp>
        <p:nvSpPr>
          <p:cNvPr id="19" name="TextBox 18">
            <a:extLst>
              <a:ext uri="{FF2B5EF4-FFF2-40B4-BE49-F238E27FC236}">
                <a16:creationId xmlns:a16="http://schemas.microsoft.com/office/drawing/2014/main" id="{F316CE26-0320-4A8D-A1BC-6DFC9282AE6F}"/>
              </a:ext>
            </a:extLst>
          </p:cNvPr>
          <p:cNvSpPr txBox="1"/>
          <p:nvPr/>
        </p:nvSpPr>
        <p:spPr>
          <a:xfrm>
            <a:off x="11571481" y="4779300"/>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smtClean="0"/>
              <a:t>8/28/2026</a:t>
            </a:fld>
            <a:endParaRPr lang="en-US"/>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smtClean="0"/>
              <a:t>3</a:t>
            </a:fld>
            <a:endParaRPr lang="en-US"/>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dirty="0"/>
              <a:t>Row-major</a:t>
            </a:r>
            <a:endParaRPr lang="en-US"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dirty="0"/>
              <a:t>Column-major</a:t>
            </a:r>
            <a:endParaRPr lang="en-US"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9" y="3424149"/>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dirty="0"/>
              <a:t>Layout abstraction of a d</a:t>
            </a:r>
            <a:r>
              <a:rPr lang="en-US" noProof="0" dirty="0" err="1"/>
              <a:t>ata</a:t>
            </a:r>
            <a:r>
              <a:rPr lang="en-US" noProof="0" dirty="0"/>
              <a:t>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smtClean="0"/>
              <a:t>8/28/2026</a:t>
            </a:fld>
            <a:endParaRPr lang="en-US"/>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smtClean="0"/>
              <a:t>4</a:t>
            </a:fld>
            <a:endParaRPr lang="en-US"/>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70C1"/>
                </a:solidFill>
                <a:latin typeface="Fira Code" panose="020B0809050000020004" pitchFamily="49" charset="0"/>
              </a:rPr>
              <a:t>idx</a:t>
            </a:r>
            <a:r>
              <a:rPr lang="en-US" sz="1600" dirty="0">
                <a:solidFill>
                  <a:srgbClr val="000000"/>
                </a:solidFill>
                <a:latin typeface="Fira Code" panose="020B0809050000020004" pitchFamily="49" charset="0"/>
              </a:rPr>
              <a:t>&lt;</a:t>
            </a:r>
            <a:r>
              <a:rPr lang="en-US" sz="1600" dirty="0">
                <a:solidFill>
                  <a:srgbClr val="A31515"/>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a:solidFill>
                  <a:srgbClr val="A31515"/>
                </a:solidFill>
                <a:latin typeface="Fira Code" panose="020B0809050000020004" pitchFamily="49" charset="0"/>
              </a:rPr>
              <a:t>'n'</a:t>
            </a:r>
            <a:r>
              <a:rPr lang="en-US" sz="1600" dirty="0">
                <a:solidFill>
                  <a:srgbClr val="000000"/>
                </a:solidFill>
                <a:latin typeface="Fira Code" panose="020B0809050000020004" pitchFamily="49" charset="0"/>
              </a:rPr>
              <a:t>&gt;(</a:t>
            </a:r>
            <a:r>
              <a:rPr lang="en-US" sz="1600" dirty="0">
                <a:solidFill>
                  <a:srgbClr val="0070C1"/>
                </a:solidFill>
                <a:latin typeface="Fira Code" panose="020B0809050000020004" pitchFamily="49" charset="0"/>
              </a:rPr>
              <a:t>4</a:t>
            </a:r>
            <a:r>
              <a:rPr lang="en-US" sz="1600" dirty="0">
                <a:solidFill>
                  <a:srgbClr val="000000"/>
                </a:solidFill>
                <a:latin typeface="Fira Code" panose="020B0809050000020004" pitchFamily="49" charset="0"/>
              </a:rPr>
              <a:t>, </a:t>
            </a:r>
            <a:r>
              <a:rPr lang="en-US" sz="1600" dirty="0">
                <a:solidFill>
                  <a:srgbClr val="0070C1"/>
                </a:solidFill>
                <a:latin typeface="Fira Code" panose="020B0809050000020004" pitchFamily="49" charset="0"/>
              </a:rPr>
              <a:t>2</a:t>
            </a:r>
            <a:r>
              <a:rPr lang="en-US" sz="1600" dirty="0">
                <a:solidFill>
                  <a:srgbClr val="000000"/>
                </a:solidFill>
                <a:latin typeface="Fira Code" panose="020B0809050000020004" pitchFamily="49" charset="0"/>
              </a:rPr>
              <a:t>)]</a:t>
            </a:r>
            <a:endParaRPr lang="en-US" sz="200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none" rtlCol="0">
            <a:spAutoFit/>
          </a:bodyPr>
          <a:lstStyle/>
          <a:p>
            <a:r>
              <a:rPr lang="en-US" dirty="0"/>
              <a:t>access</a:t>
            </a:r>
          </a:p>
        </p:txBody>
      </p:sp>
      <p:grpSp>
        <p:nvGrpSpPr>
          <p:cNvPr id="3" name="Group 2">
            <a:extLst>
              <a:ext uri="{FF2B5EF4-FFF2-40B4-BE49-F238E27FC236}">
                <a16:creationId xmlns:a16="http://schemas.microsoft.com/office/drawing/2014/main" id="{EEAADB24-4B4C-362D-862F-891719F80794}"/>
              </a:ext>
            </a:extLst>
          </p:cNvPr>
          <p:cNvGrpSpPr/>
          <p:nvPr/>
        </p:nvGrpSpPr>
        <p:grpSpPr>
          <a:xfrm>
            <a:off x="4146506" y="2952604"/>
            <a:ext cx="4300406" cy="2570126"/>
            <a:chOff x="4543100" y="2952604"/>
            <a:chExt cx="3903812" cy="2570126"/>
          </a:xfrm>
        </p:grpSpPr>
        <p:sp>
          <p:nvSpPr>
            <p:cNvPr id="6" name="TextBox 5">
              <a:extLst>
                <a:ext uri="{FF2B5EF4-FFF2-40B4-BE49-F238E27FC236}">
                  <a16:creationId xmlns:a16="http://schemas.microsoft.com/office/drawing/2014/main" id="{A28F9A7A-4E68-17F0-FD80-992DB87E748C}"/>
                </a:ext>
              </a:extLst>
            </p:cNvPr>
            <p:cNvSpPr txBox="1"/>
            <p:nvPr/>
          </p:nvSpPr>
          <p:spPr>
            <a:xfrm>
              <a:off x="4543100" y="3030894"/>
              <a:ext cx="3903812" cy="2491836"/>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6157798" y="314000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6157798" y="3631744"/>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6157798" y="4111106"/>
              <a:ext cx="15781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7072582" y="2672301"/>
              <a:ext cx="275785" cy="83639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453670" y="5426698"/>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cxnSp>
        <p:nvCxnSpPr>
          <p:cNvPr id="23" name="Straight Arrow Connector 22">
            <a:extLst>
              <a:ext uri="{FF2B5EF4-FFF2-40B4-BE49-F238E27FC236}">
                <a16:creationId xmlns:a16="http://schemas.microsoft.com/office/drawing/2014/main" id="{5143A34A-C925-60C5-12C5-823EF15D1727}"/>
              </a:ext>
            </a:extLst>
          </p:cNvPr>
          <p:cNvCxnSpPr>
            <a:cxnSpLocks/>
          </p:cNvCxnSpPr>
          <p:nvPr/>
        </p:nvCxnSpPr>
        <p:spPr>
          <a:xfrm flipH="1" flipV="1">
            <a:off x="7545544" y="4396831"/>
            <a:ext cx="1470102" cy="7065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B532C9E-1658-59EF-E455-A13798945924}"/>
              </a:ext>
            </a:extLst>
          </p:cNvPr>
          <p:cNvSpPr txBox="1"/>
          <p:nvPr/>
        </p:nvSpPr>
        <p:spPr>
          <a:xfrm>
            <a:off x="8977859" y="4912371"/>
            <a:ext cx="1158202" cy="369332"/>
          </a:xfrm>
          <a:prstGeom prst="rect">
            <a:avLst/>
          </a:prstGeom>
          <a:noFill/>
        </p:spPr>
        <p:txBody>
          <a:bodyPr wrap="square">
            <a:spAutoFit/>
          </a:bodyPr>
          <a:lstStyle/>
          <a:p>
            <a:r>
              <a:rPr lang="en-US" dirty="0">
                <a:solidFill>
                  <a:srgbClr val="0070C1"/>
                </a:solidFill>
                <a:latin typeface="Fira Code" panose="020B0809050000020004" pitchFamily="49" charset="0"/>
              </a:rPr>
              <a:t>lit</a:t>
            </a:r>
            <a:r>
              <a:rPr lang="en-US" dirty="0">
                <a:solidFill>
                  <a:srgbClr val="000000"/>
                </a:solidFill>
                <a:latin typeface="Fira Code" panose="020B0809050000020004" pitchFamily="49" charset="0"/>
              </a:rPr>
              <a:t>&lt;</a:t>
            </a:r>
            <a:r>
              <a:rPr lang="en-US" b="0" noProof="0" dirty="0">
                <a:solidFill>
                  <a:srgbClr val="0070C1"/>
                </a:solidFill>
                <a:effectLst/>
                <a:latin typeface="Fira Code" panose="020B0809050000020004" pitchFamily="49" charset="0"/>
              </a:rPr>
              <a:t>N</a:t>
            </a:r>
            <a:r>
              <a:rPr lang="en-US" b="0" noProof="0" dirty="0">
                <a:solidFill>
                  <a:srgbClr val="000000"/>
                </a:solidFill>
                <a:effectLst/>
                <a:latin typeface="Fira Code" panose="020B0809050000020004" pitchFamily="49" charset="0"/>
              </a:rPr>
              <a:t>&gt;</a:t>
            </a:r>
            <a:endParaRPr lang="en-US" sz="3600" dirty="0"/>
          </a:p>
        </p:txBody>
      </p:sp>
      <p:sp>
        <p:nvSpPr>
          <p:cNvPr id="26" name="TextBox 25">
            <a:extLst>
              <a:ext uri="{FF2B5EF4-FFF2-40B4-BE49-F238E27FC236}">
                <a16:creationId xmlns:a16="http://schemas.microsoft.com/office/drawing/2014/main" id="{6320A0BC-2EC8-4B11-CD62-23DDBADCEF4D}"/>
              </a:ext>
            </a:extLst>
          </p:cNvPr>
          <p:cNvSpPr txBox="1"/>
          <p:nvPr/>
        </p:nvSpPr>
        <p:spPr>
          <a:xfrm>
            <a:off x="8182635" y="4396831"/>
            <a:ext cx="1137469" cy="369332"/>
          </a:xfrm>
          <a:prstGeom prst="rect">
            <a:avLst/>
          </a:prstGeom>
          <a:noFill/>
        </p:spPr>
        <p:txBody>
          <a:bodyPr wrap="square" rtlCol="0">
            <a:spAutoFit/>
          </a:bodyPr>
          <a:lstStyle/>
          <a:p>
            <a:r>
              <a:rPr lang="en-US" dirty="0"/>
              <a:t>replace</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726948" y="5426698"/>
            <a:ext cx="5603818" cy="639662"/>
          </a:xfrm>
          <a:prstGeom prst="rect">
            <a:avLst/>
          </a:prstGeom>
          <a:noFill/>
          <a:ln>
            <a:solidFill>
              <a:schemeClr val="tx1"/>
            </a:solidFill>
          </a:ln>
        </p:spPr>
        <p:txBody>
          <a:bodyPr wrap="square">
            <a:spAutoFit/>
          </a:bodyPr>
          <a:lstStyle/>
          <a:p>
            <a:pPr>
              <a:lnSpc>
                <a:spcPct val="113095"/>
              </a:lnSpc>
              <a:buNone/>
            </a:pPr>
            <a:r>
              <a:rPr lang="en-US" sz="1600" b="0" noProof="0" dirty="0" err="1">
                <a:solidFill>
                  <a:srgbClr val="795E26"/>
                </a:solidFill>
                <a:effectLst/>
                <a:latin typeface="Fira Code" panose="020B0809050000020004" pitchFamily="49" charset="0"/>
              </a:rPr>
              <a:t>cudaMalloc</a:t>
            </a:r>
            <a:r>
              <a:rPr lang="en-US" sz="1600" b="0" noProof="0" dirty="0">
                <a:solidFill>
                  <a:srgbClr val="000000"/>
                </a:solidFill>
                <a:effectLst/>
                <a:latin typeface="Fira Code" panose="020B0809050000020004" pitchFamily="49" charset="0"/>
              </a:rPr>
              <a:t>(&amp;</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 </a:t>
            </a: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get_size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smtClean="0"/>
              <a:t>8/28/2026</a:t>
            </a:fld>
            <a:endParaRPr lang="en-US"/>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smtClean="0"/>
              <a:t>5</a:t>
            </a:fld>
            <a:endParaRPr lang="en-US"/>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cxnSp>
        <p:nvCxnSpPr>
          <p:cNvPr id="15" name="Straight Arrow Connector 14">
            <a:extLst>
              <a:ext uri="{FF2B5EF4-FFF2-40B4-BE49-F238E27FC236}">
                <a16:creationId xmlns:a16="http://schemas.microsoft.com/office/drawing/2014/main" id="{1BF3510A-7AA6-1D61-17F1-1FC3E8CDC948}"/>
              </a:ext>
            </a:extLst>
          </p:cNvPr>
          <p:cNvCxnSpPr>
            <a:cxnSpLocks/>
            <a:stCxn id="7" idx="3"/>
          </p:cNvCxnSpPr>
          <p:nvPr/>
        </p:nvCxnSpPr>
        <p:spPr>
          <a:xfrm flipV="1">
            <a:off x="2874938" y="3428927"/>
            <a:ext cx="1312546" cy="343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BA87-ADA6-CE21-2F9F-65EB68B210BE}"/>
              </a:ext>
            </a:extLst>
          </p:cNvPr>
          <p:cNvSpPr>
            <a:spLocks noGrp="1"/>
          </p:cNvSpPr>
          <p:nvPr>
            <p:ph type="title"/>
          </p:nvPr>
        </p:nvSpPr>
        <p:spPr/>
        <p:txBody>
          <a:bodyPr/>
          <a:lstStyle/>
          <a:p>
            <a:r>
              <a:rPr lang="en-US" dirty="0"/>
              <a:t>Layout abstractions</a:t>
            </a:r>
          </a:p>
        </p:txBody>
      </p:sp>
      <p:sp>
        <p:nvSpPr>
          <p:cNvPr id="4" name="TextBox 3">
            <a:extLst>
              <a:ext uri="{FF2B5EF4-FFF2-40B4-BE49-F238E27FC236}">
                <a16:creationId xmlns:a16="http://schemas.microsoft.com/office/drawing/2014/main" id="{6BEBBAE8-9564-BF75-198B-BAF5152BFACC}"/>
              </a:ext>
            </a:extLst>
          </p:cNvPr>
          <p:cNvSpPr txBox="1"/>
          <p:nvPr/>
        </p:nvSpPr>
        <p:spPr>
          <a:xfrm>
            <a:off x="733939" y="2010220"/>
            <a:ext cx="7454097" cy="1472070"/>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2000" dirty="0">
                <a:solidFill>
                  <a:srgbClr val="0070C1"/>
                </a:solidFill>
                <a:latin typeface="Fira Code" panose="020B0809050000020004" pitchFamily="49" charset="0"/>
              </a:rPr>
              <a:t>lit</a:t>
            </a:r>
            <a:r>
              <a:rPr lang="en-US" sz="2000" dirty="0">
                <a:solidFill>
                  <a:srgbClr val="000000"/>
                </a:solidFill>
                <a:latin typeface="Fira Code" panose="020B0809050000020004" pitchFamily="49" charset="0"/>
              </a:rPr>
              <a:t>&lt;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p>
          <a:p>
            <a:pPr>
              <a:lnSpc>
                <a:spcPct val="113095"/>
              </a:lnSpc>
              <a:buNone/>
            </a:pPr>
            <a:br>
              <a:rPr lang="en-US" sz="2000" b="0" noProof="0" dirty="0">
                <a:solidFill>
                  <a:srgbClr val="000000"/>
                </a:solidFill>
                <a:effectLst/>
                <a:latin typeface="Fira Code" panose="020B0809050000020004" pitchFamily="49" charset="0"/>
              </a:rPr>
            </a:b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 ^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a:t>
            </a:r>
          </a:p>
        </p:txBody>
      </p:sp>
      <p:sp>
        <p:nvSpPr>
          <p:cNvPr id="6" name="TextBox 5">
            <a:extLst>
              <a:ext uri="{FF2B5EF4-FFF2-40B4-BE49-F238E27FC236}">
                <a16:creationId xmlns:a16="http://schemas.microsoft.com/office/drawing/2014/main" id="{11576DD8-80C2-D612-5FC4-AC07F00ECAF2}"/>
              </a:ext>
            </a:extLst>
          </p:cNvPr>
          <p:cNvSpPr txBox="1"/>
          <p:nvPr/>
        </p:nvSpPr>
        <p:spPr>
          <a:xfrm>
            <a:off x="6339643" y="4041543"/>
            <a:ext cx="5280634" cy="2308965"/>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a:p>
            <a:pPr>
              <a:lnSpc>
                <a:spcPct val="113095"/>
              </a:lnSpc>
              <a:buNone/>
            </a:pPr>
            <a:br>
              <a:rPr lang="en-US" sz="1600" b="0" noProof="0" dirty="0">
                <a:solidFill>
                  <a:srgbClr val="000000"/>
                </a:solidFill>
                <a:effectLst/>
                <a:latin typeface="Fira Code" panose="020B0809050000020004" pitchFamily="49" charset="0"/>
              </a:rPr>
            </a:b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matrix</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7" name="Date Placeholder 6">
            <a:extLst>
              <a:ext uri="{FF2B5EF4-FFF2-40B4-BE49-F238E27FC236}">
                <a16:creationId xmlns:a16="http://schemas.microsoft.com/office/drawing/2014/main" id="{8167C2A3-A6EB-E986-BB56-227E7CC44045}"/>
              </a:ext>
            </a:extLst>
          </p:cNvPr>
          <p:cNvSpPr>
            <a:spLocks noGrp="1"/>
          </p:cNvSpPr>
          <p:nvPr>
            <p:ph type="dt" sz="half" idx="10"/>
          </p:nvPr>
        </p:nvSpPr>
        <p:spPr/>
        <p:txBody>
          <a:bodyPr/>
          <a:lstStyle/>
          <a:p>
            <a:fld id="{60762CC1-CEC8-4962-8ADE-D01B91546622}" type="datetime1">
              <a:rPr lang="en-US" smtClean="0"/>
              <a:t>8/28/2026</a:t>
            </a:fld>
            <a:endParaRPr lang="en-US"/>
          </a:p>
        </p:txBody>
      </p:sp>
      <p:sp>
        <p:nvSpPr>
          <p:cNvPr id="8" name="Slide Number Placeholder 7">
            <a:extLst>
              <a:ext uri="{FF2B5EF4-FFF2-40B4-BE49-F238E27FC236}">
                <a16:creationId xmlns:a16="http://schemas.microsoft.com/office/drawing/2014/main" id="{1A5672EE-876F-7378-AD5C-9D8F3F5CF486}"/>
              </a:ext>
            </a:extLst>
          </p:cNvPr>
          <p:cNvSpPr>
            <a:spLocks noGrp="1"/>
          </p:cNvSpPr>
          <p:nvPr>
            <p:ph type="sldNum" sz="quarter" idx="12"/>
          </p:nvPr>
        </p:nvSpPr>
        <p:spPr/>
        <p:txBody>
          <a:bodyPr/>
          <a:lstStyle/>
          <a:p>
            <a:fld id="{DA0BB241-1B5F-4309-9407-9EEA04D9598D}" type="slidenum">
              <a:rPr lang="en-US" smtClean="0"/>
              <a:t>6</a:t>
            </a:fld>
            <a:endParaRPr lang="en-US" dirty="0"/>
          </a:p>
        </p:txBody>
      </p:sp>
    </p:spTree>
    <p:extLst>
      <p:ext uri="{BB962C8B-B14F-4D97-AF65-F5344CB8AC3E}">
        <p14:creationId xmlns:p14="http://schemas.microsoft.com/office/powerpoint/2010/main" val="1604844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dirty="0"/>
              <a:t>Traversal abstractions</a:t>
            </a:r>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4274320" y="4746531"/>
            <a:ext cx="6181949" cy="2032031"/>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A31515"/>
                </a:solidFill>
                <a:effectLst/>
                <a:latin typeface="Fira Code" panose="020B0809050000020004" pitchFamily="49" charset="0"/>
              </a:rPr>
              <a:t>'n</a:t>
            </a:r>
            <a:r>
              <a:rPr lang="en-US" sz="1400" dirty="0">
                <a:solidFill>
                  <a:srgbClr val="A31515"/>
                </a:solidFill>
                <a:latin typeface="Fira Code" panose="020B0809050000020004" pitchFamily="49" charset="0"/>
              </a:rPr>
              <a:t>'</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a:p>
            <a:pPr>
              <a:lnSpc>
                <a:spcPct val="113095"/>
              </a:lnSpc>
            </a:pPr>
            <a:r>
              <a:rPr lang="en-US" sz="1400" dirty="0">
                <a:solidFill>
                  <a:srgbClr val="267F99"/>
                </a:solidFill>
                <a:latin typeface="Fira Code" panose="020B0809050000020004" pitchFamily="49" charset="0"/>
              </a:rPr>
              <a:t>auto</a:t>
            </a:r>
            <a:r>
              <a:rPr lang="en-US" sz="1400" dirty="0">
                <a:solidFill>
                  <a:srgbClr val="000000"/>
                </a:solidFill>
                <a:latin typeface="Fira Code" panose="020B0809050000020004" pitchFamily="49" charset="0"/>
              </a:rPr>
              <a:t> </a:t>
            </a:r>
            <a:r>
              <a:rPr lang="en-US" sz="1400" dirty="0">
                <a:solidFill>
                  <a:srgbClr val="001080"/>
                </a:solidFill>
                <a:latin typeface="Fira Code" panose="020B0809050000020004" pitchFamily="49" charset="0"/>
              </a:rPr>
              <a:t>C</a:t>
            </a:r>
            <a:r>
              <a:rPr lang="en-US" sz="1400" dirty="0">
                <a:solidFill>
                  <a:srgbClr val="000000"/>
                </a:solidFill>
                <a:latin typeface="Fira Code" panose="020B0809050000020004" pitchFamily="49" charset="0"/>
              </a:rPr>
              <a:t> = </a:t>
            </a:r>
            <a:r>
              <a:rPr lang="en-US" sz="1400" dirty="0">
                <a:solidFill>
                  <a:srgbClr val="795E26"/>
                </a:solidFill>
                <a:latin typeface="Fira Code" panose="020B0809050000020004" pitchFamily="49" charset="0"/>
              </a:rPr>
              <a:t>bag</a:t>
            </a:r>
            <a:r>
              <a:rPr lang="en-US" sz="1400" dirty="0">
                <a:solidFill>
                  <a:srgbClr val="000000"/>
                </a:solidFill>
                <a:latin typeface="Fira Code" panose="020B0809050000020004" pitchFamily="49" charset="0"/>
              </a:rPr>
              <a:t>(</a:t>
            </a:r>
            <a:r>
              <a:rPr lang="en-US" sz="1400" dirty="0">
                <a:solidFill>
                  <a:srgbClr val="267F99"/>
                </a:solidFill>
                <a:latin typeface="Fira Code" panose="020B0809050000020004" pitchFamily="49" charset="0"/>
              </a:rPr>
              <a:t>scalar</a:t>
            </a:r>
            <a:r>
              <a:rPr lang="en-US" sz="1400" dirty="0">
                <a:solidFill>
                  <a:srgbClr val="000000"/>
                </a:solidFill>
                <a:latin typeface="Fira Code" panose="020B0809050000020004" pitchFamily="49" charset="0"/>
              </a:rPr>
              <a:t>&lt;</a:t>
            </a:r>
            <a:r>
              <a:rPr lang="en-US" sz="1400" dirty="0">
                <a:solidFill>
                  <a:srgbClr val="0000FF"/>
                </a:solidFill>
                <a:latin typeface="Fira Code" panose="020B0809050000020004" pitchFamily="49" charset="0"/>
              </a:rPr>
              <a:t>float</a:t>
            </a:r>
            <a:r>
              <a:rPr lang="en-US" sz="1400" dirty="0">
                <a:solidFill>
                  <a:srgbClr val="000000"/>
                </a:solidFill>
                <a:latin typeface="Fira Code" panose="020B0809050000020004" pitchFamily="49" charset="0"/>
              </a:rPr>
              <a:t>&gt;() ^ </a:t>
            </a:r>
            <a:r>
              <a:rPr lang="en-US" sz="1400" dirty="0">
                <a:solidFill>
                  <a:srgbClr val="795E26"/>
                </a:solidFill>
                <a:latin typeface="Fira Code" panose="020B0809050000020004" pitchFamily="49" charset="0"/>
              </a:rPr>
              <a:t>vectors</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N</a:t>
            </a:r>
            <a:r>
              <a:rPr lang="en-US" sz="1400" dirty="0">
                <a:solidFill>
                  <a:srgbClr val="000000"/>
                </a:solidFill>
                <a:latin typeface="Fira Code" panose="020B0809050000020004" pitchFamily="49" charset="0"/>
              </a:rPr>
              <a:t>));</a:t>
            </a:r>
          </a:p>
          <a:p>
            <a:pPr>
              <a:lnSpc>
                <a:spcPct val="113095"/>
              </a:lnSpc>
              <a:buNone/>
            </a:pPr>
            <a:br>
              <a:rPr lang="en-US" sz="1400" b="0" noProof="0" dirty="0">
                <a:solidFill>
                  <a:srgbClr val="000000"/>
                </a:solidFill>
                <a:effectLst/>
                <a:latin typeface="Fira Code" panose="020B0809050000020004" pitchFamily="49" charset="0"/>
              </a:rPr>
            </a:br>
            <a:endParaRPr lang="en-US" sz="1400" b="0" noProof="0" dirty="0">
              <a:solidFill>
                <a:srgbClr val="000000"/>
              </a:solidFill>
              <a:effectLst/>
              <a:latin typeface="Fira Code" panose="020B0809050000020004" pitchFamily="49" charset="0"/>
            </a:endParaRPr>
          </a:p>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188464" y="3356717"/>
            <a:ext cx="5397050"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dirty="0">
                <a:solidFill>
                  <a:srgbClr val="000000"/>
                </a:solidFill>
                <a:latin typeface="Fira Code" panose="020B0809050000020004" pitchFamily="49" charset="0"/>
              </a:rPr>
              <a:t>(</a:t>
            </a:r>
            <a:r>
              <a:rPr lang="en-US" dirty="0">
                <a:solidFill>
                  <a:srgbClr val="001080"/>
                </a:solidFill>
                <a:latin typeface="Fira Code" panose="020B0809050000020004" pitchFamily="49" charset="0"/>
              </a:rPr>
              <a:t>index</a:t>
            </a:r>
            <a:r>
              <a:rPr lang="en-US"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6455828" y="3384113"/>
            <a:ext cx="6052605"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867590" y="2026812"/>
            <a:ext cx="4979939"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m</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dirty="0">
                <a:solidFill>
                  <a:srgbClr val="098658"/>
                </a:solidFill>
                <a:latin typeface="Fira Code" panose="020B0809050000020004" pitchFamily="49" charset="0"/>
              </a:rPr>
              <a:t>n</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dirty="0">
                <a:solidFill>
                  <a:srgbClr val="001080"/>
                </a:solidFill>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1"/>
          </p:cNvCxnSpPr>
          <p:nvPr/>
        </p:nvCxnSpPr>
        <p:spPr>
          <a:xfrm rot="10800000" flipV="1">
            <a:off x="1612416" y="2537401"/>
            <a:ext cx="255175" cy="81931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8540D793-376A-F83F-C9D7-12E23E131CE5}"/>
              </a:ext>
            </a:extLst>
          </p:cNvPr>
          <p:cNvPicPr>
            <a:picLocks noChangeAspect="1"/>
          </p:cNvPicPr>
          <p:nvPr/>
        </p:nvPicPr>
        <p:blipFill>
          <a:blip r:embed="rId3"/>
          <a:stretch>
            <a:fillRect/>
          </a:stretch>
        </p:blipFill>
        <p:spPr>
          <a:xfrm>
            <a:off x="1810250" y="4922429"/>
            <a:ext cx="2381250" cy="1352550"/>
          </a:xfrm>
          <a:prstGeom prst="rect">
            <a:avLst/>
          </a:prstGeom>
        </p:spPr>
      </p:pic>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smtClean="0"/>
              <a:t>8/28/2026</a:t>
            </a:fld>
            <a:endParaRPr lang="en-US"/>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smtClean="0"/>
              <a:t>7</a:t>
            </a:fld>
            <a:endParaRPr lang="en-US"/>
          </a:p>
        </p:txBody>
      </p:sp>
      <p:sp>
        <p:nvSpPr>
          <p:cNvPr id="11" name="Rectangle 10">
            <a:extLst>
              <a:ext uri="{FF2B5EF4-FFF2-40B4-BE49-F238E27FC236}">
                <a16:creationId xmlns:a16="http://schemas.microsoft.com/office/drawing/2014/main" id="{430E17CC-3182-0DFD-4C83-E3654869F0F4}"/>
              </a:ext>
            </a:extLst>
          </p:cNvPr>
          <p:cNvSpPr/>
          <p:nvPr/>
        </p:nvSpPr>
        <p:spPr>
          <a:xfrm>
            <a:off x="5276997" y="4610085"/>
            <a:ext cx="5104754" cy="920271"/>
          </a:xfrm>
          <a:prstGeom prst="rect">
            <a:avLst/>
          </a:prstGeom>
          <a:solidFill>
            <a:srgbClr val="FFFFFF">
              <a:alpha val="3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A9A86E85-8E7C-683C-C244-2344EE805A9E}"/>
              </a:ext>
            </a:extLst>
          </p:cNvPr>
          <p:cNvSpPr txBox="1"/>
          <p:nvPr/>
        </p:nvSpPr>
        <p:spPr>
          <a:xfrm>
            <a:off x="3524638" y="1674084"/>
            <a:ext cx="1665841" cy="369332"/>
          </a:xfrm>
          <a:prstGeom prst="rect">
            <a:avLst/>
          </a:prstGeom>
          <a:noFill/>
        </p:spPr>
        <p:txBody>
          <a:bodyPr wrap="none" rtlCol="0">
            <a:spAutoFit/>
          </a:bodyPr>
          <a:lstStyle/>
          <a:p>
            <a:r>
              <a:rPr lang="en-US" dirty="0"/>
              <a:t>Matrix initialize</a:t>
            </a:r>
          </a:p>
        </p:txBody>
      </p:sp>
      <p:sp>
        <p:nvSpPr>
          <p:cNvPr id="15" name="TextBox 14">
            <a:extLst>
              <a:ext uri="{FF2B5EF4-FFF2-40B4-BE49-F238E27FC236}">
                <a16:creationId xmlns:a16="http://schemas.microsoft.com/office/drawing/2014/main" id="{5AC42510-7505-8080-DACA-010297680AE7}"/>
              </a:ext>
            </a:extLst>
          </p:cNvPr>
          <p:cNvSpPr txBox="1"/>
          <p:nvPr/>
        </p:nvSpPr>
        <p:spPr>
          <a:xfrm>
            <a:off x="9130431" y="3022048"/>
            <a:ext cx="703398" cy="369332"/>
          </a:xfrm>
          <a:prstGeom prst="rect">
            <a:avLst/>
          </a:prstGeom>
          <a:noFill/>
        </p:spPr>
        <p:txBody>
          <a:bodyPr wrap="none" rtlCol="0">
            <a:spAutoFit/>
          </a:bodyPr>
          <a:lstStyle/>
          <a:p>
            <a:r>
              <a:rPr lang="en-US" dirty="0"/>
              <a:t>Copy</a:t>
            </a:r>
          </a:p>
        </p:txBody>
      </p:sp>
      <p:sp>
        <p:nvSpPr>
          <p:cNvPr id="18" name="TextBox 17">
            <a:extLst>
              <a:ext uri="{FF2B5EF4-FFF2-40B4-BE49-F238E27FC236}">
                <a16:creationId xmlns:a16="http://schemas.microsoft.com/office/drawing/2014/main" id="{6C2D8186-5554-A5E9-260E-01CC6F7A914B}"/>
              </a:ext>
            </a:extLst>
          </p:cNvPr>
          <p:cNvSpPr txBox="1"/>
          <p:nvPr/>
        </p:nvSpPr>
        <p:spPr>
          <a:xfrm>
            <a:off x="6539590" y="4425419"/>
            <a:ext cx="1651414" cy="369332"/>
          </a:xfrm>
          <a:prstGeom prst="rect">
            <a:avLst/>
          </a:prstGeom>
          <a:noFill/>
        </p:spPr>
        <p:txBody>
          <a:bodyPr wrap="none" rtlCol="0">
            <a:spAutoFit/>
          </a:bodyPr>
          <a:lstStyle/>
          <a:p>
            <a:pPr algn="ctr"/>
            <a:r>
              <a:rPr lang="en-US" dirty="0"/>
              <a:t>Matrix multiply</a:t>
            </a:r>
          </a:p>
        </p:txBody>
      </p:sp>
    </p:spTree>
    <p:extLst>
      <p:ext uri="{BB962C8B-B14F-4D97-AF65-F5344CB8AC3E}">
        <p14:creationId xmlns:p14="http://schemas.microsoft.com/office/powerpoint/2010/main" val="1912447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8" name="TextBox 7">
            <a:extLst>
              <a:ext uri="{FF2B5EF4-FFF2-40B4-BE49-F238E27FC236}">
                <a16:creationId xmlns:a16="http://schemas.microsoft.com/office/drawing/2014/main" id="{B17E6F97-71C0-E7B6-3913-C7F1E0B84654}"/>
              </a:ext>
            </a:extLst>
          </p:cNvPr>
          <p:cNvSpPr txBox="1"/>
          <p:nvPr/>
        </p:nvSpPr>
        <p:spPr>
          <a:xfrm>
            <a:off x="376823" y="2082114"/>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22168" y="3395316"/>
            <a:ext cx="6174234"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1"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a:off x="3109285" y="2999994"/>
            <a:ext cx="0" cy="395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6779116" y="2080889"/>
            <a:ext cx="4707604" cy="814710"/>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32918" y="2895599"/>
            <a:ext cx="0" cy="4997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303127" y="3395316"/>
            <a:ext cx="5659582" cy="2460566"/>
            <a:chOff x="7021150" y="3108961"/>
            <a:chExt cx="4244962" cy="2460566"/>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omp_for_each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tbb_for_each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7021150" y="3108961"/>
              <a:ext cx="4244962" cy="2460566"/>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smtClean="0"/>
              <a:t>8/28/2026</a:t>
            </a:fld>
            <a:endParaRPr lang="en-US"/>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smtClean="0"/>
              <a:t>8</a:t>
            </a:fld>
            <a:endParaRPr lang="en-US"/>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smtClean="0"/>
              <a:t>8/28/2026</a:t>
            </a:fld>
            <a:endParaRPr lang="en-US"/>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smtClean="0"/>
              <a:t>9</a:t>
            </a:fld>
            <a:endParaRPr lang="en-US"/>
          </a:p>
        </p:txBody>
      </p:sp>
      <p:sp>
        <p:nvSpPr>
          <p:cNvPr id="4" name="Flowchart: Process 3">
            <a:extLst>
              <a:ext uri="{FF2B5EF4-FFF2-40B4-BE49-F238E27FC236}">
                <a16:creationId xmlns:a16="http://schemas.microsoft.com/office/drawing/2014/main" id="{1A3646A4-0501-E64C-9EBA-2A5D70FCC45E}"/>
              </a:ext>
            </a:extLst>
          </p:cNvPr>
          <p:cNvSpPr/>
          <p:nvPr/>
        </p:nvSpPr>
        <p:spPr>
          <a:xfrm>
            <a:off x="2719349"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dirty="0"/>
              <a:t>Parameters in the 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6756788"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dirty="0"/>
              <a:t>Parameters in an </a:t>
            </a:r>
            <a:r>
              <a:rPr lang="en-US" dirty="0" err="1"/>
              <a:t>autotuner</a:t>
            </a:r>
            <a:r>
              <a:rPr lang="en-US"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642964"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605927" y="17730"/>
            <a:ext cx="187902" cy="596105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41D587DC-555E-F024-2296-A3954C42F0E6}"/>
              </a:ext>
            </a:extLst>
          </p:cNvPr>
          <p:cNvSpPr txBox="1"/>
          <p:nvPr/>
        </p:nvSpPr>
        <p:spPr>
          <a:xfrm>
            <a:off x="3949108" y="3152109"/>
            <a:ext cx="3501536" cy="369332"/>
          </a:xfrm>
          <a:prstGeom prst="rect">
            <a:avLst/>
          </a:prstGeom>
          <a:noFill/>
        </p:spPr>
        <p:txBody>
          <a:bodyPr wrap="none" rtlCol="0">
            <a:spAutoFit/>
          </a:bodyPr>
          <a:lstStyle/>
          <a:p>
            <a:pPr algn="ctr"/>
            <a:r>
              <a:rPr lang="en-US" dirty="0"/>
              <a:t>Too much boilerplate, error-prone</a:t>
            </a:r>
          </a:p>
        </p:txBody>
      </p:sp>
      <p:sp>
        <p:nvSpPr>
          <p:cNvPr id="15" name="Arrow: Down 14">
            <a:extLst>
              <a:ext uri="{FF2B5EF4-FFF2-40B4-BE49-F238E27FC236}">
                <a16:creationId xmlns:a16="http://schemas.microsoft.com/office/drawing/2014/main" id="{6270A02A-F64D-1590-FA37-729E2E1BC765}"/>
              </a:ext>
            </a:extLst>
          </p:cNvPr>
          <p:cNvSpPr/>
          <p:nvPr/>
        </p:nvSpPr>
        <p:spPr>
          <a:xfrm>
            <a:off x="5200214"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A517191D-6E0A-AA15-0D0A-F36C9AFA3E26}"/>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7DDBBE2-A63E-674B-08AE-0EFF57E0FE30}"/>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DEE38BC2-DE6F-53AE-919A-9277CD5405A3}"/>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412017" y="2181326"/>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5362217" y="2626979"/>
            <a:ext cx="6675976" cy="2668386"/>
          </a:xfrm>
          <a:prstGeom prst="rect">
            <a:avLst/>
          </a:prstGeom>
        </p:spPr>
      </p:pic>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smtClean="0"/>
              <a:t>8/28/2026</a:t>
            </a:fld>
            <a:endParaRPr lang="en-US"/>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smtClean="0"/>
              <a:t>10</a:t>
            </a:fld>
            <a:endParaRPr lang="en-US"/>
          </a:p>
        </p:txBody>
      </p:sp>
      <p:sp>
        <p:nvSpPr>
          <p:cNvPr id="6" name="TextBox 5">
            <a:extLst>
              <a:ext uri="{FF2B5EF4-FFF2-40B4-BE49-F238E27FC236}">
                <a16:creationId xmlns:a16="http://schemas.microsoft.com/office/drawing/2014/main" id="{C48EE12D-A54F-6CFD-63D4-ED8425AA5254}"/>
              </a:ext>
            </a:extLst>
          </p:cNvPr>
          <p:cNvSpPr txBox="1"/>
          <p:nvPr/>
        </p:nvSpPr>
        <p:spPr>
          <a:xfrm>
            <a:off x="2209800" y="1913901"/>
            <a:ext cx="1472775" cy="369332"/>
          </a:xfrm>
          <a:prstGeom prst="rect">
            <a:avLst/>
          </a:prstGeom>
          <a:noFill/>
        </p:spPr>
        <p:txBody>
          <a:bodyPr wrap="none" rtlCol="0">
            <a:spAutoFit/>
          </a:bodyPr>
          <a:lstStyle/>
          <a:p>
            <a:r>
              <a:rPr lang="en-US" dirty="0" err="1"/>
              <a:t>PolyBench</a:t>
            </a:r>
            <a:r>
              <a:rPr lang="en-US" dirty="0"/>
              <a:t>/C</a:t>
            </a:r>
          </a:p>
        </p:txBody>
      </p:sp>
      <p:sp>
        <p:nvSpPr>
          <p:cNvPr id="10" name="TextBox 9">
            <a:extLst>
              <a:ext uri="{FF2B5EF4-FFF2-40B4-BE49-F238E27FC236}">
                <a16:creationId xmlns:a16="http://schemas.microsoft.com/office/drawing/2014/main" id="{5C94ADD4-4CFC-E812-3B36-B6402C655DF5}"/>
              </a:ext>
            </a:extLst>
          </p:cNvPr>
          <p:cNvSpPr txBox="1"/>
          <p:nvPr/>
        </p:nvSpPr>
        <p:spPr>
          <a:xfrm>
            <a:off x="6561938" y="1920380"/>
            <a:ext cx="1626098" cy="646331"/>
          </a:xfrm>
          <a:prstGeom prst="rect">
            <a:avLst/>
          </a:prstGeom>
          <a:noFill/>
        </p:spPr>
        <p:txBody>
          <a:bodyPr wrap="square" rtlCol="0">
            <a:spAutoFit/>
          </a:bodyPr>
          <a:lstStyle/>
          <a:p>
            <a:pPr algn="ctr"/>
            <a:r>
              <a:rPr lang="en-US" dirty="0" err="1"/>
              <a:t>PolyBench</a:t>
            </a:r>
            <a:r>
              <a:rPr lang="en-US" dirty="0"/>
              <a:t>/C</a:t>
            </a:r>
            <a:br>
              <a:rPr lang="en-US" dirty="0"/>
            </a:br>
            <a:r>
              <a:rPr lang="en-US" dirty="0"/>
              <a:t>subset</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7182452" y="686211"/>
            <a:ext cx="241068" cy="388153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073698DB-93D9-A5F0-02CC-BCBD40643F77}"/>
              </a:ext>
            </a:extLst>
          </p:cNvPr>
          <p:cNvSpPr txBox="1"/>
          <p:nvPr/>
        </p:nvSpPr>
        <p:spPr>
          <a:xfrm>
            <a:off x="10402276" y="2080020"/>
            <a:ext cx="1903048" cy="646331"/>
          </a:xfrm>
          <a:prstGeom prst="rect">
            <a:avLst/>
          </a:prstGeom>
          <a:noFill/>
        </p:spPr>
        <p:txBody>
          <a:bodyPr wrap="square" rtlCol="0">
            <a:spAutoFit/>
          </a:bodyPr>
          <a:lstStyle/>
          <a:p>
            <a:pPr algn="ctr"/>
            <a:r>
              <a:rPr lang="en-US" dirty="0" err="1"/>
              <a:t>PolyBench</a:t>
            </a:r>
            <a:r>
              <a:rPr lang="en-US" dirty="0"/>
              <a:t>/GPU</a:t>
            </a:r>
            <a:br>
              <a:rPr lang="en-US" dirty="0"/>
            </a:br>
            <a:r>
              <a:rPr lang="en-US" dirty="0"/>
              <a:t>subset</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dirty="0">
                <a:solidFill>
                  <a:srgbClr val="C00000"/>
                </a:solidFill>
              </a:rPr>
              <a:t>Slightly more verbose</a:t>
            </a:r>
          </a:p>
          <a:p>
            <a:r>
              <a:rPr lang="en-US" dirty="0">
                <a:solidFill>
                  <a:schemeClr val="accent6"/>
                </a:solidFill>
              </a:rPr>
              <a:t>Less complex control flow</a:t>
            </a:r>
          </a:p>
          <a:p>
            <a:r>
              <a:rPr lang="en-US" dirty="0">
                <a:solidFill>
                  <a:srgbClr val="0070C0"/>
                </a:solidFill>
              </a:rPr>
              <a:t>Easier indexation</a:t>
            </a:r>
          </a:p>
          <a:p>
            <a:endParaRPr lang="en-US" dirty="0">
              <a:solidFill>
                <a:srgbClr val="0070C0"/>
              </a:solidFill>
            </a:endParaRPr>
          </a:p>
          <a:p>
            <a:pPr>
              <a:buFont typeface="Aptos" panose="020B0004020202020204" pitchFamily="34" charset="0"/>
              <a:buChar char="+"/>
            </a:pPr>
            <a:r>
              <a:rPr lang="en-US" dirty="0"/>
              <a:t>Higher flexibility</a:t>
            </a:r>
          </a:p>
          <a:p>
            <a:pPr>
              <a:buFont typeface="Aptos" panose="020B0004020202020204" pitchFamily="34" charset="0"/>
              <a:buChar char="+"/>
            </a:pPr>
            <a:r>
              <a:rPr lang="en-US"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smtClean="0"/>
              <a:t>8/28/2026</a:t>
            </a:fld>
            <a:endParaRPr lang="en-US"/>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smtClean="0"/>
              <a:t>11</a:t>
            </a:fld>
            <a:endParaRPr lang="en-US"/>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a:t>
            </a:r>
            <a:br>
              <a:rPr lang="en-US" noProof="0" dirty="0"/>
            </a:br>
            <a:r>
              <a:rPr lang="en-US" noProof="0" dirty="0"/>
              <a:t>initialization</a:t>
            </a:r>
          </a:p>
        </p:txBody>
      </p:sp>
      <p:sp>
        <p:nvSpPr>
          <p:cNvPr id="20" name="Rectangle 19">
            <a:extLst>
              <a:ext uri="{FF2B5EF4-FFF2-40B4-BE49-F238E27FC236}">
                <a16:creationId xmlns:a16="http://schemas.microsoft.com/office/drawing/2014/main" id="{68DE49E3-54DC-3782-623E-9216D46CB5CE}"/>
              </a:ext>
            </a:extLst>
          </p:cNvPr>
          <p:cNvSpPr/>
          <p:nvPr/>
        </p:nvSpPr>
        <p:spPr>
          <a:xfrm>
            <a:off x="1075129" y="2865120"/>
            <a:ext cx="3457303" cy="29319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803781" y="2865120"/>
            <a:ext cx="0" cy="293192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p:cNvCxnSpPr>
          <p:nvPr/>
        </p:nvCxnSpPr>
        <p:spPr>
          <a:xfrm>
            <a:off x="1075128" y="3838224"/>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769E367-8977-3525-B957-1C2C939268D0}"/>
              </a:ext>
            </a:extLst>
          </p:cNvPr>
          <p:cNvCxnSpPr>
            <a:cxnSpLocks/>
          </p:cNvCxnSpPr>
          <p:nvPr/>
        </p:nvCxnSpPr>
        <p:spPr>
          <a:xfrm flipH="1" flipV="1">
            <a:off x="838200" y="2485505"/>
            <a:ext cx="938349" cy="11372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flipV="1">
            <a:off x="3587931" y="2394065"/>
            <a:ext cx="228202" cy="12287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flipH="1">
            <a:off x="981516" y="4417583"/>
            <a:ext cx="728828" cy="426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6776428" y="71613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smtClean="0"/>
              <a:t>8/28/2026</a:t>
            </a:fld>
            <a:endParaRPr lang="en-US"/>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smtClean="0"/>
              <a:t>12</a:t>
            </a:fld>
            <a:endParaRPr lang="en-US"/>
          </a:p>
        </p:txBody>
      </p:sp>
      <p:cxnSp>
        <p:nvCxnSpPr>
          <p:cNvPr id="8" name="Straight Connector 7">
            <a:extLst>
              <a:ext uri="{FF2B5EF4-FFF2-40B4-BE49-F238E27FC236}">
                <a16:creationId xmlns:a16="http://schemas.microsoft.com/office/drawing/2014/main" id="{ED003267-ED43-03B4-278E-5280E26920E3}"/>
              </a:ext>
            </a:extLst>
          </p:cNvPr>
          <p:cNvCxnSpPr>
            <a:cxnSpLocks/>
          </p:cNvCxnSpPr>
          <p:nvPr/>
        </p:nvCxnSpPr>
        <p:spPr>
          <a:xfrm>
            <a:off x="3546388" y="4401480"/>
            <a:ext cx="1020023" cy="6562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5296D5F-A05B-5F58-38B3-8D1590117EB3}"/>
              </a:ext>
            </a:extLst>
          </p:cNvPr>
          <p:cNvSpPr txBox="1"/>
          <p:nvPr/>
        </p:nvSpPr>
        <p:spPr>
          <a:xfrm>
            <a:off x="460852" y="2024733"/>
            <a:ext cx="1253869" cy="369332"/>
          </a:xfrm>
          <a:prstGeom prst="rect">
            <a:avLst/>
          </a:prstGeom>
          <a:noFill/>
        </p:spPr>
        <p:txBody>
          <a:bodyPr wrap="none" rtlCol="0">
            <a:spAutoFit/>
          </a:bodyPr>
          <a:lstStyle/>
          <a:p>
            <a:r>
              <a:rPr lang="en-US" dirty="0"/>
              <a:t>Node 0 tile</a:t>
            </a:r>
          </a:p>
        </p:txBody>
      </p:sp>
      <p:sp>
        <p:nvSpPr>
          <p:cNvPr id="13" name="TextBox 12">
            <a:extLst>
              <a:ext uri="{FF2B5EF4-FFF2-40B4-BE49-F238E27FC236}">
                <a16:creationId xmlns:a16="http://schemas.microsoft.com/office/drawing/2014/main" id="{E01F05D8-0601-7358-07BD-D86E1609A0BD}"/>
              </a:ext>
            </a:extLst>
          </p:cNvPr>
          <p:cNvSpPr txBox="1"/>
          <p:nvPr/>
        </p:nvSpPr>
        <p:spPr>
          <a:xfrm>
            <a:off x="3567424" y="2055580"/>
            <a:ext cx="1253869" cy="369332"/>
          </a:xfrm>
          <a:prstGeom prst="rect">
            <a:avLst/>
          </a:prstGeom>
          <a:noFill/>
        </p:spPr>
        <p:txBody>
          <a:bodyPr wrap="none" rtlCol="0">
            <a:spAutoFit/>
          </a:bodyPr>
          <a:lstStyle/>
          <a:p>
            <a:r>
              <a:rPr lang="en-US" dirty="0"/>
              <a:t>Node 1 tile</a:t>
            </a:r>
          </a:p>
        </p:txBody>
      </p:sp>
      <p:sp>
        <p:nvSpPr>
          <p:cNvPr id="15" name="TextBox 14">
            <a:extLst>
              <a:ext uri="{FF2B5EF4-FFF2-40B4-BE49-F238E27FC236}">
                <a16:creationId xmlns:a16="http://schemas.microsoft.com/office/drawing/2014/main" id="{9F061358-0F0F-A077-E956-FC8F9870197C}"/>
              </a:ext>
            </a:extLst>
          </p:cNvPr>
          <p:cNvSpPr txBox="1"/>
          <p:nvPr/>
        </p:nvSpPr>
        <p:spPr>
          <a:xfrm>
            <a:off x="-76502" y="4166154"/>
            <a:ext cx="1253869" cy="369332"/>
          </a:xfrm>
          <a:prstGeom prst="rect">
            <a:avLst/>
          </a:prstGeom>
          <a:noFill/>
        </p:spPr>
        <p:txBody>
          <a:bodyPr wrap="none" rtlCol="0">
            <a:spAutoFit/>
          </a:bodyPr>
          <a:lstStyle/>
          <a:p>
            <a:r>
              <a:rPr lang="en-US" dirty="0"/>
              <a:t>Node 2 tile</a:t>
            </a:r>
          </a:p>
        </p:txBody>
      </p:sp>
      <p:sp>
        <p:nvSpPr>
          <p:cNvPr id="17" name="TextBox 16">
            <a:extLst>
              <a:ext uri="{FF2B5EF4-FFF2-40B4-BE49-F238E27FC236}">
                <a16:creationId xmlns:a16="http://schemas.microsoft.com/office/drawing/2014/main" id="{C63BF661-92F9-FB3E-6644-A624F3682A41}"/>
              </a:ext>
            </a:extLst>
          </p:cNvPr>
          <p:cNvSpPr txBox="1"/>
          <p:nvPr/>
        </p:nvSpPr>
        <p:spPr>
          <a:xfrm>
            <a:off x="4566411" y="4319175"/>
            <a:ext cx="1253869" cy="369332"/>
          </a:xfrm>
          <a:prstGeom prst="rect">
            <a:avLst/>
          </a:prstGeom>
          <a:noFill/>
        </p:spPr>
        <p:txBody>
          <a:bodyPr wrap="none" rtlCol="0">
            <a:spAutoFit/>
          </a:bodyPr>
          <a:lstStyle/>
          <a:p>
            <a:r>
              <a:rPr lang="en-US" dirty="0"/>
              <a:t>Node 3 tile</a:t>
            </a:r>
          </a:p>
        </p:txBody>
      </p:sp>
      <p:sp>
        <p:nvSpPr>
          <p:cNvPr id="21" name="TextBox 20">
            <a:extLst>
              <a:ext uri="{FF2B5EF4-FFF2-40B4-BE49-F238E27FC236}">
                <a16:creationId xmlns:a16="http://schemas.microsoft.com/office/drawing/2014/main" id="{E9081B18-2097-F218-444D-8457FDAFE687}"/>
              </a:ext>
            </a:extLst>
          </p:cNvPr>
          <p:cNvSpPr txBox="1"/>
          <p:nvPr/>
        </p:nvSpPr>
        <p:spPr>
          <a:xfrm>
            <a:off x="6776428" y="47738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807390" y="1085464"/>
            <a:ext cx="7708119" cy="3212418"/>
          </a:xfrm>
          <a:prstGeom prst="rect">
            <a:avLst/>
          </a:prstGeom>
          <a:noFill/>
          <a:ln>
            <a:solidFill>
              <a:schemeClr val="tx1"/>
            </a:solidFill>
          </a:ln>
        </p:spPr>
        <p:txBody>
          <a:bodyPr wrap="square">
            <a:spAutoFit/>
          </a:bodyPr>
          <a:lstStyle/>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 </a:t>
            </a:r>
            <a:r>
              <a:rPr lang="en-US" b="0" dirty="0">
                <a:solidFill>
                  <a:srgbClr val="795E26"/>
                </a:solidFill>
                <a:effectLst/>
                <a:latin typeface="Fira Code" panose="020B0809050000020004" pitchFamily="49" charset="0"/>
              </a:rPr>
              <a:t>traverser</a:t>
            </a:r>
            <a:r>
              <a:rPr lang="en-US" b="0" dirty="0">
                <a:solidFill>
                  <a:srgbClr val="000000"/>
                </a:solidFill>
                <a:effectLst/>
                <a:latin typeface="Fira Code" panose="020B0809050000020004" pitchFamily="49" charset="0"/>
              </a:rPr>
              <a:t>(</a:t>
            </a:r>
            <a:r>
              <a:rPr lang="en-US" b="0" dirty="0">
                <a:solidFill>
                  <a:srgbClr val="0070C1"/>
                </a:solidFill>
                <a:effectLst/>
                <a:latin typeface="Fira Code" panose="020B0809050000020004" pitchFamily="49" charset="0"/>
              </a:rPr>
              <a:t>Data</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set_length</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&gt;(</a:t>
            </a:r>
            <a:r>
              <a:rPr lang="en-US" b="0" dirty="0">
                <a:solidFill>
                  <a:srgbClr val="0070C1"/>
                </a:solidFill>
                <a:effectLst/>
                <a:latin typeface="Fira Code" panose="020B0809050000020004" pitchFamily="49" charset="0"/>
              </a:rPr>
              <a:t>2</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merge_blocks</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'J'</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p>
          <a:p>
            <a:pPr>
              <a:lnSpc>
                <a:spcPct val="113095"/>
              </a:lnSpc>
              <a:buNone/>
            </a:pPr>
            <a:endParaRPr lang="en-US" b="0" dirty="0">
              <a:solidFill>
                <a:srgbClr val="000000"/>
              </a:solidFill>
              <a:effectLst/>
              <a:latin typeface="Fira Code" panose="020B0809050000020004" pitchFamily="49" charset="0"/>
            </a:endParaRPr>
          </a:p>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MPItrav</a:t>
            </a: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mpi_traverser</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a:t>
            </a:r>
            <a:r>
              <a:rPr lang="en-US" b="0" dirty="0">
                <a:solidFill>
                  <a:srgbClr val="0000FF"/>
                </a:solidFill>
                <a:effectLst/>
                <a:latin typeface="Fira Code" panose="020B0809050000020004" pitchFamily="49" charset="0"/>
              </a:rPr>
              <a:t>COMM_WORLD</a:t>
            </a:r>
            <a:r>
              <a:rPr lang="en-US" b="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r>
              <a:rPr lang="en-US" sz="1800" b="0" dirty="0" err="1">
                <a:solidFill>
                  <a:srgbClr val="001080"/>
                </a:solidFill>
                <a:effectLst/>
                <a:latin typeface="Fira Code" panose="020B0809050000020004" pitchFamily="49" charset="0"/>
              </a:rPr>
              <a:t>MPItrav</a:t>
            </a:r>
            <a:r>
              <a:rPr lang="en-US" sz="1800" b="0" dirty="0">
                <a:solidFill>
                  <a:srgbClr val="000000"/>
                </a:solidFill>
                <a:effectLst/>
                <a:latin typeface="Fira Code" panose="020B0809050000020004" pitchFamily="49" charset="0"/>
              </a:rPr>
              <a:t> | [&amp;](</a:t>
            </a:r>
            <a:r>
              <a:rPr lang="en-US" sz="1800" b="0" dirty="0">
                <a:solidFill>
                  <a:srgbClr val="267F99"/>
                </a:solidFill>
                <a:effectLst/>
                <a:latin typeface="Fira Code" panose="020B0809050000020004" pitchFamily="49" charset="0"/>
              </a:rPr>
              <a:t>auto</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70C1"/>
                </a:solidFill>
                <a:effectLst/>
                <a:latin typeface="Fira Code" panose="020B0809050000020004" pitchFamily="49" charset="0"/>
              </a:rPr>
              <a:t>Tile</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a:t>
            </a:r>
          </a:p>
        </p:txBody>
      </p:sp>
      <p:sp>
        <p:nvSpPr>
          <p:cNvPr id="27" name="Right Brace 26">
            <a:extLst>
              <a:ext uri="{FF2B5EF4-FFF2-40B4-BE49-F238E27FC236}">
                <a16:creationId xmlns:a16="http://schemas.microsoft.com/office/drawing/2014/main" id="{5FFAABDD-4201-74E7-5C87-B5FE95CC8D61}"/>
              </a:ext>
            </a:extLst>
          </p:cNvPr>
          <p:cNvSpPr/>
          <p:nvPr/>
        </p:nvSpPr>
        <p:spPr>
          <a:xfrm>
            <a:off x="10553111" y="1176246"/>
            <a:ext cx="324197" cy="95403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TextBox 29">
            <a:extLst>
              <a:ext uri="{FF2B5EF4-FFF2-40B4-BE49-F238E27FC236}">
                <a16:creationId xmlns:a16="http://schemas.microsoft.com/office/drawing/2014/main" id="{F1C7236A-2A5F-5DB5-FFC2-747FA4DCCD3C}"/>
              </a:ext>
            </a:extLst>
          </p:cNvPr>
          <p:cNvSpPr txBox="1"/>
          <p:nvPr/>
        </p:nvSpPr>
        <p:spPr>
          <a:xfrm>
            <a:off x="10857636" y="1284214"/>
            <a:ext cx="1104790" cy="646331"/>
          </a:xfrm>
          <a:prstGeom prst="rect">
            <a:avLst/>
          </a:prstGeom>
          <a:noFill/>
        </p:spPr>
        <p:txBody>
          <a:bodyPr wrap="none" rtlCol="0">
            <a:spAutoFit/>
          </a:bodyPr>
          <a:lstStyle/>
          <a:p>
            <a:r>
              <a:rPr lang="en-US" noProof="0" dirty="0"/>
              <a:t>Encoding</a:t>
            </a:r>
            <a:br>
              <a:rPr lang="en-US" noProof="0" dirty="0"/>
            </a:br>
            <a:r>
              <a:rPr lang="en-US" noProof="0" dirty="0"/>
              <a:t>topology</a:t>
            </a:r>
          </a:p>
        </p:txBody>
      </p:sp>
      <p:sp>
        <p:nvSpPr>
          <p:cNvPr id="38" name="Oval 37">
            <a:extLst>
              <a:ext uri="{FF2B5EF4-FFF2-40B4-BE49-F238E27FC236}">
                <a16:creationId xmlns:a16="http://schemas.microsoft.com/office/drawing/2014/main" id="{865CC931-F0E1-737A-536F-453E24B23690}"/>
              </a:ext>
            </a:extLst>
          </p:cNvPr>
          <p:cNvSpPr/>
          <p:nvPr/>
        </p:nvSpPr>
        <p:spPr>
          <a:xfrm>
            <a:off x="4626043" y="2128305"/>
            <a:ext cx="7554186" cy="8513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35AFA3F-B4AF-ABF4-9BB4-CE1EE90FCB8C}"/>
              </a:ext>
            </a:extLst>
          </p:cNvPr>
          <p:cNvSpPr txBox="1"/>
          <p:nvPr/>
        </p:nvSpPr>
        <p:spPr>
          <a:xfrm>
            <a:off x="6795126" y="5143169"/>
            <a:ext cx="4839852" cy="395108"/>
          </a:xfrm>
          <a:prstGeom prst="rect">
            <a:avLst/>
          </a:prstGeom>
          <a:noFill/>
        </p:spPr>
        <p:txBody>
          <a:bodyPr wrap="square">
            <a:spAutoFit/>
          </a:bodyPr>
          <a:lstStyle/>
          <a:p>
            <a:pPr>
              <a:lnSpc>
                <a:spcPct val="113095"/>
              </a:lnSpc>
              <a:buNone/>
            </a:pPr>
            <a:r>
              <a:rPr lang="en-US" b="0" dirty="0">
                <a:solidFill>
                  <a:srgbClr val="795E26"/>
                </a:solidFill>
                <a:effectLst/>
                <a:latin typeface="Fira Code" panose="020B0809050000020004" pitchFamily="49" charset="0"/>
              </a:rPr>
              <a:t>gather</a:t>
            </a:r>
            <a:r>
              <a:rPr lang="en-US" b="0" dirty="0">
                <a:solidFill>
                  <a:srgbClr val="000000"/>
                </a:solidFill>
                <a:effectLst/>
                <a:latin typeface="Fira Code" panose="020B0809050000020004" pitchFamily="49" charset="0"/>
              </a:rPr>
              <a:t>(</a:t>
            </a:r>
            <a:r>
              <a:rPr lang="en-US" dirty="0">
                <a:solidFill>
                  <a:srgbClr val="0070C1"/>
                </a:solidFill>
                <a:latin typeface="Fira Code" panose="020B0809050000020004" pitchFamily="49" charset="0"/>
              </a:rPr>
              <a:t>Tile</a:t>
            </a:r>
            <a:r>
              <a:rPr lang="en-US" dirty="0">
                <a:solidFill>
                  <a:srgbClr val="000000"/>
                </a:solidFill>
                <a:latin typeface="Fira Code" panose="020B0809050000020004" pitchFamily="49" charset="0"/>
              </a:rPr>
              <a:t>, </a:t>
            </a:r>
            <a:r>
              <a:rPr lang="en-US" dirty="0">
                <a:solidFill>
                  <a:srgbClr val="0070C1"/>
                </a:solidFill>
                <a:latin typeface="Fira Code" panose="020B0809050000020004" pitchFamily="49" charset="0"/>
              </a:rPr>
              <a:t>Data</a:t>
            </a:r>
            <a:r>
              <a:rPr lang="en-US" dirty="0">
                <a:solidFill>
                  <a:srgbClr val="000000"/>
                </a:solidFill>
                <a:latin typeface="Fira Code" panose="020B0809050000020004" pitchFamily="49" charset="0"/>
              </a:rPr>
              <a:t>, </a:t>
            </a:r>
            <a:r>
              <a:rPr lang="en-US" b="0" dirty="0">
                <a:solidFill>
                  <a:srgbClr val="0070C1"/>
                </a:solidFill>
                <a:effectLst/>
                <a:latin typeface="Fira Code" panose="020B0809050000020004" pitchFamily="49" charset="0"/>
              </a:rPr>
              <a:t>root</a:t>
            </a:r>
            <a:r>
              <a:rPr lang="en-US" b="0" dirty="0">
                <a:solidFill>
                  <a:srgbClr val="000000"/>
                </a:solidFill>
                <a:effectLst/>
                <a:latin typeface="Fira Code" panose="020B0809050000020004" pitchFamily="49" charset="0"/>
              </a:rPr>
              <a:t>, </a:t>
            </a:r>
            <a:r>
              <a:rPr lang="en-US" dirty="0" err="1">
                <a:solidFill>
                  <a:srgbClr val="001080"/>
                </a:solidFill>
                <a:latin typeface="Fira Code" panose="020B0809050000020004" pitchFamily="49" charset="0"/>
              </a:rPr>
              <a:t>MPItrav</a:t>
            </a:r>
            <a:r>
              <a:rPr lang="en-US" b="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9001402" y="3348945"/>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TextBox 51">
            <a:extLst>
              <a:ext uri="{FF2B5EF4-FFF2-40B4-BE49-F238E27FC236}">
                <a16:creationId xmlns:a16="http://schemas.microsoft.com/office/drawing/2014/main" id="{BDF331C8-C8ED-B5C4-3373-8B0D250696A0}"/>
              </a:ext>
            </a:extLst>
          </p:cNvPr>
          <p:cNvSpPr txBox="1"/>
          <p:nvPr/>
        </p:nvSpPr>
        <p:spPr>
          <a:xfrm>
            <a:off x="9325599" y="3622766"/>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9132420" y="3281535"/>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A4348FA-14AF-AE42-2449-6C4790D0706A}"/>
              </a:ext>
            </a:extLst>
          </p:cNvPr>
          <p:cNvSpPr txBox="1"/>
          <p:nvPr/>
        </p:nvSpPr>
        <p:spPr>
          <a:xfrm>
            <a:off x="7481162" y="5745321"/>
            <a:ext cx="3467779" cy="369332"/>
          </a:xfrm>
          <a:prstGeom prst="rect">
            <a:avLst/>
          </a:prstGeom>
          <a:noFill/>
        </p:spPr>
        <p:txBody>
          <a:bodyPr wrap="square" rtlCol="0">
            <a:spAutoFit/>
          </a:bodyPr>
          <a:lstStyle/>
          <a:p>
            <a:pPr algn="ctr"/>
            <a:r>
              <a:rPr lang="en-US" noProof="0" dirty="0"/>
              <a:t>Gathers the tiles into the result</a:t>
            </a:r>
          </a:p>
        </p:txBody>
      </p:sp>
      <p:sp>
        <p:nvSpPr>
          <p:cNvPr id="58" name="TextBox 57">
            <a:extLst>
              <a:ext uri="{FF2B5EF4-FFF2-40B4-BE49-F238E27FC236}">
                <a16:creationId xmlns:a16="http://schemas.microsoft.com/office/drawing/2014/main" id="{896E893B-6C24-AD2E-1DF6-311727C79C3C}"/>
              </a:ext>
            </a:extLst>
          </p:cNvPr>
          <p:cNvSpPr txBox="1"/>
          <p:nvPr/>
        </p:nvSpPr>
        <p:spPr>
          <a:xfrm>
            <a:off x="2354911" y="2376056"/>
            <a:ext cx="897740" cy="369332"/>
          </a:xfrm>
          <a:prstGeom prst="rect">
            <a:avLst/>
          </a:prstGeom>
          <a:noFill/>
        </p:spPr>
        <p:txBody>
          <a:bodyPr wrap="square">
            <a:spAutoFit/>
          </a:bodyPr>
          <a:lstStyle/>
          <a:p>
            <a:r>
              <a:rPr lang="en-US" sz="1800" b="0" dirty="0">
                <a:solidFill>
                  <a:srgbClr val="0070C1"/>
                </a:solidFill>
                <a:effectLst/>
                <a:latin typeface="Fira Code" panose="020B0809050000020004" pitchFamily="49" charset="0"/>
              </a:rPr>
              <a:t>Data</a:t>
            </a:r>
            <a:endParaRPr lang="en-US" dirty="0"/>
          </a:p>
        </p:txBody>
      </p:sp>
      <p:cxnSp>
        <p:nvCxnSpPr>
          <p:cNvPr id="59" name="Straight Connector 58">
            <a:extLst>
              <a:ext uri="{FF2B5EF4-FFF2-40B4-BE49-F238E27FC236}">
                <a16:creationId xmlns:a16="http://schemas.microsoft.com/office/drawing/2014/main" id="{8AA48A78-4D0D-D4CE-F1D8-AB2AB7880A21}"/>
              </a:ext>
            </a:extLst>
          </p:cNvPr>
          <p:cNvCxnSpPr>
            <a:cxnSpLocks/>
          </p:cNvCxnSpPr>
          <p:nvPr/>
        </p:nvCxnSpPr>
        <p:spPr>
          <a:xfrm>
            <a:off x="1075127" y="483562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011014B-915E-8EB8-9EEA-F373326AF674}"/>
              </a:ext>
            </a:extLst>
          </p:cNvPr>
          <p:cNvCxnSpPr>
            <a:cxnSpLocks/>
          </p:cNvCxnSpPr>
          <p:nvPr/>
        </p:nvCxnSpPr>
        <p:spPr>
          <a:xfrm flipH="1">
            <a:off x="1109108" y="5562873"/>
            <a:ext cx="747410" cy="42062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7" name="TextBox 66">
            <a:extLst>
              <a:ext uri="{FF2B5EF4-FFF2-40B4-BE49-F238E27FC236}">
                <a16:creationId xmlns:a16="http://schemas.microsoft.com/office/drawing/2014/main" id="{F428AF86-07EC-BFD9-FDA1-8725D8AC3848}"/>
              </a:ext>
            </a:extLst>
          </p:cNvPr>
          <p:cNvSpPr txBox="1"/>
          <p:nvPr/>
        </p:nvSpPr>
        <p:spPr>
          <a:xfrm>
            <a:off x="205541" y="5990975"/>
            <a:ext cx="1253869" cy="369332"/>
          </a:xfrm>
          <a:prstGeom prst="rect">
            <a:avLst/>
          </a:prstGeom>
          <a:noFill/>
        </p:spPr>
        <p:txBody>
          <a:bodyPr wrap="none" rtlCol="0">
            <a:spAutoFit/>
          </a:bodyPr>
          <a:lstStyle/>
          <a:p>
            <a:r>
              <a:rPr lang="en-US" dirty="0"/>
              <a:t>Node 4 tile</a:t>
            </a:r>
          </a:p>
        </p:txBody>
      </p:sp>
      <p:sp>
        <p:nvSpPr>
          <p:cNvPr id="70" name="TextBox 69">
            <a:extLst>
              <a:ext uri="{FF2B5EF4-FFF2-40B4-BE49-F238E27FC236}">
                <a16:creationId xmlns:a16="http://schemas.microsoft.com/office/drawing/2014/main" id="{6E3CBF0D-5F3F-C340-AD1E-3E9E4A50D783}"/>
              </a:ext>
            </a:extLst>
          </p:cNvPr>
          <p:cNvSpPr txBox="1"/>
          <p:nvPr/>
        </p:nvSpPr>
        <p:spPr>
          <a:xfrm>
            <a:off x="4125994" y="5938255"/>
            <a:ext cx="1253869" cy="369332"/>
          </a:xfrm>
          <a:prstGeom prst="rect">
            <a:avLst/>
          </a:prstGeom>
          <a:noFill/>
        </p:spPr>
        <p:txBody>
          <a:bodyPr wrap="none" rtlCol="0">
            <a:spAutoFit/>
          </a:bodyPr>
          <a:lstStyle/>
          <a:p>
            <a:r>
              <a:rPr lang="en-US" dirty="0"/>
              <a:t>Node 5 tile</a:t>
            </a:r>
          </a:p>
        </p:txBody>
      </p:sp>
      <p:cxnSp>
        <p:nvCxnSpPr>
          <p:cNvPr id="72" name="Straight Connector 71">
            <a:extLst>
              <a:ext uri="{FF2B5EF4-FFF2-40B4-BE49-F238E27FC236}">
                <a16:creationId xmlns:a16="http://schemas.microsoft.com/office/drawing/2014/main" id="{54C91492-52A6-78AF-5BA4-FE8654664AB4}"/>
              </a:ext>
            </a:extLst>
          </p:cNvPr>
          <p:cNvCxnSpPr>
            <a:cxnSpLocks/>
          </p:cNvCxnSpPr>
          <p:nvPr/>
        </p:nvCxnSpPr>
        <p:spPr>
          <a:xfrm flipH="1" flipV="1">
            <a:off x="3728886" y="5679959"/>
            <a:ext cx="837525" cy="31101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5317591" y="1027906"/>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530610" y="3220748"/>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3" name="TextBox 12">
            <a:extLst>
              <a:ext uri="{FF2B5EF4-FFF2-40B4-BE49-F238E27FC236}">
                <a16:creationId xmlns:a16="http://schemas.microsoft.com/office/drawing/2014/main" id="{439C9CAD-9E1E-7EC1-4429-D017CA1092E1}"/>
              </a:ext>
            </a:extLst>
          </p:cNvPr>
          <p:cNvSpPr txBox="1"/>
          <p:nvPr/>
        </p:nvSpPr>
        <p:spPr>
          <a:xfrm>
            <a:off x="1057696" y="4769331"/>
            <a:ext cx="626454" cy="369332"/>
          </a:xfrm>
          <a:prstGeom prst="rect">
            <a:avLst/>
          </a:prstGeom>
          <a:noFill/>
        </p:spPr>
        <p:txBody>
          <a:bodyPr wrap="none" rtlCol="0">
            <a:spAutoFit/>
          </a:bodyPr>
          <a:lstStyle/>
          <a:p>
            <a:r>
              <a:rPr lang="en-US" noProof="0" dirty="0"/>
              <a:t>ours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10531434" y="4679949"/>
            <a:ext cx="713016" cy="369332"/>
          </a:xfrm>
          <a:prstGeom prst="rect">
            <a:avLst/>
          </a:prstGeom>
          <a:noFill/>
        </p:spPr>
        <p:txBody>
          <a:bodyPr wrap="none" rtlCol="0">
            <a:spAutoFit/>
          </a:bodyPr>
          <a:lstStyle/>
          <a:p>
            <a:r>
              <a:rPr lang="en-US" noProof="0" dirty="0"/>
              <a:t>naive</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smtClean="0"/>
              <a:t>8/28/2026</a:t>
            </a:fld>
            <a:endParaRPr lang="en-US"/>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smtClean="0"/>
              <a:t>13</a:t>
            </a:fld>
            <a:endParaRPr lang="en-US"/>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780368" y="1442644"/>
            <a:ext cx="2631264" cy="1986356"/>
          </a:xfrm>
          <a:prstGeom prst="rect">
            <a:avLst/>
          </a:prstGeom>
        </p:spPr>
      </p:pic>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419049" y="3628516"/>
            <a:ext cx="2021500" cy="2650962"/>
          </a:xfrm>
          <a:prstGeom prst="rect">
            <a:avLst/>
          </a:prstGeom>
        </p:spPr>
      </p:pic>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1937956" y="3539134"/>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2072983" y="3134200"/>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3928058" y="3429000"/>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096000" y="3429000"/>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007681" y="4254601"/>
            <a:ext cx="2698431" cy="369332"/>
          </a:xfrm>
          <a:prstGeom prst="rect">
            <a:avLst/>
          </a:prstGeom>
          <a:noFill/>
        </p:spPr>
        <p:txBody>
          <a:bodyPr wrap="none" rtlCol="0">
            <a:spAutoFit/>
          </a:bodyPr>
          <a:lstStyle/>
          <a:p>
            <a:r>
              <a:rPr lang="en-US" dirty="0"/>
              <a:t>Preserves 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645637" y="4096535"/>
            <a:ext cx="2822824" cy="369332"/>
          </a:xfrm>
          <a:prstGeom prst="rect">
            <a:avLst/>
          </a:prstGeom>
          <a:noFill/>
        </p:spPr>
        <p:txBody>
          <a:bodyPr wrap="none" rtlCol="0">
            <a:spAutoFit/>
          </a:bodyPr>
          <a:lstStyle/>
          <a:p>
            <a:r>
              <a:rPr lang="en-US" dirty="0"/>
              <a:t>Preserves logical structure</a:t>
            </a:r>
          </a:p>
        </p:txBody>
      </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1794862" y="3305637"/>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733204" y="1356359"/>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smtClean="0"/>
              <a:t>8/28/2026</a:t>
            </a:fld>
            <a:endParaRPr lang="en-US"/>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smtClean="0"/>
              <a:t>14</a:t>
            </a:fld>
            <a:endParaRPr lang="en-US"/>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dirty="0"/>
              <a:t>Cellular Automata abstractions</a:t>
            </a:r>
            <a:endParaRPr lang="en-US" noProof="0" dirty="0"/>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smtClean="0"/>
              <a:t>15</a:t>
            </a:fld>
            <a:endParaRPr lang="en-US"/>
          </a:p>
        </p:txBody>
      </p:sp>
      <p:pic>
        <p:nvPicPr>
          <p:cNvPr id="8" name="Graphic 7">
            <a:extLst>
              <a:ext uri="{FF2B5EF4-FFF2-40B4-BE49-F238E27FC236}">
                <a16:creationId xmlns:a16="http://schemas.microsoft.com/office/drawing/2014/main" id="{98E1269E-84AC-DEE2-DB4E-4474750008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7156" y="2248708"/>
            <a:ext cx="1375954" cy="1375954"/>
          </a:xfrm>
          <a:prstGeom prst="rect">
            <a:avLst/>
          </a:prstGeom>
        </p:spPr>
      </p:pic>
      <p:sp>
        <p:nvSpPr>
          <p:cNvPr id="31" name="TextBox 30">
            <a:extLst>
              <a:ext uri="{FF2B5EF4-FFF2-40B4-BE49-F238E27FC236}">
                <a16:creationId xmlns:a16="http://schemas.microsoft.com/office/drawing/2014/main" id="{7F9EF83F-D6D0-6A28-58E5-56F7C20423D4}"/>
              </a:ext>
            </a:extLst>
          </p:cNvPr>
          <p:cNvSpPr txBox="1"/>
          <p:nvPr/>
        </p:nvSpPr>
        <p:spPr>
          <a:xfrm>
            <a:off x="167523" y="3732911"/>
            <a:ext cx="5225579" cy="2587183"/>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effectLst/>
                <a:latin typeface="Fira Code" panose="020B0809050000020004" pitchFamily="49" charset="0"/>
              </a:rPr>
              <a:t>if</a:t>
            </a:r>
            <a:r>
              <a:rPr lang="en-US" sz="1600" dirty="0">
                <a:solidFill>
                  <a:srgbClr val="000000"/>
                </a:solidFill>
                <a:effectLst/>
                <a:latin typeface="Fira Code" panose="020B0809050000020004" pitchFamily="49" charset="0"/>
              </a:rPr>
              <a:t> (</a:t>
            </a:r>
            <a:r>
              <a:rPr lang="en-US" sz="1600" dirty="0">
                <a:solidFill>
                  <a:srgbClr val="001080"/>
                </a:solidFill>
                <a:effectLst/>
                <a:latin typeface="Fira Code" panose="020B0809050000020004" pitchFamily="49" charset="0"/>
              </a:rPr>
              <a:t>current</a:t>
            </a:r>
            <a:r>
              <a:rPr lang="en-US" sz="1600" dirty="0">
                <a:solidFill>
                  <a:srgbClr val="000000"/>
                </a:solidFill>
                <a:effectLst/>
                <a:latin typeface="Fira Code" panose="020B0809050000020004" pitchFamily="49" charset="0"/>
              </a:rPr>
              <a:t> == </a:t>
            </a:r>
            <a:r>
              <a:rPr lang="en-US" sz="1600" dirty="0">
                <a:solidFill>
                  <a:srgbClr val="0070C1"/>
                </a:solidFill>
                <a:effectLst/>
                <a:latin typeface="Fira Code" panose="020B0809050000020004" pitchFamily="49" charset="0"/>
              </a:rPr>
              <a:t>ALIVE</a:t>
            </a:r>
            <a:r>
              <a:rPr lang="en-US" sz="160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2</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 </a:t>
            </a:r>
            <a:r>
              <a:rPr lang="en-US" sz="1600" b="0" dirty="0">
                <a:solidFill>
                  <a:srgbClr val="000000"/>
                </a:solidFill>
                <a:effectLst/>
                <a:latin typeface="Fira Code" panose="020B0809050000020004" pitchFamily="49" charset="0"/>
              </a:rPr>
              <a:t>=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else</a:t>
            </a: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if</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neighbors</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3</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else</a:t>
            </a:r>
            <a:endParaRPr lang="en-US" sz="1600" b="0" dirty="0">
              <a:solidFill>
                <a:srgbClr val="000000"/>
              </a:solidFill>
              <a:effectLst/>
              <a:latin typeface="Fira Code" panose="020B0809050000020004" pitchFamily="49" charset="0"/>
            </a:endParaRP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next</a:t>
            </a:r>
            <a:r>
              <a:rPr lang="en-US" sz="1600" b="0" dirty="0">
                <a:solidFill>
                  <a:srgbClr val="000000"/>
                </a:solidFill>
                <a:effectLst/>
                <a:latin typeface="Fira Code" panose="020B0809050000020004" pitchFamily="49" charset="0"/>
              </a:rPr>
              <a:t> = </a:t>
            </a:r>
            <a:r>
              <a:rPr lang="en-US" sz="1600" b="0" dirty="0">
                <a:solidFill>
                  <a:srgbClr val="0070C1"/>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a:t>
            </a:r>
          </a:p>
        </p:txBody>
      </p:sp>
      <p:pic>
        <p:nvPicPr>
          <p:cNvPr id="34" name="Graphic 33">
            <a:extLst>
              <a:ext uri="{FF2B5EF4-FFF2-40B4-BE49-F238E27FC236}">
                <a16:creationId xmlns:a16="http://schemas.microsoft.com/office/drawing/2014/main" id="{9EC9903D-7976-AE7F-53EA-DB7D6319B6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3735186" y="2217749"/>
            <a:ext cx="1375954" cy="1375954"/>
          </a:xfrm>
          <a:prstGeom prst="rect">
            <a:avLst/>
          </a:prstGeom>
        </p:spPr>
      </p:pic>
      <p:cxnSp>
        <p:nvCxnSpPr>
          <p:cNvPr id="36" name="Straight Arrow Connector 35">
            <a:extLst>
              <a:ext uri="{FF2B5EF4-FFF2-40B4-BE49-F238E27FC236}">
                <a16:creationId xmlns:a16="http://schemas.microsoft.com/office/drawing/2014/main" id="{73268C98-D978-F28F-D534-A50D31A6583D}"/>
              </a:ext>
            </a:extLst>
          </p:cNvPr>
          <p:cNvCxnSpPr/>
          <p:nvPr/>
        </p:nvCxnSpPr>
        <p:spPr>
          <a:xfrm>
            <a:off x="2685011" y="2936685"/>
            <a:ext cx="9642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84762BE1-916C-D601-B954-E9B4996AD7B4}"/>
              </a:ext>
            </a:extLst>
          </p:cNvPr>
          <p:cNvSpPr/>
          <p:nvPr/>
        </p:nvSpPr>
        <p:spPr>
          <a:xfrm>
            <a:off x="1704109" y="2535382"/>
            <a:ext cx="819001" cy="8495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1DF01CBF-ED82-75C5-B137-525BD0A227B1}"/>
              </a:ext>
            </a:extLst>
          </p:cNvPr>
          <p:cNvSpPr txBox="1"/>
          <p:nvPr/>
        </p:nvSpPr>
        <p:spPr>
          <a:xfrm>
            <a:off x="1876218" y="1771333"/>
            <a:ext cx="2581861" cy="369332"/>
          </a:xfrm>
          <a:prstGeom prst="rect">
            <a:avLst/>
          </a:prstGeom>
          <a:noFill/>
        </p:spPr>
        <p:txBody>
          <a:bodyPr wrap="none" rtlCol="0">
            <a:spAutoFit/>
          </a:bodyPr>
          <a:lstStyle/>
          <a:p>
            <a:r>
              <a:rPr lang="en-US" dirty="0"/>
              <a:t>Game of Life automaton</a:t>
            </a:r>
          </a:p>
        </p:txBody>
      </p:sp>
      <p:sp>
        <p:nvSpPr>
          <p:cNvPr id="46" name="TextBox 45">
            <a:extLst>
              <a:ext uri="{FF2B5EF4-FFF2-40B4-BE49-F238E27FC236}">
                <a16:creationId xmlns:a16="http://schemas.microsoft.com/office/drawing/2014/main" id="{A0DADC12-4478-238B-5B5C-FCD09EE6C61B}"/>
              </a:ext>
            </a:extLst>
          </p:cNvPr>
          <p:cNvSpPr txBox="1"/>
          <p:nvPr/>
        </p:nvSpPr>
        <p:spPr>
          <a:xfrm>
            <a:off x="6040927" y="4150236"/>
            <a:ext cx="6096000" cy="1752531"/>
          </a:xfrm>
          <a:prstGeom prst="rect">
            <a:avLst/>
          </a:prstGeom>
          <a:noFill/>
          <a:ln>
            <a:solidFill>
              <a:schemeClr val="tx1"/>
            </a:solidFill>
          </a:ln>
        </p:spPr>
        <p:txBody>
          <a:bodyPr wrap="square">
            <a:spAutoFit/>
          </a:bodyPr>
          <a:lstStyle/>
          <a:p>
            <a:pPr>
              <a:lnSpc>
                <a:spcPct val="113095"/>
              </a:lnSpc>
              <a:buNone/>
            </a:pPr>
            <a:r>
              <a:rPr lang="en-US" sz="1600" b="0" dirty="0">
                <a:solidFill>
                  <a:srgbClr val="AF00DB"/>
                </a:solidFill>
                <a:effectLst/>
                <a:latin typeface="Fira Code" panose="020B0809050000020004" pitchFamily="49" charset="0"/>
              </a:rPr>
              <a:t>using</a:t>
            </a:r>
            <a:r>
              <a:rPr lang="en-US" sz="1600" b="0" dirty="0">
                <a:solidFill>
                  <a:srgbClr val="000000"/>
                </a:solidFill>
                <a:effectLst/>
                <a:latin typeface="Fira Code" panose="020B0809050000020004" pitchFamily="49" charset="0"/>
              </a:rPr>
              <a:t> </a:t>
            </a:r>
            <a:r>
              <a:rPr lang="en-US" sz="1600" b="0" dirty="0" err="1">
                <a:solidFill>
                  <a:srgbClr val="267F99"/>
                </a:solidFill>
                <a:effectLst/>
                <a:latin typeface="Fira Code" panose="020B0809050000020004" pitchFamily="49" charset="0"/>
              </a:rPr>
              <a:t>gol_rule</a:t>
            </a:r>
            <a:r>
              <a:rPr lang="en-US" sz="1600" b="0" dirty="0">
                <a:solidFill>
                  <a:srgbClr val="000000"/>
                </a:solidFill>
                <a:effectLst/>
                <a:latin typeface="Fira Code" panose="020B0809050000020004" pitchFamily="49" charset="0"/>
              </a:rPr>
              <a:t> =</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err="1">
                <a:solidFill>
                  <a:srgbClr val="001080"/>
                </a:solidFill>
                <a:latin typeface="Fira Code" panose="020B0809050000020004" pitchFamily="49" charset="0"/>
              </a:rPr>
              <a:t>is_alive</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has3_or_2</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&gt;&gt;::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p>
          <a:p>
            <a:pPr>
              <a:lnSpc>
                <a:spcPct val="113095"/>
              </a:lnSpc>
              <a:buNone/>
            </a:pPr>
            <a:r>
              <a:rPr lang="en-US" sz="1600" b="0" dirty="0">
                <a:solidFill>
                  <a:srgbClr val="000000"/>
                </a:solidFill>
                <a:effectLst/>
                <a:latin typeface="Fira Code" panose="020B0809050000020004" pitchFamily="49" charset="0"/>
              </a:rPr>
              <a:t>    </a:t>
            </a:r>
            <a:r>
              <a:rPr lang="en-US" sz="1600" dirty="0">
                <a:solidFill>
                  <a:srgbClr val="AF00DB"/>
                </a:solidFill>
                <a:latin typeface="Fira Code" panose="020B0809050000020004" pitchFamily="49" charset="0"/>
              </a:rPr>
              <a:t>if_</a:t>
            </a:r>
            <a:r>
              <a:rPr lang="en-US" sz="1600" b="0" dirty="0">
                <a:solidFill>
                  <a:srgbClr val="000000"/>
                </a:solidFill>
                <a:effectLst/>
                <a:latin typeface="Fira Code" panose="020B0809050000020004" pitchFamily="49" charset="0"/>
              </a:rPr>
              <a:t>&lt;</a:t>
            </a:r>
            <a:r>
              <a:rPr lang="en-US" sz="1600" dirty="0">
                <a:solidFill>
                  <a:srgbClr val="001080"/>
                </a:solidFill>
                <a:latin typeface="Fira Code" panose="020B0809050000020004" pitchFamily="49" charset="0"/>
              </a:rPr>
              <a:t>has3</a:t>
            </a:r>
            <a:r>
              <a:rPr lang="en-US" sz="1600" b="0" dirty="0">
                <a:solidFill>
                  <a:srgbClr val="000000"/>
                </a:solidFill>
                <a:effectLst/>
                <a:latin typeface="Fira Code" panose="020B0809050000020004" pitchFamily="49" charset="0"/>
              </a:rPr>
              <a:t>&gt;::</a:t>
            </a:r>
            <a:r>
              <a:rPr lang="en-US" sz="1600" b="0" dirty="0">
                <a:effectLst/>
                <a:latin typeface="Fira Code" panose="020B0809050000020004" pitchFamily="49" charset="0"/>
              </a:rPr>
              <a:t>then_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alive</a:t>
            </a:r>
            <a:r>
              <a:rPr lang="en-US" sz="1600" b="0" dirty="0">
                <a:solidFill>
                  <a:srgbClr val="000000"/>
                </a:solidFill>
                <a:effectLst/>
                <a:latin typeface="Fira Code" panose="020B0809050000020004" pitchFamily="49" charset="0"/>
              </a:rPr>
              <a:t>&gt;::</a:t>
            </a:r>
            <a:r>
              <a:rPr lang="en-US" sz="1600" dirty="0">
                <a:solidFill>
                  <a:srgbClr val="AF00DB"/>
                </a:solidFill>
                <a:latin typeface="Fira Code" panose="020B0809050000020004" pitchFamily="49" charset="0"/>
              </a:rPr>
              <a:t>else_</a:t>
            </a:r>
            <a:r>
              <a:rPr lang="en-US" sz="1600" b="0" dirty="0">
                <a:solidFill>
                  <a:srgbClr val="000000"/>
                </a:solidFill>
                <a:effectLst/>
                <a:latin typeface="Fira Code" panose="020B0809050000020004" pitchFamily="49" charset="0"/>
              </a:rPr>
              <a:t>&lt;</a:t>
            </a:r>
            <a:r>
              <a:rPr lang="en-US" sz="1600" b="0" dirty="0">
                <a:solidFill>
                  <a:srgbClr val="267F99"/>
                </a:solidFill>
                <a:effectLst/>
                <a:latin typeface="Fira Code" panose="020B0809050000020004" pitchFamily="49" charset="0"/>
              </a:rPr>
              <a:t>dead</a:t>
            </a:r>
            <a:r>
              <a:rPr lang="en-US" sz="1600" b="0" dirty="0">
                <a:solidFill>
                  <a:srgbClr val="000000"/>
                </a:solidFill>
                <a:effectLst/>
                <a:latin typeface="Fira Code" panose="020B0809050000020004" pitchFamily="49" charset="0"/>
              </a:rPr>
              <a:t>&gt;</a:t>
            </a:r>
          </a:p>
          <a:p>
            <a:pPr>
              <a:lnSpc>
                <a:spcPct val="113095"/>
              </a:lnSpc>
              <a:buNone/>
            </a:pPr>
            <a:r>
              <a:rPr lang="en-US" sz="1600" b="0" dirty="0">
                <a:solidFill>
                  <a:srgbClr val="000000"/>
                </a:solidFill>
                <a:effectLst/>
                <a:latin typeface="Fira Code" panose="020B0809050000020004" pitchFamily="49" charset="0"/>
              </a:rPr>
              <a:t>  &gt;;</a:t>
            </a:r>
          </a:p>
        </p:txBody>
      </p:sp>
      <p:cxnSp>
        <p:nvCxnSpPr>
          <p:cNvPr id="48" name="Straight Arrow Connector 47">
            <a:extLst>
              <a:ext uri="{FF2B5EF4-FFF2-40B4-BE49-F238E27FC236}">
                <a16:creationId xmlns:a16="http://schemas.microsoft.com/office/drawing/2014/main" id="{28944F7A-9857-3E6D-3641-A00C683DD933}"/>
              </a:ext>
            </a:extLst>
          </p:cNvPr>
          <p:cNvCxnSpPr>
            <a:cxnSpLocks/>
            <a:stCxn id="31" idx="3"/>
            <a:endCxn id="46" idx="1"/>
          </p:cNvCxnSpPr>
          <p:nvPr/>
        </p:nvCxnSpPr>
        <p:spPr>
          <a:xfrm flipV="1">
            <a:off x="5393102" y="5026502"/>
            <a:ext cx="64782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9394614-4B59-2819-85FD-88921C74BAE7}"/>
              </a:ext>
            </a:extLst>
          </p:cNvPr>
          <p:cNvSpPr txBox="1"/>
          <p:nvPr/>
        </p:nvSpPr>
        <p:spPr>
          <a:xfrm>
            <a:off x="7256341" y="3780904"/>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smtClean="0"/>
              <a:t>16</a:t>
            </a:fld>
            <a:endParaRPr lang="en-US"/>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7" y="2525655"/>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3339292" y="620089"/>
            <a:ext cx="5513417" cy="1545103"/>
          </a:xfrm>
          <a:prstGeom prst="rect">
            <a:avLst/>
          </a:prstGeom>
          <a:noFill/>
          <a:ln>
            <a:solidFill>
              <a:schemeClr val="tx1"/>
            </a:solidFill>
          </a:ln>
        </p:spPr>
        <p:txBody>
          <a:bodyPr wrap="square">
            <a:spAutoFit/>
          </a:bodyPr>
          <a:lstStyle/>
          <a:p>
            <a:pPr>
              <a:lnSpc>
                <a:spcPct val="113095"/>
              </a:lnSpc>
              <a:buNone/>
            </a:pPr>
            <a:r>
              <a:rPr lang="en-US" sz="1400" dirty="0">
                <a:solidFill>
                  <a:srgbClr val="AF00DB"/>
                </a:solidFill>
                <a:latin typeface="Fira Code" panose="020B0809050000020004" pitchFamily="49" charset="0"/>
              </a:rPr>
              <a:t>using</a:t>
            </a:r>
            <a:r>
              <a:rPr lang="en-US" sz="1400" dirty="0">
                <a:solidFill>
                  <a:srgbClr val="000000"/>
                </a:solidFill>
                <a:latin typeface="Fira Code" panose="020B0809050000020004" pitchFamily="49" charset="0"/>
              </a:rPr>
              <a:t> </a:t>
            </a:r>
            <a:r>
              <a:rPr lang="en-US" sz="1400" dirty="0" err="1">
                <a:solidFill>
                  <a:srgbClr val="267F99"/>
                </a:solidFill>
                <a:latin typeface="Fira Code" panose="020B0809050000020004" pitchFamily="49" charset="0"/>
              </a:rPr>
              <a:t>gol_rule</a:t>
            </a:r>
            <a:r>
              <a:rPr lang="en-US" sz="1400" dirty="0">
                <a:solidFill>
                  <a:srgbClr val="000000"/>
                </a:solidFill>
                <a:latin typeface="Fira Code" panose="020B0809050000020004" pitchFamily="49" charset="0"/>
              </a:rPr>
              <a:t> =</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err="1">
                <a:solidFill>
                  <a:srgbClr val="001080"/>
                </a:solidFill>
                <a:latin typeface="Fira Code" panose="020B0809050000020004" pitchFamily="49" charset="0"/>
              </a:rPr>
              <a:t>is_alive</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has3_or_2</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&gt;&gt;::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a:t>
            </a:r>
          </a:p>
          <a:p>
            <a:pPr>
              <a:lnSpc>
                <a:spcPct val="113095"/>
              </a:lnSpc>
              <a:buNone/>
            </a:pPr>
            <a:r>
              <a:rPr lang="en-US" sz="140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a:stCxn id="8" idx="2"/>
          </p:cNvCxnSpPr>
          <p:nvPr/>
        </p:nvCxnSpPr>
        <p:spPr>
          <a:xfrm>
            <a:off x="6096001" y="2165192"/>
            <a:ext cx="2362720" cy="9103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263414" y="211557"/>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pic>
        <p:nvPicPr>
          <p:cNvPr id="17" name="Picture 16">
            <a:extLst>
              <a:ext uri="{FF2B5EF4-FFF2-40B4-BE49-F238E27FC236}">
                <a16:creationId xmlns:a16="http://schemas.microsoft.com/office/drawing/2014/main" id="{D49D01EB-6B87-A8AF-C645-0C7149AF3B52}"/>
              </a:ext>
            </a:extLst>
          </p:cNvPr>
          <p:cNvPicPr>
            <a:picLocks noChangeAspect="1"/>
          </p:cNvPicPr>
          <p:nvPr/>
        </p:nvPicPr>
        <p:blipFill>
          <a:blip r:embed="rId4"/>
          <a:srcRect/>
          <a:stretch>
            <a:fillRect/>
          </a:stretch>
        </p:blipFill>
        <p:spPr>
          <a:xfrm>
            <a:off x="1908279" y="5120530"/>
            <a:ext cx="3346242" cy="1737470"/>
          </a:xfrm>
          <a:prstGeom prst="rect">
            <a:avLst/>
          </a:prstGeom>
        </p:spPr>
      </p:pic>
      <p:pic>
        <p:nvPicPr>
          <p:cNvPr id="19" name="Picture 18">
            <a:extLst>
              <a:ext uri="{FF2B5EF4-FFF2-40B4-BE49-F238E27FC236}">
                <a16:creationId xmlns:a16="http://schemas.microsoft.com/office/drawing/2014/main" id="{F062BBCA-4E21-63C7-EDFF-E1D5A3C3D6D5}"/>
              </a:ext>
            </a:extLst>
          </p:cNvPr>
          <p:cNvPicPr>
            <a:picLocks noChangeAspect="1"/>
          </p:cNvPicPr>
          <p:nvPr/>
        </p:nvPicPr>
        <p:blipFill>
          <a:blip r:embed="rId5"/>
          <a:srcRect/>
          <a:stretch>
            <a:fillRect/>
          </a:stretch>
        </p:blipFill>
        <p:spPr>
          <a:xfrm>
            <a:off x="6155232" y="5029201"/>
            <a:ext cx="4606977" cy="1828799"/>
          </a:xfrm>
          <a:prstGeom prst="rect">
            <a:avLst/>
          </a:prstGeom>
        </p:spPr>
      </p:pic>
    </p:spTree>
    <p:extLst>
      <p:ext uri="{BB962C8B-B14F-4D97-AF65-F5344CB8AC3E}">
        <p14:creationId xmlns:p14="http://schemas.microsoft.com/office/powerpoint/2010/main" val="285354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3"/>
          <a:stretch>
            <a:fillRect/>
          </a:stretch>
        </p:blipFill>
        <p:spPr>
          <a:xfrm>
            <a:off x="310620" y="1524433"/>
            <a:ext cx="11570760" cy="426953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smtClean="0"/>
              <a:t>8/28/2026</a:t>
            </a:fld>
            <a:endParaRPr lang="en-US"/>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smtClean="0"/>
              <a:t>17</a:t>
            </a:fld>
            <a:endParaRPr lang="en-US"/>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dirty="0"/>
              <a:t>Comparison of GPU-parallelized computation of various cellular automata</a:t>
            </a:r>
            <a:br>
              <a:rPr lang="en-US" dirty="0"/>
            </a:br>
            <a:r>
              <a:rPr lang="en-US" i="1"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r>
              <a:rPr lang="en-US" dirty="0"/>
              <a:t>Abstractions for layout- &amp; traversal-agnostic design are practical</a:t>
            </a:r>
          </a:p>
          <a:p>
            <a:r>
              <a:rPr lang="en-US" dirty="0"/>
              <a:t>Applicable to parallel (CPU/GPU) and distributed HPC computing</a:t>
            </a:r>
          </a:p>
          <a:p>
            <a:r>
              <a:rPr lang="en-US" dirty="0"/>
              <a:t>Abstract even deeper details  in Cellular Automata</a:t>
            </a:r>
          </a:p>
          <a:p>
            <a:r>
              <a:rPr lang="en-US" dirty="0"/>
              <a:t>Improve</a:t>
            </a:r>
          </a:p>
          <a:p>
            <a:pPr lvl="1"/>
            <a:r>
              <a:rPr lang="en-US" dirty="0"/>
              <a:t>Maintainability</a:t>
            </a:r>
          </a:p>
          <a:p>
            <a:pPr lvl="1"/>
            <a:r>
              <a:rPr lang="en-US" dirty="0"/>
              <a:t>Flexibility</a:t>
            </a:r>
          </a:p>
          <a:p>
            <a:pPr lvl="1"/>
            <a:r>
              <a:rPr lang="en-US" dirty="0"/>
              <a:t>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smtClean="0"/>
              <a:t>8/28/2026</a:t>
            </a:fld>
            <a:endParaRPr lang="en-US"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32597657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dirty="0"/>
              <a:t>Motivation</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dirty="0"/>
              <a:t>LLMs capable of writing simple code</a:t>
            </a:r>
          </a:p>
          <a:p>
            <a:pPr lvl="1"/>
            <a:r>
              <a:rPr lang="en-US" dirty="0"/>
              <a:t>Data visualization, simple scripting, …</a:t>
            </a:r>
          </a:p>
          <a:p>
            <a:r>
              <a:rPr lang="en-US" dirty="0"/>
              <a:t>Not high-</a:t>
            </a:r>
            <a:r>
              <a:rPr lang="en-US" dirty="0" err="1"/>
              <a:t>lvl</a:t>
            </a:r>
            <a:r>
              <a:rPr lang="en-US" dirty="0"/>
              <a:t> decisions and parallel algorithms</a:t>
            </a:r>
          </a:p>
          <a:p>
            <a:endParaRPr lang="en-US" dirty="0"/>
          </a:p>
          <a:p>
            <a:endParaRPr lang="en-US" dirty="0"/>
          </a:p>
          <a:p>
            <a:endParaRPr lang="en-US" dirty="0"/>
          </a:p>
          <a:p>
            <a:r>
              <a:rPr lang="en-US" dirty="0"/>
              <a:t>What helps LLMs generate better code?</a:t>
            </a:r>
          </a:p>
          <a:p>
            <a:pPr lvl="1"/>
            <a:r>
              <a:rPr lang="en-US"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smtClean="0"/>
              <a:t>8/28/2026</a:t>
            </a:fld>
            <a:endParaRPr lang="en-US"/>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smtClean="0"/>
              <a:t>19</a:t>
            </a:fld>
            <a:endParaRPr lang="en-US"/>
          </a:p>
        </p:txBody>
      </p:sp>
    </p:spTree>
    <p:extLst>
      <p:ext uri="{BB962C8B-B14F-4D97-AF65-F5344CB8AC3E}">
        <p14:creationId xmlns:p14="http://schemas.microsoft.com/office/powerpoint/2010/main" val="25408518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smtClean="0"/>
              <a:t>20</a:t>
            </a:fld>
            <a:endParaRPr lang="en-US"/>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Expert-</a:t>
            </a:r>
            <a:r>
              <a:rPr lang="en-US" dirty="0" err="1"/>
              <a:t>lvl</a:t>
            </a:r>
            <a:r>
              <a:rPr lang="en-US" dirty="0"/>
              <a: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dirty="0"/>
              <a:t>🤖</a:t>
            </a:r>
          </a:p>
        </p:txBody>
      </p:sp>
      <p:cxnSp>
        <p:nvCxnSpPr>
          <p:cNvPr id="65" name="Straight Arrow Connector 64">
            <a:extLst>
              <a:ext uri="{FF2B5EF4-FFF2-40B4-BE49-F238E27FC236}">
                <a16:creationId xmlns:a16="http://schemas.microsoft.com/office/drawing/2014/main" id="{1B02E96B-466B-BBC3-B8FB-DB7A29A2BB81}"/>
              </a:ext>
            </a:extLst>
          </p:cNvPr>
          <p:cNvCxnSpPr>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22452505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GPT-o3-mini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smtClean="0"/>
              <a:t>21</a:t>
            </a:fld>
            <a:endParaRPr lang="en-US"/>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880282" y="1690688"/>
            <a:ext cx="1103155" cy="858622"/>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823231" y="2398622"/>
            <a:ext cx="1217256" cy="369332"/>
          </a:xfrm>
          <a:prstGeom prst="rect">
            <a:avLst/>
          </a:prstGeom>
          <a:noFill/>
        </p:spPr>
        <p:txBody>
          <a:bodyPr wrap="none" rtlCol="0">
            <a:spAutoFit/>
          </a:bodyPr>
          <a:lstStyle/>
          <a:p>
            <a:r>
              <a:rPr lang="en-US"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521644" y="1693284"/>
            <a:ext cx="1103155" cy="794271"/>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354787" y="2487555"/>
            <a:ext cx="1436868" cy="369332"/>
          </a:xfrm>
          <a:prstGeom prst="rect">
            <a:avLst/>
          </a:prstGeom>
          <a:noFill/>
        </p:spPr>
        <p:txBody>
          <a:bodyPr wrap="none" rtlCol="0">
            <a:spAutoFit/>
          </a:bodyPr>
          <a:lstStyle/>
          <a:p>
            <a:r>
              <a:rPr lang="en-US"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939099" y="1690688"/>
            <a:ext cx="1103155" cy="796867"/>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939099" y="2484959"/>
            <a:ext cx="1206741" cy="646331"/>
          </a:xfrm>
          <a:prstGeom prst="rect">
            <a:avLst/>
          </a:prstGeom>
          <a:noFill/>
        </p:spPr>
        <p:txBody>
          <a:bodyPr wrap="none" rtlCol="0">
            <a:spAutoFit/>
          </a:bodyPr>
          <a:lstStyle/>
          <a:p>
            <a:pPr algn="ctr"/>
            <a:r>
              <a:rPr lang="en-US" dirty="0"/>
              <a:t>K-Nearest</a:t>
            </a:r>
            <a:br>
              <a:rPr lang="en-US" dirty="0"/>
            </a:br>
            <a:r>
              <a:rPr lang="en-US"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473598" y="3557054"/>
            <a:ext cx="3916521" cy="369332"/>
          </a:xfrm>
          <a:prstGeom prst="rect">
            <a:avLst/>
          </a:prstGeom>
          <a:noFill/>
        </p:spPr>
        <p:txBody>
          <a:bodyPr wrap="none" rtlCol="0">
            <a:spAutoFit/>
          </a:bodyPr>
          <a:lstStyle/>
          <a:p>
            <a:pPr algn="ctr"/>
            <a:r>
              <a:rPr lang="en-US"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6032039" y="3557054"/>
            <a:ext cx="2082365" cy="369332"/>
          </a:xfrm>
          <a:prstGeom prst="rect">
            <a:avLst/>
          </a:prstGeom>
          <a:noFill/>
        </p:spPr>
        <p:txBody>
          <a:bodyPr wrap="none" rtlCol="0">
            <a:spAutoFit/>
          </a:bodyPr>
          <a:lstStyle/>
          <a:p>
            <a:pPr algn="ctr"/>
            <a:r>
              <a:rPr lang="en-US" dirty="0"/>
              <a:t>Bit-</a:t>
            </a:r>
            <a:r>
              <a:rPr lang="en-US" dirty="0" err="1"/>
              <a:t>lvl</a:t>
            </a:r>
            <a:r>
              <a:rPr lang="en-US"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950703" y="3557054"/>
            <a:ext cx="3079946" cy="369332"/>
          </a:xfrm>
          <a:prstGeom prst="rect">
            <a:avLst/>
          </a:prstGeom>
          <a:noFill/>
        </p:spPr>
        <p:txBody>
          <a:bodyPr wrap="none" rtlCol="0">
            <a:spAutoFit/>
          </a:bodyPr>
          <a:lstStyle/>
          <a:p>
            <a:pPr algn="ctr"/>
            <a:r>
              <a:rPr lang="en-US"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14887" y="4530820"/>
            <a:ext cx="1706173" cy="369332"/>
          </a:xfrm>
          <a:prstGeom prst="rect">
            <a:avLst/>
          </a:prstGeom>
          <a:noFill/>
        </p:spPr>
        <p:txBody>
          <a:bodyPr wrap="none" rtlCol="0">
            <a:spAutoFit/>
          </a:bodyPr>
          <a:lstStyle/>
          <a:p>
            <a:r>
              <a:rPr lang="en-US"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210788" y="5189669"/>
            <a:ext cx="1187248" cy="369332"/>
          </a:xfrm>
          <a:prstGeom prst="rect">
            <a:avLst/>
          </a:prstGeom>
          <a:noFill/>
        </p:spPr>
        <p:txBody>
          <a:bodyPr wrap="none" rtlCol="0">
            <a:spAutoFit/>
          </a:bodyPr>
          <a:lstStyle/>
          <a:p>
            <a:r>
              <a:rPr lang="en-US"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62048" y="5848518"/>
            <a:ext cx="1800493" cy="369332"/>
          </a:xfrm>
          <a:prstGeom prst="rect">
            <a:avLst/>
          </a:prstGeom>
          <a:noFill/>
        </p:spPr>
        <p:txBody>
          <a:bodyPr wrap="none" rtlCol="0">
            <a:spAutoFit/>
          </a:bodyPr>
          <a:lstStyle/>
          <a:p>
            <a:r>
              <a:rPr lang="en-US"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1867703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dirty="0"/>
              <a:t>OpenAI GPT-o3-mini</a:t>
            </a:r>
            <a:endParaRPr lang="en-US" sz="2400" noProof="0" dirty="0"/>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rcRect l="2698" r="47262"/>
          <a:stretch>
            <a:fillRect/>
          </a:stretch>
        </p:blipFill>
        <p:spPr>
          <a:xfrm>
            <a:off x="408393" y="2599181"/>
            <a:ext cx="4680138" cy="3692232"/>
          </a:xfrm>
          <a:prstGeom prst="rect">
            <a:avLst/>
          </a:prstGeom>
        </p:spPr>
      </p:pic>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4"/>
          <a:srcRect l="5830" t="5264" r="1424" b="4017"/>
          <a:stretch>
            <a:fillRect/>
          </a:stretch>
        </p:blipFill>
        <p:spPr>
          <a:xfrm>
            <a:off x="5934239" y="2761577"/>
            <a:ext cx="5849368" cy="2994486"/>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smtClean="0"/>
              <a:t>22</a:t>
            </a:fld>
            <a:endParaRPr lang="en-US"/>
          </a:p>
        </p:txBody>
      </p:sp>
      <p:sp>
        <p:nvSpPr>
          <p:cNvPr id="6" name="TextBox 5">
            <a:extLst>
              <a:ext uri="{FF2B5EF4-FFF2-40B4-BE49-F238E27FC236}">
                <a16:creationId xmlns:a16="http://schemas.microsoft.com/office/drawing/2014/main" id="{72D4F460-314F-F2C1-B648-8D4D93BCB4E5}"/>
              </a:ext>
            </a:extLst>
          </p:cNvPr>
          <p:cNvSpPr txBox="1"/>
          <p:nvPr/>
        </p:nvSpPr>
        <p:spPr>
          <a:xfrm>
            <a:off x="2364144" y="2229849"/>
            <a:ext cx="1217256" cy="369332"/>
          </a:xfrm>
          <a:prstGeom prst="rect">
            <a:avLst/>
          </a:prstGeom>
          <a:noFill/>
        </p:spPr>
        <p:txBody>
          <a:bodyPr wrap="none" rtlCol="0">
            <a:spAutoFit/>
          </a:bodyPr>
          <a:lstStyle/>
          <a:p>
            <a:r>
              <a:rPr lang="en-US"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391244" y="2229849"/>
            <a:ext cx="1436612" cy="369332"/>
          </a:xfrm>
          <a:prstGeom prst="rect">
            <a:avLst/>
          </a:prstGeom>
          <a:noFill/>
        </p:spPr>
        <p:txBody>
          <a:bodyPr wrap="none" rtlCol="0">
            <a:spAutoFit/>
          </a:bodyPr>
          <a:lstStyle/>
          <a:p>
            <a:r>
              <a:rPr lang="en-US" dirty="0"/>
              <a:t>Game of Life</a:t>
            </a:r>
          </a:p>
        </p:txBody>
      </p:sp>
      <p:sp>
        <p:nvSpPr>
          <p:cNvPr id="9" name="TextBox 8">
            <a:extLst>
              <a:ext uri="{FF2B5EF4-FFF2-40B4-BE49-F238E27FC236}">
                <a16:creationId xmlns:a16="http://schemas.microsoft.com/office/drawing/2014/main" id="{5F4D55C3-3077-8567-A06E-0244BA5AA6CA}"/>
              </a:ext>
            </a:extLst>
          </p:cNvPr>
          <p:cNvSpPr txBox="1"/>
          <p:nvPr/>
        </p:nvSpPr>
        <p:spPr>
          <a:xfrm>
            <a:off x="236845" y="6084477"/>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Tree>
    <p:extLst>
      <p:ext uri="{BB962C8B-B14F-4D97-AF65-F5344CB8AC3E}">
        <p14:creationId xmlns:p14="http://schemas.microsoft.com/office/powerpoint/2010/main" val="2307166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smtClean="0"/>
              <a:t>23</a:t>
            </a:fld>
            <a:endParaRPr lang="en-US"/>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dirty="0"/>
              <a:t>Prompt specificity (naïve </a:t>
            </a:r>
            <a:r>
              <a:rPr lang="en-US" dirty="0">
                <a:sym typeface="Wingdings" panose="05000000000000000000" pitchFamily="2" charset="2"/>
              </a:rPr>
              <a:t> …  design specification)</a:t>
            </a:r>
            <a:endParaRPr lang="en-US" dirty="0"/>
          </a:p>
        </p:txBody>
      </p:sp>
    </p:spTree>
    <p:extLst>
      <p:ext uri="{BB962C8B-B14F-4D97-AF65-F5344CB8AC3E}">
        <p14:creationId xmlns:p14="http://schemas.microsoft.com/office/powerpoint/2010/main" val="21285730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F8F2B-8096-7E9E-AA5F-7F72726C819C}"/>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7C9DDCDD-E57A-60CF-F6C1-98722252234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EB15584F-9C46-0B94-52F1-15D64D9E529C}"/>
              </a:ext>
            </a:extLst>
          </p:cNvPr>
          <p:cNvSpPr>
            <a:spLocks noGrp="1"/>
          </p:cNvSpPr>
          <p:nvPr>
            <p:ph type="sldNum" sz="quarter" idx="12"/>
          </p:nvPr>
        </p:nvSpPr>
        <p:spPr/>
        <p:txBody>
          <a:bodyPr/>
          <a:lstStyle/>
          <a:p>
            <a:fld id="{DA0BB241-1B5F-4309-9407-9EEA04D9598D}" type="slidenum">
              <a:rPr lang="en-US" smtClean="0"/>
              <a:t>24</a:t>
            </a:fld>
            <a:endParaRPr lang="en-US"/>
          </a:p>
        </p:txBody>
      </p:sp>
      <p:sp>
        <p:nvSpPr>
          <p:cNvPr id="6" name="TextBox 5">
            <a:extLst>
              <a:ext uri="{FF2B5EF4-FFF2-40B4-BE49-F238E27FC236}">
                <a16:creationId xmlns:a16="http://schemas.microsoft.com/office/drawing/2014/main" id="{F931F0D3-62D6-B790-92EE-5989B4C2DE90}"/>
              </a:ext>
            </a:extLst>
          </p:cNvPr>
          <p:cNvSpPr txBox="1"/>
          <p:nvPr/>
        </p:nvSpPr>
        <p:spPr>
          <a:xfrm>
            <a:off x="5898155" y="3285794"/>
            <a:ext cx="678391" cy="523220"/>
          </a:xfrm>
          <a:prstGeom prst="rect">
            <a:avLst/>
          </a:prstGeom>
          <a:noFill/>
        </p:spPr>
        <p:txBody>
          <a:bodyPr wrap="none" rtlCol="0">
            <a:spAutoFit/>
          </a:bodyPr>
          <a:lstStyle/>
          <a:p>
            <a:pPr algn="ctr"/>
            <a:r>
              <a:rPr lang="en-US" sz="2800" dirty="0"/>
              <a:t>🤖</a:t>
            </a:r>
          </a:p>
        </p:txBody>
      </p:sp>
      <p:sp>
        <p:nvSpPr>
          <p:cNvPr id="7" name="TextBox 6">
            <a:extLst>
              <a:ext uri="{FF2B5EF4-FFF2-40B4-BE49-F238E27FC236}">
                <a16:creationId xmlns:a16="http://schemas.microsoft.com/office/drawing/2014/main" id="{9FA49B44-DE06-06BD-B7AF-75B04E4D7F06}"/>
              </a:ext>
            </a:extLst>
          </p:cNvPr>
          <p:cNvSpPr txBox="1"/>
          <p:nvPr/>
        </p:nvSpPr>
        <p:spPr>
          <a:xfrm>
            <a:off x="5447840" y="3809014"/>
            <a:ext cx="1579022" cy="369332"/>
          </a:xfrm>
          <a:prstGeom prst="rect">
            <a:avLst/>
          </a:prstGeom>
          <a:noFill/>
        </p:spPr>
        <p:txBody>
          <a:bodyPr wrap="none" rtlCol="0">
            <a:spAutoFit/>
          </a:bodyPr>
          <a:lstStyle/>
          <a:p>
            <a:pPr algn="ctr"/>
            <a:r>
              <a:rPr lang="en-US" dirty="0"/>
              <a:t>LLM optimizer</a:t>
            </a:r>
          </a:p>
        </p:txBody>
      </p:sp>
      <p:sp>
        <p:nvSpPr>
          <p:cNvPr id="9" name="TextBox 8">
            <a:extLst>
              <a:ext uri="{FF2B5EF4-FFF2-40B4-BE49-F238E27FC236}">
                <a16:creationId xmlns:a16="http://schemas.microsoft.com/office/drawing/2014/main" id="{493CFFAC-E147-8EA9-0CFB-C6E6643CF311}"/>
              </a:ext>
            </a:extLst>
          </p:cNvPr>
          <p:cNvSpPr txBox="1"/>
          <p:nvPr/>
        </p:nvSpPr>
        <p:spPr>
          <a:xfrm>
            <a:off x="3864099" y="3285794"/>
            <a:ext cx="678391" cy="523220"/>
          </a:xfrm>
          <a:prstGeom prst="rect">
            <a:avLst/>
          </a:prstGeom>
          <a:noFill/>
        </p:spPr>
        <p:txBody>
          <a:bodyPr wrap="none" rtlCol="0">
            <a:spAutoFit/>
          </a:bodyPr>
          <a:lstStyle/>
          <a:p>
            <a:r>
              <a:rPr lang="en-US" sz="2800" dirty="0"/>
              <a:t>🐌</a:t>
            </a:r>
          </a:p>
        </p:txBody>
      </p:sp>
      <p:cxnSp>
        <p:nvCxnSpPr>
          <p:cNvPr id="11" name="Straight Arrow Connector 10">
            <a:extLst>
              <a:ext uri="{FF2B5EF4-FFF2-40B4-BE49-F238E27FC236}">
                <a16:creationId xmlns:a16="http://schemas.microsoft.com/office/drawing/2014/main" id="{36C96701-4992-BFFC-E886-D8DF71533624}"/>
              </a:ext>
            </a:extLst>
          </p:cNvPr>
          <p:cNvCxnSpPr>
            <a:stCxn id="9" idx="3"/>
            <a:endCxn id="6" idx="1"/>
          </p:cNvCxnSpPr>
          <p:nvPr/>
        </p:nvCxnSpPr>
        <p:spPr>
          <a:xfrm>
            <a:off x="4542490" y="3547404"/>
            <a:ext cx="13556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17F6E4F-7D25-96B8-1EA2-2A31E82074AB}"/>
              </a:ext>
            </a:extLst>
          </p:cNvPr>
          <p:cNvCxnSpPr>
            <a:cxnSpLocks/>
            <a:endCxn id="15" idx="1"/>
          </p:cNvCxnSpPr>
          <p:nvPr/>
        </p:nvCxnSpPr>
        <p:spPr>
          <a:xfrm>
            <a:off x="6576546" y="3547404"/>
            <a:ext cx="135566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509495A2-2783-83D7-9F8A-49ECA60DA476}"/>
              </a:ext>
            </a:extLst>
          </p:cNvPr>
          <p:cNvSpPr txBox="1"/>
          <p:nvPr/>
        </p:nvSpPr>
        <p:spPr>
          <a:xfrm>
            <a:off x="7932209" y="3285794"/>
            <a:ext cx="678391" cy="523220"/>
          </a:xfrm>
          <a:prstGeom prst="rect">
            <a:avLst/>
          </a:prstGeom>
          <a:noFill/>
        </p:spPr>
        <p:txBody>
          <a:bodyPr wrap="none" rtlCol="0">
            <a:spAutoFit/>
          </a:bodyPr>
          <a:lstStyle/>
          <a:p>
            <a:pPr algn="ctr"/>
            <a:r>
              <a:rPr lang="en-US" sz="2800" dirty="0"/>
              <a:t>🚀</a:t>
            </a:r>
          </a:p>
        </p:txBody>
      </p:sp>
      <p:sp>
        <p:nvSpPr>
          <p:cNvPr id="17" name="TextBox 16">
            <a:extLst>
              <a:ext uri="{FF2B5EF4-FFF2-40B4-BE49-F238E27FC236}">
                <a16:creationId xmlns:a16="http://schemas.microsoft.com/office/drawing/2014/main" id="{C0057DF1-75D1-ABD6-14BF-FA343EC6D033}"/>
              </a:ext>
            </a:extLst>
          </p:cNvPr>
          <p:cNvSpPr txBox="1"/>
          <p:nvPr/>
        </p:nvSpPr>
        <p:spPr>
          <a:xfrm>
            <a:off x="5276959" y="4928729"/>
            <a:ext cx="1910459" cy="369332"/>
          </a:xfrm>
          <a:prstGeom prst="rect">
            <a:avLst/>
          </a:prstGeom>
          <a:noFill/>
        </p:spPr>
        <p:txBody>
          <a:bodyPr wrap="none" rtlCol="0">
            <a:spAutoFit/>
          </a:bodyPr>
          <a:lstStyle/>
          <a:p>
            <a:r>
              <a:rPr lang="en-US" dirty="0"/>
              <a:t>What Abstraction</a:t>
            </a:r>
          </a:p>
        </p:txBody>
      </p:sp>
      <p:sp>
        <p:nvSpPr>
          <p:cNvPr id="18" name="TextBox 17">
            <a:extLst>
              <a:ext uri="{FF2B5EF4-FFF2-40B4-BE49-F238E27FC236}">
                <a16:creationId xmlns:a16="http://schemas.microsoft.com/office/drawing/2014/main" id="{BC787B5C-F15D-E453-E0C2-74F32811444B}"/>
              </a:ext>
            </a:extLst>
          </p:cNvPr>
          <p:cNvSpPr txBox="1"/>
          <p:nvPr/>
        </p:nvSpPr>
        <p:spPr>
          <a:xfrm>
            <a:off x="4077934" y="5555516"/>
            <a:ext cx="837089" cy="369332"/>
          </a:xfrm>
          <a:prstGeom prst="rect">
            <a:avLst/>
          </a:prstGeom>
          <a:noFill/>
        </p:spPr>
        <p:txBody>
          <a:bodyPr wrap="none" rtlCol="0">
            <a:spAutoFit/>
          </a:bodyPr>
          <a:lstStyle/>
          <a:p>
            <a:r>
              <a:rPr lang="en-US" dirty="0"/>
              <a:t>Halide</a:t>
            </a:r>
          </a:p>
        </p:txBody>
      </p:sp>
      <p:sp>
        <p:nvSpPr>
          <p:cNvPr id="19" name="TextBox 18">
            <a:extLst>
              <a:ext uri="{FF2B5EF4-FFF2-40B4-BE49-F238E27FC236}">
                <a16:creationId xmlns:a16="http://schemas.microsoft.com/office/drawing/2014/main" id="{23358F22-F533-1C7C-D8C5-74ED702D9FF3}"/>
              </a:ext>
            </a:extLst>
          </p:cNvPr>
          <p:cNvSpPr txBox="1"/>
          <p:nvPr/>
        </p:nvSpPr>
        <p:spPr>
          <a:xfrm>
            <a:off x="5538167" y="5555516"/>
            <a:ext cx="538417" cy="369332"/>
          </a:xfrm>
          <a:prstGeom prst="rect">
            <a:avLst/>
          </a:prstGeom>
          <a:noFill/>
        </p:spPr>
        <p:txBody>
          <a:bodyPr wrap="none" rtlCol="0">
            <a:spAutoFit/>
          </a:bodyPr>
          <a:lstStyle/>
          <a:p>
            <a:r>
              <a:rPr lang="en-US" dirty="0"/>
              <a:t>Exo</a:t>
            </a:r>
          </a:p>
        </p:txBody>
      </p:sp>
      <p:sp>
        <p:nvSpPr>
          <p:cNvPr id="20" name="TextBox 19">
            <a:extLst>
              <a:ext uri="{FF2B5EF4-FFF2-40B4-BE49-F238E27FC236}">
                <a16:creationId xmlns:a16="http://schemas.microsoft.com/office/drawing/2014/main" id="{09544EDC-8C17-AE4B-036F-97A08EF7C98C}"/>
              </a:ext>
            </a:extLst>
          </p:cNvPr>
          <p:cNvSpPr txBox="1"/>
          <p:nvPr/>
        </p:nvSpPr>
        <p:spPr>
          <a:xfrm>
            <a:off x="6699728" y="5555516"/>
            <a:ext cx="752129" cy="369332"/>
          </a:xfrm>
          <a:prstGeom prst="rect">
            <a:avLst/>
          </a:prstGeom>
          <a:noFill/>
        </p:spPr>
        <p:txBody>
          <a:bodyPr wrap="none" rtlCol="0">
            <a:spAutoFit/>
          </a:bodyPr>
          <a:lstStyle/>
          <a:p>
            <a:r>
              <a:rPr lang="en-US" dirty="0" err="1"/>
              <a:t>Noarr</a:t>
            </a:r>
            <a:endParaRPr lang="en-US" dirty="0"/>
          </a:p>
        </p:txBody>
      </p:sp>
      <p:sp>
        <p:nvSpPr>
          <p:cNvPr id="21" name="TextBox 20">
            <a:extLst>
              <a:ext uri="{FF2B5EF4-FFF2-40B4-BE49-F238E27FC236}">
                <a16:creationId xmlns:a16="http://schemas.microsoft.com/office/drawing/2014/main" id="{0A41B583-F767-91B8-538B-75DE9DE7AF66}"/>
              </a:ext>
            </a:extLst>
          </p:cNvPr>
          <p:cNvSpPr txBox="1"/>
          <p:nvPr/>
        </p:nvSpPr>
        <p:spPr>
          <a:xfrm>
            <a:off x="8079505" y="5555516"/>
            <a:ext cx="344966" cy="369332"/>
          </a:xfrm>
          <a:prstGeom prst="rect">
            <a:avLst/>
          </a:prstGeom>
          <a:noFill/>
        </p:spPr>
        <p:txBody>
          <a:bodyPr wrap="none" rtlCol="0">
            <a:spAutoFit/>
          </a:bodyPr>
          <a:lstStyle/>
          <a:p>
            <a:r>
              <a:rPr lang="en-US" dirty="0">
                <a:solidFill>
                  <a:schemeClr val="bg2">
                    <a:lumMod val="50000"/>
                  </a:schemeClr>
                </a:solidFill>
              </a:rPr>
              <a:t>C</a:t>
            </a:r>
          </a:p>
        </p:txBody>
      </p:sp>
      <p:sp>
        <p:nvSpPr>
          <p:cNvPr id="22" name="Right Brace 21">
            <a:extLst>
              <a:ext uri="{FF2B5EF4-FFF2-40B4-BE49-F238E27FC236}">
                <a16:creationId xmlns:a16="http://schemas.microsoft.com/office/drawing/2014/main" id="{F8913E04-5267-66BC-CE21-BB61AA117287}"/>
              </a:ext>
            </a:extLst>
          </p:cNvPr>
          <p:cNvSpPr/>
          <p:nvPr/>
        </p:nvSpPr>
        <p:spPr>
          <a:xfrm rot="16200000">
            <a:off x="6122237" y="3315566"/>
            <a:ext cx="230225" cy="424967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5FBD808A-C60E-D2B4-AE81-67F52D4FA591}"/>
              </a:ext>
            </a:extLst>
          </p:cNvPr>
          <p:cNvCxnSpPr>
            <a:cxnSpLocks/>
            <a:stCxn id="17" idx="0"/>
            <a:endCxn id="7" idx="2"/>
          </p:cNvCxnSpPr>
          <p:nvPr/>
        </p:nvCxnSpPr>
        <p:spPr>
          <a:xfrm flipV="1">
            <a:off x="6232189" y="4178346"/>
            <a:ext cx="5162" cy="7503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A37A6BF4-23D3-4BC4-D822-08D7F02A8E4A}"/>
              </a:ext>
            </a:extLst>
          </p:cNvPr>
          <p:cNvSpPr txBox="1"/>
          <p:nvPr/>
        </p:nvSpPr>
        <p:spPr>
          <a:xfrm>
            <a:off x="1864701" y="3224238"/>
            <a:ext cx="1542410" cy="646331"/>
          </a:xfrm>
          <a:prstGeom prst="rect">
            <a:avLst/>
          </a:prstGeom>
          <a:noFill/>
          <a:ln>
            <a:solidFill>
              <a:schemeClr val="tx1"/>
            </a:solidFill>
          </a:ln>
        </p:spPr>
        <p:txBody>
          <a:bodyPr wrap="none" rtlCol="0">
            <a:spAutoFit/>
          </a:bodyPr>
          <a:lstStyle/>
          <a:p>
            <a:pPr algn="ctr"/>
            <a:r>
              <a:rPr lang="en-US" dirty="0" err="1"/>
              <a:t>PolyBench</a:t>
            </a:r>
            <a:r>
              <a:rPr lang="en-US" dirty="0"/>
              <a:t>/C</a:t>
            </a:r>
          </a:p>
          <a:p>
            <a:pPr algn="ctr"/>
            <a:r>
              <a:rPr lang="en-US" i="1" dirty="0"/>
              <a:t>30 algorithms</a:t>
            </a:r>
          </a:p>
        </p:txBody>
      </p:sp>
      <p:cxnSp>
        <p:nvCxnSpPr>
          <p:cNvPr id="31" name="Straight Arrow Connector 30">
            <a:extLst>
              <a:ext uri="{FF2B5EF4-FFF2-40B4-BE49-F238E27FC236}">
                <a16:creationId xmlns:a16="http://schemas.microsoft.com/office/drawing/2014/main" id="{3563A0DB-403A-ADCF-C3F1-0F9C8265FE3F}"/>
              </a:ext>
            </a:extLst>
          </p:cNvPr>
          <p:cNvCxnSpPr>
            <a:stCxn id="29" idx="3"/>
            <a:endCxn id="9" idx="1"/>
          </p:cNvCxnSpPr>
          <p:nvPr/>
        </p:nvCxnSpPr>
        <p:spPr>
          <a:xfrm>
            <a:off x="3407111" y="3547404"/>
            <a:ext cx="45698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Left Brace 32">
            <a:extLst>
              <a:ext uri="{FF2B5EF4-FFF2-40B4-BE49-F238E27FC236}">
                <a16:creationId xmlns:a16="http://schemas.microsoft.com/office/drawing/2014/main" id="{6C2941FF-F0FF-E5E0-7D40-1745F519E03E}"/>
              </a:ext>
            </a:extLst>
          </p:cNvPr>
          <p:cNvSpPr/>
          <p:nvPr/>
        </p:nvSpPr>
        <p:spPr>
          <a:xfrm>
            <a:off x="8610600" y="3259030"/>
            <a:ext cx="114804" cy="54998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TextBox 33">
            <a:extLst>
              <a:ext uri="{FF2B5EF4-FFF2-40B4-BE49-F238E27FC236}">
                <a16:creationId xmlns:a16="http://schemas.microsoft.com/office/drawing/2014/main" id="{C17EFA50-E483-F872-FFF7-0042EB900CD4}"/>
              </a:ext>
            </a:extLst>
          </p:cNvPr>
          <p:cNvSpPr txBox="1"/>
          <p:nvPr/>
        </p:nvSpPr>
        <p:spPr>
          <a:xfrm>
            <a:off x="8725404" y="3164074"/>
            <a:ext cx="1414233" cy="369332"/>
          </a:xfrm>
          <a:prstGeom prst="rect">
            <a:avLst/>
          </a:prstGeom>
          <a:noFill/>
        </p:spPr>
        <p:txBody>
          <a:bodyPr wrap="none" rtlCol="0">
            <a:spAutoFit/>
          </a:bodyPr>
          <a:lstStyle/>
          <a:p>
            <a:r>
              <a:rPr lang="en-US" dirty="0"/>
              <a:t>Correctness</a:t>
            </a:r>
          </a:p>
        </p:txBody>
      </p:sp>
      <p:sp>
        <p:nvSpPr>
          <p:cNvPr id="36" name="TextBox 35">
            <a:extLst>
              <a:ext uri="{FF2B5EF4-FFF2-40B4-BE49-F238E27FC236}">
                <a16:creationId xmlns:a16="http://schemas.microsoft.com/office/drawing/2014/main" id="{2F778B3F-0584-FE3C-1B8D-FA252396DDD7}"/>
              </a:ext>
            </a:extLst>
          </p:cNvPr>
          <p:cNvSpPr txBox="1"/>
          <p:nvPr/>
        </p:nvSpPr>
        <p:spPr>
          <a:xfrm>
            <a:off x="8854766" y="3439682"/>
            <a:ext cx="1155509" cy="369332"/>
          </a:xfrm>
          <a:prstGeom prst="rect">
            <a:avLst/>
          </a:prstGeom>
          <a:noFill/>
        </p:spPr>
        <p:txBody>
          <a:bodyPr wrap="none" rtlCol="0">
            <a:spAutoFit/>
          </a:bodyPr>
          <a:lstStyle/>
          <a:p>
            <a:r>
              <a:rPr lang="en-US" dirty="0"/>
              <a:t>Efficiency</a:t>
            </a:r>
          </a:p>
        </p:txBody>
      </p:sp>
    </p:spTree>
    <p:extLst>
      <p:ext uri="{BB962C8B-B14F-4D97-AF65-F5344CB8AC3E}">
        <p14:creationId xmlns:p14="http://schemas.microsoft.com/office/powerpoint/2010/main" val="2707702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95571F21-827D-539D-D4E5-DB1BB7B71F43}"/>
              </a:ext>
            </a:extLst>
          </p:cNvPr>
          <p:cNvGrpSpPr/>
          <p:nvPr/>
        </p:nvGrpSpPr>
        <p:grpSpPr>
          <a:xfrm>
            <a:off x="2579748" y="2908938"/>
            <a:ext cx="6725589" cy="2229161"/>
            <a:chOff x="2579748" y="2908938"/>
            <a:chExt cx="6725589" cy="2229161"/>
          </a:xfrm>
        </p:grpSpPr>
        <p:pic>
          <p:nvPicPr>
            <p:cNvPr id="6" name="Picture 5">
              <a:extLst>
                <a:ext uri="{FF2B5EF4-FFF2-40B4-BE49-F238E27FC236}">
                  <a16:creationId xmlns:a16="http://schemas.microsoft.com/office/drawing/2014/main" id="{0D4C5F21-8011-3C8D-D688-5EAD5518EC37}"/>
                </a:ext>
              </a:extLst>
            </p:cNvPr>
            <p:cNvPicPr>
              <a:picLocks noChangeAspect="1"/>
            </p:cNvPicPr>
            <p:nvPr/>
          </p:nvPicPr>
          <p:blipFill>
            <a:blip r:embed="rId3"/>
            <a:stretch>
              <a:fillRect/>
            </a:stretch>
          </p:blipFill>
          <p:spPr>
            <a:xfrm>
              <a:off x="2579748" y="2908938"/>
              <a:ext cx="6725589" cy="2229161"/>
            </a:xfrm>
            <a:prstGeom prst="rect">
              <a:avLst/>
            </a:prstGeom>
          </p:spPr>
        </p:pic>
        <p:sp>
          <p:nvSpPr>
            <p:cNvPr id="16" name="Oval 15">
              <a:extLst>
                <a:ext uri="{FF2B5EF4-FFF2-40B4-BE49-F238E27FC236}">
                  <a16:creationId xmlns:a16="http://schemas.microsoft.com/office/drawing/2014/main" id="{10B03CF7-C5DD-D42F-BE83-737ACAF8269B}"/>
                </a:ext>
              </a:extLst>
            </p:cNvPr>
            <p:cNvSpPr/>
            <p:nvPr/>
          </p:nvSpPr>
          <p:spPr>
            <a:xfrm>
              <a:off x="4127127" y="3526657"/>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BA743B9-2D84-0FA8-5F12-F601E209A913}"/>
                </a:ext>
              </a:extLst>
            </p:cNvPr>
            <p:cNvSpPr/>
            <p:nvPr/>
          </p:nvSpPr>
          <p:spPr>
            <a:xfrm>
              <a:off x="7232277" y="374806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9B153F27-549E-59FD-49DD-71B68B6AF1E2}"/>
                </a:ext>
              </a:extLst>
            </p:cNvPr>
            <p:cNvSpPr/>
            <p:nvPr/>
          </p:nvSpPr>
          <p:spPr>
            <a:xfrm>
              <a:off x="2832521" y="376711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7" name="TextBox 6">
            <a:extLst>
              <a:ext uri="{FF2B5EF4-FFF2-40B4-BE49-F238E27FC236}">
                <a16:creationId xmlns:a16="http://schemas.microsoft.com/office/drawing/2014/main" id="{DB9497BC-6D29-1801-EA64-2882313902E4}"/>
              </a:ext>
            </a:extLst>
          </p:cNvPr>
          <p:cNvSpPr txBox="1"/>
          <p:nvPr/>
        </p:nvSpPr>
        <p:spPr>
          <a:xfrm>
            <a:off x="3818164" y="5562558"/>
            <a:ext cx="4555671" cy="646331"/>
          </a:xfrm>
          <a:prstGeom prst="rect">
            <a:avLst/>
          </a:prstGeom>
          <a:noFill/>
        </p:spPr>
        <p:txBody>
          <a:bodyPr wrap="none" rtlCol="0">
            <a:spAutoFit/>
          </a:bodyPr>
          <a:lstStyle/>
          <a:p>
            <a:r>
              <a:rPr lang="en-US" dirty="0"/>
              <a:t>Developer guide + abstraction-specific hints</a:t>
            </a:r>
          </a:p>
          <a:p>
            <a:pPr algn="ctr"/>
            <a:r>
              <a:rPr lang="en-US" i="1"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stCxn id="7" idx="0"/>
          </p:cNvCxnSpPr>
          <p:nvPr/>
        </p:nvCxnSpPr>
        <p:spPr>
          <a:xfrm flipH="1" flipV="1">
            <a:off x="4292794" y="4292794"/>
            <a:ext cx="1803206" cy="12697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stCxn id="7" idx="0"/>
          </p:cNvCxnSpPr>
          <p:nvPr/>
        </p:nvCxnSpPr>
        <p:spPr>
          <a:xfrm flipV="1">
            <a:off x="6096000" y="4544079"/>
            <a:ext cx="1030736" cy="1018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a:endCxn id="16" idx="0"/>
          </p:cNvCxnSpPr>
          <p:nvPr/>
        </p:nvCxnSpPr>
        <p:spPr>
          <a:xfrm>
            <a:off x="4127128" y="2906562"/>
            <a:ext cx="0" cy="6200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3378012" y="2260231"/>
            <a:ext cx="1498231" cy="646331"/>
          </a:xfrm>
          <a:prstGeom prst="rect">
            <a:avLst/>
          </a:prstGeom>
          <a:noFill/>
        </p:spPr>
        <p:txBody>
          <a:bodyPr wrap="none" rtlCol="0">
            <a:spAutoFit/>
          </a:bodyPr>
          <a:lstStyle/>
          <a:p>
            <a:pPr algn="ctr"/>
            <a:r>
              <a:rPr lang="en-US" dirty="0"/>
              <a:t>Example</a:t>
            </a:r>
            <a:br>
              <a:rPr lang="en-US" dirty="0"/>
            </a:br>
            <a:r>
              <a:rPr lang="en-US"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a:endCxn id="32" idx="0"/>
          </p:cNvCxnSpPr>
          <p:nvPr/>
        </p:nvCxnSpPr>
        <p:spPr>
          <a:xfrm flipH="1">
            <a:off x="7232278" y="2850970"/>
            <a:ext cx="10" cy="8970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260964" y="2481638"/>
            <a:ext cx="1942648" cy="369332"/>
          </a:xfrm>
          <a:prstGeom prst="rect">
            <a:avLst/>
          </a:prstGeom>
          <a:noFill/>
        </p:spPr>
        <p:txBody>
          <a:bodyPr wrap="none" rtlCol="0">
            <a:spAutoFit/>
          </a:bodyPr>
          <a:lstStyle/>
          <a:p>
            <a:pPr algn="ctr"/>
            <a:r>
              <a:rPr lang="en-US"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38052" y="3582449"/>
            <a:ext cx="1540743" cy="369332"/>
          </a:xfrm>
          <a:prstGeom prst="rect">
            <a:avLst/>
          </a:prstGeom>
          <a:noFill/>
        </p:spPr>
        <p:txBody>
          <a:bodyPr wrap="none" rtlCol="0">
            <a:spAutoFit/>
          </a:bodyPr>
          <a:lstStyle/>
          <a:p>
            <a:r>
              <a:rPr lang="en-US"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stCxn id="33" idx="3"/>
            <a:endCxn id="35" idx="2"/>
          </p:cNvCxnSpPr>
          <p:nvPr/>
        </p:nvCxnSpPr>
        <p:spPr>
          <a:xfrm>
            <a:off x="2378795" y="3767115"/>
            <a:ext cx="4537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ight Brace 44">
            <a:extLst>
              <a:ext uri="{FF2B5EF4-FFF2-40B4-BE49-F238E27FC236}">
                <a16:creationId xmlns:a16="http://schemas.microsoft.com/office/drawing/2014/main" id="{76E7C66C-E514-E140-0598-9B479403FA00}"/>
              </a:ext>
            </a:extLst>
          </p:cNvPr>
          <p:cNvSpPr/>
          <p:nvPr/>
        </p:nvSpPr>
        <p:spPr>
          <a:xfrm>
            <a:off x="9182100" y="2443163"/>
            <a:ext cx="300661" cy="28289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TextBox 45">
            <a:extLst>
              <a:ext uri="{FF2B5EF4-FFF2-40B4-BE49-F238E27FC236}">
                <a16:creationId xmlns:a16="http://schemas.microsoft.com/office/drawing/2014/main" id="{B681D359-D348-006D-B5F6-3F7D47199734}"/>
              </a:ext>
            </a:extLst>
          </p:cNvPr>
          <p:cNvSpPr txBox="1"/>
          <p:nvPr/>
        </p:nvSpPr>
        <p:spPr>
          <a:xfrm>
            <a:off x="9482156" y="3526657"/>
            <a:ext cx="2709844" cy="646331"/>
          </a:xfrm>
          <a:prstGeom prst="rect">
            <a:avLst/>
          </a:prstGeom>
          <a:noFill/>
        </p:spPr>
        <p:txBody>
          <a:bodyPr wrap="none" rtlCol="0">
            <a:spAutoFit/>
          </a:bodyPr>
          <a:lstStyle/>
          <a:p>
            <a:pPr algn="ctr"/>
            <a:r>
              <a:rPr lang="en-US" dirty="0"/>
              <a:t>Almost 500</a:t>
            </a:r>
            <a:br>
              <a:rPr lang="en-US" dirty="0"/>
            </a:br>
            <a:r>
              <a:rPr lang="en-US" dirty="0"/>
              <a:t>optimization experiments</a:t>
            </a:r>
          </a:p>
        </p:txBody>
      </p:sp>
    </p:spTree>
    <p:extLst>
      <p:ext uri="{BB962C8B-B14F-4D97-AF65-F5344CB8AC3E}">
        <p14:creationId xmlns:p14="http://schemas.microsoft.com/office/powerpoint/2010/main" val="2330282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smtClean="0"/>
              <a:t>26</a:t>
            </a:fld>
            <a:endParaRPr lang="en-US"/>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56745"/>
            <a:ext cx="590330" cy="6835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216385" y="587413"/>
            <a:ext cx="2309415" cy="369332"/>
          </a:xfrm>
          <a:prstGeom prst="rect">
            <a:avLst/>
          </a:prstGeom>
          <a:noFill/>
        </p:spPr>
        <p:txBody>
          <a:bodyPr wrap="none" rtlCol="0">
            <a:spAutoFit/>
          </a:bodyPr>
          <a:lstStyle/>
          <a:p>
            <a:r>
              <a:rPr lang="en-US" dirty="0"/>
              <a:t>Best performance (C)</a:t>
            </a:r>
          </a:p>
        </p:txBody>
      </p:sp>
    </p:spTree>
    <p:extLst>
      <p:ext uri="{BB962C8B-B14F-4D97-AF65-F5344CB8AC3E}">
        <p14:creationId xmlns:p14="http://schemas.microsoft.com/office/powerpoint/2010/main" val="1341665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dirty="0"/>
              <a:t>Prompting specificity</a:t>
            </a:r>
          </a:p>
          <a:p>
            <a:r>
              <a:rPr lang="en-US" dirty="0"/>
              <a:t>Contemporary abstractions do not help</a:t>
            </a:r>
          </a:p>
          <a:p>
            <a:endParaRPr lang="en-US" dirty="0"/>
          </a:p>
          <a:p>
            <a:r>
              <a:rPr lang="en-US" dirty="0"/>
              <a:t>Future research</a:t>
            </a:r>
          </a:p>
          <a:p>
            <a:pPr lvl="1"/>
            <a:r>
              <a:rPr lang="en-US" dirty="0"/>
              <a:t>Re-evaluate on agentic LLMs</a:t>
            </a:r>
          </a:p>
          <a:p>
            <a:pPr lvl="2"/>
            <a:r>
              <a:rPr lang="en-US" dirty="0"/>
              <a:t>Automatically gather feedback</a:t>
            </a:r>
          </a:p>
          <a:p>
            <a:pPr lvl="2"/>
            <a:r>
              <a:rPr lang="en-US" dirty="0"/>
              <a:t>Can collect necessary context (e.g., work with abstraction reference)</a:t>
            </a:r>
          </a:p>
          <a:p>
            <a:pPr lvl="1"/>
            <a:r>
              <a:rPr lang="en-US" dirty="0"/>
              <a:t>More LLM-focused abstractions or scaffolding</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smtClean="0"/>
              <a:t>27</a:t>
            </a:fld>
            <a:endParaRPr lang="en-US"/>
          </a:p>
        </p:txBody>
      </p:sp>
    </p:spTree>
    <p:extLst>
      <p:ext uri="{BB962C8B-B14F-4D97-AF65-F5344CB8AC3E}">
        <p14:creationId xmlns:p14="http://schemas.microsoft.com/office/powerpoint/2010/main" val="27099458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smtClean="0"/>
              <a:t>28</a:t>
            </a:fld>
            <a:endParaRPr lang="en-US"/>
          </a:p>
        </p:txBody>
      </p:sp>
      <p:sp>
        <p:nvSpPr>
          <p:cNvPr id="6" name="TextBox 5">
            <a:extLst>
              <a:ext uri="{FF2B5EF4-FFF2-40B4-BE49-F238E27FC236}">
                <a16:creationId xmlns:a16="http://schemas.microsoft.com/office/drawing/2014/main" id="{0C2203B1-0F93-3F92-FADF-DA1FA387F65C}"/>
              </a:ext>
            </a:extLst>
          </p:cNvPr>
          <p:cNvSpPr txBox="1"/>
          <p:nvPr/>
        </p:nvSpPr>
        <p:spPr>
          <a:xfrm>
            <a:off x="-20481" y="3707894"/>
            <a:ext cx="244174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Distributed computing</a:t>
            </a:r>
          </a:p>
        </p:txBody>
      </p:sp>
      <p:sp>
        <p:nvSpPr>
          <p:cNvPr id="8" name="TextBox 7">
            <a:extLst>
              <a:ext uri="{FF2B5EF4-FFF2-40B4-BE49-F238E27FC236}">
                <a16:creationId xmlns:a16="http://schemas.microsoft.com/office/drawing/2014/main" id="{0C1F297F-A46E-4127-A44D-943053748AAD}"/>
              </a:ext>
            </a:extLst>
          </p:cNvPr>
          <p:cNvSpPr txBox="1"/>
          <p:nvPr/>
        </p:nvSpPr>
        <p:spPr>
          <a:xfrm>
            <a:off x="1050704" y="1964514"/>
            <a:ext cx="206243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Layout abstraction</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407869" y="2519945"/>
            <a:ext cx="227782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Traversal abstraction</a:t>
            </a:r>
          </a:p>
        </p:txBody>
      </p:sp>
      <p:sp>
        <p:nvSpPr>
          <p:cNvPr id="16" name="TextBox 15">
            <a:extLst>
              <a:ext uri="{FF2B5EF4-FFF2-40B4-BE49-F238E27FC236}">
                <a16:creationId xmlns:a16="http://schemas.microsoft.com/office/drawing/2014/main" id="{DFE9A3AF-209B-AE12-2963-A07256AC3AD8}"/>
              </a:ext>
            </a:extLst>
          </p:cNvPr>
          <p:cNvSpPr txBox="1"/>
          <p:nvPr/>
        </p:nvSpPr>
        <p:spPr>
          <a:xfrm>
            <a:off x="2276742" y="3179715"/>
            <a:ext cx="2481752"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Autotuning abstraction</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271328" y="1703501"/>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530735" y="2245918"/>
            <a:ext cx="3508404" cy="408623"/>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Bit-level encoding and evaluation</a:t>
            </a:r>
          </a:p>
        </p:txBody>
      </p:sp>
      <p:sp>
        <p:nvSpPr>
          <p:cNvPr id="27" name="TextBox 26">
            <a:extLst>
              <a:ext uri="{FF2B5EF4-FFF2-40B4-BE49-F238E27FC236}">
                <a16:creationId xmlns:a16="http://schemas.microsoft.com/office/drawing/2014/main" id="{4C486DD0-E83D-76B8-FFAB-7DFBC00CF409}"/>
              </a:ext>
            </a:extLst>
          </p:cNvPr>
          <p:cNvSpPr txBox="1"/>
          <p:nvPr/>
        </p:nvSpPr>
        <p:spPr>
          <a:xfrm>
            <a:off x="6275060" y="2821747"/>
            <a:ext cx="3610369" cy="408623"/>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Abstractions for cellular automata</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854601" y="410866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605836" y="360052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82007" y="1421002"/>
            <a:ext cx="3952877"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dirty="0"/>
              <a:t>General-purpose scientific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070880" y="405111"/>
            <a:ext cx="3913251"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dirty="0"/>
              <a:t>Domain-specific scientific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173315" y="1095173"/>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9860746" y="4702220"/>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dirty="0"/>
              <a:t>k-Nearest Neighbors</a:t>
            </a:r>
          </a:p>
        </p:txBody>
      </p:sp>
      <p:sp>
        <p:nvSpPr>
          <p:cNvPr id="10" name="TextBox 9">
            <a:extLst>
              <a:ext uri="{FF2B5EF4-FFF2-40B4-BE49-F238E27FC236}">
                <a16:creationId xmlns:a16="http://schemas.microsoft.com/office/drawing/2014/main" id="{53DD92FB-523C-A843-5BED-B12AFA1BDF3A}"/>
              </a:ext>
            </a:extLst>
          </p:cNvPr>
          <p:cNvSpPr txBox="1"/>
          <p:nvPr/>
        </p:nvSpPr>
        <p:spPr>
          <a:xfrm>
            <a:off x="4230621" y="5699720"/>
            <a:ext cx="2571029" cy="408623"/>
          </a:xfrm>
          <a:prstGeom prst="roundRect">
            <a:avLst>
              <a:gd name="adj" fmla="val 37166"/>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dirty="0"/>
              <a:t>Histogram computation</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2339038"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dirty="0"/>
              <a:t>GPU algorithm design</a:t>
            </a:r>
          </a:p>
        </p:txBody>
      </p:sp>
      <p:sp>
        <p:nvSpPr>
          <p:cNvPr id="13" name="TextBox 12">
            <a:extLst>
              <a:ext uri="{FF2B5EF4-FFF2-40B4-BE49-F238E27FC236}">
                <a16:creationId xmlns:a16="http://schemas.microsoft.com/office/drawing/2014/main" id="{D3B09BC9-600B-98F8-1E43-CF8AEA13882C}"/>
              </a:ext>
            </a:extLst>
          </p:cNvPr>
          <p:cNvSpPr txBox="1"/>
          <p:nvPr/>
        </p:nvSpPr>
        <p:spPr>
          <a:xfrm>
            <a:off x="6984544" y="5384235"/>
            <a:ext cx="3092382" cy="408623"/>
          </a:xfrm>
          <a:prstGeom prst="roundRect">
            <a:avLst>
              <a:gd name="adj" fmla="val 38874"/>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Shared-memory privatization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3338136" cy="408623"/>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Utilizing efficient </a:t>
            </a:r>
            <a:r>
              <a:rPr lang="en-US" dirty="0" err="1"/>
              <a:t>bitonic</a:t>
            </a:r>
            <a:r>
              <a:rPr lang="en-US" dirty="0"/>
              <a:t> sorting</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6" y="1790334"/>
            <a:ext cx="23473"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464860" cy="14680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200391" y="2928568"/>
            <a:ext cx="1346388" cy="77932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546779" y="2928568"/>
            <a:ext cx="970839" cy="251147"/>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027506" y="774443"/>
            <a:ext cx="1257432"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284937" y="1503796"/>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284937" y="2112124"/>
            <a:ext cx="0" cy="13379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4" idx="1"/>
            <a:endCxn id="27" idx="0"/>
          </p:cNvCxnSpPr>
          <p:nvPr/>
        </p:nvCxnSpPr>
        <p:spPr>
          <a:xfrm flipH="1">
            <a:off x="8080245" y="2450230"/>
            <a:ext cx="450490" cy="37151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5822580" y="3969856"/>
            <a:ext cx="2296534" cy="13880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3"/>
          </p:cNvCxnSpPr>
          <p:nvPr/>
        </p:nvCxnSpPr>
        <p:spPr>
          <a:xfrm flipH="1" flipV="1">
            <a:off x="9383627" y="4293330"/>
            <a:ext cx="1600504" cy="40889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66A93358-C3E1-9FD2-DFF9-9B9C56617081}"/>
              </a:ext>
            </a:extLst>
          </p:cNvPr>
          <p:cNvCxnSpPr>
            <a:stCxn id="11" idx="3"/>
            <a:endCxn id="10" idx="1"/>
          </p:cNvCxnSpPr>
          <p:nvPr/>
        </p:nvCxnSpPr>
        <p:spPr>
          <a:xfrm flipV="1">
            <a:off x="3900281" y="5904032"/>
            <a:ext cx="330340" cy="184446"/>
          </a:xfrm>
          <a:prstGeom prst="line">
            <a:avLst/>
          </a:prstGeom>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V="1">
            <a:off x="2730762" y="5552913"/>
            <a:ext cx="270869"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881939"/>
            <a:ext cx="1296054" cy="262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FF35BAD7-6778-A522-00AD-42519E371E98}"/>
              </a:ext>
            </a:extLst>
          </p:cNvPr>
          <p:cNvCxnSpPr>
            <a:stCxn id="10" idx="3"/>
            <a:endCxn id="13" idx="1"/>
          </p:cNvCxnSpPr>
          <p:nvPr/>
        </p:nvCxnSpPr>
        <p:spPr>
          <a:xfrm flipV="1">
            <a:off x="6801650" y="5588547"/>
            <a:ext cx="182894" cy="315485"/>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Connector: Curved 54">
            <a:extLst>
              <a:ext uri="{FF2B5EF4-FFF2-40B4-BE49-F238E27FC236}">
                <a16:creationId xmlns:a16="http://schemas.microsoft.com/office/drawing/2014/main" id="{E99581C1-68A6-33B6-DD3C-3FFFE5DF599F}"/>
              </a:ext>
            </a:extLst>
          </p:cNvPr>
          <p:cNvCxnSpPr>
            <a:cxnSpLocks/>
            <a:stCxn id="13" idx="0"/>
            <a:endCxn id="28" idx="2"/>
          </p:cNvCxnSpPr>
          <p:nvPr/>
        </p:nvCxnSpPr>
        <p:spPr>
          <a:xfrm rot="16200000" flipV="1">
            <a:off x="7871806" y="4725305"/>
            <a:ext cx="906239" cy="411621"/>
          </a:xfrm>
          <a:prstGeom prst="curvedConnector3">
            <a:avLst/>
          </a:prstGeom>
          <a:ln>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flipV="1">
            <a:off x="5966753" y="4293330"/>
            <a:ext cx="887848" cy="38429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3"/>
          </p:cNvCxnSpPr>
          <p:nvPr/>
        </p:nvCxnSpPr>
        <p:spPr>
          <a:xfrm rot="5400000">
            <a:off x="9014888" y="3023280"/>
            <a:ext cx="1638789" cy="901310"/>
          </a:xfrm>
          <a:prstGeom prst="curvedConnector2">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685689" y="2724257"/>
            <a:ext cx="2136891" cy="876267"/>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6" idx="3"/>
            <a:endCxn id="27" idx="1"/>
          </p:cNvCxnSpPr>
          <p:nvPr/>
        </p:nvCxnSpPr>
        <p:spPr>
          <a:xfrm flipV="1">
            <a:off x="4758494" y="3026059"/>
            <a:ext cx="1516566" cy="357968"/>
          </a:xfrm>
          <a:prstGeom prst="curvedConnector3">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0522865">
            <a:off x="4607719" y="2705785"/>
            <a:ext cx="2095254" cy="369332"/>
          </a:xfrm>
          <a:prstGeom prst="rect">
            <a:avLst/>
          </a:prstGeom>
          <a:noFill/>
        </p:spPr>
        <p:txBody>
          <a:bodyPr wrap="none" rtlCol="0">
            <a:spAutoFit/>
          </a:bodyPr>
          <a:lstStyle/>
          <a:p>
            <a:r>
              <a:rPr lang="en-US" dirty="0"/>
              <a:t>Knowledge transfer</a:t>
            </a:r>
          </a:p>
        </p:txBody>
      </p:sp>
      <p:sp>
        <p:nvSpPr>
          <p:cNvPr id="106" name="Flowchart: Process 105">
            <a:extLst>
              <a:ext uri="{FF2B5EF4-FFF2-40B4-BE49-F238E27FC236}">
                <a16:creationId xmlns:a16="http://schemas.microsoft.com/office/drawing/2014/main" id="{CC806F58-4531-9F0A-3C98-CE8A0B55994C}"/>
              </a:ext>
            </a:extLst>
          </p:cNvPr>
          <p:cNvSpPr/>
          <p:nvPr/>
        </p:nvSpPr>
        <p:spPr>
          <a:xfrm>
            <a:off x="4230621" y="5346094"/>
            <a:ext cx="6493166" cy="1192818"/>
          </a:xfrm>
          <a:prstGeom prst="flowChartProcess">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50779" y="1811313"/>
            <a:ext cx="324709" cy="324709"/>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87130" y="2338417"/>
            <a:ext cx="324709" cy="324709"/>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54741" y="3039689"/>
            <a:ext cx="324709" cy="324709"/>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0212" y="3591698"/>
            <a:ext cx="324709" cy="324709"/>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23667" y="2936973"/>
            <a:ext cx="324709" cy="324709"/>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702587" y="2645743"/>
            <a:ext cx="324709" cy="324709"/>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796994" y="2083563"/>
            <a:ext cx="324709" cy="324709"/>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796" y="3897548"/>
            <a:ext cx="324709" cy="324709"/>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42044" y="4289021"/>
            <a:ext cx="324709" cy="324709"/>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832377" y="3405129"/>
            <a:ext cx="324709" cy="324709"/>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070880" y="3451566"/>
            <a:ext cx="231833" cy="231833"/>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890858" y="4340520"/>
            <a:ext cx="231833" cy="231833"/>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969186" y="2998537"/>
            <a:ext cx="231833" cy="231833"/>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77096" y="3451566"/>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398365" y="3113049"/>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299539" y="3943433"/>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87129" y="2750531"/>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933159" y="2149117"/>
            <a:ext cx="324709" cy="324709"/>
          </a:xfrm>
          <a:prstGeom prst="rect">
            <a:avLst/>
          </a:prstGeom>
        </p:spPr>
      </p:pic>
      <p:pic>
        <p:nvPicPr>
          <p:cNvPr id="150" name="Graphic 149" descr="Hierarchy with solid fill">
            <a:extLst>
              <a:ext uri="{FF2B5EF4-FFF2-40B4-BE49-F238E27FC236}">
                <a16:creationId xmlns:a16="http://schemas.microsoft.com/office/drawing/2014/main" id="{4F786618-FCE0-534B-0151-AABA56542C5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818839" y="2445760"/>
            <a:ext cx="324709" cy="324709"/>
          </a:xfrm>
          <a:prstGeom prst="rect">
            <a:avLst/>
          </a:prstGeom>
        </p:spPr>
      </p:pic>
      <p:pic>
        <p:nvPicPr>
          <p:cNvPr id="152" name="Graphic 151" descr="Hierarchy with solid fill">
            <a:extLst>
              <a:ext uri="{FF2B5EF4-FFF2-40B4-BE49-F238E27FC236}">
                <a16:creationId xmlns:a16="http://schemas.microsoft.com/office/drawing/2014/main" id="{9745B5EB-C202-5A4B-DF7E-A11BB3754F6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747829" y="4732432"/>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5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2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Thank you for your attention!</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smtClean="0"/>
              <a:t>29</a:t>
            </a:fld>
            <a:endParaRPr lang="en-US"/>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2187550" y="1790410"/>
            <a:ext cx="7816900" cy="3975196"/>
          </a:xfrm>
          <a:prstGeom prst="rect">
            <a:avLst/>
          </a:prstGeom>
        </p:spPr>
      </p:pic>
    </p:spTree>
    <p:extLst>
      <p:ext uri="{BB962C8B-B14F-4D97-AF65-F5344CB8AC3E}">
        <p14:creationId xmlns:p14="http://schemas.microsoft.com/office/powerpoint/2010/main" val="20253718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smtClean="0"/>
              <a:t>8/28/2026</a:t>
            </a:fld>
            <a:endParaRPr lang="en-US"/>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2595384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60A6E-3187-42F4-D4AF-DBEF792A9C8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24B00957-7817-24B3-7E38-9A1C4F2058CF}"/>
              </a:ext>
            </a:extLst>
          </p:cNvPr>
          <p:cNvPicPr>
            <a:picLocks noChangeAspect="1"/>
          </p:cNvPicPr>
          <p:nvPr/>
        </p:nvPicPr>
        <p:blipFill>
          <a:blip r:embed="rId3"/>
          <a:stretch>
            <a:fillRect/>
          </a:stretch>
        </p:blipFill>
        <p:spPr>
          <a:xfrm>
            <a:off x="399012" y="1092171"/>
            <a:ext cx="10778836" cy="2722058"/>
          </a:xfrm>
          <a:prstGeom prst="rect">
            <a:avLst/>
          </a:prstGeom>
        </p:spPr>
      </p:pic>
      <p:pic>
        <p:nvPicPr>
          <p:cNvPr id="6" name="Picture 5">
            <a:extLst>
              <a:ext uri="{FF2B5EF4-FFF2-40B4-BE49-F238E27FC236}">
                <a16:creationId xmlns:a16="http://schemas.microsoft.com/office/drawing/2014/main" id="{2A107D04-2167-AED6-424B-AE247F4C77D4}"/>
              </a:ext>
            </a:extLst>
          </p:cNvPr>
          <p:cNvPicPr>
            <a:picLocks noChangeAspect="1"/>
          </p:cNvPicPr>
          <p:nvPr/>
        </p:nvPicPr>
        <p:blipFill>
          <a:blip r:embed="rId4"/>
          <a:srcRect t="3764" r="7222" b="4370"/>
          <a:stretch>
            <a:fillRect/>
          </a:stretch>
        </p:blipFill>
        <p:spPr>
          <a:xfrm>
            <a:off x="108065" y="4146210"/>
            <a:ext cx="11311465" cy="2505875"/>
          </a:xfrm>
          <a:prstGeom prst="rect">
            <a:avLst/>
          </a:prstGeom>
        </p:spPr>
      </p:pic>
      <p:sp>
        <p:nvSpPr>
          <p:cNvPr id="7" name="Date Placeholder 6">
            <a:extLst>
              <a:ext uri="{FF2B5EF4-FFF2-40B4-BE49-F238E27FC236}">
                <a16:creationId xmlns:a16="http://schemas.microsoft.com/office/drawing/2014/main" id="{7B653C52-BD65-F063-E5AD-F250A08141EA}"/>
              </a:ext>
            </a:extLst>
          </p:cNvPr>
          <p:cNvSpPr>
            <a:spLocks noGrp="1"/>
          </p:cNvSpPr>
          <p:nvPr>
            <p:ph type="dt" sz="half" idx="10"/>
          </p:nvPr>
        </p:nvSpPr>
        <p:spPr/>
        <p:txBody>
          <a:bodyPr/>
          <a:lstStyle/>
          <a:p>
            <a:fld id="{7E613BD8-21F3-4985-8518-9695229365CF}" type="datetime1">
              <a:rPr lang="en-US" smtClean="0"/>
              <a:t>8/28/2026</a:t>
            </a:fld>
            <a:endParaRPr lang="en-US"/>
          </a:p>
        </p:txBody>
      </p:sp>
      <p:sp>
        <p:nvSpPr>
          <p:cNvPr id="8" name="Slide Number Placeholder 7">
            <a:extLst>
              <a:ext uri="{FF2B5EF4-FFF2-40B4-BE49-F238E27FC236}">
                <a16:creationId xmlns:a16="http://schemas.microsoft.com/office/drawing/2014/main" id="{6D5F619E-88BF-2DD0-A199-4353D2206681}"/>
              </a:ext>
            </a:extLst>
          </p:cNvPr>
          <p:cNvSpPr>
            <a:spLocks noGrp="1"/>
          </p:cNvSpPr>
          <p:nvPr>
            <p:ph type="sldNum" sz="quarter" idx="12"/>
          </p:nvPr>
        </p:nvSpPr>
        <p:spPr/>
        <p:txBody>
          <a:bodyPr/>
          <a:lstStyle/>
          <a:p>
            <a:fld id="{DA0BB241-1B5F-4309-9407-9EEA04D9598D}" type="slidenum">
              <a:rPr lang="en-US" smtClean="0"/>
              <a:t>31</a:t>
            </a:fld>
            <a:endParaRPr lang="en-US"/>
          </a:p>
        </p:txBody>
      </p:sp>
    </p:spTree>
    <p:extLst>
      <p:ext uri="{BB962C8B-B14F-4D97-AF65-F5344CB8AC3E}">
        <p14:creationId xmlns:p14="http://schemas.microsoft.com/office/powerpoint/2010/main" val="3202652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3691</TotalTime>
  <Words>5230</Words>
  <Application>Microsoft Office PowerPoint</Application>
  <PresentationFormat>Widescreen</PresentationFormat>
  <Paragraphs>628</Paragraphs>
  <Slides>31</Slides>
  <Notes>29</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 for memory layouts</vt:lpstr>
      <vt:lpstr>Illustrative example: initialization algorithm</vt:lpstr>
      <vt:lpstr>Layout-agnostic design</vt:lpstr>
      <vt:lpstr>Layout abstractions</vt:lpstr>
      <vt:lpstr>Layout abstractions</vt:lpstr>
      <vt:lpstr>Traversal abstractions</vt:lpstr>
      <vt:lpstr>Traversal transformations &amp; parallelization</vt:lpstr>
      <vt:lpstr>Autotuning</vt:lpstr>
      <vt:lpstr>Results</vt:lpstr>
      <vt:lpstr>Results</vt:lpstr>
      <vt:lpstr>Distributed initialization</vt:lpstr>
      <vt:lpstr>PowerPoint Presentation</vt:lpstr>
      <vt:lpstr>Results</vt:lpstr>
      <vt:lpstr>Cellular Automata abstractions</vt:lpstr>
      <vt:lpstr>PowerPoint Presentation</vt:lpstr>
      <vt:lpstr>Results</vt:lpstr>
      <vt:lpstr>Abstractions summary</vt:lpstr>
      <vt:lpstr>Motivation</vt:lpstr>
      <vt:lpstr>Tutoring LLMs for CUDA</vt:lpstr>
      <vt:lpstr>Tutoring LLMs for CUDA OpenAI GPT-o3-mini</vt:lpstr>
      <vt:lpstr>Tutoring LLMs for CUDA – submission OpenAI GPT-o3-mini</vt:lpstr>
      <vt:lpstr>Tutoring LLMs for CUDA – at conference OpenAI GPT-5</vt:lpstr>
      <vt:lpstr>LLMs and Abstractions</vt:lpstr>
      <vt:lpstr>LLMs and Abstractions</vt:lpstr>
      <vt:lpstr>PowerPoint Presentation</vt:lpstr>
      <vt:lpstr>LLM-directed optimization summary</vt:lpstr>
      <vt:lpstr>Contribution map</vt:lpstr>
      <vt:lpstr>Thank you for your attention!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137</cp:revision>
  <dcterms:created xsi:type="dcterms:W3CDTF">2026-08-08T18:10:38Z</dcterms:created>
  <dcterms:modified xsi:type="dcterms:W3CDTF">2026-08-28T15:18:27Z</dcterms:modified>
</cp:coreProperties>
</file>