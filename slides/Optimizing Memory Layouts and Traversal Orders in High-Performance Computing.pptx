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65" r:id="rId16"/>
    <p:sldId id="258" r:id="rId17"/>
    <p:sldId id="273" r:id="rId18"/>
    <p:sldId id="279" r:id="rId19"/>
    <p:sldId id="274" r:id="rId20"/>
    <p:sldId id="280" r:id="rId21"/>
    <p:sldId id="259" r:id="rId22"/>
    <p:sldId id="275" r:id="rId23"/>
    <p:sldId id="276" r:id="rId24"/>
    <p:sldId id="260" r:id="rId25"/>
    <p:sldId id="266" r:id="rId26"/>
    <p:sldId id="261" r:id="rId27"/>
    <p:sldId id="262"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65"/>
            <p14:sldId id="258"/>
            <p14:sldId id="273"/>
            <p14:sldId id="279"/>
            <p14:sldId id="274"/>
            <p14:sldId id="280"/>
          </p14:sldIdLst>
        </p14:section>
        <p14:section name="llms" id="{2FE3CF17-CBFB-48E9-A3BF-DD99B7D2F01E}">
          <p14:sldIdLst>
            <p14:sldId id="259"/>
            <p14:sldId id="275"/>
            <p14:sldId id="276"/>
          </p14:sldIdLst>
        </p14:section>
        <p14:section name="sw artifacts" id="{C643FBD2-A5DD-453D-B5B5-69D3884A4C2F}">
          <p14:sldIdLst>
            <p14:sldId id="260"/>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4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[v without runtime overhead]</a:t>
            </a:r>
            <a:br>
              <a:rPr lang="en-US" dirty="0"/>
            </a:br>
            <a:endParaRPr lang="en-US" dirty="0"/>
          </a:p>
          <a:p>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Our research is not the only effort on this, as nowadays,</a:t>
            </a:r>
            <a:br>
              <a:rPr lang="en-US" dirty="0"/>
            </a:br>
            <a:r>
              <a:rPr lang="en-US" dirty="0"/>
              <a:t>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shared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9366052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8/25/2026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m</a:t>
              </a:r>
              <a:endParaRPr lang="sk-SK" sz="2800" dirty="0">
                <a:latin typeface="Blackadder ITC" panose="04020505051007020D02" pitchFamily="82" charset="0"/>
              </a:endParaRP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dirty="0">
                  <a:latin typeface="Blackadder ITC" panose="04020505051007020D02" pitchFamily="82" charset="0"/>
                </a:rPr>
                <a:t>n</a:t>
              </a:r>
              <a:endParaRPr lang="sk-SK" sz="2800" dirty="0">
                <a:latin typeface="Blackadder ITC" panose="04020505051007020D02" pitchFamily="82" charset="0"/>
              </a:endParaRPr>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t> matrix in row-major and column-major </a:t>
                </a:r>
                <a:r>
                  <a:rPr lang="en-US" i="1" dirty="0"/>
                  <a:t>memory layout</a:t>
                </a:r>
              </a:p>
            </p:txBody>
          </p:sp>
        </mc:Choice>
        <mc:Fallback>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m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in</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n - </a:t>
            </a:r>
            <a:r>
              <a:rPr lang="en-US" sz="1050" b="0" dirty="0">
                <a:solidFill>
                  <a:srgbClr val="098658"/>
                </a:solidFill>
                <a:effectLst/>
                <a:latin typeface="Fira Code" panose="020B0809050000020004" pitchFamily="49" charset="0"/>
              </a:rPr>
              <a:t>1</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matrix[</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0000"/>
                </a:solidFill>
                <a:effectLst/>
                <a:latin typeface="Fira Code" panose="020B0809050000020004" pitchFamily="49" charset="0"/>
              </a:rPr>
              <a:t>init</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dirty="0"/>
              <a:t>A row-wise </a:t>
            </a:r>
            <a:r>
              <a:rPr lang="en-US" i="1"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FF"/>
                </a:solidFill>
                <a:effectLst/>
                <a:latin typeface="Fira Code" panose="020B0809050000020004" pitchFamily="49" charset="0"/>
              </a:rPr>
              <a:t>int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endParaRPr lang="en-US" sz="1050" b="0" dirty="0">
              <a:solidFill>
                <a:srgbClr val="000000"/>
              </a:solidFill>
              <a:effectLst/>
              <a:latin typeface="Fira Code" panose="020B0809050000020004" pitchFamily="49" charset="0"/>
            </a:endParaRPr>
          </a:p>
          <a:p>
            <a:pPr>
              <a:lnSpc>
                <a:spcPct val="113095"/>
              </a:lnSpc>
              <a:buNone/>
            </a:pPr>
            <a:r>
              <a:rPr lang="en-US" sz="1050" b="0" dirty="0">
                <a:solidFill>
                  <a:srgbClr val="267F99"/>
                </a:solidFill>
                <a:effectLst/>
                <a:latin typeface="Fira Code" panose="020B0809050000020004" pitchFamily="49" charset="0"/>
              </a:rPr>
              <a:t>Traversal</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795E26"/>
                </a:solidFill>
                <a:effectLst/>
                <a:latin typeface="Fira Code" panose="020B0809050000020004" pitchFamily="49" charset="0"/>
              </a:rPr>
              <a:t>order</a:t>
            </a:r>
            <a:r>
              <a:rPr lang="en-US" sz="1050" b="0" dirty="0">
                <a:solidFill>
                  <a:srgbClr val="000000"/>
                </a:solidFill>
                <a:effectLst/>
                <a:latin typeface="Fira Code" panose="020B0809050000020004" pitchFamily="49" charset="0"/>
              </a:rPr>
              <a:t>(</a:t>
            </a:r>
            <a:r>
              <a:rPr lang="en-US" sz="1050" b="0" dirty="0" err="1">
                <a:solidFill>
                  <a:srgbClr val="267F99"/>
                </a:solidFill>
                <a:effectLst/>
                <a:latin typeface="Fira Code" panose="020B0809050000020004" pitchFamily="49" charset="0"/>
              </a:rPr>
              <a:t>ByTiles</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 </a:t>
            </a:r>
            <a:r>
              <a:rPr lang="en-US" sz="1050" dirty="0">
                <a:solidFill>
                  <a:srgbClr val="098658"/>
                </a:solidFill>
                <a:latin typeface="Fira Code" panose="020B0809050000020004" pitchFamily="49" charset="0"/>
              </a:rPr>
              <a:t>16</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795E26"/>
                </a:solidFill>
                <a:effectLst/>
                <a:latin typeface="Fira Code" panose="020B0809050000020004" pitchFamily="49" charset="0"/>
              </a:rPr>
              <a:t>for_each</a:t>
            </a:r>
            <a:r>
              <a:rPr lang="en-US" sz="1050" dirty="0">
                <a:solidFill>
                  <a:srgbClr val="000000"/>
                </a:solidFill>
                <a:latin typeface="Fira Code" panose="020B0809050000020004" pitchFamily="49" charset="0"/>
              </a:rPr>
              <a:t>(</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[&amp;](</a:t>
            </a: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C</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A</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 </a:t>
            </a:r>
            <a:r>
              <a:rPr lang="en-US" sz="1050" b="0" dirty="0">
                <a:solidFill>
                  <a:srgbClr val="001080"/>
                </a:solidFill>
                <a:effectLst/>
                <a:latin typeface="Fira Code" panose="020B0809050000020004" pitchFamily="49" charset="0"/>
              </a:rPr>
              <a:t>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index</a:t>
            </a:r>
            <a:r>
              <a:rPr lang="en-US" sz="1050" b="0" dirty="0">
                <a:solidFill>
                  <a:srgbClr val="000000"/>
                </a:solidFill>
                <a:effectLst/>
                <a:latin typeface="Fira Code" panose="020B0809050000020004" pitchFamily="49" charset="0"/>
              </a:rPr>
              <a:t>]; }</a:t>
            </a:r>
            <a:br>
              <a:rPr lang="en-US" sz="1050" dirty="0">
                <a:solidFill>
                  <a:srgbClr val="000000"/>
                </a:solidFill>
                <a:latin typeface="Fira Code" panose="020B0809050000020004" pitchFamily="49" charset="0"/>
              </a:rPr>
            </a:br>
            <a:r>
              <a:rPr lang="en-US" sz="1050" dirty="0">
                <a:solidFill>
                  <a:srgbClr val="000000"/>
                </a:solidFill>
                <a:latin typeface="Fira Code" panose="020B0809050000020004" pitchFamily="49" charset="0"/>
              </a:rPr>
              <a:t>    </a:t>
            </a:r>
            <a:r>
              <a:rPr lang="en-US" sz="1050" b="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a:solidFill>
                  <a:srgbClr val="AF00DB"/>
                </a:solidFill>
                <a:effectLst/>
                <a:latin typeface="Fira Code" panose="020B0809050000020004" pitchFamily="49" charset="0"/>
              </a:rPr>
              <a:t>for</a:t>
            </a:r>
            <a:r>
              <a:rPr lang="en-US" sz="1050" b="0" dirty="0">
                <a:solidFill>
                  <a:srgbClr val="000000"/>
                </a:solidFill>
                <a:effectLst/>
                <a:latin typeface="Fira Code" panose="020B0809050000020004" pitchFamily="49" charset="0"/>
              </a:rPr>
              <a:t> (</a:t>
            </a:r>
            <a:r>
              <a:rPr lang="en-US" sz="1050" b="0" dirty="0" err="1">
                <a:solidFill>
                  <a:srgbClr val="267F99"/>
                </a:solidFill>
                <a:effectLst/>
                <a:latin typeface="Fira Code" panose="020B0809050000020004" pitchFamily="49" charset="0"/>
              </a:rPr>
              <a:t>size_t</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a:solidFill>
                  <a:srgbClr val="098658"/>
                </a:solidFill>
                <a:effectLst/>
                <a:latin typeface="Fira Code" panose="020B0809050000020004" pitchFamily="49" charset="0"/>
              </a:rPr>
              <a:t>0</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&lt; </a:t>
            </a:r>
            <a:r>
              <a:rPr lang="en-US" sz="1050" b="0" dirty="0">
                <a:solidFill>
                  <a:srgbClr val="0070C1"/>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a:t>
            </a:r>
          </a:p>
          <a:p>
            <a:pPr>
              <a:lnSpc>
                <a:spcPct val="113095"/>
              </a:lnSpc>
              <a:buNone/>
            </a:pP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accessC</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accessA</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accessB</a:t>
            </a:r>
            <a:r>
              <a:rPr lang="en-US" sz="1050" b="0" dirty="0">
                <a:solidFill>
                  <a:srgbClr val="000000"/>
                </a:solidFill>
                <a:effectLst/>
                <a:latin typeface="Fira Code" panose="020B0809050000020004" pitchFamily="49" charset="0"/>
              </a:rPr>
              <a:t>(</a:t>
            </a:r>
            <a:r>
              <a:rPr lang="en-US" sz="1050" b="0" dirty="0">
                <a:solidFill>
                  <a:srgbClr val="001080"/>
                </a:solidFill>
                <a:effectLst/>
                <a:latin typeface="Fira Code" panose="020B0809050000020004" pitchFamily="49" charset="0"/>
              </a:rPr>
              <a:t>k</a:t>
            </a:r>
            <a:r>
              <a:rPr lang="en-US" sz="1050" b="0" dirty="0">
                <a:solidFill>
                  <a:srgbClr val="000000"/>
                </a:solidFill>
                <a:effectLst/>
                <a:latin typeface="Fira Code" panose="020B0809050000020004" pitchFamily="49" charset="0"/>
              </a:rPr>
              <a:t>, </a:t>
            </a:r>
            <a:r>
              <a:rPr lang="en-US" sz="1050" b="0" dirty="0">
                <a:solidFill>
                  <a:srgbClr val="001080"/>
                </a:solidFill>
                <a:effectLst/>
                <a:latin typeface="Fira Code" panose="020B0809050000020004" pitchFamily="49" charset="0"/>
              </a:rPr>
              <a:t>j</a:t>
            </a:r>
            <a:r>
              <a:rPr lang="en-US" sz="1050" b="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p>
          <a:p>
            <a:pPr>
              <a:lnSpc>
                <a:spcPct val="113095"/>
              </a:lnSpc>
              <a:buNone/>
            </a:pP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MultiDimArray</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&gt;();</a:t>
            </a:r>
          </a:p>
          <a:p>
            <a:pPr>
              <a:lnSpc>
                <a:spcPct val="113095"/>
              </a:lnSpc>
              <a:buNone/>
            </a:pPr>
            <a:br>
              <a:rPr lang="en-US" sz="1050" b="0" dirty="0">
                <a:solidFill>
                  <a:srgbClr val="000000"/>
                </a:solidFill>
                <a:effectLst/>
                <a:latin typeface="Fira Code" panose="020B0809050000020004" pitchFamily="49" charset="0"/>
              </a:rPr>
            </a:br>
            <a:r>
              <a:rPr lang="en-US" sz="1050" b="0" dirty="0">
                <a:solidFill>
                  <a:srgbClr val="267F99"/>
                </a:solidFill>
                <a:effectLst/>
                <a:latin typeface="Fira Code" panose="020B0809050000020004" pitchFamily="49" charset="0"/>
              </a:rPr>
              <a:t>auto</a:t>
            </a:r>
            <a:r>
              <a:rPr lang="en-US" sz="1050" b="0" dirty="0">
                <a:solidFill>
                  <a:srgbClr val="000000"/>
                </a:solidFill>
                <a:effectLst/>
                <a:latin typeface="Fira Code" panose="020B0809050000020004" pitchFamily="49" charset="0"/>
              </a:rPr>
              <a:t> </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267F99"/>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&lt;</a:t>
            </a:r>
            <a:r>
              <a:rPr lang="en-US" sz="1050" b="0" dirty="0">
                <a:solidFill>
                  <a:srgbClr val="A31515"/>
                </a:solidFill>
                <a:effectLst/>
                <a:latin typeface="Fira Code" panose="020B0809050000020004" pitchFamily="49" charset="0"/>
              </a:rPr>
              <a:t>'N'</a:t>
            </a:r>
            <a:r>
              <a:rPr lang="en-US" sz="1050" b="0" dirty="0">
                <a:solidFill>
                  <a:srgbClr val="000000"/>
                </a:solidFill>
                <a:effectLst/>
                <a:latin typeface="Fira Code" panose="020B0809050000020004" pitchFamily="49" charset="0"/>
              </a:rPr>
              <a:t>, </a:t>
            </a:r>
            <a:r>
              <a:rPr lang="en-US" sz="1050" b="0" dirty="0">
                <a:solidFill>
                  <a:srgbClr val="A31515"/>
                </a:solidFill>
                <a:effectLst/>
                <a:latin typeface="Fira Code" panose="020B0809050000020004" pitchFamily="49" charset="0"/>
              </a:rPr>
              <a:t>'M'</a:t>
            </a:r>
            <a:r>
              <a:rPr lang="en-US" sz="1050" b="0" dirty="0">
                <a:solidFill>
                  <a:srgbClr val="000000"/>
                </a:solidFill>
                <a:effectLst/>
                <a:latin typeface="Fira Code" panose="020B0809050000020004" pitchFamily="49" charset="0"/>
              </a:rPr>
              <a:t>&gt;(</a:t>
            </a:r>
            <a:r>
              <a:rPr lang="en-US" sz="1050" b="0" dirty="0">
                <a:solidFill>
                  <a:srgbClr val="098658"/>
                </a:solidFill>
                <a:effectLst/>
                <a:latin typeface="Fira Code" panose="020B0809050000020004" pitchFamily="49" charset="0"/>
              </a:rPr>
              <a:t>4</a:t>
            </a:r>
            <a:r>
              <a:rPr lang="en-US" sz="1050" b="0" dirty="0">
                <a:solidFill>
                  <a:srgbClr val="000000"/>
                </a:solidFill>
                <a:effectLst/>
                <a:latin typeface="Fira Code" panose="020B0809050000020004" pitchFamily="49" charset="0"/>
              </a:rPr>
              <a:t>, </a:t>
            </a:r>
            <a:r>
              <a:rPr lang="en-US" sz="1050" b="0" dirty="0">
                <a:solidFill>
                  <a:srgbClr val="098658"/>
                </a:solidFill>
                <a:effectLst/>
                <a:latin typeface="Fira Code" panose="020B0809050000020004" pitchFamily="49" charset="0"/>
              </a:rPr>
              <a:t>5</a:t>
            </a:r>
            <a:r>
              <a:rPr lang="en-US" sz="1050" b="0" dirty="0">
                <a:solidFill>
                  <a:srgbClr val="000000"/>
                </a:solidFill>
                <a:effectLst/>
                <a:latin typeface="Fira Code" panose="020B0809050000020004" pitchFamily="49" charset="0"/>
              </a:rPr>
              <a:t>);</a:t>
            </a:r>
          </a:p>
          <a:p>
            <a:pPr>
              <a:lnSpc>
                <a:spcPct val="113095"/>
              </a:lnSpc>
              <a:buNone/>
            </a:pPr>
            <a:endParaRPr lang="en-US" sz="1050" b="0" dirty="0">
              <a:solidFill>
                <a:srgbClr val="001080"/>
              </a:solidFill>
              <a:effectLst/>
              <a:latin typeface="Fira Code" panose="020B0809050000020004" pitchFamily="49" charset="0"/>
            </a:endParaRPr>
          </a:p>
          <a:p>
            <a:pPr>
              <a:lnSpc>
                <a:spcPct val="113095"/>
              </a:lnSpc>
              <a:buNone/>
            </a:pPr>
            <a:r>
              <a:rPr lang="en-US" sz="1050" b="0" dirty="0" err="1">
                <a:solidFill>
                  <a:srgbClr val="001080"/>
                </a:solidFill>
                <a:effectLst/>
                <a:latin typeface="Fira Code" panose="020B0809050000020004" pitchFamily="49" charset="0"/>
              </a:rPr>
              <a:t>RowMajor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 = </a:t>
            </a:r>
            <a:r>
              <a:rPr lang="en-US" sz="1050" b="0" dirty="0" err="1">
                <a:solidFill>
                  <a:srgbClr val="001080"/>
                </a:solidFill>
                <a:effectLst/>
                <a:latin typeface="Fira Code" panose="020B0809050000020004" pitchFamily="49" charset="0"/>
              </a:rPr>
              <a:t>ColMajor</a:t>
            </a:r>
            <a:r>
              <a:rPr lang="en-US" sz="1050" b="0" dirty="0">
                <a:solidFill>
                  <a:srgbClr val="000000"/>
                </a:solidFill>
                <a:effectLst/>
                <a:latin typeface="Fira Code" panose="020B0809050000020004" pitchFamily="49" charset="0"/>
              </a:rPr>
              <a:t>[</a:t>
            </a:r>
            <a:r>
              <a:rPr lang="en-US" sz="1050" b="0" dirty="0" err="1">
                <a:solidFill>
                  <a:srgbClr val="001080"/>
                </a:solidFill>
                <a:effectLst/>
                <a:latin typeface="Fira Code" panose="020B0809050000020004" pitchFamily="49" charset="0"/>
              </a:rPr>
              <a:t>idx</a:t>
            </a:r>
            <a:r>
              <a:rPr lang="en-US" sz="1050" b="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C81CB-0D4D-015E-A6C7-6724860C9F8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F3BADD0-775D-00AB-6065-683027A95B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67ECF-9BA1-2BE7-0036-A36004137A20}"/>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95407F-A5F5-76A5-4E06-750FA9FB53D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2CDF9-1A11-349C-B79A-D01E2C32766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E99F6D3-B032-B769-4CDC-FF1CDC6915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3F49C5DC-F250-ABEE-8BA5-C59E6ABD627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DF7620-7AA1-EF30-FDC7-27AAC7FFE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C42AB4-1D66-61B5-41F3-D1C814D6D79F}"/>
              </a:ext>
            </a:extLst>
          </p:cNvPr>
          <p:cNvSpPr>
            <a:spLocks noGrp="1"/>
          </p:cNvSpPr>
          <p:nvPr>
            <p:ph type="title"/>
          </p:nvPr>
        </p:nvSpPr>
        <p:spPr/>
        <p:txBody>
          <a:bodyPr/>
          <a:lstStyle/>
          <a:p>
            <a:r>
              <a:rPr lang="en-US" noProof="0" dirty="0"/>
              <a:t>M &amp; S</a:t>
            </a:r>
          </a:p>
        </p:txBody>
      </p:sp>
      <p:sp>
        <p:nvSpPr>
          <p:cNvPr id="3" name="Content Placeholder 2">
            <a:extLst>
              <a:ext uri="{FF2B5EF4-FFF2-40B4-BE49-F238E27FC236}">
                <a16:creationId xmlns:a16="http://schemas.microsoft.com/office/drawing/2014/main" id="{7FC71ADE-62E2-F5C5-38A6-5FA51E07F94E}"/>
              </a:ext>
            </a:extLst>
          </p:cNvPr>
          <p:cNvSpPr>
            <a:spLocks noGrp="1"/>
          </p:cNvSpPr>
          <p:nvPr>
            <p:ph idx="1"/>
          </p:nvPr>
        </p:nvSpPr>
        <p:spPr/>
        <p:txBody>
          <a:bodyPr/>
          <a:lstStyle/>
          <a:p>
            <a:r>
              <a:rPr lang="en-US" noProof="0" dirty="0"/>
              <a:t>Motivation: GPU &amp; Cluster computing</a:t>
            </a:r>
          </a:p>
          <a:p>
            <a:pPr lvl="1"/>
            <a:r>
              <a:rPr lang="en-US" noProof="0" dirty="0"/>
              <a:t>Too many decisions, complex code (you don’t know) </a:t>
            </a:r>
            <a:r>
              <a:rPr lang="en-US" noProof="0" dirty="0">
                <a:sym typeface="Wingdings" panose="05000000000000000000" pitchFamily="2" charset="2"/>
              </a:rPr>
              <a:t> the problem, it is hard</a:t>
            </a:r>
            <a:endParaRPr lang="en-US" noProof="0" dirty="0"/>
          </a:p>
          <a:p>
            <a:pPr lvl="2"/>
            <a:r>
              <a:rPr lang="en-US" noProof="0" dirty="0"/>
              <a:t>layout options, traversal options, parallelization (Matice, </a:t>
            </a:r>
            <a:r>
              <a:rPr lang="en-US" noProof="0" dirty="0" err="1"/>
              <a:t>pruchod</a:t>
            </a:r>
            <a:r>
              <a:rPr lang="en-US" noProof="0" dirty="0"/>
              <a:t>; </a:t>
            </a:r>
            <a:r>
              <a:rPr lang="en-US" noProof="0" dirty="0" err="1"/>
              <a:t>nasobeni</a:t>
            </a:r>
            <a:r>
              <a:rPr lang="en-US" noProof="0" dirty="0"/>
              <a:t>?)</a:t>
            </a:r>
          </a:p>
          <a:p>
            <a:pPr lvl="2"/>
            <a:r>
              <a:rPr lang="en-US" noProof="0" dirty="0"/>
              <a:t>parameters for the above (block sizes, …)</a:t>
            </a:r>
          </a:p>
          <a:p>
            <a:r>
              <a:rPr lang="en-US" noProof="0" dirty="0"/>
              <a:t>Our solution: Abstraction &amp; automatization </a:t>
            </a:r>
            <a:r>
              <a:rPr lang="en-US" noProof="0" dirty="0">
                <a:sym typeface="Wingdings" panose="05000000000000000000" pitchFamily="2" charset="2"/>
              </a:rPr>
              <a:t> we offer a solution</a:t>
            </a:r>
            <a:endParaRPr lang="en-US" noProof="0" dirty="0"/>
          </a:p>
          <a:p>
            <a:pPr lvl="1"/>
            <a:r>
              <a:rPr lang="en-US" noProof="0" dirty="0"/>
              <a:t>Separation of concerns, independent aspects</a:t>
            </a:r>
          </a:p>
          <a:p>
            <a:pPr lvl="1"/>
            <a:r>
              <a:rPr lang="en-US" noProof="0" dirty="0"/>
              <a:t>Introducing layout-agnostic and traversal-agnostic algorithm design</a:t>
            </a:r>
          </a:p>
          <a:p>
            <a:pPr lvl="1"/>
            <a:r>
              <a:rPr lang="en-US" noProof="0" dirty="0"/>
              <a:t>How the world is saved</a:t>
            </a:r>
          </a:p>
        </p:txBody>
      </p:sp>
    </p:spTree>
    <p:extLst>
      <p:ext uri="{BB962C8B-B14F-4D97-AF65-F5344CB8AC3E}">
        <p14:creationId xmlns:p14="http://schemas.microsoft.com/office/powerpoint/2010/main" val="14089203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D8EA-565C-C8A0-F333-6EBD085AC735}"/>
              </a:ext>
            </a:extLst>
          </p:cNvPr>
          <p:cNvSpPr>
            <a:spLocks noGrp="1"/>
          </p:cNvSpPr>
          <p:nvPr>
            <p:ph type="title"/>
          </p:nvPr>
        </p:nvSpPr>
        <p:spPr/>
        <p:txBody>
          <a:bodyPr/>
          <a:lstStyle/>
          <a:p>
            <a:r>
              <a:rPr lang="en-US" noProof="0" dirty="0"/>
              <a:t>Proposed abstractions</a:t>
            </a:r>
          </a:p>
        </p:txBody>
      </p:sp>
      <p:sp>
        <p:nvSpPr>
          <p:cNvPr id="3" name="Content Placeholder 2">
            <a:extLst>
              <a:ext uri="{FF2B5EF4-FFF2-40B4-BE49-F238E27FC236}">
                <a16:creationId xmlns:a16="http://schemas.microsoft.com/office/drawing/2014/main" id="{0B0BC514-DFF4-C541-7399-85275B2EB075}"/>
              </a:ext>
            </a:extLst>
          </p:cNvPr>
          <p:cNvSpPr>
            <a:spLocks noGrp="1"/>
          </p:cNvSpPr>
          <p:nvPr>
            <p:ph idx="1"/>
          </p:nvPr>
        </p:nvSpPr>
        <p:spPr/>
        <p:txBody>
          <a:bodyPr/>
          <a:lstStyle/>
          <a:p>
            <a:r>
              <a:rPr lang="en-US" noProof="0" dirty="0"/>
              <a:t>Layout abstractions</a:t>
            </a:r>
          </a:p>
          <a:p>
            <a:r>
              <a:rPr lang="en-US" noProof="0" dirty="0"/>
              <a:t>Traversal abstractions</a:t>
            </a:r>
          </a:p>
          <a:p>
            <a:endParaRPr lang="en-US" noProof="0" dirty="0"/>
          </a:p>
          <a:p>
            <a:r>
              <a:rPr lang="en-US" noProof="0" dirty="0"/>
              <a:t>Extensions</a:t>
            </a:r>
          </a:p>
          <a:p>
            <a:pPr lvl="1"/>
            <a:r>
              <a:rPr lang="en-US" noProof="0" dirty="0"/>
              <a:t>? Practical aspects; </a:t>
            </a:r>
            <a:r>
              <a:rPr lang="en-US" noProof="0" dirty="0">
                <a:sym typeface="Wingdings" panose="05000000000000000000" pitchFamily="2" charset="2"/>
              </a:rPr>
              <a:t> autotuning</a:t>
            </a:r>
            <a:endParaRPr lang="en-US" noProof="0" dirty="0"/>
          </a:p>
          <a:p>
            <a:pPr lvl="1"/>
            <a:r>
              <a:rPr lang="en-US" noProof="0" dirty="0"/>
              <a:t>Distributed computing</a:t>
            </a:r>
          </a:p>
          <a:p>
            <a:endParaRPr lang="en-US" noProof="0" dirty="0"/>
          </a:p>
          <a:p>
            <a:r>
              <a:rPr lang="en-US" noProof="0" dirty="0"/>
              <a:t>Knowledge </a:t>
            </a:r>
            <a:r>
              <a:rPr lang="en-US" noProof="0" dirty="0" err="1"/>
              <a:t>neco</a:t>
            </a:r>
            <a:r>
              <a:rPr lang="en-US" noProof="0" dirty="0"/>
              <a:t> (</a:t>
            </a:r>
            <a:r>
              <a:rPr lang="en-US" noProof="0" dirty="0" err="1"/>
              <a:t>metaprogramovani</a:t>
            </a:r>
            <a:r>
              <a:rPr lang="en-US" noProof="0" dirty="0"/>
              <a:t>, </a:t>
            </a:r>
            <a:r>
              <a:rPr lang="en-US" noProof="0" dirty="0" err="1"/>
              <a:t>stavebni</a:t>
            </a:r>
            <a:r>
              <a:rPr lang="en-US" noProof="0" dirty="0"/>
              <a:t> </a:t>
            </a:r>
            <a:r>
              <a:rPr lang="en-US" noProof="0" dirty="0" err="1"/>
              <a:t>bloky</a:t>
            </a:r>
            <a:r>
              <a:rPr lang="en-US" noProof="0" dirty="0"/>
              <a:t>, </a:t>
            </a:r>
            <a:r>
              <a:rPr lang="en-US" noProof="0" dirty="0" err="1"/>
              <a:t>traversery</a:t>
            </a:r>
            <a:r>
              <a:rPr lang="en-US" noProof="0" dirty="0"/>
              <a:t>?)</a:t>
            </a:r>
          </a:p>
          <a:p>
            <a:pPr lvl="1"/>
            <a:r>
              <a:rPr lang="en-US" noProof="0" dirty="0"/>
              <a:t>CA computations (</a:t>
            </a:r>
          </a:p>
        </p:txBody>
      </p:sp>
    </p:spTree>
    <p:extLst>
      <p:ext uri="{BB962C8B-B14F-4D97-AF65-F5344CB8AC3E}">
        <p14:creationId xmlns:p14="http://schemas.microsoft.com/office/powerpoint/2010/main" val="2195190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dirty="0"/>
              <a:t>Enables optimizing the layouts on each computation node seamlessly</a:t>
            </a:r>
            <a:endParaRPr lang="en-US" noProof="0" dirty="0"/>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DBE9D86D-018E-4C50-0EFA-D7C58766058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4218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dirty="0"/>
              <a:t>Layout &amp; encoding options (! bit-packing)</a:t>
            </a:r>
          </a:p>
          <a:p>
            <a:pPr lvl="1"/>
            <a:r>
              <a:rPr lang="en-US" dirty="0"/>
              <a:t>Evaluation options (! bit-wise vectorization)</a:t>
            </a:r>
          </a:p>
          <a:p>
            <a:pPr lvl="1"/>
            <a:r>
              <a:rPr lang="en-US" noProof="0" dirty="0"/>
              <a:t>Traversal options (incl. parallelism)</a:t>
            </a:r>
          </a:p>
          <a:p>
            <a:r>
              <a:rPr lang="en-US" noProof="0" dirty="0"/>
              <a:t>Agnostic design of CA computation rules</a:t>
            </a:r>
          </a:p>
          <a:p>
            <a:r>
              <a:rPr lang="en-US" dirty="0"/>
              <a:t>Faster development, experimentation (optimization)</a:t>
            </a:r>
            <a:endParaRPr lang="en-US" noProof="0" dirty="0"/>
          </a:p>
        </p:txBody>
      </p:sp>
    </p:spTree>
    <p:extLst>
      <p:ext uri="{BB962C8B-B14F-4D97-AF65-F5344CB8AC3E}">
        <p14:creationId xmlns:p14="http://schemas.microsoft.com/office/powerpoint/2010/main" val="34660364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F1E705A3-4FDF-AB1A-A2C5-33B72A01596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3104121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D8E19-FCBD-3C1F-9804-55F9EF315364}"/>
              </a:ext>
            </a:extLst>
          </p:cNvPr>
          <p:cNvSpPr>
            <a:spLocks noGrp="1"/>
          </p:cNvSpPr>
          <p:nvPr>
            <p:ph type="title"/>
          </p:nvPr>
        </p:nvSpPr>
        <p:spPr/>
        <p:txBody>
          <a:bodyPr/>
          <a:lstStyle/>
          <a:p>
            <a:r>
              <a:rPr lang="en-US" noProof="0" dirty="0"/>
              <a:t>LLMs in algorithm design</a:t>
            </a:r>
          </a:p>
        </p:txBody>
      </p:sp>
      <p:sp>
        <p:nvSpPr>
          <p:cNvPr id="3" name="Content Placeholder 2">
            <a:extLst>
              <a:ext uri="{FF2B5EF4-FFF2-40B4-BE49-F238E27FC236}">
                <a16:creationId xmlns:a16="http://schemas.microsoft.com/office/drawing/2014/main" id="{64F2D09B-2F00-3457-9D41-D2EAB2BD84E5}"/>
              </a:ext>
            </a:extLst>
          </p:cNvPr>
          <p:cNvSpPr>
            <a:spLocks noGrp="1"/>
          </p:cNvSpPr>
          <p:nvPr>
            <p:ph idx="1"/>
          </p:nvPr>
        </p:nvSpPr>
        <p:spPr/>
        <p:txBody>
          <a:bodyPr/>
          <a:lstStyle/>
          <a:p>
            <a:r>
              <a:rPr lang="en-US" noProof="0" dirty="0"/>
              <a:t>Tutoring LLMs for CUDA optimization</a:t>
            </a:r>
          </a:p>
          <a:p>
            <a:r>
              <a:rPr lang="en-US" noProof="0" dirty="0"/>
              <a:t>LLMs and abstractions</a:t>
            </a:r>
          </a:p>
        </p:txBody>
      </p:sp>
    </p:spTree>
    <p:extLst>
      <p:ext uri="{BB962C8B-B14F-4D97-AF65-F5344CB8AC3E}">
        <p14:creationId xmlns:p14="http://schemas.microsoft.com/office/powerpoint/2010/main" val="6458101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84D79-2E52-80F7-0541-30A0EEC45CA4}"/>
              </a:ext>
            </a:extLst>
          </p:cNvPr>
          <p:cNvSpPr>
            <a:spLocks noGrp="1"/>
          </p:cNvSpPr>
          <p:nvPr>
            <p:ph type="title"/>
          </p:nvPr>
        </p:nvSpPr>
        <p:spPr/>
        <p:txBody>
          <a:bodyPr/>
          <a:lstStyle/>
          <a:p>
            <a:r>
              <a:rPr lang="en-US" noProof="0" dirty="0"/>
              <a:t>Tutoring LLMs</a:t>
            </a:r>
          </a:p>
        </p:txBody>
      </p:sp>
      <p:sp>
        <p:nvSpPr>
          <p:cNvPr id="3" name="Content Placeholder 2">
            <a:extLst>
              <a:ext uri="{FF2B5EF4-FFF2-40B4-BE49-F238E27FC236}">
                <a16:creationId xmlns:a16="http://schemas.microsoft.com/office/drawing/2014/main" id="{5EC62719-077B-686B-2F9B-914035C8221C}"/>
              </a:ext>
            </a:extLst>
          </p:cNvPr>
          <p:cNvSpPr>
            <a:spLocks noGrp="1"/>
          </p:cNvSpPr>
          <p:nvPr>
            <p:ph idx="1"/>
          </p:nvPr>
        </p:nvSpPr>
        <p:spPr/>
        <p:txBody>
          <a:bodyPr>
            <a:normAutofit fontScale="92500" lnSpcReduction="20000"/>
          </a:bodyPr>
          <a:lstStyle/>
          <a:p>
            <a:r>
              <a:rPr lang="en-US" noProof="0" dirty="0"/>
              <a:t>The goal was always better automation/generalization of design and tuning</a:t>
            </a:r>
          </a:p>
          <a:p>
            <a:r>
              <a:rPr lang="en-US" dirty="0"/>
              <a:t>LLMs started to be surprisingly competent code generators</a:t>
            </a:r>
          </a:p>
          <a:p>
            <a:pPr lvl="1"/>
            <a:r>
              <a:rPr lang="en-US" noProof="0" dirty="0"/>
              <a:t>Not reliable, but extremely flexible, generalizable, simple to use (e.g., understanding natural language)</a:t>
            </a:r>
          </a:p>
          <a:p>
            <a:r>
              <a:rPr lang="en-US" dirty="0"/>
              <a:t>Core assumption for the study: LLMs are not very good in high-</a:t>
            </a:r>
            <a:r>
              <a:rPr lang="en-US" dirty="0" err="1"/>
              <a:t>lvl</a:t>
            </a:r>
            <a:r>
              <a:rPr lang="en-US" dirty="0"/>
              <a:t> decisions</a:t>
            </a:r>
          </a:p>
          <a:p>
            <a:r>
              <a:rPr lang="en-US" noProof="0" dirty="0"/>
              <a:t>Tutoring = improving quality of generated code by design suggestions/directions</a:t>
            </a:r>
          </a:p>
          <a:p>
            <a:r>
              <a:rPr lang="en-US" dirty="0"/>
              <a:t>Key findings:</a:t>
            </a:r>
          </a:p>
          <a:p>
            <a:pPr lvl="1"/>
            <a:r>
              <a:rPr lang="en-US" dirty="0"/>
              <a:t>Intricate relationship between algorithm complexity and this effect on an LLM</a:t>
            </a:r>
          </a:p>
          <a:p>
            <a:pPr lvl="1"/>
            <a:r>
              <a:rPr lang="en-US" noProof="0" dirty="0"/>
              <a:t>Improvement over time: the effect changes with each new model</a:t>
            </a:r>
          </a:p>
        </p:txBody>
      </p:sp>
    </p:spTree>
    <p:extLst>
      <p:ext uri="{BB962C8B-B14F-4D97-AF65-F5344CB8AC3E}">
        <p14:creationId xmlns:p14="http://schemas.microsoft.com/office/powerpoint/2010/main" val="26671222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dirty="0"/>
              <a:t>Key findings:</a:t>
            </a:r>
          </a:p>
          <a:p>
            <a:pPr lvl="1"/>
            <a:r>
              <a:rPr lang="en-US" noProof="0" dirty="0"/>
              <a:t>Prompt specificity improves results much more</a:t>
            </a:r>
          </a:p>
          <a:p>
            <a:pPr lvl="1"/>
            <a:r>
              <a:rPr lang="en-US"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BD501-0287-7E9D-6C52-A86B98F9EB52}"/>
              </a:ext>
            </a:extLst>
          </p:cNvPr>
          <p:cNvSpPr>
            <a:spLocks noGrp="1"/>
          </p:cNvSpPr>
          <p:nvPr>
            <p:ph type="title"/>
          </p:nvPr>
        </p:nvSpPr>
        <p:spPr/>
        <p:txBody>
          <a:bodyPr/>
          <a:lstStyle/>
          <a:p>
            <a:r>
              <a:rPr lang="en-US" noProof="0" dirty="0" err="1"/>
              <a:t>Zahodit</a:t>
            </a:r>
            <a:endParaRPr lang="en-US" noProof="0" dirty="0"/>
          </a:p>
        </p:txBody>
      </p:sp>
      <p:sp>
        <p:nvSpPr>
          <p:cNvPr id="3" name="Content Placeholder 2">
            <a:extLst>
              <a:ext uri="{FF2B5EF4-FFF2-40B4-BE49-F238E27FC236}">
                <a16:creationId xmlns:a16="http://schemas.microsoft.com/office/drawing/2014/main" id="{369E5D67-EA03-A5CA-2D82-199F178CE89C}"/>
              </a:ext>
            </a:extLst>
          </p:cNvPr>
          <p:cNvSpPr>
            <a:spLocks noGrp="1"/>
          </p:cNvSpPr>
          <p:nvPr>
            <p:ph idx="1"/>
          </p:nvPr>
        </p:nvSpPr>
        <p:spPr/>
        <p:txBody>
          <a:bodyPr/>
          <a:lstStyle/>
          <a:p>
            <a:r>
              <a:rPr lang="en-US" noProof="0" dirty="0" err="1"/>
              <a:t>Noarr</a:t>
            </a:r>
            <a:endParaRPr lang="en-US" noProof="0" dirty="0"/>
          </a:p>
          <a:p>
            <a:r>
              <a:rPr lang="en-US" noProof="0" dirty="0" err="1"/>
              <a:t>Cellato</a:t>
            </a:r>
            <a:endParaRPr lang="en-US" noProof="0" dirty="0"/>
          </a:p>
        </p:txBody>
      </p:sp>
    </p:spTree>
    <p:extLst>
      <p:ext uri="{BB962C8B-B14F-4D97-AF65-F5344CB8AC3E}">
        <p14:creationId xmlns:p14="http://schemas.microsoft.com/office/powerpoint/2010/main" val="40851222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2137</TotalTime>
  <Words>2726</Words>
  <Application>Microsoft Office PowerPoint</Application>
  <PresentationFormat>Widescreen</PresentationFormat>
  <Paragraphs>244</Paragraphs>
  <Slides>27</Slides>
  <Notes>10</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M &amp; S</vt:lpstr>
      <vt:lpstr>Proposed abstractions</vt:lpstr>
      <vt:lpstr>Distributed computing</vt:lpstr>
      <vt:lpstr>Results</vt:lpstr>
      <vt:lpstr>Cellular automata</vt:lpstr>
      <vt:lpstr>Results</vt:lpstr>
      <vt:lpstr>LLMs in algorithm design</vt:lpstr>
      <vt:lpstr>Tutoring LLMs</vt:lpstr>
      <vt:lpstr>LLMs and abstractions</vt:lpstr>
      <vt:lpstr>Zahodit</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25</cp:revision>
  <dcterms:created xsi:type="dcterms:W3CDTF">2026-08-08T18:10:38Z</dcterms:created>
  <dcterms:modified xsi:type="dcterms:W3CDTF">2026-08-25T14:13:11Z</dcterms:modified>
</cp:coreProperties>
</file>