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8"/>
  </p:notesMasterIdLst>
  <p:sldIdLst>
    <p:sldId id="256" r:id="rId2"/>
    <p:sldId id="322" r:id="rId3"/>
    <p:sldId id="277" r:id="rId4"/>
    <p:sldId id="296" r:id="rId5"/>
    <p:sldId id="297" r:id="rId6"/>
    <p:sldId id="283" r:id="rId7"/>
    <p:sldId id="314" r:id="rId8"/>
    <p:sldId id="284" r:id="rId9"/>
    <p:sldId id="285" r:id="rId10"/>
    <p:sldId id="278" r:id="rId11"/>
    <p:sldId id="300" r:id="rId12"/>
    <p:sldId id="286" r:id="rId13"/>
    <p:sldId id="290" r:id="rId14"/>
    <p:sldId id="279" r:id="rId15"/>
    <p:sldId id="287" r:id="rId16"/>
    <p:sldId id="316" r:id="rId17"/>
    <p:sldId id="302" r:id="rId18"/>
    <p:sldId id="280" r:id="rId19"/>
    <p:sldId id="310" r:id="rId20"/>
    <p:sldId id="295" r:id="rId21"/>
    <p:sldId id="288" r:id="rId22"/>
    <p:sldId id="305" r:id="rId23"/>
    <p:sldId id="291" r:id="rId24"/>
    <p:sldId id="306" r:id="rId25"/>
    <p:sldId id="315" r:id="rId26"/>
    <p:sldId id="308" r:id="rId27"/>
    <p:sldId id="309" r:id="rId28"/>
    <p:sldId id="311" r:id="rId29"/>
    <p:sldId id="266" r:id="rId30"/>
    <p:sldId id="312" r:id="rId31"/>
    <p:sldId id="262" r:id="rId32"/>
    <p:sldId id="320" r:id="rId33"/>
    <p:sldId id="318" r:id="rId34"/>
    <p:sldId id="319" r:id="rId35"/>
    <p:sldId id="317" r:id="rId36"/>
    <p:sldId id="321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93DA01B-4D9B-48A0-906B-75ADFA7BB1A7}">
          <p14:sldIdLst>
            <p14:sldId id="256"/>
            <p14:sldId id="322"/>
            <p14:sldId id="277"/>
          </p14:sldIdLst>
        </p14:section>
        <p14:section name="algorithms" id="{7894E90A-E282-4867-82A4-369CDB973E4E}">
          <p14:sldIdLst>
            <p14:sldId id="296"/>
            <p14:sldId id="297"/>
            <p14:sldId id="283"/>
            <p14:sldId id="314"/>
            <p14:sldId id="284"/>
            <p14:sldId id="285"/>
            <p14:sldId id="278"/>
            <p14:sldId id="300"/>
            <p14:sldId id="286"/>
            <p14:sldId id="290"/>
            <p14:sldId id="279"/>
            <p14:sldId id="287"/>
            <p14:sldId id="316"/>
            <p14:sldId id="302"/>
            <p14:sldId id="280"/>
            <p14:sldId id="310"/>
          </p14:sldIdLst>
        </p14:section>
        <p14:section name="llms" id="{2FE3CF17-CBFB-48E9-A3BF-DD99B7D2F01E}">
          <p14:sldIdLst>
            <p14:sldId id="295"/>
            <p14:sldId id="288"/>
            <p14:sldId id="305"/>
            <p14:sldId id="291"/>
            <p14:sldId id="306"/>
            <p14:sldId id="315"/>
            <p14:sldId id="308"/>
            <p14:sldId id="309"/>
            <p14:sldId id="311"/>
          </p14:sldIdLst>
        </p14:section>
        <p14:section name="summary" id="{D3BAAF83-51D3-4EFD-B7CC-7BA6DAC4A838}">
          <p14:sldIdLst>
            <p14:sldId id="266"/>
            <p14:sldId id="312"/>
          </p14:sldIdLst>
        </p14:section>
        <p14:section name="Review comments and questions" id="{40190F67-0659-405D-810E-4AC194B72FA5}">
          <p14:sldIdLst>
            <p14:sldId id="262"/>
            <p14:sldId id="320"/>
            <p14:sldId id="318"/>
            <p14:sldId id="319"/>
            <p14:sldId id="317"/>
            <p14:sldId id="321"/>
          </p14:sldIdLst>
        </p14:section>
        <p14:section name="supplementary" id="{5D95F6E9-DF15-476C-BE69-BBEF48AA8B8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1717"/>
    <a:srgbClr val="A12B2B"/>
    <a:srgbClr val="DC9494"/>
    <a:srgbClr val="D08888"/>
    <a:srgbClr val="D07070"/>
    <a:srgbClr val="C69292"/>
    <a:srgbClr val="C17F7F"/>
    <a:srgbClr val="D0A0A0"/>
    <a:srgbClr val="0F9ED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2" autoAdjust="0"/>
    <p:restoredTop sz="75000" autoAdjust="0"/>
  </p:normalViewPr>
  <p:slideViewPr>
    <p:cSldViewPr snapToGrid="0">
      <p:cViewPr varScale="1">
        <p:scale>
          <a:sx n="119" d="100"/>
          <a:sy n="119" d="100"/>
        </p:scale>
        <p:origin x="4032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4716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1" d="100"/>
          <a:sy n="121" d="100"/>
        </p:scale>
        <p:origin x="6804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A5C982-A1C5-4AC2-B4BF-466515DA1494}" type="datetimeFigureOut">
              <a:rPr lang="en-US" smtClean="0"/>
              <a:t>8/30/2026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8FD632-245B-410D-BCC4-8BF8D37AB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353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36309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329ED-D737-34A6-0925-8C1CCC2C5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5F9F78-7659-2C4C-F035-CA080DB17C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57B2AE-D16B-B352-80B6-22209338C1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pitch the research in 30s)</a:t>
            </a:r>
            <a:br>
              <a:rPr lang="en-US" dirty="0"/>
            </a:br>
            <a:endParaRPr lang="en-US" dirty="0"/>
          </a:p>
          <a:p>
            <a:r>
              <a:rPr lang="en-US" dirty="0"/>
              <a:t>Implementing efficient HPC algorithms is challenging.</a:t>
            </a:r>
          </a:p>
          <a:p>
            <a:r>
              <a:rPr lang="en-US" dirty="0"/>
              <a:t>Apart from ensuring the functionality and the right high-level algorithm design so it scales well for the expected use cases, the design must also ensure efficient evaluation.</a:t>
            </a:r>
          </a:p>
          <a:p>
            <a:endParaRPr lang="en-US" dirty="0"/>
          </a:p>
          <a:p>
            <a:r>
              <a:rPr lang="en-US" dirty="0"/>
              <a:t>Most algorithms that we consider perform computations on large, often multidimensional data.</a:t>
            </a:r>
          </a:p>
          <a:p>
            <a:r>
              <a:rPr lang="en-US" dirty="0"/>
              <a:t>These data are operated on using multi-level nested loops that iteratively perform reads and writes.</a:t>
            </a:r>
          </a:p>
          <a:p>
            <a:endParaRPr lang="en-US" dirty="0"/>
          </a:p>
          <a:p>
            <a:r>
              <a:rPr lang="en-US" dirty="0"/>
              <a:t>In such algorithms, the data and the loops may often be rearranged without changing the functionality,</a:t>
            </a:r>
            <a:br>
              <a:rPr lang="en-US" dirty="0"/>
            </a:br>
            <a:r>
              <a:rPr lang="en-US" dirty="0"/>
              <a:t>but doing so may influence the performance. The right choice of the data layouts and loop traversals can</a:t>
            </a:r>
            <a:br>
              <a:rPr lang="en-US" dirty="0"/>
            </a:br>
            <a:r>
              <a:rPr lang="en-US" dirty="0"/>
              <a:t>significantly speed up computation, especially if it is memory-bound (limited by memory access speed).</a:t>
            </a:r>
          </a:p>
          <a:p>
            <a:endParaRPr lang="en-US" dirty="0"/>
          </a:p>
          <a:p>
            <a:r>
              <a:rPr lang="en-US" dirty="0"/>
              <a:t>This problem is especially pronounced on modern, massively parallel systems that process large datasets –</a:t>
            </a:r>
            <a:br>
              <a:rPr lang="en-US" dirty="0"/>
            </a:br>
            <a:r>
              <a:rPr lang="en-US" dirty="0"/>
              <a:t>for example, modern AI systems.</a:t>
            </a:r>
          </a:p>
          <a:p>
            <a:endParaRPr lang="en-US" dirty="0"/>
          </a:p>
          <a:p>
            <a:r>
              <a:rPr lang="en-US" dirty="0"/>
              <a:t>In many cases, the right choice of data layouts and traversals requires an empirical approach of trial and error,</a:t>
            </a:r>
          </a:p>
          <a:p>
            <a:r>
              <a:rPr lang="en-US" dirty="0"/>
              <a:t>And finding the most efficient implementation may require re-evaluating the algorithm with many</a:t>
            </a:r>
            <a:br>
              <a:rPr lang="en-US" dirty="0"/>
            </a:br>
            <a:r>
              <a:rPr lang="en-US" dirty="0"/>
              <a:t>different choices of layouts and traversals. Furthermore, it may be necessary to repeat the process on each target system.</a:t>
            </a:r>
          </a:p>
          <a:p>
            <a:endParaRPr lang="en-US" dirty="0"/>
          </a:p>
          <a:p>
            <a:r>
              <a:rPr lang="en-US" dirty="0"/>
              <a:t>Our research starts by decoupling layouts from the algorithm design so they can be optimized independently,</a:t>
            </a:r>
            <a:br>
              <a:rPr lang="en-US" dirty="0"/>
            </a:br>
            <a:r>
              <a:rPr lang="en-US" dirty="0"/>
              <a:t>which we then iterate on to also consider traversals, and then enable full automation.</a:t>
            </a:r>
          </a:p>
          <a:p>
            <a:r>
              <a:rPr lang="en-US" dirty="0"/>
              <a:t>This may simplify the implementation of efficient algorithms for domain experts who do not </a:t>
            </a:r>
            <a:r>
              <a:rPr lang="en-US"/>
              <a:t>have the resources to study and iterate</a:t>
            </a:r>
            <a:br>
              <a:rPr lang="en-US"/>
            </a:br>
            <a:r>
              <a:rPr lang="en-US"/>
              <a:t>different optimization decisions.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AD30D6-FB5C-C6E6-8452-1EC18E3B9F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887204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why choosing the “right” memory layout matters)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let’s look at a simple example of initializing a single matrix elements to values that might depend on their indices.</a:t>
            </a:r>
          </a:p>
          <a:p>
            <a:endParaRPr lang="en-US" dirty="0"/>
          </a:p>
          <a:p>
            <a:r>
              <a:rPr lang="en-US" dirty="0"/>
              <a:t>For a typical *m-by-n matrix*, this is commonly expressed as an assignment nested in a two-dimensional loop nest; in this particular example, the indices are iteratively generated for the elements row by row.</a:t>
            </a:r>
          </a:p>
          <a:p>
            <a:br>
              <a:rPr lang="en-US" dirty="0"/>
            </a:br>
            <a:r>
              <a:rPr lang="en-US" dirty="0"/>
              <a:t>(? cool animation)</a:t>
            </a:r>
            <a:br>
              <a:rPr lang="en-US" dirty="0"/>
            </a:br>
            <a:r>
              <a:rPr lang="en-US" dirty="0"/>
              <a:t>Notice that for the *row-major matrix layout* on the left</a:t>
            </a:r>
            <a:r>
              <a:rPr lang="cs-CZ" dirty="0"/>
              <a:t> (</a:t>
            </a:r>
            <a:r>
              <a:rPr lang="en-US" noProof="0" dirty="0"/>
              <a:t>the</a:t>
            </a:r>
            <a:r>
              <a:rPr lang="cs-CZ" dirty="0"/>
              <a:t> most </a:t>
            </a:r>
            <a:r>
              <a:rPr lang="cs-CZ" dirty="0" err="1"/>
              <a:t>common</a:t>
            </a:r>
            <a:r>
              <a:rPr lang="cs-CZ" dirty="0"/>
              <a:t> matrix layout)</a:t>
            </a:r>
            <a:r>
              <a:rPr lang="en-US" dirty="0"/>
              <a:t>, the algorithm tends to access elements that are close together (as the faster-iterating inner loop generates row indices),</a:t>
            </a:r>
            <a:br>
              <a:rPr lang="en-US" dirty="0"/>
            </a:br>
            <a:r>
              <a:rPr lang="en-US" dirty="0"/>
              <a:t>whereas in the other, *column-major layout*, the successive accesses are spread out further.</a:t>
            </a:r>
            <a:br>
              <a:rPr lang="en-US" dirty="0"/>
            </a:br>
            <a:r>
              <a:rPr lang="en-US" dirty="0"/>
              <a:t>This has effect on hardware mechanisms such as caching. which makes accesses to close-by elements faster.</a:t>
            </a:r>
          </a:p>
          <a:p>
            <a:endParaRPr lang="en-US" dirty="0"/>
          </a:p>
          <a:p>
            <a:r>
              <a:rPr lang="en-US" dirty="0"/>
              <a:t>In real-use algorithms, the situation may be further complicated by factors such as algorithms having more elaborate traversal patterns and accessing multiple data structures at once.</a:t>
            </a:r>
          </a:p>
          <a:p>
            <a:br>
              <a:rPr lang="en-US" dirty="0"/>
            </a:br>
            <a:br>
              <a:rPr lang="en-US" dirty="0"/>
            </a:br>
            <a:r>
              <a:rPr lang="en-US" dirty="0"/>
              <a:t>(ass bridge: we have started our research by finding abstractions to making this simpler to design and easier to experiment with) (?autotuning)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26409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layout-agnostic design and layout abstractions)</a:t>
            </a:r>
          </a:p>
          <a:p>
            <a:endParaRPr lang="en-US" dirty="0"/>
          </a:p>
          <a:p>
            <a:r>
              <a:rPr lang="en-US" dirty="0"/>
              <a:t>The start of our research focused on enabling the design of *layout-agnostic* algorithms; algorithms that do not rely on specific memory layouts of the data structures.</a:t>
            </a:r>
            <a:br>
              <a:rPr lang="en-US" dirty="0"/>
            </a:br>
            <a:r>
              <a:rPr lang="en-US" dirty="0"/>
              <a:t>One example of a sufficiently layout-agnostic algorithm is the earlier shown matrix initialization algorithm, which works for any matrix that exposes a</a:t>
            </a:r>
            <a:br>
              <a:rPr lang="en-US" dirty="0"/>
            </a:br>
            <a:r>
              <a:rPr lang="en-US" dirty="0"/>
              <a:t>two-dimensional *logical structure* of the appropriate dimensions regardless of the specific physical *memory layout*.</a:t>
            </a:r>
          </a:p>
          <a:p>
            <a:endParaRPr lang="en-US" dirty="0"/>
          </a:p>
          <a:p>
            <a:r>
              <a:rPr lang="en-US" dirty="0"/>
              <a:t>Note that the logical structure defines the semantics of the layout abstraction, while the physical memory layout is often not functionally relevant in the context of the algorithm.</a:t>
            </a:r>
          </a:p>
          <a:p>
            <a:endParaRPr lang="en-US" dirty="0"/>
          </a:p>
          <a:p>
            <a:r>
              <a:rPr lang="en-US" dirty="0"/>
              <a:t>We call a *layout abstraction* a mapping between these two concepts. It defines the indexation of a data structure and internally specifies how the elements</a:t>
            </a:r>
            <a:br>
              <a:rPr lang="en-US" dirty="0"/>
            </a:br>
            <a:r>
              <a:rPr lang="en-US" dirty="0"/>
              <a:t>are stored in memory (offsets in memory).</a:t>
            </a:r>
          </a:p>
          <a:p>
            <a:endParaRPr lang="en-US" dirty="0"/>
          </a:p>
          <a:p>
            <a:r>
              <a:rPr lang="en-US" dirty="0"/>
              <a:t>During our research, layout abstractions with similar goals were developed for the C++ standard (std::</a:t>
            </a:r>
            <a:r>
              <a:rPr lang="en-US" dirty="0" err="1"/>
              <a:t>mdspan</a:t>
            </a:r>
            <a:r>
              <a:rPr lang="en-US" dirty="0"/>
              <a:t>) and GPU algorithm development (</a:t>
            </a:r>
            <a:r>
              <a:rPr lang="en-US" dirty="0" err="1"/>
              <a:t>CUTe</a:t>
            </a:r>
            <a:r>
              <a:rPr lang="en-US" dirty="0"/>
              <a:t> layouts),</a:t>
            </a:r>
            <a:br>
              <a:rPr lang="en-US" dirty="0"/>
            </a:br>
            <a:r>
              <a:rPr lang="en-US" dirty="0"/>
              <a:t>showing the practical relevance of this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783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key concepts of </a:t>
            </a:r>
            <a:r>
              <a:rPr lang="en-US" dirty="0" err="1"/>
              <a:t>Noarr</a:t>
            </a:r>
            <a:r>
              <a:rPr lang="en-US" dirty="0"/>
              <a:t> Structures)</a:t>
            </a:r>
          </a:p>
          <a:p>
            <a:endParaRPr lang="en-US" dirty="0"/>
          </a:p>
          <a:p>
            <a:r>
              <a:rPr lang="en-US" dirty="0"/>
              <a:t>Our approach is based on specifying the layouts via composable *building blocks* (such as “scalar” that names a single value or “vector” that extends a given layout with one named dimension).</a:t>
            </a:r>
          </a:p>
          <a:p>
            <a:endParaRPr lang="en-US" dirty="0"/>
          </a:p>
          <a:p>
            <a:r>
              <a:rPr lang="en-US" dirty="0"/>
              <a:t>By iteratively composing these building blocks, we can define derived data structures of arbitrary complexity.</a:t>
            </a:r>
          </a:p>
          <a:p>
            <a:endParaRPr lang="en-US" dirty="0"/>
          </a:p>
          <a:p>
            <a:r>
              <a:rPr lang="en-US" dirty="0"/>
              <a:t>In our approach, all dimensions are named, and they specify the semantic logical structure of the layout, providing a predictable API;</a:t>
            </a:r>
            <a:br>
              <a:rPr lang="en-US" dirty="0"/>
            </a:br>
            <a:r>
              <a:rPr lang="en-US" dirty="0"/>
              <a:t>a data structure with dimensions ‘m’ and ‘n’ can be indexed with an index point with the appropriate dimensions.</a:t>
            </a:r>
          </a:p>
          <a:p>
            <a:endParaRPr lang="en-US" dirty="0"/>
          </a:p>
          <a:p>
            <a:r>
              <a:rPr lang="en-US" dirty="0"/>
              <a:t>In this case, the encoded dimension names ensure that the indices will be paired with the dimensions of the structure correctly.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And if we want to encode a static constant with a compile-time value, it is as simple as replacing a numeric parameter with a special literal value, with no other modifications.</a:t>
            </a:r>
            <a:br>
              <a:rPr lang="en-US" dirty="0"/>
            </a:br>
            <a:r>
              <a:rPr lang="en-US" dirty="0"/>
              <a:t>This makes the value be directly propagated as a compiler constant instead of being stored in the object representing the layout;</a:t>
            </a:r>
            <a:br>
              <a:rPr lang="en-US" dirty="0"/>
            </a:br>
            <a:r>
              <a:rPr lang="en-US" dirty="0"/>
              <a:t>this might also enable more aggressive compiler optimizations. (</a:t>
            </a:r>
            <a:r>
              <a:rPr lang="en-US" dirty="0" err="1"/>
              <a:t>na</a:t>
            </a:r>
            <a:r>
              <a:rPr lang="en-US" dirty="0"/>
              <a:t> to </a:t>
            </a:r>
            <a:r>
              <a:rPr lang="en-US" dirty="0" err="1"/>
              <a:t>mame</a:t>
            </a:r>
            <a:r>
              <a:rPr lang="en-US" dirty="0"/>
              <a:t> </a:t>
            </a:r>
            <a:r>
              <a:rPr lang="en-US" dirty="0" err="1"/>
              <a:t>grafy</a:t>
            </a:r>
            <a:r>
              <a:rPr lang="en-US" dirty="0"/>
              <a:t> od </a:t>
            </a:r>
            <a:r>
              <a:rPr lang="en-US" dirty="0" err="1"/>
              <a:t>adama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---</a:t>
            </a:r>
          </a:p>
          <a:p>
            <a:endParaRPr lang="en-US" dirty="0"/>
          </a:p>
          <a:p>
            <a:r>
              <a:rPr lang="en-US" dirty="0"/>
              <a:t>An important quality of our approach is that the memory layouts are a separate concept from data structures.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A data structure can be constructed from a given layout using a simple “bag” constructor. In its simplest use, the constructor creates a data structure that automatically manages an appropriate</a:t>
            </a:r>
            <a:br>
              <a:rPr lang="en-US" dirty="0"/>
            </a:br>
            <a:r>
              <a:rPr lang="en-US" dirty="0"/>
              <a:t>memory buffer.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If, instead, we require the memory buffer to reside in a specific memory region or point to an already existing structure, we can supply it ourselves; the constructor then creates a view to the pointed data.</a:t>
            </a:r>
          </a:p>
          <a:p>
            <a:r>
              <a:rPr lang="en-US" dirty="0"/>
              <a:t>Here, for example, we requested the byte-wise size of the layout to allocate it ourselves in GPU device memory.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478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introducing abstraction for traversal-agnostic algorithms – traversers)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After carefully assessing how the principles play into defining layout-agnostic algorithms,</a:t>
            </a:r>
            <a:br>
              <a:rPr lang="en-US" dirty="0"/>
            </a:br>
            <a:r>
              <a:rPr lang="en-US" dirty="0"/>
              <a:t>we have extended the approach to define traversals as well, enabling traversal-agnostic design.</a:t>
            </a:r>
          </a:p>
          <a:p>
            <a:endParaRPr lang="en-US" dirty="0"/>
          </a:p>
          <a:p>
            <a:r>
              <a:rPr lang="en-US" dirty="0"/>
              <a:t>For that, we have devised a traverser abstraction.</a:t>
            </a:r>
            <a:br>
              <a:rPr lang="en-US" dirty="0"/>
            </a:br>
            <a:r>
              <a:rPr lang="en-US" dirty="0"/>
              <a:t>An adaptation of an idea of an iterator for multi-dimensional layouts and traversals.</a:t>
            </a:r>
          </a:p>
          <a:p>
            <a:endParaRPr lang="en-US" dirty="0"/>
          </a:p>
          <a:p>
            <a:r>
              <a:rPr lang="en-US" dirty="0"/>
              <a:t>For a single structure, the traverser offers the functionality of a for-each algorithm –</a:t>
            </a:r>
            <a:br>
              <a:rPr lang="en-US" dirty="0"/>
            </a:br>
            <a:r>
              <a:rPr lang="en-US" dirty="0"/>
              <a:t>we can thus write the earlier shown initialization algorithm without having to consider the dimensions of the structure.</a:t>
            </a:r>
            <a:br>
              <a:rPr lang="en-US" dirty="0"/>
            </a:br>
            <a:r>
              <a:rPr lang="en-US" dirty="0"/>
              <a:t>They are traversed automatically and composed into an index point, which we can use in a lambda expression specifying the element-specific action.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If two structures share the same index space, a traverser constructed from them can be used to copy the data from one to the other.</a:t>
            </a:r>
          </a:p>
          <a:p>
            <a:r>
              <a:rPr lang="en-US" dirty="0"/>
              <a:t>It automatically recognizes that their index spaces fully overlap and traverses it only once.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If the two structures have different physical memory layouts, this effectively transposes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58945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518B7E-2CCD-0A01-49C2-3EEC21B7D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AC74B1-1EFF-F880-AF5F-62675F3271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D2714E-2A35-A3E9-DCAC-8D5FD6952A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traversers – structures with non-overlapping index spaces)</a:t>
            </a:r>
            <a:br>
              <a:rPr lang="en-US" dirty="0"/>
            </a:br>
            <a:endParaRPr lang="en-US" dirty="0"/>
          </a:p>
          <a:p>
            <a:r>
              <a:rPr lang="en-US" dirty="0"/>
              <a:t>This generalizes to structures with (partially or fully) independent index spaces. Let’s show that on the matrix multiplication algorithm.</a:t>
            </a:r>
          </a:p>
          <a:p>
            <a:endParaRPr lang="en-US" dirty="0"/>
          </a:p>
          <a:p>
            <a:r>
              <a:rPr lang="en-US" dirty="0"/>
              <a:t>It multiplies two matrices with a shared dimension (in this case, k) into a single one with the other two dimensions (m and n).</a:t>
            </a:r>
          </a:p>
          <a:p>
            <a:r>
              <a:rPr lang="en-US" dirty="0"/>
              <a:t>It can be written as a dot product for each element of the output matrix, which, in code, translates into three loops.</a:t>
            </a:r>
          </a:p>
          <a:p>
            <a:endParaRPr lang="en-US" dirty="0"/>
          </a:p>
          <a:p>
            <a:r>
              <a:rPr lang="en-US" dirty="0"/>
              <a:t>We can define the same three loops by simply using the traverser, which first infers the index space from A,</a:t>
            </a:r>
          </a:p>
          <a:p>
            <a:r>
              <a:rPr lang="en-US" dirty="0"/>
              <a:t>Then extends it to cover B as well, and does nothing for C, as its dimensions are already covered by the three loops.</a:t>
            </a:r>
          </a:p>
          <a:p>
            <a:endParaRPr lang="en-US" dirty="0"/>
          </a:p>
          <a:p>
            <a:r>
              <a:rPr lang="en-US" dirty="0"/>
              <a:t>(…)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75528D-6039-8EA3-096B-57285E15D8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36277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optimizing the traversal)</a:t>
            </a:r>
          </a:p>
          <a:p>
            <a:endParaRPr lang="en-US" dirty="0"/>
          </a:p>
          <a:p>
            <a:r>
              <a:rPr lang="en-US" dirty="0"/>
              <a:t>By itself, this would be nice, but we can do much more.</a:t>
            </a:r>
            <a:br>
              <a:rPr lang="en-US" dirty="0"/>
            </a:br>
            <a:endParaRPr lang="en-US" dirty="0"/>
          </a:p>
          <a:p>
            <a:r>
              <a:rPr lang="en-US" dirty="0"/>
              <a:t>Let’s say we want to perform the matrix multiplication by tiles of the output to improve the caching behavior;</a:t>
            </a:r>
            <a:br>
              <a:rPr lang="en-US" dirty="0"/>
            </a:br>
            <a:r>
              <a:rPr lang="en-US" dirty="0"/>
              <a:t>we can do so by defining the transformation using the same principles and then applying it to the traverser.</a:t>
            </a:r>
            <a:br>
              <a:rPr lang="en-US" dirty="0"/>
            </a:br>
            <a:endParaRPr lang="en-US" dirty="0"/>
          </a:p>
          <a:p>
            <a:r>
              <a:rPr lang="en-US" dirty="0"/>
              <a:t>We do not need to rewrite the computation logic or change the structures to do that.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can also parallelize the computation using various parallel backends such as OpenMP or Threading Building Blocks using dedicated </a:t>
            </a:r>
            <a:r>
              <a:rPr lang="en-US" dirty="0" err="1"/>
              <a:t>for_each</a:t>
            </a:r>
            <a:r>
              <a:rPr lang="en-US" dirty="0"/>
              <a:t> executors.</a:t>
            </a:r>
          </a:p>
          <a:p>
            <a:r>
              <a:rPr lang="en-US" dirty="0"/>
              <a:t>For the CUDA framework (used for general-purpose GPU programming), we define </a:t>
            </a:r>
            <a:r>
              <a:rPr lang="en-US" dirty="0" err="1"/>
              <a:t>cuda_traversers</a:t>
            </a:r>
            <a:r>
              <a:rPr lang="en-US" dirty="0"/>
              <a:t> that bind the traversal to parallelization over a GPU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4712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autotuning made easier &amp; we can switch </a:t>
            </a:r>
            <a:r>
              <a:rPr lang="en-US" dirty="0" err="1"/>
              <a:t>autotuners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These two stages have provided the groundwork for enabling seamless and automatable code optimization in C++ that is fully transparent and directable by the user.</a:t>
            </a:r>
          </a:p>
          <a:p>
            <a:endParaRPr lang="en-US" dirty="0"/>
          </a:p>
          <a:p>
            <a:r>
              <a:rPr lang="en-US" dirty="0"/>
              <a:t>Typically, when we want to use an autotuning framework to optimize an algorithm, we need to:</a:t>
            </a:r>
          </a:p>
          <a:p>
            <a:pPr marL="171450" indent="-171450">
              <a:buFontTx/>
              <a:buChar char="-"/>
            </a:pPr>
            <a:r>
              <a:rPr lang="en-US" dirty="0"/>
              <a:t>Define each parameter in the code</a:t>
            </a:r>
          </a:p>
          <a:p>
            <a:pPr marL="171450" indent="-171450">
              <a:buFontTx/>
              <a:buChar char="-"/>
            </a:pPr>
            <a:r>
              <a:rPr lang="en-US" dirty="0"/>
              <a:t>Define the parameter on the </a:t>
            </a:r>
            <a:r>
              <a:rPr lang="en-US" dirty="0" err="1"/>
              <a:t>autotuner’s</a:t>
            </a:r>
            <a:r>
              <a:rPr lang="en-US" dirty="0"/>
              <a:t> side</a:t>
            </a:r>
          </a:p>
          <a:p>
            <a:pPr marL="171450" indent="-171450">
              <a:buFontTx/>
              <a:buChar char="-"/>
            </a:pPr>
            <a:r>
              <a:rPr lang="en-US" dirty="0"/>
              <a:t>Handle how the value is communicated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This creates unnecessary amount of boilerplate definitions and communication specification that is difficult to maintain and easy to make mistakes in.</a:t>
            </a:r>
          </a:p>
          <a:p>
            <a:endParaRPr lang="en-US" dirty="0"/>
          </a:p>
          <a:p>
            <a:r>
              <a:rPr lang="en-US" dirty="0"/>
              <a:t>We have implemented an autotuning interface that allows for specifying the tuned parameters in the same code as the algorithm,</a:t>
            </a:r>
            <a:br>
              <a:rPr lang="en-US" dirty="0"/>
            </a:br>
            <a:r>
              <a:rPr lang="en-US" dirty="0"/>
              <a:t>this specification is independent of the autotuning backend, and the whole autotuning process is handled automatically.</a:t>
            </a:r>
          </a:p>
          <a:p>
            <a:endParaRPr lang="en-US" dirty="0"/>
          </a:p>
          <a:p>
            <a:r>
              <a:rPr lang="en-US" dirty="0"/>
              <a:t>Since the specification is independent of the autotuning backend, this also makes switching between different autotuning frameworks easy.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0657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the abstractions pose no runtime overhead)</a:t>
            </a:r>
          </a:p>
          <a:p>
            <a:endParaRPr lang="en-US" dirty="0"/>
          </a:p>
          <a:p>
            <a:r>
              <a:rPr lang="en-US" dirty="0"/>
              <a:t>We have evaluated the abstractions on the </a:t>
            </a:r>
            <a:r>
              <a:rPr lang="en-US" dirty="0" err="1"/>
              <a:t>PolyBench</a:t>
            </a:r>
            <a:r>
              <a:rPr lang="en-US" dirty="0"/>
              <a:t>/C suite, reimplementing each algorithm using </a:t>
            </a:r>
            <a:r>
              <a:rPr lang="en-US" dirty="0" err="1"/>
              <a:t>Noarr</a:t>
            </a:r>
            <a:r>
              <a:rPr lang="en-US" dirty="0"/>
              <a:t> to confirm they do not pose any runtime overhead.</a:t>
            </a:r>
          </a:p>
          <a:p>
            <a:endParaRPr lang="en-US" dirty="0"/>
          </a:p>
          <a:p>
            <a:r>
              <a:rPr lang="en-US" dirty="0"/>
              <a:t>The plot shows speedups of the </a:t>
            </a:r>
            <a:r>
              <a:rPr lang="en-US" dirty="0" err="1"/>
              <a:t>Noarr</a:t>
            </a:r>
            <a:r>
              <a:rPr lang="en-US" dirty="0"/>
              <a:t> </a:t>
            </a:r>
            <a:r>
              <a:rPr lang="en-US" dirty="0" err="1"/>
              <a:t>reimplementations</a:t>
            </a:r>
            <a:r>
              <a:rPr lang="en-US" dirty="0"/>
              <a:t> compared to the C baselines, most implementations perform exactly the same, showing no runtime overhead;</a:t>
            </a:r>
            <a:br>
              <a:rPr lang="en-US" dirty="0"/>
            </a:br>
            <a:r>
              <a:rPr lang="en-US" dirty="0"/>
              <a:t>there are few minor outliers introduced by differences in compiler optimizations.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For parallelization, we have reimplemented OpenMP/TBB parallel modifications of some algorithms as well as </a:t>
            </a:r>
            <a:r>
              <a:rPr lang="en-US" dirty="0" err="1"/>
              <a:t>PolyBench</a:t>
            </a:r>
            <a:r>
              <a:rPr lang="en-US" dirty="0"/>
              <a:t>/GPU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26843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F617A-ECA9-145D-3E09-CA8234DBD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3A356B-A908-4B62-660C-C0165B655D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61C459-AD31-11B3-889C-C107D03BB2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the abstractions decrease some complexity)</a:t>
            </a:r>
          </a:p>
          <a:p>
            <a:endParaRPr lang="en-US" dirty="0"/>
          </a:p>
          <a:p>
            <a:r>
              <a:rPr lang="en-US" dirty="0"/>
              <a:t>The programming complexity in practical algorithms is kept low enough;</a:t>
            </a:r>
            <a:br>
              <a:rPr lang="en-US" dirty="0"/>
            </a:br>
            <a:r>
              <a:rPr lang="en-US" dirty="0"/>
              <a:t>the code is more verbose (but most of the verbosity can be resolved with code completion and static code analyzers)</a:t>
            </a:r>
            <a:br>
              <a:rPr lang="en-US" dirty="0"/>
            </a:br>
            <a:r>
              <a:rPr lang="en-US" dirty="0"/>
              <a:t>but contains less complex control flow, and significantly simpler indexation.</a:t>
            </a:r>
          </a:p>
          <a:p>
            <a:endParaRPr lang="en-US" dirty="0"/>
          </a:p>
          <a:p>
            <a:r>
              <a:rPr lang="en-US" dirty="0"/>
              <a:t>On top of these metrics, the resulting code is more flexible in changing different layouts or traversals,</a:t>
            </a:r>
            <a:br>
              <a:rPr lang="en-US" dirty="0"/>
            </a:br>
            <a:r>
              <a:rPr lang="en-US" dirty="0"/>
              <a:t>and the approach improves type safety of the expressions by checking correctly paired dimensions.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81E1BD-B3F7-7337-63A0-396D5EE9AD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20470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distributed computing can benefit from layout-agnostic design)</a:t>
            </a:r>
          </a:p>
          <a:p>
            <a:endParaRPr lang="en-US" dirty="0"/>
          </a:p>
          <a:p>
            <a:r>
              <a:rPr lang="en-US" dirty="0"/>
              <a:t>Many scientific computing algorithms run in a distributed manner on clusters with many computation nodes, which further complicates the design of applications.</a:t>
            </a:r>
          </a:p>
          <a:p>
            <a:endParaRPr lang="en-US" dirty="0"/>
          </a:p>
          <a:p>
            <a:r>
              <a:rPr lang="en-US" dirty="0"/>
              <a:t>We have thus investigated how the principles from the abstractions work in the context of distributed computing;</a:t>
            </a:r>
          </a:p>
          <a:p>
            <a:r>
              <a:rPr lang="en-US" dirty="0"/>
              <a:t>Specifically using MPI, which is the most predominant technology used to distribute general computing tasks in C++.</a:t>
            </a:r>
          </a:p>
          <a:p>
            <a:endParaRPr lang="en-US" dirty="0"/>
          </a:p>
          <a:p>
            <a:r>
              <a:rPr lang="en-US" dirty="0"/>
              <a:t>Many work distribution patterns, including data communication, can be described using the building blocks for layouts and traversals.</a:t>
            </a:r>
          </a:p>
          <a:p>
            <a:endParaRPr lang="en-US" dirty="0"/>
          </a:p>
          <a:p>
            <a:r>
              <a:rPr lang="en-US" dirty="0"/>
              <a:t>So, let’s reuse the initialization algorithm and distribute it using MPI; initializing each tile of the data on a separate compute node</a:t>
            </a:r>
            <a:br>
              <a:rPr lang="en-US" dirty="0"/>
            </a:br>
            <a:r>
              <a:rPr lang="en-US" dirty="0"/>
              <a:t>and then gathering the tiles into fully initialized data.</a:t>
            </a:r>
          </a:p>
          <a:p>
            <a:endParaRPr lang="en-US" dirty="0"/>
          </a:p>
          <a:p>
            <a:r>
              <a:rPr lang="en-US" dirty="0"/>
              <a:t>This requires two core pieces:</a:t>
            </a:r>
          </a:p>
          <a:p>
            <a:pPr marL="228600" indent="-228600">
              <a:buAutoNum type="arabicPeriod"/>
            </a:pPr>
            <a:r>
              <a:rPr lang="en-US" dirty="0"/>
              <a:t>Binding </a:t>
            </a:r>
            <a:r>
              <a:rPr lang="en-US" dirty="0" err="1"/>
              <a:t>Noarr</a:t>
            </a:r>
            <a:r>
              <a:rPr lang="en-US" dirty="0"/>
              <a:t> dimensions to MPI communicators that describe the abstract topology of different computation nodes.</a:t>
            </a:r>
          </a:p>
          <a:p>
            <a:pPr marL="228600" indent="-228600">
              <a:buAutoNum type="arabicPeriod"/>
            </a:pPr>
            <a:r>
              <a:rPr lang="en-US" dirty="0"/>
              <a:t>Translating </a:t>
            </a:r>
            <a:r>
              <a:rPr lang="en-US" dirty="0" err="1"/>
              <a:t>Noarr</a:t>
            </a:r>
            <a:r>
              <a:rPr lang="en-US" dirty="0"/>
              <a:t> layouts into appropriate MPI datatypes.</a:t>
            </a:r>
          </a:p>
          <a:p>
            <a:endParaRPr lang="en-US" dirty="0"/>
          </a:p>
          <a:p>
            <a:r>
              <a:rPr lang="en-US" dirty="0"/>
              <a:t>This allows for automatic distribution of data that can then be computed locally, and the local results can be gathered to the final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94283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B8A69-FFF3-3A23-DA52-4F2DF604D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0F2818-4E55-EA2D-DF6F-375C3EB093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B8896F-4C4A-9A2D-DF90-D9F7BA8F9A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why)</a:t>
            </a:r>
          </a:p>
          <a:p>
            <a:endParaRPr lang="en-US" dirty="0"/>
          </a:p>
          <a:p>
            <a:r>
              <a:rPr lang="en-US" dirty="0"/>
              <a:t>It also enables automatic transformation of the data if the memory layouts on the opposing end-points differ (perhaps due to efficiency requirements).</a:t>
            </a:r>
          </a:p>
          <a:p>
            <a:r>
              <a:rPr lang="en-US" dirty="0"/>
              <a:t>If such communication was done naively. the MPI backend would corrupt the data by preserving the physical layout instead of the intended logical structure.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E61FD7-F7AC-AAA7-00AE-A5F72A70E7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5908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it is very great)</a:t>
            </a:r>
          </a:p>
          <a:p>
            <a:endParaRPr lang="en-US" dirty="0"/>
          </a:p>
          <a:p>
            <a:r>
              <a:rPr lang="en-US" dirty="0"/>
              <a:t>We have compared our approach to various state-of-the-art C++ bindings for MPI in terms of how they manage to seamlessly enable layout-agnostic communication of data over MPI.</a:t>
            </a:r>
          </a:p>
          <a:p>
            <a:r>
              <a:rPr lang="en-US" dirty="0"/>
              <a:t>Fo that, we have identified 6 main characteristics.</a:t>
            </a:r>
          </a:p>
          <a:p>
            <a:endParaRPr lang="en-US" dirty="0"/>
          </a:p>
          <a:p>
            <a:r>
              <a:rPr lang="en-US" dirty="0"/>
              <a:t>Our approach is the only one that automatically handles differing physical layouts on opposite endpoints of communication (as shown on the previous slide),</a:t>
            </a:r>
          </a:p>
          <a:p>
            <a:r>
              <a:rPr lang="en-US" dirty="0"/>
              <a:t>Supporting general multidimensional data layouts, without explicit packing and unpacking of data elements, and performing some type safety checks.</a:t>
            </a:r>
          </a:p>
          <a:p>
            <a:endParaRPr lang="en-US" dirty="0"/>
          </a:p>
          <a:p>
            <a:r>
              <a:rPr lang="en-US" dirty="0"/>
              <a:t>(Many of the bindings do not even fully support scatter and gather instructions that can distribute/collect data into/from smaller chunks)</a:t>
            </a:r>
          </a:p>
          <a:p>
            <a:endParaRPr lang="en-US" dirty="0"/>
          </a:p>
          <a:p>
            <a:r>
              <a:rPr lang="en-US" dirty="0"/>
              <a:t>And, in terms of performance, it does not add overhead compared to a hand-written native MPI distributed computation.</a:t>
            </a:r>
          </a:p>
          <a:p>
            <a:endParaRPr lang="en-US" dirty="0"/>
          </a:p>
          <a:p>
            <a:r>
              <a:rPr lang="en-US" dirty="0"/>
              <a:t>The plot on the left computes on small data of various layouts and highlights the possible performance overhead introduced by the MPI bindings,</a:t>
            </a:r>
            <a:br>
              <a:rPr lang="en-US" dirty="0"/>
            </a:br>
            <a:r>
              <a:rPr lang="en-US" dirty="0"/>
              <a:t>while the one on the  right highlights the performance overhead introduced by the abstractions used for computation</a:t>
            </a:r>
            <a:br>
              <a:rPr lang="en-US" dirty="0"/>
            </a:br>
            <a:r>
              <a:rPr lang="en-US" dirty="0"/>
              <a:t>as well as the differences between efficient layouts of data structures (shown on the x axis).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0592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knowledge transfer to stencil computation)</a:t>
            </a:r>
          </a:p>
          <a:p>
            <a:endParaRPr lang="en-US" dirty="0"/>
          </a:p>
          <a:p>
            <a:r>
              <a:rPr lang="en-US" dirty="0"/>
              <a:t>Covering all major aspects of general-purpose HPC programming, we studied application of the principles to more specific domains.</a:t>
            </a:r>
          </a:p>
          <a:p>
            <a:endParaRPr lang="en-US" dirty="0"/>
          </a:p>
          <a:p>
            <a:r>
              <a:rPr lang="en-US" dirty="0"/>
              <a:t>One domain from our past research that could adapt the abstractions was stencil computations.</a:t>
            </a:r>
          </a:p>
          <a:p>
            <a:r>
              <a:rPr lang="en-US" dirty="0"/>
              <a:t>Stencil computations are used in many field ranging from weather prediction to image processing.</a:t>
            </a:r>
          </a:p>
          <a:p>
            <a:endParaRPr lang="en-US" dirty="0"/>
          </a:p>
          <a:p>
            <a:r>
              <a:rPr lang="en-US" dirty="0"/>
              <a:t>They are computed on regular grids with cells. The grid is updated by applying a neighborhood-based rule to each cell.</a:t>
            </a:r>
          </a:p>
          <a:p>
            <a:endParaRPr lang="en-US" dirty="0"/>
          </a:p>
          <a:p>
            <a:r>
              <a:rPr lang="en-US" dirty="0"/>
              <a:t>While the earlier abstractions are usable for general stencil computations,</a:t>
            </a:r>
            <a:br>
              <a:rPr lang="en-US" dirty="0"/>
            </a:br>
            <a:r>
              <a:rPr lang="en-US" dirty="0"/>
              <a:t>we have studied whether we can abstract away even more details of the implementation.</a:t>
            </a:r>
          </a:p>
          <a:p>
            <a:endParaRPr lang="en-US" dirty="0"/>
          </a:p>
          <a:p>
            <a:r>
              <a:rPr lang="en-US" dirty="0"/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55000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8F060-1288-B07E-F077-DC4D19778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2C560A-2FE9-66AF-8FFE-DF75D23102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377610-4852-1BF0-7832-B2A0414FD5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cellular automata)</a:t>
            </a:r>
          </a:p>
          <a:p>
            <a:endParaRPr lang="en-US" dirty="0"/>
          </a:p>
          <a:p>
            <a:r>
              <a:rPr lang="en-US" dirty="0"/>
              <a:t>We have successfully designed such abstractions for a specific subclass of</a:t>
            </a:r>
            <a:br>
              <a:rPr lang="en-US" dirty="0"/>
            </a:br>
            <a:r>
              <a:rPr lang="en-US" dirty="0"/>
              <a:t>stencil computations with discrete cell states – Cellular automata.</a:t>
            </a:r>
          </a:p>
          <a:p>
            <a:r>
              <a:rPr lang="en-US" dirty="0"/>
              <a:t>They are used for modelling various systems such as fluid dynamics or material sciences.</a:t>
            </a:r>
          </a:p>
          <a:p>
            <a:endParaRPr lang="en-US" dirty="0"/>
          </a:p>
          <a:p>
            <a:r>
              <a:rPr lang="en-US" dirty="0"/>
              <a:t>Their rules can often be expressed as nested logic expressions that depend on cell states in the neighborhood.</a:t>
            </a:r>
          </a:p>
          <a:p>
            <a:endParaRPr lang="en-US" dirty="0"/>
          </a:p>
          <a:p>
            <a:r>
              <a:rPr lang="en-US" dirty="0"/>
              <a:t>The rule can be encoded in a type-level expression that does not assume any specific layout, traversal, or even cell state encoding and evaluation strategy.</a:t>
            </a:r>
          </a:p>
          <a:p>
            <a:endParaRPr lang="en-US" dirty="0"/>
          </a:p>
          <a:p>
            <a:r>
              <a:rPr lang="en-US" dirty="0"/>
              <a:t>(…)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CDA17C-3A49-7F24-D366-187D1C66C5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76234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(…; there is some template metaprogramming magic that enables cool stuff)</a:t>
            </a:r>
          </a:p>
          <a:p>
            <a:endParaRPr lang="en-US" dirty="0"/>
          </a:p>
          <a:p>
            <a:r>
              <a:rPr lang="en-US" dirty="0"/>
              <a:t>This type-level expression can then be evaluated by applying specific templated components via metaprogramming; they specify</a:t>
            </a:r>
          </a:p>
          <a:p>
            <a:pPr marL="171450" indent="-171450">
              <a:buFontTx/>
              <a:buChar char="-"/>
            </a:pPr>
            <a:r>
              <a:rPr lang="en-US" dirty="0"/>
              <a:t>how the grid and the cells are encoded</a:t>
            </a:r>
          </a:p>
          <a:p>
            <a:pPr marL="171450" indent="-171450">
              <a:buFontTx/>
              <a:buChar char="-"/>
            </a:pPr>
            <a:r>
              <a:rPr lang="en-US" dirty="0"/>
              <a:t>how the update rules should be computed</a:t>
            </a:r>
          </a:p>
          <a:p>
            <a:pPr marL="171450" indent="-171450">
              <a:buFontTx/>
              <a:buChar char="-"/>
            </a:pPr>
            <a:r>
              <a:rPr lang="en-US" dirty="0"/>
              <a:t>order of computation as well as the parallelization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This enables faster development and prototyping of the automatons, and simplifies experimental exploration of different optimization techniques.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One of the optimization technique we study in a recently submitted publication is encoding the cell states in efficient bit-packed arrays instead of wasteful encoding in separate machine words.</a:t>
            </a:r>
          </a:p>
          <a:p>
            <a:pPr marL="0" indent="0">
              <a:buFontTx/>
              <a:buNone/>
            </a:pPr>
            <a:r>
              <a:rPr lang="en-US" dirty="0"/>
              <a:t>These bit-packed encodings also allow for bit-level vectorized computation of many cell updates simultaneously.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410867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(…; it can be </a:t>
            </a:r>
            <a:r>
              <a:rPr lang="en-US" dirty="0" err="1"/>
              <a:t>faaaast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If the rule specification is paired with these efficient components, the computation may improve over even already GPU-parallelized baseline performance in one or two decadic orders.</a:t>
            </a:r>
          </a:p>
          <a:p>
            <a:endParaRPr lang="en-US" dirty="0"/>
          </a:p>
          <a:p>
            <a:r>
              <a:rPr lang="en-US" dirty="0"/>
              <a:t>This plot shows possible improvements using different optimization techniques available in our prototype framework on many different cellular automata.</a:t>
            </a:r>
          </a:p>
          <a:p>
            <a:endParaRPr lang="en-US" dirty="0"/>
          </a:p>
          <a:p>
            <a:r>
              <a:rPr lang="en-US" dirty="0"/>
              <a:t>(We can see that simple bit-packing is not enough for achieving highly efficient computation; and it is necessary to compute the cells in bit-vectorized manner, which is implemented by Bit Planes and Temporal, which implements temporal blocking on top of these optimizations)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47010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have shown that the abstractions for layouts and traversals that simplify user-guided optimization,</a:t>
            </a:r>
          </a:p>
          <a:p>
            <a:r>
              <a:rPr lang="en-US" dirty="0"/>
              <a:t>Including parallel CPU and GPU computation, as well as distributed computing.</a:t>
            </a:r>
          </a:p>
          <a:p>
            <a:r>
              <a:rPr lang="en-US" dirty="0"/>
              <a:t>We have used the principles to enable even stronger optimizations in specific domains, such as Cellular Automata.</a:t>
            </a:r>
          </a:p>
          <a:p>
            <a:endParaRPr lang="en-US" dirty="0"/>
          </a:p>
          <a:p>
            <a:r>
              <a:rPr lang="en-US" dirty="0"/>
              <a:t>These abstractions make the developed algorithms easier to write, more flexible to transform, and allow automatic application of advanced optimizations.</a:t>
            </a:r>
          </a:p>
          <a:p>
            <a:endParaRPr lang="en-US" dirty="0"/>
          </a:p>
          <a:p>
            <a:r>
              <a:rPr lang="en-US" dirty="0"/>
              <a:t>But we can make the development even simpler and more automatic!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57190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we’ve left abstractions to help LLMs generate better para code)</a:t>
            </a:r>
          </a:p>
          <a:p>
            <a:endParaRPr lang="en-US" dirty="0"/>
          </a:p>
          <a:p>
            <a:r>
              <a:rPr lang="en-US" dirty="0"/>
              <a:t>After extending our earlier work to cover distributed computing as well and adapting it for a specific domain,</a:t>
            </a:r>
          </a:p>
          <a:p>
            <a:r>
              <a:rPr lang="en-US" dirty="0"/>
              <a:t>We have started to do research in a different approach for simplifying HPC algorithm design.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This work reacts to the recent introduction of LLM models to the area of software design.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At the time of the beginning of our research in this area, LLM models were capable of implementing simple algorithms (like data visualization, simple scripting, </a:t>
            </a:r>
            <a:r>
              <a:rPr lang="en-US" dirty="0" err="1"/>
              <a:t>etc</a:t>
            </a:r>
            <a:r>
              <a:rPr lang="en-US" dirty="0"/>
              <a:t>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But not yet that competent at making more high-level design decisions for efficient computation, especially in parallel algorithms.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Therefore, our research has focused on identifying what helps LLMs generate better code and what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2362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tutoring; what is it?)</a:t>
            </a:r>
          </a:p>
          <a:p>
            <a:endParaRPr lang="en-US" dirty="0"/>
          </a:p>
          <a:p>
            <a:r>
              <a:rPr lang="en-US" dirty="0"/>
              <a:t>In our first work in this area, we focused on CUDA code generation, which was one of the challenging areas for the contemporary LLMs; more specifically,</a:t>
            </a:r>
            <a:br>
              <a:rPr lang="en-US" dirty="0"/>
            </a:br>
            <a:r>
              <a:rPr lang="en-US" dirty="0"/>
              <a:t>we studied whether adding increasingly more detailed high-level design hints or outright dictating some design decisions significantly helps LLMs generate better code</a:t>
            </a:r>
          </a:p>
          <a:p>
            <a:endParaRPr lang="en-US" dirty="0"/>
          </a:p>
          <a:p>
            <a:r>
              <a:rPr lang="en-US" dirty="0"/>
              <a:t>(…)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505981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18991-E0E9-FA05-741B-21A18AE9B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084EE2-EE3B-A7E9-0208-C780D5DF8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160BAF-3A89-0B22-1575-44F7CAAD98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(…; the three algorithms, what’s challenging, how well the LLM did roughly)</a:t>
            </a:r>
          </a:p>
          <a:p>
            <a:endParaRPr lang="en-US" dirty="0"/>
          </a:p>
          <a:p>
            <a:r>
              <a:rPr lang="en-US" dirty="0"/>
              <a:t>We have performed a study on 3 algorithms from our past work in which we have a good idea how an efficient implementation should be designed.</a:t>
            </a:r>
          </a:p>
          <a:p>
            <a:pPr marL="171450" indent="-171450">
              <a:buFontTx/>
              <a:buChar char="-"/>
            </a:pPr>
            <a:r>
              <a:rPr lang="en-US" dirty="0"/>
              <a:t>Histogram computation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Conway’s Game of Life cellular automaton simulation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K-Nearest Neighbors search in 2D Euclidean space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The three algorithms represent implementation problems of increasing complexity.</a:t>
            </a:r>
          </a:p>
          <a:p>
            <a:endParaRPr lang="en-US" dirty="0"/>
          </a:p>
          <a:p>
            <a:r>
              <a:rPr lang="en-US" dirty="0"/>
              <a:t>Efficient implementations of these three algorithms require considering more obscure or CUDA-specific features, such as</a:t>
            </a:r>
          </a:p>
          <a:p>
            <a:pPr marL="171450" indent="-171450">
              <a:buFontTx/>
              <a:buChar char="-"/>
            </a:pPr>
            <a:r>
              <a:rPr lang="en-US" dirty="0"/>
              <a:t>Efficient shared memory</a:t>
            </a:r>
          </a:p>
          <a:p>
            <a:pPr marL="171450" indent="-171450">
              <a:buFontTx/>
              <a:buChar char="-"/>
            </a:pPr>
            <a:r>
              <a:rPr lang="en-US" dirty="0"/>
              <a:t>Bit-level vectorization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Inter-thread communication</a:t>
            </a:r>
          </a:p>
          <a:p>
            <a:pPr marL="171450" indent="-171450">
              <a:buFontTx/>
              <a:buChar char="-"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For the easier, Histogram and Game of Life algorithms, GPT-o3-mini, a </a:t>
            </a:r>
            <a:r>
              <a:rPr lang="en-US" dirty="0" err="1"/>
              <a:t>SotA</a:t>
            </a:r>
            <a:r>
              <a:rPr lang="en-US" dirty="0"/>
              <a:t> LLM model at that time, generated progressively better code,</a:t>
            </a:r>
            <a:br>
              <a:rPr lang="en-US" dirty="0"/>
            </a:br>
            <a:r>
              <a:rPr lang="en-US" dirty="0"/>
              <a:t>but for the k-Nearest Neighbors search, it managed to implement only the naïve implementation,</a:t>
            </a:r>
            <a:br>
              <a:rPr lang="en-US" dirty="0"/>
            </a:br>
            <a:r>
              <a:rPr lang="en-US" dirty="0"/>
              <a:t>mostly failing due to making mistakes in inter-thread communication and synchronization semantics.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475865-030A-21B1-1F9C-8125A26B32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5536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59621-2A59-0C97-52C0-C33469B00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9D564E-A314-C164-F46B-625533C8E4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9CA489-8F89-177F-1849-D0ED6E03E3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the performance progression matches the assumption)</a:t>
            </a:r>
          </a:p>
          <a:p>
            <a:endParaRPr lang="en-US" dirty="0"/>
          </a:p>
          <a:p>
            <a:r>
              <a:rPr lang="en-US" dirty="0"/>
              <a:t>Here, we can see the plots for the performance measurements of the generated code for the Histogram and Game of Life algorithms.</a:t>
            </a:r>
          </a:p>
          <a:p>
            <a:endParaRPr lang="en-US" dirty="0"/>
          </a:p>
          <a:p>
            <a:r>
              <a:rPr lang="en-US" dirty="0"/>
              <a:t>Both show wall clock times of the runtime on a representative dataset (on the y-axis), lower is better;</a:t>
            </a:r>
          </a:p>
          <a:p>
            <a:r>
              <a:rPr lang="en-US" dirty="0"/>
              <a:t>And the x-axis of both shows the incrementally more specific prompts.</a:t>
            </a:r>
          </a:p>
          <a:p>
            <a:endParaRPr lang="en-US" dirty="0"/>
          </a:p>
          <a:p>
            <a:r>
              <a:rPr lang="en-US" dirty="0"/>
              <a:t>The horizontal lines show various reference implementations.</a:t>
            </a:r>
          </a:p>
          <a:p>
            <a:endParaRPr lang="en-US" dirty="0"/>
          </a:p>
          <a:p>
            <a:r>
              <a:rPr lang="en-US" dirty="0"/>
              <a:t>The performance improves with more specific prompts, which is slightly noticeable for the Histogram algorithm, and more so for the Game of Life algorithm.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F542DA-3928-5CE4-0AD1-F0FEC77A50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3814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BF462-4618-DB58-BD2C-D66FAB5C1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DE319C-5AB9-E042-F397-3CA5072113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9EDBE9-BF48-3D37-0D9B-16FC8FC0CF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LLMs improve over time, the complexity threshold shifts)</a:t>
            </a:r>
          </a:p>
          <a:p>
            <a:endParaRPr lang="en-US" dirty="0"/>
          </a:p>
          <a:p>
            <a:r>
              <a:rPr lang="en-US" dirty="0"/>
              <a:t>When we presented our results, the LLM state of the art had already shifted;</a:t>
            </a:r>
          </a:p>
          <a:p>
            <a:r>
              <a:rPr lang="en-US" dirty="0"/>
              <a:t>The then-current GPT-5 provided expert-level performance on the Game of Life algorithm for all prompts except the naïve one,</a:t>
            </a:r>
          </a:p>
          <a:p>
            <a:r>
              <a:rPr lang="en-US" dirty="0"/>
              <a:t>And it successfully benefitted from tutoring for the k-Nearest Neighbor algorithm.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EBB06B-5F9F-67CB-9987-DDB9DCE896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21052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(key idea: combining the two branches)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have shown that both abstractions and LLMs can be practical solutions for simplifying algorithm design &amp; optimization.</a:t>
            </a:r>
          </a:p>
          <a:p>
            <a:r>
              <a:rPr lang="en-US" dirty="0"/>
              <a:t>Both have their strengths and weaknesses;</a:t>
            </a:r>
          </a:p>
          <a:p>
            <a:pPr marL="171450" indent="-171450">
              <a:buFontTx/>
              <a:buChar char="-"/>
            </a:pPr>
            <a:r>
              <a:rPr lang="en-US" dirty="0"/>
              <a:t>reasonable use of abstractions usually leads to interpretable code with some safety checks and guarantees</a:t>
            </a:r>
            <a:br>
              <a:rPr lang="en-US" dirty="0"/>
            </a:br>
            <a:r>
              <a:rPr lang="en-US" dirty="0"/>
              <a:t>ensured by the transformation being applied by a deterministic system,</a:t>
            </a:r>
            <a:br>
              <a:rPr lang="en-US" dirty="0"/>
            </a:br>
            <a:r>
              <a:rPr lang="en-US" dirty="0"/>
              <a:t>while their use may require some learning and the abstractions may not apply to many problems well.</a:t>
            </a:r>
          </a:p>
          <a:p>
            <a:pPr marL="171450" indent="-171450">
              <a:buFontTx/>
              <a:buChar char="-"/>
            </a:pPr>
            <a:r>
              <a:rPr lang="en-US" dirty="0"/>
              <a:t>LLMs are pretty much unparalleled in the flexibility of their use, and they enable fully automatic solutions that may even</a:t>
            </a:r>
            <a:br>
              <a:rPr lang="en-US" dirty="0"/>
            </a:br>
            <a:r>
              <a:rPr lang="en-US" dirty="0"/>
              <a:t>interface with the user via natural language; on the other hand, they are inherently stochastic and they may output</a:t>
            </a:r>
            <a:br>
              <a:rPr lang="en-US" dirty="0"/>
            </a:br>
            <a:r>
              <a:rPr lang="en-US" dirty="0"/>
              <a:t>complex and hard to analyze code with many hidden bugs.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In our next work, we have thus studied a possible combination of these two approaches to see if the abstractions improve</a:t>
            </a:r>
            <a:br>
              <a:rPr lang="en-US" dirty="0"/>
            </a:br>
            <a:r>
              <a:rPr lang="en-US" dirty="0"/>
              <a:t>the performance and correctness of LLM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4847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(key idea: we did a lot)</a:t>
            </a:r>
          </a:p>
          <a:p>
            <a:endParaRPr lang="en-US" dirty="0"/>
          </a:p>
          <a:p>
            <a:r>
              <a:rPr lang="en-US" dirty="0"/>
              <a:t>In the experimental setup, we have used a multithreaded datacenter-grade computer, and to avoid many mistakes, the optimization pipeline consisted of two generation steps: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first translated the baseline algorithm into the given abstraction</a:t>
            </a:r>
          </a:p>
          <a:p>
            <a:pPr marL="171450" indent="-171450">
              <a:buFontTx/>
              <a:buChar char="-"/>
            </a:pPr>
            <a:r>
              <a:rPr lang="en-US" dirty="0"/>
              <a:t>And the second one optimized the translation that best matched the baseline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The first step was followed up by an automated selection of the best generated translation.</a:t>
            </a:r>
          </a:p>
          <a:p>
            <a:pPr marL="0" indent="0">
              <a:buFontTx/>
              <a:buNone/>
            </a:pPr>
            <a:r>
              <a:rPr lang="en-US" dirty="0"/>
              <a:t>This helped to avoid implementations that didn’t correctly capture the semantics or the code, improving the overall correctness rate.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In both generation steps, the prompts were accompanied by official developer guides and custom abstraction-specific hints for the given abstractions</a:t>
            </a:r>
            <a:br>
              <a:rPr lang="en-US" dirty="0"/>
            </a:br>
            <a:r>
              <a:rPr lang="en-US" dirty="0"/>
              <a:t>to give the LLM a good understanding how to use them, and the translation tasks were accompanied by one example of translating the algorithm to ensure that the translations follow the expected design.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Finally, we have also prepared multiple optimization prompts to compare the effect of abstraction choice with the effect of prompt specificity.</a:t>
            </a:r>
          </a:p>
          <a:p>
            <a:pPr marL="0" indent="0">
              <a:buFontTx/>
              <a:buNone/>
            </a:pPr>
            <a:endParaRPr lang="en-US" dirty="0"/>
          </a:p>
          <a:p>
            <a:pPr marL="0" indent="0">
              <a:buFontTx/>
              <a:buNone/>
            </a:pPr>
            <a:r>
              <a:rPr lang="en-US" dirty="0"/>
              <a:t>With the 30 </a:t>
            </a:r>
            <a:r>
              <a:rPr lang="en-US" dirty="0" err="1"/>
              <a:t>polybench</a:t>
            </a:r>
            <a:r>
              <a:rPr lang="en-US" dirty="0"/>
              <a:t> algorithms, 4 different abstraction choices, and 4 prompting strategies, this gives almost 500 optimization experiments.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79740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Together with increasing number of optimization attempts from 1to5 to account for LLM generation stochasticity,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we observed that contemporary abstractions do not improve the performance nor the correctness of the generated code,</a:t>
            </a:r>
            <a:br>
              <a:rPr lang="en-US" dirty="0"/>
            </a:br>
            <a:r>
              <a:rPr lang="en-US" dirty="0"/>
              <a:t>as generating C code yielded both the best performance and correctness overall.</a:t>
            </a:r>
          </a:p>
          <a:p>
            <a:endParaRPr lang="en-US" dirty="0"/>
          </a:p>
          <a:p>
            <a:r>
              <a:rPr lang="en-US" dirty="0"/>
              <a:t>We didn’t study just the specificity of the hints, but also their </a:t>
            </a:r>
            <a:r>
              <a:rPr lang="en-US" dirty="0" err="1"/>
              <a:t>aggresiveness</a:t>
            </a:r>
            <a:r>
              <a:rPr lang="en-US" dirty="0"/>
              <a:t> (more assertive hints yielding slightly better performance),</a:t>
            </a:r>
          </a:p>
          <a:p>
            <a:r>
              <a:rPr lang="en-US" dirty="0"/>
              <a:t>and an alternative approach that separated the optimization task into two steps, which didn’t improve correctness and significantly limited the performance.</a:t>
            </a:r>
          </a:p>
          <a:p>
            <a:endParaRPr lang="en-US" dirty="0"/>
          </a:p>
          <a:p>
            <a:r>
              <a:rPr lang="en-US" dirty="0"/>
              <a:t>The conclusion of this work is that correct prompting strategy yields better results than using the abstractions for user-directed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76689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this part of this research, we have shown that prompting specificity improves performance,</a:t>
            </a:r>
            <a:br>
              <a:rPr lang="en-US" dirty="0"/>
            </a:br>
            <a:r>
              <a:rPr lang="en-US" dirty="0"/>
              <a:t>and further hints can improve output quality if the algorithm is challenging for the LLM,</a:t>
            </a:r>
          </a:p>
          <a:p>
            <a:r>
              <a:rPr lang="en-US" dirty="0"/>
              <a:t>But the contemporary abstractions do not help.</a:t>
            </a:r>
          </a:p>
          <a:p>
            <a:endParaRPr lang="en-US" dirty="0"/>
          </a:p>
          <a:p>
            <a:r>
              <a:rPr lang="en-US" dirty="0"/>
              <a:t>Future research may re-evaluate our approach to agentic LLMs that can automatically gather feedback</a:t>
            </a:r>
            <a:br>
              <a:rPr lang="en-US" dirty="0"/>
            </a:br>
            <a:r>
              <a:rPr lang="en-US" dirty="0"/>
              <a:t>(from compiling and running the generated implementations) and they can collect the necessary context,</a:t>
            </a:r>
          </a:p>
          <a:p>
            <a:r>
              <a:rPr lang="en-US" dirty="0"/>
              <a:t>So they can, for example, look up how to use specific abstractions or what algorithm designs to use.</a:t>
            </a:r>
          </a:p>
          <a:p>
            <a:endParaRPr lang="en-US" dirty="0"/>
          </a:p>
          <a:p>
            <a:r>
              <a:rPr lang="en-US" dirty="0"/>
              <a:t>It might also be interesting to explore abstraction design with LLMs as their explicit target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5004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04687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6453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Wingdings" panose="05000000000000000000" pitchFamily="2" charset="2"/>
              <a:buChar char="Ø"/>
            </a:pPr>
            <a:r>
              <a:rPr lang="en-US" dirty="0"/>
              <a:t>On the other hand, the text suffers from overstated novelty. The text is written in a way </a:t>
            </a:r>
            <a:r>
              <a:rPr lang="en-US" dirty="0" err="1"/>
              <a:t>thatrisks</a:t>
            </a:r>
            <a:r>
              <a:rPr lang="en-US" dirty="0"/>
              <a:t> giving the impression that the candidate invented the two </a:t>
            </a:r>
            <a:r>
              <a:rPr lang="en-US" dirty="0" err="1"/>
              <a:t>optimisation</a:t>
            </a:r>
            <a:r>
              <a:rPr lang="en-US" dirty="0"/>
              <a:t> paradigms (lay-out-agnostic and traversal-agnostic design) outright. This is misleading and, notably, does </a:t>
            </a:r>
            <a:r>
              <a:rPr lang="en-US" dirty="0" err="1"/>
              <a:t>notserve</a:t>
            </a:r>
            <a:r>
              <a:rPr lang="en-US" dirty="0"/>
              <a:t> the candidate's own case well: the candidate's contribution here is best </a:t>
            </a:r>
            <a:r>
              <a:rPr lang="en-US" dirty="0" err="1"/>
              <a:t>characterised</a:t>
            </a:r>
            <a:r>
              <a:rPr lang="en-US" dirty="0"/>
              <a:t> </a:t>
            </a:r>
            <a:r>
              <a:rPr lang="en-US" dirty="0" err="1"/>
              <a:t>asa</a:t>
            </a:r>
            <a:r>
              <a:rPr lang="en-US" dirty="0"/>
              <a:t> minor, incremental one within an existing landscape of </a:t>
            </a:r>
            <a:r>
              <a:rPr lang="en-US" dirty="0" err="1"/>
              <a:t>optimisations</a:t>
            </a:r>
            <a:r>
              <a:rPr lang="en-US" dirty="0"/>
              <a:t>. Which of these </a:t>
            </a:r>
            <a:r>
              <a:rPr lang="en-US" dirty="0" err="1"/>
              <a:t>ideascan</a:t>
            </a:r>
            <a:r>
              <a:rPr lang="en-US" dirty="0"/>
              <a:t> also be found in software like </a:t>
            </a:r>
            <a:r>
              <a:rPr lang="en-US" dirty="0" err="1"/>
              <a:t>Kokkos</a:t>
            </a:r>
            <a:r>
              <a:rPr lang="en-US" dirty="0"/>
              <a:t> or OpenMP's loop transformations?</a:t>
            </a:r>
          </a:p>
          <a:p>
            <a:pPr marL="171450" indent="-171450">
              <a:buFont typeface="Wingdings" panose="05000000000000000000" pitchFamily="2" charset="2"/>
              <a:buChar char="Ø"/>
            </a:pPr>
            <a:endParaRPr lang="en-US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en-US" dirty="0" err="1"/>
              <a:t>Kokkos</a:t>
            </a:r>
            <a:r>
              <a:rPr lang="en-US" dirty="0"/>
              <a:t> views and their related </a:t>
            </a:r>
            <a:r>
              <a:rPr lang="en-US" dirty="0" err="1"/>
              <a:t>mdspans</a:t>
            </a:r>
            <a:r>
              <a:rPr lang="en-US" dirty="0"/>
              <a:t> from the standard C++ library support some level of layout agnosticism; namely, they enable defining general interfaces for multidimensional arrays as well as their (rectangular) sub-arrays, which might be useful, for example, for divide-and-conquer strategies in layout-agnostic algorithms.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en-US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en-US" dirty="0"/>
              <a:t>This, even by itself, is very useful; </a:t>
            </a:r>
            <a:r>
              <a:rPr lang="en-US" dirty="0" err="1"/>
              <a:t>CUTe</a:t>
            </a:r>
            <a:r>
              <a:rPr lang="en-US" dirty="0"/>
              <a:t> layouts even support more general layout algebra and thus come</a:t>
            </a:r>
            <a:r>
              <a:rPr lang="en-US" baseline="0" dirty="0"/>
              <a:t> very close to our approach. This might help, for example, define other derived views or temporary memory buffers in layout-agnostic way. However, their use is limited to Tensors and the design primarily focuses GPU computation.</a:t>
            </a:r>
            <a:br>
              <a:rPr lang="en-US" baseline="0" dirty="0"/>
            </a:br>
            <a:br>
              <a:rPr lang="en-US" baseline="0" dirty="0"/>
            </a:br>
            <a:r>
              <a:rPr lang="en-US" baseline="0" dirty="0"/>
              <a:t>New standards of OpenMP support powerful loop transformations, which might be used to optimize algorithms. While this doesn’t enable traversal-agnostic design of algorithms, it offers a good alternative with similar benefits in many use cases. Especially for algorithms that have a natural loop nest representation that allows for such transformations.</a:t>
            </a:r>
          </a:p>
          <a:p>
            <a:pPr marL="0" indent="0">
              <a:buFont typeface="Wingdings" panose="05000000000000000000" pitchFamily="2" charset="2"/>
              <a:buNone/>
            </a:pPr>
            <a:endParaRPr lang="en-US" baseline="0" dirty="0"/>
          </a:p>
          <a:p>
            <a:pPr marL="0" indent="0">
              <a:buFont typeface="Wingdings" panose="05000000000000000000" pitchFamily="2" charset="2"/>
              <a:buNone/>
            </a:pPr>
            <a:r>
              <a:rPr lang="en-US" baseline="0" dirty="0"/>
              <a:t>In the thesis (section 2.3.3), we lightly discuss some traversal-agnostic features of </a:t>
            </a:r>
            <a:r>
              <a:rPr lang="en-US" baseline="0" dirty="0" err="1"/>
              <a:t>GridTools</a:t>
            </a:r>
            <a:r>
              <a:rPr lang="en-US" baseline="0" dirty="0"/>
              <a:t> and RAJA.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69801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currently struggle with interpreting the reviewer’s concern, will return to that.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1213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24E6A-D33D-8110-940D-8ADB53871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735A9C-A9D7-B34C-B1DD-7CD1BC961A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21E3191-FE7C-22CF-B0B1-2C7DE460DF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2E97BC-A89E-4CE1-A4AA-4F62BE5183B8}" type="datetime1">
              <a:rPr lang="en-US" smtClean="0"/>
              <a:t>8/30/2026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11BDA9-B9ED-F0FB-CD9D-75B45C3CD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9FBE2F-862E-0C3E-750A-B4D2A209F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280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19736-03C4-0888-E0C9-B6C6EFC00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24EDB-8F0A-A7EA-BE9D-63855B5D4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DAEB4C-D570-B20A-A37B-380D40727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C28A6-2969-482E-9A3B-5E13FCD8DD03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F79E2F-597B-96EF-11C9-247263E6D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51C646-CE53-F04F-042E-92713E7C9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651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B13B0-6E5E-27A0-8786-FF5AE46CE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12A8A-694B-7C92-789C-B57BB8DE0E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250D77-986E-91D4-2F3C-6C8CB253E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463B7D-19AB-44BF-8DCC-FDF87A48CBC2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3C4CF3-8611-69CD-8CAA-743B79FCB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AB618-6ADA-3D47-19A0-0B17DA3E8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60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FF19E-9477-ABC3-DE67-B3FE3FD53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59AAE2-3733-5697-3768-F61A390DFD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C2537-3C2D-37C4-2000-C59419B574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1EE3ED-7136-8E71-4128-670371562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9987F8-7DF8-4BA7-9208-8F32E5310AB4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87F66-93B5-7C98-7C4D-C77DF36D6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F92242-6F18-B2F8-D3B6-CA96CF07A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1145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16E4-EA83-568A-BD1D-97FF900D3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286F84-DF28-2E19-BA71-6C71F5C694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A76E13-935D-A461-39CB-9D91E0AD0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7AA7A5-CE10-08CF-A9AA-B0EFD3AE08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431AE9-8865-4C87-15FF-F85F79BDEF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FCD46F-370C-F6C9-8756-1AA52353B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4A8A3C-441E-40C3-8DCE-8F1C2EB0BADE}" type="datetime1">
              <a:rPr lang="en-US" smtClean="0"/>
              <a:t>8/30/2026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5DE77E-D1BD-6C4E-A351-50C02A7CA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7FDFF7-A273-AFCC-8687-0039D14EF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872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FD40-2BC9-24C5-22AC-D7BE6AB90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2EA9A8-BE9F-AE49-CCCC-A6BFD7DC2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smtClean="0"/>
              <a:t>8/30/2026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3555CB-E870-615F-B8C7-30BC20AFF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5F43D1-4FC1-76B7-2DC0-8B1655EE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7065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DC56D-B067-54DC-982C-DE19DBDEA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D20BF-4C0E-41E5-B4FC-9D48FCD3AF33}" type="datetime1">
              <a:rPr lang="en-US" smtClean="0"/>
              <a:t>8/30/2026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AA151F-F6E0-3ECD-123C-D09928100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3AE01-68A1-DD4C-C934-7A8AC50A2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551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2EFCA-330E-F9B4-E57C-E7E46227B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EF94D5-9F84-5439-E16B-B83DFBCB3F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3FB607-1564-B05D-3D77-AB5C96794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E60C3B-07A0-E067-0C8C-AE46543D1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ACC2DC-9E3A-44FF-B316-55456058A0CC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72EA1-1498-5D77-A116-5A0229027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419BD-8F55-0DB5-E7A4-B2D65F3D4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182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EA6B6-838D-F8ED-BDA3-2A162DF6C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ABD07F-0AEC-095A-51B1-BCBAF78FF9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0C15C3-DA68-E56D-39FE-12682CE845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B427CC-7335-E85B-F994-ECED93769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FE5055-4E7B-4EEB-A9E4-14CB598FDB7C}" type="datetime1">
              <a:rPr lang="en-US" smtClean="0"/>
              <a:t>8/30/2026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65D5C9-7347-6515-DE00-D89BEB8EB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21FEE5-DCD3-D8BE-62C7-D756A7F33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916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E43D8-02AC-2914-9FED-616D6AB42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AB5568-29BC-DFED-ABFE-8CB9972CD8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7ACC50-EA82-80A5-543B-E10B8CB99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53D07F-EA1B-48C7-9BD0-6BED24C9ED67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96697-F033-841A-79EF-51DC7E046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1A364F-BF8C-D383-E70E-5C199E402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610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FEFD78-33C7-A6E2-827C-308D244117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C174DE-9768-CB18-7AE9-11A18E818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F0FA62-F86E-B4BB-30E3-DEB6FC314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A4DF48-C056-4522-9BC2-031A9D197A93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87A909-05FF-1D16-6D0B-DCA5B2C17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86DEDF-AF23-D167-C1D4-F648EF1CD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057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705DFF-00C9-BEC9-4FC3-920066B12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ABA2AF-CC90-3FC4-EEF7-E1A8D525A3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9049E-4FCE-FF74-9683-28A5B1FA98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EB8912-975C-4DE8-9A59-8B9C133AEEC5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67B93-70A1-78F2-3159-EEE138DB53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426FB6-9E0D-15E5-E967-0981DEBDF9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036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8.svg"/><Relationship Id="rId5" Type="http://schemas.openxmlformats.org/officeDocument/2006/relationships/image" Target="../media/image27.svg"/><Relationship Id="rId4" Type="http://schemas.openxmlformats.org/officeDocument/2006/relationships/image" Target="../media/image26.svg"/><Relationship Id="rId9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8.png"/><Relationship Id="rId5" Type="http://schemas.openxmlformats.org/officeDocument/2006/relationships/image" Target="../media/image36.png"/><Relationship Id="rId4" Type="http://schemas.openxmlformats.org/officeDocument/2006/relationships/image" Target="../media/image35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g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3.png"/><Relationship Id="rId4" Type="http://schemas.openxmlformats.org/officeDocument/2006/relationships/image" Target="../media/image37.gif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svg"/><Relationship Id="rId3" Type="http://schemas.openxmlformats.org/officeDocument/2006/relationships/image" Target="../media/image50.svg"/><Relationship Id="rId7" Type="http://schemas.openxmlformats.org/officeDocument/2006/relationships/image" Target="../media/image54.sv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3.svg"/><Relationship Id="rId5" Type="http://schemas.openxmlformats.org/officeDocument/2006/relationships/image" Target="../media/image52.svg"/><Relationship Id="rId10" Type="http://schemas.openxmlformats.org/officeDocument/2006/relationships/image" Target="../media/image57.svg"/><Relationship Id="rId4" Type="http://schemas.openxmlformats.org/officeDocument/2006/relationships/image" Target="../media/image51.svg"/><Relationship Id="rId9" Type="http://schemas.openxmlformats.org/officeDocument/2006/relationships/image" Target="../media/image56.sv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BE8F1-FAE5-377F-D044-781D68E170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noProof="0" dirty="0"/>
              <a:t>Optimizing Memory Layouts and Traversal Orders in HPC</a:t>
            </a:r>
            <a:endParaRPr lang="en-US" noProof="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F78056-B306-9784-24C5-9BBCFE1E01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noProof="0" dirty="0"/>
              <a:t>Jiří Klepl</a:t>
            </a:r>
          </a:p>
          <a:p>
            <a:r>
              <a:rPr lang="en-US" noProof="0" dirty="0"/>
              <a:t>Department of Distributed and Dependable Systems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A7AB794C-C02E-1A01-6047-C41EAA0E8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06699D-645B-483D-AF03-42C342BFDBA5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1CD298-A702-19E2-4EB3-83A149EA7C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</a:t>
            </a:fld>
            <a:endParaRPr lang="en-US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B206876-D20A-A82F-956B-A9918DB239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6756" y="5257800"/>
            <a:ext cx="1678488" cy="856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7410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5D00A-C97B-2737-13F2-3DAF74AE2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2ED1B-55E3-6487-BD53-B3FDC45B7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B1B8F4-47B3-8AEC-FEE0-BBA2C521EE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Designing efficient HPC algorithms is challenging</a:t>
            </a:r>
          </a:p>
          <a:p>
            <a:r>
              <a:rPr lang="en-US" dirty="0"/>
              <a:t>Multidimensional data processed in multi-level loops</a:t>
            </a:r>
          </a:p>
          <a:p>
            <a:pPr lvl="1"/>
            <a:r>
              <a:rPr lang="en-US" dirty="0"/>
              <a:t>Changing data layouts and traversals often preserves functionality</a:t>
            </a:r>
          </a:p>
          <a:p>
            <a:pPr lvl="1"/>
            <a:r>
              <a:rPr lang="en-US" b="1" dirty="0"/>
              <a:t>Right</a:t>
            </a:r>
            <a:r>
              <a:rPr lang="en-US" dirty="0"/>
              <a:t> </a:t>
            </a:r>
            <a:r>
              <a:rPr lang="en-US" b="1" dirty="0"/>
              <a:t>data layouts</a:t>
            </a:r>
            <a:r>
              <a:rPr lang="en-US" dirty="0"/>
              <a:t> and </a:t>
            </a:r>
            <a:r>
              <a:rPr lang="en-US" b="1" dirty="0"/>
              <a:t>traversals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significant </a:t>
            </a:r>
            <a:r>
              <a:rPr lang="en-US" b="1" dirty="0"/>
              <a:t>speedup</a:t>
            </a:r>
          </a:p>
          <a:p>
            <a:r>
              <a:rPr lang="en-US" dirty="0"/>
              <a:t>Massively parallel systems processing large datasets</a:t>
            </a:r>
          </a:p>
          <a:p>
            <a:r>
              <a:rPr lang="en-US" dirty="0"/>
              <a:t>Trial-and-error evaluation of many different choices</a:t>
            </a:r>
          </a:p>
          <a:p>
            <a:r>
              <a:rPr lang="en-US" dirty="0"/>
              <a:t>Different optima on different systems</a:t>
            </a:r>
          </a:p>
          <a:p>
            <a:endParaRPr lang="en-US" dirty="0"/>
          </a:p>
          <a:p>
            <a:r>
              <a:rPr lang="en-US" dirty="0"/>
              <a:t>Decoupling data layouts, then traversals, then full automation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E174B8-24C5-EFF8-68D7-B0BAFDA2C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EF2F-EB87-44F5-8698-5E050EDDA902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E8A958-9CA9-B376-C939-4B09FEE66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</a:t>
            </a:fld>
            <a:endParaRPr lang="en-US" noProof="0" dirty="0"/>
          </a:p>
        </p:txBody>
      </p:sp>
      <p:pic>
        <p:nvPicPr>
          <p:cNvPr id="6" name="Picture 5" descr="Thinking Man PNG Images Transparent Free Download">
            <a:extLst>
              <a:ext uri="{FF2B5EF4-FFF2-40B4-BE49-F238E27FC236}">
                <a16:creationId xmlns:a16="http://schemas.microsoft.com/office/drawing/2014/main" id="{EECB4EAE-D14C-1C42-94B6-34013519EA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0656" y="915929"/>
            <a:ext cx="1640006" cy="1640006"/>
          </a:xfrm>
          <a:prstGeom prst="rect">
            <a:avLst/>
          </a:prstGeom>
        </p:spPr>
      </p:pic>
      <p:pic>
        <p:nvPicPr>
          <p:cNvPr id="7" name="Picture 6" descr="Trial and error - Free education icons">
            <a:extLst>
              <a:ext uri="{FF2B5EF4-FFF2-40B4-BE49-F238E27FC236}">
                <a16:creationId xmlns:a16="http://schemas.microsoft.com/office/drawing/2014/main" id="{28071A90-4986-3170-8847-B34F3D1381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4061022"/>
            <a:ext cx="1269681" cy="1269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8223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F16B1-5468-83FD-64C7-68045C621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Illustrative example: initialization algorithm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F021F81-2E4A-FAB4-0D8F-C5CFA4E675FF}"/>
              </a:ext>
            </a:extLst>
          </p:cNvPr>
          <p:cNvGrpSpPr/>
          <p:nvPr/>
        </p:nvGrpSpPr>
        <p:grpSpPr>
          <a:xfrm>
            <a:off x="3085645" y="2140197"/>
            <a:ext cx="1590800" cy="1764556"/>
            <a:chOff x="735535" y="1909480"/>
            <a:chExt cx="1590800" cy="1764556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353F98A-C5CE-9352-8E83-B1375ABB1A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7265" y="2432700"/>
              <a:ext cx="1249070" cy="1241336"/>
            </a:xfrm>
            <a:prstGeom prst="rect">
              <a:avLst/>
            </a:prstGeom>
          </p:spPr>
        </p:pic>
        <p:sp>
          <p:nvSpPr>
            <p:cNvPr id="6" name="TextBox 25">
              <a:extLst>
                <a:ext uri="{FF2B5EF4-FFF2-40B4-BE49-F238E27FC236}">
                  <a16:creationId xmlns:a16="http://schemas.microsoft.com/office/drawing/2014/main" id="{94AE0714-82E6-AFC1-E7D4-36D9B568E705}"/>
                </a:ext>
              </a:extLst>
            </p:cNvPr>
            <p:cNvSpPr txBox="1"/>
            <p:nvPr/>
          </p:nvSpPr>
          <p:spPr>
            <a:xfrm>
              <a:off x="735535" y="2793505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m</a:t>
              </a:r>
            </a:p>
          </p:txBody>
        </p:sp>
        <p:sp>
          <p:nvSpPr>
            <p:cNvPr id="7" name="TextBox 26">
              <a:extLst>
                <a:ext uri="{FF2B5EF4-FFF2-40B4-BE49-F238E27FC236}">
                  <a16:creationId xmlns:a16="http://schemas.microsoft.com/office/drawing/2014/main" id="{0FF7A120-509C-08AF-3395-CF8D9F5CEBCA}"/>
                </a:ext>
              </a:extLst>
            </p:cNvPr>
            <p:cNvSpPr txBox="1"/>
            <p:nvPr/>
          </p:nvSpPr>
          <p:spPr>
            <a:xfrm>
              <a:off x="1590701" y="1909480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n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1529F6C-2638-FAF6-7573-04101D2DC4B9}"/>
              </a:ext>
            </a:extLst>
          </p:cNvPr>
          <p:cNvGrpSpPr/>
          <p:nvPr/>
        </p:nvGrpSpPr>
        <p:grpSpPr>
          <a:xfrm>
            <a:off x="7356655" y="2140197"/>
            <a:ext cx="1588351" cy="1758941"/>
            <a:chOff x="3070917" y="1915095"/>
            <a:chExt cx="1588351" cy="175894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19A6B8E-0CD6-2553-0520-DF9244FCFB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rot="16200000" flipH="1">
              <a:off x="3414065" y="2428833"/>
              <a:ext cx="1249070" cy="1241336"/>
            </a:xfrm>
            <a:prstGeom prst="rect">
              <a:avLst/>
            </a:prstGeom>
          </p:spPr>
        </p:pic>
        <p:sp>
          <p:nvSpPr>
            <p:cNvPr id="9" name="TextBox 25">
              <a:extLst>
                <a:ext uri="{FF2B5EF4-FFF2-40B4-BE49-F238E27FC236}">
                  <a16:creationId xmlns:a16="http://schemas.microsoft.com/office/drawing/2014/main" id="{E1DBC912-122E-5075-A278-511303718434}"/>
                </a:ext>
              </a:extLst>
            </p:cNvPr>
            <p:cNvSpPr txBox="1"/>
            <p:nvPr/>
          </p:nvSpPr>
          <p:spPr>
            <a:xfrm>
              <a:off x="3070917" y="2787891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m</a:t>
              </a:r>
            </a:p>
          </p:txBody>
        </p:sp>
        <p:sp>
          <p:nvSpPr>
            <p:cNvPr id="11" name="TextBox 26">
              <a:extLst>
                <a:ext uri="{FF2B5EF4-FFF2-40B4-BE49-F238E27FC236}">
                  <a16:creationId xmlns:a16="http://schemas.microsoft.com/office/drawing/2014/main" id="{5EB1F6F3-234C-D093-D726-133AE769EBEE}"/>
                </a:ext>
              </a:extLst>
            </p:cNvPr>
            <p:cNvSpPr txBox="1"/>
            <p:nvPr/>
          </p:nvSpPr>
          <p:spPr>
            <a:xfrm>
              <a:off x="3931368" y="1915095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n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8584B60-09B2-9CFA-E5B6-2949310DA2AF}"/>
                  </a:ext>
                </a:extLst>
              </p:cNvPr>
              <p:cNvSpPr txBox="1"/>
              <p:nvPr/>
            </p:nvSpPr>
            <p:spPr>
              <a:xfrm>
                <a:off x="1932986" y="1712546"/>
                <a:ext cx="81841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noProof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noProof="0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2400" b="0" i="1" noProof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noProof="0" dirty="0"/>
                  <a:t> matrix in row-major and column-major </a:t>
                </a:r>
                <a:r>
                  <a:rPr lang="en-US" sz="2400" i="1" noProof="0" dirty="0"/>
                  <a:t>memory layout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8584B60-09B2-9CFA-E5B6-2949310DA2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2986" y="1712546"/>
                <a:ext cx="8184164" cy="461665"/>
              </a:xfrm>
              <a:prstGeom prst="rect">
                <a:avLst/>
              </a:prstGeom>
              <a:blipFill>
                <a:blip r:embed="rId4"/>
                <a:stretch>
                  <a:fillRect t="-10526" r="-745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2272D78A-9733-44AD-5F40-F615D37E734A}"/>
              </a:ext>
            </a:extLst>
          </p:cNvPr>
          <p:cNvSpPr txBox="1"/>
          <p:nvPr/>
        </p:nvSpPr>
        <p:spPr>
          <a:xfrm>
            <a:off x="3866724" y="4850394"/>
            <a:ext cx="4458551" cy="917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M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    </a:t>
            </a: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N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 err="1">
                <a:solidFill>
                  <a:srgbClr val="000000"/>
                </a:solidFill>
                <a:latin typeface="Fira Code" panose="020B0809050000020004" pitchFamily="49" charset="0"/>
              </a:rPr>
              <a:t>++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       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matrix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[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][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] = 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init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2E9618-3FF8-BCC6-7768-54ABDA9F15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13F15-5634-45C6-B470-EBFC7B0054B0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1FD437B-AF40-42FA-9984-B01218380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3</a:t>
            </a:fld>
            <a:endParaRPr lang="en-US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640CAD-E8F3-0136-EE14-212BDC4874AA}"/>
              </a:ext>
            </a:extLst>
          </p:cNvPr>
          <p:cNvSpPr txBox="1"/>
          <p:nvPr/>
        </p:nvSpPr>
        <p:spPr>
          <a:xfrm>
            <a:off x="3234121" y="3895948"/>
            <a:ext cx="16355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noProof="0" dirty="0"/>
              <a:t>Row-major</a:t>
            </a:r>
            <a:endParaRPr lang="en-US" noProof="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AF8D4C1-EF6C-17E0-8CD6-7A1A3F4F9FD6}"/>
              </a:ext>
            </a:extLst>
          </p:cNvPr>
          <p:cNvSpPr txBox="1"/>
          <p:nvPr/>
        </p:nvSpPr>
        <p:spPr>
          <a:xfrm>
            <a:off x="7259785" y="3895948"/>
            <a:ext cx="212910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noProof="0" dirty="0"/>
              <a:t>Column-major</a:t>
            </a:r>
            <a:endParaRPr lang="en-US" noProof="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68BC8C-4491-6660-E659-B2498387A799}"/>
              </a:ext>
            </a:extLst>
          </p:cNvPr>
          <p:cNvSpPr txBox="1"/>
          <p:nvPr/>
        </p:nvSpPr>
        <p:spPr>
          <a:xfrm>
            <a:off x="3712713" y="4265280"/>
            <a:ext cx="6783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🚀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67B8E21-985F-A8B8-8A89-3F3138337D40}"/>
              </a:ext>
            </a:extLst>
          </p:cNvPr>
          <p:cNvSpPr txBox="1"/>
          <p:nvPr/>
        </p:nvSpPr>
        <p:spPr>
          <a:xfrm>
            <a:off x="7934542" y="4265280"/>
            <a:ext cx="6783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🐌</a:t>
            </a:r>
          </a:p>
        </p:txBody>
      </p:sp>
    </p:spTree>
    <p:extLst>
      <p:ext uri="{BB962C8B-B14F-4D97-AF65-F5344CB8AC3E}">
        <p14:creationId xmlns:p14="http://schemas.microsoft.com/office/powerpoint/2010/main" val="2636511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C25D7-EA5F-3145-1A91-B45219E70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Layout-agnostic design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F019B9-B109-FECE-DF5D-017B5ED66C4E}"/>
              </a:ext>
            </a:extLst>
          </p:cNvPr>
          <p:cNvSpPr txBox="1"/>
          <p:nvPr/>
        </p:nvSpPr>
        <p:spPr>
          <a:xfrm flipH="1">
            <a:off x="1548469" y="3424149"/>
            <a:ext cx="2033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Logical structure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10D43FC-A3D8-FA7F-57C5-AF9023BC6E13}"/>
              </a:ext>
            </a:extLst>
          </p:cNvPr>
          <p:cNvCxnSpPr>
            <a:cxnSpLocks/>
            <a:stCxn id="23" idx="3"/>
            <a:endCxn id="21" idx="1"/>
          </p:cNvCxnSpPr>
          <p:nvPr/>
        </p:nvCxnSpPr>
        <p:spPr>
          <a:xfrm flipV="1">
            <a:off x="3248565" y="3938324"/>
            <a:ext cx="1665433" cy="4359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66F46F6-CF65-0E55-0650-3C9E5AB72670}"/>
              </a:ext>
            </a:extLst>
          </p:cNvPr>
          <p:cNvSpPr txBox="1"/>
          <p:nvPr/>
        </p:nvSpPr>
        <p:spPr>
          <a:xfrm flipH="1">
            <a:off x="5903235" y="3317744"/>
            <a:ext cx="26125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Physical memory layout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36AEBD-D49B-6BE3-BEEA-278110BAE03F}"/>
              </a:ext>
            </a:extLst>
          </p:cNvPr>
          <p:cNvSpPr txBox="1"/>
          <p:nvPr/>
        </p:nvSpPr>
        <p:spPr>
          <a:xfrm flipH="1">
            <a:off x="3544294" y="5875762"/>
            <a:ext cx="3964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Layout abstraction of a data structure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D950412-A4E1-17AA-7F65-11BCBF6AEA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4286" y="2988147"/>
            <a:ext cx="1249070" cy="1241336"/>
          </a:xfrm>
          <a:prstGeom prst="rect">
            <a:avLst/>
          </a:prstGeom>
        </p:spPr>
      </p:pic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D332B380-5281-EE91-2938-5399CC818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C8B4D-7ED9-4C51-A12C-8A3FEA1E5194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DFBB65FD-0342-4A62-39CA-BF84A812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4</a:t>
            </a:fld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EDD665-FE0A-F5BF-5FBA-041F0C097A37}"/>
              </a:ext>
            </a:extLst>
          </p:cNvPr>
          <p:cNvSpPr txBox="1"/>
          <p:nvPr/>
        </p:nvSpPr>
        <p:spPr>
          <a:xfrm>
            <a:off x="3866724" y="1771143"/>
            <a:ext cx="4458551" cy="917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M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    </a:t>
            </a: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N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 err="1">
                <a:solidFill>
                  <a:srgbClr val="000000"/>
                </a:solidFill>
                <a:latin typeface="Fira Code" panose="020B0809050000020004" pitchFamily="49" charset="0"/>
              </a:rPr>
              <a:t>++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       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matrix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[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][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] = 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init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);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F9699A7-6E7F-6A4A-1BE0-B901964BBD4A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3405690" y="2689023"/>
            <a:ext cx="2690310" cy="8665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Graphic 18">
            <a:extLst>
              <a:ext uri="{FF2B5EF4-FFF2-40B4-BE49-F238E27FC236}">
                <a16:creationId xmlns:a16="http://schemas.microsoft.com/office/drawing/2014/main" id="{4A0BFCCB-128B-7591-E963-1618B5BB97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81959"/>
          <a:stretch>
            <a:fillRect/>
          </a:stretch>
        </p:blipFill>
        <p:spPr>
          <a:xfrm>
            <a:off x="4913998" y="5028331"/>
            <a:ext cx="4591050" cy="484601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4A08EC48-FD46-BBE4-EFE8-88F7B225B66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53786" b="26396"/>
          <a:stretch>
            <a:fillRect/>
          </a:stretch>
        </p:blipFill>
        <p:spPr>
          <a:xfrm>
            <a:off x="4913998" y="3672168"/>
            <a:ext cx="4591050" cy="532311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E715DACF-F81B-CE55-F91D-759F9C6026D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65778" b="56757"/>
          <a:stretch>
            <a:fillRect/>
          </a:stretch>
        </p:blipFill>
        <p:spPr>
          <a:xfrm>
            <a:off x="1677392" y="3793481"/>
            <a:ext cx="1571173" cy="1161511"/>
          </a:xfrm>
          <a:prstGeom prst="rect">
            <a:avLst/>
          </a:prstGeom>
        </p:spPr>
      </p:pic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DD1A278-7C00-DF7C-219E-946088D75D0E}"/>
              </a:ext>
            </a:extLst>
          </p:cNvPr>
          <p:cNvCxnSpPr>
            <a:cxnSpLocks/>
            <a:stCxn id="23" idx="3"/>
          </p:cNvCxnSpPr>
          <p:nvPr/>
        </p:nvCxnSpPr>
        <p:spPr>
          <a:xfrm>
            <a:off x="3248565" y="4374237"/>
            <a:ext cx="1665433" cy="9359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2" name="Picture 31">
            <a:extLst>
              <a:ext uri="{FF2B5EF4-FFF2-40B4-BE49-F238E27FC236}">
                <a16:creationId xmlns:a16="http://schemas.microsoft.com/office/drawing/2014/main" id="{EF9E0881-5D12-8A45-8EDA-5E01EA5D0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 flipH="1">
            <a:off x="9760419" y="4980859"/>
            <a:ext cx="1249070" cy="1241336"/>
          </a:xfrm>
          <a:prstGeom prst="rect">
            <a:avLst/>
          </a:prstGeom>
        </p:spPr>
      </p:pic>
      <p:sp>
        <p:nvSpPr>
          <p:cNvPr id="33" name="Right Brace 32">
            <a:extLst>
              <a:ext uri="{FF2B5EF4-FFF2-40B4-BE49-F238E27FC236}">
                <a16:creationId xmlns:a16="http://schemas.microsoft.com/office/drawing/2014/main" id="{54CB22A7-6DC6-B51D-4313-0DD19D0F2AFC}"/>
              </a:ext>
            </a:extLst>
          </p:cNvPr>
          <p:cNvSpPr/>
          <p:nvPr/>
        </p:nvSpPr>
        <p:spPr>
          <a:xfrm rot="5400000">
            <a:off x="5429282" y="1720714"/>
            <a:ext cx="194951" cy="7956578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CE273B-1B57-639E-B0C9-72426A3D7B4A}"/>
                  </a:ext>
                </a:extLst>
              </p:cNvPr>
              <p:cNvSpPr txBox="1"/>
              <p:nvPr/>
            </p:nvSpPr>
            <p:spPr>
              <a:xfrm>
                <a:off x="3637237" y="3704951"/>
                <a:ext cx="101752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ACE273B-1B57-639E-B0C9-72426A3D7B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37237" y="3704951"/>
                <a:ext cx="1017523" cy="369332"/>
              </a:xfrm>
              <a:prstGeom prst="rect">
                <a:avLst/>
              </a:prstGeom>
              <a:blipFill>
                <a:blip r:embed="rId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F09D1C-16BB-AE1B-D40F-E19B4A196D17}"/>
                  </a:ext>
                </a:extLst>
              </p:cNvPr>
              <p:cNvSpPr txBox="1"/>
              <p:nvPr/>
            </p:nvSpPr>
            <p:spPr>
              <a:xfrm>
                <a:off x="3403582" y="4915789"/>
                <a:ext cx="10463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𝑗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F09D1C-16BB-AE1B-D40F-E19B4A196D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3582" y="4915789"/>
                <a:ext cx="1046377" cy="369332"/>
              </a:xfrm>
              <a:prstGeom prst="rect">
                <a:avLst/>
              </a:prstGeom>
              <a:blipFill>
                <a:blip r:embed="rId6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9746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5ADDBBC2-AFD6-00E5-EC92-B2FBB581AE19}"/>
              </a:ext>
            </a:extLst>
          </p:cNvPr>
          <p:cNvSpPr/>
          <p:nvPr/>
        </p:nvSpPr>
        <p:spPr>
          <a:xfrm>
            <a:off x="6707810" y="3744755"/>
            <a:ext cx="616915" cy="209405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6810C5D-DD0E-9895-8B05-9203DE3C52FC}"/>
              </a:ext>
            </a:extLst>
          </p:cNvPr>
          <p:cNvSpPr/>
          <p:nvPr/>
        </p:nvSpPr>
        <p:spPr>
          <a:xfrm>
            <a:off x="6707810" y="4245705"/>
            <a:ext cx="616915" cy="209405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993DAE6-53AF-8D78-063C-7D841E5B5C15}"/>
              </a:ext>
            </a:extLst>
          </p:cNvPr>
          <p:cNvSpPr/>
          <p:nvPr/>
        </p:nvSpPr>
        <p:spPr>
          <a:xfrm>
            <a:off x="10133635" y="3596200"/>
            <a:ext cx="1096340" cy="209405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810BA74-1063-85B3-2324-103E8E900E55}"/>
              </a:ext>
            </a:extLst>
          </p:cNvPr>
          <p:cNvSpPr/>
          <p:nvPr/>
        </p:nvSpPr>
        <p:spPr>
          <a:xfrm>
            <a:off x="6704635" y="3270983"/>
            <a:ext cx="874244" cy="209405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9B72882-F921-954D-3177-58DBD37F0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Layout abstractions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B525AC7-FE02-6AD7-8040-C0A6A642009E}"/>
              </a:ext>
            </a:extLst>
          </p:cNvPr>
          <p:cNvSpPr txBox="1"/>
          <p:nvPr/>
        </p:nvSpPr>
        <p:spPr>
          <a:xfrm>
            <a:off x="8785840" y="3531626"/>
            <a:ext cx="3537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matrix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[</a:t>
            </a:r>
            <a:r>
              <a:rPr lang="en-US" sz="1600" noProof="0" dirty="0" err="1">
                <a:solidFill>
                  <a:srgbClr val="0070C1"/>
                </a:solidFill>
                <a:latin typeface="Fira Code" panose="020B0809050000020004" pitchFamily="49" charset="0"/>
              </a:rPr>
              <a:t>idx</a:t>
            </a:r>
            <a:r>
              <a:rPr lang="en-US" sz="4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m'</a:t>
            </a:r>
            <a:r>
              <a:rPr lang="en-US" sz="1600" noProof="0" dirty="0" err="1">
                <a:solidFill>
                  <a:srgbClr val="000000"/>
                </a:solidFill>
                <a:latin typeface="Fira Code" panose="020B0809050000020004" pitchFamily="49" charset="0"/>
              </a:rPr>
              <a:t>,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'n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</a:t>
            </a:r>
            <a:r>
              <a:rPr lang="en-US" sz="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4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sz="16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2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)]</a:t>
            </a:r>
            <a:endParaRPr lang="en-US" sz="2000" noProof="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5102DA4-367F-2E7C-4748-5E5A83284E85}"/>
              </a:ext>
            </a:extLst>
          </p:cNvPr>
          <p:cNvCxnSpPr>
            <a:cxnSpLocks/>
          </p:cNvCxnSpPr>
          <p:nvPr/>
        </p:nvCxnSpPr>
        <p:spPr>
          <a:xfrm>
            <a:off x="8079856" y="3700903"/>
            <a:ext cx="70598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4AB64E0-7A98-B19A-964F-1077043B0728}"/>
              </a:ext>
            </a:extLst>
          </p:cNvPr>
          <p:cNvSpPr txBox="1"/>
          <p:nvPr/>
        </p:nvSpPr>
        <p:spPr>
          <a:xfrm>
            <a:off x="7983846" y="3385418"/>
            <a:ext cx="8980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access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8F9A7A-4E68-17F0-FD80-992DB87E748C}"/>
              </a:ext>
            </a:extLst>
          </p:cNvPr>
          <p:cNvSpPr txBox="1"/>
          <p:nvPr/>
        </p:nvSpPr>
        <p:spPr>
          <a:xfrm>
            <a:off x="4146506" y="3030894"/>
            <a:ext cx="4300406" cy="1506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layout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scalar</a:t>
            </a:r>
            <a:r>
              <a:rPr lang="en-US" sz="4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float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() ^</a:t>
            </a:r>
          </a:p>
          <a:p>
            <a:pPr>
              <a:lnSpc>
                <a:spcPct val="200000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 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vector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'n'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 ^</a:t>
            </a:r>
          </a:p>
          <a:p>
            <a:pPr>
              <a:lnSpc>
                <a:spcPct val="200000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 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vector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'm'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N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A23D42A-BB3F-3EFA-4CCB-5A700F8F468C}"/>
              </a:ext>
            </a:extLst>
          </p:cNvPr>
          <p:cNvSpPr/>
          <p:nvPr/>
        </p:nvSpPr>
        <p:spPr>
          <a:xfrm>
            <a:off x="5925244" y="3140003"/>
            <a:ext cx="1941388" cy="435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D5C1C8-80D9-8C99-35CE-890BA17FBF13}"/>
              </a:ext>
            </a:extLst>
          </p:cNvPr>
          <p:cNvSpPr/>
          <p:nvPr/>
        </p:nvSpPr>
        <p:spPr>
          <a:xfrm>
            <a:off x="5925244" y="3631744"/>
            <a:ext cx="1815684" cy="435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8AC22D-D974-2FFF-B64D-6B0E1C0C6D26}"/>
              </a:ext>
            </a:extLst>
          </p:cNvPr>
          <p:cNvSpPr/>
          <p:nvPr/>
        </p:nvSpPr>
        <p:spPr>
          <a:xfrm>
            <a:off x="5925244" y="4111106"/>
            <a:ext cx="1815684" cy="435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D66E5204-4017-2EAF-4A60-5194514D442A}"/>
              </a:ext>
            </a:extLst>
          </p:cNvPr>
          <p:cNvSpPr/>
          <p:nvPr/>
        </p:nvSpPr>
        <p:spPr>
          <a:xfrm rot="16200000">
            <a:off x="6946970" y="2629816"/>
            <a:ext cx="275785" cy="92136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ECBBC8-9EAB-F864-C40F-1C0E855672E6}"/>
              </a:ext>
            </a:extLst>
          </p:cNvPr>
          <p:cNvSpPr txBox="1"/>
          <p:nvPr/>
        </p:nvSpPr>
        <p:spPr>
          <a:xfrm>
            <a:off x="4756218" y="2637256"/>
            <a:ext cx="5225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Parameters specifying types and dimension names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9942311-6300-6EC8-B275-0171EF6F9AB9}"/>
              </a:ext>
            </a:extLst>
          </p:cNvPr>
          <p:cNvSpPr txBox="1"/>
          <p:nvPr/>
        </p:nvSpPr>
        <p:spPr>
          <a:xfrm>
            <a:off x="588538" y="5417454"/>
            <a:ext cx="3962969" cy="3951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bag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layout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5DF814E-5685-475F-2990-B570D542C55C}"/>
              </a:ext>
            </a:extLst>
          </p:cNvPr>
          <p:cNvSpPr txBox="1"/>
          <p:nvPr/>
        </p:nvSpPr>
        <p:spPr>
          <a:xfrm>
            <a:off x="5476824" y="5451116"/>
            <a:ext cx="5603818" cy="36144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matrix_view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bag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layout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myBuffer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29" name="Date Placeholder 28">
            <a:extLst>
              <a:ext uri="{FF2B5EF4-FFF2-40B4-BE49-F238E27FC236}">
                <a16:creationId xmlns:a16="http://schemas.microsoft.com/office/drawing/2014/main" id="{692CB833-F3D6-B987-C77E-BF53C659C0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7731D-07D7-4C44-A482-993035AAE3B2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A6854BFF-C563-E847-C95B-05954D906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5</a:t>
            </a:fld>
            <a:endParaRPr lang="en-US" noProof="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B04C328-850E-09BF-6793-2E064014E5D0}"/>
              </a:ext>
            </a:extLst>
          </p:cNvPr>
          <p:cNvGrpSpPr/>
          <p:nvPr/>
        </p:nvGrpSpPr>
        <p:grpSpPr>
          <a:xfrm>
            <a:off x="1284138" y="2628689"/>
            <a:ext cx="1590800" cy="1764556"/>
            <a:chOff x="735535" y="1909480"/>
            <a:chExt cx="1590800" cy="1764556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674DA7D-E1D1-F035-AB66-ABD9BF9D26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7265" y="2432700"/>
              <a:ext cx="1249070" cy="1241336"/>
            </a:xfrm>
            <a:prstGeom prst="rect">
              <a:avLst/>
            </a:prstGeom>
          </p:spPr>
        </p:pic>
        <p:sp>
          <p:nvSpPr>
            <p:cNvPr id="9" name="TextBox 25">
              <a:extLst>
                <a:ext uri="{FF2B5EF4-FFF2-40B4-BE49-F238E27FC236}">
                  <a16:creationId xmlns:a16="http://schemas.microsoft.com/office/drawing/2014/main" id="{D6DCBE23-31F2-9BBA-A3EB-A89F392B59A1}"/>
                </a:ext>
              </a:extLst>
            </p:cNvPr>
            <p:cNvSpPr txBox="1"/>
            <p:nvPr/>
          </p:nvSpPr>
          <p:spPr>
            <a:xfrm>
              <a:off x="735535" y="2793505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m</a:t>
              </a:r>
            </a:p>
          </p:txBody>
        </p:sp>
        <p:sp>
          <p:nvSpPr>
            <p:cNvPr id="11" name="TextBox 26">
              <a:extLst>
                <a:ext uri="{FF2B5EF4-FFF2-40B4-BE49-F238E27FC236}">
                  <a16:creationId xmlns:a16="http://schemas.microsoft.com/office/drawing/2014/main" id="{E5DE4EB8-FEDA-8B4F-4B5A-7D7108614CC2}"/>
                </a:ext>
              </a:extLst>
            </p:cNvPr>
            <p:cNvSpPr txBox="1"/>
            <p:nvPr/>
          </p:nvSpPr>
          <p:spPr>
            <a:xfrm>
              <a:off x="1590701" y="1909480"/>
              <a:ext cx="22219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800" noProof="0" dirty="0">
                  <a:latin typeface="Blackadder ITC" panose="04020505051007020D02" pitchFamily="82" charset="0"/>
                </a:rPr>
                <a:t>n</a:t>
              </a:r>
            </a:p>
          </p:txBody>
        </p:sp>
      </p:grp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BF3510A-7AA6-1D61-17F1-1FC3E8CDC948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2874938" y="3428927"/>
            <a:ext cx="1312546" cy="3436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49BE013-F209-8403-8D5B-F71D68CF5E02}"/>
              </a:ext>
            </a:extLst>
          </p:cNvPr>
          <p:cNvSpPr txBox="1"/>
          <p:nvPr/>
        </p:nvSpPr>
        <p:spPr>
          <a:xfrm>
            <a:off x="7437322" y="4889622"/>
            <a:ext cx="1838587" cy="408623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GPU mem. </a:t>
            </a:r>
            <a:r>
              <a:rPr lang="en-US" dirty="0" err="1"/>
              <a:t>alloc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3C382B-2568-3BB2-FF89-3DD00349CEA9}"/>
              </a:ext>
            </a:extLst>
          </p:cNvPr>
          <p:cNvSpPr txBox="1"/>
          <p:nvPr/>
        </p:nvSpPr>
        <p:spPr>
          <a:xfrm>
            <a:off x="9584196" y="4884070"/>
            <a:ext cx="1392518" cy="408623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Mapped file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423100F-27E7-78C5-29B0-1E9E9CA71CCB}"/>
              </a:ext>
            </a:extLst>
          </p:cNvPr>
          <p:cNvSpPr txBox="1"/>
          <p:nvPr/>
        </p:nvSpPr>
        <p:spPr>
          <a:xfrm>
            <a:off x="11285001" y="488407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3" name="Right Brace 32">
            <a:extLst>
              <a:ext uri="{FF2B5EF4-FFF2-40B4-BE49-F238E27FC236}">
                <a16:creationId xmlns:a16="http://schemas.microsoft.com/office/drawing/2014/main" id="{D5BD3CDE-9058-0797-77E8-0CD52F9C3687}"/>
              </a:ext>
            </a:extLst>
          </p:cNvPr>
          <p:cNvSpPr/>
          <p:nvPr/>
        </p:nvSpPr>
        <p:spPr>
          <a:xfrm rot="5400000">
            <a:off x="9559201" y="3174866"/>
            <a:ext cx="159029" cy="442644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93004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8E5D0D6-5263-D58B-44D9-D77100A671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Traversal abstractions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1F4919-C499-3F7D-4116-17B83C53ED34}"/>
              </a:ext>
            </a:extLst>
          </p:cNvPr>
          <p:cNvSpPr txBox="1"/>
          <p:nvPr/>
        </p:nvSpPr>
        <p:spPr>
          <a:xfrm>
            <a:off x="4404476" y="3301596"/>
            <a:ext cx="6360084" cy="10211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= </a:t>
            </a:r>
            <a:r>
              <a:rPr lang="en-US" noProof="0" dirty="0" err="1">
                <a:solidFill>
                  <a:srgbClr val="795E26"/>
                </a:solidFill>
                <a:latin typeface="Fira Code" panose="020B0809050000020004" pitchFamily="49" charset="0"/>
              </a:rPr>
              <a:t>init</a:t>
            </a:r>
            <a:r>
              <a:rPr lang="en-US" noProof="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noProof="0" dirty="0">
                <a:solidFill>
                  <a:srgbClr val="001080"/>
                </a:solidFill>
                <a:latin typeface="Fira Code" panose="020B0809050000020004" pitchFamily="49" charset="0"/>
              </a:rPr>
              <a:t>index</a:t>
            </a:r>
            <a:r>
              <a:rPr lang="en-US" noProof="0" dirty="0">
                <a:solidFill>
                  <a:srgbClr val="000000"/>
                </a:solidFill>
                <a:latin typeface="Fira Code" panose="020B0809050000020004" pitchFamily="49" charset="0"/>
              </a:rPr>
              <a:t>)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C4F588-E815-2009-D7D4-CEEBC4F6F689}"/>
              </a:ext>
            </a:extLst>
          </p:cNvPr>
          <p:cNvSpPr txBox="1"/>
          <p:nvPr/>
        </p:nvSpPr>
        <p:spPr>
          <a:xfrm>
            <a:off x="1834968" y="5115191"/>
            <a:ext cx="8314174" cy="10211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other_matrix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other_matrix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= 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E25FAF-908F-ADFC-EA60-8D5079C1FE63}"/>
              </a:ext>
            </a:extLst>
          </p:cNvPr>
          <p:cNvSpPr txBox="1"/>
          <p:nvPr/>
        </p:nvSpPr>
        <p:spPr>
          <a:xfrm>
            <a:off x="1225416" y="2099095"/>
            <a:ext cx="4979939" cy="10211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800" b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for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800" b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800" b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0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&lt; </a:t>
            </a:r>
            <a:r>
              <a:rPr lang="en-US" sz="1800" b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800" b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for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800" b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int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800" b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0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&lt; </a:t>
            </a:r>
            <a:r>
              <a:rPr lang="en-US" sz="1800" b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N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++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matrix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][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= </a:t>
            </a:r>
            <a:r>
              <a:rPr lang="en-US" sz="1800" b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init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8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8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8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6FA6C2DA-116A-0990-5A9C-C4ED04CDF7EE}"/>
              </a:ext>
            </a:extLst>
          </p:cNvPr>
          <p:cNvCxnSpPr>
            <a:cxnSpLocks/>
            <a:stCxn id="3" idx="3"/>
            <a:endCxn id="12" idx="0"/>
          </p:cNvCxnSpPr>
          <p:nvPr/>
        </p:nvCxnSpPr>
        <p:spPr>
          <a:xfrm>
            <a:off x="6205355" y="2609684"/>
            <a:ext cx="1379163" cy="691912"/>
          </a:xfrm>
          <a:prstGeom prst="curved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6E8472AC-FEB4-52AC-768E-9B4F4BF600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D1638-F548-41E6-A67D-BF07DFBF459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FB3787D6-BBAD-D3FC-81F8-5BEACD008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6</a:t>
            </a:fld>
            <a:endParaRPr lang="en-US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A86E85-8E7C-683C-C244-2344EE805A9E}"/>
              </a:ext>
            </a:extLst>
          </p:cNvPr>
          <p:cNvSpPr txBox="1"/>
          <p:nvPr/>
        </p:nvSpPr>
        <p:spPr>
          <a:xfrm>
            <a:off x="2690771" y="1726004"/>
            <a:ext cx="17812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noProof="0" dirty="0"/>
              <a:t>Matrix initialize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C42510-7505-8080-DACA-010297680AE7}"/>
              </a:ext>
            </a:extLst>
          </p:cNvPr>
          <p:cNvSpPr txBox="1"/>
          <p:nvPr/>
        </p:nvSpPr>
        <p:spPr>
          <a:xfrm>
            <a:off x="3161496" y="4745859"/>
            <a:ext cx="55514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noProof="0" dirty="0"/>
              <a:t>Copy</a:t>
            </a:r>
            <a:r>
              <a:rPr lang="en-US" noProof="0" dirty="0"/>
              <a:t> to another matrix with the same logical structure</a:t>
            </a:r>
          </a:p>
        </p:txBody>
      </p:sp>
    </p:spTree>
    <p:extLst>
      <p:ext uri="{BB962C8B-B14F-4D97-AF65-F5344CB8AC3E}">
        <p14:creationId xmlns:p14="http://schemas.microsoft.com/office/powerpoint/2010/main" val="19124478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9C270-FFE7-712F-BA5B-C713C51D9A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64F76FB-E9C4-9A8F-8092-29CA73FEA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Structures with different index spaces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49863BA9-EDD3-9BC6-2F2C-63F2D4A2C9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D1638-F548-41E6-A67D-BF07DFBF459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932224D-9ADE-83F1-8417-D5C309A6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7</a:t>
            </a:fld>
            <a:endParaRPr lang="en-US" noProof="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EAF68D-4F87-22EE-E382-0F9F7359D649}"/>
              </a:ext>
            </a:extLst>
          </p:cNvPr>
          <p:cNvSpPr txBox="1"/>
          <p:nvPr/>
        </p:nvSpPr>
        <p:spPr>
          <a:xfrm>
            <a:off x="2738492" y="1701592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Matrix multiply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0BC665-A3D5-7187-98DA-94BA7091C22C}"/>
              </a:ext>
            </a:extLst>
          </p:cNvPr>
          <p:cNvSpPr txBox="1"/>
          <p:nvPr/>
        </p:nvSpPr>
        <p:spPr>
          <a:xfrm>
            <a:off x="6556239" y="2392674"/>
            <a:ext cx="5255085" cy="11960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</a:pPr>
            <a:r>
              <a:rPr lang="en-US" sz="1600" dirty="0">
                <a:solidFill>
                  <a:srgbClr val="AF00DB"/>
                </a:solidFill>
                <a:latin typeface="Fira Code" panose="020B08090500000200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Fira Code" panose="020B08090500000200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dirty="0">
                <a:solidFill>
                  <a:srgbClr val="098658"/>
                </a:solidFill>
                <a:latin typeface="Fira Code" panose="020B0809050000020004" pitchFamily="49" charset="0"/>
              </a:rPr>
              <a:t>0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 &lt; </a:t>
            </a:r>
            <a:r>
              <a:rPr lang="en-US" sz="1600" dirty="0">
                <a:solidFill>
                  <a:srgbClr val="0070C1"/>
                </a:solidFill>
                <a:latin typeface="Fira Code" panose="020B0809050000020004" pitchFamily="49" charset="0"/>
              </a:rPr>
              <a:t>N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; </a:t>
            </a:r>
            <a:r>
              <a:rPr lang="en-US" sz="1600" dirty="0" err="1">
                <a:solidFill>
                  <a:srgbClr val="001080"/>
                </a:solidFill>
                <a:latin typeface="Fira Code" panose="020B0809050000020004" pitchFamily="49" charset="0"/>
              </a:rPr>
              <a:t>j</a:t>
            </a:r>
            <a:r>
              <a:rPr lang="en-US" sz="1600" dirty="0" err="1">
                <a:solidFill>
                  <a:srgbClr val="000000"/>
                </a:solidFill>
                <a:latin typeface="Fira Code" panose="020B0809050000020004" pitchFamily="49" charset="0"/>
              </a:rPr>
              <a:t>++</a:t>
            </a: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    for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&lt; </a:t>
            </a:r>
            <a:r>
              <a:rPr lang="en-US" sz="1600" b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</a:t>
            </a:r>
            <a:r>
              <a:rPr lang="en-US" sz="1600" b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0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&lt; </a:t>
            </a:r>
            <a:r>
              <a:rPr lang="en-US" sz="1600" b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++)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][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+=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][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* 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][</a:t>
            </a:r>
            <a:r>
              <a:rPr lang="en-US" sz="1600" b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j</a:t>
            </a:r>
            <a:r>
              <a:rPr lang="en-US" sz="1600" b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0C66B5-9423-3452-6328-121A7C389203}"/>
              </a:ext>
            </a:extLst>
          </p:cNvPr>
          <p:cNvSpPr/>
          <p:nvPr/>
        </p:nvSpPr>
        <p:spPr>
          <a:xfrm>
            <a:off x="8368825" y="4836317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E5347DA-3F5A-6C6C-F424-88F41C72727D}"/>
              </a:ext>
            </a:extLst>
          </p:cNvPr>
          <p:cNvSpPr/>
          <p:nvPr/>
        </p:nvSpPr>
        <p:spPr>
          <a:xfrm>
            <a:off x="8368825" y="4565302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BB2AD3C-93CE-6E6C-6024-6CF36DA40579}"/>
              </a:ext>
            </a:extLst>
          </p:cNvPr>
          <p:cNvSpPr/>
          <p:nvPr/>
        </p:nvSpPr>
        <p:spPr>
          <a:xfrm>
            <a:off x="8368824" y="4273558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2F7AA6-5F7F-99DE-465E-A4472E5548CB}"/>
              </a:ext>
            </a:extLst>
          </p:cNvPr>
          <p:cNvSpPr txBox="1"/>
          <p:nvPr/>
        </p:nvSpPr>
        <p:spPr>
          <a:xfrm>
            <a:off x="3603601" y="4189207"/>
            <a:ext cx="7115199" cy="20307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bag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scalar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float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&gt;() ^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vectors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k'</a:t>
            </a:r>
            <a:r>
              <a:rPr lang="en-US" sz="1600" b="0" noProof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M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));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bag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scalar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float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&gt;() ^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vectors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n'</a:t>
            </a:r>
            <a:r>
              <a:rPr lang="en-US" sz="1600" b="0" noProof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'k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N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K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));</a:t>
            </a:r>
          </a:p>
          <a:p>
            <a:pPr>
              <a:lnSpc>
                <a:spcPct val="113095"/>
              </a:lnSpc>
            </a:pPr>
            <a:r>
              <a:rPr lang="en-US" sz="16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auto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C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= </a:t>
            </a:r>
            <a:r>
              <a:rPr lang="en-US" sz="1600" noProof="0" dirty="0">
                <a:solidFill>
                  <a:srgbClr val="795E26"/>
                </a:solidFill>
                <a:latin typeface="Fira Code" panose="020B0809050000020004" pitchFamily="49" charset="0"/>
              </a:rPr>
              <a:t>bag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scalar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0000FF"/>
                </a:solidFill>
                <a:latin typeface="Fira Code" panose="020B0809050000020004" pitchFamily="49" charset="0"/>
              </a:rPr>
              <a:t>float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&gt;() ^ </a:t>
            </a:r>
            <a:r>
              <a:rPr lang="en-US" sz="1600" noProof="0" dirty="0">
                <a:solidFill>
                  <a:srgbClr val="795E26"/>
                </a:solidFill>
                <a:latin typeface="Fira Code" panose="020B0809050000020004" pitchFamily="49" charset="0"/>
              </a:rPr>
              <a:t>vectors</a:t>
            </a:r>
            <a:r>
              <a:rPr lang="en-US" sz="400" noProof="0" dirty="0">
                <a:solidFill>
                  <a:srgbClr val="795E26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n'</a:t>
            </a:r>
            <a:r>
              <a:rPr lang="en-US" sz="1600" noProof="0" dirty="0" err="1">
                <a:solidFill>
                  <a:srgbClr val="000000"/>
                </a:solidFill>
                <a:latin typeface="Fira Code" panose="020B0809050000020004" pitchFamily="49" charset="0"/>
              </a:rPr>
              <a:t>,</a:t>
            </a:r>
            <a:r>
              <a:rPr lang="en-US" sz="1600" noProof="0" dirty="0" err="1">
                <a:solidFill>
                  <a:srgbClr val="A31515"/>
                </a:solidFill>
                <a:latin typeface="Fira Code" panose="020B0809050000020004" pitchFamily="49" charset="0"/>
              </a:rPr>
              <a:t>'m</a:t>
            </a:r>
            <a:r>
              <a:rPr lang="en-US" sz="1600" noProof="0" dirty="0">
                <a:solidFill>
                  <a:srgbClr val="A31515"/>
                </a:solidFill>
                <a:latin typeface="Fira Code" panose="020B0809050000020004" pitchFamily="49" charset="0"/>
              </a:rPr>
              <a:t>'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</a:t>
            </a:r>
            <a:r>
              <a:rPr lang="en-US" sz="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N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sz="16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M</a:t>
            </a:r>
            <a:r>
              <a:rPr lang="en-US" sz="16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));</a:t>
            </a:r>
          </a:p>
          <a:p>
            <a:pPr>
              <a:lnSpc>
                <a:spcPct val="113095"/>
              </a:lnSpc>
              <a:buNone/>
            </a:pPr>
            <a:endParaRPr lang="en-US" sz="1600" b="0" noProof="0" dirty="0">
              <a:solidFill>
                <a:srgbClr val="000000"/>
              </a:solidFill>
              <a:effectLst/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+=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*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F2AFE62-17DB-A9EC-26C5-71728919926D}"/>
              </a:ext>
            </a:extLst>
          </p:cNvPr>
          <p:cNvSpPr/>
          <p:nvPr/>
        </p:nvSpPr>
        <p:spPr>
          <a:xfrm>
            <a:off x="4755888" y="4230666"/>
            <a:ext cx="5761997" cy="864020"/>
          </a:xfrm>
          <a:prstGeom prst="rect">
            <a:avLst/>
          </a:prstGeom>
          <a:solidFill>
            <a:srgbClr val="FFFFFF">
              <a:alpha val="3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Left Brace 26">
            <a:extLst>
              <a:ext uri="{FF2B5EF4-FFF2-40B4-BE49-F238E27FC236}">
                <a16:creationId xmlns:a16="http://schemas.microsoft.com/office/drawing/2014/main" id="{7F2480A4-F85D-835C-D9CF-78D5AEA6691A}"/>
              </a:ext>
            </a:extLst>
          </p:cNvPr>
          <p:cNvSpPr/>
          <p:nvPr/>
        </p:nvSpPr>
        <p:spPr>
          <a:xfrm>
            <a:off x="6934647" y="2736790"/>
            <a:ext cx="145474" cy="44767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E370899-1C65-D83C-089B-CAEE925683F6}"/>
              </a:ext>
            </a:extLst>
          </p:cNvPr>
          <p:cNvSpPr txBox="1"/>
          <p:nvPr/>
        </p:nvSpPr>
        <p:spPr>
          <a:xfrm>
            <a:off x="6626549" y="2791350"/>
            <a:ext cx="308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A</a:t>
            </a:r>
          </a:p>
        </p:txBody>
      </p:sp>
      <p:sp>
        <p:nvSpPr>
          <p:cNvPr id="30" name="Left Brace 29">
            <a:extLst>
              <a:ext uri="{FF2B5EF4-FFF2-40B4-BE49-F238E27FC236}">
                <a16:creationId xmlns:a16="http://schemas.microsoft.com/office/drawing/2014/main" id="{AEF9BC57-EA20-B17F-B5CA-7C288124FACF}"/>
              </a:ext>
            </a:extLst>
          </p:cNvPr>
          <p:cNvSpPr/>
          <p:nvPr/>
        </p:nvSpPr>
        <p:spPr>
          <a:xfrm>
            <a:off x="6324307" y="2421066"/>
            <a:ext cx="145474" cy="29289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2F7957-9487-6F32-7082-9BD1A9389590}"/>
              </a:ext>
            </a:extLst>
          </p:cNvPr>
          <p:cNvSpPr txBox="1"/>
          <p:nvPr/>
        </p:nvSpPr>
        <p:spPr>
          <a:xfrm>
            <a:off x="6016209" y="2398236"/>
            <a:ext cx="3080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>
                <a:solidFill>
                  <a:srgbClr val="001080"/>
                </a:solidFill>
                <a:latin typeface="Fira Code" panose="020B0809050000020004" pitchFamily="49" charset="0"/>
              </a:rPr>
              <a:t>B</a:t>
            </a:r>
          </a:p>
        </p:txBody>
      </p: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55E44A02-900A-CE23-2B9A-A1AC40B14A06}"/>
              </a:ext>
            </a:extLst>
          </p:cNvPr>
          <p:cNvGrpSpPr/>
          <p:nvPr/>
        </p:nvGrpSpPr>
        <p:grpSpPr>
          <a:xfrm>
            <a:off x="1518373" y="2029939"/>
            <a:ext cx="3983136" cy="1752403"/>
            <a:chOff x="1126336" y="1862333"/>
            <a:chExt cx="3983136" cy="1752403"/>
          </a:xfrm>
        </p:grpSpPr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2162B464-D86A-47B9-02C3-76C1BCAF74E6}"/>
                </a:ext>
              </a:extLst>
            </p:cNvPr>
            <p:cNvSpPr/>
            <p:nvPr/>
          </p:nvSpPr>
          <p:spPr>
            <a:xfrm>
              <a:off x="1174826" y="1909733"/>
              <a:ext cx="3934646" cy="1705003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80" name="Group 179">
              <a:extLst>
                <a:ext uri="{FF2B5EF4-FFF2-40B4-BE49-F238E27FC236}">
                  <a16:creationId xmlns:a16="http://schemas.microsoft.com/office/drawing/2014/main" id="{6C8158FA-BF04-B836-6345-E003D8A64948}"/>
                </a:ext>
              </a:extLst>
            </p:cNvPr>
            <p:cNvGrpSpPr/>
            <p:nvPr/>
          </p:nvGrpSpPr>
          <p:grpSpPr>
            <a:xfrm>
              <a:off x="1126336" y="1862333"/>
              <a:ext cx="3935834" cy="1703254"/>
              <a:chOff x="65016" y="1664560"/>
              <a:chExt cx="5368435" cy="2323220"/>
            </a:xfrm>
          </p:grpSpPr>
          <p:grpSp>
            <p:nvGrpSpPr>
              <p:cNvPr id="159" name="Group 158">
                <a:extLst>
                  <a:ext uri="{FF2B5EF4-FFF2-40B4-BE49-F238E27FC236}">
                    <a16:creationId xmlns:a16="http://schemas.microsoft.com/office/drawing/2014/main" id="{414EBBB8-234A-574C-E129-278C9228AE06}"/>
                  </a:ext>
                </a:extLst>
              </p:cNvPr>
              <p:cNvGrpSpPr/>
              <p:nvPr/>
            </p:nvGrpSpPr>
            <p:grpSpPr>
              <a:xfrm>
                <a:off x="1986005" y="2286000"/>
                <a:ext cx="1524000" cy="1143000"/>
                <a:chOff x="1485283" y="2286000"/>
                <a:chExt cx="1524000" cy="1143000"/>
              </a:xfrm>
            </p:grpSpPr>
            <p:sp>
              <p:nvSpPr>
                <p:cNvPr id="79" name="Rectangle 78">
                  <a:extLst>
                    <a:ext uri="{FF2B5EF4-FFF2-40B4-BE49-F238E27FC236}">
                      <a16:creationId xmlns:a16="http://schemas.microsoft.com/office/drawing/2014/main" id="{50079027-377A-0D56-8EED-00C46E3359ED}"/>
                    </a:ext>
                  </a:extLst>
                </p:cNvPr>
                <p:cNvSpPr/>
                <p:nvPr/>
              </p:nvSpPr>
              <p:spPr>
                <a:xfrm>
                  <a:off x="1485283" y="2286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81" name="Rectangle 80">
                  <a:extLst>
                    <a:ext uri="{FF2B5EF4-FFF2-40B4-BE49-F238E27FC236}">
                      <a16:creationId xmlns:a16="http://schemas.microsoft.com/office/drawing/2014/main" id="{C341F50F-8363-1E45-8923-E81E0F5B31C2}"/>
                    </a:ext>
                  </a:extLst>
                </p:cNvPr>
                <p:cNvSpPr/>
                <p:nvPr/>
              </p:nvSpPr>
              <p:spPr>
                <a:xfrm>
                  <a:off x="1866283" y="2286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3" name="Rectangle 82">
                  <a:extLst>
                    <a:ext uri="{FF2B5EF4-FFF2-40B4-BE49-F238E27FC236}">
                      <a16:creationId xmlns:a16="http://schemas.microsoft.com/office/drawing/2014/main" id="{889C340E-7178-DC8E-7370-24941D202A24}"/>
                    </a:ext>
                  </a:extLst>
                </p:cNvPr>
                <p:cNvSpPr/>
                <p:nvPr/>
              </p:nvSpPr>
              <p:spPr>
                <a:xfrm>
                  <a:off x="2247283" y="2286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5" name="Rectangle 84">
                  <a:extLst>
                    <a:ext uri="{FF2B5EF4-FFF2-40B4-BE49-F238E27FC236}">
                      <a16:creationId xmlns:a16="http://schemas.microsoft.com/office/drawing/2014/main" id="{A2295BDB-D0D2-2060-2DE1-A027439DF75B}"/>
                    </a:ext>
                  </a:extLst>
                </p:cNvPr>
                <p:cNvSpPr/>
                <p:nvPr/>
              </p:nvSpPr>
              <p:spPr>
                <a:xfrm>
                  <a:off x="2628283" y="2286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7" name="Rectangle 86">
                  <a:extLst>
                    <a:ext uri="{FF2B5EF4-FFF2-40B4-BE49-F238E27FC236}">
                      <a16:creationId xmlns:a16="http://schemas.microsoft.com/office/drawing/2014/main" id="{684EBD2F-A037-CFF5-7635-EBB7B7DB1CD4}"/>
                    </a:ext>
                  </a:extLst>
                </p:cNvPr>
                <p:cNvSpPr/>
                <p:nvPr/>
              </p:nvSpPr>
              <p:spPr>
                <a:xfrm>
                  <a:off x="1485283" y="2667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89" name="Rectangle 88">
                  <a:extLst>
                    <a:ext uri="{FF2B5EF4-FFF2-40B4-BE49-F238E27FC236}">
                      <a16:creationId xmlns:a16="http://schemas.microsoft.com/office/drawing/2014/main" id="{F7058789-0C71-4093-964C-065E9DAA1B5F}"/>
                    </a:ext>
                  </a:extLst>
                </p:cNvPr>
                <p:cNvSpPr/>
                <p:nvPr/>
              </p:nvSpPr>
              <p:spPr>
                <a:xfrm>
                  <a:off x="1866283" y="2667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91" name="Rectangle 90">
                  <a:extLst>
                    <a:ext uri="{FF2B5EF4-FFF2-40B4-BE49-F238E27FC236}">
                      <a16:creationId xmlns:a16="http://schemas.microsoft.com/office/drawing/2014/main" id="{6EA4D36E-18DE-0BCE-A502-A7D295509793}"/>
                    </a:ext>
                  </a:extLst>
                </p:cNvPr>
                <p:cNvSpPr/>
                <p:nvPr/>
              </p:nvSpPr>
              <p:spPr>
                <a:xfrm>
                  <a:off x="2247283" y="2667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93" name="Rectangle 92">
                  <a:extLst>
                    <a:ext uri="{FF2B5EF4-FFF2-40B4-BE49-F238E27FC236}">
                      <a16:creationId xmlns:a16="http://schemas.microsoft.com/office/drawing/2014/main" id="{DDB0F9C4-12F3-C24D-F5AD-2DA2D3F86912}"/>
                    </a:ext>
                  </a:extLst>
                </p:cNvPr>
                <p:cNvSpPr/>
                <p:nvPr/>
              </p:nvSpPr>
              <p:spPr>
                <a:xfrm>
                  <a:off x="2628283" y="2667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95" name="Rectangle 94">
                  <a:extLst>
                    <a:ext uri="{FF2B5EF4-FFF2-40B4-BE49-F238E27FC236}">
                      <a16:creationId xmlns:a16="http://schemas.microsoft.com/office/drawing/2014/main" id="{D4DD1CD8-2470-7487-2E6E-F817302558F9}"/>
                    </a:ext>
                  </a:extLst>
                </p:cNvPr>
                <p:cNvSpPr/>
                <p:nvPr/>
              </p:nvSpPr>
              <p:spPr>
                <a:xfrm>
                  <a:off x="1485283" y="3048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36F0AF8A-2C80-C539-F256-FB33FA65DEA6}"/>
                    </a:ext>
                  </a:extLst>
                </p:cNvPr>
                <p:cNvSpPr/>
                <p:nvPr/>
              </p:nvSpPr>
              <p:spPr>
                <a:xfrm>
                  <a:off x="1866283" y="3048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99" name="Rectangle 98">
                  <a:extLst>
                    <a:ext uri="{FF2B5EF4-FFF2-40B4-BE49-F238E27FC236}">
                      <a16:creationId xmlns:a16="http://schemas.microsoft.com/office/drawing/2014/main" id="{DF403CFD-DEA2-D2C9-0991-1EFCB8947EC3}"/>
                    </a:ext>
                  </a:extLst>
                </p:cNvPr>
                <p:cNvSpPr/>
                <p:nvPr/>
              </p:nvSpPr>
              <p:spPr>
                <a:xfrm>
                  <a:off x="2247283" y="3048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1" name="Rectangle 100">
                  <a:extLst>
                    <a:ext uri="{FF2B5EF4-FFF2-40B4-BE49-F238E27FC236}">
                      <a16:creationId xmlns:a16="http://schemas.microsoft.com/office/drawing/2014/main" id="{DF46E15B-473F-7866-7C35-B6501FF8CAE6}"/>
                    </a:ext>
                  </a:extLst>
                </p:cNvPr>
                <p:cNvSpPr/>
                <p:nvPr/>
              </p:nvSpPr>
              <p:spPr>
                <a:xfrm>
                  <a:off x="2628283" y="3048000"/>
                  <a:ext cx="381000" cy="381000"/>
                </a:xfrm>
                <a:prstGeom prst="rect">
                  <a:avLst/>
                </a:prstGeom>
                <a:solidFill>
                  <a:srgbClr val="F8CECC"/>
                </a:solidFill>
                <a:ln w="9525" cap="flat">
                  <a:solidFill>
                    <a:srgbClr val="B85450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60" name="Group 159">
                <a:extLst>
                  <a:ext uri="{FF2B5EF4-FFF2-40B4-BE49-F238E27FC236}">
                    <a16:creationId xmlns:a16="http://schemas.microsoft.com/office/drawing/2014/main" id="{985BB3A7-1EBB-ACBF-0F3A-66F8C8BF504B}"/>
                  </a:ext>
                </a:extLst>
              </p:cNvPr>
              <p:cNvGrpSpPr/>
              <p:nvPr/>
            </p:nvGrpSpPr>
            <p:grpSpPr>
              <a:xfrm>
                <a:off x="507500" y="2097603"/>
                <a:ext cx="1143000" cy="1524000"/>
                <a:chOff x="151783" y="2071688"/>
                <a:chExt cx="1143000" cy="1524000"/>
              </a:xfrm>
            </p:grpSpPr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57D7E4B5-4F4E-61EB-9917-FA056266081A}"/>
                    </a:ext>
                  </a:extLst>
                </p:cNvPr>
                <p:cNvSpPr/>
                <p:nvPr/>
              </p:nvSpPr>
              <p:spPr>
                <a:xfrm>
                  <a:off x="151783" y="2071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5" name="Rectangle 104">
                  <a:extLst>
                    <a:ext uri="{FF2B5EF4-FFF2-40B4-BE49-F238E27FC236}">
                      <a16:creationId xmlns:a16="http://schemas.microsoft.com/office/drawing/2014/main" id="{7D00D5EA-0890-B00D-950A-65D287102D6E}"/>
                    </a:ext>
                  </a:extLst>
                </p:cNvPr>
                <p:cNvSpPr/>
                <p:nvPr/>
              </p:nvSpPr>
              <p:spPr>
                <a:xfrm>
                  <a:off x="532783" y="2071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7" name="Rectangle 106">
                  <a:extLst>
                    <a:ext uri="{FF2B5EF4-FFF2-40B4-BE49-F238E27FC236}">
                      <a16:creationId xmlns:a16="http://schemas.microsoft.com/office/drawing/2014/main" id="{E0F57E46-66C8-7625-7F07-D56FDB9F482A}"/>
                    </a:ext>
                  </a:extLst>
                </p:cNvPr>
                <p:cNvSpPr/>
                <p:nvPr/>
              </p:nvSpPr>
              <p:spPr>
                <a:xfrm>
                  <a:off x="913783" y="2071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09" name="Rectangle 108">
                  <a:extLst>
                    <a:ext uri="{FF2B5EF4-FFF2-40B4-BE49-F238E27FC236}">
                      <a16:creationId xmlns:a16="http://schemas.microsoft.com/office/drawing/2014/main" id="{CB1BEEBA-CE4B-423A-DC35-65C4358F6391}"/>
                    </a:ext>
                  </a:extLst>
                </p:cNvPr>
                <p:cNvSpPr/>
                <p:nvPr/>
              </p:nvSpPr>
              <p:spPr>
                <a:xfrm>
                  <a:off x="151783" y="2452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1" name="Rectangle 110">
                  <a:extLst>
                    <a:ext uri="{FF2B5EF4-FFF2-40B4-BE49-F238E27FC236}">
                      <a16:creationId xmlns:a16="http://schemas.microsoft.com/office/drawing/2014/main" id="{FC11DB9F-16D5-1A9C-AEDB-D1E85ED32A85}"/>
                    </a:ext>
                  </a:extLst>
                </p:cNvPr>
                <p:cNvSpPr/>
                <p:nvPr/>
              </p:nvSpPr>
              <p:spPr>
                <a:xfrm>
                  <a:off x="532783" y="2452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3" name="Rectangle 112">
                  <a:extLst>
                    <a:ext uri="{FF2B5EF4-FFF2-40B4-BE49-F238E27FC236}">
                      <a16:creationId xmlns:a16="http://schemas.microsoft.com/office/drawing/2014/main" id="{150D4BBF-8286-2145-EB28-1DB5276D1C81}"/>
                    </a:ext>
                  </a:extLst>
                </p:cNvPr>
                <p:cNvSpPr/>
                <p:nvPr/>
              </p:nvSpPr>
              <p:spPr>
                <a:xfrm>
                  <a:off x="913783" y="2452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5" name="Rectangle 114">
                  <a:extLst>
                    <a:ext uri="{FF2B5EF4-FFF2-40B4-BE49-F238E27FC236}">
                      <a16:creationId xmlns:a16="http://schemas.microsoft.com/office/drawing/2014/main" id="{CABABF41-024D-E218-43D9-15A612557742}"/>
                    </a:ext>
                  </a:extLst>
                </p:cNvPr>
                <p:cNvSpPr/>
                <p:nvPr/>
              </p:nvSpPr>
              <p:spPr>
                <a:xfrm>
                  <a:off x="151783" y="2833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7" name="Rectangle 116">
                  <a:extLst>
                    <a:ext uri="{FF2B5EF4-FFF2-40B4-BE49-F238E27FC236}">
                      <a16:creationId xmlns:a16="http://schemas.microsoft.com/office/drawing/2014/main" id="{4E551831-EF2C-9D97-1E36-5333A86D2994}"/>
                    </a:ext>
                  </a:extLst>
                </p:cNvPr>
                <p:cNvSpPr/>
                <p:nvPr/>
              </p:nvSpPr>
              <p:spPr>
                <a:xfrm>
                  <a:off x="151783" y="3214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19" name="Rectangle 118">
                  <a:extLst>
                    <a:ext uri="{FF2B5EF4-FFF2-40B4-BE49-F238E27FC236}">
                      <a16:creationId xmlns:a16="http://schemas.microsoft.com/office/drawing/2014/main" id="{ABD50DB8-D34E-32E9-165E-DB5A4DE1EBBA}"/>
                    </a:ext>
                  </a:extLst>
                </p:cNvPr>
                <p:cNvSpPr/>
                <p:nvPr/>
              </p:nvSpPr>
              <p:spPr>
                <a:xfrm>
                  <a:off x="532783" y="2833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1" name="Rectangle 120">
                  <a:extLst>
                    <a:ext uri="{FF2B5EF4-FFF2-40B4-BE49-F238E27FC236}">
                      <a16:creationId xmlns:a16="http://schemas.microsoft.com/office/drawing/2014/main" id="{EB23B9EF-93AB-59F4-6741-F58E04BDF7F4}"/>
                    </a:ext>
                  </a:extLst>
                </p:cNvPr>
                <p:cNvSpPr/>
                <p:nvPr/>
              </p:nvSpPr>
              <p:spPr>
                <a:xfrm>
                  <a:off x="532783" y="3214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3" name="Rectangle 122">
                  <a:extLst>
                    <a:ext uri="{FF2B5EF4-FFF2-40B4-BE49-F238E27FC236}">
                      <a16:creationId xmlns:a16="http://schemas.microsoft.com/office/drawing/2014/main" id="{2D4A02CE-3199-AD33-A49A-DD114B9C4BE3}"/>
                    </a:ext>
                  </a:extLst>
                </p:cNvPr>
                <p:cNvSpPr/>
                <p:nvPr/>
              </p:nvSpPr>
              <p:spPr>
                <a:xfrm>
                  <a:off x="913783" y="2833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5" name="Rectangle 124">
                  <a:extLst>
                    <a:ext uri="{FF2B5EF4-FFF2-40B4-BE49-F238E27FC236}">
                      <a16:creationId xmlns:a16="http://schemas.microsoft.com/office/drawing/2014/main" id="{3027EB25-5F10-774C-5DA6-3DCFE9CABA29}"/>
                    </a:ext>
                  </a:extLst>
                </p:cNvPr>
                <p:cNvSpPr/>
                <p:nvPr/>
              </p:nvSpPr>
              <p:spPr>
                <a:xfrm>
                  <a:off x="913783" y="3214688"/>
                  <a:ext cx="381000" cy="381000"/>
                </a:xfrm>
                <a:prstGeom prst="rect">
                  <a:avLst/>
                </a:prstGeom>
                <a:solidFill>
                  <a:srgbClr val="D5E8D4"/>
                </a:solidFill>
                <a:ln w="9525" cap="flat">
                  <a:solidFill>
                    <a:srgbClr val="82B366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p:grpSp>
            <p:nvGrpSpPr>
              <p:cNvPr id="158" name="Group 157">
                <a:extLst>
                  <a:ext uri="{FF2B5EF4-FFF2-40B4-BE49-F238E27FC236}">
                    <a16:creationId xmlns:a16="http://schemas.microsoft.com/office/drawing/2014/main" id="{DA00805D-D712-2AF1-DE04-6B29E73230A2}"/>
                  </a:ext>
                </a:extLst>
              </p:cNvPr>
              <p:cNvGrpSpPr/>
              <p:nvPr/>
            </p:nvGrpSpPr>
            <p:grpSpPr>
              <a:xfrm>
                <a:off x="3909451" y="2095500"/>
                <a:ext cx="1524000" cy="1524000"/>
                <a:chOff x="3107359" y="2145800"/>
                <a:chExt cx="1524000" cy="1524000"/>
              </a:xfrm>
            </p:grpSpPr>
            <p:sp>
              <p:nvSpPr>
                <p:cNvPr id="127" name="Rectangle 126">
                  <a:extLst>
                    <a:ext uri="{FF2B5EF4-FFF2-40B4-BE49-F238E27FC236}">
                      <a16:creationId xmlns:a16="http://schemas.microsoft.com/office/drawing/2014/main" id="{A42A4767-E46E-410D-7A3A-EDEDAE64E15E}"/>
                    </a:ext>
                  </a:extLst>
                </p:cNvPr>
                <p:cNvSpPr/>
                <p:nvPr/>
              </p:nvSpPr>
              <p:spPr>
                <a:xfrm>
                  <a:off x="3107359" y="2145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29" name="Rectangle 128">
                  <a:extLst>
                    <a:ext uri="{FF2B5EF4-FFF2-40B4-BE49-F238E27FC236}">
                      <a16:creationId xmlns:a16="http://schemas.microsoft.com/office/drawing/2014/main" id="{160F0266-E94D-2642-41A9-CB48AF596432}"/>
                    </a:ext>
                  </a:extLst>
                </p:cNvPr>
                <p:cNvSpPr/>
                <p:nvPr/>
              </p:nvSpPr>
              <p:spPr>
                <a:xfrm>
                  <a:off x="3488359" y="2145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1" name="Rectangle 130">
                  <a:extLst>
                    <a:ext uri="{FF2B5EF4-FFF2-40B4-BE49-F238E27FC236}">
                      <a16:creationId xmlns:a16="http://schemas.microsoft.com/office/drawing/2014/main" id="{58CC5973-248F-307A-6EAB-E779182293B7}"/>
                    </a:ext>
                  </a:extLst>
                </p:cNvPr>
                <p:cNvSpPr/>
                <p:nvPr/>
              </p:nvSpPr>
              <p:spPr>
                <a:xfrm>
                  <a:off x="3869359" y="2145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3" name="Rectangle 132">
                  <a:extLst>
                    <a:ext uri="{FF2B5EF4-FFF2-40B4-BE49-F238E27FC236}">
                      <a16:creationId xmlns:a16="http://schemas.microsoft.com/office/drawing/2014/main" id="{E9DCEC46-4D53-95F6-587B-C239E9203FD2}"/>
                    </a:ext>
                  </a:extLst>
                </p:cNvPr>
                <p:cNvSpPr/>
                <p:nvPr/>
              </p:nvSpPr>
              <p:spPr>
                <a:xfrm>
                  <a:off x="4250359" y="2145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5" name="Rectangle 134">
                  <a:extLst>
                    <a:ext uri="{FF2B5EF4-FFF2-40B4-BE49-F238E27FC236}">
                      <a16:creationId xmlns:a16="http://schemas.microsoft.com/office/drawing/2014/main" id="{8A4F7006-7017-5729-F662-5CEC492194FF}"/>
                    </a:ext>
                  </a:extLst>
                </p:cNvPr>
                <p:cNvSpPr/>
                <p:nvPr/>
              </p:nvSpPr>
              <p:spPr>
                <a:xfrm>
                  <a:off x="3107359" y="2526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7" name="Rectangle 136">
                  <a:extLst>
                    <a:ext uri="{FF2B5EF4-FFF2-40B4-BE49-F238E27FC236}">
                      <a16:creationId xmlns:a16="http://schemas.microsoft.com/office/drawing/2014/main" id="{9F07D89A-107F-794A-53D4-0AF9B343B51B}"/>
                    </a:ext>
                  </a:extLst>
                </p:cNvPr>
                <p:cNvSpPr/>
                <p:nvPr/>
              </p:nvSpPr>
              <p:spPr>
                <a:xfrm>
                  <a:off x="3488359" y="2526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39" name="Rectangle 138">
                  <a:extLst>
                    <a:ext uri="{FF2B5EF4-FFF2-40B4-BE49-F238E27FC236}">
                      <a16:creationId xmlns:a16="http://schemas.microsoft.com/office/drawing/2014/main" id="{C8B2D771-DD1B-2C65-1A70-9DD9A4910371}"/>
                    </a:ext>
                  </a:extLst>
                </p:cNvPr>
                <p:cNvSpPr/>
                <p:nvPr/>
              </p:nvSpPr>
              <p:spPr>
                <a:xfrm>
                  <a:off x="3869359" y="2526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1" name="Rectangle 140">
                  <a:extLst>
                    <a:ext uri="{FF2B5EF4-FFF2-40B4-BE49-F238E27FC236}">
                      <a16:creationId xmlns:a16="http://schemas.microsoft.com/office/drawing/2014/main" id="{A809B9A5-B3C1-3AB0-59A8-4C2DEE1A2E8E}"/>
                    </a:ext>
                  </a:extLst>
                </p:cNvPr>
                <p:cNvSpPr/>
                <p:nvPr/>
              </p:nvSpPr>
              <p:spPr>
                <a:xfrm>
                  <a:off x="4250359" y="2526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E24458F8-B4BC-08DA-AAF4-7036DD689792}"/>
                    </a:ext>
                  </a:extLst>
                </p:cNvPr>
                <p:cNvSpPr/>
                <p:nvPr/>
              </p:nvSpPr>
              <p:spPr>
                <a:xfrm>
                  <a:off x="3107359" y="2907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5" name="Rectangle 144">
                  <a:extLst>
                    <a:ext uri="{FF2B5EF4-FFF2-40B4-BE49-F238E27FC236}">
                      <a16:creationId xmlns:a16="http://schemas.microsoft.com/office/drawing/2014/main" id="{914AAE84-5921-F13E-235E-3E38FCA17F1D}"/>
                    </a:ext>
                  </a:extLst>
                </p:cNvPr>
                <p:cNvSpPr/>
                <p:nvPr/>
              </p:nvSpPr>
              <p:spPr>
                <a:xfrm>
                  <a:off x="3488359" y="2907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7" name="Rectangle 146">
                  <a:extLst>
                    <a:ext uri="{FF2B5EF4-FFF2-40B4-BE49-F238E27FC236}">
                      <a16:creationId xmlns:a16="http://schemas.microsoft.com/office/drawing/2014/main" id="{BC14B6F1-9E99-692E-3AF1-DD2DD9A0B224}"/>
                    </a:ext>
                  </a:extLst>
                </p:cNvPr>
                <p:cNvSpPr/>
                <p:nvPr/>
              </p:nvSpPr>
              <p:spPr>
                <a:xfrm>
                  <a:off x="3869359" y="2907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B7D242E2-32E6-1029-7CF1-C712590C1678}"/>
                    </a:ext>
                  </a:extLst>
                </p:cNvPr>
                <p:cNvSpPr/>
                <p:nvPr/>
              </p:nvSpPr>
              <p:spPr>
                <a:xfrm>
                  <a:off x="4250359" y="2907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1" name="Rectangle 150">
                  <a:extLst>
                    <a:ext uri="{FF2B5EF4-FFF2-40B4-BE49-F238E27FC236}">
                      <a16:creationId xmlns:a16="http://schemas.microsoft.com/office/drawing/2014/main" id="{5F7D8052-E832-A523-002B-3FE38B26DA11}"/>
                    </a:ext>
                  </a:extLst>
                </p:cNvPr>
                <p:cNvSpPr/>
                <p:nvPr/>
              </p:nvSpPr>
              <p:spPr>
                <a:xfrm>
                  <a:off x="3107359" y="3288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3" name="Rectangle 152">
                  <a:extLst>
                    <a:ext uri="{FF2B5EF4-FFF2-40B4-BE49-F238E27FC236}">
                      <a16:creationId xmlns:a16="http://schemas.microsoft.com/office/drawing/2014/main" id="{83D2B734-91DA-56CE-7E18-6A8B4C95CF4B}"/>
                    </a:ext>
                  </a:extLst>
                </p:cNvPr>
                <p:cNvSpPr/>
                <p:nvPr/>
              </p:nvSpPr>
              <p:spPr>
                <a:xfrm>
                  <a:off x="3488359" y="3288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 dirty="0"/>
                </a:p>
              </p:txBody>
            </p:sp>
            <p:sp>
              <p:nvSpPr>
                <p:cNvPr id="155" name="Rectangle 154">
                  <a:extLst>
                    <a:ext uri="{FF2B5EF4-FFF2-40B4-BE49-F238E27FC236}">
                      <a16:creationId xmlns:a16="http://schemas.microsoft.com/office/drawing/2014/main" id="{C6F13F13-8DEC-A0D4-025A-3B566306E937}"/>
                    </a:ext>
                  </a:extLst>
                </p:cNvPr>
                <p:cNvSpPr/>
                <p:nvPr/>
              </p:nvSpPr>
              <p:spPr>
                <a:xfrm>
                  <a:off x="3869359" y="3288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  <p:sp>
              <p:nvSpPr>
                <p:cNvPr id="157" name="Rectangle 156">
                  <a:extLst>
                    <a:ext uri="{FF2B5EF4-FFF2-40B4-BE49-F238E27FC236}">
                      <a16:creationId xmlns:a16="http://schemas.microsoft.com/office/drawing/2014/main" id="{66C81D2C-3F36-BC05-B0DB-AF29751FDCEE}"/>
                    </a:ext>
                  </a:extLst>
                </p:cNvPr>
                <p:cNvSpPr/>
                <p:nvPr/>
              </p:nvSpPr>
              <p:spPr>
                <a:xfrm>
                  <a:off x="4250359" y="3288800"/>
                  <a:ext cx="381000" cy="381000"/>
                </a:xfrm>
                <a:prstGeom prst="rect">
                  <a:avLst/>
                </a:prstGeom>
                <a:solidFill>
                  <a:srgbClr val="DAE8FC"/>
                </a:solidFill>
                <a:ln w="9525" cap="flat">
                  <a:solidFill>
                    <a:srgbClr val="6C8EBF"/>
                  </a:solidFill>
                  <a:prstDash val="solid"/>
                  <a:miter/>
                </a:ln>
              </p:spPr>
              <p:txBody>
                <a:bodyPr/>
                <a:lstStyle/>
                <a:p>
                  <a:endParaRPr lang="en-US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1" name="TextBox 160">
                    <a:extLst>
                      <a:ext uri="{FF2B5EF4-FFF2-40B4-BE49-F238E27FC236}">
                        <a16:creationId xmlns:a16="http://schemas.microsoft.com/office/drawing/2014/main" id="{94B9DE91-798F-3576-FF89-4137D488236A}"/>
                      </a:ext>
                    </a:extLst>
                  </p:cNvPr>
                  <p:cNvSpPr txBox="1"/>
                  <p:nvPr/>
                </p:nvSpPr>
                <p:spPr>
                  <a:xfrm>
                    <a:off x="1676547" y="2678668"/>
                    <a:ext cx="296876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61" name="TextBox 160">
                    <a:extLst>
                      <a:ext uri="{FF2B5EF4-FFF2-40B4-BE49-F238E27FC236}">
                        <a16:creationId xmlns:a16="http://schemas.microsoft.com/office/drawing/2014/main" id="{94B9DE91-798F-3576-FF89-4137D488236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76547" y="2678668"/>
                    <a:ext cx="29687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363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3" name="TextBox 162">
                    <a:extLst>
                      <a:ext uri="{FF2B5EF4-FFF2-40B4-BE49-F238E27FC236}">
                        <a16:creationId xmlns:a16="http://schemas.microsoft.com/office/drawing/2014/main" id="{487A942B-4524-AA56-6066-2AFB97633CDD}"/>
                      </a:ext>
                    </a:extLst>
                  </p:cNvPr>
                  <p:cNvSpPr txBox="1"/>
                  <p:nvPr/>
                </p:nvSpPr>
                <p:spPr>
                  <a:xfrm>
                    <a:off x="3486727" y="2678668"/>
                    <a:ext cx="404278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63" name="TextBox 162">
                    <a:extLst>
                      <a:ext uri="{FF2B5EF4-FFF2-40B4-BE49-F238E27FC236}">
                        <a16:creationId xmlns:a16="http://schemas.microsoft.com/office/drawing/2014/main" id="{487A942B-4524-AA56-6066-2AFB97633CD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6727" y="2678668"/>
                    <a:ext cx="404278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r="-6250" b="-1590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4" name="TextBox 163">
                <a:extLst>
                  <a:ext uri="{FF2B5EF4-FFF2-40B4-BE49-F238E27FC236}">
                    <a16:creationId xmlns:a16="http://schemas.microsoft.com/office/drawing/2014/main" id="{9E97900C-C153-EE19-DF63-350FE2A97C8A}"/>
                  </a:ext>
                </a:extLst>
              </p:cNvPr>
              <p:cNvSpPr txBox="1"/>
              <p:nvPr/>
            </p:nvSpPr>
            <p:spPr>
              <a:xfrm>
                <a:off x="917738" y="3618448"/>
                <a:ext cx="322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001080"/>
                    </a:solidFill>
                    <a:latin typeface="Fira Code" panose="020B0809050000020004" pitchFamily="49" charset="0"/>
                  </a:rPr>
                  <a:t>A</a:t>
                </a:r>
              </a:p>
            </p:txBody>
          </p:sp>
          <p:sp>
            <p:nvSpPr>
              <p:cNvPr id="166" name="TextBox 165">
                <a:extLst>
                  <a:ext uri="{FF2B5EF4-FFF2-40B4-BE49-F238E27FC236}">
                    <a16:creationId xmlns:a16="http://schemas.microsoft.com/office/drawing/2014/main" id="{DC3CACF7-A1B7-29D0-C432-9242ABB7B3C4}"/>
                  </a:ext>
                </a:extLst>
              </p:cNvPr>
              <p:cNvSpPr txBox="1"/>
              <p:nvPr/>
            </p:nvSpPr>
            <p:spPr>
              <a:xfrm>
                <a:off x="2615981" y="3614686"/>
                <a:ext cx="322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001080"/>
                    </a:solidFill>
                    <a:latin typeface="Fira Code" panose="020B0809050000020004" pitchFamily="49" charset="0"/>
                  </a:rPr>
                  <a:t>B</a:t>
                </a:r>
              </a:p>
            </p:txBody>
          </p: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4DF7CA29-29E0-61DA-80AE-062D887E51BC}"/>
                  </a:ext>
                </a:extLst>
              </p:cNvPr>
              <p:cNvSpPr txBox="1"/>
              <p:nvPr/>
            </p:nvSpPr>
            <p:spPr>
              <a:xfrm>
                <a:off x="4522383" y="3614686"/>
                <a:ext cx="3225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dirty="0">
                    <a:solidFill>
                      <a:srgbClr val="001080"/>
                    </a:solidFill>
                    <a:latin typeface="Fira Code" panose="020B0809050000020004" pitchFamily="49" charset="0"/>
                  </a:rPr>
                  <a:t>C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AB69531D-B174-6BC8-5616-B3AC24D2B879}"/>
                      </a:ext>
                    </a:extLst>
                  </p:cNvPr>
                  <p:cNvSpPr txBox="1"/>
                  <p:nvPr/>
                </p:nvSpPr>
                <p:spPr>
                  <a:xfrm>
                    <a:off x="65016" y="1910834"/>
                    <a:ext cx="429092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AB69531D-B174-6BC8-5616-B3AC24D2B87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016" y="1910834"/>
                    <a:ext cx="429092" cy="36933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r="-9615" b="-1818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1" name="TextBox 170">
                    <a:extLst>
                      <a:ext uri="{FF2B5EF4-FFF2-40B4-BE49-F238E27FC236}">
                        <a16:creationId xmlns:a16="http://schemas.microsoft.com/office/drawing/2014/main" id="{2E9C9242-8475-426D-DFA6-14540A24D3A2}"/>
                      </a:ext>
                    </a:extLst>
                  </p:cNvPr>
                  <p:cNvSpPr txBox="1"/>
                  <p:nvPr/>
                </p:nvSpPr>
                <p:spPr>
                  <a:xfrm>
                    <a:off x="857276" y="1673266"/>
                    <a:ext cx="368177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1" name="TextBox 170">
                    <a:extLst>
                      <a:ext uri="{FF2B5EF4-FFF2-40B4-BE49-F238E27FC236}">
                        <a16:creationId xmlns:a16="http://schemas.microsoft.com/office/drawing/2014/main" id="{2E9C9242-8475-426D-DFA6-14540A24D3A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57276" y="1673266"/>
                    <a:ext cx="368177" cy="369331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r="-11111" b="-2954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3" name="TextBox 172">
                    <a:extLst>
                      <a:ext uri="{FF2B5EF4-FFF2-40B4-BE49-F238E27FC236}">
                        <a16:creationId xmlns:a16="http://schemas.microsoft.com/office/drawing/2014/main" id="{729CF20E-3A7A-ADF8-38B3-0A9D4972A8BA}"/>
                      </a:ext>
                    </a:extLst>
                  </p:cNvPr>
                  <p:cNvSpPr txBox="1"/>
                  <p:nvPr/>
                </p:nvSpPr>
                <p:spPr>
                  <a:xfrm>
                    <a:off x="1649797" y="2060787"/>
                    <a:ext cx="368178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3" name="TextBox 172">
                    <a:extLst>
                      <a:ext uri="{FF2B5EF4-FFF2-40B4-BE49-F238E27FC236}">
                        <a16:creationId xmlns:a16="http://schemas.microsoft.com/office/drawing/2014/main" id="{729CF20E-3A7A-ADF8-38B3-0A9D4972A8B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49797" y="2060787"/>
                    <a:ext cx="368178" cy="369331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r="-13636" b="-2727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5" name="TextBox 174">
                    <a:extLst>
                      <a:ext uri="{FF2B5EF4-FFF2-40B4-BE49-F238E27FC236}">
                        <a16:creationId xmlns:a16="http://schemas.microsoft.com/office/drawing/2014/main" id="{C6AFF68F-4275-12A3-1984-F36012F6421E}"/>
                      </a:ext>
                    </a:extLst>
                  </p:cNvPr>
                  <p:cNvSpPr txBox="1"/>
                  <p:nvPr/>
                </p:nvSpPr>
                <p:spPr>
                  <a:xfrm>
                    <a:off x="2543896" y="1857933"/>
                    <a:ext cx="368177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5" name="TextBox 174">
                    <a:extLst>
                      <a:ext uri="{FF2B5EF4-FFF2-40B4-BE49-F238E27FC236}">
                        <a16:creationId xmlns:a16="http://schemas.microsoft.com/office/drawing/2014/main" id="{C6AFF68F-4275-12A3-1984-F36012F6421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43896" y="1857933"/>
                    <a:ext cx="368177" cy="369331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r="-6818" b="-177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7" name="TextBox 176">
                    <a:extLst>
                      <a:ext uri="{FF2B5EF4-FFF2-40B4-BE49-F238E27FC236}">
                        <a16:creationId xmlns:a16="http://schemas.microsoft.com/office/drawing/2014/main" id="{38B8802A-2C13-DDF8-4086-8C002237A748}"/>
                      </a:ext>
                    </a:extLst>
                  </p:cNvPr>
                  <p:cNvSpPr txBox="1"/>
                  <p:nvPr/>
                </p:nvSpPr>
                <p:spPr>
                  <a:xfrm>
                    <a:off x="3480358" y="1916667"/>
                    <a:ext cx="429092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7" name="TextBox 176">
                    <a:extLst>
                      <a:ext uri="{FF2B5EF4-FFF2-40B4-BE49-F238E27FC236}">
                        <a16:creationId xmlns:a16="http://schemas.microsoft.com/office/drawing/2014/main" id="{38B8802A-2C13-DDF8-4086-8C002237A74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80358" y="1916667"/>
                    <a:ext cx="429092" cy="369331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r="-11765" b="-17778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9" name="TextBox 178">
                    <a:extLst>
                      <a:ext uri="{FF2B5EF4-FFF2-40B4-BE49-F238E27FC236}">
                        <a16:creationId xmlns:a16="http://schemas.microsoft.com/office/drawing/2014/main" id="{B96A8EAB-B6F9-B4AA-B5C7-883FC2D2ABB6}"/>
                      </a:ext>
                    </a:extLst>
                  </p:cNvPr>
                  <p:cNvSpPr txBox="1"/>
                  <p:nvPr/>
                </p:nvSpPr>
                <p:spPr>
                  <a:xfrm>
                    <a:off x="4439377" y="1664560"/>
                    <a:ext cx="368177" cy="3693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9" name="TextBox 178">
                    <a:extLst>
                      <a:ext uri="{FF2B5EF4-FFF2-40B4-BE49-F238E27FC236}">
                        <a16:creationId xmlns:a16="http://schemas.microsoft.com/office/drawing/2014/main" id="{B96A8EAB-B6F9-B4AA-B5C7-883FC2D2ABB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39377" y="1664560"/>
                    <a:ext cx="368177" cy="369331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r="-6818" b="-1818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D0D73947-8818-5717-38FC-7ECD4EA12641}"/>
                  </a:ext>
                </a:extLst>
              </p:cNvPr>
              <p:cNvSpPr txBox="1"/>
              <p:nvPr/>
            </p:nvSpPr>
            <p:spPr>
              <a:xfrm>
                <a:off x="6548778" y="1435638"/>
                <a:ext cx="2097947" cy="871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𝑖𝑘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⋅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3" name="TextBox 182">
                <a:extLst>
                  <a:ext uri="{FF2B5EF4-FFF2-40B4-BE49-F238E27FC236}">
                    <a16:creationId xmlns:a16="http://schemas.microsoft.com/office/drawing/2014/main" id="{D0D73947-8818-5717-38FC-7ECD4EA12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8778" y="1435638"/>
                <a:ext cx="2097947" cy="87145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5" name="Connector: Curved 184">
            <a:extLst>
              <a:ext uri="{FF2B5EF4-FFF2-40B4-BE49-F238E27FC236}">
                <a16:creationId xmlns:a16="http://schemas.microsoft.com/office/drawing/2014/main" id="{031BA854-8E73-CD70-3923-773D229C8EE1}"/>
              </a:ext>
            </a:extLst>
          </p:cNvPr>
          <p:cNvCxnSpPr>
            <a:stCxn id="183" idx="3"/>
            <a:endCxn id="24" idx="0"/>
          </p:cNvCxnSpPr>
          <p:nvPr/>
        </p:nvCxnSpPr>
        <p:spPr>
          <a:xfrm>
            <a:off x="8646725" y="1871367"/>
            <a:ext cx="537057" cy="521307"/>
          </a:xfrm>
          <a:prstGeom prst="curved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7" name="Left Brace 186">
            <a:extLst>
              <a:ext uri="{FF2B5EF4-FFF2-40B4-BE49-F238E27FC236}">
                <a16:creationId xmlns:a16="http://schemas.microsoft.com/office/drawing/2014/main" id="{8A60AD5E-BCD3-A5CC-080F-BB0C2C74CDEB}"/>
              </a:ext>
            </a:extLst>
          </p:cNvPr>
          <p:cNvSpPr/>
          <p:nvPr/>
        </p:nvSpPr>
        <p:spPr>
          <a:xfrm>
            <a:off x="3470710" y="4173482"/>
            <a:ext cx="110689" cy="905479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C0F2A9DC-A0E5-D4DD-B577-5076225F23C6}"/>
              </a:ext>
            </a:extLst>
          </p:cNvPr>
          <p:cNvSpPr txBox="1"/>
          <p:nvPr/>
        </p:nvSpPr>
        <p:spPr>
          <a:xfrm>
            <a:off x="1418444" y="4301904"/>
            <a:ext cx="20114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Possible definition</a:t>
            </a:r>
            <a:br>
              <a:rPr lang="en-US" dirty="0"/>
            </a:br>
            <a:r>
              <a:rPr lang="en-US" dirty="0"/>
              <a:t>of </a:t>
            </a:r>
            <a:r>
              <a:rPr lang="en-US" dirty="0">
                <a:solidFill>
                  <a:srgbClr val="001080"/>
                </a:solidFill>
                <a:latin typeface="Fira Code" panose="020B0809050000020004" pitchFamily="49" charset="0"/>
              </a:rPr>
              <a:t>A</a:t>
            </a:r>
            <a:r>
              <a:rPr lang="en-US" dirty="0"/>
              <a:t>, </a:t>
            </a:r>
            <a:r>
              <a:rPr lang="en-US" dirty="0">
                <a:solidFill>
                  <a:srgbClr val="001080"/>
                </a:solidFill>
                <a:latin typeface="Fira Code" panose="020B0809050000020004" pitchFamily="49" charset="0"/>
              </a:rPr>
              <a:t>B</a:t>
            </a:r>
            <a:r>
              <a:rPr lang="en-US" dirty="0"/>
              <a:t>, </a:t>
            </a:r>
            <a:r>
              <a:rPr lang="en-US" dirty="0">
                <a:solidFill>
                  <a:srgbClr val="001080"/>
                </a:solidFill>
                <a:latin typeface="Fira Code" panose="020B0809050000020004" pitchFamily="49" charset="0"/>
              </a:rPr>
              <a:t>C</a:t>
            </a:r>
          </a:p>
        </p:txBody>
      </p:sp>
      <p:cxnSp>
        <p:nvCxnSpPr>
          <p:cNvPr id="190" name="Connector: Curved 189">
            <a:extLst>
              <a:ext uri="{FF2B5EF4-FFF2-40B4-BE49-F238E27FC236}">
                <a16:creationId xmlns:a16="http://schemas.microsoft.com/office/drawing/2014/main" id="{F64ECC42-FB7A-6531-B37F-E21B555249CC}"/>
              </a:ext>
            </a:extLst>
          </p:cNvPr>
          <p:cNvCxnSpPr>
            <a:stCxn id="181" idx="3"/>
            <a:endCxn id="183" idx="1"/>
          </p:cNvCxnSpPr>
          <p:nvPr/>
        </p:nvCxnSpPr>
        <p:spPr>
          <a:xfrm flipV="1">
            <a:off x="5501509" y="1871367"/>
            <a:ext cx="1047269" cy="1058474"/>
          </a:xfrm>
          <a:prstGeom prst="curved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49151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DD9D588-D364-AF9C-5071-96FEC8DBE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Traversal transformations &amp; parallelization</a:t>
            </a:r>
          </a:p>
        </p:txBody>
      </p:sp>
      <p:sp>
        <p:nvSpPr>
          <p:cNvPr id="26" name="Date Placeholder 25">
            <a:extLst>
              <a:ext uri="{FF2B5EF4-FFF2-40B4-BE49-F238E27FC236}">
                <a16:creationId xmlns:a16="http://schemas.microsoft.com/office/drawing/2014/main" id="{FE517BC7-E591-4BF3-D827-EFF2CD30D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B690F1-35CC-4B34-B898-A35702C2DAD5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27" name="Slide Number Placeholder 26">
            <a:extLst>
              <a:ext uri="{FF2B5EF4-FFF2-40B4-BE49-F238E27FC236}">
                <a16:creationId xmlns:a16="http://schemas.microsoft.com/office/drawing/2014/main" id="{B740945D-1B4C-1335-1A43-458E59CE5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8</a:t>
            </a:fld>
            <a:endParaRPr lang="en-US" noProof="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6B7F5F-6A6B-7B50-99CB-AE3DAB2E86D8}"/>
              </a:ext>
            </a:extLst>
          </p:cNvPr>
          <p:cNvSpPr txBox="1"/>
          <p:nvPr/>
        </p:nvSpPr>
        <p:spPr>
          <a:xfrm>
            <a:off x="5068155" y="4495744"/>
            <a:ext cx="2055691" cy="461665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400" dirty="0"/>
              <a:t>Parallelization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09330A-A449-CB40-3FCF-2B26BA222655}"/>
              </a:ext>
            </a:extLst>
          </p:cNvPr>
          <p:cNvSpPr txBox="1"/>
          <p:nvPr/>
        </p:nvSpPr>
        <p:spPr>
          <a:xfrm>
            <a:off x="1716323" y="5458711"/>
            <a:ext cx="2264558" cy="715089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b="0" noProof="0" dirty="0">
                <a:solidFill>
                  <a:schemeClr val="tx1"/>
                </a:solidFill>
                <a:effectLst/>
              </a:rPr>
              <a:t>OpenMP</a:t>
            </a:r>
            <a:br>
              <a:rPr lang="en-US" b="0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</a:br>
            <a:r>
              <a:rPr lang="en-US" b="0" noProof="0" dirty="0" err="1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omp_for_each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5FADC59-989F-AE0F-9D16-0E35E9C69C74}"/>
              </a:ext>
            </a:extLst>
          </p:cNvPr>
          <p:cNvSpPr txBox="1"/>
          <p:nvPr/>
        </p:nvSpPr>
        <p:spPr>
          <a:xfrm>
            <a:off x="4964185" y="5458712"/>
            <a:ext cx="2263630" cy="715089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b="0" noProof="0" dirty="0" err="1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oneTBB</a:t>
            </a:r>
            <a:br>
              <a:rPr lang="en-US" b="0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</a:br>
            <a:r>
              <a:rPr lang="en-US" b="0" noProof="0" dirty="0" err="1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tbb_for_each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584833-E86B-4C27-58B9-4ED8496F2A50}"/>
              </a:ext>
            </a:extLst>
          </p:cNvPr>
          <p:cNvSpPr txBox="1"/>
          <p:nvPr/>
        </p:nvSpPr>
        <p:spPr>
          <a:xfrm>
            <a:off x="8212047" y="5458712"/>
            <a:ext cx="2263630" cy="715089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b="0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CUDA</a:t>
            </a:r>
            <a:br>
              <a:rPr lang="en-US" b="0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</a:br>
            <a:r>
              <a:rPr lang="en-US" noProof="0" dirty="0">
                <a:solidFill>
                  <a:schemeClr val="tx1"/>
                </a:solidFill>
                <a:effectLst/>
                <a:latin typeface="Fira Code" panose="020B0809050000020004" pitchFamily="49" charset="0"/>
              </a:rPr>
              <a:t>cuda_traverser</a:t>
            </a:r>
            <a:endParaRPr lang="en-US" sz="2400" dirty="0">
              <a:solidFill>
                <a:schemeClr val="tx1"/>
              </a:solidFill>
            </a:endParaRP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8BAD00C5-4215-60FE-63AA-DCA7EB732E24}"/>
              </a:ext>
            </a:extLst>
          </p:cNvPr>
          <p:cNvCxnSpPr>
            <a:stCxn id="21" idx="2"/>
            <a:endCxn id="25" idx="0"/>
          </p:cNvCxnSpPr>
          <p:nvPr/>
        </p:nvCxnSpPr>
        <p:spPr>
          <a:xfrm flipH="1">
            <a:off x="6096000" y="4957409"/>
            <a:ext cx="1" cy="5013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FEA1C61-7960-E9FD-D288-69F76C20F474}"/>
              </a:ext>
            </a:extLst>
          </p:cNvPr>
          <p:cNvCxnSpPr>
            <a:cxnSpLocks/>
            <a:stCxn id="21" idx="2"/>
            <a:endCxn id="23" idx="3"/>
          </p:cNvCxnSpPr>
          <p:nvPr/>
        </p:nvCxnSpPr>
        <p:spPr>
          <a:xfrm flipH="1">
            <a:off x="3980881" y="4957409"/>
            <a:ext cx="2115120" cy="8588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FFA2151-7675-411C-6539-37EA8EE743B3}"/>
              </a:ext>
            </a:extLst>
          </p:cNvPr>
          <p:cNvCxnSpPr>
            <a:cxnSpLocks/>
            <a:stCxn id="21" idx="2"/>
            <a:endCxn id="29" idx="1"/>
          </p:cNvCxnSpPr>
          <p:nvPr/>
        </p:nvCxnSpPr>
        <p:spPr>
          <a:xfrm>
            <a:off x="6096001" y="4957409"/>
            <a:ext cx="2116046" cy="858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772ACBDE-BD4C-3B9F-D357-B50E2AB5E13A}"/>
              </a:ext>
            </a:extLst>
          </p:cNvPr>
          <p:cNvSpPr/>
          <p:nvPr/>
        </p:nvSpPr>
        <p:spPr>
          <a:xfrm>
            <a:off x="6782428" y="1847750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49B183-D23D-199F-5762-CEB810CEF7DB}"/>
              </a:ext>
            </a:extLst>
          </p:cNvPr>
          <p:cNvSpPr/>
          <p:nvPr/>
        </p:nvSpPr>
        <p:spPr>
          <a:xfrm>
            <a:off x="6782427" y="2112328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FEA9AA-ED47-6068-BF0F-49A412CD8F7F}"/>
              </a:ext>
            </a:extLst>
          </p:cNvPr>
          <p:cNvSpPr/>
          <p:nvPr/>
        </p:nvSpPr>
        <p:spPr>
          <a:xfrm>
            <a:off x="6049003" y="2383392"/>
            <a:ext cx="1102519" cy="223837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17E6F97-71C0-E7B6-3913-C7F1E0B84654}"/>
              </a:ext>
            </a:extLst>
          </p:cNvPr>
          <p:cNvSpPr txBox="1"/>
          <p:nvPr/>
        </p:nvSpPr>
        <p:spPr>
          <a:xfrm>
            <a:off x="3363539" y="1765307"/>
            <a:ext cx="5464923" cy="917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by_tiles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into_blocks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m'</a:t>
            </a:r>
            <a:r>
              <a:rPr lang="en-US" sz="1600" b="0" noProof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'M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16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^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    </a:t>
            </a:r>
            <a:r>
              <a:rPr lang="en-US" sz="1600" b="0" noProof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into_blocks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n'</a:t>
            </a:r>
            <a:r>
              <a:rPr lang="en-US" sz="1600" b="0" noProof="0" dirty="0" err="1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b="0" noProof="0" dirty="0" err="1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'N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16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^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        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hoist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'M'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</a:t>
            </a:r>
            <a:r>
              <a:rPr lang="en-US" sz="1600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'N'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();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94DC07-12F0-E28A-EFF4-4CF7F2299BE3}"/>
              </a:ext>
            </a:extLst>
          </p:cNvPr>
          <p:cNvSpPr txBox="1"/>
          <p:nvPr/>
        </p:nvSpPr>
        <p:spPr>
          <a:xfrm>
            <a:off x="2393643" y="3076561"/>
            <a:ext cx="7404714" cy="9178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^ </a:t>
            </a:r>
            <a:r>
              <a:rPr lang="en-US" sz="1600" b="1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by_tiles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+=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*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3E4D446-FA75-8892-1F63-4A50AD51D638}"/>
              </a:ext>
            </a:extLst>
          </p:cNvPr>
          <p:cNvCxnSpPr>
            <a:cxnSpLocks/>
            <a:stCxn id="8" idx="2"/>
            <a:endCxn id="3" idx="0"/>
          </p:cNvCxnSpPr>
          <p:nvPr/>
        </p:nvCxnSpPr>
        <p:spPr>
          <a:xfrm flipH="1">
            <a:off x="6096000" y="2683187"/>
            <a:ext cx="1" cy="3933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0D3DC4ED-8B07-FA72-912D-D5AFDF1779D5}"/>
              </a:ext>
            </a:extLst>
          </p:cNvPr>
          <p:cNvSpPr txBox="1"/>
          <p:nvPr/>
        </p:nvSpPr>
        <p:spPr>
          <a:xfrm>
            <a:off x="2393643" y="3076561"/>
            <a:ext cx="7404714" cy="9178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).</a:t>
            </a:r>
            <a:r>
              <a:rPr lang="en-US" sz="1600" dirty="0" err="1">
                <a:solidFill>
                  <a:srgbClr val="795E26"/>
                </a:solidFill>
                <a:latin typeface="Fira Code" panose="020B0809050000020004" pitchFamily="49" charset="0"/>
              </a:rPr>
              <a:t>for_each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([&amp;](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+=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A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*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B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});</a:t>
            </a:r>
          </a:p>
        </p:txBody>
      </p:sp>
      <p:sp>
        <p:nvSpPr>
          <p:cNvPr id="9" name="Right Brace 8">
            <a:extLst>
              <a:ext uri="{FF2B5EF4-FFF2-40B4-BE49-F238E27FC236}">
                <a16:creationId xmlns:a16="http://schemas.microsoft.com/office/drawing/2014/main" id="{91045F7D-5F95-D4A4-2108-8EF08244EF72}"/>
              </a:ext>
            </a:extLst>
          </p:cNvPr>
          <p:cNvSpPr/>
          <p:nvPr/>
        </p:nvSpPr>
        <p:spPr>
          <a:xfrm rot="5400000">
            <a:off x="4432819" y="3561426"/>
            <a:ext cx="78497" cy="5511492"/>
          </a:xfrm>
          <a:prstGeom prst="rightBrace">
            <a:avLst/>
          </a:prstGeom>
          <a:ln>
            <a:solidFill>
              <a:srgbClr val="0F9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0EEBB8-CEAC-5121-92BA-FBA1CBC662D5}"/>
              </a:ext>
            </a:extLst>
          </p:cNvPr>
          <p:cNvSpPr txBox="1"/>
          <p:nvPr/>
        </p:nvSpPr>
        <p:spPr>
          <a:xfrm>
            <a:off x="4154512" y="6352143"/>
            <a:ext cx="635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CPU</a:t>
            </a:r>
          </a:p>
        </p:txBody>
      </p:sp>
      <p:sp>
        <p:nvSpPr>
          <p:cNvPr id="14" name="Right Brace 13">
            <a:extLst>
              <a:ext uri="{FF2B5EF4-FFF2-40B4-BE49-F238E27FC236}">
                <a16:creationId xmlns:a16="http://schemas.microsoft.com/office/drawing/2014/main" id="{31D2927F-1B91-15E0-3A30-9D2B9E9F1A75}"/>
              </a:ext>
            </a:extLst>
          </p:cNvPr>
          <p:cNvSpPr/>
          <p:nvPr/>
        </p:nvSpPr>
        <p:spPr>
          <a:xfrm rot="5400000">
            <a:off x="9315742" y="5192211"/>
            <a:ext cx="74219" cy="2245650"/>
          </a:xfrm>
          <a:prstGeom prst="rightBrace">
            <a:avLst/>
          </a:prstGeom>
          <a:ln>
            <a:solidFill>
              <a:srgbClr val="0F9E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8453C35-A3D1-C43A-87EB-29D2FECA4E69}"/>
              </a:ext>
            </a:extLst>
          </p:cNvPr>
          <p:cNvSpPr txBox="1"/>
          <p:nvPr/>
        </p:nvSpPr>
        <p:spPr>
          <a:xfrm>
            <a:off x="9024704" y="6352143"/>
            <a:ext cx="638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GPU</a:t>
            </a:r>
          </a:p>
        </p:txBody>
      </p:sp>
    </p:spTree>
    <p:extLst>
      <p:ext uri="{BB962C8B-B14F-4D97-AF65-F5344CB8AC3E}">
        <p14:creationId xmlns:p14="http://schemas.microsoft.com/office/powerpoint/2010/main" val="1117610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9F1F4AB-2185-6145-DDA4-1F034DCDFC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Autotuning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630B5E0-ABB5-8FFF-3D96-A05D108A0A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36" t="1446" r="3272" b="70120"/>
          <a:stretch>
            <a:fillRect/>
          </a:stretch>
        </p:blipFill>
        <p:spPr>
          <a:xfrm>
            <a:off x="2962939" y="4275380"/>
            <a:ext cx="5573788" cy="2582620"/>
          </a:xfrm>
          <a:prstGeom prst="rect">
            <a:avLst/>
          </a:prstGeom>
        </p:spPr>
      </p:pic>
      <p:pic>
        <p:nvPicPr>
          <p:cNvPr id="17" name="Picture 16" descr="OpenTuner - An extensible framework for program autotuning">
            <a:extLst>
              <a:ext uri="{FF2B5EF4-FFF2-40B4-BE49-F238E27FC236}">
                <a16:creationId xmlns:a16="http://schemas.microsoft.com/office/drawing/2014/main" id="{9B62B548-A2CB-44E7-8C14-94F9EC04F6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8399" y="5485816"/>
            <a:ext cx="2455817" cy="842437"/>
          </a:xfrm>
          <a:prstGeom prst="rect">
            <a:avLst/>
          </a:prstGeom>
        </p:spPr>
      </p:pic>
      <p:pic>
        <p:nvPicPr>
          <p:cNvPr id="18" name="Picture 17" descr="Optuna: A hyperparameter optimization framework — Optuna 4.9.0 documentation">
            <a:extLst>
              <a:ext uri="{FF2B5EF4-FFF2-40B4-BE49-F238E27FC236}">
                <a16:creationId xmlns:a16="http://schemas.microsoft.com/office/drawing/2014/main" id="{AF010DE9-B658-4682-CFDF-661E5A062A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15748" y="4521033"/>
            <a:ext cx="2455817" cy="515722"/>
          </a:xfrm>
          <a:prstGeom prst="rect">
            <a:avLst/>
          </a:prstGeom>
        </p:spPr>
      </p:pic>
      <p:pic>
        <p:nvPicPr>
          <p:cNvPr id="19" name="Picture 18" descr="Auto-Tuning Framework (ATF) · GitHub">
            <a:extLst>
              <a:ext uri="{FF2B5EF4-FFF2-40B4-BE49-F238E27FC236}">
                <a16:creationId xmlns:a16="http://schemas.microsoft.com/office/drawing/2014/main" id="{F7F7CFF8-EDA0-77B0-914C-2AD8CCB7F8C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523323" y="3265015"/>
            <a:ext cx="1099238" cy="1099238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FA33F8-BA09-FE20-AA3F-F979C5E8E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D82220-9CE2-4BC9-B6C9-7A7531EEF27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CFF31DD-3BF8-7967-3565-500F50D5E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9</a:t>
            </a:fld>
            <a:endParaRPr lang="en-US" noProof="0" dirty="0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517191D-6E0A-AA15-0D0A-F36C9AFA3E26}"/>
              </a:ext>
            </a:extLst>
          </p:cNvPr>
          <p:cNvCxnSpPr>
            <a:endCxn id="19" idx="1"/>
          </p:cNvCxnSpPr>
          <p:nvPr/>
        </p:nvCxnSpPr>
        <p:spPr>
          <a:xfrm flipV="1">
            <a:off x="8306382" y="3814634"/>
            <a:ext cx="1216941" cy="9044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7DDBBE2-A63E-674B-08AE-0EFF57E0FE30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8306382" y="4719065"/>
            <a:ext cx="1009366" cy="598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EE38BC2-DE6F-53AE-919A-9277CD5405A3}"/>
              </a:ext>
            </a:extLst>
          </p:cNvPr>
          <p:cNvCxnSpPr>
            <a:endCxn id="17" idx="1"/>
          </p:cNvCxnSpPr>
          <p:nvPr/>
        </p:nvCxnSpPr>
        <p:spPr>
          <a:xfrm>
            <a:off x="8306382" y="4719065"/>
            <a:ext cx="762017" cy="11879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peech Bubble: Rectangle with Corners Rounded 34">
            <a:extLst>
              <a:ext uri="{FF2B5EF4-FFF2-40B4-BE49-F238E27FC236}">
                <a16:creationId xmlns:a16="http://schemas.microsoft.com/office/drawing/2014/main" id="{1FDBB004-242D-F064-134B-A20DA6C00791}"/>
              </a:ext>
            </a:extLst>
          </p:cNvPr>
          <p:cNvSpPr/>
          <p:nvPr/>
        </p:nvSpPr>
        <p:spPr>
          <a:xfrm>
            <a:off x="448183" y="2545885"/>
            <a:ext cx="2387504" cy="533827"/>
          </a:xfrm>
          <a:prstGeom prst="wedgeRoundRectCallout">
            <a:avLst>
              <a:gd name="adj1" fmla="val 59836"/>
              <a:gd name="adj2" fmla="val -43575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Tile size for tiling</a:t>
            </a:r>
            <a:br>
              <a:rPr lang="en-US" dirty="0"/>
            </a:br>
            <a:r>
              <a:rPr lang="en-US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I += TILE_SIZE</a:t>
            </a:r>
          </a:p>
        </p:txBody>
      </p:sp>
      <p:sp>
        <p:nvSpPr>
          <p:cNvPr id="4" name="Flowchart: Process 3">
            <a:extLst>
              <a:ext uri="{FF2B5EF4-FFF2-40B4-BE49-F238E27FC236}">
                <a16:creationId xmlns:a16="http://schemas.microsoft.com/office/drawing/2014/main" id="{1A3646A4-0501-E64C-9EBA-2A5D70FCC45E}"/>
              </a:ext>
            </a:extLst>
          </p:cNvPr>
          <p:cNvSpPr/>
          <p:nvPr/>
        </p:nvSpPr>
        <p:spPr>
          <a:xfrm>
            <a:off x="3109366" y="1987248"/>
            <a:ext cx="1923615" cy="842437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Parameters in the </a:t>
            </a:r>
            <a:r>
              <a:rPr lang="en-US" b="1" noProof="0" dirty="0"/>
              <a:t>application</a:t>
            </a:r>
          </a:p>
        </p:txBody>
      </p:sp>
      <p:sp>
        <p:nvSpPr>
          <p:cNvPr id="6" name="Flowchart: Process 5">
            <a:extLst>
              <a:ext uri="{FF2B5EF4-FFF2-40B4-BE49-F238E27FC236}">
                <a16:creationId xmlns:a16="http://schemas.microsoft.com/office/drawing/2014/main" id="{09D4644A-2975-4E43-85E5-AC04135744E4}"/>
              </a:ext>
            </a:extLst>
          </p:cNvPr>
          <p:cNvSpPr/>
          <p:nvPr/>
        </p:nvSpPr>
        <p:spPr>
          <a:xfrm>
            <a:off x="7146805" y="1987248"/>
            <a:ext cx="1923615" cy="842437"/>
          </a:xfrm>
          <a:prstGeom prst="flowChartProcess">
            <a:avLst/>
          </a:prstGeom>
          <a:ln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Parameters in an </a:t>
            </a:r>
            <a:r>
              <a:rPr lang="en-US" b="1" noProof="0" dirty="0" err="1"/>
              <a:t>autotuner</a:t>
            </a:r>
            <a:r>
              <a:rPr lang="en-US" b="1" noProof="0" dirty="0"/>
              <a:t> script</a:t>
            </a:r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87FD7390-E206-0701-B169-9DA704B413EE}"/>
              </a:ext>
            </a:extLst>
          </p:cNvPr>
          <p:cNvSpPr/>
          <p:nvPr/>
        </p:nvSpPr>
        <p:spPr>
          <a:xfrm>
            <a:off x="5032981" y="2061867"/>
            <a:ext cx="2113824" cy="690836"/>
          </a:xfrm>
          <a:prstGeom prst="leftRightArrow">
            <a:avLst>
              <a:gd name="adj1" fmla="val 41917"/>
              <a:gd name="adj2" fmla="val 50000"/>
            </a:avLst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/>
              <a:t>Communication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0E210CDB-EAA6-0C9F-CAB9-B16CAFD1D4A6}"/>
              </a:ext>
            </a:extLst>
          </p:cNvPr>
          <p:cNvSpPr/>
          <p:nvPr/>
        </p:nvSpPr>
        <p:spPr>
          <a:xfrm rot="5400000">
            <a:off x="5995944" y="17730"/>
            <a:ext cx="187902" cy="5961054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1D587DC-555E-F024-2296-A3954C42F0E6}"/>
              </a:ext>
            </a:extLst>
          </p:cNvPr>
          <p:cNvSpPr txBox="1"/>
          <p:nvPr/>
        </p:nvSpPr>
        <p:spPr>
          <a:xfrm>
            <a:off x="4150067" y="3172113"/>
            <a:ext cx="38796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noProof="0" dirty="0"/>
              <a:t>Too much boilerplate, error-prone</a:t>
            </a:r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6270A02A-F64D-1590-FA37-729E2E1BC765}"/>
              </a:ext>
            </a:extLst>
          </p:cNvPr>
          <p:cNvSpPr/>
          <p:nvPr/>
        </p:nvSpPr>
        <p:spPr>
          <a:xfrm>
            <a:off x="5590231" y="3664580"/>
            <a:ext cx="1099238" cy="670577"/>
          </a:xfrm>
          <a:prstGeom prst="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Speech Bubble: Rectangle with Corners Rounded 9">
            <a:extLst>
              <a:ext uri="{FF2B5EF4-FFF2-40B4-BE49-F238E27FC236}">
                <a16:creationId xmlns:a16="http://schemas.microsoft.com/office/drawing/2014/main" id="{80AB9894-F662-FFB1-44B2-4C81DBE8BFD6}"/>
              </a:ext>
            </a:extLst>
          </p:cNvPr>
          <p:cNvSpPr/>
          <p:nvPr/>
        </p:nvSpPr>
        <p:spPr>
          <a:xfrm>
            <a:off x="448183" y="1811504"/>
            <a:ext cx="2470974" cy="533827"/>
          </a:xfrm>
          <a:prstGeom prst="wedgeRoundRectCallout">
            <a:avLst>
              <a:gd name="adj1" fmla="val 56729"/>
              <a:gd name="adj2" fmla="val 36187"/>
              <a:gd name="adj3" fmla="val 16667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Choice of layout</a:t>
            </a:r>
            <a:br>
              <a:rPr lang="en-US" dirty="0"/>
            </a:br>
            <a:r>
              <a:rPr lang="en-US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#if CHOICE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= 1</a:t>
            </a: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20CE95B9-03F1-05B9-5C53-ED658F5D3701}"/>
              </a:ext>
            </a:extLst>
          </p:cNvPr>
          <p:cNvSpPr/>
          <p:nvPr/>
        </p:nvSpPr>
        <p:spPr>
          <a:xfrm>
            <a:off x="9260629" y="1917729"/>
            <a:ext cx="2470974" cy="396321"/>
          </a:xfrm>
          <a:prstGeom prst="wedgeRoundRectCallout">
            <a:avLst>
              <a:gd name="adj1" fmla="val -55983"/>
              <a:gd name="adj2" fmla="val 35306"/>
              <a:gd name="adj3" fmla="val 16667"/>
            </a:avLst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Categorical value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2AE935-6135-FF9E-8DE3-57AF290EEA84}"/>
              </a:ext>
            </a:extLst>
          </p:cNvPr>
          <p:cNvSpPr txBox="1"/>
          <p:nvPr/>
        </p:nvSpPr>
        <p:spPr>
          <a:xfrm>
            <a:off x="4889459" y="1411183"/>
            <a:ext cx="2666114" cy="369332"/>
          </a:xfrm>
          <a:prstGeom prst="wedgeRectCallout">
            <a:avLst>
              <a:gd name="adj1" fmla="val 374"/>
              <a:gd name="adj2" fmla="val 162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-D parameter=value</a:t>
            </a:r>
          </a:p>
        </p:txBody>
      </p: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4B79FC75-E7A8-9028-A1F8-9FC3B360D73A}"/>
              </a:ext>
            </a:extLst>
          </p:cNvPr>
          <p:cNvCxnSpPr>
            <a:cxnSpLocks/>
            <a:stCxn id="14" idx="0"/>
            <a:endCxn id="16" idx="3"/>
          </p:cNvCxnSpPr>
          <p:nvPr/>
        </p:nvCxnSpPr>
        <p:spPr>
          <a:xfrm rot="16200000" flipV="1">
            <a:off x="8864905" y="286517"/>
            <a:ext cx="321880" cy="2940543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Curved 27">
            <a:extLst>
              <a:ext uri="{FF2B5EF4-FFF2-40B4-BE49-F238E27FC236}">
                <a16:creationId xmlns:a16="http://schemas.microsoft.com/office/drawing/2014/main" id="{1B743716-5A26-8119-52C1-05AC74AA0158}"/>
              </a:ext>
            </a:extLst>
          </p:cNvPr>
          <p:cNvCxnSpPr>
            <a:cxnSpLocks/>
            <a:stCxn id="16" idx="1"/>
            <a:endCxn id="10" idx="0"/>
          </p:cNvCxnSpPr>
          <p:nvPr/>
        </p:nvCxnSpPr>
        <p:spPr>
          <a:xfrm rot="10800000" flipV="1">
            <a:off x="1683671" y="1595848"/>
            <a:ext cx="3205789" cy="215655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Speech Bubble: Rectangle with Corners Rounded 39">
            <a:extLst>
              <a:ext uri="{FF2B5EF4-FFF2-40B4-BE49-F238E27FC236}">
                <a16:creationId xmlns:a16="http://schemas.microsoft.com/office/drawing/2014/main" id="{FA9C8980-73EE-E008-CB22-42AB34A781C3}"/>
              </a:ext>
            </a:extLst>
          </p:cNvPr>
          <p:cNvSpPr/>
          <p:nvPr/>
        </p:nvSpPr>
        <p:spPr>
          <a:xfrm>
            <a:off x="9272843" y="2614639"/>
            <a:ext cx="2470974" cy="396321"/>
          </a:xfrm>
          <a:prstGeom prst="wedgeRoundRectCallout">
            <a:avLst>
              <a:gd name="adj1" fmla="val -55701"/>
              <a:gd name="adj2" fmla="val -33382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Numerical value</a:t>
            </a:r>
            <a:endParaRPr 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89335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391B7BB-BC4C-DBA7-B522-2D603B3BF5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051" y="2747513"/>
            <a:ext cx="4919167" cy="307447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9C5CD64-6486-850E-0A2A-48532AE26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D7C34B-EFD9-4F73-1FB8-ECD089B16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21DD6E-5048-4D3D-823A-657D259BCC38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F7263E-02F8-A021-8D87-59864096B5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10</a:t>
            </a:fld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8EE12D-A54F-6CFD-63D4-ED8425AA5254}"/>
              </a:ext>
            </a:extLst>
          </p:cNvPr>
          <p:cNvSpPr txBox="1"/>
          <p:nvPr/>
        </p:nvSpPr>
        <p:spPr>
          <a:xfrm>
            <a:off x="2335442" y="5821992"/>
            <a:ext cx="15776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Serial runtime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94ADD4-4CFC-E812-3B36-B6402C655DF5}"/>
              </a:ext>
            </a:extLst>
          </p:cNvPr>
          <p:cNvSpPr txBox="1"/>
          <p:nvPr/>
        </p:nvSpPr>
        <p:spPr>
          <a:xfrm>
            <a:off x="4083984" y="2137112"/>
            <a:ext cx="1626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 err="1"/>
              <a:t>PolyBench</a:t>
            </a:r>
            <a:r>
              <a:rPr lang="en-US" noProof="0" dirty="0"/>
              <a:t>/C</a:t>
            </a:r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9FEFA2A7-B28D-4893-B5BE-441513E53224}"/>
              </a:ext>
            </a:extLst>
          </p:cNvPr>
          <p:cNvSpPr/>
          <p:nvPr/>
        </p:nvSpPr>
        <p:spPr>
          <a:xfrm rot="16200000">
            <a:off x="4722869" y="-1773373"/>
            <a:ext cx="241068" cy="8800703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3698DB-93D9-A5F0-02CC-BCBD40643F77}"/>
              </a:ext>
            </a:extLst>
          </p:cNvPr>
          <p:cNvSpPr txBox="1"/>
          <p:nvPr/>
        </p:nvSpPr>
        <p:spPr>
          <a:xfrm>
            <a:off x="9845901" y="2299485"/>
            <a:ext cx="19030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 err="1"/>
              <a:t>PolyBench</a:t>
            </a:r>
            <a:r>
              <a:rPr lang="en-US" noProof="0" dirty="0"/>
              <a:t>/GPU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5B9092E-CEC8-7BAA-4EAF-6DF2358677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9873" y="2868048"/>
            <a:ext cx="1389266" cy="236084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9DFD6F-FACD-00D1-E9AB-84DDD3BD2D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0297" y="2868048"/>
            <a:ext cx="1389266" cy="236084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1F00E57-C02A-3826-7043-E1771BA4C8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5226" y="2668817"/>
            <a:ext cx="1476298" cy="2508746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483A899-FCA6-734B-1BF1-F098BCA106E6}"/>
              </a:ext>
            </a:extLst>
          </p:cNvPr>
          <p:cNvSpPr txBox="1"/>
          <p:nvPr/>
        </p:nvSpPr>
        <p:spPr>
          <a:xfrm>
            <a:off x="6610927" y="5164766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OpenMP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964486E-966E-9592-1DC4-84988B7901F0}"/>
              </a:ext>
            </a:extLst>
          </p:cNvPr>
          <p:cNvSpPr txBox="1"/>
          <p:nvPr/>
        </p:nvSpPr>
        <p:spPr>
          <a:xfrm>
            <a:off x="8610600" y="5177563"/>
            <a:ext cx="574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TBB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F2EF67-657C-ADE5-06D6-C5D272407884}"/>
              </a:ext>
            </a:extLst>
          </p:cNvPr>
          <p:cNvSpPr txBox="1"/>
          <p:nvPr/>
        </p:nvSpPr>
        <p:spPr>
          <a:xfrm>
            <a:off x="10432220" y="5072356"/>
            <a:ext cx="790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CUDA</a:t>
            </a:r>
          </a:p>
        </p:txBody>
      </p:sp>
    </p:spTree>
    <p:extLst>
      <p:ext uri="{BB962C8B-B14F-4D97-AF65-F5344CB8AC3E}">
        <p14:creationId xmlns:p14="http://schemas.microsoft.com/office/powerpoint/2010/main" val="522048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F9F778-9FB2-2C54-1D76-BC106C3A2E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31333D-65C9-99FE-A895-52D7BE3D9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90D10BE1-6FF6-CFAF-522A-ABB1D189E3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>
                <a:solidFill>
                  <a:srgbClr val="C00000"/>
                </a:solidFill>
              </a:rPr>
              <a:t>Slightly more verbose</a:t>
            </a:r>
          </a:p>
          <a:p>
            <a:r>
              <a:rPr lang="en-US" noProof="0" dirty="0">
                <a:solidFill>
                  <a:schemeClr val="accent6"/>
                </a:solidFill>
              </a:rPr>
              <a:t>Less complex control flow</a:t>
            </a:r>
          </a:p>
          <a:p>
            <a:r>
              <a:rPr lang="en-US" noProof="0" dirty="0">
                <a:solidFill>
                  <a:srgbClr val="0070C0"/>
                </a:solidFill>
              </a:rPr>
              <a:t>Easier indexation</a:t>
            </a:r>
          </a:p>
          <a:p>
            <a:endParaRPr lang="en-US" noProof="0" dirty="0">
              <a:solidFill>
                <a:srgbClr val="0070C0"/>
              </a:solidFill>
            </a:endParaRPr>
          </a:p>
          <a:p>
            <a:pPr>
              <a:buFont typeface="Aptos" panose="020B0004020202020204" pitchFamily="34" charset="0"/>
              <a:buChar char="+"/>
            </a:pPr>
            <a:r>
              <a:rPr lang="en-US" noProof="0" dirty="0"/>
              <a:t>Higher flexibility</a:t>
            </a:r>
          </a:p>
          <a:p>
            <a:pPr>
              <a:buFont typeface="Aptos" panose="020B0004020202020204" pitchFamily="34" charset="0"/>
              <a:buChar char="+"/>
            </a:pPr>
            <a:r>
              <a:rPr lang="en-US" noProof="0" dirty="0"/>
              <a:t>Type safety (checked dimensions)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82A217-522C-9881-8C78-59994DAAB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C01F6-8E80-4F75-81D6-E35CABA351AD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9985D-B777-F27B-0FBA-73D193377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11</a:t>
            </a:fld>
            <a:endParaRPr lang="en-US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6199549-C2F9-0F20-FD16-454B08B67F83}"/>
              </a:ext>
            </a:extLst>
          </p:cNvPr>
          <p:cNvGrpSpPr/>
          <p:nvPr/>
        </p:nvGrpSpPr>
        <p:grpSpPr>
          <a:xfrm>
            <a:off x="5521626" y="1230285"/>
            <a:ext cx="6339251" cy="3310304"/>
            <a:chOff x="5048957" y="2128473"/>
            <a:chExt cx="5592052" cy="2920123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F04FE17F-EA26-4159-D3FA-E24B481BB46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048957" y="2128473"/>
              <a:ext cx="5592052" cy="2850850"/>
            </a:xfrm>
            <a:prstGeom prst="rect">
              <a:avLst/>
            </a:prstGeom>
          </p:spPr>
        </p:pic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32B97BC-3800-ACC5-7BFA-50147B7B6D49}"/>
                </a:ext>
              </a:extLst>
            </p:cNvPr>
            <p:cNvSpPr/>
            <p:nvPr/>
          </p:nvSpPr>
          <p:spPr>
            <a:xfrm>
              <a:off x="9667703" y="2348513"/>
              <a:ext cx="806334" cy="677321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D26600D9-4B00-4F31-3A6D-E2596CFC7619}"/>
                </a:ext>
              </a:extLst>
            </p:cNvPr>
            <p:cNvSpPr/>
            <p:nvPr/>
          </p:nvSpPr>
          <p:spPr>
            <a:xfrm>
              <a:off x="9667703" y="3418199"/>
              <a:ext cx="806334" cy="206149"/>
            </a:xfrm>
            <a:prstGeom prst="ellipse">
              <a:avLst/>
            </a:prstGeom>
            <a:noFill/>
            <a:ln w="381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A10C763-DA46-14E6-7C8A-BA0BEDAC3678}"/>
                </a:ext>
              </a:extLst>
            </p:cNvPr>
            <p:cNvSpPr/>
            <p:nvPr/>
          </p:nvSpPr>
          <p:spPr>
            <a:xfrm>
              <a:off x="9667703" y="4114800"/>
              <a:ext cx="806334" cy="502751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370E709-4729-0F29-3C2F-A7DF2A616475}"/>
                </a:ext>
              </a:extLst>
            </p:cNvPr>
            <p:cNvSpPr/>
            <p:nvPr/>
          </p:nvSpPr>
          <p:spPr>
            <a:xfrm>
              <a:off x="9667703" y="4545845"/>
              <a:ext cx="806334" cy="502751"/>
            </a:xfrm>
            <a:prstGeom prst="ellipse">
              <a:avLst/>
            </a:prstGeom>
            <a:noFill/>
            <a:ln w="38100">
              <a:solidFill>
                <a:schemeClr val="accent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31854666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>
            <a:extLst>
              <a:ext uri="{FF2B5EF4-FFF2-40B4-BE49-F238E27FC236}">
                <a16:creationId xmlns:a16="http://schemas.microsoft.com/office/drawing/2014/main" id="{EE3B59AB-A2B0-AC08-2ABA-C28A804C1D65}"/>
              </a:ext>
            </a:extLst>
          </p:cNvPr>
          <p:cNvSpPr/>
          <p:nvPr/>
        </p:nvSpPr>
        <p:spPr>
          <a:xfrm>
            <a:off x="7453313" y="2164167"/>
            <a:ext cx="676275" cy="217083"/>
          </a:xfrm>
          <a:prstGeom prst="rect">
            <a:avLst/>
          </a:prstGeom>
          <a:solidFill>
            <a:srgbClr val="80808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CDFDB58-EA38-9006-322B-F713E3FA8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Distributed initialization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C95CC93-9CA9-7209-C22C-7D083498E953}"/>
              </a:ext>
            </a:extLst>
          </p:cNvPr>
          <p:cNvSpPr txBox="1"/>
          <p:nvPr/>
        </p:nvSpPr>
        <p:spPr>
          <a:xfrm>
            <a:off x="6350978" y="1712569"/>
            <a:ext cx="34619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noProof="0" dirty="0"/>
              <a:t>Binding to MPI communicator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057125-4E7B-776B-DCD0-38C2BDDEA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8553D1-8D82-4D70-AAA7-91480DF3CCDB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0D6802-E8E6-C834-23FA-38D2C05CB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12</a:t>
            </a:fld>
            <a:endParaRPr lang="en-US" noProof="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081B18-2097-F218-444D-8457FDAFE687}"/>
              </a:ext>
            </a:extLst>
          </p:cNvPr>
          <p:cNvSpPr txBox="1"/>
          <p:nvPr/>
        </p:nvSpPr>
        <p:spPr>
          <a:xfrm>
            <a:off x="6001728" y="4672963"/>
            <a:ext cx="50233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US" noProof="0" dirty="0"/>
              <a:t>Automatic Layout </a:t>
            </a:r>
            <a:r>
              <a:rPr lang="en-US" noProof="0" dirty="0">
                <a:sym typeface="Wingdings" panose="05000000000000000000" pitchFamily="2" charset="2"/>
              </a:rPr>
              <a:t> MPI datatype translation</a:t>
            </a:r>
            <a:endParaRPr lang="en-US" noProof="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0A04A5-C71E-DF2C-A354-3E03F875058A}"/>
              </a:ext>
            </a:extLst>
          </p:cNvPr>
          <p:cNvSpPr txBox="1"/>
          <p:nvPr/>
        </p:nvSpPr>
        <p:spPr>
          <a:xfrm>
            <a:off x="3505200" y="2081901"/>
            <a:ext cx="8584859" cy="227331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MPItrav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b="0" noProof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mpi_traverser</a:t>
            </a:r>
            <a:r>
              <a:rPr lang="en-US" sz="400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b="0" noProof="0" dirty="0">
                <a:solidFill>
                  <a:srgbClr val="A31515"/>
                </a:solidFill>
                <a:effectLst/>
                <a:latin typeface="Fira Code" panose="020B0809050000020004" pitchFamily="49" charset="0"/>
              </a:rPr>
              <a:t>'M'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r>
              <a:rPr lang="en-US" sz="4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traverser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b="0" noProof="0" dirty="0">
                <a:solidFill>
                  <a:srgbClr val="0000FF"/>
                </a:solidFill>
                <a:effectLst/>
                <a:latin typeface="Fira Code" panose="020B0809050000020004" pitchFamily="49" charset="0"/>
              </a:rPr>
              <a:t>MPI_COMM_WORLD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endParaRPr lang="en-US" noProof="0" dirty="0">
              <a:solidFill>
                <a:srgbClr val="000000"/>
              </a:solidFill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dirty="0">
                <a:solidFill>
                  <a:srgbClr val="267F99"/>
                </a:solidFill>
                <a:latin typeface="Fira Code" panose="020B0809050000020004" pitchFamily="49" charset="0"/>
              </a:rPr>
              <a:t>auto Tile</a:t>
            </a:r>
            <a:r>
              <a:rPr lang="en-US" dirty="0">
                <a:solidFill>
                  <a:srgbClr val="000000"/>
                </a:solidFill>
                <a:latin typeface="Fira Code" panose="020B0809050000020004" pitchFamily="49" charset="0"/>
              </a:rPr>
              <a:t> = …</a:t>
            </a:r>
            <a:endParaRPr lang="en-US" noProof="0" dirty="0">
              <a:solidFill>
                <a:srgbClr val="000000"/>
              </a:solidFill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endParaRPr lang="en-US" noProof="0" dirty="0">
              <a:solidFill>
                <a:srgbClr val="000000"/>
              </a:solidFill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800" b="0" noProof="0" dirty="0" err="1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MPItrav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| [&amp;](</a:t>
            </a:r>
            <a:r>
              <a:rPr lang="en-US" sz="18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auto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8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8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Tile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[</a:t>
            </a:r>
            <a:r>
              <a:rPr lang="en-US" sz="18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] = </a:t>
            </a:r>
            <a:r>
              <a:rPr lang="en-US" sz="1800" b="0" noProof="0" dirty="0" err="1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init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sz="18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index</a:t>
            </a: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  <a:p>
            <a:pPr>
              <a:lnSpc>
                <a:spcPct val="113095"/>
              </a:lnSpc>
              <a:buNone/>
            </a:pPr>
            <a:r>
              <a:rPr lang="en-US" sz="18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};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35AFA3F-B4AF-ABF4-9BB4-CE1EE90FCB8C}"/>
              </a:ext>
            </a:extLst>
          </p:cNvPr>
          <p:cNvSpPr txBox="1"/>
          <p:nvPr/>
        </p:nvSpPr>
        <p:spPr>
          <a:xfrm>
            <a:off x="6020426" y="5042295"/>
            <a:ext cx="4839852" cy="395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b="0" noProof="0" dirty="0">
                <a:solidFill>
                  <a:srgbClr val="795E26"/>
                </a:solidFill>
                <a:effectLst/>
                <a:latin typeface="Fira Code" panose="020B0809050000020004" pitchFamily="49" charset="0"/>
              </a:rPr>
              <a:t>gather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(</a:t>
            </a:r>
            <a:r>
              <a:rPr lang="en-US" noProof="0" dirty="0">
                <a:solidFill>
                  <a:srgbClr val="0070C1"/>
                </a:solidFill>
                <a:latin typeface="Fira Code" panose="020B0809050000020004" pitchFamily="49" charset="0"/>
              </a:rPr>
              <a:t>Tile</a:t>
            </a:r>
            <a:r>
              <a:rPr lang="en-US" noProof="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noProof="0" dirty="0">
                <a:solidFill>
                  <a:srgbClr val="0070C1"/>
                </a:solidFill>
                <a:latin typeface="Fira Code" panose="020B0809050000020004" pitchFamily="49" charset="0"/>
              </a:rPr>
              <a:t>Data</a:t>
            </a:r>
            <a:r>
              <a:rPr lang="en-US" noProof="0" dirty="0">
                <a:solidFill>
                  <a:srgbClr val="000000"/>
                </a:solidFill>
                <a:latin typeface="Fira Code" panose="020B0809050000020004" pitchFamily="49" charset="0"/>
              </a:rPr>
              <a:t>, </a:t>
            </a:r>
            <a:r>
              <a:rPr lang="en-US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root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, </a:t>
            </a:r>
            <a:r>
              <a:rPr lang="en-US" noProof="0" dirty="0" err="1">
                <a:solidFill>
                  <a:srgbClr val="001080"/>
                </a:solidFill>
                <a:latin typeface="Fira Code" panose="020B0809050000020004" pitchFamily="49" charset="0"/>
              </a:rPr>
              <a:t>MPItrav</a:t>
            </a:r>
            <a:r>
              <a:rPr lang="en-US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);</a:t>
            </a:r>
          </a:p>
        </p:txBody>
      </p:sp>
      <p:sp>
        <p:nvSpPr>
          <p:cNvPr id="49" name="Right Brace 48">
            <a:extLst>
              <a:ext uri="{FF2B5EF4-FFF2-40B4-BE49-F238E27FC236}">
                <a16:creationId xmlns:a16="http://schemas.microsoft.com/office/drawing/2014/main" id="{329DFC7F-1CD7-D907-ACE7-DF5BC3131277}"/>
              </a:ext>
            </a:extLst>
          </p:cNvPr>
          <p:cNvSpPr/>
          <p:nvPr/>
        </p:nvSpPr>
        <p:spPr>
          <a:xfrm>
            <a:off x="7615841" y="3384350"/>
            <a:ext cx="324197" cy="91350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F331C8-C8ED-B5C4-3373-8B0D250696A0}"/>
              </a:ext>
            </a:extLst>
          </p:cNvPr>
          <p:cNvSpPr txBox="1"/>
          <p:nvPr/>
        </p:nvSpPr>
        <p:spPr>
          <a:xfrm>
            <a:off x="7940038" y="3658171"/>
            <a:ext cx="23929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Writes to the local tile </a:t>
            </a:r>
          </a:p>
        </p:txBody>
      </p:sp>
      <p:sp>
        <p:nvSpPr>
          <p:cNvPr id="54" name="Right Brace 53">
            <a:extLst>
              <a:ext uri="{FF2B5EF4-FFF2-40B4-BE49-F238E27FC236}">
                <a16:creationId xmlns:a16="http://schemas.microsoft.com/office/drawing/2014/main" id="{FBD68E4F-2E96-6FDC-0CB9-90A5A2A5CA64}"/>
              </a:ext>
            </a:extLst>
          </p:cNvPr>
          <p:cNvSpPr/>
          <p:nvPr/>
        </p:nvSpPr>
        <p:spPr>
          <a:xfrm rot="5400000">
            <a:off x="8357720" y="3180661"/>
            <a:ext cx="169251" cy="4631184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A4348FA-14AF-AE42-2449-6C4790D0706A}"/>
              </a:ext>
            </a:extLst>
          </p:cNvPr>
          <p:cNvSpPr txBox="1"/>
          <p:nvPr/>
        </p:nvSpPr>
        <p:spPr>
          <a:xfrm>
            <a:off x="6706462" y="5644447"/>
            <a:ext cx="3467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noProof="0" dirty="0"/>
              <a:t>Gathers the tiles into the result</a:t>
            </a:r>
          </a:p>
        </p:txBody>
      </p:sp>
      <p:pic>
        <p:nvPicPr>
          <p:cNvPr id="6" name="Graphic 5" descr="Server with solid fill">
            <a:extLst>
              <a:ext uri="{FF2B5EF4-FFF2-40B4-BE49-F238E27FC236}">
                <a16:creationId xmlns:a16="http://schemas.microsoft.com/office/drawing/2014/main" id="{AE5C4A6A-2A3F-D5E7-21AA-E055A392DE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843841" y="3178142"/>
            <a:ext cx="521160" cy="52116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DD2275A2-A9C6-807A-E3FF-34B66CDA25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21784" y="3056457"/>
            <a:ext cx="1543050" cy="3067050"/>
          </a:xfrm>
          <a:prstGeom prst="rect">
            <a:avLst/>
          </a:prstGeom>
        </p:spPr>
      </p:pic>
      <p:pic>
        <p:nvPicPr>
          <p:cNvPr id="16" name="Graphic 15" descr="Server with solid fill">
            <a:extLst>
              <a:ext uri="{FF2B5EF4-FFF2-40B4-BE49-F238E27FC236}">
                <a16:creationId xmlns:a16="http://schemas.microsoft.com/office/drawing/2014/main" id="{082AF5A3-AB88-5B95-D0E8-599F0C027E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flipH="1">
            <a:off x="843841" y="4004683"/>
            <a:ext cx="521160" cy="521160"/>
          </a:xfrm>
          <a:prstGeom prst="rect">
            <a:avLst/>
          </a:prstGeom>
        </p:spPr>
      </p:pic>
      <p:pic>
        <p:nvPicPr>
          <p:cNvPr id="19" name="Graphic 18" descr="Server with solid fill">
            <a:extLst>
              <a:ext uri="{FF2B5EF4-FFF2-40B4-BE49-F238E27FC236}">
                <a16:creationId xmlns:a16="http://schemas.microsoft.com/office/drawing/2014/main" id="{71641C04-2032-47B1-3172-33AD1DEB34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843841" y="4712245"/>
            <a:ext cx="521160" cy="521160"/>
          </a:xfrm>
          <a:prstGeom prst="rect">
            <a:avLst/>
          </a:prstGeom>
        </p:spPr>
      </p:pic>
      <p:pic>
        <p:nvPicPr>
          <p:cNvPr id="23" name="Graphic 22" descr="Server with solid fill">
            <a:extLst>
              <a:ext uri="{FF2B5EF4-FFF2-40B4-BE49-F238E27FC236}">
                <a16:creationId xmlns:a16="http://schemas.microsoft.com/office/drawing/2014/main" id="{7E15CA50-90A7-5F5F-4D61-40F7516A32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flipH="1">
            <a:off x="843841" y="5423149"/>
            <a:ext cx="521160" cy="521160"/>
          </a:xfrm>
          <a:prstGeom prst="rect">
            <a:avLst/>
          </a:prstGeom>
        </p:spPr>
      </p:pic>
      <p:sp>
        <p:nvSpPr>
          <p:cNvPr id="28" name="Right Brace 27">
            <a:extLst>
              <a:ext uri="{FF2B5EF4-FFF2-40B4-BE49-F238E27FC236}">
                <a16:creationId xmlns:a16="http://schemas.microsoft.com/office/drawing/2014/main" id="{33DFE98B-B773-C0A8-5D8E-16846E420AC9}"/>
              </a:ext>
            </a:extLst>
          </p:cNvPr>
          <p:cNvSpPr/>
          <p:nvPr/>
        </p:nvSpPr>
        <p:spPr>
          <a:xfrm>
            <a:off x="3226915" y="3056457"/>
            <a:ext cx="153563" cy="306705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E10E03B-CD42-27DC-6DF5-CB9596382EE5}"/>
                  </a:ext>
                </a:extLst>
              </p:cNvPr>
              <p:cNvSpPr txBox="1"/>
              <p:nvPr/>
            </p:nvSpPr>
            <p:spPr>
              <a:xfrm>
                <a:off x="3380478" y="4405316"/>
                <a:ext cx="156739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blocks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E10E03B-CD42-27DC-6DF5-CB9596382E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0478" y="4405316"/>
                <a:ext cx="1567391" cy="369332"/>
              </a:xfrm>
              <a:prstGeom prst="rect">
                <a:avLst/>
              </a:prstGeom>
              <a:blipFill>
                <a:blip r:embed="rId8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30D2A10-C3C9-5980-4B7C-1920E7A6499E}"/>
                  </a:ext>
                </a:extLst>
              </p:cNvPr>
              <p:cNvSpPr txBox="1"/>
              <p:nvPr/>
            </p:nvSpPr>
            <p:spPr>
              <a:xfrm>
                <a:off x="1576604" y="2621556"/>
                <a:ext cx="156739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830D2A10-C3C9-5980-4B7C-1920E7A649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76604" y="2621556"/>
                <a:ext cx="1567391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4A4A075C-DE25-365C-6E81-3128C8CB92C4}"/>
              </a:ext>
            </a:extLst>
          </p:cNvPr>
          <p:cNvCxnSpPr>
            <a:cxnSpLocks/>
          </p:cNvCxnSpPr>
          <p:nvPr/>
        </p:nvCxnSpPr>
        <p:spPr>
          <a:xfrm flipH="1">
            <a:off x="1336675" y="3422719"/>
            <a:ext cx="207169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AD1030F-B6DD-00FB-A2C5-AE5590588854}"/>
              </a:ext>
            </a:extLst>
          </p:cNvPr>
          <p:cNvCxnSpPr>
            <a:cxnSpLocks/>
          </p:cNvCxnSpPr>
          <p:nvPr/>
        </p:nvCxnSpPr>
        <p:spPr>
          <a:xfrm flipH="1">
            <a:off x="1336675" y="4215675"/>
            <a:ext cx="207169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00B751AB-0537-2DC4-981F-1F8596A37ABB}"/>
              </a:ext>
            </a:extLst>
          </p:cNvPr>
          <p:cNvCxnSpPr>
            <a:cxnSpLocks/>
          </p:cNvCxnSpPr>
          <p:nvPr/>
        </p:nvCxnSpPr>
        <p:spPr>
          <a:xfrm flipH="1">
            <a:off x="1336675" y="4972825"/>
            <a:ext cx="207169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D19B355-FA91-A9A5-2FEF-259C20C86AF7}"/>
              </a:ext>
            </a:extLst>
          </p:cNvPr>
          <p:cNvCxnSpPr>
            <a:cxnSpLocks/>
          </p:cNvCxnSpPr>
          <p:nvPr/>
        </p:nvCxnSpPr>
        <p:spPr>
          <a:xfrm flipH="1">
            <a:off x="1336675" y="5735129"/>
            <a:ext cx="207169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D675D228-CE77-DE58-39D4-695A05595AAD}"/>
              </a:ext>
            </a:extLst>
          </p:cNvPr>
          <p:cNvSpPr txBox="1"/>
          <p:nvPr/>
        </p:nvSpPr>
        <p:spPr>
          <a:xfrm>
            <a:off x="2009775" y="6123506"/>
            <a:ext cx="9207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noProof="0" dirty="0">
                <a:solidFill>
                  <a:srgbClr val="0070C1"/>
                </a:solidFill>
                <a:latin typeface="Fira Code" panose="020B0809050000020004" pitchFamily="49" charset="0"/>
              </a:rPr>
              <a:t>Data</a:t>
            </a:r>
            <a:endParaRPr lang="en-US" dirty="0"/>
          </a:p>
        </p:txBody>
      </p:sp>
      <p:sp>
        <p:nvSpPr>
          <p:cNvPr id="50" name="Left Brace 49">
            <a:extLst>
              <a:ext uri="{FF2B5EF4-FFF2-40B4-BE49-F238E27FC236}">
                <a16:creationId xmlns:a16="http://schemas.microsoft.com/office/drawing/2014/main" id="{E95766C1-B5D9-13B5-FB19-BBB779E706C4}"/>
              </a:ext>
            </a:extLst>
          </p:cNvPr>
          <p:cNvSpPr/>
          <p:nvPr/>
        </p:nvSpPr>
        <p:spPr>
          <a:xfrm>
            <a:off x="741501" y="3090333"/>
            <a:ext cx="122402" cy="3111531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978308B-BCCF-A96E-398B-794D49740CFD}"/>
              </a:ext>
            </a:extLst>
          </p:cNvPr>
          <p:cNvSpPr txBox="1"/>
          <p:nvPr/>
        </p:nvSpPr>
        <p:spPr>
          <a:xfrm rot="16200000">
            <a:off x="-547061" y="4461432"/>
            <a:ext cx="2169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Computation nodes</a:t>
            </a:r>
          </a:p>
        </p:txBody>
      </p: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9780762E-A23C-5469-71C2-48809E66AA91}"/>
              </a:ext>
            </a:extLst>
          </p:cNvPr>
          <p:cNvCxnSpPr/>
          <p:nvPr/>
        </p:nvCxnSpPr>
        <p:spPr>
          <a:xfrm flipH="1">
            <a:off x="5493380" y="2868843"/>
            <a:ext cx="85759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0589E420-67E2-ACC3-4070-A0BB22EE89A0}"/>
              </a:ext>
            </a:extLst>
          </p:cNvPr>
          <p:cNvSpPr txBox="1"/>
          <p:nvPr/>
        </p:nvSpPr>
        <p:spPr>
          <a:xfrm>
            <a:off x="6350978" y="2671479"/>
            <a:ext cx="3662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Define using dimensions of </a:t>
            </a:r>
            <a:r>
              <a:rPr lang="en-US" dirty="0" err="1"/>
              <a:t>MPItrav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90220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D3D26-2B4F-0ACB-E3E2-25555241B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775342-3158-BFC3-939C-F28445402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Automatic transformation in communication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F10516-14DF-329F-F9DD-AD879766D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64091F-5E68-4514-9CCC-EC8E47A52419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29A66E-8887-529B-AA75-343549185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13</a:t>
            </a:fld>
            <a:endParaRPr lang="en-US" noProof="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650573C-B606-1D93-3169-1638F303D228}"/>
              </a:ext>
            </a:extLst>
          </p:cNvPr>
          <p:cNvGrpSpPr/>
          <p:nvPr/>
        </p:nvGrpSpPr>
        <p:grpSpPr>
          <a:xfrm>
            <a:off x="4919971" y="1404368"/>
            <a:ext cx="2631264" cy="2394459"/>
            <a:chOff x="4919971" y="1404368"/>
            <a:chExt cx="2631264" cy="2394459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1A4FEEA-F6A5-2F0C-61D6-D842A122ADD5}"/>
                </a:ext>
              </a:extLst>
            </p:cNvPr>
            <p:cNvSpPr txBox="1"/>
            <p:nvPr/>
          </p:nvSpPr>
          <p:spPr>
            <a:xfrm>
              <a:off x="5106102" y="1404368"/>
              <a:ext cx="23903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95E26"/>
                  </a:solidFill>
                  <a:latin typeface="Fira Code" panose="020B0809050000020004" pitchFamily="49" charset="0"/>
                </a:rPr>
                <a:t>send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(</a:t>
              </a:r>
              <a:r>
                <a:rPr lang="en-US" dirty="0" err="1">
                  <a:solidFill>
                    <a:srgbClr val="001080"/>
                  </a:solidFill>
                  <a:latin typeface="Fira Code" panose="020B0809050000020004" pitchFamily="49" charset="0"/>
                </a:rPr>
                <a:t>row_major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);</a:t>
              </a:r>
            </a:p>
          </p:txBody>
        </p:sp>
        <p:pic>
          <p:nvPicPr>
            <p:cNvPr id="18" name="Graphic 17">
              <a:extLst>
                <a:ext uri="{FF2B5EF4-FFF2-40B4-BE49-F238E27FC236}">
                  <a16:creationId xmlns:a16="http://schemas.microsoft.com/office/drawing/2014/main" id="{06EB6A87-C410-9B14-96CD-10048017355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1" r="59919" b="62224"/>
            <a:stretch>
              <a:fillRect/>
            </a:stretch>
          </p:blipFill>
          <p:spPr>
            <a:xfrm>
              <a:off x="4919971" y="1812471"/>
              <a:ext cx="2631264" cy="1986356"/>
            </a:xfrm>
            <a:prstGeom prst="rect">
              <a:avLst/>
            </a:prstGeom>
          </p:spPr>
        </p:pic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A959BC3A-EAE5-7038-FDF7-CE47FECE7DCB}"/>
              </a:ext>
            </a:extLst>
          </p:cNvPr>
          <p:cNvGrpSpPr/>
          <p:nvPr/>
        </p:nvGrpSpPr>
        <p:grpSpPr>
          <a:xfrm>
            <a:off x="8459256" y="3152001"/>
            <a:ext cx="2390398" cy="3497304"/>
            <a:chOff x="8459256" y="3152001"/>
            <a:chExt cx="2390398" cy="349730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10BA276-D3D5-43CD-BA0F-E78D4E84387D}"/>
                </a:ext>
              </a:extLst>
            </p:cNvPr>
            <p:cNvSpPr txBox="1"/>
            <p:nvPr/>
          </p:nvSpPr>
          <p:spPr>
            <a:xfrm>
              <a:off x="8459256" y="3607132"/>
              <a:ext cx="23903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795E26"/>
                  </a:solidFill>
                  <a:latin typeface="Fira Code" panose="020B0809050000020004" pitchFamily="49" charset="0"/>
                </a:rPr>
                <a:t>recv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(</a:t>
              </a:r>
              <a:r>
                <a:rPr lang="en-US" dirty="0" err="1">
                  <a:solidFill>
                    <a:srgbClr val="001080"/>
                  </a:solidFill>
                  <a:latin typeface="Fira Code" panose="020B0809050000020004" pitchFamily="49" charset="0"/>
                </a:rPr>
                <a:t>col_major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);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62521EF-5391-2B3B-B4E1-631E6C4FEF95}"/>
                </a:ext>
              </a:extLst>
            </p:cNvPr>
            <p:cNvSpPr txBox="1"/>
            <p:nvPr/>
          </p:nvSpPr>
          <p:spPr>
            <a:xfrm>
              <a:off x="9101870" y="3152001"/>
              <a:ext cx="935064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noProof="0" dirty="0"/>
                <a:t>naive</a:t>
              </a:r>
              <a:endParaRPr lang="en-US" b="1" noProof="0" dirty="0"/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B3AE9794-A1E1-1CB2-4E89-0355A8BF2AA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69206" b="49586"/>
            <a:stretch>
              <a:fillRect/>
            </a:stretch>
          </p:blipFill>
          <p:spPr>
            <a:xfrm>
              <a:off x="8558652" y="3998343"/>
              <a:ext cx="2021500" cy="2650962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5677424-78DF-5606-13A7-A5CE7C02CC88}"/>
              </a:ext>
            </a:extLst>
          </p:cNvPr>
          <p:cNvGrpSpPr/>
          <p:nvPr/>
        </p:nvGrpSpPr>
        <p:grpSpPr>
          <a:xfrm>
            <a:off x="1934048" y="3152001"/>
            <a:ext cx="2390398" cy="3407922"/>
            <a:chOff x="1934048" y="3152001"/>
            <a:chExt cx="2390398" cy="3407922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39C9CAD-9E1E-7EC1-4429-D017CA1092E1}"/>
                </a:ext>
              </a:extLst>
            </p:cNvPr>
            <p:cNvSpPr txBox="1"/>
            <p:nvPr/>
          </p:nvSpPr>
          <p:spPr>
            <a:xfrm>
              <a:off x="2667595" y="3152001"/>
              <a:ext cx="81003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noProof="0" dirty="0"/>
                <a:t>ours</a:t>
              </a:r>
              <a:endParaRPr lang="en-US" b="1" noProof="0" dirty="0"/>
            </a:p>
          </p:txBody>
        </p:sp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51998753-317E-8821-611A-BAD4E67A202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t="49586" r="69685"/>
            <a:stretch>
              <a:fillRect/>
            </a:stretch>
          </p:blipFill>
          <p:spPr>
            <a:xfrm>
              <a:off x="2077559" y="3908961"/>
              <a:ext cx="1990102" cy="2650962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61FBEC7-CB4A-332B-8305-81A140E2B4BC}"/>
                </a:ext>
              </a:extLst>
            </p:cNvPr>
            <p:cNvSpPr txBox="1"/>
            <p:nvPr/>
          </p:nvSpPr>
          <p:spPr>
            <a:xfrm>
              <a:off x="1934048" y="3530585"/>
              <a:ext cx="23903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795E26"/>
                  </a:solidFill>
                  <a:latin typeface="Fira Code" panose="020B0809050000020004" pitchFamily="49" charset="0"/>
                </a:rPr>
                <a:t>recv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(</a:t>
              </a:r>
              <a:r>
                <a:rPr lang="en-US" dirty="0" err="1">
                  <a:solidFill>
                    <a:srgbClr val="001080"/>
                  </a:solidFill>
                  <a:latin typeface="Fira Code" panose="020B0809050000020004" pitchFamily="49" charset="0"/>
                </a:rPr>
                <a:t>col_major</a:t>
              </a:r>
              <a:r>
                <a:rPr lang="en-US" noProof="0" dirty="0">
                  <a:latin typeface="Fira Code" panose="020B0809050000020004" pitchFamily="49" charset="0"/>
                  <a:ea typeface="Fira Code" panose="020B0809050000020004" pitchFamily="49" charset="0"/>
                  <a:cs typeface="Fira Code" panose="020B0809050000020004" pitchFamily="49" charset="0"/>
                </a:rPr>
                <a:t>);</a:t>
              </a:r>
            </a:p>
          </p:txBody>
        </p:sp>
      </p:grp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045E9BC-7505-AE12-2FF8-B6E23CAD3D28}"/>
              </a:ext>
            </a:extLst>
          </p:cNvPr>
          <p:cNvCxnSpPr>
            <a:stCxn id="18" idx="2"/>
            <a:endCxn id="22" idx="3"/>
          </p:cNvCxnSpPr>
          <p:nvPr/>
        </p:nvCxnSpPr>
        <p:spPr>
          <a:xfrm flipH="1">
            <a:off x="4067661" y="3798827"/>
            <a:ext cx="2167942" cy="143561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BDE0C27-4E21-7450-D688-E0A67CB04B34}"/>
              </a:ext>
            </a:extLst>
          </p:cNvPr>
          <p:cNvCxnSpPr>
            <a:stCxn id="18" idx="2"/>
            <a:endCxn id="20" idx="1"/>
          </p:cNvCxnSpPr>
          <p:nvPr/>
        </p:nvCxnSpPr>
        <p:spPr>
          <a:xfrm>
            <a:off x="6235603" y="3798827"/>
            <a:ext cx="2323049" cy="15249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E4C11DF-8744-F535-8D96-016E3870A3DE}"/>
              </a:ext>
            </a:extLst>
          </p:cNvPr>
          <p:cNvSpPr txBox="1"/>
          <p:nvPr/>
        </p:nvSpPr>
        <p:spPr>
          <a:xfrm rot="2037324">
            <a:off x="6100829" y="4624428"/>
            <a:ext cx="2791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Preserves </a:t>
            </a:r>
            <a:r>
              <a:rPr lang="en-US" b="1" noProof="0" dirty="0"/>
              <a:t>physical layout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46AED9-F132-9733-D20A-38A72DC05DB0}"/>
              </a:ext>
            </a:extLst>
          </p:cNvPr>
          <p:cNvSpPr txBox="1"/>
          <p:nvPr/>
        </p:nvSpPr>
        <p:spPr>
          <a:xfrm rot="19575917">
            <a:off x="3771040" y="4487000"/>
            <a:ext cx="2929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Preserves </a:t>
            </a:r>
            <a:r>
              <a:rPr lang="en-US" b="1" noProof="0" dirty="0"/>
              <a:t>logical structure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1C5C1F7-6962-E74A-2AAE-EC3FFFDE66D5}"/>
              </a:ext>
            </a:extLst>
          </p:cNvPr>
          <p:cNvGrpSpPr/>
          <p:nvPr/>
        </p:nvGrpSpPr>
        <p:grpSpPr>
          <a:xfrm>
            <a:off x="8934595" y="1810235"/>
            <a:ext cx="2470005" cy="919943"/>
            <a:chOff x="8934595" y="1810235"/>
            <a:chExt cx="2470005" cy="919943"/>
          </a:xfrm>
        </p:grpSpPr>
        <p:sp>
          <p:nvSpPr>
            <p:cNvPr id="5" name="Speech Bubble: Rectangle with Corners Rounded 4">
              <a:extLst>
                <a:ext uri="{FF2B5EF4-FFF2-40B4-BE49-F238E27FC236}">
                  <a16:creationId xmlns:a16="http://schemas.microsoft.com/office/drawing/2014/main" id="{3B3954D8-6618-8968-9344-B52E3B2C2D66}"/>
                </a:ext>
              </a:extLst>
            </p:cNvPr>
            <p:cNvSpPr/>
            <p:nvPr/>
          </p:nvSpPr>
          <p:spPr>
            <a:xfrm>
              <a:off x="8934595" y="1810235"/>
              <a:ext cx="2470005" cy="898064"/>
            </a:xfrm>
            <a:prstGeom prst="wedgeRoundRectCallout">
              <a:avLst>
                <a:gd name="adj1" fmla="val 7688"/>
                <a:gd name="adj2" fmla="val 153247"/>
                <a:gd name="adj3" fmla="val 16667"/>
              </a:avLst>
            </a:prstGeom>
            <a:solidFill>
              <a:srgbClr val="79BEED"/>
            </a:soli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Speech Bubble: Rectangle with Corners Rounded 9">
              <a:extLst>
                <a:ext uri="{FF2B5EF4-FFF2-40B4-BE49-F238E27FC236}">
                  <a16:creationId xmlns:a16="http://schemas.microsoft.com/office/drawing/2014/main" id="{A64B26CC-455A-7502-D576-5F3D0CEC1479}"/>
                </a:ext>
              </a:extLst>
            </p:cNvPr>
            <p:cNvSpPr/>
            <p:nvPr/>
          </p:nvSpPr>
          <p:spPr>
            <a:xfrm>
              <a:off x="8934595" y="1812471"/>
              <a:ext cx="2470005" cy="898064"/>
            </a:xfrm>
            <a:prstGeom prst="wedgeRoundRectCallout">
              <a:avLst>
                <a:gd name="adj1" fmla="val -111916"/>
                <a:gd name="adj2" fmla="val -72812"/>
                <a:gd name="adj3" fmla="val 16667"/>
              </a:avLst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Same for </a:t>
              </a:r>
              <a:r>
                <a:rPr lang="en-US" dirty="0" err="1">
                  <a:solidFill>
                    <a:srgbClr val="795E26"/>
                  </a:solidFill>
                  <a:latin typeface="Fira Code" panose="020B0809050000020004" pitchFamily="49" charset="0"/>
                </a:rPr>
                <a:t>bcast</a:t>
              </a:r>
              <a:r>
                <a:rPr lang="en-US" dirty="0"/>
                <a:t>, </a:t>
              </a:r>
              <a:r>
                <a:rPr lang="en-US" dirty="0">
                  <a:solidFill>
                    <a:srgbClr val="795E26"/>
                  </a:solidFill>
                  <a:latin typeface="Fira Code" panose="020B0809050000020004" pitchFamily="49" charset="0"/>
                </a:rPr>
                <a:t>scatter</a:t>
              </a:r>
              <a:r>
                <a:rPr lang="en-US" dirty="0"/>
                <a:t>, </a:t>
              </a:r>
              <a:r>
                <a:rPr lang="en-US" dirty="0">
                  <a:solidFill>
                    <a:srgbClr val="795E26"/>
                  </a:solidFill>
                  <a:latin typeface="Fira Code" panose="020B0809050000020004" pitchFamily="49" charset="0"/>
                </a:rPr>
                <a:t>gather</a:t>
              </a:r>
              <a:r>
                <a:rPr lang="en-US" dirty="0"/>
                <a:t>, …</a:t>
              </a: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F41680C2-ADEE-FD1D-982B-41B9FF5E4258}"/>
                </a:ext>
              </a:extLst>
            </p:cNvPr>
            <p:cNvSpPr/>
            <p:nvPr/>
          </p:nvSpPr>
          <p:spPr>
            <a:xfrm>
              <a:off x="10367962" y="2629269"/>
              <a:ext cx="623887" cy="100909"/>
            </a:xfrm>
            <a:prstGeom prst="roundRect">
              <a:avLst>
                <a:gd name="adj" fmla="val 50000"/>
              </a:avLst>
            </a:prstGeom>
            <a:solidFill>
              <a:srgbClr val="7ABEED"/>
            </a:solidFill>
            <a:ln>
              <a:noFill/>
            </a:ln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8415154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9E796-E8D3-B4A5-DE7B-322F63386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3B218F-11A7-3C72-B764-CB088CE459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4862" y="3305637"/>
            <a:ext cx="8602275" cy="292458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406B68-4369-7351-330F-FAD27DE0E1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3204" y="1356359"/>
            <a:ext cx="6725589" cy="1886213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10A9B0C-32AC-B4DC-D921-8746913B5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B8A75C-05AF-4892-8E0E-22A5D3C1A1D7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63094-AC61-E3F3-BAF8-AC409B2B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14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24218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AB43A55-13AD-DFB3-5443-4EA6B4D35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Stencil computation abstractions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9C5298-6963-89FD-4A0D-2B40AEF803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2519B-8553-4EB5-804E-C162E89AEEEB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EB3A830-7137-2C37-9AF7-67F412109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15</a:t>
            </a:fld>
            <a:endParaRPr lang="en-US" noProof="0" dirty="0"/>
          </a:p>
        </p:txBody>
      </p:sp>
      <p:pic>
        <p:nvPicPr>
          <p:cNvPr id="7" name="Graphic 6" descr="Rain with solid fill">
            <a:extLst>
              <a:ext uri="{FF2B5EF4-FFF2-40B4-BE49-F238E27FC236}">
                <a16:creationId xmlns:a16="http://schemas.microsoft.com/office/drawing/2014/main" id="{C82052E5-5676-1353-12D7-18B167CB274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17496" y="1428852"/>
            <a:ext cx="732656" cy="7326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D4FD725-88BE-61BC-EA94-E5BEA6E7C2CD}"/>
              </a:ext>
            </a:extLst>
          </p:cNvPr>
          <p:cNvSpPr txBox="1"/>
          <p:nvPr/>
        </p:nvSpPr>
        <p:spPr>
          <a:xfrm>
            <a:off x="4083685" y="1653739"/>
            <a:ext cx="20892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Weather prediction</a:t>
            </a:r>
          </a:p>
        </p:txBody>
      </p:sp>
      <p:pic>
        <p:nvPicPr>
          <p:cNvPr id="11" name="Graphic 10" descr="Images with solid fill">
            <a:extLst>
              <a:ext uri="{FF2B5EF4-FFF2-40B4-BE49-F238E27FC236}">
                <a16:creationId xmlns:a16="http://schemas.microsoft.com/office/drawing/2014/main" id="{BCB8AB1E-4038-D3A7-C93F-C113F4A994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73769" y="1459455"/>
            <a:ext cx="732656" cy="73265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DC41653-37C0-2B80-EE45-53468F84FBC7}"/>
              </a:ext>
            </a:extLst>
          </p:cNvPr>
          <p:cNvSpPr txBox="1"/>
          <p:nvPr/>
        </p:nvSpPr>
        <p:spPr>
          <a:xfrm>
            <a:off x="7036845" y="1641117"/>
            <a:ext cx="19351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Image processing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BA9A01-C547-889B-493B-188DC700AFAE}"/>
              </a:ext>
            </a:extLst>
          </p:cNvPr>
          <p:cNvSpPr txBox="1"/>
          <p:nvPr/>
        </p:nvSpPr>
        <p:spPr>
          <a:xfrm>
            <a:off x="4748692" y="2585231"/>
            <a:ext cx="29347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 of a 4-point stencil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A97F5A2-4CA4-CAFF-A67E-E3B95DD926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0706" y="2961728"/>
            <a:ext cx="970750" cy="9707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F11FBE-6E66-AF47-90FB-A53F1CB69841}"/>
                  </a:ext>
                </a:extLst>
              </p:cNvPr>
              <p:cNvSpPr txBox="1"/>
              <p:nvPr/>
            </p:nvSpPr>
            <p:spPr>
              <a:xfrm>
                <a:off x="2512745" y="3850171"/>
                <a:ext cx="66777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F11FBE-6E66-AF47-90FB-A53F1CB698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2745" y="3850171"/>
                <a:ext cx="6677790" cy="369332"/>
              </a:xfrm>
              <a:prstGeom prst="rect">
                <a:avLst/>
              </a:prstGeom>
              <a:blipFill>
                <a:blip r:embed="rId6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00085155-9776-5628-AC7C-0E24C456238E}"/>
              </a:ext>
            </a:extLst>
          </p:cNvPr>
          <p:cNvSpPr txBox="1"/>
          <p:nvPr/>
        </p:nvSpPr>
        <p:spPr>
          <a:xfrm>
            <a:off x="4856814" y="5114046"/>
            <a:ext cx="2502340" cy="408623"/>
          </a:xfrm>
          <a:prstGeom prst="wedgeRoundRectCallout">
            <a:avLst>
              <a:gd name="adj1" fmla="val 48345"/>
              <a:gd name="adj2" fmla="val 110330"/>
              <a:gd name="adj3" fmla="val 16667"/>
            </a:avLst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dirty="0"/>
              <a:t>Can we abstract more?</a:t>
            </a:r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C73A5AD1-03E6-CD93-3B91-D5DCCF46A030}"/>
              </a:ext>
            </a:extLst>
          </p:cNvPr>
          <p:cNvSpPr/>
          <p:nvPr/>
        </p:nvSpPr>
        <p:spPr>
          <a:xfrm rot="5400000">
            <a:off x="3005245" y="3836828"/>
            <a:ext cx="144035" cy="909386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BB9BD25-7E57-6F2D-B662-1ACB582FE972}"/>
              </a:ext>
            </a:extLst>
          </p:cNvPr>
          <p:cNvSpPr txBox="1"/>
          <p:nvPr/>
        </p:nvSpPr>
        <p:spPr>
          <a:xfrm>
            <a:off x="2512745" y="4407024"/>
            <a:ext cx="11856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New state</a:t>
            </a:r>
          </a:p>
        </p:txBody>
      </p:sp>
      <p:sp>
        <p:nvSpPr>
          <p:cNvPr id="24" name="Right Brace 23">
            <a:extLst>
              <a:ext uri="{FF2B5EF4-FFF2-40B4-BE49-F238E27FC236}">
                <a16:creationId xmlns:a16="http://schemas.microsoft.com/office/drawing/2014/main" id="{A48C4219-DFA0-5DD8-DCCF-EA1DB2C00267}"/>
              </a:ext>
            </a:extLst>
          </p:cNvPr>
          <p:cNvSpPr/>
          <p:nvPr/>
        </p:nvSpPr>
        <p:spPr>
          <a:xfrm rot="5400000">
            <a:off x="6489054" y="1880602"/>
            <a:ext cx="144035" cy="4821839"/>
          </a:xfrm>
          <a:prstGeom prst="righ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24F2AB9-0539-93C8-AA71-D93418571E47}"/>
              </a:ext>
            </a:extLst>
          </p:cNvPr>
          <p:cNvSpPr txBox="1"/>
          <p:nvPr/>
        </p:nvSpPr>
        <p:spPr>
          <a:xfrm>
            <a:off x="5184980" y="4407024"/>
            <a:ext cx="28829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Current states of neighbors</a:t>
            </a:r>
          </a:p>
        </p:txBody>
      </p:sp>
    </p:spTree>
    <p:extLst>
      <p:ext uri="{BB962C8B-B14F-4D97-AF65-F5344CB8AC3E}">
        <p14:creationId xmlns:p14="http://schemas.microsoft.com/office/powerpoint/2010/main" val="26305399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1AA58-A4AC-2579-03F2-ED09FAFEB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BA40584-E9E1-E05A-DDA2-513A6AB47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Cellular automata abstraction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E693EDC-6C75-05FA-FE9F-559117D7F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2519B-8553-4EB5-804E-C162E89AEEEB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8F34F27-B556-2C57-69D5-4A1495988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16</a:t>
            </a:fld>
            <a:endParaRPr lang="en-US" noProof="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E75B41-9FF8-203F-11A5-F4CDFE22F9AB}"/>
              </a:ext>
            </a:extLst>
          </p:cNvPr>
          <p:cNvSpPr txBox="1"/>
          <p:nvPr/>
        </p:nvSpPr>
        <p:spPr>
          <a:xfrm>
            <a:off x="118662" y="3816761"/>
            <a:ext cx="5225579" cy="258718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if</a:t>
            </a:r>
            <a:r>
              <a:rPr lang="en-US" sz="160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current</a:t>
            </a:r>
            <a:r>
              <a:rPr lang="en-US" sz="160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60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 {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if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neighbors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2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||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neighbors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3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next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else</a:t>
            </a:r>
            <a:endParaRPr lang="en-US" sz="1600" b="0" noProof="0" dirty="0">
              <a:solidFill>
                <a:srgbClr val="000000"/>
              </a:solidFill>
              <a:effectLst/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next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DEAD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} </a:t>
            </a: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else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if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(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neighbors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  <a:r>
              <a:rPr lang="en-US" sz="100" baseline="-25000" dirty="0">
                <a:latin typeface="Fira Code" panose="020B0809050000020004" pitchFamily="49" charset="0"/>
                <a:ea typeface="Fira Code" panose="020B0809050000020004" pitchFamily="49" charset="0"/>
                <a:cs typeface="Fira Code" panose="020B0809050000020004" pitchFamily="49" charset="0"/>
              </a:rPr>
              <a:t> 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= </a:t>
            </a:r>
            <a:r>
              <a:rPr lang="en-US" sz="1600" b="0" noProof="0" dirty="0">
                <a:solidFill>
                  <a:srgbClr val="098658"/>
                </a:solidFill>
                <a:effectLst/>
                <a:latin typeface="Fira Code" panose="020B0809050000020004" pitchFamily="49" charset="0"/>
              </a:rPr>
              <a:t>3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)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next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else</a:t>
            </a:r>
            <a:endParaRPr lang="en-US" sz="1600" b="0" noProof="0" dirty="0">
              <a:solidFill>
                <a:srgbClr val="000000"/>
              </a:solidFill>
              <a:effectLst/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b="0" noProof="0" dirty="0">
                <a:solidFill>
                  <a:srgbClr val="001080"/>
                </a:solidFill>
                <a:effectLst/>
                <a:latin typeface="Fira Code" panose="020B0809050000020004" pitchFamily="49" charset="0"/>
              </a:rPr>
              <a:t>next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 </a:t>
            </a:r>
            <a:r>
              <a:rPr lang="en-US" sz="1600" b="0" noProof="0" dirty="0">
                <a:solidFill>
                  <a:srgbClr val="0070C1"/>
                </a:solidFill>
                <a:effectLst/>
                <a:latin typeface="Fira Code" panose="020B0809050000020004" pitchFamily="49" charset="0"/>
              </a:rPr>
              <a:t>DEAD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;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1EFD203-2857-53F1-07FC-94B8A741639D}"/>
              </a:ext>
            </a:extLst>
          </p:cNvPr>
          <p:cNvSpPr txBox="1"/>
          <p:nvPr/>
        </p:nvSpPr>
        <p:spPr>
          <a:xfrm>
            <a:off x="1248256" y="3381228"/>
            <a:ext cx="2966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Update rule for Game of Life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F7A28B7-7C76-0D69-D0F9-D698CC5C32FC}"/>
              </a:ext>
            </a:extLst>
          </p:cNvPr>
          <p:cNvSpPr txBox="1"/>
          <p:nvPr/>
        </p:nvSpPr>
        <p:spPr>
          <a:xfrm>
            <a:off x="5992066" y="4234086"/>
            <a:ext cx="6096000" cy="17525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AF00DB"/>
                </a:solidFill>
                <a:effectLst/>
                <a:latin typeface="Fira Code" panose="020B0809050000020004" pitchFamily="49" charset="0"/>
              </a:rPr>
              <a:t>using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</a:t>
            </a:r>
            <a:r>
              <a:rPr lang="en-US" sz="1600" b="0" noProof="0" dirty="0" err="1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gol_rule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=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noProof="0" dirty="0" err="1">
                <a:solidFill>
                  <a:srgbClr val="001080"/>
                </a:solidFill>
                <a:latin typeface="Fira Code" panose="020B0809050000020004" pitchFamily="49" charset="0"/>
              </a:rPr>
              <a:t>is_alive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b="0" noProof="0" dirty="0">
                <a:effectLst/>
                <a:latin typeface="Fira Code" panose="020B0809050000020004" pitchFamily="49" charset="0"/>
              </a:rPr>
              <a:t>then_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has3_or_2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b="0" noProof="0" dirty="0">
                <a:effectLst/>
                <a:latin typeface="Fira Code" panose="020B0809050000020004" pitchFamily="49" charset="0"/>
              </a:rPr>
              <a:t>then_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dead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  <a:endParaRPr lang="en-US" sz="1600" dirty="0">
              <a:solidFill>
                <a:srgbClr val="000000"/>
              </a:solidFill>
              <a:latin typeface="Fira Code" panose="020B0809050000020004" pitchFamily="49" charset="0"/>
            </a:endParaRP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  &gt;::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  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has3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b="0" noProof="0" dirty="0">
                <a:effectLst/>
                <a:latin typeface="Fira Code" panose="020B0809050000020004" pitchFamily="49" charset="0"/>
              </a:rPr>
              <a:t>then_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alive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&gt;::</a:t>
            </a:r>
            <a:r>
              <a:rPr lang="en-US" sz="16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&lt;</a:t>
            </a:r>
            <a:r>
              <a:rPr lang="en-US" sz="1600" b="0" noProof="0" dirty="0">
                <a:solidFill>
                  <a:srgbClr val="267F99"/>
                </a:solidFill>
                <a:effectLst/>
                <a:latin typeface="Fira Code" panose="020B0809050000020004" pitchFamily="49" charset="0"/>
              </a:rPr>
              <a:t>dead</a:t>
            </a: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&gt;</a:t>
            </a:r>
          </a:p>
          <a:p>
            <a:pPr>
              <a:lnSpc>
                <a:spcPct val="113095"/>
              </a:lnSpc>
              <a:buNone/>
            </a:pPr>
            <a:r>
              <a:rPr lang="en-US" sz="1600" b="0" noProof="0" dirty="0">
                <a:solidFill>
                  <a:srgbClr val="000000"/>
                </a:solidFill>
                <a:effectLst/>
                <a:latin typeface="Fira Code" panose="020B0809050000020004" pitchFamily="49" charset="0"/>
              </a:rPr>
              <a:t>  &gt;;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3FDFC3A0-3DF2-3607-D2AB-F7A7F82FA0AC}"/>
              </a:ext>
            </a:extLst>
          </p:cNvPr>
          <p:cNvCxnSpPr>
            <a:cxnSpLocks/>
            <a:stCxn id="31" idx="3"/>
            <a:endCxn id="46" idx="1"/>
          </p:cNvCxnSpPr>
          <p:nvPr/>
        </p:nvCxnSpPr>
        <p:spPr>
          <a:xfrm flipV="1">
            <a:off x="5344241" y="5110352"/>
            <a:ext cx="647825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B0BF9745-75CB-C855-CD93-BB61357ED979}"/>
              </a:ext>
            </a:extLst>
          </p:cNvPr>
          <p:cNvSpPr txBox="1"/>
          <p:nvPr/>
        </p:nvSpPr>
        <p:spPr>
          <a:xfrm>
            <a:off x="7256341" y="3780904"/>
            <a:ext cx="3665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Type-level expression (</a:t>
            </a:r>
            <a:r>
              <a:rPr lang="en-US" noProof="0" dirty="0" err="1"/>
              <a:t>Cellato</a:t>
            </a:r>
            <a:r>
              <a:rPr lang="en-US" noProof="0" dirty="0"/>
              <a:t> DSL)</a:t>
            </a:r>
          </a:p>
        </p:txBody>
      </p:sp>
      <p:pic>
        <p:nvPicPr>
          <p:cNvPr id="16" name="Picture 15" descr="Glider Gun">
            <a:extLst>
              <a:ext uri="{FF2B5EF4-FFF2-40B4-BE49-F238E27FC236}">
                <a16:creationId xmlns:a16="http://schemas.microsoft.com/office/drawing/2014/main" id="{82C71BC4-EA06-7F93-2807-F6C8B43B1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9839" y="1823089"/>
            <a:ext cx="1944670" cy="140016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87652A6-37F0-2CC7-1FD2-E46D9878EE9E}"/>
              </a:ext>
            </a:extLst>
          </p:cNvPr>
          <p:cNvSpPr txBox="1"/>
          <p:nvPr/>
        </p:nvSpPr>
        <p:spPr>
          <a:xfrm>
            <a:off x="4563608" y="1387557"/>
            <a:ext cx="26371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Discrete cell state space</a:t>
            </a:r>
          </a:p>
        </p:txBody>
      </p:sp>
    </p:spTree>
    <p:extLst>
      <p:ext uri="{BB962C8B-B14F-4D97-AF65-F5344CB8AC3E}">
        <p14:creationId xmlns:p14="http://schemas.microsoft.com/office/powerpoint/2010/main" val="16641807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684863-8FF8-82FF-0851-73946F133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D5ED14-BD2B-929B-4FDF-EB4408FEA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17</a:t>
            </a:fld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443639C-7B66-77F3-B03F-A4476642A9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7447" y="2525655"/>
            <a:ext cx="8197106" cy="289814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4367950-8D7A-8F93-A9DA-64D5AC81F27E}"/>
              </a:ext>
            </a:extLst>
          </p:cNvPr>
          <p:cNvSpPr txBox="1"/>
          <p:nvPr/>
        </p:nvSpPr>
        <p:spPr>
          <a:xfrm>
            <a:off x="3339292" y="620089"/>
            <a:ext cx="5513417" cy="154510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using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</a:t>
            </a:r>
            <a:r>
              <a:rPr lang="en-US" sz="1400" noProof="0" dirty="0" err="1">
                <a:solidFill>
                  <a:srgbClr val="267F99"/>
                </a:solidFill>
                <a:latin typeface="Fira Code" panose="020B0809050000020004" pitchFamily="49" charset="0"/>
              </a:rPr>
              <a:t>gol_rule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=</a:t>
            </a:r>
          </a:p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  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 err="1">
                <a:solidFill>
                  <a:srgbClr val="001080"/>
                </a:solidFill>
                <a:latin typeface="Fira Code" panose="020B0809050000020004" pitchFamily="49" charset="0"/>
              </a:rPr>
              <a:t>is_alive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latin typeface="Fira Code" panose="020B0809050000020004" pitchFamily="49" charset="0"/>
              </a:rPr>
              <a:t>then_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</a:p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    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has3_or_2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latin typeface="Fira Code" panose="020B0809050000020004" pitchFamily="49" charset="0"/>
              </a:rPr>
              <a:t>then_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alive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dead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</a:t>
            </a:r>
            <a:b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</a:b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  &gt;::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</a:p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    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if_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001080"/>
                </a:solidFill>
                <a:latin typeface="Fira Code" panose="020B0809050000020004" pitchFamily="49" charset="0"/>
              </a:rPr>
              <a:t>has3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latin typeface="Fira Code" panose="020B0809050000020004" pitchFamily="49" charset="0"/>
              </a:rPr>
              <a:t>then_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alive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&gt;::</a:t>
            </a:r>
            <a:r>
              <a:rPr lang="en-US" sz="1400" noProof="0" dirty="0">
                <a:solidFill>
                  <a:srgbClr val="AF00DB"/>
                </a:solidFill>
                <a:latin typeface="Fira Code" panose="020B0809050000020004" pitchFamily="49" charset="0"/>
              </a:rPr>
              <a:t>else_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&lt;</a:t>
            </a:r>
            <a:r>
              <a:rPr lang="en-US" sz="1400" noProof="0" dirty="0">
                <a:solidFill>
                  <a:srgbClr val="267F99"/>
                </a:solidFill>
                <a:latin typeface="Fira Code" panose="020B0809050000020004" pitchFamily="49" charset="0"/>
              </a:rPr>
              <a:t>dead</a:t>
            </a: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&gt;</a:t>
            </a:r>
          </a:p>
          <a:p>
            <a:pPr>
              <a:lnSpc>
                <a:spcPct val="113095"/>
              </a:lnSpc>
              <a:buNone/>
            </a:pPr>
            <a:r>
              <a:rPr lang="en-US" sz="1400" noProof="0" dirty="0">
                <a:solidFill>
                  <a:srgbClr val="000000"/>
                </a:solidFill>
                <a:latin typeface="Fira Code" panose="020B0809050000020004" pitchFamily="49" charset="0"/>
              </a:rPr>
              <a:t>  &gt;;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0207B99-7626-B9B7-5B84-847CAB7644E6}"/>
              </a:ext>
            </a:extLst>
          </p:cNvPr>
          <p:cNvCxnSpPr>
            <a:cxnSpLocks/>
            <a:stCxn id="8" idx="2"/>
          </p:cNvCxnSpPr>
          <p:nvPr/>
        </p:nvCxnSpPr>
        <p:spPr>
          <a:xfrm>
            <a:off x="6096001" y="2165192"/>
            <a:ext cx="2362720" cy="9103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9F90E6E-4EBE-508F-0BBE-D1A1083C436D}"/>
              </a:ext>
            </a:extLst>
          </p:cNvPr>
          <p:cNvSpPr txBox="1"/>
          <p:nvPr/>
        </p:nvSpPr>
        <p:spPr>
          <a:xfrm>
            <a:off x="4263414" y="211557"/>
            <a:ext cx="36651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Type-level expression (</a:t>
            </a:r>
            <a:r>
              <a:rPr lang="en-US" noProof="0" dirty="0" err="1"/>
              <a:t>Cellato</a:t>
            </a:r>
            <a:r>
              <a:rPr lang="en-US" noProof="0" dirty="0"/>
              <a:t> DSL)</a:t>
            </a:r>
          </a:p>
        </p:txBody>
      </p:sp>
    </p:spTree>
    <p:extLst>
      <p:ext uri="{BB962C8B-B14F-4D97-AF65-F5344CB8AC3E}">
        <p14:creationId xmlns:p14="http://schemas.microsoft.com/office/powerpoint/2010/main" val="28535449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59CE6-2253-EE24-67C6-8EB494EB8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Results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F58269-9358-8822-BB45-2512FA8484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620" y="1524433"/>
            <a:ext cx="11570760" cy="4269538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0CD936-56E6-AA18-96C2-8D61C51D1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C2F5E9-57E3-4F5E-A80F-B6C9DE65874A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D20B34-8FD2-D44C-9B00-2701B9B94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18</a:t>
            </a:fld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8DA207-69B2-929A-62C9-4DE6DBD7195D}"/>
              </a:ext>
            </a:extLst>
          </p:cNvPr>
          <p:cNvSpPr txBox="1"/>
          <p:nvPr/>
        </p:nvSpPr>
        <p:spPr>
          <a:xfrm>
            <a:off x="2323429" y="5862669"/>
            <a:ext cx="75451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Comparison of GPU-parallelized computation of various cellular automata</a:t>
            </a:r>
            <a:br>
              <a:rPr lang="en-US" noProof="0" dirty="0"/>
            </a:br>
            <a:r>
              <a:rPr lang="en-US" i="1" noProof="0" dirty="0"/>
              <a:t>baseline encodes each cell as a single machine word</a:t>
            </a:r>
          </a:p>
        </p:txBody>
      </p:sp>
    </p:spTree>
    <p:extLst>
      <p:ext uri="{BB962C8B-B14F-4D97-AF65-F5344CB8AC3E}">
        <p14:creationId xmlns:p14="http://schemas.microsoft.com/office/powerpoint/2010/main" val="13104121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F0FD2-3D3D-E4D8-0BE2-C6EA0F656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Abstractions summary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E92FA72-0853-FBD0-690C-F10CAE3E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ü"/>
            </a:pPr>
            <a:r>
              <a:rPr lang="en-US" noProof="0" dirty="0"/>
              <a:t> Can transform layouts &amp; traversals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noProof="0" dirty="0"/>
              <a:t> Parallel computing CPU, GPU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 D</a:t>
            </a:r>
            <a:r>
              <a:rPr lang="en-US" noProof="0" dirty="0" err="1"/>
              <a:t>istributed</a:t>
            </a:r>
            <a:r>
              <a:rPr lang="en-US" noProof="0" dirty="0"/>
              <a:t> computing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noProof="0" dirty="0"/>
              <a:t> Encoding &amp; Evaluation  in Cellular Automata</a:t>
            </a:r>
          </a:p>
          <a:p>
            <a:pPr marL="0" indent="0">
              <a:buNone/>
            </a:pPr>
            <a:r>
              <a:rPr lang="en-US" noProof="0" dirty="0"/>
              <a:t>Improve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noProof="0" dirty="0"/>
              <a:t> Simplicity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noProof="0" dirty="0"/>
              <a:t> Flexibility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en-US" noProof="0" dirty="0"/>
              <a:t> Automatability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88AEDC-D367-7811-10AA-6C0AA66CF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0F4037-5269-4CAD-BC9E-C76ACF79B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19</a:t>
            </a:fld>
            <a:endParaRPr lang="en-US" noProof="0" dirty="0"/>
          </a:p>
        </p:txBody>
      </p:sp>
      <p:sp>
        <p:nvSpPr>
          <p:cNvPr id="6" name="Right Brace 5">
            <a:extLst>
              <a:ext uri="{FF2B5EF4-FFF2-40B4-BE49-F238E27FC236}">
                <a16:creationId xmlns:a16="http://schemas.microsoft.com/office/drawing/2014/main" id="{78CF35CC-A730-C361-5E7C-62A784D86C38}"/>
              </a:ext>
            </a:extLst>
          </p:cNvPr>
          <p:cNvSpPr/>
          <p:nvPr/>
        </p:nvSpPr>
        <p:spPr>
          <a:xfrm>
            <a:off x="3650619" y="4411455"/>
            <a:ext cx="209405" cy="1060983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Graphic 7" descr="Robot with solid fill">
            <a:extLst>
              <a:ext uri="{FF2B5EF4-FFF2-40B4-BE49-F238E27FC236}">
                <a16:creationId xmlns:a16="http://schemas.microsoft.com/office/drawing/2014/main" id="{DC3A6F04-0374-7B2A-6A87-FEA92F4C8D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96000" y="4138648"/>
            <a:ext cx="1788083" cy="1788083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A7A7546-AB4B-B0AA-3591-AB55403B6F68}"/>
              </a:ext>
            </a:extLst>
          </p:cNvPr>
          <p:cNvCxnSpPr>
            <a:cxnSpLocks/>
          </p:cNvCxnSpPr>
          <p:nvPr/>
        </p:nvCxnSpPr>
        <p:spPr>
          <a:xfrm>
            <a:off x="3922846" y="4941946"/>
            <a:ext cx="2404081" cy="2"/>
          </a:xfrm>
          <a:prstGeom prst="line">
            <a:avLst/>
          </a:prstGeom>
          <a:ln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Speech Bubble: Rectangle with Corners Rounded 15">
            <a:extLst>
              <a:ext uri="{FF2B5EF4-FFF2-40B4-BE49-F238E27FC236}">
                <a16:creationId xmlns:a16="http://schemas.microsoft.com/office/drawing/2014/main" id="{EEA29218-CBAB-5518-9C50-26809DEFD9F4}"/>
              </a:ext>
            </a:extLst>
          </p:cNvPr>
          <p:cNvSpPr/>
          <p:nvPr/>
        </p:nvSpPr>
        <p:spPr>
          <a:xfrm>
            <a:off x="7329742" y="3807728"/>
            <a:ext cx="2561716" cy="661840"/>
          </a:xfrm>
          <a:prstGeom prst="wedgeRoundRectCallout">
            <a:avLst>
              <a:gd name="adj1" fmla="val -49944"/>
              <a:gd name="adj2" fmla="val 66003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I, an LLM,</a:t>
            </a:r>
            <a:br>
              <a:rPr lang="en-US" dirty="0"/>
            </a:br>
            <a:r>
              <a:rPr lang="en-US" dirty="0"/>
              <a:t>can do that too</a:t>
            </a:r>
          </a:p>
        </p:txBody>
      </p:sp>
    </p:spTree>
    <p:extLst>
      <p:ext uri="{BB962C8B-B14F-4D97-AF65-F5344CB8AC3E}">
        <p14:creationId xmlns:p14="http://schemas.microsoft.com/office/powerpoint/2010/main" val="32597657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BCED2-BEE7-D354-CAE7-2D1D55708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LLMs in HPC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738426C-F143-A522-DD5E-6B4D3FEAE6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LLMs capable of writing simple code</a:t>
            </a:r>
          </a:p>
          <a:p>
            <a:pPr lvl="1"/>
            <a:r>
              <a:rPr lang="en-US" noProof="0" dirty="0"/>
              <a:t>Data visualization, simple scripting, …</a:t>
            </a:r>
          </a:p>
          <a:p>
            <a:r>
              <a:rPr lang="en-US" noProof="0" dirty="0"/>
              <a:t>But not high-</a:t>
            </a:r>
            <a:r>
              <a:rPr lang="en-US" noProof="0" dirty="0" err="1"/>
              <a:t>lvl</a:t>
            </a:r>
            <a:r>
              <a:rPr lang="en-US" noProof="0" dirty="0"/>
              <a:t> decisions and parallel algorithms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noProof="0" dirty="0"/>
          </a:p>
          <a:p>
            <a:r>
              <a:rPr lang="en-US" noProof="0" dirty="0"/>
              <a:t>What helps LLMs generate better code?</a:t>
            </a:r>
          </a:p>
          <a:p>
            <a:pPr lvl="1"/>
            <a:r>
              <a:rPr lang="en-US" noProof="0" dirty="0"/>
              <a:t>And what doesn’t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CC059B-2575-F82C-34AC-4698211F2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B56853-0028-4549-B0D0-953613129C64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951596-60B1-E40A-3E74-4B0256A54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20</a:t>
            </a:fld>
            <a:endParaRPr lang="en-US" noProof="0" dirty="0"/>
          </a:p>
        </p:txBody>
      </p:sp>
      <p:pic>
        <p:nvPicPr>
          <p:cNvPr id="11" name="Graphic 10" descr="Robot with solid fill">
            <a:extLst>
              <a:ext uri="{FF2B5EF4-FFF2-40B4-BE49-F238E27FC236}">
                <a16:creationId xmlns:a16="http://schemas.microsoft.com/office/drawing/2014/main" id="{41CECEA7-3178-756D-41C4-D6B0C12E3D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90046" y="4035437"/>
            <a:ext cx="1788083" cy="17880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08518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1D975-7AEF-41C8-9128-2012304DE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Tutoring LLMs for CUDA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8EF9FE-8675-53C4-C0C8-6B18ACCF6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E5813-EC9F-4C36-A7F2-49C469A5F96E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5975AD-7C47-E1A4-2296-34363FEF7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21</a:t>
            </a:fld>
            <a:endParaRPr lang="en-US" noProof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85388B-D88A-850D-5EA1-512834C22715}"/>
              </a:ext>
            </a:extLst>
          </p:cNvPr>
          <p:cNvSpPr txBox="1"/>
          <p:nvPr/>
        </p:nvSpPr>
        <p:spPr>
          <a:xfrm>
            <a:off x="1913016" y="3837485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🤖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C4E4EB-CC11-6E9C-D81F-7F68194B11AB}"/>
              </a:ext>
            </a:extLst>
          </p:cNvPr>
          <p:cNvSpPr txBox="1"/>
          <p:nvPr/>
        </p:nvSpPr>
        <p:spPr>
          <a:xfrm>
            <a:off x="40623" y="2778100"/>
            <a:ext cx="4423175" cy="519351"/>
          </a:xfrm>
          <a:prstGeom prst="wedgeEllipseCallout">
            <a:avLst>
              <a:gd name="adj1" fmla="val -44456"/>
              <a:gd name="adj2" fmla="val 73252"/>
            </a:avLst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noProof="0" dirty="0"/>
              <a:t>Implement efficient algorithm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20E3632-2126-AA09-4A31-A863B36D696D}"/>
              </a:ext>
            </a:extLst>
          </p:cNvPr>
          <p:cNvCxnSpPr>
            <a:cxnSpLocks/>
            <a:stCxn id="17" idx="4"/>
            <a:endCxn id="12" idx="0"/>
          </p:cNvCxnSpPr>
          <p:nvPr/>
        </p:nvCxnSpPr>
        <p:spPr>
          <a:xfrm>
            <a:off x="2252211" y="3297451"/>
            <a:ext cx="1" cy="5400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3BE48174-A02F-06F5-85D2-5A536FDEDB7C}"/>
              </a:ext>
            </a:extLst>
          </p:cNvPr>
          <p:cNvSpPr/>
          <p:nvPr/>
        </p:nvSpPr>
        <p:spPr>
          <a:xfrm>
            <a:off x="923021" y="5012421"/>
            <a:ext cx="2658380" cy="66392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Not very good code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2D887C2-E3E4-CB89-71D1-28346C510357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2252211" y="4360705"/>
            <a:ext cx="1" cy="6517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D4E8062-9D67-E981-C7E7-CB3905FE099A}"/>
              </a:ext>
            </a:extLst>
          </p:cNvPr>
          <p:cNvSpPr txBox="1"/>
          <p:nvPr/>
        </p:nvSpPr>
        <p:spPr>
          <a:xfrm>
            <a:off x="6280056" y="3873482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🤖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FAD4EE1-A685-999A-4B14-45D9D5B9DB08}"/>
              </a:ext>
            </a:extLst>
          </p:cNvPr>
          <p:cNvSpPr txBox="1"/>
          <p:nvPr/>
        </p:nvSpPr>
        <p:spPr>
          <a:xfrm>
            <a:off x="5029846" y="2778099"/>
            <a:ext cx="3178813" cy="519351"/>
          </a:xfrm>
          <a:prstGeom prst="wedgeEllipseCallout">
            <a:avLst>
              <a:gd name="adj1" fmla="val -44456"/>
              <a:gd name="adj2" fmla="val 73252"/>
            </a:avLst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noProof="0" dirty="0"/>
              <a:t>Here are some hints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82A4212-A4DA-F723-BE49-8CBB358B83EE}"/>
              </a:ext>
            </a:extLst>
          </p:cNvPr>
          <p:cNvCxnSpPr>
            <a:cxnSpLocks/>
            <a:stCxn id="30" idx="4"/>
            <a:endCxn id="29" idx="0"/>
          </p:cNvCxnSpPr>
          <p:nvPr/>
        </p:nvCxnSpPr>
        <p:spPr>
          <a:xfrm flipH="1">
            <a:off x="6619252" y="3297450"/>
            <a:ext cx="1" cy="5760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1E91551C-845A-9444-C470-26D5FFE36AB4}"/>
              </a:ext>
            </a:extLst>
          </p:cNvPr>
          <p:cNvSpPr/>
          <p:nvPr/>
        </p:nvSpPr>
        <p:spPr>
          <a:xfrm>
            <a:off x="5350928" y="4963341"/>
            <a:ext cx="2536646" cy="66392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Better code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AC963EE-C48C-9FB8-06B7-25587D005F38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flipH="1">
            <a:off x="6619251" y="4396702"/>
            <a:ext cx="1" cy="566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AD29855-3079-7844-981D-E8EB78A92E21}"/>
              </a:ext>
            </a:extLst>
          </p:cNvPr>
          <p:cNvSpPr txBox="1"/>
          <p:nvPr/>
        </p:nvSpPr>
        <p:spPr>
          <a:xfrm>
            <a:off x="9269872" y="2778099"/>
            <a:ext cx="2754452" cy="519351"/>
          </a:xfrm>
          <a:prstGeom prst="wedgeEllipseCallout">
            <a:avLst>
              <a:gd name="adj1" fmla="val -44456"/>
              <a:gd name="adj2" fmla="val 73252"/>
            </a:avLst>
          </a:prstGeom>
          <a:ln/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noProof="0" dirty="0"/>
              <a:t>Follow this design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560AD894-F06B-81D0-4862-B5F5392198BC}"/>
              </a:ext>
            </a:extLst>
          </p:cNvPr>
          <p:cNvSpPr/>
          <p:nvPr/>
        </p:nvSpPr>
        <p:spPr>
          <a:xfrm>
            <a:off x="9378775" y="4963341"/>
            <a:ext cx="2536646" cy="663927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noProof="0" dirty="0"/>
              <a:t>Efficient code?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02E30FE-1D27-B17D-34A3-8D95153D7244}"/>
              </a:ext>
            </a:extLst>
          </p:cNvPr>
          <p:cNvSpPr txBox="1"/>
          <p:nvPr/>
        </p:nvSpPr>
        <p:spPr>
          <a:xfrm>
            <a:off x="10307900" y="3837485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🤖</a:t>
            </a: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1B02E96B-466B-BBC3-B8FB-DB7A29A2BB81}"/>
              </a:ext>
            </a:extLst>
          </p:cNvPr>
          <p:cNvCxnSpPr>
            <a:stCxn id="47" idx="4"/>
            <a:endCxn id="63" idx="0"/>
          </p:cNvCxnSpPr>
          <p:nvPr/>
        </p:nvCxnSpPr>
        <p:spPr>
          <a:xfrm flipH="1">
            <a:off x="10647096" y="3297450"/>
            <a:ext cx="2" cy="54003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F4C375B0-66D1-4094-A4CE-A46305DDB331}"/>
              </a:ext>
            </a:extLst>
          </p:cNvPr>
          <p:cNvCxnSpPr>
            <a:stCxn id="63" idx="2"/>
            <a:endCxn id="61" idx="0"/>
          </p:cNvCxnSpPr>
          <p:nvPr/>
        </p:nvCxnSpPr>
        <p:spPr>
          <a:xfrm>
            <a:off x="10647096" y="4360705"/>
            <a:ext cx="2" cy="60263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5CEB7EB-9DDD-0346-0151-E8B9C95212BD}"/>
              </a:ext>
            </a:extLst>
          </p:cNvPr>
          <p:cNvSpPr txBox="1"/>
          <p:nvPr/>
        </p:nvSpPr>
        <p:spPr>
          <a:xfrm>
            <a:off x="4244813" y="4027370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…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F6F3DBF-1BFB-DB5C-2306-CC6096186851}"/>
              </a:ext>
            </a:extLst>
          </p:cNvPr>
          <p:cNvSpPr txBox="1"/>
          <p:nvPr/>
        </p:nvSpPr>
        <p:spPr>
          <a:xfrm>
            <a:off x="8611852" y="4099095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2452505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00028-B1B7-95DE-0316-80DF581C1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4BB94-B0A6-13BF-C326-F04334E31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Tutoring LLMs for CUDA</a:t>
            </a:r>
            <a:br>
              <a:rPr lang="en-US" noProof="0" dirty="0"/>
            </a:br>
            <a:r>
              <a:rPr lang="en-US" sz="2400" i="1" noProof="0" dirty="0"/>
              <a:t>OpenAI GPT-o3-mini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D361D2-7335-D7E3-A396-473E3CB64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2E5813-EC9F-4C36-A7F2-49C469A5F96E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96A58D-5BC7-D48F-CB5B-5600D453A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22</a:t>
            </a:fld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1C4562-43FE-7269-9634-084833AC7E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282" y="1690688"/>
            <a:ext cx="1103155" cy="8586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AE060F8-4A23-3FC8-95D9-9B0E1AEA2785}"/>
              </a:ext>
            </a:extLst>
          </p:cNvPr>
          <p:cNvSpPr txBox="1"/>
          <p:nvPr/>
        </p:nvSpPr>
        <p:spPr>
          <a:xfrm>
            <a:off x="2823231" y="2398622"/>
            <a:ext cx="1217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Histogram</a:t>
            </a:r>
          </a:p>
        </p:txBody>
      </p:sp>
      <p:pic>
        <p:nvPicPr>
          <p:cNvPr id="8" name="Picture 7" descr="Glider Gun">
            <a:extLst>
              <a:ext uri="{FF2B5EF4-FFF2-40B4-BE49-F238E27FC236}">
                <a16:creationId xmlns:a16="http://schemas.microsoft.com/office/drawing/2014/main" id="{007EFFA6-94C3-4A53-EC11-7EEAAEB314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1644" y="1693284"/>
            <a:ext cx="1103155" cy="79427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7A96B6C-4F97-6D9F-8D10-DDB95932C78B}"/>
              </a:ext>
            </a:extLst>
          </p:cNvPr>
          <p:cNvSpPr txBox="1"/>
          <p:nvPr/>
        </p:nvSpPr>
        <p:spPr>
          <a:xfrm>
            <a:off x="6354787" y="2487555"/>
            <a:ext cx="1436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Game of Life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6859A4B-B9FE-9929-891F-052709D3DD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39099" y="1690688"/>
            <a:ext cx="1103155" cy="79686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1CCE55D-6536-BE73-9343-84038C38E1D7}"/>
              </a:ext>
            </a:extLst>
          </p:cNvPr>
          <p:cNvSpPr txBox="1"/>
          <p:nvPr/>
        </p:nvSpPr>
        <p:spPr>
          <a:xfrm>
            <a:off x="9939099" y="2484959"/>
            <a:ext cx="120674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K-Nearest</a:t>
            </a:r>
            <a:br>
              <a:rPr lang="en-US" noProof="0" dirty="0"/>
            </a:br>
            <a:r>
              <a:rPr lang="en-US" noProof="0" dirty="0"/>
              <a:t>Neighbors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57BF6A-0432-7C47-109B-427D20671C0F}"/>
              </a:ext>
            </a:extLst>
          </p:cNvPr>
          <p:cNvSpPr txBox="1"/>
          <p:nvPr/>
        </p:nvSpPr>
        <p:spPr>
          <a:xfrm>
            <a:off x="1473598" y="3557054"/>
            <a:ext cx="39165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Privatization in GPU “shared memory”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BD8334-0385-0BA4-2B6F-D1FA61D876C4}"/>
              </a:ext>
            </a:extLst>
          </p:cNvPr>
          <p:cNvSpPr txBox="1"/>
          <p:nvPr/>
        </p:nvSpPr>
        <p:spPr>
          <a:xfrm>
            <a:off x="6032039" y="3557054"/>
            <a:ext cx="2082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Bit-</a:t>
            </a:r>
            <a:r>
              <a:rPr lang="en-US" noProof="0" dirty="0" err="1"/>
              <a:t>lvl</a:t>
            </a:r>
            <a:r>
              <a:rPr lang="en-US" noProof="0" dirty="0"/>
              <a:t> vectorization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EBAD4A-8A58-61C5-702D-D937D74776C7}"/>
              </a:ext>
            </a:extLst>
          </p:cNvPr>
          <p:cNvSpPr txBox="1"/>
          <p:nvPr/>
        </p:nvSpPr>
        <p:spPr>
          <a:xfrm>
            <a:off x="8950703" y="3557054"/>
            <a:ext cx="3079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Inter-thread communication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372CA7-7292-1BA8-43EB-1AB22F03FF4B}"/>
              </a:ext>
            </a:extLst>
          </p:cNvPr>
          <p:cNvSpPr txBox="1"/>
          <p:nvPr/>
        </p:nvSpPr>
        <p:spPr>
          <a:xfrm>
            <a:off x="-14887" y="4530820"/>
            <a:ext cx="17061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Just implement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BAF86EE-6508-A108-73BB-E3A6074BD8B8}"/>
              </a:ext>
            </a:extLst>
          </p:cNvPr>
          <p:cNvSpPr txBox="1"/>
          <p:nvPr/>
        </p:nvSpPr>
        <p:spPr>
          <a:xfrm>
            <a:off x="3092662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4AEC432-25D7-7B96-183C-81D25BD15AD1}"/>
              </a:ext>
            </a:extLst>
          </p:cNvPr>
          <p:cNvSpPr txBox="1"/>
          <p:nvPr/>
        </p:nvSpPr>
        <p:spPr>
          <a:xfrm>
            <a:off x="6734025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F047493-C970-CEB3-77AE-369B5263B184}"/>
              </a:ext>
            </a:extLst>
          </p:cNvPr>
          <p:cNvSpPr txBox="1"/>
          <p:nvPr/>
        </p:nvSpPr>
        <p:spPr>
          <a:xfrm>
            <a:off x="10151480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⚠️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1C5CABB-484B-5D20-728D-363D4CA9B715}"/>
              </a:ext>
            </a:extLst>
          </p:cNvPr>
          <p:cNvSpPr txBox="1"/>
          <p:nvPr/>
        </p:nvSpPr>
        <p:spPr>
          <a:xfrm>
            <a:off x="210788" y="5189669"/>
            <a:ext cx="1187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With hints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B8F57D5-3486-D39C-3F1A-AF9294B9546F}"/>
              </a:ext>
            </a:extLst>
          </p:cNvPr>
          <p:cNvSpPr txBox="1"/>
          <p:nvPr/>
        </p:nvSpPr>
        <p:spPr>
          <a:xfrm>
            <a:off x="3581400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🐌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C7057C3-CFAD-1A34-AF4A-6384A0FA4741}"/>
              </a:ext>
            </a:extLst>
          </p:cNvPr>
          <p:cNvSpPr txBox="1"/>
          <p:nvPr/>
        </p:nvSpPr>
        <p:spPr>
          <a:xfrm>
            <a:off x="7188976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🐌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4AC2113-CF34-9C42-B33D-D4AC898FA2ED}"/>
              </a:ext>
            </a:extLst>
          </p:cNvPr>
          <p:cNvSpPr txBox="1"/>
          <p:nvPr/>
        </p:nvSpPr>
        <p:spPr>
          <a:xfrm>
            <a:off x="10609250" y="4453876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🐌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E57B5B0-DCBD-C30B-CC27-B13BCB58D132}"/>
              </a:ext>
            </a:extLst>
          </p:cNvPr>
          <p:cNvSpPr txBox="1"/>
          <p:nvPr/>
        </p:nvSpPr>
        <p:spPr>
          <a:xfrm>
            <a:off x="3581400" y="5044030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🐢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2D1AA0A-0636-4E65-D880-856193D7CD72}"/>
              </a:ext>
            </a:extLst>
          </p:cNvPr>
          <p:cNvSpPr txBox="1"/>
          <p:nvPr/>
        </p:nvSpPr>
        <p:spPr>
          <a:xfrm>
            <a:off x="3092662" y="5084922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CE070EA-6968-5971-34E8-0B4B237BD0C6}"/>
              </a:ext>
            </a:extLst>
          </p:cNvPr>
          <p:cNvSpPr txBox="1"/>
          <p:nvPr/>
        </p:nvSpPr>
        <p:spPr>
          <a:xfrm>
            <a:off x="7219369" y="5044030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🐢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390C143-2BBA-5FC8-A7A1-1702F7B36EE9}"/>
              </a:ext>
            </a:extLst>
          </p:cNvPr>
          <p:cNvSpPr txBox="1"/>
          <p:nvPr/>
        </p:nvSpPr>
        <p:spPr>
          <a:xfrm>
            <a:off x="6730631" y="5084922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E5838EE-B8C5-9F68-CADA-001435EE4B34}"/>
              </a:ext>
            </a:extLst>
          </p:cNvPr>
          <p:cNvSpPr txBox="1"/>
          <p:nvPr/>
        </p:nvSpPr>
        <p:spPr>
          <a:xfrm>
            <a:off x="10393195" y="5080461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❌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118E619-3F87-FB80-854F-4DCF9530E2F1}"/>
              </a:ext>
            </a:extLst>
          </p:cNvPr>
          <p:cNvSpPr txBox="1"/>
          <p:nvPr/>
        </p:nvSpPr>
        <p:spPr>
          <a:xfrm>
            <a:off x="-62048" y="584851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Design direction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2A7F903-8467-48BA-F019-3DC25BE369AC}"/>
              </a:ext>
            </a:extLst>
          </p:cNvPr>
          <p:cNvSpPr txBox="1"/>
          <p:nvPr/>
        </p:nvSpPr>
        <p:spPr>
          <a:xfrm>
            <a:off x="3581400" y="5653738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🚀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51696E4-B0FB-C0DF-97F3-C5C71AD6EE3C}"/>
              </a:ext>
            </a:extLst>
          </p:cNvPr>
          <p:cNvSpPr txBox="1"/>
          <p:nvPr/>
        </p:nvSpPr>
        <p:spPr>
          <a:xfrm>
            <a:off x="3092662" y="5694630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348268A-4787-4053-3F68-3D86F635C60E}"/>
              </a:ext>
            </a:extLst>
          </p:cNvPr>
          <p:cNvSpPr txBox="1"/>
          <p:nvPr/>
        </p:nvSpPr>
        <p:spPr>
          <a:xfrm>
            <a:off x="7219369" y="5612412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/>
              <a:t>🚀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A2E43A5-314A-E8F9-B774-8DD706E19EC8}"/>
              </a:ext>
            </a:extLst>
          </p:cNvPr>
          <p:cNvSpPr txBox="1"/>
          <p:nvPr/>
        </p:nvSpPr>
        <p:spPr>
          <a:xfrm>
            <a:off x="6730631" y="5653304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✅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96BAB42-31A3-D342-F6EC-828DF204BB89}"/>
              </a:ext>
            </a:extLst>
          </p:cNvPr>
          <p:cNvSpPr txBox="1"/>
          <p:nvPr/>
        </p:nvSpPr>
        <p:spPr>
          <a:xfrm>
            <a:off x="10393195" y="5653304"/>
            <a:ext cx="67839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noProof="0" dirty="0"/>
              <a:t>❌</a:t>
            </a:r>
          </a:p>
        </p:txBody>
      </p:sp>
    </p:spTree>
    <p:extLst>
      <p:ext uri="{BB962C8B-B14F-4D97-AF65-F5344CB8AC3E}">
        <p14:creationId xmlns:p14="http://schemas.microsoft.com/office/powerpoint/2010/main" val="18677034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0E109-C468-9CAD-7328-CB565CAB0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F9A852-DFA7-BB45-D52F-5ADF7BD5F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Tutoring LLMs for CUDA – submission</a:t>
            </a:r>
            <a:br>
              <a:rPr lang="en-US" noProof="0" dirty="0"/>
            </a:br>
            <a:r>
              <a:rPr lang="en-US" sz="2400" i="1" noProof="0" dirty="0"/>
              <a:t>OpenAI GPT-o3-mini</a:t>
            </a:r>
            <a:endParaRPr lang="en-US" sz="2400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A81DD4-BEB3-BF92-82A9-0AB5CDC695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98" r="47262"/>
          <a:stretch>
            <a:fillRect/>
          </a:stretch>
        </p:blipFill>
        <p:spPr>
          <a:xfrm>
            <a:off x="408393" y="2599181"/>
            <a:ext cx="4680138" cy="369223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6E2995D-9749-CB57-94D9-B9971BDA4A9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830" t="5264" r="1424" b="4017"/>
          <a:stretch>
            <a:fillRect/>
          </a:stretch>
        </p:blipFill>
        <p:spPr>
          <a:xfrm>
            <a:off x="5934239" y="2761577"/>
            <a:ext cx="5849368" cy="2994486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3E9B5A-3051-3FC5-830E-F33DF82F4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FB29-F852-41FB-A0DF-F798C9C0E438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70B554-C7EC-EA4A-7377-16FE1E7F2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23</a:t>
            </a:fld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D4F460-314F-F2C1-B648-8D4D93BCB4E5}"/>
              </a:ext>
            </a:extLst>
          </p:cNvPr>
          <p:cNvSpPr txBox="1"/>
          <p:nvPr/>
        </p:nvSpPr>
        <p:spPr>
          <a:xfrm>
            <a:off x="2364144" y="2229849"/>
            <a:ext cx="1217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Histogram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B23757-4EAA-DF6D-49E2-44BDA612747C}"/>
              </a:ext>
            </a:extLst>
          </p:cNvPr>
          <p:cNvSpPr txBox="1"/>
          <p:nvPr/>
        </p:nvSpPr>
        <p:spPr>
          <a:xfrm>
            <a:off x="8391244" y="2229849"/>
            <a:ext cx="1436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Game of Life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4D55C3-3077-8567-A06E-0244BA5AA6CA}"/>
              </a:ext>
            </a:extLst>
          </p:cNvPr>
          <p:cNvSpPr txBox="1"/>
          <p:nvPr/>
        </p:nvSpPr>
        <p:spPr>
          <a:xfrm>
            <a:off x="236845" y="6084477"/>
            <a:ext cx="569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Prompt specificity (naïve </a:t>
            </a:r>
            <a:r>
              <a:rPr lang="en-US" noProof="0" dirty="0">
                <a:sym typeface="Wingdings" panose="05000000000000000000" pitchFamily="2" charset="2"/>
              </a:rPr>
              <a:t> …  design specification)</a:t>
            </a:r>
            <a:endParaRPr lang="en-US" noProof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FC1A91-D2F9-8087-5FD2-A346BE6173B0}"/>
              </a:ext>
            </a:extLst>
          </p:cNvPr>
          <p:cNvSpPr txBox="1"/>
          <p:nvPr/>
        </p:nvSpPr>
        <p:spPr>
          <a:xfrm>
            <a:off x="6189752" y="5756063"/>
            <a:ext cx="569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Prompt specificity (naïve </a:t>
            </a:r>
            <a:r>
              <a:rPr lang="en-US" noProof="0" dirty="0">
                <a:sym typeface="Wingdings" panose="05000000000000000000" pitchFamily="2" charset="2"/>
              </a:rPr>
              <a:t> …  design specification)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071661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978C7-4C18-1E14-E39F-1667DC671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D726E-1126-5E1F-5D98-D610109CC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Tutoring LLMs for CUDA – at conference</a:t>
            </a:r>
            <a:br>
              <a:rPr lang="en-US" noProof="0" dirty="0"/>
            </a:br>
            <a:r>
              <a:rPr lang="en-US" sz="2400" i="1" noProof="0" dirty="0"/>
              <a:t>OpenAI GPT-5</a:t>
            </a:r>
            <a:endParaRPr lang="en-US" sz="2400" noProof="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A37D793-DB98-C60F-2025-13AB50A6AF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654734"/>
            <a:ext cx="4620279" cy="335894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3D8561C-C389-8CD1-355F-3F17053E96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3521" y="2654733"/>
            <a:ext cx="4620279" cy="3358943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E2F9E9-446F-AB04-F509-E2224D7D2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A7FB29-F852-41FB-A0DF-F798C9C0E438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E7E7C3-3B23-4ED6-C275-8801DBA60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24</a:t>
            </a:fld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E45328-838A-47CE-23A0-47149F269933}"/>
              </a:ext>
            </a:extLst>
          </p:cNvPr>
          <p:cNvSpPr txBox="1"/>
          <p:nvPr/>
        </p:nvSpPr>
        <p:spPr>
          <a:xfrm>
            <a:off x="2569508" y="2285401"/>
            <a:ext cx="14368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Game of Life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25974EF-A245-0905-3B10-966BC4F2328D}"/>
              </a:ext>
            </a:extLst>
          </p:cNvPr>
          <p:cNvSpPr txBox="1"/>
          <p:nvPr/>
        </p:nvSpPr>
        <p:spPr>
          <a:xfrm>
            <a:off x="8083017" y="2285401"/>
            <a:ext cx="2233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k-Nearest Neighbors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A870EA-9FA0-3527-D9FC-4D14AAF90D3C}"/>
              </a:ext>
            </a:extLst>
          </p:cNvPr>
          <p:cNvSpPr txBox="1"/>
          <p:nvPr/>
        </p:nvSpPr>
        <p:spPr>
          <a:xfrm>
            <a:off x="299642" y="6013676"/>
            <a:ext cx="569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Prompt specificity (naïve </a:t>
            </a:r>
            <a:r>
              <a:rPr lang="en-US" noProof="0" dirty="0">
                <a:sym typeface="Wingdings" panose="05000000000000000000" pitchFamily="2" charset="2"/>
              </a:rPr>
              <a:t> …  design specification)</a:t>
            </a:r>
            <a:endParaRPr lang="en-US" noProof="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EA3F10-024D-07D5-20F8-E8C233912E18}"/>
              </a:ext>
            </a:extLst>
          </p:cNvPr>
          <p:cNvSpPr txBox="1"/>
          <p:nvPr/>
        </p:nvSpPr>
        <p:spPr>
          <a:xfrm>
            <a:off x="6350972" y="5987018"/>
            <a:ext cx="5697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Prompt specificity (naïve </a:t>
            </a:r>
            <a:r>
              <a:rPr lang="en-US" noProof="0" dirty="0">
                <a:sym typeface="Wingdings" panose="05000000000000000000" pitchFamily="2" charset="2"/>
              </a:rPr>
              <a:t> …  design specification)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1285730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2648C3-E8A8-80F5-FFF8-D207F8FAB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LLMs and abstractions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3156B7-FB64-2477-4F0F-ECE30CB02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smtClean="0"/>
              <a:t>8/30/2026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8BF62A-6F36-4AFB-C34B-B5CD6527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25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E4B8FB-55FB-804F-D918-87CA02061244}"/>
              </a:ext>
            </a:extLst>
          </p:cNvPr>
          <p:cNvSpPr txBox="1"/>
          <p:nvPr/>
        </p:nvSpPr>
        <p:spPr>
          <a:xfrm>
            <a:off x="2598019" y="3224688"/>
            <a:ext cx="1474203" cy="408623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Abstractions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B47FF7-FF2B-E35C-C5DC-D36095FC9DA6}"/>
              </a:ext>
            </a:extLst>
          </p:cNvPr>
          <p:cNvSpPr txBox="1"/>
          <p:nvPr/>
        </p:nvSpPr>
        <p:spPr>
          <a:xfrm>
            <a:off x="8119778" y="3224688"/>
            <a:ext cx="1474203" cy="408623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LLMs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DD9E2C-DB94-9465-C838-8C4F60DDBD33}"/>
              </a:ext>
            </a:extLst>
          </p:cNvPr>
          <p:cNvSpPr txBox="1"/>
          <p:nvPr/>
        </p:nvSpPr>
        <p:spPr>
          <a:xfrm>
            <a:off x="3863658" y="2566736"/>
            <a:ext cx="4464684" cy="408623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Simplifying algorithm design &amp; optimization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F39B83B-4C76-1D1B-19E8-3F68E2DC03EF}"/>
              </a:ext>
            </a:extLst>
          </p:cNvPr>
          <p:cNvCxnSpPr>
            <a:cxnSpLocks/>
            <a:endCxn id="6" idx="0"/>
          </p:cNvCxnSpPr>
          <p:nvPr/>
        </p:nvCxnSpPr>
        <p:spPr>
          <a:xfrm flipH="1">
            <a:off x="3335121" y="2975359"/>
            <a:ext cx="851868" cy="2493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EDC6E5E0-5E49-A14A-1A69-8F74E4643E8D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8005013" y="2975359"/>
            <a:ext cx="851867" cy="2493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BC68EF8-2BD7-3EAB-EBBD-E77F253B6551}"/>
              </a:ext>
            </a:extLst>
          </p:cNvPr>
          <p:cNvSpPr txBox="1"/>
          <p:nvPr/>
        </p:nvSpPr>
        <p:spPr>
          <a:xfrm>
            <a:off x="1272695" y="3977774"/>
            <a:ext cx="1506491" cy="408623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Interpretable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45ED155-D147-8024-5E14-14189388C2EE}"/>
              </a:ext>
            </a:extLst>
          </p:cNvPr>
          <p:cNvSpPr txBox="1"/>
          <p:nvPr/>
        </p:nvSpPr>
        <p:spPr>
          <a:xfrm>
            <a:off x="7339256" y="3981345"/>
            <a:ext cx="989086" cy="408623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Flexible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AB4CE5-730D-15C7-FE5D-C7F62D2A14B1}"/>
              </a:ext>
            </a:extLst>
          </p:cNvPr>
          <p:cNvSpPr txBox="1"/>
          <p:nvPr/>
        </p:nvSpPr>
        <p:spPr>
          <a:xfrm>
            <a:off x="6954309" y="4525356"/>
            <a:ext cx="1758979" cy="408623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Fully automatic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AE5E7C-9BCF-9753-06F8-EAF716A55760}"/>
              </a:ext>
            </a:extLst>
          </p:cNvPr>
          <p:cNvSpPr txBox="1"/>
          <p:nvPr/>
        </p:nvSpPr>
        <p:spPr>
          <a:xfrm>
            <a:off x="1307498" y="4526548"/>
            <a:ext cx="1436883" cy="408623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Some safety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6DFA2B2-D1FB-7E40-AA4F-77E26D5DACCE}"/>
              </a:ext>
            </a:extLst>
          </p:cNvPr>
          <p:cNvSpPr txBox="1"/>
          <p:nvPr/>
        </p:nvSpPr>
        <p:spPr>
          <a:xfrm>
            <a:off x="3802966" y="3978297"/>
            <a:ext cx="1675382" cy="408623"/>
          </a:xfrm>
          <a:prstGeom prst="roundRect">
            <a:avLst/>
          </a:prstGeom>
          <a:gradFill>
            <a:gsLst>
              <a:gs pos="0">
                <a:srgbClr val="DC9494"/>
              </a:gs>
              <a:gs pos="50000">
                <a:srgbClr val="D08888"/>
              </a:gs>
              <a:gs pos="100000">
                <a:srgbClr val="D07070"/>
              </a:gs>
            </a:gsLst>
          </a:gradFill>
          <a:ln>
            <a:solidFill>
              <a:srgbClr val="A12B2B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Learning curve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BFF3EE-C465-006F-A738-B2C3CB9FD4F2}"/>
              </a:ext>
            </a:extLst>
          </p:cNvPr>
          <p:cNvSpPr txBox="1"/>
          <p:nvPr/>
        </p:nvSpPr>
        <p:spPr>
          <a:xfrm>
            <a:off x="3956208" y="4526547"/>
            <a:ext cx="1368897" cy="408623"/>
          </a:xfrm>
          <a:prstGeom prst="roundRect">
            <a:avLst/>
          </a:prstGeom>
          <a:gradFill>
            <a:gsLst>
              <a:gs pos="0">
                <a:srgbClr val="DC9494"/>
              </a:gs>
              <a:gs pos="50000">
                <a:srgbClr val="D08888"/>
              </a:gs>
              <a:gs pos="100000">
                <a:srgbClr val="D07070"/>
              </a:gs>
            </a:gsLst>
          </a:gradFill>
          <a:ln>
            <a:solidFill>
              <a:srgbClr val="A12B2B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dirty="0"/>
              <a:t>Not general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3290D71-6DEC-174A-0D4C-C5A0334D42F9}"/>
              </a:ext>
            </a:extLst>
          </p:cNvPr>
          <p:cNvSpPr txBox="1"/>
          <p:nvPr/>
        </p:nvSpPr>
        <p:spPr>
          <a:xfrm>
            <a:off x="9395405" y="3977774"/>
            <a:ext cx="1286026" cy="408623"/>
          </a:xfrm>
          <a:prstGeom prst="roundRect">
            <a:avLst/>
          </a:prstGeom>
          <a:gradFill>
            <a:gsLst>
              <a:gs pos="0">
                <a:srgbClr val="DC9494"/>
              </a:gs>
              <a:gs pos="50000">
                <a:srgbClr val="D08888"/>
              </a:gs>
              <a:gs pos="100000">
                <a:srgbClr val="D07070"/>
              </a:gs>
            </a:gsLst>
          </a:gradFill>
          <a:ln>
            <a:solidFill>
              <a:srgbClr val="A12B2B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>
            <a:defPPr>
              <a:defRPr lang="en-US"/>
            </a:defPPr>
            <a:lvl1pPr algn="ctr">
              <a:defRPr/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en-US" dirty="0"/>
              <a:t>Stochastic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2B42A5D-EA70-C360-ADE0-BC629217A2FF}"/>
              </a:ext>
            </a:extLst>
          </p:cNvPr>
          <p:cNvSpPr txBox="1"/>
          <p:nvPr/>
        </p:nvSpPr>
        <p:spPr>
          <a:xfrm>
            <a:off x="9126608" y="4525356"/>
            <a:ext cx="1823620" cy="408623"/>
          </a:xfrm>
          <a:prstGeom prst="roundRect">
            <a:avLst/>
          </a:prstGeom>
          <a:gradFill>
            <a:gsLst>
              <a:gs pos="0">
                <a:srgbClr val="DC9494"/>
              </a:gs>
              <a:gs pos="50000">
                <a:srgbClr val="D08888"/>
              </a:gs>
              <a:gs pos="100000">
                <a:srgbClr val="D07070"/>
              </a:gs>
            </a:gsLst>
          </a:gradFill>
          <a:ln>
            <a:solidFill>
              <a:srgbClr val="A12B2B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none" rtlCol="0">
            <a:spAutoFit/>
          </a:bodyPr>
          <a:lstStyle>
            <a:defPPr>
              <a:defRPr lang="en-US"/>
            </a:defPPr>
            <a:lvl1pPr algn="ctr">
              <a:defRPr>
                <a:solidFill>
                  <a:schemeClr val="dk1"/>
                </a:solidFill>
              </a:defRPr>
            </a:lvl1pPr>
            <a:lvl2pPr>
              <a:defRPr>
                <a:solidFill>
                  <a:schemeClr val="dk1"/>
                </a:solidFill>
              </a:defRPr>
            </a:lvl2pPr>
            <a:lvl3pPr>
              <a:defRPr>
                <a:solidFill>
                  <a:schemeClr val="dk1"/>
                </a:solidFill>
              </a:defRPr>
            </a:lvl3pPr>
            <a:lvl4pPr>
              <a:defRPr>
                <a:solidFill>
                  <a:schemeClr val="dk1"/>
                </a:solidFill>
              </a:defRPr>
            </a:lvl4pPr>
            <a:lvl5pPr>
              <a:defRPr>
                <a:solidFill>
                  <a:schemeClr val="dk1"/>
                </a:solidFill>
              </a:defRPr>
            </a:lvl5pPr>
            <a:lvl6pPr>
              <a:defRPr>
                <a:solidFill>
                  <a:schemeClr val="dk1"/>
                </a:solidFill>
              </a:defRPr>
            </a:lvl6pPr>
            <a:lvl7pPr>
              <a:defRPr>
                <a:solidFill>
                  <a:schemeClr val="dk1"/>
                </a:solidFill>
              </a:defRPr>
            </a:lvl7pPr>
            <a:lvl8pPr>
              <a:defRPr>
                <a:solidFill>
                  <a:schemeClr val="dk1"/>
                </a:solidFill>
              </a:defRPr>
            </a:lvl8pPr>
            <a:lvl9pPr>
              <a:defRPr>
                <a:solidFill>
                  <a:schemeClr val="dk1"/>
                </a:solidFill>
              </a:defRPr>
            </a:lvl9pPr>
          </a:lstStyle>
          <a:p>
            <a:r>
              <a:rPr lang="en-US" dirty="0"/>
              <a:t>Complex output</a:t>
            </a:r>
          </a:p>
        </p:txBody>
      </p:sp>
      <p:sp>
        <p:nvSpPr>
          <p:cNvPr id="35" name="Right Brace 34">
            <a:extLst>
              <a:ext uri="{FF2B5EF4-FFF2-40B4-BE49-F238E27FC236}">
                <a16:creationId xmlns:a16="http://schemas.microsoft.com/office/drawing/2014/main" id="{9F09A8EB-ABF6-B6C8-D0BA-80FB857DE93D}"/>
              </a:ext>
            </a:extLst>
          </p:cNvPr>
          <p:cNvSpPr/>
          <p:nvPr/>
        </p:nvSpPr>
        <p:spPr>
          <a:xfrm rot="5400000">
            <a:off x="6019868" y="1648644"/>
            <a:ext cx="152264" cy="699596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389E2B3-4BCB-989F-B436-E7DF27AF788B}"/>
              </a:ext>
            </a:extLst>
          </p:cNvPr>
          <p:cNvSpPr txBox="1"/>
          <p:nvPr/>
        </p:nvSpPr>
        <p:spPr>
          <a:xfrm>
            <a:off x="4505436" y="5222758"/>
            <a:ext cx="318112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Would abstractions help LLMs</a:t>
            </a:r>
            <a:br>
              <a:rPr lang="en-US" dirty="0"/>
            </a:br>
            <a:r>
              <a:rPr lang="en-US" dirty="0"/>
              <a:t>generate better code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9876299-1652-9960-0CF0-FAE18BAA3D39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2188369" y="3633311"/>
            <a:ext cx="1146752" cy="303590"/>
          </a:xfrm>
          <a:prstGeom prst="line">
            <a:avLst/>
          </a:prstGeom>
          <a:ln w="190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9A658A6-462A-721C-919E-76FEB163D5B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3335121" y="3633311"/>
            <a:ext cx="1170315" cy="303590"/>
          </a:xfrm>
          <a:prstGeom prst="line">
            <a:avLst/>
          </a:prstGeom>
          <a:ln w="190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BD53AA8-39CA-47DE-F5FA-41E1EE49B24D}"/>
              </a:ext>
            </a:extLst>
          </p:cNvPr>
          <p:cNvCxnSpPr>
            <a:cxnSpLocks/>
            <a:endCxn id="7" idx="2"/>
          </p:cNvCxnSpPr>
          <p:nvPr/>
        </p:nvCxnSpPr>
        <p:spPr>
          <a:xfrm flipV="1">
            <a:off x="7898606" y="3633311"/>
            <a:ext cx="958274" cy="303590"/>
          </a:xfrm>
          <a:prstGeom prst="line">
            <a:avLst/>
          </a:prstGeom>
          <a:ln w="190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7CF218E-2303-9C34-7EE9-CD93166E4988}"/>
              </a:ext>
            </a:extLst>
          </p:cNvPr>
          <p:cNvCxnSpPr>
            <a:cxnSpLocks/>
            <a:endCxn id="7" idx="2"/>
          </p:cNvCxnSpPr>
          <p:nvPr/>
        </p:nvCxnSpPr>
        <p:spPr>
          <a:xfrm flipH="1" flipV="1">
            <a:off x="8856880" y="3633311"/>
            <a:ext cx="1015783" cy="303590"/>
          </a:xfrm>
          <a:prstGeom prst="line">
            <a:avLst/>
          </a:prstGeom>
          <a:ln w="19050"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81083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95571F21-827D-539D-D4E5-DB1BB7B71F43}"/>
              </a:ext>
            </a:extLst>
          </p:cNvPr>
          <p:cNvGrpSpPr/>
          <p:nvPr/>
        </p:nvGrpSpPr>
        <p:grpSpPr>
          <a:xfrm>
            <a:off x="2579748" y="2908938"/>
            <a:ext cx="6725589" cy="2229161"/>
            <a:chOff x="2579748" y="2908938"/>
            <a:chExt cx="6725589" cy="2229161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D4C5F21-8011-3C8D-D688-5EAD5518E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579748" y="2908938"/>
              <a:ext cx="6725589" cy="2229161"/>
            </a:xfrm>
            <a:prstGeom prst="rect">
              <a:avLst/>
            </a:prstGeom>
          </p:spPr>
        </p:pic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0B03CF7-C5DD-D42F-BE83-737ACAF8269B}"/>
                </a:ext>
              </a:extLst>
            </p:cNvPr>
            <p:cNvSpPr/>
            <p:nvPr/>
          </p:nvSpPr>
          <p:spPr>
            <a:xfrm>
              <a:off x="4127127" y="3526657"/>
              <a:ext cx="0" cy="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FBA743B9-2D84-0FA8-5F12-F601E209A913}"/>
                </a:ext>
              </a:extLst>
            </p:cNvPr>
            <p:cNvSpPr/>
            <p:nvPr/>
          </p:nvSpPr>
          <p:spPr>
            <a:xfrm>
              <a:off x="7232277" y="3748064"/>
              <a:ext cx="0" cy="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9B153F27-549E-59FD-49DD-71B68B6AF1E2}"/>
                </a:ext>
              </a:extLst>
            </p:cNvPr>
            <p:cNvSpPr/>
            <p:nvPr/>
          </p:nvSpPr>
          <p:spPr>
            <a:xfrm>
              <a:off x="2832521" y="3767114"/>
              <a:ext cx="0" cy="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E0C2664-DC88-E304-B076-8CF690BAF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LLMs and abstractions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1CFC6B-07B4-BDEC-76A2-BB27FFB2C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73A756-8275-BE08-DCD4-BFA841AFC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26</a:t>
            </a:fld>
            <a:endParaRPr lang="en-US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B9497BC-6D29-1801-EA64-2882313902E4}"/>
              </a:ext>
            </a:extLst>
          </p:cNvPr>
          <p:cNvSpPr txBox="1"/>
          <p:nvPr/>
        </p:nvSpPr>
        <p:spPr>
          <a:xfrm>
            <a:off x="3818164" y="5562558"/>
            <a:ext cx="455567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Developer guide + abstraction-specific hints</a:t>
            </a:r>
          </a:p>
          <a:p>
            <a:pPr algn="ctr"/>
            <a:r>
              <a:rPr lang="en-US" i="1" noProof="0" dirty="0">
                <a:solidFill>
                  <a:schemeClr val="bg2">
                    <a:lumMod val="50000"/>
                  </a:schemeClr>
                </a:solidFill>
              </a:rPr>
              <a:t>(using OpenAI prompting guidelines)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C2299F2-DF0C-D427-2C21-1F633FD84712}"/>
              </a:ext>
            </a:extLst>
          </p:cNvPr>
          <p:cNvCxnSpPr>
            <a:stCxn id="7" idx="0"/>
          </p:cNvCxnSpPr>
          <p:nvPr/>
        </p:nvCxnSpPr>
        <p:spPr>
          <a:xfrm flipH="1" flipV="1">
            <a:off x="4292794" y="4292794"/>
            <a:ext cx="1803206" cy="1269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5483F73-57FD-ABD7-CCEB-C0641F3C7A69}"/>
              </a:ext>
            </a:extLst>
          </p:cNvPr>
          <p:cNvCxnSpPr>
            <a:stCxn id="7" idx="0"/>
          </p:cNvCxnSpPr>
          <p:nvPr/>
        </p:nvCxnSpPr>
        <p:spPr>
          <a:xfrm flipV="1">
            <a:off x="6096000" y="4544079"/>
            <a:ext cx="1030736" cy="10184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AC0D334-1CA1-478B-E2DF-FDBB97BA6ED4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>
            <a:off x="4127128" y="2906562"/>
            <a:ext cx="0" cy="6200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ADB58845-D5C0-EEBE-C5E3-557A6BA41D27}"/>
              </a:ext>
            </a:extLst>
          </p:cNvPr>
          <p:cNvSpPr txBox="1"/>
          <p:nvPr/>
        </p:nvSpPr>
        <p:spPr>
          <a:xfrm>
            <a:off x="3378012" y="2260231"/>
            <a:ext cx="14982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Example</a:t>
            </a:r>
            <a:br>
              <a:rPr lang="en-US" noProof="0" dirty="0"/>
            </a:br>
            <a:r>
              <a:rPr lang="en-US" noProof="0" dirty="0"/>
              <a:t>of translation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2B3DD40-0E3D-BE7E-C1A9-7FE95248193E}"/>
              </a:ext>
            </a:extLst>
          </p:cNvPr>
          <p:cNvCxnSpPr>
            <a:cxnSpLocks/>
            <a:stCxn id="31" idx="2"/>
            <a:endCxn id="32" idx="0"/>
          </p:cNvCxnSpPr>
          <p:nvPr/>
        </p:nvCxnSpPr>
        <p:spPr>
          <a:xfrm flipH="1">
            <a:off x="7232278" y="2850970"/>
            <a:ext cx="10" cy="8970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126AD0EB-FFD7-75B6-7E42-6076085C5AFE}"/>
              </a:ext>
            </a:extLst>
          </p:cNvPr>
          <p:cNvSpPr txBox="1"/>
          <p:nvPr/>
        </p:nvSpPr>
        <p:spPr>
          <a:xfrm>
            <a:off x="6260964" y="2481638"/>
            <a:ext cx="19426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Different prompts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478173F-E0BD-D141-B2EC-92BF7ABBA2AE}"/>
              </a:ext>
            </a:extLst>
          </p:cNvPr>
          <p:cNvSpPr txBox="1"/>
          <p:nvPr/>
        </p:nvSpPr>
        <p:spPr>
          <a:xfrm>
            <a:off x="838052" y="3582449"/>
            <a:ext cx="15407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30 algorithms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8E56F74-4621-B7C9-7EE3-98B378CB490A}"/>
              </a:ext>
            </a:extLst>
          </p:cNvPr>
          <p:cNvCxnSpPr>
            <a:stCxn id="33" idx="3"/>
            <a:endCxn id="35" idx="2"/>
          </p:cNvCxnSpPr>
          <p:nvPr/>
        </p:nvCxnSpPr>
        <p:spPr>
          <a:xfrm>
            <a:off x="2378795" y="3767115"/>
            <a:ext cx="45372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ight Brace 44">
            <a:extLst>
              <a:ext uri="{FF2B5EF4-FFF2-40B4-BE49-F238E27FC236}">
                <a16:creationId xmlns:a16="http://schemas.microsoft.com/office/drawing/2014/main" id="{76E7C66C-E514-E140-0598-9B479403FA00}"/>
              </a:ext>
            </a:extLst>
          </p:cNvPr>
          <p:cNvSpPr/>
          <p:nvPr/>
        </p:nvSpPr>
        <p:spPr>
          <a:xfrm>
            <a:off x="9182100" y="2443163"/>
            <a:ext cx="300661" cy="282892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681D359-D348-006D-B5F6-3F7D47199734}"/>
              </a:ext>
            </a:extLst>
          </p:cNvPr>
          <p:cNvSpPr txBox="1"/>
          <p:nvPr/>
        </p:nvSpPr>
        <p:spPr>
          <a:xfrm>
            <a:off x="9482156" y="3526657"/>
            <a:ext cx="27098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Almost 500</a:t>
            </a:r>
            <a:br>
              <a:rPr lang="en-US" noProof="0" dirty="0"/>
            </a:br>
            <a:r>
              <a:rPr lang="en-US" noProof="0" dirty="0"/>
              <a:t>optimization experiments</a:t>
            </a:r>
          </a:p>
        </p:txBody>
      </p:sp>
    </p:spTree>
    <p:extLst>
      <p:ext uri="{BB962C8B-B14F-4D97-AF65-F5344CB8AC3E}">
        <p14:creationId xmlns:p14="http://schemas.microsoft.com/office/powerpoint/2010/main" val="23302827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D49F71-7448-E212-BBEF-8893E6B1C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276319-0BF2-515F-5739-FB698D922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27</a:t>
            </a:fld>
            <a:endParaRPr lang="en-US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5139328-6AF9-13C4-4F3E-6451615DB5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467" y="622007"/>
            <a:ext cx="11231066" cy="5463914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8052565-253C-E35C-2150-0BF281B9248A}"/>
              </a:ext>
            </a:extLst>
          </p:cNvPr>
          <p:cNvCxnSpPr>
            <a:cxnSpLocks/>
            <a:stCxn id="10" idx="2"/>
          </p:cNvCxnSpPr>
          <p:nvPr/>
        </p:nvCxnSpPr>
        <p:spPr>
          <a:xfrm>
            <a:off x="1371093" y="956745"/>
            <a:ext cx="590330" cy="68359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4510F7E-BEF2-4291-2C14-78CF368B4E8A}"/>
              </a:ext>
            </a:extLst>
          </p:cNvPr>
          <p:cNvSpPr txBox="1"/>
          <p:nvPr/>
        </p:nvSpPr>
        <p:spPr>
          <a:xfrm>
            <a:off x="216385" y="587413"/>
            <a:ext cx="23094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Best performance (C)</a:t>
            </a:r>
          </a:p>
        </p:txBody>
      </p:sp>
    </p:spTree>
    <p:extLst>
      <p:ext uri="{BB962C8B-B14F-4D97-AF65-F5344CB8AC3E}">
        <p14:creationId xmlns:p14="http://schemas.microsoft.com/office/powerpoint/2010/main" val="13416658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054ED28-5B59-E4A7-513A-4F06F356F3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LLM-directed optimization summary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CF66668-3BAD-E37E-63AF-30E04874E8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noProof="0" dirty="0"/>
              <a:t>Prompting specificity</a:t>
            </a:r>
          </a:p>
          <a:p>
            <a:r>
              <a:rPr lang="en-US" noProof="0" dirty="0"/>
              <a:t>Contemporary abstractions do not help</a:t>
            </a:r>
          </a:p>
          <a:p>
            <a:endParaRPr lang="en-US" noProof="0" dirty="0"/>
          </a:p>
          <a:p>
            <a:r>
              <a:rPr lang="en-US" dirty="0"/>
              <a:t>Possible f</a:t>
            </a:r>
            <a:r>
              <a:rPr lang="en-US" noProof="0" dirty="0" err="1"/>
              <a:t>uture</a:t>
            </a:r>
            <a:r>
              <a:rPr lang="en-US" noProof="0" dirty="0"/>
              <a:t> research</a:t>
            </a:r>
          </a:p>
          <a:p>
            <a:pPr lvl="1"/>
            <a:r>
              <a:rPr lang="en-US" noProof="0" dirty="0"/>
              <a:t>Re-evaluate on agentic LLMs</a:t>
            </a:r>
          </a:p>
          <a:p>
            <a:pPr lvl="2"/>
            <a:r>
              <a:rPr lang="en-US" noProof="0" dirty="0"/>
              <a:t>Automatically gather feedback (performance, compile errors, …)</a:t>
            </a:r>
          </a:p>
          <a:p>
            <a:pPr lvl="2"/>
            <a:r>
              <a:rPr lang="en-US" noProof="0" dirty="0"/>
              <a:t>Can collect necessary context (e.g., work with abstraction reference)</a:t>
            </a:r>
          </a:p>
          <a:p>
            <a:pPr lvl="1"/>
            <a:endParaRPr lang="en-US" noProof="0" dirty="0"/>
          </a:p>
          <a:p>
            <a:pPr lvl="1"/>
            <a:r>
              <a:rPr lang="en-US" noProof="0" dirty="0"/>
              <a:t>More LLM-focused abstractions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2E3398E-268D-A00A-DD6D-029BB4AC9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4D20BF-4C0E-41E5-B4FC-9D48FCD3AF3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A52200-683B-032B-050F-13B46C40B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28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7099458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7B745-9B50-DD90-5161-BD2A06CEA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Contribution map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7C89E2-483C-AAE2-A28B-882731CF7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C1E11-C476-4762-AFFB-C3D6ECD7A44E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E703C1-86DF-7428-224F-96B06FB73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29</a:t>
            </a:fld>
            <a:endParaRPr lang="en-US" noProof="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2203B1-0F93-3F92-FADF-DA1FA387F65C}"/>
              </a:ext>
            </a:extLst>
          </p:cNvPr>
          <p:cNvSpPr txBox="1"/>
          <p:nvPr/>
        </p:nvSpPr>
        <p:spPr>
          <a:xfrm>
            <a:off x="796339" y="3540214"/>
            <a:ext cx="1337160" cy="408623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Distributed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1F297F-A46E-4127-A44D-943053748AAD}"/>
              </a:ext>
            </a:extLst>
          </p:cNvPr>
          <p:cNvSpPr txBox="1"/>
          <p:nvPr/>
        </p:nvSpPr>
        <p:spPr>
          <a:xfrm>
            <a:off x="1578385" y="1964514"/>
            <a:ext cx="1007068" cy="408623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Layouts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DD753E-8E05-7A83-7639-B87EDB75A42B}"/>
              </a:ext>
            </a:extLst>
          </p:cNvPr>
          <p:cNvSpPr txBox="1"/>
          <p:nvPr/>
        </p:nvSpPr>
        <p:spPr>
          <a:xfrm>
            <a:off x="2202790" y="2704852"/>
            <a:ext cx="1218131" cy="408623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Traversals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FE9A3AF-209B-AE12-2963-A07256AC3AD8}"/>
              </a:ext>
            </a:extLst>
          </p:cNvPr>
          <p:cNvSpPr txBox="1"/>
          <p:nvPr/>
        </p:nvSpPr>
        <p:spPr>
          <a:xfrm>
            <a:off x="3180692" y="3587248"/>
            <a:ext cx="1310504" cy="408623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Autotuning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BEA25C6-5912-033A-1DD3-AE5CB2BC4AB3}"/>
              </a:ext>
            </a:extLst>
          </p:cNvPr>
          <p:cNvSpPr txBox="1"/>
          <p:nvPr/>
        </p:nvSpPr>
        <p:spPr>
          <a:xfrm>
            <a:off x="9394667" y="1602719"/>
            <a:ext cx="2027218" cy="408623"/>
          </a:xfrm>
          <a:prstGeom prst="roundRect">
            <a:avLst>
              <a:gd name="adj" fmla="val 38874"/>
            </a:avLst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Cellular automata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05BE16C-7358-765B-9F41-391F715E3540}"/>
              </a:ext>
            </a:extLst>
          </p:cNvPr>
          <p:cNvSpPr txBox="1"/>
          <p:nvPr/>
        </p:nvSpPr>
        <p:spPr>
          <a:xfrm>
            <a:off x="9073599" y="2712837"/>
            <a:ext cx="2669353" cy="476488"/>
          </a:xfrm>
          <a:prstGeom prst="roundRect">
            <a:avLst>
              <a:gd name="adj" fmla="val 38874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Bitwise encoding of </a:t>
            </a:r>
            <a:r>
              <a:rPr lang="en-US" noProof="0" dirty="0" err="1"/>
              <a:t>GoL</a:t>
            </a:r>
            <a:endParaRPr lang="en-US" noProof="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C486DD0-E83D-76B8-FFAB-7DFBC00CF409}"/>
              </a:ext>
            </a:extLst>
          </p:cNvPr>
          <p:cNvSpPr txBox="1"/>
          <p:nvPr/>
        </p:nvSpPr>
        <p:spPr>
          <a:xfrm>
            <a:off x="6617359" y="2114333"/>
            <a:ext cx="1776972" cy="487204"/>
          </a:xfrm>
          <a:prstGeom prst="roundRect">
            <a:avLst>
              <a:gd name="adj" fmla="val 42290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CA abstraction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E10342D-AF4F-9D7A-596A-774C5A75EE80}"/>
              </a:ext>
            </a:extLst>
          </p:cNvPr>
          <p:cNvSpPr txBox="1"/>
          <p:nvPr/>
        </p:nvSpPr>
        <p:spPr>
          <a:xfrm>
            <a:off x="6781927" y="4959624"/>
            <a:ext cx="2529026" cy="36933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chemeClr val="accent2">
                  <a:lumMod val="97000"/>
                  <a:lumOff val="3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Tutoring LLMs for CUDA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AD7395F-5DE8-A141-7F54-EB10905B989D}"/>
              </a:ext>
            </a:extLst>
          </p:cNvPr>
          <p:cNvSpPr txBox="1"/>
          <p:nvPr/>
        </p:nvSpPr>
        <p:spPr>
          <a:xfrm>
            <a:off x="4857296" y="3941654"/>
            <a:ext cx="2433487" cy="369332"/>
          </a:xfrm>
          <a:prstGeom prst="rect">
            <a:avLst/>
          </a:prstGeom>
          <a:gradFill flip="none" rotWithShape="1">
            <a:gsLst>
              <a:gs pos="0">
                <a:schemeClr val="accent2">
                  <a:lumMod val="67000"/>
                </a:schemeClr>
              </a:gs>
              <a:gs pos="48000">
                <a:srgbClr val="AF9A19"/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 w="38100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LLMs and abstractions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75DD392-3AAA-5F2A-363D-37ADF1B2AD3E}"/>
              </a:ext>
            </a:extLst>
          </p:cNvPr>
          <p:cNvSpPr txBox="1"/>
          <p:nvPr/>
        </p:nvSpPr>
        <p:spPr>
          <a:xfrm>
            <a:off x="309634" y="1421002"/>
            <a:ext cx="3497625" cy="369332"/>
          </a:xfrm>
          <a:prstGeom prst="rect">
            <a:avLst/>
          </a:prstGeom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General-purpose HPC computing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8996F6F-87F6-9490-D8CC-27045B68F5E1}"/>
              </a:ext>
            </a:extLst>
          </p:cNvPr>
          <p:cNvSpPr txBox="1"/>
          <p:nvPr/>
        </p:nvSpPr>
        <p:spPr>
          <a:xfrm>
            <a:off x="7421845" y="304329"/>
            <a:ext cx="3457998" cy="369332"/>
          </a:xfrm>
          <a:prstGeom prst="rect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Domain-specific HPC computing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1F1346-871A-D701-3289-C975F8E5768B}"/>
              </a:ext>
            </a:extLst>
          </p:cNvPr>
          <p:cNvSpPr txBox="1"/>
          <p:nvPr/>
        </p:nvSpPr>
        <p:spPr>
          <a:xfrm>
            <a:off x="9296654" y="994391"/>
            <a:ext cx="2223245" cy="408623"/>
          </a:xfrm>
          <a:prstGeom prst="roundRect">
            <a:avLst>
              <a:gd name="adj" fmla="val 35457"/>
            </a:avLst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Stencil computation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78AC6C-FC18-4019-D6D7-374777F1BAEC}"/>
              </a:ext>
            </a:extLst>
          </p:cNvPr>
          <p:cNvSpPr txBox="1"/>
          <p:nvPr/>
        </p:nvSpPr>
        <p:spPr>
          <a:xfrm>
            <a:off x="8610600" y="5993832"/>
            <a:ext cx="2246769" cy="36933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noProof="0" dirty="0"/>
              <a:t>LLM code generation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E6887D-8433-28B1-0FDD-63B1B7428374}"/>
              </a:ext>
            </a:extLst>
          </p:cNvPr>
          <p:cNvSpPr txBox="1"/>
          <p:nvPr/>
        </p:nvSpPr>
        <p:spPr>
          <a:xfrm>
            <a:off x="1873532" y="5144290"/>
            <a:ext cx="2256197" cy="408623"/>
          </a:xfrm>
          <a:prstGeom prst="roundRect">
            <a:avLst>
              <a:gd name="adj" fmla="val 43999"/>
            </a:avLst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noProof="0" dirty="0"/>
              <a:t>k-Nearest Neighbors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5FB3F7D-0D2D-953D-31F7-7DD3D9F1427F}"/>
              </a:ext>
            </a:extLst>
          </p:cNvPr>
          <p:cNvSpPr txBox="1"/>
          <p:nvPr/>
        </p:nvSpPr>
        <p:spPr>
          <a:xfrm>
            <a:off x="1561243" y="5903812"/>
            <a:ext cx="3203056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noProof="0" dirty="0"/>
              <a:t>GPU-specific algorithm design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4A14F9-37A7-558D-DCD1-B6BA288136A3}"/>
              </a:ext>
            </a:extLst>
          </p:cNvPr>
          <p:cNvSpPr txBox="1"/>
          <p:nvPr/>
        </p:nvSpPr>
        <p:spPr>
          <a:xfrm>
            <a:off x="2628617" y="4473316"/>
            <a:ext cx="2397292" cy="501491"/>
          </a:xfrm>
          <a:prstGeom prst="roundRect">
            <a:avLst>
              <a:gd name="adj" fmla="val 45707"/>
            </a:avLst>
          </a:prstGeom>
          <a:gradFill flip="none" rotWithShape="1">
            <a:gsLst>
              <a:gs pos="0">
                <a:schemeClr val="accent1">
                  <a:lumMod val="67000"/>
                </a:schemeClr>
              </a:gs>
              <a:gs pos="48000">
                <a:schemeClr val="accent1">
                  <a:lumMod val="97000"/>
                  <a:lumOff val="3000"/>
                </a:schemeClr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en-US" noProof="0" dirty="0" err="1"/>
              <a:t>kNN</a:t>
            </a:r>
            <a:r>
              <a:rPr lang="en-US" noProof="0" dirty="0"/>
              <a:t> with </a:t>
            </a:r>
            <a:r>
              <a:rPr lang="en-US" noProof="0" dirty="0" err="1"/>
              <a:t>bitonic</a:t>
            </a:r>
            <a:r>
              <a:rPr lang="en-US" noProof="0" dirty="0"/>
              <a:t> sort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9233798-963E-F8A0-85A4-DCE8EC91DBF9}"/>
              </a:ext>
            </a:extLst>
          </p:cNvPr>
          <p:cNvCxnSpPr>
            <a:stCxn id="8" idx="0"/>
            <a:endCxn id="32" idx="2"/>
          </p:cNvCxnSpPr>
          <p:nvPr/>
        </p:nvCxnSpPr>
        <p:spPr>
          <a:xfrm flipH="1" flipV="1">
            <a:off x="2058447" y="1790334"/>
            <a:ext cx="23472" cy="17418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B3289B2B-81D7-3AAE-0581-2401DD73C129}"/>
              </a:ext>
            </a:extLst>
          </p:cNvPr>
          <p:cNvCxnSpPr>
            <a:cxnSpLocks/>
            <a:stCxn id="8" idx="2"/>
            <a:endCxn id="12" idx="0"/>
          </p:cNvCxnSpPr>
          <p:nvPr/>
        </p:nvCxnSpPr>
        <p:spPr>
          <a:xfrm>
            <a:off x="2081919" y="2373137"/>
            <a:ext cx="729937" cy="331715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175AF3EF-64B7-79EF-0C5F-53B19C1B2FAA}"/>
              </a:ext>
            </a:extLst>
          </p:cNvPr>
          <p:cNvCxnSpPr>
            <a:cxnSpLocks/>
            <a:stCxn id="12" idx="2"/>
            <a:endCxn id="6" idx="0"/>
          </p:cNvCxnSpPr>
          <p:nvPr/>
        </p:nvCxnSpPr>
        <p:spPr>
          <a:xfrm flipH="1">
            <a:off x="1464919" y="3113475"/>
            <a:ext cx="1346937" cy="426739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463B896-BD13-512A-E580-7BE4DFC4E1B3}"/>
              </a:ext>
            </a:extLst>
          </p:cNvPr>
          <p:cNvCxnSpPr>
            <a:cxnSpLocks/>
            <a:stCxn id="12" idx="2"/>
            <a:endCxn id="16" idx="0"/>
          </p:cNvCxnSpPr>
          <p:nvPr/>
        </p:nvCxnSpPr>
        <p:spPr>
          <a:xfrm>
            <a:off x="2811856" y="3113475"/>
            <a:ext cx="1024088" cy="473773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6AF8F44-0F6C-B866-8218-A530540B6E98}"/>
              </a:ext>
            </a:extLst>
          </p:cNvPr>
          <p:cNvCxnSpPr>
            <a:stCxn id="34" idx="2"/>
            <a:endCxn id="5" idx="0"/>
          </p:cNvCxnSpPr>
          <p:nvPr/>
        </p:nvCxnSpPr>
        <p:spPr>
          <a:xfrm>
            <a:off x="9150844" y="673661"/>
            <a:ext cx="1257433" cy="320730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B2F6BFB-AE9D-1000-B08C-FA799A71A0D4}"/>
              </a:ext>
            </a:extLst>
          </p:cNvPr>
          <p:cNvCxnSpPr>
            <a:stCxn id="5" idx="2"/>
            <a:endCxn id="20" idx="0"/>
          </p:cNvCxnSpPr>
          <p:nvPr/>
        </p:nvCxnSpPr>
        <p:spPr>
          <a:xfrm flipH="1">
            <a:off x="10408276" y="1403014"/>
            <a:ext cx="1" cy="199705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8255A13C-9878-1144-1E9D-F162566EDD33}"/>
              </a:ext>
            </a:extLst>
          </p:cNvPr>
          <p:cNvCxnSpPr>
            <a:stCxn id="20" idx="2"/>
            <a:endCxn id="24" idx="0"/>
          </p:cNvCxnSpPr>
          <p:nvPr/>
        </p:nvCxnSpPr>
        <p:spPr>
          <a:xfrm>
            <a:off x="10408276" y="2011342"/>
            <a:ext cx="0" cy="701495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81200874-7B6C-FB45-5B09-FF8BB238D79B}"/>
              </a:ext>
            </a:extLst>
          </p:cNvPr>
          <p:cNvCxnSpPr>
            <a:cxnSpLocks/>
            <a:stCxn id="20" idx="1"/>
            <a:endCxn id="27" idx="3"/>
          </p:cNvCxnSpPr>
          <p:nvPr/>
        </p:nvCxnSpPr>
        <p:spPr>
          <a:xfrm flipH="1">
            <a:off x="8394331" y="1807031"/>
            <a:ext cx="1000336" cy="550904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695E5EAD-8C5F-44D5-24B6-62E7988C0C83}"/>
              </a:ext>
            </a:extLst>
          </p:cNvPr>
          <p:cNvCxnSpPr>
            <a:stCxn id="28" idx="0"/>
            <a:endCxn id="30" idx="2"/>
          </p:cNvCxnSpPr>
          <p:nvPr/>
        </p:nvCxnSpPr>
        <p:spPr>
          <a:xfrm flipH="1" flipV="1">
            <a:off x="6074040" y="4310986"/>
            <a:ext cx="1972400" cy="648638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AFA5D45D-66F4-E252-F84E-6AB600B22F19}"/>
              </a:ext>
            </a:extLst>
          </p:cNvPr>
          <p:cNvCxnSpPr>
            <a:cxnSpLocks/>
            <a:stCxn id="7" idx="0"/>
            <a:endCxn id="28" idx="2"/>
          </p:cNvCxnSpPr>
          <p:nvPr/>
        </p:nvCxnSpPr>
        <p:spPr>
          <a:xfrm flipH="1" flipV="1">
            <a:off x="8046440" y="5328956"/>
            <a:ext cx="1687545" cy="664876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87E74FF5-B7C7-D011-0BDF-A21E4555D25B}"/>
              </a:ext>
            </a:extLst>
          </p:cNvPr>
          <p:cNvCxnSpPr>
            <a:stCxn id="11" idx="0"/>
            <a:endCxn id="9" idx="2"/>
          </p:cNvCxnSpPr>
          <p:nvPr/>
        </p:nvCxnSpPr>
        <p:spPr>
          <a:xfrm flipH="1" flipV="1">
            <a:off x="3001631" y="5552913"/>
            <a:ext cx="161140" cy="3508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7EFBF46-A6BD-4284-E20E-BCB82964D1D7}"/>
              </a:ext>
            </a:extLst>
          </p:cNvPr>
          <p:cNvCxnSpPr>
            <a:stCxn id="9" idx="0"/>
            <a:endCxn id="14" idx="2"/>
          </p:cNvCxnSpPr>
          <p:nvPr/>
        </p:nvCxnSpPr>
        <p:spPr>
          <a:xfrm flipV="1">
            <a:off x="3001631" y="4974807"/>
            <a:ext cx="825632" cy="16948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Curved 56">
            <a:extLst>
              <a:ext uri="{FF2B5EF4-FFF2-40B4-BE49-F238E27FC236}">
                <a16:creationId xmlns:a16="http://schemas.microsoft.com/office/drawing/2014/main" id="{1F8B0C2D-897D-CBED-F309-05EF687E2ECB}"/>
              </a:ext>
            </a:extLst>
          </p:cNvPr>
          <p:cNvCxnSpPr>
            <a:stCxn id="14" idx="3"/>
            <a:endCxn id="28" idx="1"/>
          </p:cNvCxnSpPr>
          <p:nvPr/>
        </p:nvCxnSpPr>
        <p:spPr>
          <a:xfrm>
            <a:off x="5025909" y="4724062"/>
            <a:ext cx="1756018" cy="420228"/>
          </a:xfrm>
          <a:prstGeom prst="curvedConnector3">
            <a:avLst/>
          </a:prstGeom>
          <a:ln>
            <a:prstDash val="sys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Curved 58">
            <a:extLst>
              <a:ext uri="{FF2B5EF4-FFF2-40B4-BE49-F238E27FC236}">
                <a16:creationId xmlns:a16="http://schemas.microsoft.com/office/drawing/2014/main" id="{8E46E008-894C-4654-09CA-E580A4B474FB}"/>
              </a:ext>
            </a:extLst>
          </p:cNvPr>
          <p:cNvCxnSpPr>
            <a:cxnSpLocks/>
            <a:stCxn id="24" idx="2"/>
            <a:endCxn id="28" idx="0"/>
          </p:cNvCxnSpPr>
          <p:nvPr/>
        </p:nvCxnSpPr>
        <p:spPr>
          <a:xfrm rot="5400000">
            <a:off x="8342209" y="2893556"/>
            <a:ext cx="1770299" cy="2361836"/>
          </a:xfrm>
          <a:prstGeom prst="curvedConnector3">
            <a:avLst>
              <a:gd name="adj1" fmla="val 50000"/>
            </a:avLst>
          </a:prstGeom>
          <a:ln>
            <a:solidFill>
              <a:schemeClr val="accent5">
                <a:lumMod val="7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FFAEA780-35AE-C922-6C99-138293EB3A99}"/>
              </a:ext>
            </a:extLst>
          </p:cNvPr>
          <p:cNvCxnSpPr>
            <a:cxnSpLocks/>
            <a:stCxn id="12" idx="3"/>
            <a:endCxn id="30" idx="0"/>
          </p:cNvCxnSpPr>
          <p:nvPr/>
        </p:nvCxnSpPr>
        <p:spPr>
          <a:xfrm>
            <a:off x="3420921" y="2909164"/>
            <a:ext cx="2653119" cy="103249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Curved 103">
            <a:extLst>
              <a:ext uri="{FF2B5EF4-FFF2-40B4-BE49-F238E27FC236}">
                <a16:creationId xmlns:a16="http://schemas.microsoft.com/office/drawing/2014/main" id="{59BF5CAB-CE77-3E1E-A10F-85C7982CD7CE}"/>
              </a:ext>
            </a:extLst>
          </p:cNvPr>
          <p:cNvCxnSpPr>
            <a:cxnSpLocks/>
            <a:stCxn id="12" idx="0"/>
            <a:endCxn id="27" idx="0"/>
          </p:cNvCxnSpPr>
          <p:nvPr/>
        </p:nvCxnSpPr>
        <p:spPr>
          <a:xfrm rot="5400000" flipH="1" flipV="1">
            <a:off x="4863591" y="62599"/>
            <a:ext cx="590519" cy="4693989"/>
          </a:xfrm>
          <a:prstGeom prst="curvedConnector3">
            <a:avLst>
              <a:gd name="adj1" fmla="val 138712"/>
            </a:avLst>
          </a:prstGeom>
          <a:ln w="57150">
            <a:solidFill>
              <a:schemeClr val="tx1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34EEE70E-66B1-DBA0-D563-ADA02418E73F}"/>
              </a:ext>
            </a:extLst>
          </p:cNvPr>
          <p:cNvSpPr txBox="1"/>
          <p:nvPr/>
        </p:nvSpPr>
        <p:spPr>
          <a:xfrm>
            <a:off x="4190498" y="1512671"/>
            <a:ext cx="2095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noProof="0" dirty="0"/>
              <a:t>Knowledge transfer</a:t>
            </a:r>
          </a:p>
        </p:txBody>
      </p:sp>
      <p:pic>
        <p:nvPicPr>
          <p:cNvPr id="108" name="Graphic 107" descr="Document with solid fill">
            <a:extLst>
              <a:ext uri="{FF2B5EF4-FFF2-40B4-BE49-F238E27FC236}">
                <a16:creationId xmlns:a16="http://schemas.microsoft.com/office/drawing/2014/main" id="{C2DFAA5D-5334-A49A-48B2-E76A0FA6067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2109" y="1924917"/>
            <a:ext cx="518025" cy="518025"/>
          </a:xfrm>
          <a:prstGeom prst="rect">
            <a:avLst/>
          </a:prstGeom>
        </p:spPr>
      </p:pic>
      <p:pic>
        <p:nvPicPr>
          <p:cNvPr id="112" name="Graphic 111" descr="Document with solid fill">
            <a:extLst>
              <a:ext uri="{FF2B5EF4-FFF2-40B4-BE49-F238E27FC236}">
                <a16:creationId xmlns:a16="http://schemas.microsoft.com/office/drawing/2014/main" id="{89A83EF7-9621-C7E8-72AF-14DB294FEC0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26784" y="2684666"/>
            <a:ext cx="518025" cy="518025"/>
          </a:xfrm>
          <a:prstGeom prst="rect">
            <a:avLst/>
          </a:prstGeom>
        </p:spPr>
      </p:pic>
      <p:pic>
        <p:nvPicPr>
          <p:cNvPr id="114" name="Graphic 113" descr="Document with solid fill">
            <a:extLst>
              <a:ext uri="{FF2B5EF4-FFF2-40B4-BE49-F238E27FC236}">
                <a16:creationId xmlns:a16="http://schemas.microsoft.com/office/drawing/2014/main" id="{429BC7B5-3FE6-AD92-9E9A-1B2F2AEC39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30762" y="3522977"/>
            <a:ext cx="511973" cy="511973"/>
          </a:xfrm>
          <a:prstGeom prst="rect">
            <a:avLst/>
          </a:prstGeom>
        </p:spPr>
      </p:pic>
      <p:pic>
        <p:nvPicPr>
          <p:cNvPr id="116" name="Graphic 115" descr="Document with solid fill">
            <a:extLst>
              <a:ext uri="{FF2B5EF4-FFF2-40B4-BE49-F238E27FC236}">
                <a16:creationId xmlns:a16="http://schemas.microsoft.com/office/drawing/2014/main" id="{A0950E09-4E68-6022-AEDC-C43AAE7095A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6827" y="3538609"/>
            <a:ext cx="515297" cy="515297"/>
          </a:xfrm>
          <a:prstGeom prst="rect">
            <a:avLst/>
          </a:prstGeom>
        </p:spPr>
      </p:pic>
      <p:pic>
        <p:nvPicPr>
          <p:cNvPr id="118" name="Graphic 117" descr="Document with solid fill">
            <a:extLst>
              <a:ext uri="{FF2B5EF4-FFF2-40B4-BE49-F238E27FC236}">
                <a16:creationId xmlns:a16="http://schemas.microsoft.com/office/drawing/2014/main" id="{2272B4AB-7D5F-AB8E-81F9-35DCF3C22C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735039" y="2896199"/>
            <a:ext cx="511973" cy="511973"/>
          </a:xfrm>
          <a:prstGeom prst="rect">
            <a:avLst/>
          </a:prstGeom>
        </p:spPr>
      </p:pic>
      <p:pic>
        <p:nvPicPr>
          <p:cNvPr id="120" name="Graphic 119" descr="Document with solid fill">
            <a:extLst>
              <a:ext uri="{FF2B5EF4-FFF2-40B4-BE49-F238E27FC236}">
                <a16:creationId xmlns:a16="http://schemas.microsoft.com/office/drawing/2014/main" id="{0495A40B-1AEC-0013-8842-1E42AD2CB0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70633" y="2023201"/>
            <a:ext cx="515297" cy="515297"/>
          </a:xfrm>
          <a:prstGeom prst="rect">
            <a:avLst/>
          </a:prstGeom>
        </p:spPr>
      </p:pic>
      <p:pic>
        <p:nvPicPr>
          <p:cNvPr id="122" name="Graphic 121" descr="Document with solid fill">
            <a:extLst>
              <a:ext uri="{FF2B5EF4-FFF2-40B4-BE49-F238E27FC236}">
                <a16:creationId xmlns:a16="http://schemas.microsoft.com/office/drawing/2014/main" id="{20BCF91A-2BC4-2C84-EDB6-83BC8A598E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672790" y="2721461"/>
            <a:ext cx="515297" cy="515297"/>
          </a:xfrm>
          <a:prstGeom prst="rect">
            <a:avLst/>
          </a:prstGeom>
        </p:spPr>
      </p:pic>
      <p:pic>
        <p:nvPicPr>
          <p:cNvPr id="124" name="Graphic 123" descr="Document with solid fill">
            <a:extLst>
              <a:ext uri="{FF2B5EF4-FFF2-40B4-BE49-F238E27FC236}">
                <a16:creationId xmlns:a16="http://schemas.microsoft.com/office/drawing/2014/main" id="{37545ACE-E0D5-4418-C01A-F54A238C5E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327561" y="4910959"/>
            <a:ext cx="511973" cy="511973"/>
          </a:xfrm>
          <a:prstGeom prst="rect">
            <a:avLst/>
          </a:prstGeom>
        </p:spPr>
      </p:pic>
      <p:pic>
        <p:nvPicPr>
          <p:cNvPr id="126" name="Graphic 125" descr="Document with solid fill">
            <a:extLst>
              <a:ext uri="{FF2B5EF4-FFF2-40B4-BE49-F238E27FC236}">
                <a16:creationId xmlns:a16="http://schemas.microsoft.com/office/drawing/2014/main" id="{F102692C-45CE-30BD-D7DB-69F758D393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890335" y="4459198"/>
            <a:ext cx="511973" cy="511973"/>
          </a:xfrm>
          <a:prstGeom prst="rect">
            <a:avLst/>
          </a:prstGeom>
        </p:spPr>
      </p:pic>
      <p:pic>
        <p:nvPicPr>
          <p:cNvPr id="128" name="Graphic 127" descr="Document with solid fill">
            <a:extLst>
              <a:ext uri="{FF2B5EF4-FFF2-40B4-BE49-F238E27FC236}">
                <a16:creationId xmlns:a16="http://schemas.microsoft.com/office/drawing/2014/main" id="{E84D08A1-6570-0EBA-AB89-9527CFD7419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19894" y="3872085"/>
            <a:ext cx="511973" cy="511973"/>
          </a:xfrm>
          <a:prstGeom prst="rect">
            <a:avLst/>
          </a:prstGeom>
        </p:spPr>
      </p:pic>
      <p:pic>
        <p:nvPicPr>
          <p:cNvPr id="130" name="Graphic 129" descr="Hourglass 90% with solid fill">
            <a:extLst>
              <a:ext uri="{FF2B5EF4-FFF2-40B4-BE49-F238E27FC236}">
                <a16:creationId xmlns:a16="http://schemas.microsoft.com/office/drawing/2014/main" id="{50528A97-8AB5-A140-C267-C37E4D5DCE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14178" y="3997487"/>
            <a:ext cx="289780" cy="289780"/>
          </a:xfrm>
          <a:prstGeom prst="rect">
            <a:avLst/>
          </a:prstGeom>
        </p:spPr>
      </p:pic>
      <p:pic>
        <p:nvPicPr>
          <p:cNvPr id="132" name="Graphic 131" descr="Hourglass 90% with solid fill">
            <a:extLst>
              <a:ext uri="{FF2B5EF4-FFF2-40B4-BE49-F238E27FC236}">
                <a16:creationId xmlns:a16="http://schemas.microsoft.com/office/drawing/2014/main" id="{AB289F9A-E988-4BD3-D736-A280662A82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344768" y="4560162"/>
            <a:ext cx="289780" cy="289780"/>
          </a:xfrm>
          <a:prstGeom prst="rect">
            <a:avLst/>
          </a:prstGeom>
        </p:spPr>
      </p:pic>
      <p:pic>
        <p:nvPicPr>
          <p:cNvPr id="134" name="Graphic 133" descr="Hourglass 90% with solid fill">
            <a:extLst>
              <a:ext uri="{FF2B5EF4-FFF2-40B4-BE49-F238E27FC236}">
                <a16:creationId xmlns:a16="http://schemas.microsoft.com/office/drawing/2014/main" id="{3A28964A-C8E0-7C8E-551D-E262DC957E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18070" y="2989368"/>
            <a:ext cx="289780" cy="289780"/>
          </a:xfrm>
          <a:prstGeom prst="rect">
            <a:avLst/>
          </a:prstGeom>
        </p:spPr>
      </p:pic>
      <p:pic>
        <p:nvPicPr>
          <p:cNvPr id="137" name="Graphic 136" descr="Gears with solid fill">
            <a:extLst>
              <a:ext uri="{FF2B5EF4-FFF2-40B4-BE49-F238E27FC236}">
                <a16:creationId xmlns:a16="http://schemas.microsoft.com/office/drawing/2014/main" id="{87B9CD5A-2314-3BC0-19F3-4DB9B6E8BA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341528" y="2973061"/>
            <a:ext cx="324709" cy="324709"/>
          </a:xfrm>
          <a:prstGeom prst="rect">
            <a:avLst/>
          </a:prstGeom>
        </p:spPr>
      </p:pic>
      <p:pic>
        <p:nvPicPr>
          <p:cNvPr id="142" name="Graphic 141" descr="Gears with solid fill">
            <a:extLst>
              <a:ext uri="{FF2B5EF4-FFF2-40B4-BE49-F238E27FC236}">
                <a16:creationId xmlns:a16="http://schemas.microsoft.com/office/drawing/2014/main" id="{8BA176CA-D896-178E-0A65-84C759D391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280982" y="2418786"/>
            <a:ext cx="324709" cy="324709"/>
          </a:xfrm>
          <a:prstGeom prst="rect">
            <a:avLst/>
          </a:prstGeom>
        </p:spPr>
      </p:pic>
      <p:pic>
        <p:nvPicPr>
          <p:cNvPr id="144" name="Graphic 143" descr="Gears with solid fill">
            <a:extLst>
              <a:ext uri="{FF2B5EF4-FFF2-40B4-BE49-F238E27FC236}">
                <a16:creationId xmlns:a16="http://schemas.microsoft.com/office/drawing/2014/main" id="{E03D2392-BDD9-D1F9-8C3F-1454062E58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12006" y="3816512"/>
            <a:ext cx="324709" cy="324709"/>
          </a:xfrm>
          <a:prstGeom prst="rect">
            <a:avLst/>
          </a:prstGeom>
        </p:spPr>
      </p:pic>
      <p:pic>
        <p:nvPicPr>
          <p:cNvPr id="146" name="Graphic 145" descr="Gears with solid fill">
            <a:extLst>
              <a:ext uri="{FF2B5EF4-FFF2-40B4-BE49-F238E27FC236}">
                <a16:creationId xmlns:a16="http://schemas.microsoft.com/office/drawing/2014/main" id="{C682619D-8374-F943-ACD1-A2A22D038A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28179" y="3823349"/>
            <a:ext cx="324709" cy="324709"/>
          </a:xfrm>
          <a:prstGeom prst="rect">
            <a:avLst/>
          </a:prstGeom>
        </p:spPr>
      </p:pic>
      <p:pic>
        <p:nvPicPr>
          <p:cNvPr id="148" name="Graphic 147" descr="Gears with solid fill">
            <a:extLst>
              <a:ext uri="{FF2B5EF4-FFF2-40B4-BE49-F238E27FC236}">
                <a16:creationId xmlns:a16="http://schemas.microsoft.com/office/drawing/2014/main" id="{B5B149AE-766F-5F50-86B4-81D50A3A920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476009" y="2226415"/>
            <a:ext cx="324709" cy="324709"/>
          </a:xfrm>
          <a:prstGeom prst="rect">
            <a:avLst/>
          </a:prstGeom>
        </p:spPr>
      </p:pic>
      <p:sp>
        <p:nvSpPr>
          <p:cNvPr id="83" name="TextBox 82">
            <a:extLst>
              <a:ext uri="{FF2B5EF4-FFF2-40B4-BE49-F238E27FC236}">
                <a16:creationId xmlns:a16="http://schemas.microsoft.com/office/drawing/2014/main" id="{B8340993-B06E-A311-6876-6E4CE72B0A74}"/>
              </a:ext>
            </a:extLst>
          </p:cNvPr>
          <p:cNvSpPr txBox="1"/>
          <p:nvPr/>
        </p:nvSpPr>
        <p:spPr>
          <a:xfrm>
            <a:off x="5538944" y="2901016"/>
            <a:ext cx="3137966" cy="476488"/>
          </a:xfrm>
          <a:prstGeom prst="roundRect">
            <a:avLst>
              <a:gd name="adj" fmla="val 38874"/>
            </a:avLst>
          </a:prstGeom>
          <a:gradFill flip="none" rotWithShape="1">
            <a:gsLst>
              <a:gs pos="0">
                <a:schemeClr val="accent5">
                  <a:lumMod val="67000"/>
                </a:schemeClr>
              </a:gs>
              <a:gs pos="48000">
                <a:schemeClr val="accent5">
                  <a:lumMod val="97000"/>
                  <a:lumOff val="3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noProof="0" dirty="0"/>
              <a:t>Bit-Planes for CA abstraction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633C5503-8ADB-3112-D468-A9D46C7291F9}"/>
              </a:ext>
            </a:extLst>
          </p:cNvPr>
          <p:cNvCxnSpPr>
            <a:cxnSpLocks/>
            <a:stCxn id="83" idx="0"/>
            <a:endCxn id="27" idx="2"/>
          </p:cNvCxnSpPr>
          <p:nvPr/>
        </p:nvCxnSpPr>
        <p:spPr>
          <a:xfrm flipV="1">
            <a:off x="7107927" y="2601537"/>
            <a:ext cx="397918" cy="299479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DEDBBB33-4558-F22F-1F22-F472582CA31D}"/>
              </a:ext>
            </a:extLst>
          </p:cNvPr>
          <p:cNvCxnSpPr>
            <a:cxnSpLocks/>
            <a:stCxn id="24" idx="1"/>
            <a:endCxn id="83" idx="3"/>
          </p:cNvCxnSpPr>
          <p:nvPr/>
        </p:nvCxnSpPr>
        <p:spPr>
          <a:xfrm flipH="1">
            <a:off x="8676910" y="2951081"/>
            <a:ext cx="396689" cy="188179"/>
          </a:xfrm>
          <a:prstGeom prst="lin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4" name="Graphic 93" descr="Gears with solid fill">
            <a:extLst>
              <a:ext uri="{FF2B5EF4-FFF2-40B4-BE49-F238E27FC236}">
                <a16:creationId xmlns:a16="http://schemas.microsoft.com/office/drawing/2014/main" id="{541F1A89-B8F8-9B56-46FB-008EA662398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562773" y="3184491"/>
            <a:ext cx="324709" cy="324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54896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6E2FB-C33B-F5A6-39E3-F8E23A832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Summary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9F2EFF-764E-D77C-839A-710FB5E7F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26190-46ED-4A0C-A5E8-CDBCA5C2D5C3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653686-DDC4-AE26-E80F-25922CD6E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30</a:t>
            </a:fld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E9E7E9-B0F2-7688-8691-124AAE9C56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9077" y="1874172"/>
            <a:ext cx="7816900" cy="397519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7460CFD-1ADD-C377-3592-F33BC4F867B6}"/>
              </a:ext>
            </a:extLst>
          </p:cNvPr>
          <p:cNvSpPr txBox="1"/>
          <p:nvPr/>
        </p:nvSpPr>
        <p:spPr>
          <a:xfrm>
            <a:off x="2548168" y="2401805"/>
            <a:ext cx="968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Layouts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890452-B9A2-74CC-8DAA-A01425E62FD3}"/>
              </a:ext>
            </a:extLst>
          </p:cNvPr>
          <p:cNvSpPr txBox="1"/>
          <p:nvPr/>
        </p:nvSpPr>
        <p:spPr>
          <a:xfrm>
            <a:off x="2332917" y="2646315"/>
            <a:ext cx="11837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Traversals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D8A1E1A-6D5A-56E5-F8EC-DE0EA51B3C0D}"/>
              </a:ext>
            </a:extLst>
          </p:cNvPr>
          <p:cNvSpPr txBox="1"/>
          <p:nvPr/>
        </p:nvSpPr>
        <p:spPr>
          <a:xfrm>
            <a:off x="2177426" y="2890825"/>
            <a:ext cx="1339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Autotuning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277F25-EB33-FBD0-50C1-C49A0970F767}"/>
              </a:ext>
            </a:extLst>
          </p:cNvPr>
          <p:cNvSpPr txBox="1"/>
          <p:nvPr/>
        </p:nvSpPr>
        <p:spPr>
          <a:xfrm>
            <a:off x="2275080" y="3135335"/>
            <a:ext cx="12994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Distributed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E8F7A3C-A424-8253-CB99-0B73DC4FE674}"/>
              </a:ext>
            </a:extLst>
          </p:cNvPr>
          <p:cNvSpPr txBox="1"/>
          <p:nvPr/>
        </p:nvSpPr>
        <p:spPr>
          <a:xfrm>
            <a:off x="1837652" y="3359879"/>
            <a:ext cx="17368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CA abstraction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2124A68-C53E-11BD-CAF9-0273F97C47FA}"/>
              </a:ext>
            </a:extLst>
          </p:cNvPr>
          <p:cNvSpPr txBox="1"/>
          <p:nvPr/>
        </p:nvSpPr>
        <p:spPr>
          <a:xfrm>
            <a:off x="1045513" y="3612140"/>
            <a:ext cx="2529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Tutoring LLMs for CUDA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278D3E-9071-30B3-5084-67810955D802}"/>
              </a:ext>
            </a:extLst>
          </p:cNvPr>
          <p:cNvSpPr txBox="1"/>
          <p:nvPr/>
        </p:nvSpPr>
        <p:spPr>
          <a:xfrm>
            <a:off x="1141051" y="3868865"/>
            <a:ext cx="2433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LLMs and abstractions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EB6927-BD1C-C0F1-C38D-1A40C72A2497}"/>
              </a:ext>
            </a:extLst>
          </p:cNvPr>
          <p:cNvSpPr txBox="1"/>
          <p:nvPr/>
        </p:nvSpPr>
        <p:spPr>
          <a:xfrm>
            <a:off x="1647280" y="4603720"/>
            <a:ext cx="18694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GPU </a:t>
            </a:r>
            <a:r>
              <a:rPr lang="en-US" i="1" dirty="0" err="1"/>
              <a:t>EmbedSOM</a:t>
            </a:r>
            <a:endParaRPr lang="en-US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5C78A90-FEC1-2DB8-B891-AC8BDA35A2A4}"/>
              </a:ext>
            </a:extLst>
          </p:cNvPr>
          <p:cNvSpPr txBox="1"/>
          <p:nvPr/>
        </p:nvSpPr>
        <p:spPr>
          <a:xfrm>
            <a:off x="946769" y="4859116"/>
            <a:ext cx="25699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i="1" dirty="0"/>
              <a:t>Bitwise encoding of </a:t>
            </a:r>
            <a:r>
              <a:rPr lang="en-US" i="1" dirty="0" err="1"/>
              <a:t>GoL</a:t>
            </a:r>
            <a:endParaRPr lang="en-US" i="1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9FF1FA-5071-1EAC-9BA2-D4E5B82F1A7A}"/>
              </a:ext>
            </a:extLst>
          </p:cNvPr>
          <p:cNvSpPr txBox="1"/>
          <p:nvPr/>
        </p:nvSpPr>
        <p:spPr>
          <a:xfrm>
            <a:off x="1130665" y="5129974"/>
            <a:ext cx="2386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 err="1"/>
              <a:t>kNN</a:t>
            </a:r>
            <a:r>
              <a:rPr lang="en-US" b="1" dirty="0"/>
              <a:t> with </a:t>
            </a:r>
            <a:r>
              <a:rPr lang="en-US" b="1" dirty="0" err="1"/>
              <a:t>bitonic</a:t>
            </a:r>
            <a:r>
              <a:rPr lang="en-US" b="1" dirty="0"/>
              <a:t> sort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814196E-42A9-2357-683E-D9B1852BAD1C}"/>
              </a:ext>
            </a:extLst>
          </p:cNvPr>
          <p:cNvSpPr txBox="1"/>
          <p:nvPr/>
        </p:nvSpPr>
        <p:spPr>
          <a:xfrm>
            <a:off x="313967" y="5379130"/>
            <a:ext cx="3202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Bit-Planes for CA abstraction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5620A1D-D418-D0F0-133F-FFE0B5C949BE}"/>
              </a:ext>
            </a:extLst>
          </p:cNvPr>
          <p:cNvSpPr txBox="1"/>
          <p:nvPr/>
        </p:nvSpPr>
        <p:spPr>
          <a:xfrm>
            <a:off x="513445" y="5754899"/>
            <a:ext cx="3436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Conference | </a:t>
            </a:r>
            <a:r>
              <a:rPr lang="en-US" i="1" dirty="0">
                <a:solidFill>
                  <a:schemeClr val="bg2">
                    <a:lumMod val="50000"/>
                  </a:schemeClr>
                </a:solidFill>
              </a:rPr>
              <a:t>Workshop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| </a:t>
            </a:r>
            <a:r>
              <a:rPr lang="en-US" b="1" dirty="0">
                <a:solidFill>
                  <a:schemeClr val="bg2">
                    <a:lumMod val="50000"/>
                  </a:schemeClr>
                </a:solidFill>
              </a:rPr>
              <a:t>Journal</a:t>
            </a:r>
          </a:p>
        </p:txBody>
      </p:sp>
      <p:sp>
        <p:nvSpPr>
          <p:cNvPr id="7" name="Left Brace 6">
            <a:extLst>
              <a:ext uri="{FF2B5EF4-FFF2-40B4-BE49-F238E27FC236}">
                <a16:creationId xmlns:a16="http://schemas.microsoft.com/office/drawing/2014/main" id="{70FB1660-D075-7B01-57E6-A7BE0BF087E2}"/>
              </a:ext>
            </a:extLst>
          </p:cNvPr>
          <p:cNvSpPr/>
          <p:nvPr/>
        </p:nvSpPr>
        <p:spPr>
          <a:xfrm>
            <a:off x="2142590" y="2468103"/>
            <a:ext cx="132490" cy="932148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4A760B-F774-39E3-E0AC-9B2DEC8AF4DE}"/>
              </a:ext>
            </a:extLst>
          </p:cNvPr>
          <p:cNvSpPr txBox="1"/>
          <p:nvPr/>
        </p:nvSpPr>
        <p:spPr>
          <a:xfrm>
            <a:off x="1435486" y="2727322"/>
            <a:ext cx="7521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Noarr</a:t>
            </a:r>
            <a:endParaRPr lang="en-US" dirty="0"/>
          </a:p>
        </p:txBody>
      </p:sp>
      <p:sp>
        <p:nvSpPr>
          <p:cNvPr id="13" name="Left Brace 12">
            <a:extLst>
              <a:ext uri="{FF2B5EF4-FFF2-40B4-BE49-F238E27FC236}">
                <a16:creationId xmlns:a16="http://schemas.microsoft.com/office/drawing/2014/main" id="{6258EB1D-0B46-9D04-4739-FBEC2EF2265A}"/>
              </a:ext>
            </a:extLst>
          </p:cNvPr>
          <p:cNvSpPr/>
          <p:nvPr/>
        </p:nvSpPr>
        <p:spPr>
          <a:xfrm>
            <a:off x="1745305" y="3400250"/>
            <a:ext cx="132490" cy="266393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D7B44A4-A32D-E3BD-91BE-CB60C63F0094}"/>
              </a:ext>
            </a:extLst>
          </p:cNvPr>
          <p:cNvSpPr txBox="1"/>
          <p:nvPr/>
        </p:nvSpPr>
        <p:spPr>
          <a:xfrm>
            <a:off x="906837" y="3328773"/>
            <a:ext cx="9076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Cellato</a:t>
            </a:r>
            <a:endParaRPr lang="en-US" dirty="0"/>
          </a:p>
        </p:txBody>
      </p:sp>
      <p:cxnSp>
        <p:nvCxnSpPr>
          <p:cNvPr id="21" name="Connector: Curved 20">
            <a:extLst>
              <a:ext uri="{FF2B5EF4-FFF2-40B4-BE49-F238E27FC236}">
                <a16:creationId xmlns:a16="http://schemas.microsoft.com/office/drawing/2014/main" id="{4A6707A3-43D2-9F55-8429-53C2D1C044B8}"/>
              </a:ext>
            </a:extLst>
          </p:cNvPr>
          <p:cNvCxnSpPr>
            <a:stCxn id="25" idx="1"/>
            <a:endCxn id="17" idx="1"/>
          </p:cNvCxnSpPr>
          <p:nvPr/>
        </p:nvCxnSpPr>
        <p:spPr>
          <a:xfrm rot="10800000" flipH="1">
            <a:off x="313967" y="3513440"/>
            <a:ext cx="592870" cy="2050357"/>
          </a:xfrm>
          <a:prstGeom prst="curvedConnector3">
            <a:avLst>
              <a:gd name="adj1" fmla="val -38558"/>
            </a:avLst>
          </a:prstGeom>
          <a:ln w="19050">
            <a:solidFill>
              <a:schemeClr val="tx1"/>
            </a:solidFill>
            <a:prstDash val="sysDot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53718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814D937-1CAE-414B-A7D5-018C68698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 comments and questions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130AF46-445A-EA10-5B0A-764E1CA13B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84B596-5AF7-51AF-3EE6-313BDA5CC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A530-81CA-410E-A053-EF7BD11F8EF0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D45EBF-BF5B-CB1B-7863-61BA3DD3C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31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953849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5DEE5-750D-2E34-780B-7B3070345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Novelty in layout- and traversal-agnosticism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C7CE7-A5CF-9AB9-4808-73A235F6B8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do not claim to invent these two concepts as new paradigms</a:t>
            </a:r>
          </a:p>
          <a:p>
            <a:pPr lvl="1"/>
            <a:r>
              <a:rPr lang="en-US" dirty="0"/>
              <a:t>The thesis explicitly studies the two concepts</a:t>
            </a:r>
          </a:p>
          <a:p>
            <a:pPr lvl="2"/>
            <a:r>
              <a:rPr lang="en-US" dirty="0"/>
              <a:t>introducing them as two identified underexplored principles</a:t>
            </a:r>
          </a:p>
          <a:p>
            <a:pPr lvl="1"/>
            <a:r>
              <a:rPr lang="en-US" dirty="0"/>
              <a:t>Not targeted by prior research or design in HPC algorithms</a:t>
            </a:r>
          </a:p>
          <a:p>
            <a:r>
              <a:rPr lang="en-US" dirty="0"/>
              <a:t>Main novelty</a:t>
            </a:r>
          </a:p>
          <a:p>
            <a:pPr lvl="1"/>
            <a:r>
              <a:rPr lang="en-US" dirty="0"/>
              <a:t>Unified approach for layout &amp; traversal-agnostic algorithm design</a:t>
            </a:r>
          </a:p>
          <a:p>
            <a:pPr lvl="1"/>
            <a:r>
              <a:rPr lang="en-US" dirty="0"/>
              <a:t>Named dimensions and compositional approach</a:t>
            </a:r>
          </a:p>
          <a:p>
            <a:pPr lvl="1"/>
            <a:r>
              <a:rPr lang="en-US" dirty="0"/>
              <a:t>Support for heterogeneous layouts</a:t>
            </a:r>
          </a:p>
          <a:p>
            <a:pPr lvl="1"/>
            <a:r>
              <a:rPr lang="en-US" dirty="0"/>
              <a:t>Abstracting evaluation strategy and encoding for Cellular Automata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8C54E1-6E6D-2E32-65E2-74ED092C4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C28A6-2969-482E-9A3B-5E13FCD8DD03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0AAC9A-8584-05EF-C97F-9A8A4DE36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57136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B94CF-19F9-112D-5812-9019906C4F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Which of these ideas can be found in software like </a:t>
            </a:r>
            <a:r>
              <a:rPr lang="en-US" dirty="0" err="1"/>
              <a:t>Kokkos</a:t>
            </a:r>
            <a:r>
              <a:rPr lang="en-US" dirty="0"/>
              <a:t> or OpenMP's loop transformations?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0BABB-A5A5-A95D-8DB1-6B93F86A91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dirty="0"/>
              <a:t>(reaction to layout- and traversal-agnostic design)</a:t>
            </a:r>
          </a:p>
          <a:p>
            <a:endParaRPr lang="en-US" dirty="0"/>
          </a:p>
          <a:p>
            <a:r>
              <a:rPr lang="en-US" dirty="0" err="1"/>
              <a:t>Kokkos</a:t>
            </a:r>
            <a:r>
              <a:rPr lang="en-US" dirty="0"/>
              <a:t> Views (and </a:t>
            </a:r>
            <a:r>
              <a:rPr lang="en-US" dirty="0" err="1"/>
              <a:t>mdspans</a:t>
            </a:r>
            <a:r>
              <a:rPr lang="en-US" dirty="0"/>
              <a:t>) abstract physical memory layout</a:t>
            </a:r>
          </a:p>
          <a:p>
            <a:pPr lvl="1"/>
            <a:r>
              <a:rPr lang="en-US" dirty="0"/>
              <a:t>Limited to multidimensional arrays</a:t>
            </a:r>
          </a:p>
          <a:p>
            <a:pPr lvl="1"/>
            <a:r>
              <a:rPr lang="en-US" dirty="0"/>
              <a:t>Mostly focus row-major vs column-major (and custom strides)</a:t>
            </a:r>
          </a:p>
          <a:p>
            <a:pPr lvl="1"/>
            <a:r>
              <a:rPr lang="en-US" dirty="0" err="1"/>
              <a:t>Subview</a:t>
            </a:r>
            <a:r>
              <a:rPr lang="en-US" dirty="0"/>
              <a:t> </a:t>
            </a:r>
            <a:r>
              <a:rPr lang="en-US" dirty="0">
                <a:sym typeface="Wingdings" panose="05000000000000000000" pitchFamily="2" charset="2"/>
              </a:rPr>
              <a:t> the only supported transformation</a:t>
            </a:r>
          </a:p>
          <a:p>
            <a:pPr lvl="1"/>
            <a:r>
              <a:rPr lang="en-US" dirty="0" err="1">
                <a:sym typeface="Wingdings" panose="05000000000000000000" pitchFamily="2" charset="2"/>
              </a:rPr>
              <a:t>CUTe</a:t>
            </a:r>
            <a:r>
              <a:rPr lang="en-US" dirty="0">
                <a:sym typeface="Wingdings" panose="05000000000000000000" pitchFamily="2" charset="2"/>
              </a:rPr>
              <a:t> supports more general layout algebra</a:t>
            </a:r>
          </a:p>
          <a:p>
            <a:r>
              <a:rPr lang="en-US" dirty="0">
                <a:sym typeface="Wingdings" panose="05000000000000000000" pitchFamily="2" charset="2"/>
              </a:rPr>
              <a:t>OpenMP (6.0)  some powerful loop transformation directives</a:t>
            </a:r>
          </a:p>
          <a:p>
            <a:pPr lvl="1"/>
            <a:r>
              <a:rPr lang="en-US" dirty="0"/>
              <a:t>Not exactly traversal-agnostic design; good alternative in many use cases</a:t>
            </a:r>
          </a:p>
          <a:p>
            <a:r>
              <a:rPr lang="en-US" dirty="0"/>
              <a:t>Some traversal-agnostic capabilities in </a:t>
            </a:r>
            <a:r>
              <a:rPr lang="en-US" dirty="0" err="1"/>
              <a:t>GridTools</a:t>
            </a:r>
            <a:r>
              <a:rPr lang="en-US" dirty="0"/>
              <a:t> and RAJA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30CB14-538F-D9BD-31BC-4BF79D148A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C28A6-2969-482E-9A3B-5E13FCD8DD03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B55591-70A5-4366-E73A-F1A5B371B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1880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4C5C75-72D4-F8D1-AAB2-87E7B5F219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Comparison table?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D4FC06-723D-4133-C57B-96E03F8E70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Mdspan</a:t>
            </a:r>
            <a:r>
              <a:rPr lang="en-US" dirty="0"/>
              <a:t>, </a:t>
            </a:r>
            <a:r>
              <a:rPr lang="en-US" dirty="0" err="1"/>
              <a:t>Kokkos</a:t>
            </a:r>
            <a:r>
              <a:rPr lang="en-US" dirty="0"/>
              <a:t>, Raja, </a:t>
            </a:r>
            <a:r>
              <a:rPr lang="en-US" dirty="0" err="1"/>
              <a:t>CuTe</a:t>
            </a:r>
            <a:r>
              <a:rPr lang="en-US" dirty="0"/>
              <a:t>, </a:t>
            </a:r>
            <a:r>
              <a:rPr lang="en-US" dirty="0" err="1"/>
              <a:t>GridTools</a:t>
            </a:r>
            <a:r>
              <a:rPr lang="en-US" dirty="0"/>
              <a:t>, OpenMP loops, </a:t>
            </a:r>
            <a:r>
              <a:rPr lang="en-US" dirty="0" err="1"/>
              <a:t>Noarr</a:t>
            </a:r>
            <a:r>
              <a:rPr lang="en-US" dirty="0"/>
              <a:t> </a:t>
            </a:r>
            <a:r>
              <a:rPr lang="en-US" dirty="0" err="1"/>
              <a:t>Cellato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63D3EB-3E46-0420-084C-0ABC25889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C28A6-2969-482E-9A3B-5E13FCD8DD03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B0E3B4-2FE9-EF9E-DBB8-AFE3DD090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7525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270497-CBB6-D2E1-4D1A-ED2AA0BB7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4ECE5F-2C1C-357D-AE8A-7FA4DA556E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Template-exclusive statements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F9516C-E8E3-08CD-1240-AB67A56409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1D6062-9A3A-0AD5-574A-E26659D7F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01A530-81CA-410E-A053-EF7BD11F8EF0}" type="datetime1">
              <a:rPr lang="en-US" noProof="0" smtClean="0"/>
              <a:t>8/30/2026</a:t>
            </a:fld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B73E9E-8DA4-6D98-F073-7AF2BF208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noProof="0" smtClean="0"/>
              <a:t>35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4452108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6181A-2F41-81F5-2007-5244DC687F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did the abstractions hinder the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9388A-2481-EE41-E355-566C2612FC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A398BB-7A0C-F187-3DAA-0CA6E59EF3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8C28A6-2969-482E-9A3B-5E13FCD8DD03}" type="datetime1">
              <a:rPr lang="en-US" smtClean="0"/>
              <a:t>8/30/2026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36833A-9918-E7AE-C3D5-650A1C45B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959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4820</TotalTime>
  <Words>6014</Words>
  <Application>Microsoft Office PowerPoint</Application>
  <PresentationFormat>Widescreen</PresentationFormat>
  <Paragraphs>729</Paragraphs>
  <Slides>36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4" baseType="lpstr">
      <vt:lpstr>Aptos</vt:lpstr>
      <vt:lpstr>Aptos Display</vt:lpstr>
      <vt:lpstr>Arial</vt:lpstr>
      <vt:lpstr>Blackadder ITC</vt:lpstr>
      <vt:lpstr>Cambria Math</vt:lpstr>
      <vt:lpstr>Fira Code</vt:lpstr>
      <vt:lpstr>Wingdings</vt:lpstr>
      <vt:lpstr>Office Theme</vt:lpstr>
      <vt:lpstr>Optimizing Memory Layouts and Traversal Orders in HPC</vt:lpstr>
      <vt:lpstr>Motivation</vt:lpstr>
      <vt:lpstr>Illustrative example: initialization algorithm</vt:lpstr>
      <vt:lpstr>Layout-agnostic design</vt:lpstr>
      <vt:lpstr>Layout abstractions</vt:lpstr>
      <vt:lpstr>Traversal abstractions</vt:lpstr>
      <vt:lpstr>Structures with different index spaces</vt:lpstr>
      <vt:lpstr>Traversal transformations &amp; parallelization</vt:lpstr>
      <vt:lpstr>Autotuning</vt:lpstr>
      <vt:lpstr>Results</vt:lpstr>
      <vt:lpstr>Results</vt:lpstr>
      <vt:lpstr>Distributed initialization</vt:lpstr>
      <vt:lpstr>Automatic transformation in communication</vt:lpstr>
      <vt:lpstr>Results</vt:lpstr>
      <vt:lpstr>Stencil computation abstractions</vt:lpstr>
      <vt:lpstr>Cellular automata abstraction</vt:lpstr>
      <vt:lpstr>PowerPoint Presentation</vt:lpstr>
      <vt:lpstr>Results</vt:lpstr>
      <vt:lpstr>Abstractions summary</vt:lpstr>
      <vt:lpstr>LLMs in HPC</vt:lpstr>
      <vt:lpstr>Tutoring LLMs for CUDA</vt:lpstr>
      <vt:lpstr>Tutoring LLMs for CUDA OpenAI GPT-o3-mini</vt:lpstr>
      <vt:lpstr>Tutoring LLMs for CUDA – submission OpenAI GPT-o3-mini</vt:lpstr>
      <vt:lpstr>Tutoring LLMs for CUDA – at conference OpenAI GPT-5</vt:lpstr>
      <vt:lpstr>LLMs and abstractions</vt:lpstr>
      <vt:lpstr>LLMs and abstractions</vt:lpstr>
      <vt:lpstr>PowerPoint Presentation</vt:lpstr>
      <vt:lpstr>LLM-directed optimization summary</vt:lpstr>
      <vt:lpstr>Contribution map</vt:lpstr>
      <vt:lpstr>Summary</vt:lpstr>
      <vt:lpstr>Review comments and questions</vt:lpstr>
      <vt:lpstr>Novelty in layout- and traversal-agnosticism</vt:lpstr>
      <vt:lpstr>Which of these ideas can be found in software like Kokkos or OpenMP's loop transformations?</vt:lpstr>
      <vt:lpstr>Comparison table?</vt:lpstr>
      <vt:lpstr>Template-exclusive statements</vt:lpstr>
      <vt:lpstr>Why did the abstractions hinder the LLM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Jiří Klepl</dc:creator>
  <cp:lastModifiedBy>Jiří Klepl</cp:lastModifiedBy>
  <cp:revision>215</cp:revision>
  <dcterms:created xsi:type="dcterms:W3CDTF">2026-08-08T18:10:38Z</dcterms:created>
  <dcterms:modified xsi:type="dcterms:W3CDTF">2026-08-30T20:51:52Z</dcterms:modified>
</cp:coreProperties>
</file>