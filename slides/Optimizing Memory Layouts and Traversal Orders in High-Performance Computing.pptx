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2" r:id="rId17"/>
    <p:sldId id="280" r:id="rId18"/>
    <p:sldId id="310" r:id="rId19"/>
    <p:sldId id="295" r:id="rId20"/>
    <p:sldId id="288" r:id="rId21"/>
    <p:sldId id="305" r:id="rId22"/>
    <p:sldId id="291" r:id="rId23"/>
    <p:sldId id="306" r:id="rId24"/>
    <p:sldId id="307" r:id="rId25"/>
    <p:sldId id="308" r:id="rId26"/>
    <p:sldId id="309" r:id="rId27"/>
    <p:sldId id="311" r:id="rId28"/>
    <p:sldId id="266" r:id="rId29"/>
    <p:sldId id="312" r:id="rId30"/>
    <p:sldId id="262" r:id="rId31"/>
    <p:sldId id="299" r:id="rId32"/>
    <p:sldId id="276" r:id="rId33"/>
    <p:sldId id="292" r:id="rId34"/>
    <p:sldId id="304" r:id="rId35"/>
    <p:sldId id="303" r:id="rId36"/>
    <p:sldId id="301" r:id="rId37"/>
    <p:sldId id="268" r:id="rId38"/>
    <p:sldId id="269" r:id="rId39"/>
    <p:sldId id="270" r:id="rId40"/>
    <p:sldId id="281" r:id="rId41"/>
    <p:sldId id="282" r:id="rId42"/>
    <p:sldId id="263" r:id="rId43"/>
    <p:sldId id="271" r:id="rId44"/>
    <p:sldId id="294" r:id="rId45"/>
    <p:sldId id="272" r:id="rId46"/>
    <p:sldId id="273" r:id="rId47"/>
    <p:sldId id="274" r:id="rId48"/>
    <p:sldId id="261"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2"/>
            <p14:sldId id="280"/>
            <p14:sldId id="310"/>
          </p14:sldIdLst>
        </p14:section>
        <p14:section name="llms" id="{2FE3CF17-CBFB-48E9-A3BF-DD99B7D2F01E}">
          <p14:sldIdLst>
            <p14:sldId id="295"/>
            <p14:sldId id="288"/>
            <p14:sldId id="305"/>
            <p14:sldId id="291"/>
            <p14:sldId id="306"/>
            <p14:sldId id="307"/>
            <p14:sldId id="308"/>
            <p14:sldId id="309"/>
            <p14:sldId id="311"/>
          </p14:sldIdLst>
        </p14:section>
        <p14:section name="summary" id="{D3BAAF83-51D3-4EFD-B7CC-7BA6DAC4A838}">
          <p14:sldIdLst>
            <p14:sldId id="266"/>
            <p14:sldId id="312"/>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276"/>
            <p14:sldId id="292"/>
            <p14:sldId id="304"/>
            <p14:sldId id="303"/>
            <p14:sldId id="301"/>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9A19"/>
    <a:srgbClr val="2E7B9E"/>
    <a:srgbClr val="A53535"/>
    <a:srgbClr val="A74747"/>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86509" autoAdjust="0"/>
  </p:normalViewPr>
  <p:slideViewPr>
    <p:cSldViewPr snapToGrid="0">
      <p:cViewPr varScale="1">
        <p:scale>
          <a:sx n="137" d="100"/>
          <a:sy n="137" d="100"/>
        </p:scale>
        <p:origin x="2496" y="1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 such as:</a:t>
            </a:r>
          </a:p>
          <a:p>
            <a:pPr marL="171450" indent="-171450">
              <a:buFontTx/>
              <a:buChar char="-"/>
            </a:pPr>
            <a:r>
              <a:rPr lang="en-US" dirty="0"/>
              <a:t>row-major, which stores the rows of elements sequentially</a:t>
            </a:r>
          </a:p>
          <a:p>
            <a:pPr marL="171450" indent="-171450">
              <a:buFontTx/>
              <a:buChar char="-"/>
            </a:pPr>
            <a:r>
              <a:rPr lang="en-US" dirty="0"/>
              <a:t>Column-major, which stores the columns sequentially</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Handle communication with the autotuning framework</a:t>
            </a:r>
          </a:p>
          <a:p>
            <a:pPr marL="171450" indent="-171450">
              <a:buFontTx/>
              <a:buChar char="-"/>
            </a:pPr>
            <a:r>
              <a:rPr lang="en-US" dirty="0"/>
              <a:t>Define the parameter on the </a:t>
            </a:r>
            <a:r>
              <a:rPr lang="en-US" dirty="0" err="1"/>
              <a:t>autotuner’s</a:t>
            </a:r>
            <a:r>
              <a:rPr lang="en-US" dirty="0"/>
              <a:t> side</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manage to seamlessly enable layout-agnostic communication of data over MPI.</a:t>
            </a:r>
          </a:p>
          <a:p>
            <a:endParaRPr lang="en-US" dirty="0"/>
          </a:p>
          <a:p>
            <a:r>
              <a:rPr lang="en-US" dirty="0"/>
              <a:t>Our approach is the only one that automatically handles differing physical layouts on opposite endpoints of communication (as shown on the previous slide),</a:t>
            </a:r>
          </a:p>
          <a:p>
            <a:r>
              <a:rPr lang="en-US" dirty="0"/>
              <a:t>And it also handles general multidimensional data layouts.</a:t>
            </a:r>
          </a:p>
          <a:p>
            <a:endParaRPr lang="en-US" dirty="0"/>
          </a:p>
          <a:p>
            <a:r>
              <a:rPr lang="en-US" dirty="0"/>
              <a:t>And, in terms of performance, it does not add overhead compared to a hand-written native MPI distributed computation.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 have shown that the abstractions offer a practical solution to parallel CPU and GPU, as well as distributed computations in High-Performance Computing,</a:t>
            </a:r>
          </a:p>
          <a:p>
            <a:r>
              <a:rPr lang="en-US" dirty="0"/>
              <a:t>And enable even stronger optimizations for specific domains, such as Cellular Automata simulation</a:t>
            </a:r>
          </a:p>
          <a:p>
            <a:endParaRPr lang="en-US" dirty="0"/>
          </a:p>
          <a:p>
            <a:r>
              <a:rPr lang="en-US" dirty="0"/>
              <a:t>These abstractions make the developed algorithms easier to manage, more flexible to transform, and allow automatic application of advanced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a:t>
            </a:r>
            <a:br>
              <a:rPr lang="en-US" dirty="0"/>
            </a:b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a:t>
            </a:r>
          </a:p>
          <a:p>
            <a:endParaRPr lang="en-US" dirty="0"/>
          </a:p>
          <a:p>
            <a:r>
              <a:rPr lang="en-US" dirty="0"/>
              <a:t>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the LLM state of the art had already shifted;</a:t>
            </a:r>
          </a:p>
          <a:p>
            <a:r>
              <a:rPr lang="en-US" dirty="0"/>
              <a:t>The then-current GPT-5 provided expert-level performance on the Game of Life algorithm for all prompts except the naïve one,</a:t>
            </a:r>
          </a:p>
          <a:p>
            <a:r>
              <a:rPr lang="en-US" dirty="0"/>
              <a:t>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combining the two branches)</a:t>
            </a:r>
          </a:p>
          <a:p>
            <a:endParaRPr lang="en-US" dirty="0"/>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4361901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7F3B2-C0BA-B51C-5F65-FC97C70D10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7F5B3-54C8-B364-0A4B-751F99A6F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88A7D1-473A-1E94-89A2-9ACDE994B24D}"/>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a:extLst>
              <a:ext uri="{FF2B5EF4-FFF2-40B4-BE49-F238E27FC236}">
                <a16:creationId xmlns:a16="http://schemas.microsoft.com/office/drawing/2014/main" id="{DF52FF92-2640-B0CB-A128-127996A7EFCD}"/>
              </a:ext>
            </a:extLst>
          </p:cNvPr>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2542639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57641-FE9C-3D6C-D5F5-91017F617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AA7B2E-A4E0-6E25-FBA8-01CDD4101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A7019-B96B-BE1F-AE0F-2ED099339F4F}"/>
              </a:ext>
            </a:extLst>
          </p:cNvPr>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9C488B9-61C0-2702-9A75-5A42AC4F98D1}"/>
              </a:ext>
            </a:extLst>
          </p:cNvPr>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24596632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8EC8-C761-6316-9007-65774C0EF9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D4C2F-ECB5-B564-853A-3799BCE82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6ABE99-5BBC-6BD4-946D-2A3F2D9A892F}"/>
              </a:ext>
            </a:extLst>
          </p:cNvPr>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a:extLst>
              <a:ext uri="{FF2B5EF4-FFF2-40B4-BE49-F238E27FC236}">
                <a16:creationId xmlns:a16="http://schemas.microsoft.com/office/drawing/2014/main" id="{81D4FAE5-6724-7186-6EBE-71006EA2D593}"/>
              </a:ext>
            </a:extLst>
          </p:cNvPr>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14531557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8/28/2026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8/28/2026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8/28/2026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8/28/2026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8/28/2026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8/28/2026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8/28/2026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8/28/2026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8/28/2026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8/28/2026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gif"/></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0"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38.svg"/></Relationships>
</file>

<file path=ppt/slides/_rels/slide2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8.xml"/><Relationship Id="rId1" Type="http://schemas.openxmlformats.org/officeDocument/2006/relationships/slideLayout" Target="../slideLayouts/slideLayout6.xml"/><Relationship Id="rId4" Type="http://schemas.openxmlformats.org/officeDocument/2006/relationships/image" Target="../media/image4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8/28/2026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dirty="0"/>
              <a:t>Development of algorithms for scientific computing</a:t>
            </a:r>
          </a:p>
          <a:p>
            <a:pPr lvl="1"/>
            <a:r>
              <a:rPr lang="en-US" dirty="0"/>
              <a:t>Multidimensional data structures</a:t>
            </a:r>
          </a:p>
          <a:p>
            <a:pPr lvl="1"/>
            <a:r>
              <a:rPr lang="en-US" dirty="0"/>
              <a:t>Regular loops</a:t>
            </a:r>
          </a:p>
          <a:p>
            <a:r>
              <a:rPr lang="en-US" dirty="0"/>
              <a:t>Complexity rises with every design decision</a:t>
            </a:r>
          </a:p>
          <a:p>
            <a:pPr lvl="1"/>
            <a:r>
              <a:rPr lang="en-US" dirty="0"/>
              <a:t>How to store the data</a:t>
            </a:r>
          </a:p>
          <a:p>
            <a:pPr lvl="1"/>
            <a:r>
              <a:rPr lang="en-US" dirty="0"/>
              <a:t>In what order do the computations</a:t>
            </a:r>
          </a:p>
          <a:p>
            <a:endParaRPr lang="en-US" dirty="0"/>
          </a:p>
          <a:p>
            <a:r>
              <a:rPr lang="en-US" dirty="0"/>
              <a:t>Performance very difficult to predict</a:t>
            </a:r>
          </a:p>
          <a:p>
            <a:endParaRPr lang="en-US"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8/28/2026</a:t>
            </a:fld>
            <a:endParaRPr lang="en-US"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grpSp>
        <p:nvGrpSpPr>
          <p:cNvPr id="20" name="Group 19">
            <a:extLst>
              <a:ext uri="{FF2B5EF4-FFF2-40B4-BE49-F238E27FC236}">
                <a16:creationId xmlns:a16="http://schemas.microsoft.com/office/drawing/2014/main" id="{D31BF4A6-7253-D11D-84B7-D42F1AD2EF67}"/>
              </a:ext>
            </a:extLst>
          </p:cNvPr>
          <p:cNvGrpSpPr/>
          <p:nvPr/>
        </p:nvGrpSpPr>
        <p:grpSpPr>
          <a:xfrm>
            <a:off x="7917292" y="4385692"/>
            <a:ext cx="1392432" cy="1551380"/>
            <a:chOff x="7917292" y="4385692"/>
            <a:chExt cx="1392432" cy="1551380"/>
          </a:xfrm>
        </p:grpSpPr>
        <p:pic>
          <p:nvPicPr>
            <p:cNvPr id="7" name="Graphic 6">
              <a:extLst>
                <a:ext uri="{FF2B5EF4-FFF2-40B4-BE49-F238E27FC236}">
                  <a16:creationId xmlns:a16="http://schemas.microsoft.com/office/drawing/2014/main" id="{20834440-26BB-F283-4FB8-38CBF311FAB3}"/>
                </a:ext>
              </a:extLst>
            </p:cNvPr>
            <p:cNvPicPr>
              <a:picLocks noChangeAspect="1"/>
            </p:cNvPicPr>
            <p:nvPr/>
          </p:nvPicPr>
          <p:blipFill>
            <a:blip>
              <a:extLst>
                <a:ext uri="{96DAC541-7B7A-43D3-8B79-37D633B846F1}">
                  <asvg:svgBlip xmlns:asvg="http://schemas.microsoft.com/office/drawing/2016/SVG/main" r:embed="rId3"/>
                </a:ext>
              </a:extLst>
            </a:blip>
            <a:srcRect l="11516" t="5324" r="66027" b="77812"/>
            <a:stretch>
              <a:fillRect/>
            </a:stretch>
          </p:blipFill>
          <p:spPr>
            <a:xfrm>
              <a:off x="8069057" y="4385692"/>
              <a:ext cx="1088904" cy="1156549"/>
            </a:xfrm>
            <a:prstGeom prst="rect">
              <a:avLst/>
            </a:prstGeom>
          </p:spPr>
        </p:pic>
        <p:sp>
          <p:nvSpPr>
            <p:cNvPr id="12" name="TextBox 11">
              <a:extLst>
                <a:ext uri="{FF2B5EF4-FFF2-40B4-BE49-F238E27FC236}">
                  <a16:creationId xmlns:a16="http://schemas.microsoft.com/office/drawing/2014/main" id="{B3674D75-42D7-D92A-C7F7-F9D2FF083A67}"/>
                </a:ext>
              </a:extLst>
            </p:cNvPr>
            <p:cNvSpPr txBox="1"/>
            <p:nvPr/>
          </p:nvSpPr>
          <p:spPr>
            <a:xfrm>
              <a:off x="7917292" y="5536962"/>
              <a:ext cx="1392432" cy="400110"/>
            </a:xfrm>
            <a:prstGeom prst="rect">
              <a:avLst/>
            </a:prstGeom>
            <a:noFill/>
          </p:spPr>
          <p:txBody>
            <a:bodyPr wrap="none" rtlCol="0">
              <a:spAutoFit/>
            </a:bodyPr>
            <a:lstStyle/>
            <a:p>
              <a:pPr algn="ctr"/>
              <a:r>
                <a:rPr lang="en-US" sz="2000" dirty="0"/>
                <a:t>Row-major</a:t>
              </a:r>
              <a:endParaRPr lang="en-US" dirty="0"/>
            </a:p>
          </p:txBody>
        </p:sp>
      </p:grpSp>
      <p:grpSp>
        <p:nvGrpSpPr>
          <p:cNvPr id="21" name="Group 20">
            <a:extLst>
              <a:ext uri="{FF2B5EF4-FFF2-40B4-BE49-F238E27FC236}">
                <a16:creationId xmlns:a16="http://schemas.microsoft.com/office/drawing/2014/main" id="{4BD46A3F-D0F6-ECEE-6E08-8C4902E89C78}"/>
              </a:ext>
            </a:extLst>
          </p:cNvPr>
          <p:cNvGrpSpPr/>
          <p:nvPr/>
        </p:nvGrpSpPr>
        <p:grpSpPr>
          <a:xfrm>
            <a:off x="9400882" y="4385692"/>
            <a:ext cx="1802096" cy="1551380"/>
            <a:chOff x="9685588" y="4410422"/>
            <a:chExt cx="1802096" cy="1551380"/>
          </a:xfrm>
        </p:grpSpPr>
        <p:pic>
          <p:nvPicPr>
            <p:cNvPr id="9" name="Graphic 8">
              <a:extLst>
                <a:ext uri="{FF2B5EF4-FFF2-40B4-BE49-F238E27FC236}">
                  <a16:creationId xmlns:a16="http://schemas.microsoft.com/office/drawing/2014/main" id="{F717ED1E-4878-0E07-7465-3F66C082FD59}"/>
                </a:ext>
              </a:extLst>
            </p:cNvPr>
            <p:cNvPicPr>
              <a:picLocks noChangeAspect="1"/>
            </p:cNvPicPr>
            <p:nvPr/>
          </p:nvPicPr>
          <p:blipFill>
            <a:blip>
              <a:extLst>
                <a:ext uri="{96DAC541-7B7A-43D3-8B79-37D633B846F1}">
                  <asvg:svgBlip xmlns:asvg="http://schemas.microsoft.com/office/drawing/2016/SVG/main" r:embed="rId4"/>
                </a:ext>
              </a:extLst>
            </a:blip>
            <a:srcRect l="11494" t="5314" r="66092" b="77854"/>
            <a:stretch>
              <a:fillRect/>
            </a:stretch>
          </p:blipFill>
          <p:spPr>
            <a:xfrm>
              <a:off x="10042184" y="4410422"/>
              <a:ext cx="1088904" cy="1156549"/>
            </a:xfrm>
            <a:prstGeom prst="rect">
              <a:avLst/>
            </a:prstGeom>
          </p:spPr>
        </p:pic>
        <p:sp>
          <p:nvSpPr>
            <p:cNvPr id="14" name="TextBox 13">
              <a:extLst>
                <a:ext uri="{FF2B5EF4-FFF2-40B4-BE49-F238E27FC236}">
                  <a16:creationId xmlns:a16="http://schemas.microsoft.com/office/drawing/2014/main" id="{2793AF0B-9B42-D6E4-4BC9-0BDA37B37DE2}"/>
                </a:ext>
              </a:extLst>
            </p:cNvPr>
            <p:cNvSpPr txBox="1"/>
            <p:nvPr/>
          </p:nvSpPr>
          <p:spPr>
            <a:xfrm>
              <a:off x="9685588" y="5561692"/>
              <a:ext cx="1802096" cy="400110"/>
            </a:xfrm>
            <a:prstGeom prst="rect">
              <a:avLst/>
            </a:prstGeom>
            <a:noFill/>
          </p:spPr>
          <p:txBody>
            <a:bodyPr wrap="none" rtlCol="0">
              <a:spAutoFit/>
            </a:bodyPr>
            <a:lstStyle/>
            <a:p>
              <a:pPr algn="ctr"/>
              <a:r>
                <a:rPr lang="en-US" sz="2000" dirty="0"/>
                <a:t>Column-major</a:t>
              </a:r>
              <a:endParaRPr lang="en-US" dirty="0"/>
            </a:p>
          </p:txBody>
        </p:sp>
      </p:grpSp>
      <p:sp>
        <p:nvSpPr>
          <p:cNvPr id="17" name="Right Brace 16">
            <a:extLst>
              <a:ext uri="{FF2B5EF4-FFF2-40B4-BE49-F238E27FC236}">
                <a16:creationId xmlns:a16="http://schemas.microsoft.com/office/drawing/2014/main" id="{816700F3-DB4A-EE30-E277-3B57DB485047}"/>
              </a:ext>
            </a:extLst>
          </p:cNvPr>
          <p:cNvSpPr/>
          <p:nvPr/>
        </p:nvSpPr>
        <p:spPr>
          <a:xfrm rot="16200000">
            <a:off x="9944493" y="2400051"/>
            <a:ext cx="199900" cy="395076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0EB5D9BA-3BCE-1552-AA92-B473A6CD520E}"/>
              </a:ext>
            </a:extLst>
          </p:cNvPr>
          <p:cNvSpPr txBox="1"/>
          <p:nvPr/>
        </p:nvSpPr>
        <p:spPr>
          <a:xfrm>
            <a:off x="8444966" y="3813819"/>
            <a:ext cx="3198954" cy="461665"/>
          </a:xfrm>
          <a:prstGeom prst="rect">
            <a:avLst/>
          </a:prstGeom>
          <a:noFill/>
        </p:spPr>
        <p:txBody>
          <a:bodyPr wrap="none" rtlCol="0">
            <a:spAutoFit/>
          </a:bodyPr>
          <a:lstStyle/>
          <a:p>
            <a:pPr algn="ctr"/>
            <a:r>
              <a:rPr lang="en-US" sz="2400" dirty="0"/>
              <a:t>Matrix memory layouts</a:t>
            </a:r>
          </a:p>
        </p:txBody>
      </p:sp>
      <p:sp>
        <p:nvSpPr>
          <p:cNvPr id="19" name="TextBox 18">
            <a:extLst>
              <a:ext uri="{FF2B5EF4-FFF2-40B4-BE49-F238E27FC236}">
                <a16:creationId xmlns:a16="http://schemas.microsoft.com/office/drawing/2014/main" id="{F316CE26-0320-4A8D-A1BC-6DFC9282AE6F}"/>
              </a:ext>
            </a:extLst>
          </p:cNvPr>
          <p:cNvSpPr txBox="1"/>
          <p:nvPr/>
        </p:nvSpPr>
        <p:spPr>
          <a:xfrm>
            <a:off x="11571481" y="4779300"/>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8/28/2026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dirty="0"/>
              <a:t>Row-major</a:t>
            </a:r>
            <a:endParaRPr lang="en-US"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dirty="0"/>
              <a:t>Column-major</a:t>
            </a:r>
            <a:endParaRPr lang="en-US"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dirty="0"/>
              <a:t>Layout abstraction 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8/28/2026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70C1"/>
                </a:solidFill>
                <a:latin typeface="Fira Code" panose="020B0809050000020004" pitchFamily="49" charset="0"/>
              </a:rPr>
              <a:t>idx</a:t>
            </a:r>
            <a:r>
              <a:rPr lang="en-US" sz="1600" dirty="0">
                <a:solidFill>
                  <a:srgbClr val="000000"/>
                </a:solidFill>
                <a:latin typeface="Fira Code" panose="020B0809050000020004" pitchFamily="49" charset="0"/>
              </a:rPr>
              <a:t>&lt;</a:t>
            </a:r>
            <a:r>
              <a:rPr lang="en-US" sz="1600" dirty="0">
                <a:solidFill>
                  <a:srgbClr val="A31515"/>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a:solidFill>
                  <a:srgbClr val="A31515"/>
                </a:solidFill>
                <a:latin typeface="Fira Code" panose="020B0809050000020004" pitchFamily="49" charset="0"/>
              </a:rPr>
              <a:t>'n'</a:t>
            </a:r>
            <a:r>
              <a:rPr lang="en-US" sz="1600" dirty="0">
                <a:solidFill>
                  <a:srgbClr val="000000"/>
                </a:solidFill>
                <a:latin typeface="Fira Code" panose="020B0809050000020004" pitchFamily="49" charset="0"/>
              </a:rPr>
              <a:t>&gt;(</a:t>
            </a:r>
            <a:r>
              <a:rPr lang="en-US" sz="1600" dirty="0">
                <a:solidFill>
                  <a:srgbClr val="0070C1"/>
                </a:solidFill>
                <a:latin typeface="Fira Code" panose="020B0809050000020004" pitchFamily="49" charset="0"/>
              </a:rPr>
              <a:t>4</a:t>
            </a:r>
            <a:r>
              <a:rPr lang="en-US" sz="1600" dirty="0">
                <a:solidFill>
                  <a:srgbClr val="000000"/>
                </a:solidFill>
                <a:latin typeface="Fira Code" panose="020B0809050000020004" pitchFamily="49" charset="0"/>
              </a:rPr>
              <a:t>, </a:t>
            </a:r>
            <a:r>
              <a:rPr lang="en-US" sz="1600" dirty="0">
                <a:solidFill>
                  <a:srgbClr val="0070C1"/>
                </a:solidFill>
                <a:latin typeface="Fira Code" panose="020B0809050000020004" pitchFamily="49" charset="0"/>
              </a:rPr>
              <a:t>2</a:t>
            </a:r>
            <a:r>
              <a:rPr lang="en-US" sz="1600" dirty="0">
                <a:solidFill>
                  <a:srgbClr val="000000"/>
                </a:solidFill>
                <a:latin typeface="Fira Code" panose="020B0809050000020004" pitchFamily="49" charset="0"/>
              </a:rPr>
              <a:t>)]</a:t>
            </a:r>
            <a:endParaRPr lang="en-US" sz="200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146506" y="2952604"/>
            <a:ext cx="4300406" cy="2570126"/>
            <a:chOff x="4543100" y="2952604"/>
            <a:chExt cx="3903812" cy="2570126"/>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2491836"/>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157798" y="314000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157798" y="3631744"/>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157798" y="4111106"/>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72582" y="2672301"/>
              <a:ext cx="275785" cy="83639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a:cxnSpLocks/>
          </p:cNvCxnSpPr>
          <p:nvPr/>
        </p:nvCxnSpPr>
        <p:spPr>
          <a:xfrm flipH="1" flipV="1">
            <a:off x="7545544" y="4396831"/>
            <a:ext cx="1470102" cy="7065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977859" y="4912371"/>
            <a:ext cx="1158202" cy="369332"/>
          </a:xfrm>
          <a:prstGeom prst="rect">
            <a:avLst/>
          </a:prstGeom>
          <a:noFill/>
        </p:spPr>
        <p:txBody>
          <a:bodyPr wrap="square">
            <a:spAutoFit/>
          </a:bodyPr>
          <a:lstStyle/>
          <a:p>
            <a:r>
              <a:rPr lang="en-US" dirty="0">
                <a:solidFill>
                  <a:srgbClr val="0070C1"/>
                </a:solidFill>
                <a:latin typeface="Fira Code" panose="020B0809050000020004" pitchFamily="49" charset="0"/>
              </a:rPr>
              <a:t>lit</a:t>
            </a:r>
            <a:r>
              <a:rPr lang="en-US" dirty="0">
                <a:solidFill>
                  <a:srgbClr val="000000"/>
                </a:solidFill>
                <a:latin typeface="Fira Code" panose="020B0809050000020004" pitchFamily="49" charset="0"/>
              </a:rPr>
              <a:t>&lt;</a:t>
            </a:r>
            <a:r>
              <a:rPr lang="en-US" b="0" noProof="0" dirty="0">
                <a:solidFill>
                  <a:srgbClr val="0070C1"/>
                </a:solidFill>
                <a:effectLst/>
                <a:latin typeface="Fira Code" panose="020B0809050000020004" pitchFamily="49" charset="0"/>
              </a:rPr>
              <a:t>N</a:t>
            </a:r>
            <a:r>
              <a:rPr lang="en-US" b="0" noProof="0" dirty="0">
                <a:solidFill>
                  <a:srgbClr val="000000"/>
                </a:solidFill>
                <a:effectLst/>
                <a:latin typeface="Fira Code" panose="020B0809050000020004" pitchFamily="49" charset="0"/>
              </a:rPr>
              <a:t>&gt;</a:t>
            </a:r>
            <a:endParaRPr lang="en-US" sz="36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8182635" y="4396831"/>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8/28/2026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2874938" y="3428927"/>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r>
              <a:rPr lang="en-US" dirty="0"/>
              <a:t>Layout abstractions</a:t>
            </a:r>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8/28/2026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dirty="0"/>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dirty="0"/>
              <a:t>Traversal abstractions</a:t>
            </a:r>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4274320" y="4746531"/>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dirty="0">
                <a:solidFill>
                  <a:srgbClr val="267F99"/>
                </a:solidFill>
                <a:latin typeface="Fira Code" panose="020B0809050000020004" pitchFamily="49" charset="0"/>
              </a:rPr>
              <a:t>auto</a:t>
            </a:r>
            <a:r>
              <a:rPr lang="en-US" sz="1400" dirty="0">
                <a:solidFill>
                  <a:srgbClr val="000000"/>
                </a:solidFill>
                <a:latin typeface="Fira Code" panose="020B0809050000020004" pitchFamily="49" charset="0"/>
              </a:rPr>
              <a:t> </a:t>
            </a:r>
            <a:r>
              <a:rPr lang="en-US" sz="1400" dirty="0">
                <a:solidFill>
                  <a:srgbClr val="001080"/>
                </a:solidFill>
                <a:latin typeface="Fira Code" panose="020B0809050000020004" pitchFamily="49" charset="0"/>
              </a:rPr>
              <a:t>C</a:t>
            </a:r>
            <a:r>
              <a:rPr lang="en-US" sz="1400" dirty="0">
                <a:solidFill>
                  <a:srgbClr val="000000"/>
                </a:solidFill>
                <a:latin typeface="Fira Code" panose="020B0809050000020004" pitchFamily="49" charset="0"/>
              </a:rPr>
              <a:t> = </a:t>
            </a:r>
            <a:r>
              <a:rPr lang="en-US" sz="1400" dirty="0">
                <a:solidFill>
                  <a:srgbClr val="795E26"/>
                </a:solidFill>
                <a:latin typeface="Fira Code" panose="020B0809050000020004" pitchFamily="49" charset="0"/>
              </a:rPr>
              <a:t>bag</a:t>
            </a:r>
            <a:r>
              <a:rPr lang="en-US" sz="1400" dirty="0">
                <a:solidFill>
                  <a:srgbClr val="000000"/>
                </a:solidFill>
                <a:latin typeface="Fira Code" panose="020B0809050000020004" pitchFamily="49" charset="0"/>
              </a:rPr>
              <a:t>(</a:t>
            </a:r>
            <a:r>
              <a:rPr lang="en-US" sz="1400" dirty="0">
                <a:solidFill>
                  <a:srgbClr val="267F99"/>
                </a:solidFill>
                <a:latin typeface="Fira Code" panose="020B0809050000020004" pitchFamily="49" charset="0"/>
              </a:rPr>
              <a:t>scalar</a:t>
            </a:r>
            <a:r>
              <a:rPr lang="en-US" sz="1400" dirty="0">
                <a:solidFill>
                  <a:srgbClr val="000000"/>
                </a:solidFill>
                <a:latin typeface="Fira Code" panose="020B0809050000020004" pitchFamily="49" charset="0"/>
              </a:rPr>
              <a:t>&lt;</a:t>
            </a:r>
            <a:r>
              <a:rPr lang="en-US" sz="1400" dirty="0">
                <a:solidFill>
                  <a:srgbClr val="0000FF"/>
                </a:solidFill>
                <a:latin typeface="Fira Code" panose="020B0809050000020004" pitchFamily="49" charset="0"/>
              </a:rPr>
              <a:t>float</a:t>
            </a:r>
            <a:r>
              <a:rPr lang="en-US" sz="1400" dirty="0">
                <a:solidFill>
                  <a:srgbClr val="000000"/>
                </a:solidFill>
                <a:latin typeface="Fira Code" panose="020B0809050000020004" pitchFamily="49" charset="0"/>
              </a:rPr>
              <a:t>&gt;() ^ </a:t>
            </a:r>
            <a:r>
              <a:rPr lang="en-US" sz="1400" dirty="0">
                <a:solidFill>
                  <a:srgbClr val="795E26"/>
                </a:solidFill>
                <a:latin typeface="Fira Code" panose="020B0809050000020004" pitchFamily="49" charset="0"/>
              </a:rPr>
              <a:t>vectors</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N</a:t>
            </a:r>
            <a:r>
              <a:rPr lang="en-US" sz="140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88464" y="3356717"/>
            <a:ext cx="5397050"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dirty="0">
                <a:solidFill>
                  <a:srgbClr val="000000"/>
                </a:solidFill>
                <a:latin typeface="Fira Code" panose="020B0809050000020004" pitchFamily="49" charset="0"/>
              </a:rPr>
              <a:t>(</a:t>
            </a:r>
            <a:r>
              <a:rPr lang="en-US" dirty="0">
                <a:solidFill>
                  <a:srgbClr val="001080"/>
                </a:solidFill>
                <a:latin typeface="Fira Code" panose="020B0809050000020004" pitchFamily="49" charset="0"/>
              </a:rPr>
              <a:t>index</a:t>
            </a:r>
            <a:r>
              <a:rPr lang="en-US"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455828" y="3384113"/>
            <a:ext cx="6052605"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0" y="2026812"/>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m</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n</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dirty="0">
                <a:solidFill>
                  <a:srgbClr val="001080"/>
                </a:solidFill>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1"/>
          </p:cNvCxnSpPr>
          <p:nvPr/>
        </p:nvCxnSpPr>
        <p:spPr>
          <a:xfrm rot="10800000" flipV="1">
            <a:off x="1612416" y="2537401"/>
            <a:ext cx="255175" cy="81931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8/28/2026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
        <p:nvSpPr>
          <p:cNvPr id="11" name="Rectangle 10">
            <a:extLst>
              <a:ext uri="{FF2B5EF4-FFF2-40B4-BE49-F238E27FC236}">
                <a16:creationId xmlns:a16="http://schemas.microsoft.com/office/drawing/2014/main" id="{430E17CC-3182-0DFD-4C83-E3654869F0F4}"/>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A9A86E85-8E7C-683C-C244-2344EE805A9E}"/>
              </a:ext>
            </a:extLst>
          </p:cNvPr>
          <p:cNvSpPr txBox="1"/>
          <p:nvPr/>
        </p:nvSpPr>
        <p:spPr>
          <a:xfrm>
            <a:off x="3524638" y="1674084"/>
            <a:ext cx="1665841" cy="369332"/>
          </a:xfrm>
          <a:prstGeom prst="rect">
            <a:avLst/>
          </a:prstGeom>
          <a:noFill/>
        </p:spPr>
        <p:txBody>
          <a:bodyPr wrap="none" rtlCol="0">
            <a:spAutoFit/>
          </a:bodyPr>
          <a:lstStyle/>
          <a:p>
            <a:r>
              <a:rPr lang="en-US" dirty="0"/>
              <a:t>Matrix initialize</a:t>
            </a:r>
          </a:p>
        </p:txBody>
      </p:sp>
      <p:sp>
        <p:nvSpPr>
          <p:cNvPr id="15" name="TextBox 14">
            <a:extLst>
              <a:ext uri="{FF2B5EF4-FFF2-40B4-BE49-F238E27FC236}">
                <a16:creationId xmlns:a16="http://schemas.microsoft.com/office/drawing/2014/main" id="{5AC42510-7505-8080-DACA-010297680AE7}"/>
              </a:ext>
            </a:extLst>
          </p:cNvPr>
          <p:cNvSpPr txBox="1"/>
          <p:nvPr/>
        </p:nvSpPr>
        <p:spPr>
          <a:xfrm>
            <a:off x="9130431" y="3022048"/>
            <a:ext cx="703398" cy="369332"/>
          </a:xfrm>
          <a:prstGeom prst="rect">
            <a:avLst/>
          </a:prstGeom>
          <a:noFill/>
        </p:spPr>
        <p:txBody>
          <a:bodyPr wrap="none" rtlCol="0">
            <a:spAutoFit/>
          </a:bodyPr>
          <a:lstStyle/>
          <a:p>
            <a:r>
              <a:rPr lang="en-US" dirty="0"/>
              <a:t>Copy</a:t>
            </a:r>
          </a:p>
        </p:txBody>
      </p:sp>
      <p:sp>
        <p:nvSpPr>
          <p:cNvPr id="18" name="TextBox 17">
            <a:extLst>
              <a:ext uri="{FF2B5EF4-FFF2-40B4-BE49-F238E27FC236}">
                <a16:creationId xmlns:a16="http://schemas.microsoft.com/office/drawing/2014/main" id="{6C2D8186-5554-A5E9-260E-01CC6F7A914B}"/>
              </a:ext>
            </a:extLst>
          </p:cNvPr>
          <p:cNvSpPr txBox="1"/>
          <p:nvPr/>
        </p:nvSpPr>
        <p:spPr>
          <a:xfrm>
            <a:off x="6539590" y="4425419"/>
            <a:ext cx="1651414" cy="369332"/>
          </a:xfrm>
          <a:prstGeom prst="rect">
            <a:avLst/>
          </a:prstGeom>
          <a:noFill/>
        </p:spPr>
        <p:txBody>
          <a:bodyPr wrap="none" rtlCol="0">
            <a:spAutoFit/>
          </a:bodyPr>
          <a:lstStyle/>
          <a:p>
            <a:pPr algn="ctr"/>
            <a:r>
              <a:rPr lang="en-US" dirty="0"/>
              <a:t>Matrix multiply</a:t>
            </a:r>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1"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omp_for_each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tbb_for_each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8/28/2026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8/28/2026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
        <p:nvSpPr>
          <p:cNvPr id="4" name="Flowchart: Process 3">
            <a:extLst>
              <a:ext uri="{FF2B5EF4-FFF2-40B4-BE49-F238E27FC236}">
                <a16:creationId xmlns:a16="http://schemas.microsoft.com/office/drawing/2014/main" id="{1A3646A4-0501-E64C-9EBA-2A5D70FCC45E}"/>
              </a:ext>
            </a:extLst>
          </p:cNvPr>
          <p:cNvSpPr/>
          <p:nvPr/>
        </p:nvSpPr>
        <p:spPr>
          <a:xfrm>
            <a:off x="2719349"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the 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6756788"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an </a:t>
            </a:r>
            <a:r>
              <a:rPr lang="en-US" dirty="0" err="1"/>
              <a:t>autotuner</a:t>
            </a:r>
            <a:r>
              <a:rPr lang="en-US"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642964"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605927" y="17730"/>
            <a:ext cx="187902" cy="596105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41D587DC-555E-F024-2296-A3954C42F0E6}"/>
              </a:ext>
            </a:extLst>
          </p:cNvPr>
          <p:cNvSpPr txBox="1"/>
          <p:nvPr/>
        </p:nvSpPr>
        <p:spPr>
          <a:xfrm>
            <a:off x="3949108" y="3152109"/>
            <a:ext cx="3501536" cy="369332"/>
          </a:xfrm>
          <a:prstGeom prst="rect">
            <a:avLst/>
          </a:prstGeom>
          <a:noFill/>
        </p:spPr>
        <p:txBody>
          <a:bodyPr wrap="none" rtlCol="0">
            <a:spAutoFit/>
          </a:bodyPr>
          <a:lstStyle/>
          <a:p>
            <a:pPr algn="ctr"/>
            <a:r>
              <a:rPr lang="en-US" dirty="0"/>
              <a:t>Too much boilerplate, error-prone</a:t>
            </a:r>
          </a:p>
        </p:txBody>
      </p:sp>
      <p:sp>
        <p:nvSpPr>
          <p:cNvPr id="15" name="Arrow: Down 14">
            <a:extLst>
              <a:ext uri="{FF2B5EF4-FFF2-40B4-BE49-F238E27FC236}">
                <a16:creationId xmlns:a16="http://schemas.microsoft.com/office/drawing/2014/main" id="{6270A02A-F64D-1590-FA37-729E2E1BC765}"/>
              </a:ext>
            </a:extLst>
          </p:cNvPr>
          <p:cNvSpPr/>
          <p:nvPr/>
        </p:nvSpPr>
        <p:spPr>
          <a:xfrm>
            <a:off x="5200214"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A517191D-6E0A-AA15-0D0A-F36C9AFA3E26}"/>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7DDBBE2-A63E-674B-08AE-0EFF57E0FE30}"/>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DEE38BC2-DE6F-53AE-919A-9277CD5405A3}"/>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8/28/2026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8/28/2026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8/28/2026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8/28/2026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1794862" y="3305637"/>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733204" y="1356359"/>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8/28/2026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dirty="0"/>
              <a:t>Cellular Automata abstractions</a:t>
            </a:r>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167523" y="3732911"/>
            <a:ext cx="5225579" cy="2587183"/>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effectLst/>
                <a:latin typeface="Fira Code" panose="020B0809050000020004" pitchFamily="49" charset="0"/>
              </a:rPr>
              <a:t>if</a:t>
            </a:r>
            <a:r>
              <a:rPr lang="en-US" sz="1600" dirty="0">
                <a:solidFill>
                  <a:srgbClr val="000000"/>
                </a:solidFill>
                <a:effectLst/>
                <a:latin typeface="Fira Code" panose="020B0809050000020004" pitchFamily="49" charset="0"/>
              </a:rPr>
              <a:t> (</a:t>
            </a:r>
            <a:r>
              <a:rPr lang="en-US" sz="1600" dirty="0">
                <a:solidFill>
                  <a:srgbClr val="001080"/>
                </a:solidFill>
                <a:effectLst/>
                <a:latin typeface="Fira Code" panose="020B0809050000020004" pitchFamily="49" charset="0"/>
              </a:rPr>
              <a:t>current</a:t>
            </a:r>
            <a:r>
              <a:rPr lang="en-US" sz="1600" dirty="0">
                <a:solidFill>
                  <a:srgbClr val="000000"/>
                </a:solidFill>
                <a:effectLst/>
                <a:latin typeface="Fira Code" panose="020B0809050000020004" pitchFamily="49" charset="0"/>
              </a:rPr>
              <a:t> == </a:t>
            </a:r>
            <a:r>
              <a:rPr lang="en-US" sz="1600" dirty="0">
                <a:solidFill>
                  <a:srgbClr val="0070C1"/>
                </a:solidFill>
                <a:effectLst/>
                <a:latin typeface="Fira Code" panose="020B0809050000020004" pitchFamily="49" charset="0"/>
              </a:rPr>
              <a:t>ALIVE</a:t>
            </a:r>
            <a:r>
              <a:rPr lang="en-US" sz="160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2</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 </a:t>
            </a:r>
            <a:r>
              <a:rPr lang="en-US" sz="1600" b="0" dirty="0">
                <a:solidFill>
                  <a:srgbClr val="000000"/>
                </a:solidFill>
                <a:effectLst/>
                <a:latin typeface="Fira Code" panose="020B0809050000020004" pitchFamily="49" charset="0"/>
              </a:rPr>
              <a:t>=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040927" y="4150236"/>
            <a:ext cx="6096000" cy="1752531"/>
          </a:xfrm>
          <a:prstGeom prst="rect">
            <a:avLst/>
          </a:prstGeom>
          <a:noFill/>
          <a:ln>
            <a:solidFill>
              <a:schemeClr val="tx1"/>
            </a:solidFill>
          </a:ln>
        </p:spPr>
        <p:txBody>
          <a:bodyPr wrap="square">
            <a:spAutoFit/>
          </a:bodyPr>
          <a:lstStyle/>
          <a:p>
            <a:pPr>
              <a:lnSpc>
                <a:spcPct val="113095"/>
              </a:lnSpc>
              <a:buNone/>
            </a:pPr>
            <a:r>
              <a:rPr lang="en-US" sz="1600" b="0" dirty="0">
                <a:solidFill>
                  <a:srgbClr val="AF00DB"/>
                </a:solidFill>
                <a:effectLst/>
                <a:latin typeface="Fira Code" panose="020B0809050000020004" pitchFamily="49" charset="0"/>
              </a:rPr>
              <a:t>using</a:t>
            </a:r>
            <a:r>
              <a:rPr lang="en-US" sz="1600" b="0" dirty="0">
                <a:solidFill>
                  <a:srgbClr val="000000"/>
                </a:solidFill>
                <a:effectLst/>
                <a:latin typeface="Fira Code" panose="020B0809050000020004" pitchFamily="49" charset="0"/>
              </a:rPr>
              <a:t> </a:t>
            </a:r>
            <a:r>
              <a:rPr lang="en-US" sz="1600" b="0" dirty="0" err="1">
                <a:solidFill>
                  <a:srgbClr val="267F99"/>
                </a:solidFill>
                <a:effectLst/>
                <a:latin typeface="Fira Code" panose="020B0809050000020004" pitchFamily="49" charset="0"/>
              </a:rPr>
              <a:t>gol_rule</a:t>
            </a:r>
            <a:r>
              <a:rPr lang="en-US" sz="1600" b="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err="1">
                <a:solidFill>
                  <a:srgbClr val="001080"/>
                </a:solidFill>
                <a:latin typeface="Fira Code" panose="020B0809050000020004" pitchFamily="49" charset="0"/>
              </a:rPr>
              <a:t>is_alive</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has3_or_2</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&gt;&gt;::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a:t>
            </a:r>
          </a:p>
          <a:p>
            <a:pPr>
              <a:lnSpc>
                <a:spcPct val="113095"/>
              </a:lnSpc>
              <a:buNone/>
            </a:pPr>
            <a:r>
              <a:rPr lang="en-US" sz="1600" b="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flipV="1">
            <a:off x="5393102" y="5026502"/>
            <a:ext cx="64782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1" y="3780904"/>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smtClean="0"/>
              <a:t>16</a:t>
            </a:fld>
            <a:endParaRPr lang="en-US"/>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latin typeface="Fira Code" panose="020B0809050000020004" pitchFamily="49" charset="0"/>
              </a:rPr>
              <a:t>using</a:t>
            </a:r>
            <a:r>
              <a:rPr lang="en-US" sz="1400" dirty="0">
                <a:solidFill>
                  <a:srgbClr val="000000"/>
                </a:solidFill>
                <a:latin typeface="Fira Code" panose="020B0809050000020004" pitchFamily="49" charset="0"/>
              </a:rPr>
              <a:t> </a:t>
            </a:r>
            <a:r>
              <a:rPr lang="en-US" sz="1400" dirty="0" err="1">
                <a:solidFill>
                  <a:srgbClr val="267F99"/>
                </a:solidFill>
                <a:latin typeface="Fira Code" panose="020B0809050000020004" pitchFamily="49" charset="0"/>
              </a:rPr>
              <a:t>gol_rule</a:t>
            </a:r>
            <a:r>
              <a:rPr lang="en-US" sz="1400" dirty="0">
                <a:solidFill>
                  <a:srgbClr val="000000"/>
                </a:solidFill>
                <a:latin typeface="Fira Code" panose="020B0809050000020004" pitchFamily="49" charset="0"/>
              </a:rPr>
              <a:t> =</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&gt;&gt;::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a:t>
            </a:r>
          </a:p>
          <a:p>
            <a:pPr>
              <a:lnSpc>
                <a:spcPct val="113095"/>
              </a:lnSpc>
              <a:buNone/>
            </a:pPr>
            <a:r>
              <a:rPr lang="en-US" sz="140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pic>
        <p:nvPicPr>
          <p:cNvPr id="17" name="Picture 16">
            <a:extLst>
              <a:ext uri="{FF2B5EF4-FFF2-40B4-BE49-F238E27FC236}">
                <a16:creationId xmlns:a16="http://schemas.microsoft.com/office/drawing/2014/main" id="{D49D01EB-6B87-A8AF-C645-0C7149AF3B52}"/>
              </a:ext>
            </a:extLst>
          </p:cNvPr>
          <p:cNvPicPr>
            <a:picLocks noChangeAspect="1"/>
          </p:cNvPicPr>
          <p:nvPr/>
        </p:nvPicPr>
        <p:blipFill>
          <a:blip r:embed="rId4"/>
          <a:srcRect/>
          <a:stretch>
            <a:fillRect/>
          </a:stretch>
        </p:blipFill>
        <p:spPr>
          <a:xfrm>
            <a:off x="1908279" y="5120530"/>
            <a:ext cx="3346242" cy="1737470"/>
          </a:xfrm>
          <a:prstGeom prst="rect">
            <a:avLst/>
          </a:prstGeom>
        </p:spPr>
      </p:pic>
      <p:pic>
        <p:nvPicPr>
          <p:cNvPr id="19" name="Picture 18">
            <a:extLst>
              <a:ext uri="{FF2B5EF4-FFF2-40B4-BE49-F238E27FC236}">
                <a16:creationId xmlns:a16="http://schemas.microsoft.com/office/drawing/2014/main" id="{F062BBCA-4E21-63C7-EDFF-E1D5A3C3D6D5}"/>
              </a:ext>
            </a:extLst>
          </p:cNvPr>
          <p:cNvPicPr>
            <a:picLocks noChangeAspect="1"/>
          </p:cNvPicPr>
          <p:nvPr/>
        </p:nvPicPr>
        <p:blipFill>
          <a:blip r:embed="rId5"/>
          <a:srcRect/>
          <a:stretch>
            <a:fillRect/>
          </a:stretch>
        </p:blipFill>
        <p:spPr>
          <a:xfrm>
            <a:off x="6155232" y="5029201"/>
            <a:ext cx="4606977" cy="1828799"/>
          </a:xfrm>
          <a:prstGeom prst="rect">
            <a:avLst/>
          </a:prstGeom>
        </p:spPr>
      </p:pic>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8/28/2026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dirty="0"/>
              <a:t>Comparison of GPU-parallelized computation of various cellular automata</a:t>
            </a:r>
            <a:br>
              <a:rPr lang="en-US" dirty="0"/>
            </a:br>
            <a:r>
              <a:rPr lang="en-US" i="1"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r>
              <a:rPr lang="en-US" dirty="0"/>
              <a:t>Abstractions for layout- &amp; traversal-agnostic design are practical</a:t>
            </a:r>
          </a:p>
          <a:p>
            <a:r>
              <a:rPr lang="en-US" dirty="0"/>
              <a:t>Applicable to parallel (CPU/GPU) and distributed HPC computing</a:t>
            </a:r>
          </a:p>
          <a:p>
            <a:r>
              <a:rPr lang="en-US" dirty="0"/>
              <a:t>Abstract even deeper details  in Cellular Automata</a:t>
            </a:r>
          </a:p>
          <a:p>
            <a:r>
              <a:rPr lang="en-US" dirty="0"/>
              <a:t>Improve</a:t>
            </a:r>
          </a:p>
          <a:p>
            <a:pPr lvl="1"/>
            <a:r>
              <a:rPr lang="en-US" dirty="0"/>
              <a:t>Maintainability</a:t>
            </a:r>
          </a:p>
          <a:p>
            <a:pPr lvl="1"/>
            <a:r>
              <a:rPr lang="en-US" dirty="0"/>
              <a:t>Flexibility</a:t>
            </a:r>
          </a:p>
          <a:p>
            <a:pPr lvl="1"/>
            <a:r>
              <a:rPr lang="en-US" dirty="0"/>
              <a:t>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smtClean="0"/>
              <a:t>8/28/2026</a:t>
            </a:fld>
            <a:endParaRPr lang="en-US"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32597657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dirty="0"/>
              <a:t>LLMs capable of writing simple code</a:t>
            </a:r>
          </a:p>
          <a:p>
            <a:pPr lvl="1"/>
            <a:r>
              <a:rPr lang="en-US" dirty="0"/>
              <a:t>Data visualization, simple scripting, …</a:t>
            </a:r>
          </a:p>
          <a:p>
            <a:r>
              <a:rPr lang="en-US" dirty="0"/>
              <a:t>Not high-</a:t>
            </a:r>
            <a:r>
              <a:rPr lang="en-US" dirty="0" err="1"/>
              <a:t>lvl</a:t>
            </a:r>
            <a:r>
              <a:rPr lang="en-US" dirty="0"/>
              <a:t> decisions and parallel algorithms</a:t>
            </a:r>
          </a:p>
          <a:p>
            <a:endParaRPr lang="en-US" dirty="0"/>
          </a:p>
          <a:p>
            <a:endParaRPr lang="en-US" dirty="0"/>
          </a:p>
          <a:p>
            <a:endParaRPr lang="en-US" dirty="0"/>
          </a:p>
          <a:p>
            <a:r>
              <a:rPr lang="en-US" dirty="0"/>
              <a:t>What helps LLMs generate better code?</a:t>
            </a:r>
          </a:p>
          <a:p>
            <a:pPr lvl="1"/>
            <a:r>
              <a:rPr lang="en-US"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8/28/2026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540851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20</a:t>
            </a:fld>
            <a:endParaRPr lang="en-US"/>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Expert-</a:t>
            </a:r>
            <a:r>
              <a:rPr lang="en-US" dirty="0" err="1"/>
              <a:t>lvl</a:t>
            </a:r>
            <a:r>
              <a:rPr lang="en-US" dirty="0"/>
              <a: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2245250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smtClean="0"/>
              <a:t>21</a:t>
            </a:fld>
            <a:endParaRPr lang="en-US"/>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dirty="0"/>
              <a:t>K-Nearest</a:t>
            </a:r>
            <a:br>
              <a:rPr lang="en-US" dirty="0"/>
            </a:br>
            <a:r>
              <a:rPr lang="en-US"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dirty="0"/>
              <a:t>Bit-</a:t>
            </a:r>
            <a:r>
              <a:rPr lang="en-US" dirty="0" err="1"/>
              <a:t>lvl</a:t>
            </a:r>
            <a:r>
              <a:rPr lang="en-US"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1867703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dirty="0"/>
              <a:t>OpenAI GPT-o3-mini</a:t>
            </a:r>
            <a:endParaRPr lang="en-US" sz="2400" noProof="0" dirty="0"/>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22</a:t>
            </a:fld>
            <a:endParaRPr lang="en-US"/>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dirty="0"/>
              <a:t>Game of Life</a:t>
            </a:r>
          </a:p>
        </p:txBody>
      </p:sp>
      <p:sp>
        <p:nvSpPr>
          <p:cNvPr id="9" name="TextBox 8">
            <a:extLst>
              <a:ext uri="{FF2B5EF4-FFF2-40B4-BE49-F238E27FC236}">
                <a16:creationId xmlns:a16="http://schemas.microsoft.com/office/drawing/2014/main" id="{5F4D55C3-3077-8567-A06E-0244BA5AA6CA}"/>
              </a:ext>
            </a:extLst>
          </p:cNvPr>
          <p:cNvSpPr txBox="1"/>
          <p:nvPr/>
        </p:nvSpPr>
        <p:spPr>
          <a:xfrm>
            <a:off x="236845" y="6084477"/>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30716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smtClean="0"/>
              <a:t>23</a:t>
            </a:fld>
            <a:endParaRPr lang="en-US"/>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1285730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F8F2B-8096-7E9E-AA5F-7F72726C819C}"/>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7C9DDCDD-E57A-60CF-F6C1-98722252234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EB15584F-9C46-0B94-52F1-15D64D9E529C}"/>
              </a:ext>
            </a:extLst>
          </p:cNvPr>
          <p:cNvSpPr>
            <a:spLocks noGrp="1"/>
          </p:cNvSpPr>
          <p:nvPr>
            <p:ph type="sldNum" sz="quarter" idx="12"/>
          </p:nvPr>
        </p:nvSpPr>
        <p:spPr/>
        <p:txBody>
          <a:bodyPr/>
          <a:lstStyle/>
          <a:p>
            <a:fld id="{DA0BB241-1B5F-4309-9407-9EEA04D9598D}" type="slidenum">
              <a:rPr lang="en-US" smtClean="0"/>
              <a:t>24</a:t>
            </a:fld>
            <a:endParaRPr lang="en-US"/>
          </a:p>
        </p:txBody>
      </p:sp>
      <p:sp>
        <p:nvSpPr>
          <p:cNvPr id="6" name="TextBox 5">
            <a:extLst>
              <a:ext uri="{FF2B5EF4-FFF2-40B4-BE49-F238E27FC236}">
                <a16:creationId xmlns:a16="http://schemas.microsoft.com/office/drawing/2014/main" id="{F931F0D3-62D6-B790-92EE-5989B4C2DE90}"/>
              </a:ext>
            </a:extLst>
          </p:cNvPr>
          <p:cNvSpPr txBox="1"/>
          <p:nvPr/>
        </p:nvSpPr>
        <p:spPr>
          <a:xfrm>
            <a:off x="5898155" y="3285794"/>
            <a:ext cx="678391" cy="523220"/>
          </a:xfrm>
          <a:prstGeom prst="rect">
            <a:avLst/>
          </a:prstGeom>
          <a:noFill/>
        </p:spPr>
        <p:txBody>
          <a:bodyPr wrap="none" rtlCol="0">
            <a:spAutoFit/>
          </a:bodyPr>
          <a:lstStyle/>
          <a:p>
            <a:pPr algn="ctr"/>
            <a:r>
              <a:rPr lang="en-US" sz="2800" dirty="0"/>
              <a:t>🤖</a:t>
            </a:r>
          </a:p>
        </p:txBody>
      </p:sp>
      <p:sp>
        <p:nvSpPr>
          <p:cNvPr id="7" name="TextBox 6">
            <a:extLst>
              <a:ext uri="{FF2B5EF4-FFF2-40B4-BE49-F238E27FC236}">
                <a16:creationId xmlns:a16="http://schemas.microsoft.com/office/drawing/2014/main" id="{9FA49B44-DE06-06BD-B7AF-75B04E4D7F06}"/>
              </a:ext>
            </a:extLst>
          </p:cNvPr>
          <p:cNvSpPr txBox="1"/>
          <p:nvPr/>
        </p:nvSpPr>
        <p:spPr>
          <a:xfrm>
            <a:off x="5447840" y="3809014"/>
            <a:ext cx="1579022" cy="369332"/>
          </a:xfrm>
          <a:prstGeom prst="rect">
            <a:avLst/>
          </a:prstGeom>
          <a:noFill/>
        </p:spPr>
        <p:txBody>
          <a:bodyPr wrap="none" rtlCol="0">
            <a:spAutoFit/>
          </a:bodyPr>
          <a:lstStyle/>
          <a:p>
            <a:pPr algn="ctr"/>
            <a:r>
              <a:rPr lang="en-US" dirty="0"/>
              <a:t>LLM optimizer</a:t>
            </a:r>
          </a:p>
        </p:txBody>
      </p:sp>
      <p:sp>
        <p:nvSpPr>
          <p:cNvPr id="9" name="TextBox 8">
            <a:extLst>
              <a:ext uri="{FF2B5EF4-FFF2-40B4-BE49-F238E27FC236}">
                <a16:creationId xmlns:a16="http://schemas.microsoft.com/office/drawing/2014/main" id="{493CFFAC-E147-8EA9-0CFB-C6E6643CF311}"/>
              </a:ext>
            </a:extLst>
          </p:cNvPr>
          <p:cNvSpPr txBox="1"/>
          <p:nvPr/>
        </p:nvSpPr>
        <p:spPr>
          <a:xfrm>
            <a:off x="3864099" y="3285794"/>
            <a:ext cx="678391" cy="523220"/>
          </a:xfrm>
          <a:prstGeom prst="rect">
            <a:avLst/>
          </a:prstGeom>
          <a:noFill/>
        </p:spPr>
        <p:txBody>
          <a:bodyPr wrap="none" rtlCol="0">
            <a:spAutoFit/>
          </a:bodyPr>
          <a:lstStyle/>
          <a:p>
            <a:r>
              <a:rPr lang="en-US" sz="2800" dirty="0"/>
              <a:t>🐌</a:t>
            </a:r>
          </a:p>
        </p:txBody>
      </p:sp>
      <p:cxnSp>
        <p:nvCxnSpPr>
          <p:cNvPr id="11" name="Straight Arrow Connector 10">
            <a:extLst>
              <a:ext uri="{FF2B5EF4-FFF2-40B4-BE49-F238E27FC236}">
                <a16:creationId xmlns:a16="http://schemas.microsoft.com/office/drawing/2014/main" id="{36C96701-4992-BFFC-E886-D8DF71533624}"/>
              </a:ext>
            </a:extLst>
          </p:cNvPr>
          <p:cNvCxnSpPr>
            <a:stCxn id="9" idx="3"/>
            <a:endCxn id="6" idx="1"/>
          </p:cNvCxnSpPr>
          <p:nvPr/>
        </p:nvCxnSpPr>
        <p:spPr>
          <a:xfrm>
            <a:off x="4542490" y="3547404"/>
            <a:ext cx="13556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17F6E4F-7D25-96B8-1EA2-2A31E82074AB}"/>
              </a:ext>
            </a:extLst>
          </p:cNvPr>
          <p:cNvCxnSpPr>
            <a:cxnSpLocks/>
            <a:endCxn id="15" idx="1"/>
          </p:cNvCxnSpPr>
          <p:nvPr/>
        </p:nvCxnSpPr>
        <p:spPr>
          <a:xfrm>
            <a:off x="6576546" y="3547404"/>
            <a:ext cx="135566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09495A2-2783-83D7-9F8A-49ECA60DA476}"/>
              </a:ext>
            </a:extLst>
          </p:cNvPr>
          <p:cNvSpPr txBox="1"/>
          <p:nvPr/>
        </p:nvSpPr>
        <p:spPr>
          <a:xfrm>
            <a:off x="7932209" y="3285794"/>
            <a:ext cx="678391" cy="523220"/>
          </a:xfrm>
          <a:prstGeom prst="rect">
            <a:avLst/>
          </a:prstGeom>
          <a:noFill/>
        </p:spPr>
        <p:txBody>
          <a:bodyPr wrap="none" rtlCol="0">
            <a:spAutoFit/>
          </a:bodyPr>
          <a:lstStyle/>
          <a:p>
            <a:pPr algn="ctr"/>
            <a:r>
              <a:rPr lang="en-US" sz="2800" dirty="0"/>
              <a:t>🚀</a:t>
            </a:r>
          </a:p>
        </p:txBody>
      </p:sp>
      <p:sp>
        <p:nvSpPr>
          <p:cNvPr id="17" name="TextBox 16">
            <a:extLst>
              <a:ext uri="{FF2B5EF4-FFF2-40B4-BE49-F238E27FC236}">
                <a16:creationId xmlns:a16="http://schemas.microsoft.com/office/drawing/2014/main" id="{C0057DF1-75D1-ABD6-14BF-FA343EC6D033}"/>
              </a:ext>
            </a:extLst>
          </p:cNvPr>
          <p:cNvSpPr txBox="1"/>
          <p:nvPr/>
        </p:nvSpPr>
        <p:spPr>
          <a:xfrm>
            <a:off x="5276959" y="4928729"/>
            <a:ext cx="1910459" cy="369332"/>
          </a:xfrm>
          <a:prstGeom prst="rect">
            <a:avLst/>
          </a:prstGeom>
          <a:noFill/>
        </p:spPr>
        <p:txBody>
          <a:bodyPr wrap="none" rtlCol="0">
            <a:spAutoFit/>
          </a:bodyPr>
          <a:lstStyle/>
          <a:p>
            <a:r>
              <a:rPr lang="en-US" dirty="0"/>
              <a:t>What Abstraction</a:t>
            </a:r>
          </a:p>
        </p:txBody>
      </p:sp>
      <p:sp>
        <p:nvSpPr>
          <p:cNvPr id="18" name="TextBox 17">
            <a:extLst>
              <a:ext uri="{FF2B5EF4-FFF2-40B4-BE49-F238E27FC236}">
                <a16:creationId xmlns:a16="http://schemas.microsoft.com/office/drawing/2014/main" id="{BC787B5C-F15D-E453-E0C2-74F32811444B}"/>
              </a:ext>
            </a:extLst>
          </p:cNvPr>
          <p:cNvSpPr txBox="1"/>
          <p:nvPr/>
        </p:nvSpPr>
        <p:spPr>
          <a:xfrm>
            <a:off x="4077934" y="5555516"/>
            <a:ext cx="837089" cy="369332"/>
          </a:xfrm>
          <a:prstGeom prst="rect">
            <a:avLst/>
          </a:prstGeom>
          <a:noFill/>
        </p:spPr>
        <p:txBody>
          <a:bodyPr wrap="none" rtlCol="0">
            <a:spAutoFit/>
          </a:bodyPr>
          <a:lstStyle/>
          <a:p>
            <a:r>
              <a:rPr lang="en-US" dirty="0"/>
              <a:t>Halide</a:t>
            </a:r>
          </a:p>
        </p:txBody>
      </p:sp>
      <p:sp>
        <p:nvSpPr>
          <p:cNvPr id="19" name="TextBox 18">
            <a:extLst>
              <a:ext uri="{FF2B5EF4-FFF2-40B4-BE49-F238E27FC236}">
                <a16:creationId xmlns:a16="http://schemas.microsoft.com/office/drawing/2014/main" id="{23358F22-F533-1C7C-D8C5-74ED702D9FF3}"/>
              </a:ext>
            </a:extLst>
          </p:cNvPr>
          <p:cNvSpPr txBox="1"/>
          <p:nvPr/>
        </p:nvSpPr>
        <p:spPr>
          <a:xfrm>
            <a:off x="5538167" y="5555516"/>
            <a:ext cx="538417" cy="369332"/>
          </a:xfrm>
          <a:prstGeom prst="rect">
            <a:avLst/>
          </a:prstGeom>
          <a:noFill/>
        </p:spPr>
        <p:txBody>
          <a:bodyPr wrap="none" rtlCol="0">
            <a:spAutoFit/>
          </a:bodyPr>
          <a:lstStyle/>
          <a:p>
            <a:r>
              <a:rPr lang="en-US" dirty="0"/>
              <a:t>Exo</a:t>
            </a:r>
          </a:p>
        </p:txBody>
      </p:sp>
      <p:sp>
        <p:nvSpPr>
          <p:cNvPr id="20" name="TextBox 19">
            <a:extLst>
              <a:ext uri="{FF2B5EF4-FFF2-40B4-BE49-F238E27FC236}">
                <a16:creationId xmlns:a16="http://schemas.microsoft.com/office/drawing/2014/main" id="{09544EDC-8C17-AE4B-036F-97A08EF7C98C}"/>
              </a:ext>
            </a:extLst>
          </p:cNvPr>
          <p:cNvSpPr txBox="1"/>
          <p:nvPr/>
        </p:nvSpPr>
        <p:spPr>
          <a:xfrm>
            <a:off x="6699728" y="5555516"/>
            <a:ext cx="752129" cy="369332"/>
          </a:xfrm>
          <a:prstGeom prst="rect">
            <a:avLst/>
          </a:prstGeom>
          <a:noFill/>
        </p:spPr>
        <p:txBody>
          <a:bodyPr wrap="none" rtlCol="0">
            <a:spAutoFit/>
          </a:bodyPr>
          <a:lstStyle/>
          <a:p>
            <a:r>
              <a:rPr lang="en-US" dirty="0" err="1"/>
              <a:t>Noarr</a:t>
            </a:r>
            <a:endParaRPr lang="en-US" dirty="0"/>
          </a:p>
        </p:txBody>
      </p:sp>
      <p:sp>
        <p:nvSpPr>
          <p:cNvPr id="21" name="TextBox 20">
            <a:extLst>
              <a:ext uri="{FF2B5EF4-FFF2-40B4-BE49-F238E27FC236}">
                <a16:creationId xmlns:a16="http://schemas.microsoft.com/office/drawing/2014/main" id="{0A41B583-F767-91B8-538B-75DE9DE7AF66}"/>
              </a:ext>
            </a:extLst>
          </p:cNvPr>
          <p:cNvSpPr txBox="1"/>
          <p:nvPr/>
        </p:nvSpPr>
        <p:spPr>
          <a:xfrm>
            <a:off x="8079505" y="5555516"/>
            <a:ext cx="344966" cy="369332"/>
          </a:xfrm>
          <a:prstGeom prst="rect">
            <a:avLst/>
          </a:prstGeom>
          <a:noFill/>
        </p:spPr>
        <p:txBody>
          <a:bodyPr wrap="none" rtlCol="0">
            <a:spAutoFit/>
          </a:bodyPr>
          <a:lstStyle/>
          <a:p>
            <a:r>
              <a:rPr lang="en-US" dirty="0">
                <a:solidFill>
                  <a:schemeClr val="bg2">
                    <a:lumMod val="50000"/>
                  </a:schemeClr>
                </a:solidFill>
              </a:rPr>
              <a:t>C</a:t>
            </a:r>
          </a:p>
        </p:txBody>
      </p:sp>
      <p:sp>
        <p:nvSpPr>
          <p:cNvPr id="22" name="Right Brace 21">
            <a:extLst>
              <a:ext uri="{FF2B5EF4-FFF2-40B4-BE49-F238E27FC236}">
                <a16:creationId xmlns:a16="http://schemas.microsoft.com/office/drawing/2014/main" id="{F8913E04-5267-66BC-CE21-BB61AA117287}"/>
              </a:ext>
            </a:extLst>
          </p:cNvPr>
          <p:cNvSpPr/>
          <p:nvPr/>
        </p:nvSpPr>
        <p:spPr>
          <a:xfrm rot="16200000">
            <a:off x="6122237" y="3315566"/>
            <a:ext cx="230225" cy="424967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FBD808A-C60E-D2B4-AE81-67F52D4FA591}"/>
              </a:ext>
            </a:extLst>
          </p:cNvPr>
          <p:cNvCxnSpPr>
            <a:cxnSpLocks/>
            <a:stCxn id="17" idx="0"/>
            <a:endCxn id="7" idx="2"/>
          </p:cNvCxnSpPr>
          <p:nvPr/>
        </p:nvCxnSpPr>
        <p:spPr>
          <a:xfrm flipV="1">
            <a:off x="6232189" y="4178346"/>
            <a:ext cx="5162" cy="750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A37A6BF4-23D3-4BC4-D822-08D7F02A8E4A}"/>
              </a:ext>
            </a:extLst>
          </p:cNvPr>
          <p:cNvSpPr txBox="1"/>
          <p:nvPr/>
        </p:nvSpPr>
        <p:spPr>
          <a:xfrm>
            <a:off x="1864701" y="3224238"/>
            <a:ext cx="1542410" cy="646331"/>
          </a:xfrm>
          <a:prstGeom prst="rect">
            <a:avLst/>
          </a:prstGeom>
          <a:noFill/>
          <a:ln>
            <a:solidFill>
              <a:schemeClr val="tx1"/>
            </a:solidFill>
          </a:ln>
        </p:spPr>
        <p:txBody>
          <a:bodyPr wrap="none" rtlCol="0">
            <a:spAutoFit/>
          </a:bodyPr>
          <a:lstStyle/>
          <a:p>
            <a:pPr algn="ctr"/>
            <a:r>
              <a:rPr lang="en-US" dirty="0" err="1"/>
              <a:t>PolyBench</a:t>
            </a:r>
            <a:r>
              <a:rPr lang="en-US" dirty="0"/>
              <a:t>/C</a:t>
            </a:r>
          </a:p>
          <a:p>
            <a:pPr algn="ctr"/>
            <a:r>
              <a:rPr lang="en-US" i="1" dirty="0"/>
              <a:t>30 algorithms</a:t>
            </a:r>
          </a:p>
        </p:txBody>
      </p:sp>
      <p:cxnSp>
        <p:nvCxnSpPr>
          <p:cNvPr id="31" name="Straight Arrow Connector 30">
            <a:extLst>
              <a:ext uri="{FF2B5EF4-FFF2-40B4-BE49-F238E27FC236}">
                <a16:creationId xmlns:a16="http://schemas.microsoft.com/office/drawing/2014/main" id="{3563A0DB-403A-ADCF-C3F1-0F9C8265FE3F}"/>
              </a:ext>
            </a:extLst>
          </p:cNvPr>
          <p:cNvCxnSpPr>
            <a:stCxn id="29" idx="3"/>
            <a:endCxn id="9" idx="1"/>
          </p:cNvCxnSpPr>
          <p:nvPr/>
        </p:nvCxnSpPr>
        <p:spPr>
          <a:xfrm>
            <a:off x="3407111" y="3547404"/>
            <a:ext cx="45698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Left Brace 32">
            <a:extLst>
              <a:ext uri="{FF2B5EF4-FFF2-40B4-BE49-F238E27FC236}">
                <a16:creationId xmlns:a16="http://schemas.microsoft.com/office/drawing/2014/main" id="{6C2941FF-F0FF-E5E0-7D40-1745F519E03E}"/>
              </a:ext>
            </a:extLst>
          </p:cNvPr>
          <p:cNvSpPr/>
          <p:nvPr/>
        </p:nvSpPr>
        <p:spPr>
          <a:xfrm>
            <a:off x="8610600" y="3259030"/>
            <a:ext cx="114804" cy="54998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C17EFA50-E483-F872-FFF7-0042EB900CD4}"/>
              </a:ext>
            </a:extLst>
          </p:cNvPr>
          <p:cNvSpPr txBox="1"/>
          <p:nvPr/>
        </p:nvSpPr>
        <p:spPr>
          <a:xfrm>
            <a:off x="8725404" y="3164074"/>
            <a:ext cx="1414233" cy="369332"/>
          </a:xfrm>
          <a:prstGeom prst="rect">
            <a:avLst/>
          </a:prstGeom>
          <a:noFill/>
        </p:spPr>
        <p:txBody>
          <a:bodyPr wrap="none" rtlCol="0">
            <a:spAutoFit/>
          </a:bodyPr>
          <a:lstStyle/>
          <a:p>
            <a:r>
              <a:rPr lang="en-US" dirty="0"/>
              <a:t>Correctness</a:t>
            </a:r>
          </a:p>
        </p:txBody>
      </p:sp>
      <p:sp>
        <p:nvSpPr>
          <p:cNvPr id="36" name="TextBox 35">
            <a:extLst>
              <a:ext uri="{FF2B5EF4-FFF2-40B4-BE49-F238E27FC236}">
                <a16:creationId xmlns:a16="http://schemas.microsoft.com/office/drawing/2014/main" id="{2F778B3F-0584-FE3C-1B8D-FA252396DDD7}"/>
              </a:ext>
            </a:extLst>
          </p:cNvPr>
          <p:cNvSpPr txBox="1"/>
          <p:nvPr/>
        </p:nvSpPr>
        <p:spPr>
          <a:xfrm>
            <a:off x="8854766" y="3439682"/>
            <a:ext cx="1155509" cy="369332"/>
          </a:xfrm>
          <a:prstGeom prst="rect">
            <a:avLst/>
          </a:prstGeom>
          <a:noFill/>
        </p:spPr>
        <p:txBody>
          <a:bodyPr wrap="none" rtlCol="0">
            <a:spAutoFit/>
          </a:bodyPr>
          <a:lstStyle/>
          <a:p>
            <a:r>
              <a:rPr lang="en-US" dirty="0"/>
              <a:t>Efficiency</a:t>
            </a:r>
          </a:p>
        </p:txBody>
      </p:sp>
    </p:spTree>
    <p:extLst>
      <p:ext uri="{BB962C8B-B14F-4D97-AF65-F5344CB8AC3E}">
        <p14:creationId xmlns:p14="http://schemas.microsoft.com/office/powerpoint/2010/main" val="2707702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dirty="0"/>
              <a:t>Developer guide + abstraction-specific hints</a:t>
            </a:r>
          </a:p>
          <a:p>
            <a:pPr algn="ctr"/>
            <a:r>
              <a:rPr lang="en-US" i="1"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dirty="0"/>
              <a:t>Example</a:t>
            </a:r>
            <a:br>
              <a:rPr lang="en-US" dirty="0"/>
            </a:br>
            <a:r>
              <a:rPr lang="en-US"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dirty="0"/>
              <a:t>Almost 500</a:t>
            </a:r>
            <a:br>
              <a:rPr lang="en-US" dirty="0"/>
            </a:br>
            <a:r>
              <a:rPr lang="en-US"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smtClean="0"/>
              <a:t>26</a:t>
            </a:fld>
            <a:endParaRPr lang="en-US"/>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56745"/>
            <a:ext cx="59033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2309415" cy="369332"/>
          </a:xfrm>
          <a:prstGeom prst="rect">
            <a:avLst/>
          </a:prstGeom>
          <a:noFill/>
        </p:spPr>
        <p:txBody>
          <a:bodyPr wrap="none" rtlCol="0">
            <a:spAutoFit/>
          </a:bodyPr>
          <a:lstStyle/>
          <a:p>
            <a:r>
              <a:rPr lang="en-US" dirty="0"/>
              <a:t>Best performance (C)</a:t>
            </a:r>
          </a:p>
        </p:txBody>
      </p:sp>
    </p:spTree>
    <p:extLst>
      <p:ext uri="{BB962C8B-B14F-4D97-AF65-F5344CB8AC3E}">
        <p14:creationId xmlns:p14="http://schemas.microsoft.com/office/powerpoint/2010/main" val="134166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dirty="0"/>
              <a:t>Prompting specificity</a:t>
            </a:r>
          </a:p>
          <a:p>
            <a:r>
              <a:rPr lang="en-US" dirty="0"/>
              <a:t>Contemporary abstractions do not help</a:t>
            </a:r>
          </a:p>
          <a:p>
            <a:endParaRPr lang="en-US" dirty="0"/>
          </a:p>
          <a:p>
            <a:r>
              <a:rPr lang="en-US" dirty="0"/>
              <a:t>Future research</a:t>
            </a:r>
          </a:p>
          <a:p>
            <a:pPr lvl="1"/>
            <a:r>
              <a:rPr lang="en-US" dirty="0"/>
              <a:t>Re-evaluate on agentic LLMs</a:t>
            </a:r>
          </a:p>
          <a:p>
            <a:pPr lvl="2"/>
            <a:r>
              <a:rPr lang="en-US" dirty="0"/>
              <a:t>Automatically gather feedback</a:t>
            </a:r>
          </a:p>
          <a:p>
            <a:pPr lvl="2"/>
            <a:r>
              <a:rPr lang="en-US" dirty="0"/>
              <a:t>Can collect necessary context (e.g., work with abstraction reference)</a:t>
            </a:r>
          </a:p>
          <a:p>
            <a:pPr lvl="1"/>
            <a:r>
              <a:rPr lang="en-US"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2709945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0C2203B1-0F93-3F92-FADF-DA1FA387F65C}"/>
              </a:ext>
            </a:extLst>
          </p:cNvPr>
          <p:cNvSpPr txBox="1"/>
          <p:nvPr/>
        </p:nvSpPr>
        <p:spPr>
          <a:xfrm>
            <a:off x="-20481" y="3707894"/>
            <a:ext cx="244174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1050704" y="1964514"/>
            <a:ext cx="206243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407869" y="2519945"/>
            <a:ext cx="227782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276742" y="3179715"/>
            <a:ext cx="2481752"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271328" y="1703501"/>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530735" y="2245918"/>
            <a:ext cx="3508404" cy="408623"/>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6275060" y="2821747"/>
            <a:ext cx="3610369" cy="408623"/>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854601" y="410866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605836" y="360052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82007" y="1421002"/>
            <a:ext cx="3952877"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070880" y="405111"/>
            <a:ext cx="3913251"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Domain-specific scientific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173315" y="1095173"/>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9860746" y="4702220"/>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k-Nearest Neighbors</a:t>
            </a:r>
          </a:p>
        </p:txBody>
      </p:sp>
      <p:sp>
        <p:nvSpPr>
          <p:cNvPr id="10" name="TextBox 9">
            <a:extLst>
              <a:ext uri="{FF2B5EF4-FFF2-40B4-BE49-F238E27FC236}">
                <a16:creationId xmlns:a16="http://schemas.microsoft.com/office/drawing/2014/main" id="{53DD92FB-523C-A843-5BED-B12AFA1BDF3A}"/>
              </a:ext>
            </a:extLst>
          </p:cNvPr>
          <p:cNvSpPr txBox="1"/>
          <p:nvPr/>
        </p:nvSpPr>
        <p:spPr>
          <a:xfrm>
            <a:off x="4230621" y="5699720"/>
            <a:ext cx="2571029" cy="408623"/>
          </a:xfrm>
          <a:prstGeom prst="roundRect">
            <a:avLst>
              <a:gd name="adj" fmla="val 37166"/>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Histogram computation</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2339038"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GPU algorithm design</a:t>
            </a:r>
          </a:p>
        </p:txBody>
      </p:sp>
      <p:sp>
        <p:nvSpPr>
          <p:cNvPr id="13" name="TextBox 12">
            <a:extLst>
              <a:ext uri="{FF2B5EF4-FFF2-40B4-BE49-F238E27FC236}">
                <a16:creationId xmlns:a16="http://schemas.microsoft.com/office/drawing/2014/main" id="{D3B09BC9-600B-98F8-1E43-CF8AEA13882C}"/>
              </a:ext>
            </a:extLst>
          </p:cNvPr>
          <p:cNvSpPr txBox="1"/>
          <p:nvPr/>
        </p:nvSpPr>
        <p:spPr>
          <a:xfrm>
            <a:off x="6984544" y="5384235"/>
            <a:ext cx="3092382" cy="408623"/>
          </a:xfrm>
          <a:prstGeom prst="roundRect">
            <a:avLst>
              <a:gd name="adj" fmla="val 38874"/>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Shared-memory privatization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3338136" cy="408623"/>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Utilizing efficient </a:t>
            </a:r>
            <a:r>
              <a:rPr lang="en-US" dirty="0" err="1"/>
              <a:t>bitonic</a:t>
            </a:r>
            <a:r>
              <a:rPr lang="en-US" dirty="0"/>
              <a:t> sorting</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6" y="1790334"/>
            <a:ext cx="23473"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464860" cy="14680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200391" y="2928568"/>
            <a:ext cx="1346388" cy="77932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546779" y="2928568"/>
            <a:ext cx="970839" cy="25114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027506" y="774443"/>
            <a:ext cx="1257432"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284937" y="1503796"/>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284937" y="2112124"/>
            <a:ext cx="0" cy="13379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stCxn id="24" idx="1"/>
            <a:endCxn id="27" idx="0"/>
          </p:cNvCxnSpPr>
          <p:nvPr/>
        </p:nvCxnSpPr>
        <p:spPr>
          <a:xfrm flipH="1">
            <a:off x="8080245" y="2450230"/>
            <a:ext cx="450490" cy="37151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5822580" y="3969856"/>
            <a:ext cx="2296534" cy="13880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3"/>
          </p:cNvCxnSpPr>
          <p:nvPr/>
        </p:nvCxnSpPr>
        <p:spPr>
          <a:xfrm flipH="1" flipV="1">
            <a:off x="9383627" y="4293330"/>
            <a:ext cx="1600504" cy="40889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6A93358-C3E1-9FD2-DFF9-9B9C56617081}"/>
              </a:ext>
            </a:extLst>
          </p:cNvPr>
          <p:cNvCxnSpPr>
            <a:stCxn id="11" idx="3"/>
            <a:endCxn id="10" idx="1"/>
          </p:cNvCxnSpPr>
          <p:nvPr/>
        </p:nvCxnSpPr>
        <p:spPr>
          <a:xfrm flipV="1">
            <a:off x="3900281" y="5904032"/>
            <a:ext cx="330340" cy="184446"/>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V="1">
            <a:off x="2730762" y="5552913"/>
            <a:ext cx="270869"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881939"/>
            <a:ext cx="1296054" cy="262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F35BAD7-6778-A522-00AD-42519E371E98}"/>
              </a:ext>
            </a:extLst>
          </p:cNvPr>
          <p:cNvCxnSpPr>
            <a:stCxn id="10" idx="3"/>
            <a:endCxn id="13" idx="1"/>
          </p:cNvCxnSpPr>
          <p:nvPr/>
        </p:nvCxnSpPr>
        <p:spPr>
          <a:xfrm flipV="1">
            <a:off x="6801650" y="5588547"/>
            <a:ext cx="182894" cy="315485"/>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Connector: Curved 54">
            <a:extLst>
              <a:ext uri="{FF2B5EF4-FFF2-40B4-BE49-F238E27FC236}">
                <a16:creationId xmlns:a16="http://schemas.microsoft.com/office/drawing/2014/main" id="{E99581C1-68A6-33B6-DD3C-3FFFE5DF599F}"/>
              </a:ext>
            </a:extLst>
          </p:cNvPr>
          <p:cNvCxnSpPr>
            <a:cxnSpLocks/>
            <a:stCxn id="13" idx="0"/>
            <a:endCxn id="28" idx="2"/>
          </p:cNvCxnSpPr>
          <p:nvPr/>
        </p:nvCxnSpPr>
        <p:spPr>
          <a:xfrm rot="16200000" flipV="1">
            <a:off x="7871806" y="4725305"/>
            <a:ext cx="906239" cy="411621"/>
          </a:xfrm>
          <a:prstGeom prst="curvedConnector3">
            <a:avLst/>
          </a:prstGeom>
          <a:ln>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flipV="1">
            <a:off x="5966753" y="4293330"/>
            <a:ext cx="887848" cy="38429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3"/>
          </p:cNvCxnSpPr>
          <p:nvPr/>
        </p:nvCxnSpPr>
        <p:spPr>
          <a:xfrm rot="5400000">
            <a:off x="9014888" y="3023280"/>
            <a:ext cx="1638789" cy="901310"/>
          </a:xfrm>
          <a:prstGeom prst="curvedConnector2">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685689" y="2724257"/>
            <a:ext cx="2136891" cy="87626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6" idx="3"/>
            <a:endCxn id="27" idx="1"/>
          </p:cNvCxnSpPr>
          <p:nvPr/>
        </p:nvCxnSpPr>
        <p:spPr>
          <a:xfrm flipV="1">
            <a:off x="4758494" y="3026059"/>
            <a:ext cx="1516566" cy="357968"/>
          </a:xfrm>
          <a:prstGeom prst="curvedConnector3">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0522865">
            <a:off x="4607719" y="2705785"/>
            <a:ext cx="2095254" cy="369332"/>
          </a:xfrm>
          <a:prstGeom prst="rect">
            <a:avLst/>
          </a:prstGeom>
          <a:noFill/>
        </p:spPr>
        <p:txBody>
          <a:bodyPr wrap="none" rtlCol="0">
            <a:spAutoFit/>
          </a:bodyPr>
          <a:lstStyle/>
          <a:p>
            <a:r>
              <a:rPr lang="en-US" dirty="0"/>
              <a:t>Knowledge transfer</a:t>
            </a:r>
          </a:p>
        </p:txBody>
      </p:sp>
      <p:sp>
        <p:nvSpPr>
          <p:cNvPr id="106" name="Flowchart: Process 105">
            <a:extLst>
              <a:ext uri="{FF2B5EF4-FFF2-40B4-BE49-F238E27FC236}">
                <a16:creationId xmlns:a16="http://schemas.microsoft.com/office/drawing/2014/main" id="{CC806F58-4531-9F0A-3C98-CE8A0B55994C}"/>
              </a:ext>
            </a:extLst>
          </p:cNvPr>
          <p:cNvSpPr/>
          <p:nvPr/>
        </p:nvSpPr>
        <p:spPr>
          <a:xfrm>
            <a:off x="4230621" y="5346094"/>
            <a:ext cx="6493166" cy="1192818"/>
          </a:xfrm>
          <a:prstGeom prst="flowChartProcess">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50779" y="1811313"/>
            <a:ext cx="324709" cy="324709"/>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87130" y="2338417"/>
            <a:ext cx="324709" cy="324709"/>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54741" y="3039689"/>
            <a:ext cx="324709" cy="324709"/>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0212" y="3591698"/>
            <a:ext cx="324709" cy="324709"/>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3667" y="2936973"/>
            <a:ext cx="324709" cy="324709"/>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02587" y="2645743"/>
            <a:ext cx="324709" cy="324709"/>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796994" y="2083563"/>
            <a:ext cx="324709" cy="324709"/>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796" y="3897548"/>
            <a:ext cx="324709" cy="324709"/>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42044" y="4289021"/>
            <a:ext cx="324709" cy="324709"/>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832377" y="3405129"/>
            <a:ext cx="324709" cy="324709"/>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70880" y="3451566"/>
            <a:ext cx="231833" cy="231833"/>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890858" y="4340520"/>
            <a:ext cx="231833" cy="231833"/>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969186" y="2998537"/>
            <a:ext cx="231833" cy="231833"/>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77096" y="3451566"/>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398365" y="3113049"/>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299539" y="3943433"/>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87129" y="2750531"/>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933159" y="2149117"/>
            <a:ext cx="324709" cy="324709"/>
          </a:xfrm>
          <a:prstGeom prst="rect">
            <a:avLst/>
          </a:prstGeom>
        </p:spPr>
      </p:pic>
      <p:pic>
        <p:nvPicPr>
          <p:cNvPr id="150" name="Graphic 149" descr="Hierarchy with solid fill">
            <a:extLst>
              <a:ext uri="{FF2B5EF4-FFF2-40B4-BE49-F238E27FC236}">
                <a16:creationId xmlns:a16="http://schemas.microsoft.com/office/drawing/2014/main" id="{4F786618-FCE0-534B-0151-AABA56542C5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818839" y="2445760"/>
            <a:ext cx="324709" cy="324709"/>
          </a:xfrm>
          <a:prstGeom prst="rect">
            <a:avLst/>
          </a:prstGeom>
        </p:spPr>
      </p:pic>
      <p:pic>
        <p:nvPicPr>
          <p:cNvPr id="152" name="Graphic 151" descr="Hierarchy with solid fill">
            <a:extLst>
              <a:ext uri="{FF2B5EF4-FFF2-40B4-BE49-F238E27FC236}">
                <a16:creationId xmlns:a16="http://schemas.microsoft.com/office/drawing/2014/main" id="{9745B5EB-C202-5A4B-DF7E-A11BB3754F6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747829" y="4732432"/>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2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Thank you for your attention!</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smtClean="0"/>
              <a:t>29</a:t>
            </a:fld>
            <a:endParaRPr lang="en-US"/>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2187550" y="1790410"/>
            <a:ext cx="7816900" cy="3975196"/>
          </a:xfrm>
          <a:prstGeom prst="rect">
            <a:avLst/>
          </a:prstGeom>
        </p:spPr>
      </p:pic>
    </p:spTree>
    <p:extLst>
      <p:ext uri="{BB962C8B-B14F-4D97-AF65-F5344CB8AC3E}">
        <p14:creationId xmlns:p14="http://schemas.microsoft.com/office/powerpoint/2010/main" val="2025371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8/28/2026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2595384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rcRect t="3764" r="7222" b="4370"/>
          <a:stretch>
            <a:fillRect/>
          </a:stretch>
        </p:blipFill>
        <p:spPr>
          <a:xfrm>
            <a:off x="108065" y="4146210"/>
            <a:ext cx="11311465" cy="2505875"/>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8/28/2026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3202652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8/28/2026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9656531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8/28/2026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21355553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B380223-B8BC-B06B-26FD-BACB2406C5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C8BF10-D9E5-C2D2-C14B-AE08DE190880}"/>
              </a:ext>
            </a:extLst>
          </p:cNvPr>
          <p:cNvSpPr>
            <a:spLocks noGrp="1"/>
          </p:cNvSpPr>
          <p:nvPr>
            <p:ph type="title"/>
          </p:nvPr>
        </p:nvSpPr>
        <p:spPr/>
        <p:txBody>
          <a:bodyPr/>
          <a:lstStyle/>
          <a:p>
            <a:r>
              <a:rPr lang="en-US" noProof="0" dirty="0"/>
              <a:t>Tutoring LLMs</a:t>
            </a:r>
          </a:p>
        </p:txBody>
      </p:sp>
      <p:sp>
        <p:nvSpPr>
          <p:cNvPr id="3" name="Date Placeholder 2">
            <a:extLst>
              <a:ext uri="{FF2B5EF4-FFF2-40B4-BE49-F238E27FC236}">
                <a16:creationId xmlns:a16="http://schemas.microsoft.com/office/drawing/2014/main" id="{25501E3A-53FD-7F73-FE1F-BE3B46E4FEA1}"/>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17A23FB0-51F7-DB78-6FB9-7A6B2F7D7FB3}"/>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355507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ADF4BF-6586-65DA-E4AE-94974FA48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1904B-BA21-4C39-5543-AF0149EAA50F}"/>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5975214-AC4C-A49D-BC8B-C47C4F29430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17D3F221-1897-9F91-8106-4AB40FC8824B}"/>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A87F2CD0-D7DC-A89C-B50D-9C02F6A9A1C1}"/>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B9978723-63B3-F831-A469-C2EB38EA7A3A}"/>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54569B5D-4CD1-0C2E-6528-AC2EBC62DEFC}"/>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5C76D1C5-B831-26B6-969B-E02EC22ADBB3}"/>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9423DF13-4C59-855B-8C3C-DC8E41C53600}"/>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1E81745A-AC23-57C9-F2BB-457BC41EDBA8}"/>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4A5AC241-1B06-DE15-6134-6FE9A53F439A}"/>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22CFEFF4-674A-79BC-91E4-1633A8CE6825}"/>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E71FF61B-8A94-69A1-B479-73445DBDA620}"/>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7BE052C3-48BB-4223-A762-0A9228BFB21B}"/>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7A21066E-E7D3-494D-8439-A46941714C1C}"/>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4200850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8BC79E-0B1F-5D1D-A8A6-170A8D00B1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15B60C-3C0A-6CF3-9721-64F51CB83FD9}"/>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B998C859-7EF5-3FE2-35CD-2027D974CDAB}"/>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0243BB3B-7799-CC89-C15D-09629EEE8CAC}"/>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A3CA4778-7DF8-3E04-D795-16DC5D1DC699}"/>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4D3A9371-0618-4139-FE79-A8EB0D3EF695}"/>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19069C35-7FDE-3009-6C44-B416BD3D4490}"/>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9B42DE37-883C-4DA1-0DC9-3737166C371B}"/>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7B7036A0-4E18-60A0-8EF6-1184393731FF}"/>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3A11C929-E308-0238-EBC8-A1DD58040025}"/>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6B6D1F59-04AE-E6FB-2AF2-D07E96762EC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1A06E9A3-B8EE-ABF1-6538-9E35B7A48DD2}"/>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BDEC5311-5338-A7A6-5157-81A4E01AF55B}"/>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C933D5DD-A50A-B20C-4398-3738228FC548}"/>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EA094E39-1AA2-CB10-8700-31B9B8149FD1}"/>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0FB6A547-99C6-850C-697A-AFE4403BF041}"/>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8C77B6F3-AE3D-AF55-8ED2-BC42EBF08953}"/>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52A3FBE-19B9-E73A-11F0-D0DCDDF5D89B}"/>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45E437EE-15DB-A18E-6B96-19C605DA1F63}"/>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27728C73-1D4E-F3E1-BFD7-FC72CEE2559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07681815-8359-124C-8370-4C1D3746CB11}"/>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9471A806-B349-E090-C5CD-05D07FE5EEBB}"/>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2946456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8/28/2026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34915964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8/28/2026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38</a:t>
            </a:fld>
            <a:endParaRPr lang="en-US"/>
          </a:p>
        </p:txBody>
      </p:sp>
    </p:spTree>
    <p:extLst>
      <p:ext uri="{BB962C8B-B14F-4D97-AF65-F5344CB8AC3E}">
        <p14:creationId xmlns:p14="http://schemas.microsoft.com/office/powerpoint/2010/main" val="1294901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8/28/2026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33297061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8/28/2026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40</a:t>
            </a:fld>
            <a:endParaRPr lang="en-US"/>
          </a:p>
        </p:txBody>
      </p:sp>
    </p:spTree>
    <p:extLst>
      <p:ext uri="{BB962C8B-B14F-4D97-AF65-F5344CB8AC3E}">
        <p14:creationId xmlns:p14="http://schemas.microsoft.com/office/powerpoint/2010/main" val="24478208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8/28/2026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32268061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8/28/2026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42</a:t>
            </a:fld>
            <a:endParaRPr lang="en-US"/>
          </a:p>
        </p:txBody>
      </p:sp>
    </p:spTree>
    <p:extLst>
      <p:ext uri="{BB962C8B-B14F-4D97-AF65-F5344CB8AC3E}">
        <p14:creationId xmlns:p14="http://schemas.microsoft.com/office/powerpoint/2010/main" val="10726623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8/28/2026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32298088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8/28/2026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44</a:t>
            </a:fld>
            <a:endParaRPr lang="en-US"/>
          </a:p>
        </p:txBody>
      </p:sp>
    </p:spTree>
    <p:extLst>
      <p:ext uri="{BB962C8B-B14F-4D97-AF65-F5344CB8AC3E}">
        <p14:creationId xmlns:p14="http://schemas.microsoft.com/office/powerpoint/2010/main" val="20435546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8/28/2026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45</a:t>
            </a:fld>
            <a:endParaRPr lang="en-US"/>
          </a:p>
        </p:txBody>
      </p:sp>
    </p:spTree>
    <p:extLst>
      <p:ext uri="{BB962C8B-B14F-4D97-AF65-F5344CB8AC3E}">
        <p14:creationId xmlns:p14="http://schemas.microsoft.com/office/powerpoint/2010/main" val="21876885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8/28/2026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46</a:t>
            </a:fld>
            <a:endParaRPr lang="en-US"/>
          </a:p>
        </p:txBody>
      </p:sp>
    </p:spTree>
    <p:extLst>
      <p:ext uri="{BB962C8B-B14F-4D97-AF65-F5344CB8AC3E}">
        <p14:creationId xmlns:p14="http://schemas.microsoft.com/office/powerpoint/2010/main" val="37678986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8/28/2026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47</a:t>
            </a:fld>
            <a:endParaRPr lang="en-US"/>
          </a:p>
        </p:txBody>
      </p:sp>
    </p:spTree>
    <p:extLst>
      <p:ext uri="{BB962C8B-B14F-4D97-AF65-F5344CB8AC3E}">
        <p14:creationId xmlns:p14="http://schemas.microsoft.com/office/powerpoint/2010/main" val="5515698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8/28/2026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48</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3674</TotalTime>
  <Words>8275</Words>
  <Application>Microsoft Office PowerPoint</Application>
  <PresentationFormat>Widescreen</PresentationFormat>
  <Paragraphs>941</Paragraphs>
  <Slides>48</Slides>
  <Notes>38</Notes>
  <HiddenSlides>18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Layout abstractions</vt:lpstr>
      <vt:lpstr>Layout abstractions</vt:lpstr>
      <vt:lpstr>Traversal abstractions</vt:lpstr>
      <vt:lpstr>Traversal transformations &amp; parallelization</vt:lpstr>
      <vt:lpstr>Autotuning</vt:lpstr>
      <vt:lpstr>Results</vt:lpstr>
      <vt:lpstr>Results</vt:lpstr>
      <vt:lpstr>Distributed initialization</vt:lpstr>
      <vt:lpstr>PowerPoint Presentation</vt:lpstr>
      <vt:lpstr>Results</vt:lpstr>
      <vt:lpstr>Cellular Automata abstractions</vt:lpstr>
      <vt:lpstr>PowerPoint Presentation</vt:lpstr>
      <vt:lpstr>Results</vt:lpstr>
      <vt:lpstr>Abstractions summary</vt:lpstr>
      <vt:lpstr>Motivation</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Thank you for your attention!</vt:lpstr>
      <vt:lpstr>PowerPoint Presentation</vt:lpstr>
      <vt:lpstr>PowerPoint Presentation</vt:lpstr>
      <vt:lpstr>LLMs and abstractions</vt:lpstr>
      <vt:lpstr>LLMs and abstractions</vt:lpstr>
      <vt:lpstr>Tutoring LLMs</vt:lpstr>
      <vt:lpstr>Contribution map</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135</cp:revision>
  <dcterms:created xsi:type="dcterms:W3CDTF">2026-08-08T18:10:38Z</dcterms:created>
  <dcterms:modified xsi:type="dcterms:W3CDTF">2026-08-28T15:01:22Z</dcterms:modified>
</cp:coreProperties>
</file>