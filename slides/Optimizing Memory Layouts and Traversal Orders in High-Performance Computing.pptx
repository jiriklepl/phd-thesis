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266" r:id="rId32"/>
    <p:sldId id="312" r:id="rId33"/>
    <p:sldId id="262" r:id="rId34"/>
    <p:sldId id="327" r:id="rId35"/>
    <p:sldId id="328" r:id="rId36"/>
    <p:sldId id="331" r:id="rId37"/>
    <p:sldId id="329" r:id="rId38"/>
    <p:sldId id="330" r:id="rId39"/>
    <p:sldId id="320" r:id="rId40"/>
    <p:sldId id="318" r:id="rId41"/>
    <p:sldId id="319" r:id="rId42"/>
    <p:sldId id="317" r:id="rId43"/>
    <p:sldId id="321" r:id="rId44"/>
    <p:sldId id="31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77B4"/>
    <a:srgbClr val="4EA72E"/>
    <a:srgbClr val="0F9ED5"/>
    <a:srgbClr val="F0F90D"/>
    <a:srgbClr val="C0C0C0"/>
    <a:srgbClr val="DC9696"/>
    <a:srgbClr val="CE9AC5"/>
    <a:srgbClr val="A3D29A"/>
    <a:srgbClr val="9ED0F2"/>
    <a:srgbClr val="FED97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9144" autoAdjust="0"/>
    <p:restoredTop sz="76267" autoAdjust="0"/>
  </p:normalViewPr>
  <p:slideViewPr>
    <p:cSldViewPr snapToGrid="0">
      <p:cViewPr varScale="1">
        <p:scale>
          <a:sx n="121" d="100"/>
          <a:sy n="121" d="100"/>
        </p:scale>
        <p:origin x="2976" y="108"/>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a:t>
            </a:r>
          </a:p>
          <a:p>
            <a:endParaRPr lang="en-US" dirty="0"/>
          </a:p>
          <a:p>
            <a:r>
              <a:rPr lang="en-US" dirty="0"/>
              <a:t>One of the main challenges: the best combination of data layouts and traversal orders may significantly speed up the application, but finding those often requires re-evaluating the algorithm with many different choices.</a:t>
            </a:r>
          </a:p>
          <a:p>
            <a:endParaRPr lang="en-US" dirty="0"/>
          </a:p>
          <a:p>
            <a:r>
              <a:rPr lang="en-US" dirty="0"/>
              <a:t>My research involves two approaches to reducing the effort for algorithm developers:</a:t>
            </a:r>
          </a:p>
          <a:p>
            <a:pPr marL="171450" indent="-171450">
              <a:buFontTx/>
              <a:buChar char="-"/>
            </a:pPr>
            <a:r>
              <a:rPr lang="en-US" dirty="0"/>
              <a:t>the first uses C++ abstractions to separate these choices from the algorithm</a:t>
            </a:r>
          </a:p>
          <a:p>
            <a:pPr marL="171450" indent="-171450">
              <a:buFontTx/>
              <a:buChar char="-"/>
            </a:pPr>
            <a:r>
              <a:rPr lang="en-US" dirty="0"/>
              <a:t>while the second uses LLMs to explore broader redesigns</a:t>
            </a:r>
          </a:p>
          <a:p>
            <a:endParaRPr lang="en-US" dirty="0"/>
          </a:p>
          <a:p>
            <a:r>
              <a:rPr lang="en-US" dirty="0"/>
              <a:t>We have then combined the two approaches.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the practical usefulness of abstractions in many aspects of HPC algorithm design</a:t>
            </a:r>
          </a:p>
          <a:p>
            <a:endParaRPr lang="en-US" dirty="0"/>
          </a:p>
          <a:p>
            <a:r>
              <a:rPr lang="en-US" dirty="0"/>
              <a:t>These abstractions make the developed algorithms easier to write, more flexible to transform, and allow automatic exploration of optimizations.</a:t>
            </a:r>
          </a:p>
          <a:p>
            <a:endParaRPr lang="en-US" dirty="0"/>
          </a:p>
          <a:p>
            <a:r>
              <a:rPr lang="en-US" dirty="0"/>
              <a:t>Reacting to the recent introduction of Large language models to the area of software design, we studied their ability to optimize code.</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42</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9/4/2026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9/4/2026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9/4/2026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9/4/2026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9/4/2026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9/4/2026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9/4/2026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9/4/2026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9/4/2026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9/4/2026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9/4/2026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9/4/2026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12.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51.svg"/><Relationship Id="rId4" Type="http://schemas.openxmlformats.org/officeDocument/2006/relationships/image" Target="../media/image50.png"/></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52.png"/><Relationship Id="rId4" Type="http://schemas.openxmlformats.org/officeDocument/2006/relationships/image" Target="../media/image57.pn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62.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55.png"/></Relationships>
</file>

<file path=ppt/slides/_rels/slide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8" Type="http://schemas.openxmlformats.org/officeDocument/2006/relationships/image" Target="../media/image70.svg"/><Relationship Id="rId3" Type="http://schemas.openxmlformats.org/officeDocument/2006/relationships/image" Target="../media/image65.svg"/><Relationship Id="rId7" Type="http://schemas.openxmlformats.org/officeDocument/2006/relationships/image" Target="../media/image69.sv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6.svg"/></Relationships>
</file>

<file path=ppt/slides/_rels/slide3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b="1" noProof="0" dirty="0"/>
              <a:t>Right memory layouts</a:t>
            </a:r>
            <a:r>
              <a:rPr lang="en-US" noProof="0" dirty="0"/>
              <a:t> and </a:t>
            </a:r>
            <a:r>
              <a:rPr lang="en-US" b="1" noProof="0" dirty="0"/>
              <a:t>traversal orders</a:t>
            </a:r>
            <a:r>
              <a:rPr lang="en-US" noProof="0" dirty="0"/>
              <a:t> </a:t>
            </a:r>
            <a:r>
              <a:rPr lang="en-US" noProof="0" dirty="0">
                <a:sym typeface="Wingdings" panose="05000000000000000000" pitchFamily="2" charset="2"/>
              </a:rPr>
              <a:t> </a:t>
            </a:r>
            <a:r>
              <a:rPr lang="en-US" b="1" noProof="0" dirty="0"/>
              <a:t>speedup</a:t>
            </a:r>
          </a:p>
          <a:p>
            <a:pPr lvl="1"/>
            <a:r>
              <a:rPr lang="en-US" noProof="0" dirty="0"/>
              <a:t>Many re-evaluations of the algorithm</a:t>
            </a:r>
          </a:p>
          <a:p>
            <a:pPr marL="0" indent="0">
              <a:buNone/>
            </a:pPr>
            <a:endParaRPr lang="en-US" noProof="0" dirty="0"/>
          </a:p>
          <a:p>
            <a:pPr marL="0" indent="0">
              <a:buNone/>
            </a:pPr>
            <a:endParaRPr lang="en-US" dirty="0"/>
          </a:p>
          <a:p>
            <a:pPr marL="0" indent="0">
              <a:buNone/>
            </a:pPr>
            <a:endParaRPr lang="en-US" noProof="0" dirty="0"/>
          </a:p>
          <a:p>
            <a:r>
              <a:rPr lang="en-US" noProof="0" dirty="0"/>
              <a:t>C++ abstractions for decoupling layouts and traversals</a:t>
            </a:r>
          </a:p>
          <a:p>
            <a:r>
              <a:rPr lang="en-US" noProof="0" dirty="0"/>
              <a:t>LLM for exploring broader redesigns</a:t>
            </a:r>
          </a:p>
          <a:p>
            <a:r>
              <a:rPr lang="en-US" noProof="0" dirty="0"/>
              <a:t>Combination of the two approaches</a:t>
            </a:r>
          </a:p>
          <a:p>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442300" y="385801"/>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8698406" y="2270790"/>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9211" r="-2397"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9/4/2026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94267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95106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93990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1790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72161"/>
            <a:ext cx="139683" cy="1325562"/>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37352" y="2528271"/>
            <a:ext cx="2972352" cy="461665"/>
          </a:xfrm>
          <a:prstGeom prst="rect">
            <a:avLst/>
          </a:prstGeom>
          <a:noFill/>
        </p:spPr>
        <p:txBody>
          <a:bodyPr wrap="none" rtlCol="0" anchor="ctr">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716662" y="5513692"/>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9/4/2026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B8F6BC"/>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D97E"/>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94601" y="1404435"/>
            <a:ext cx="194951" cy="795657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9/4/2026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3279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616062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7467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750432"/>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750432"/>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750431"/>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740032"/>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678613"/>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639021"/>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2326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232699"/>
                <a:ext cx="1587166" cy="1384995"/>
              </a:xfrm>
              <a:prstGeom prst="rect">
                <a:avLst/>
              </a:prstGeom>
              <a:blipFill>
                <a:blip r:embed="rId11"/>
                <a:stretch>
                  <a:fillRect l="-8077" t="-4825" b="-10965"/>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3113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3017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61758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118998"/>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596963"/>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7418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7346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61674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2550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682419"/>
                <a:ext cx="1820178" cy="523220"/>
              </a:xfrm>
              <a:prstGeom prst="rect">
                <a:avLst/>
              </a:prstGeom>
              <a:noFill/>
            </p:spPr>
            <p:txBody>
              <a:bodyPr wrap="none" rtlCol="0">
                <a:spAutoFit/>
              </a:bodyPr>
              <a:lstStyle/>
              <a:p>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682419"/>
                <a:ext cx="1820178" cy="523220"/>
              </a:xfrm>
              <a:prstGeom prst="rect">
                <a:avLst/>
              </a:prstGeom>
              <a:blipFill>
                <a:blip r:embed="rId12"/>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7571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7659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7486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245252"/>
            <a:ext cx="2097049" cy="461665"/>
          </a:xfrm>
          <a:prstGeom prst="rect">
            <a:avLst/>
          </a:prstGeom>
          <a:noFill/>
        </p:spPr>
        <p:txBody>
          <a:bodyPr wrap="none" rtlCol="0">
            <a:spAutoFit/>
          </a:bodyPr>
          <a:lstStyle/>
          <a:p>
            <a:r>
              <a:rPr lang="en-US" sz="2400" dirty="0"/>
              <a:t>Unique copies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476067"/>
            <a:ext cx="2963434" cy="3482004"/>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pPr algn="ctr"/>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5072322" y="533856"/>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0" y="1324308"/>
            <a:ext cx="9584233" cy="488608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7848599" y="1776739"/>
            <a:ext cx="1523999" cy="109320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7905411" y="3448828"/>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7939177" y="4752246"/>
            <a:ext cx="1433421" cy="786423"/>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7939177" y="5538669"/>
            <a:ext cx="1433421" cy="786425"/>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8664952" y="908416"/>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stCxn id="6" idx="7"/>
            <a:endCxn id="7" idx="2"/>
          </p:cNvCxnSpPr>
          <p:nvPr/>
        </p:nvCxnSpPr>
        <p:spPr>
          <a:xfrm flipV="1">
            <a:off x="9149414" y="1487298"/>
            <a:ext cx="1279062" cy="44953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7"/>
            <a:endCxn id="7" idx="2"/>
          </p:cNvCxnSpPr>
          <p:nvPr/>
        </p:nvCxnSpPr>
        <p:spPr>
          <a:xfrm flipV="1">
            <a:off x="9162678" y="1487298"/>
            <a:ext cx="1265798" cy="338011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338832" y="4633210"/>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stCxn id="14" idx="7"/>
            <a:endCxn id="18" idx="2"/>
          </p:cNvCxnSpPr>
          <p:nvPr/>
        </p:nvCxnSpPr>
        <p:spPr>
          <a:xfrm flipV="1">
            <a:off x="9162678" y="5212092"/>
            <a:ext cx="1617513" cy="44174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528412" y="6249470"/>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6778933" y="3819054"/>
            <a:ext cx="1336398" cy="271985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81912" y="4001294"/>
            <a:ext cx="1955992"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359650" y="4695852"/>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C7DCFB"/>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CBCF1"/>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776906"/>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4"/>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776906"/>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74132" y="1313599"/>
              <a:ext cx="732656" cy="732656"/>
            </a:xfrm>
            <a:prstGeom prst="rect">
              <a:avLst/>
            </a:prstGeom>
          </p:spPr>
        </p:pic>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10" name="TextBox 9">
            <a:extLst>
              <a:ext uri="{FF2B5EF4-FFF2-40B4-BE49-F238E27FC236}">
                <a16:creationId xmlns:a16="http://schemas.microsoft.com/office/drawing/2014/main" id="{F87652A6-37F0-2CC7-1FD2-E46D9878EE9E}"/>
              </a:ext>
            </a:extLst>
          </p:cNvPr>
          <p:cNvSpPr txBox="1"/>
          <p:nvPr/>
        </p:nvSpPr>
        <p:spPr>
          <a:xfrm>
            <a:off x="4270819" y="1270770"/>
            <a:ext cx="3650359" cy="523220"/>
          </a:xfrm>
          <a:prstGeom prst="rect">
            <a:avLst/>
          </a:prstGeom>
          <a:noFill/>
        </p:spPr>
        <p:txBody>
          <a:bodyPr wrap="none" rtlCol="0" anchor="b">
            <a:spAutoFit/>
          </a:bodyPr>
          <a:lstStyle/>
          <a:p>
            <a:pPr algn="ctr"/>
            <a:r>
              <a:rPr lang="en-US" sz="2800" noProof="0" dirty="0"/>
              <a:t>Example: Game of Life</a:t>
            </a:r>
          </a:p>
        </p:txBody>
      </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Binary state</a:t>
            </a:r>
          </a:p>
          <a:p>
            <a:r>
              <a:rPr lang="en-US" sz="2400" dirty="0"/>
              <a:t>Neighbor-count rules</a:t>
            </a:r>
          </a:p>
        </p:txBody>
      </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68984CF-F135-422A-BC96-9BDB08D720D4}"/>
              </a:ext>
            </a:extLst>
          </p:cNvPr>
          <p:cNvPicPr>
            <a:picLocks noChangeAspect="1"/>
          </p:cNvPicPr>
          <p:nvPr/>
        </p:nvPicPr>
        <p:blipFill>
          <a:blip r:embed="rId3"/>
          <a:srcRect l="12883" t="17084" r="11844" b="16205"/>
          <a:stretch>
            <a:fillRect/>
          </a:stretch>
        </p:blipFill>
        <p:spPr>
          <a:xfrm>
            <a:off x="5740045" y="4200417"/>
            <a:ext cx="1507332" cy="1335881"/>
          </a:xfrm>
          <a:prstGeom prst="rect">
            <a:avLst/>
          </a:prstGeom>
        </p:spPr>
      </p:pic>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Aptos" panose="020B0004020202020204" pitchFamily="34" charset="0"/>
              <a:buChar char="+"/>
            </a:pPr>
            <a:r>
              <a:rPr lang="en-US" noProof="0" dirty="0"/>
              <a:t> Simplicity</a:t>
            </a:r>
          </a:p>
          <a:p>
            <a:pPr lvl="1">
              <a:buFont typeface="Aptos" panose="020B0004020202020204" pitchFamily="34" charset="0"/>
              <a:buChar char="+"/>
            </a:pPr>
            <a:r>
              <a:rPr lang="en-US" noProof="0" dirty="0"/>
              <a:t> Flexibility</a:t>
            </a:r>
          </a:p>
          <a:p>
            <a:pPr lvl="1">
              <a:buFont typeface="Aptos" panose="020B0004020202020204" pitchFamily="34" charset="0"/>
              <a:buChar char="+"/>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10" name="Straight Connector 9">
            <a:extLst>
              <a:ext uri="{FF2B5EF4-FFF2-40B4-BE49-F238E27FC236}">
                <a16:creationId xmlns:a16="http://schemas.microsoft.com/office/drawing/2014/main" id="{6A7A7546-AB4B-B0AA-3591-AB55403B6F68}"/>
              </a:ext>
            </a:extLst>
          </p:cNvPr>
          <p:cNvCxnSpPr>
            <a:cxnSpLocks/>
            <a:stCxn id="6" idx="1"/>
            <a:endCxn id="9" idx="1"/>
          </p:cNvCxnSpPr>
          <p:nvPr/>
        </p:nvCxnSpPr>
        <p:spPr>
          <a:xfrm>
            <a:off x="3685212" y="4439667"/>
            <a:ext cx="2054833" cy="428691"/>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6938950" y="3429000"/>
            <a:ext cx="4109740" cy="896259"/>
          </a:xfrm>
          <a:prstGeom prst="wedgeRoundRectCallout">
            <a:avLst>
              <a:gd name="adj1" fmla="val -46931"/>
              <a:gd name="adj2" fmla="val 78756"/>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3"/>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3"/>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3"/>
          <a:srcRect l="12577" t="17864" r="12520" b="16352"/>
          <a:stretch>
            <a:fillRect/>
          </a:stretch>
        </p:blipFill>
        <p:spPr>
          <a:xfrm>
            <a:off x="9667586" y="3847084"/>
            <a:ext cx="919163" cy="807244"/>
          </a:xfrm>
          <a:prstGeom prst="rect">
            <a:avLst/>
          </a:prstGeom>
        </p:spPr>
      </p:pic>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4"/>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56733" y="4331346"/>
            <a:ext cx="120526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4"/>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4"/>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0" y="339180"/>
            <a:ext cx="12192000" cy="5931408"/>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739290"/>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339180"/>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339265" y="513594"/>
            <a:ext cx="2988319"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10745" y="3001049"/>
            <a:ext cx="372564" cy="372564"/>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061465"/>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7507</TotalTime>
  <Words>5562</Words>
  <Application>Microsoft Office PowerPoint</Application>
  <PresentationFormat>Widescreen</PresentationFormat>
  <Paragraphs>858</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Discrete stencils – Cellular  automata</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531</cp:revision>
  <dcterms:created xsi:type="dcterms:W3CDTF">2026-08-08T18:10:38Z</dcterms:created>
  <dcterms:modified xsi:type="dcterms:W3CDTF">2026-09-04T17:16:49Z</dcterms:modified>
</cp:coreProperties>
</file>