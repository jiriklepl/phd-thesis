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sldIdLst>
    <p:sldId id="256" r:id="rId2"/>
    <p:sldId id="268" r:id="rId3"/>
    <p:sldId id="277" r:id="rId4"/>
    <p:sldId id="269" r:id="rId5"/>
    <p:sldId id="270" r:id="rId6"/>
    <p:sldId id="281" r:id="rId7"/>
    <p:sldId id="282" r:id="rId8"/>
    <p:sldId id="263" r:id="rId9"/>
    <p:sldId id="271" r:id="rId10"/>
    <p:sldId id="283" r:id="rId11"/>
    <p:sldId id="284" r:id="rId12"/>
    <p:sldId id="272" r:id="rId13"/>
    <p:sldId id="285" r:id="rId14"/>
    <p:sldId id="278" r:id="rId15"/>
    <p:sldId id="265" r:id="rId16"/>
    <p:sldId id="258" r:id="rId17"/>
    <p:sldId id="273" r:id="rId18"/>
    <p:sldId id="286" r:id="rId19"/>
    <p:sldId id="289" r:id="rId20"/>
    <p:sldId id="290" r:id="rId21"/>
    <p:sldId id="279" r:id="rId22"/>
    <p:sldId id="274" r:id="rId23"/>
    <p:sldId id="287" r:id="rId24"/>
    <p:sldId id="280" r:id="rId25"/>
    <p:sldId id="259" r:id="rId26"/>
    <p:sldId id="275" r:id="rId27"/>
    <p:sldId id="288" r:id="rId28"/>
    <p:sldId id="291" r:id="rId29"/>
    <p:sldId id="276" r:id="rId30"/>
    <p:sldId id="292" r:id="rId31"/>
    <p:sldId id="260" r:id="rId32"/>
    <p:sldId id="266" r:id="rId33"/>
    <p:sldId id="261" r:id="rId34"/>
    <p:sldId id="262"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68"/>
            <p14:sldId id="277"/>
            <p14:sldId id="269"/>
          </p14:sldIdLst>
        </p14:section>
        <p14:section name="algorithms" id="{7894E90A-E282-4867-82A4-369CDB973E4E}">
          <p14:sldIdLst>
            <p14:sldId id="270"/>
            <p14:sldId id="281"/>
            <p14:sldId id="282"/>
            <p14:sldId id="263"/>
            <p14:sldId id="271"/>
            <p14:sldId id="283"/>
            <p14:sldId id="284"/>
            <p14:sldId id="272"/>
            <p14:sldId id="285"/>
            <p14:sldId id="278"/>
            <p14:sldId id="265"/>
            <p14:sldId id="258"/>
            <p14:sldId id="273"/>
            <p14:sldId id="286"/>
            <p14:sldId id="289"/>
            <p14:sldId id="290"/>
            <p14:sldId id="279"/>
            <p14:sldId id="274"/>
            <p14:sldId id="287"/>
            <p14:sldId id="280"/>
          </p14:sldIdLst>
        </p14:section>
        <p14:section name="llms" id="{2FE3CF17-CBFB-48E9-A3BF-DD99B7D2F01E}">
          <p14:sldIdLst>
            <p14:sldId id="259"/>
            <p14:sldId id="275"/>
            <p14:sldId id="288"/>
            <p14:sldId id="291"/>
            <p14:sldId id="276"/>
            <p14:sldId id="292"/>
          </p14:sldIdLst>
        </p14:section>
        <p14:section name="sw artifacts" id="{C643FBD2-A5DD-453D-B5B5-69D3884A4C2F}">
          <p14:sldIdLst>
            <p14:sldId id="260"/>
          </p14:sldIdLst>
        </p14:section>
        <p14:section name="summary" id="{D3BAAF83-51D3-4EFD-B7CC-7BA6DAC4A838}">
          <p14:sldIdLst>
            <p14:sldId id="266"/>
            <p14:sldId id="261"/>
          </p14:sldIdLst>
        </p14:section>
        <p14:section name="Reviewers' comments" id="{40190F67-0659-405D-810E-4AC194B72FA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2428" autoAdjust="0"/>
  </p:normalViewPr>
  <p:slideViewPr>
    <p:cSldViewPr snapToGrid="0">
      <p:cViewPr varScale="1">
        <p:scale>
          <a:sx n="84" d="100"/>
          <a:sy n="84" d="100"/>
        </p:scale>
        <p:origin x="120" y="7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illustrate what we mean by memory layouts and traversal orders, let’s look at a simple example of just traversing a single matrix and initializing its elements to values that might depend on their indices.</a:t>
            </a:r>
          </a:p>
          <a:p>
            <a:endParaRPr lang="en-US" dirty="0"/>
          </a:p>
          <a:p>
            <a:r>
              <a:rPr lang="en-US" dirty="0"/>
              <a:t>?? Even this simple example can show a surprising level of complexity.</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(cool animation)</a:t>
            </a:r>
            <a:br>
              <a:rPr lang="en-US" dirty="0"/>
            </a:br>
            <a:r>
              <a:rPr lang="en-US" dirty="0"/>
              <a:t>Notice that for the *row-major matrix layout* on the left, the algorithm tends to access elements that are close together, whereas in the other, *column-major layout*, the accessed elements are spread out further.</a:t>
            </a:r>
            <a:br>
              <a:rPr lang="en-US" dirty="0"/>
            </a:br>
            <a:r>
              <a:rPr lang="en-US" dirty="0"/>
              <a:t>Thus, the algorithm expresses better *locality of reference* for the row-major layout, and we can expect a better performance as a result due to various hardware optimizations such as caching.</a:t>
            </a:r>
            <a:br>
              <a:rPr lang="en-US" dirty="0"/>
            </a:br>
            <a:r>
              <a:rPr lang="en-US" dirty="0"/>
              <a:t>(?? (caching) That relies on accessed values being temporarily stored in faster memory units, automatically by the hardware)</a:t>
            </a:r>
          </a:p>
          <a:p>
            <a:endParaRPr lang="en-US" dirty="0"/>
          </a:p>
          <a:p>
            <a:r>
              <a:rPr lang="en-US" dirty="0"/>
              <a:t>?? define locality of reference?</a:t>
            </a:r>
          </a:p>
          <a:p>
            <a:endParaRPr lang="en-US" dirty="0"/>
          </a:p>
          <a:p>
            <a:r>
              <a:rPr lang="en-US" dirty="0"/>
              <a:t>Of course, the two layouts are the simplest layouts for matrices, and for many real-use algorithms, more elaborate layouts, such as tile-major layouts (where each matrix is stored as a series of smaller sub-matrices), may often perform even better.</a:t>
            </a:r>
          </a:p>
          <a:p>
            <a:r>
              <a:rPr lang="en-US" dirty="0"/>
              <a:t>?? (Similarly, the traversal may be split into multiple blocks or tiles to better utilize caching)</a:t>
            </a:r>
          </a:p>
          <a:p>
            <a:endParaRPr lang="en-US" dirty="0"/>
          </a:p>
          <a:p>
            <a:r>
              <a:rPr lang="en-US" dirty="0"/>
              <a:t>In real-use algorithms, the situation is further complicated by factors such as algorithms having more elaborate traversal patterns, accessing multiple data structures at once, and each hardware architecture having further characteristics affecting the choice of memory layouts and traversal orders.</a:t>
            </a:r>
          </a:p>
          <a:p>
            <a:endParaRPr lang="en-US" dirty="0"/>
          </a:p>
          <a:p>
            <a:r>
              <a:rPr lang="en-US" dirty="0"/>
              <a:t>Thus, it is typically not feasible to know the correct design choices in advance</a:t>
            </a:r>
          </a:p>
          <a:p>
            <a:r>
              <a:rPr lang="en-US" dirty="0"/>
              <a:t>(and even if so, hard-coding optimizations for one hardware architecture makes the code less maintainable/readable and less portable to other architectures)</a:t>
            </a:r>
            <a:br>
              <a:rPr lang="en-US" dirty="0"/>
            </a:br>
            <a:r>
              <a:rPr lang="en-US" dirty="0"/>
              <a:t>?? Example</a:t>
            </a:r>
            <a:br>
              <a:rPr lang="en-US" dirty="0"/>
            </a:br>
            <a:br>
              <a:rPr lang="en-US" dirty="0"/>
            </a:br>
            <a:r>
              <a:rPr lang="en-US" dirty="0"/>
              <a:t>(ass bridge: our research focuses on making this automatable and simpler)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422621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44560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[without runtime overhead]</a:t>
            </a:r>
            <a:br>
              <a:rPr lang="en-US" dirty="0"/>
            </a:br>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2754378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(offsets). Our research is not the only effort on this, as nowadays, 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a:t>
            </a:r>
            <a:r>
              <a:rPr lang="en-US" dirty="0" err="1"/>
              <a:t>animace</a:t>
            </a:r>
            <a:r>
              <a:rPr lang="en-US" dirty="0"/>
              <a:t>)</a:t>
            </a:r>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(buffer)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device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4713003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carefully assessing how the principles play into defining layout-agnostic algorithms, we have extended the approach for traversals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A traverser is created from one or multiple data structures and then generates index points for accessing their shared space.</a:t>
            </a:r>
            <a:br>
              <a:rPr lang="en-US" dirty="0"/>
            </a:br>
            <a:br>
              <a:rPr lang="en-US" dirty="0"/>
            </a:br>
            <a:r>
              <a:rPr lang="en-US" dirty="0"/>
              <a:t>For a single structure, this mirrors a simple for-each algorithm;</a:t>
            </a:r>
            <a:br>
              <a:rPr lang="en-US" dirty="0"/>
            </a:br>
            <a:br>
              <a:rPr lang="en-US" dirty="0"/>
            </a:br>
            <a:r>
              <a:rPr lang="en-US" dirty="0"/>
              <a:t>If two structures share the same space, the traverser can be used to simply copy the data from one structure to the other</a:t>
            </a:r>
          </a:p>
          <a:p>
            <a:endParaRPr lang="en-US" dirty="0"/>
          </a:p>
          <a:p>
            <a:r>
              <a:rPr lang="en-US" dirty="0"/>
              <a:t>If the traversed structures have (partially) independent index spaces, the traverser infers the shared space as the cartesian product of the unique dimensions of all the </a:t>
            </a:r>
            <a:r>
              <a:rPr lang="en-US" dirty="0" err="1"/>
              <a:t>structurtes</a:t>
            </a:r>
            <a:r>
              <a:rPr lang="en-US" dirty="0"/>
              <a:t>. This can define, for example, the matrix multiplication algorithm.</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wouldn’t be very useful just like that.</a:t>
            </a:r>
            <a:br>
              <a:rPr lang="en-US" dirty="0"/>
            </a:br>
            <a:br>
              <a:rPr lang="en-US" dirty="0"/>
            </a:br>
            <a:r>
              <a:rPr lang="en-US" dirty="0"/>
              <a:t>The important part is that we can use the same principles for building memory layouts to specify transformations of the traversal orders as well.</a:t>
            </a:r>
          </a:p>
          <a:p>
            <a:r>
              <a:rPr lang="en-US" dirty="0"/>
              <a:t>This significantly improves the </a:t>
            </a:r>
            <a:r>
              <a:rPr lang="en-US" dirty="0" err="1"/>
              <a:t>expressibility</a:t>
            </a:r>
            <a:r>
              <a:rPr lang="en-US" dirty="0"/>
              <a:t> of the earlier work for optimizations, because oftentimes it is much easier to modify the (internal) traversal order of an algorithm</a:t>
            </a:r>
            <a:br>
              <a:rPr lang="en-US" dirty="0"/>
            </a:br>
            <a:r>
              <a:rPr lang="en-US" dirty="0"/>
              <a:t>rather than the memory layouts of the data structures that might be prescribed by the expected API.</a:t>
            </a:r>
          </a:p>
          <a:p>
            <a:endParaRPr lang="en-US" dirty="0"/>
          </a:p>
          <a:p>
            <a:r>
              <a:rPr lang="en-US" dirty="0"/>
              <a:t>We have also shown that this approach is very useful for specifying parallelization of the computation. We have showcased this on frameworks such as OpenMP and TBB,</a:t>
            </a:r>
            <a:br>
              <a:rPr lang="en-US" dirty="0"/>
            </a:br>
            <a:r>
              <a:rPr lang="en-US" dirty="0"/>
              <a:t>and in more detail in the CUDA framework for general-purpose GPU programming. There, we have shown that the principles pair well with multiple design specifics of</a:t>
            </a:r>
            <a:br>
              <a:rPr lang="en-US" dirty="0"/>
            </a:br>
            <a:r>
              <a:rPr lang="en-US" dirty="0"/>
              <a:t>CUDA programming, such as binding different threads and blocks to the dimensions of the computation 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Yap more?)</a:t>
            </a:r>
          </a:p>
          <a:p>
            <a:endParaRPr lang="en-US" dirty="0"/>
          </a:p>
          <a:p>
            <a:r>
              <a:rPr lang="en-US" dirty="0"/>
              <a:t>We have evaluated the abstractions on the </a:t>
            </a:r>
            <a:r>
              <a:rPr lang="en-US" dirty="0" err="1"/>
              <a:t>PolyBench</a:t>
            </a:r>
            <a:r>
              <a:rPr lang="en-US" dirty="0"/>
              <a:t>/C suite.</a:t>
            </a:r>
          </a:p>
          <a:p>
            <a:endParaRPr lang="en-US" dirty="0"/>
          </a:p>
          <a:p>
            <a:r>
              <a:rPr lang="en-US" dirty="0"/>
              <a:t>W have confirmed that the abstractions do not pose any runtime overhead and they keep the programming complexity in practical algorithms low enough.</a:t>
            </a:r>
          </a:p>
          <a:p>
            <a:endParaRPr lang="en-US" dirty="0"/>
          </a:p>
          <a:p>
            <a:r>
              <a:rPr lang="en-US" dirty="0"/>
              <a:t>Most importantly, as shown before the complexity doesn’t significantly increase with introducing further optimizations to the code.</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9366052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F212E-CA72-C4AE-F1F7-07F014BF7A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D45C23-66BB-0E7A-7EE0-D0C799A935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EA43A-1FCE-3D60-414E-B5842CCCFD66}"/>
              </a:ext>
            </a:extLst>
          </p:cNvPr>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p:txBody>
      </p:sp>
      <p:sp>
        <p:nvSpPr>
          <p:cNvPr id="4" name="Slide Number Placeholder 3">
            <a:extLst>
              <a:ext uri="{FF2B5EF4-FFF2-40B4-BE49-F238E27FC236}">
                <a16:creationId xmlns:a16="http://schemas.microsoft.com/office/drawing/2014/main" id="{E12739F2-1F87-864F-92FD-DE6DD7B3BBE1}"/>
              </a:ext>
            </a:extLst>
          </p:cNvPr>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728282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a:p>
            <a:endParaRPr lang="en-US" dirty="0"/>
          </a:p>
          <a:p>
            <a:r>
              <a:rPr lang="en-US" dirty="0"/>
              <a:t>It also enables automatic transformation of the data if the memory layouts on the opposing end-points differ. If this was done naively. the MPI backend would corrupt the data</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compared the state of the art C++ bindings for MPI in how they manage to seamlessly enable layout-agnostic communication of data over MPI</a:t>
            </a:r>
          </a:p>
          <a:p>
            <a:endParaRPr lang="en-US" dirty="0"/>
          </a:p>
          <a:p>
            <a:r>
              <a:rPr lang="en-US" dirty="0"/>
              <a:t>This requires that the framework encodes the layout correctly so it is automatically transformed between the two end-points</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confirmed that for the standard memory layout, evaluator, and traverser, which mirrors a baseline implementation, the abstraction does not introduce any overhead over the naturally written algorithm in C++ or CUDA, while introducing flexibility in automatic user-directed optimization.</a:t>
            </a:r>
          </a:p>
          <a:p>
            <a:endParaRPr lang="en-US" dirty="0"/>
          </a:p>
          <a:p>
            <a:r>
              <a:rPr lang="en-US" dirty="0"/>
              <a:t>In our follow-up work, we evaluate more efficient evaluators that use the bit plane encoding and bitwise vectorization of the computations to bring </a:t>
            </a:r>
            <a:r>
              <a:rPr lang="en-US" dirty="0" err="1"/>
              <a:t>speeeeed</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(and, less clearly, the histogram alg.), even with very vague instructions.</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2150312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08B9B-DA7C-CEF0-D2F2-45B10F331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A7740-2DAD-1370-B2CB-228DA08826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4B22E-1818-E5A6-0350-5F174A750D46}"/>
              </a:ext>
            </a:extLst>
          </p:cNvPr>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and language-specific documentation and hints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a:extLst>
              <a:ext uri="{FF2B5EF4-FFF2-40B4-BE49-F238E27FC236}">
                <a16:creationId xmlns:a16="http://schemas.microsoft.com/office/drawing/2014/main" id="{EC9A10B2-2AAB-DC98-721D-F9B66A801B35}"/>
              </a:ext>
            </a:extLst>
          </p:cNvPr>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360855540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haven’t </a:t>
            </a:r>
            <a:r>
              <a:rPr lang="en-US"/>
              <a:t>done this one </a:t>
            </a:r>
            <a:r>
              <a:rPr lang="en-US">
                <a:sym typeface="Wingdings" panose="05000000000000000000" pitchFamily="2" charset="2"/>
              </a:rPr>
              <a:t></a:t>
            </a:r>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245D912-7048-8F27-7BE0-2F656D101AD8}"/>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0EA5DD48-9F56-1FDB-7526-16D2FDD7CF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2EED6-4A9E-31FB-8AD8-6AEEFF78FDCA}"/>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6.xml"/><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github.com/matyas-brabec/2025-europar-llm/tree/GPT-5-high"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noProof="0" dirty="0"/>
              <a:t>Jiří Klepl</a:t>
            </a:r>
          </a:p>
          <a:p>
            <a:r>
              <a:rPr lang="en-US" noProof="0" dirty="0"/>
              <a:t>Department of Distributed and Dependable Systems</a:t>
            </a:r>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Tree>
    <p:extLst>
      <p:ext uri="{BB962C8B-B14F-4D97-AF65-F5344CB8AC3E}">
        <p14:creationId xmlns:p14="http://schemas.microsoft.com/office/powerpoint/2010/main" val="1814957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traversing matrices</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noProof="0" smtClean="0">
                        <a:latin typeface="Cambria Math" panose="02040503050406030204" pitchFamily="18" charset="0"/>
                      </a:rPr>
                      <m:t>𝑚</m:t>
                    </m:r>
                    <m:r>
                      <a:rPr lang="en-US" b="0" i="1" noProof="0" smtClean="0">
                        <a:latin typeface="Cambria Math" panose="02040503050406030204" pitchFamily="18" charset="0"/>
                      </a:rPr>
                      <m:t>×</m:t>
                    </m:r>
                    <m:r>
                      <a:rPr lang="en-US" b="0" i="1" noProof="0" smtClean="0">
                        <a:latin typeface="Cambria Math" panose="02040503050406030204" pitchFamily="18" charset="0"/>
                      </a:rPr>
                      <m:t>𝑛</m:t>
                    </m:r>
                  </m:oMath>
                </a14:m>
                <a:r>
                  <a:rPr lang="en-US" noProof="0" dirty="0"/>
                  <a:t> matrix in row-major and column-major </a:t>
                </a:r>
                <a:r>
                  <a:rPr lang="en-US"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noProof="0" dirty="0"/>
              <a:t>A row-wise </a:t>
            </a:r>
            <a:r>
              <a:rPr lang="en-US" i="1" noProof="0" dirty="0"/>
              <a:t>traversal</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noProof="0"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Tree>
    <p:extLst>
      <p:ext uri="{BB962C8B-B14F-4D97-AF65-F5344CB8AC3E}">
        <p14:creationId xmlns:p14="http://schemas.microsoft.com/office/powerpoint/2010/main" val="269399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Tree>
    <p:extLst>
      <p:ext uri="{BB962C8B-B14F-4D97-AF65-F5344CB8AC3E}">
        <p14:creationId xmlns:p14="http://schemas.microsoft.com/office/powerpoint/2010/main" val="3515881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noProof="0"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Traversal</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order</a:t>
            </a:r>
            <a:r>
              <a:rPr lang="en-US" sz="1050" b="0" noProof="0" dirty="0">
                <a:solidFill>
                  <a:srgbClr val="000000"/>
                </a:solidFill>
                <a:effectLst/>
                <a:latin typeface="Fira Code" panose="020B0809050000020004" pitchFamily="49" charset="0"/>
              </a:rPr>
              <a:t>(</a:t>
            </a:r>
            <a:r>
              <a:rPr lang="en-US" sz="1050" b="0" noProof="0" dirty="0" err="1">
                <a:solidFill>
                  <a:srgbClr val="267F99"/>
                </a:solidFill>
                <a:effectLst/>
                <a:latin typeface="Fira Code" panose="020B0809050000020004" pitchFamily="49" charset="0"/>
              </a:rPr>
              <a:t>ByTiles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for_each</a:t>
            </a:r>
            <a:r>
              <a:rPr lang="en-US" sz="1050" noProof="0" dirty="0">
                <a:solidFill>
                  <a:srgbClr val="000000"/>
                </a:solidFill>
                <a:latin typeface="Fira Code" panose="020B0809050000020004" pitchFamily="49" charset="0"/>
              </a:rPr>
              <a:t>(</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accessC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4</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5</a:t>
            </a:r>
            <a:r>
              <a:rPr lang="en-US" sz="1050" b="0" noProof="0" dirty="0">
                <a:solidFill>
                  <a:srgbClr val="000000"/>
                </a:solidFill>
                <a:effectLst/>
                <a:latin typeface="Fira Code" panose="020B0809050000020004" pitchFamily="49" charset="0"/>
              </a:rPr>
              <a:t>);</a:t>
            </a:r>
          </a:p>
          <a:p>
            <a:pPr>
              <a:lnSpc>
                <a:spcPct val="113095"/>
              </a:lnSpc>
              <a:buNone/>
            </a:pPr>
            <a:endParaRPr lang="en-US" sz="1050" b="0" noProof="0" dirty="0">
              <a:solidFill>
                <a:srgbClr val="001080"/>
              </a:solidFill>
              <a:effectLst/>
              <a:latin typeface="Fira Code" panose="020B0809050000020004" pitchFamily="49" charset="0"/>
            </a:endParaRPr>
          </a:p>
          <a:p>
            <a:pPr>
              <a:lnSpc>
                <a:spcPct val="113095"/>
              </a:lnSpc>
              <a:buNone/>
            </a:pP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609296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noProof="0" dirty="0"/>
          </a:p>
        </p:txBody>
      </p:sp>
      <p:sp>
        <p:nvSpPr>
          <p:cNvPr id="3" name="TextBox 2">
            <a:extLst>
              <a:ext uri="{FF2B5EF4-FFF2-40B4-BE49-F238E27FC236}">
                <a16:creationId xmlns:a16="http://schemas.microsoft.com/office/drawing/2014/main" id="{629B92EA-18C5-91B8-17E4-8C208B626182}"/>
              </a:ext>
            </a:extLst>
          </p:cNvPr>
          <p:cNvSpPr txBox="1"/>
          <p:nvPr/>
        </p:nvSpPr>
        <p:spPr>
          <a:xfrm flipH="1">
            <a:off x="2050677" y="1690688"/>
            <a:ext cx="1661161" cy="369332"/>
          </a:xfrm>
          <a:prstGeom prst="rect">
            <a:avLst/>
          </a:prstGeom>
          <a:noFill/>
        </p:spPr>
        <p:txBody>
          <a:bodyPr wrap="square" rtlCol="0">
            <a:spAutoFit/>
          </a:bodyPr>
          <a:lstStyle/>
          <a:p>
            <a:r>
              <a:rPr lang="en-US" noProof="0" dirty="0"/>
              <a:t>Data structure</a:t>
            </a:r>
          </a:p>
        </p:txBody>
      </p:sp>
      <p:sp>
        <p:nvSpPr>
          <p:cNvPr id="4" name="Rectangle 3">
            <a:extLst>
              <a:ext uri="{FF2B5EF4-FFF2-40B4-BE49-F238E27FC236}">
                <a16:creationId xmlns:a16="http://schemas.microsoft.com/office/drawing/2014/main" id="{CE7066CE-152D-0539-30CA-144DED4F4285}"/>
              </a:ext>
            </a:extLst>
          </p:cNvPr>
          <p:cNvSpPr/>
          <p:nvPr/>
        </p:nvSpPr>
        <p:spPr>
          <a:xfrm>
            <a:off x="378632" y="3364129"/>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393197E7-99FA-072A-2FBF-784590A75ED3}"/>
              </a:ext>
            </a:extLst>
          </p:cNvPr>
          <p:cNvSpPr txBox="1"/>
          <p:nvPr/>
        </p:nvSpPr>
        <p:spPr>
          <a:xfrm flipH="1">
            <a:off x="206634" y="2994797"/>
            <a:ext cx="2033456" cy="369332"/>
          </a:xfrm>
          <a:prstGeom prst="rect">
            <a:avLst/>
          </a:prstGeom>
          <a:noFill/>
        </p:spPr>
        <p:txBody>
          <a:bodyPr wrap="square" rtlCol="0">
            <a:spAutoFit/>
          </a:bodyPr>
          <a:lstStyle/>
          <a:p>
            <a:r>
              <a:rPr lang="en-US" noProof="0" dirty="0"/>
              <a:t>Logical structure</a:t>
            </a:r>
          </a:p>
        </p:txBody>
      </p:sp>
      <p:cxnSp>
        <p:nvCxnSpPr>
          <p:cNvPr id="8" name="Straight Arrow Connector 7">
            <a:extLst>
              <a:ext uri="{FF2B5EF4-FFF2-40B4-BE49-F238E27FC236}">
                <a16:creationId xmlns:a16="http://schemas.microsoft.com/office/drawing/2014/main" id="{ECC247F9-5588-BADC-3FCF-319325127B5C}"/>
              </a:ext>
            </a:extLst>
          </p:cNvPr>
          <p:cNvCxnSpPr/>
          <p:nvPr/>
        </p:nvCxnSpPr>
        <p:spPr>
          <a:xfrm>
            <a:off x="2327177" y="3962674"/>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D91CF730-A252-703E-9EDE-576ADABCA875}"/>
              </a:ext>
            </a:extLst>
          </p:cNvPr>
          <p:cNvPicPr>
            <a:picLocks noChangeAspect="1"/>
          </p:cNvPicPr>
          <p:nvPr/>
        </p:nvPicPr>
        <p:blipFill>
          <a:blip r:embed="rId3"/>
          <a:stretch>
            <a:fillRect/>
          </a:stretch>
        </p:blipFill>
        <p:spPr>
          <a:xfrm>
            <a:off x="2240090" y="2026920"/>
            <a:ext cx="1249070" cy="1241336"/>
          </a:xfrm>
          <a:prstGeom prst="rect">
            <a:avLst/>
          </a:prstGeom>
        </p:spPr>
      </p:pic>
      <p:sp>
        <p:nvSpPr>
          <p:cNvPr id="12" name="Rectangle 11">
            <a:extLst>
              <a:ext uri="{FF2B5EF4-FFF2-40B4-BE49-F238E27FC236}">
                <a16:creationId xmlns:a16="http://schemas.microsoft.com/office/drawing/2014/main" id="{D2E479D1-9B11-7C80-118C-F602204D0421}"/>
              </a:ext>
            </a:extLst>
          </p:cNvPr>
          <p:cNvSpPr/>
          <p:nvPr/>
        </p:nvSpPr>
        <p:spPr>
          <a:xfrm>
            <a:off x="3711838" y="3842244"/>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16C0C8F6-D540-7EA5-8F83-E9055CE22E95}"/>
              </a:ext>
            </a:extLst>
          </p:cNvPr>
          <p:cNvSpPr txBox="1"/>
          <p:nvPr/>
        </p:nvSpPr>
        <p:spPr>
          <a:xfrm flipH="1">
            <a:off x="3128361" y="3419822"/>
            <a:ext cx="2612576" cy="369332"/>
          </a:xfrm>
          <a:prstGeom prst="rect">
            <a:avLst/>
          </a:prstGeom>
          <a:noFill/>
        </p:spPr>
        <p:txBody>
          <a:bodyPr wrap="square" rtlCol="0">
            <a:spAutoFit/>
          </a:bodyPr>
          <a:lstStyle/>
          <a:p>
            <a:r>
              <a:rPr lang="en-US" noProof="0" dirty="0"/>
              <a:t>Physical memory layout</a:t>
            </a:r>
          </a:p>
        </p:txBody>
      </p:sp>
      <p:sp>
        <p:nvSpPr>
          <p:cNvPr id="18" name="TextBox 17">
            <a:extLst>
              <a:ext uri="{FF2B5EF4-FFF2-40B4-BE49-F238E27FC236}">
                <a16:creationId xmlns:a16="http://schemas.microsoft.com/office/drawing/2014/main" id="{EE8B262B-FA3E-96EB-4738-C1B5778CA745}"/>
              </a:ext>
            </a:extLst>
          </p:cNvPr>
          <p:cNvSpPr txBox="1"/>
          <p:nvPr/>
        </p:nvSpPr>
        <p:spPr>
          <a:xfrm>
            <a:off x="206634" y="5396582"/>
            <a:ext cx="2934789" cy="978729"/>
          </a:xfrm>
          <a:prstGeom prst="rect">
            <a:avLst/>
          </a:prstGeom>
          <a:noFill/>
          <a:ln>
            <a:solidFill>
              <a:schemeClr val="tx1"/>
            </a:solidFill>
          </a:ln>
        </p:spPr>
        <p:txBody>
          <a:bodyPr wrap="square">
            <a:spAutoFit/>
          </a:bodyPr>
          <a:lstStyle/>
          <a:p>
            <a:pPr marL="0" marR="0" indent="0" algn="l">
              <a:buNone/>
            </a:pPr>
            <a:r>
              <a:rPr lang="en-US" sz="960" b="1" i="0" noProof="0" dirty="0">
                <a:solidFill>
                  <a:srgbClr val="008000"/>
                </a:solidFill>
                <a:effectLst/>
                <a:latin typeface="DejaVuSansMono"/>
              </a:rPr>
              <a:t>template</a:t>
            </a:r>
            <a:r>
              <a:rPr lang="en-US" sz="960" b="0" i="0" noProof="0" dirty="0">
                <a:solidFill>
                  <a:srgbClr val="666666"/>
                </a:solidFill>
                <a:effectLst/>
                <a:latin typeface="DejaVuSansMono"/>
              </a:rPr>
              <a:t>&lt;</a:t>
            </a:r>
            <a:endParaRPr lang="en-US" sz="960" b="0" i="0" noProof="0" dirty="0">
              <a:solidFill>
                <a:srgbClr val="000000"/>
              </a:solidFill>
              <a:effectLst/>
              <a:latin typeface="DejaVuSansMono"/>
            </a:endParaRP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Extents</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LayoutPolicy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layout_right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AccessorPolicy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default_accessor</a:t>
            </a:r>
            <a:r>
              <a:rPr lang="en-US" sz="960" b="0" i="0" noProof="0" dirty="0">
                <a:solidFill>
                  <a:srgbClr val="666666"/>
                </a:solidFill>
                <a:effectLst/>
                <a:latin typeface="DejaVuSansMono"/>
              </a:rPr>
              <a:t>&lt;</a:t>
            </a:r>
            <a:r>
              <a:rPr lang="en-US" sz="960" b="0" i="0" noProof="0" dirty="0">
                <a:solidFill>
                  <a:srgbClr val="000000"/>
                </a:solidFill>
                <a:effectLst/>
                <a:latin typeface="DejaVuSansMono"/>
              </a:rPr>
              <a:t>T</a:t>
            </a:r>
            <a:r>
              <a:rPr lang="en-US" sz="960" b="0" i="0" noProof="0" dirty="0">
                <a:solidFill>
                  <a:srgbClr val="666666"/>
                </a:solidFill>
                <a:effectLst/>
                <a:latin typeface="DejaVuSansMono"/>
              </a:rPr>
              <a:t>&gt;</a:t>
            </a:r>
            <a:endParaRPr lang="en-US" sz="960" b="0" i="0" noProof="0" dirty="0">
              <a:solidFill>
                <a:srgbClr val="000000"/>
              </a:solidFill>
              <a:effectLst/>
              <a:latin typeface="DejaVuSansMono"/>
            </a:endParaRPr>
          </a:p>
          <a:p>
            <a:pPr marL="0" marR="0" indent="0" algn="l">
              <a:buNone/>
            </a:pPr>
            <a:r>
              <a:rPr lang="en-US" sz="960" b="0" i="0" noProof="0" dirty="0">
                <a:solidFill>
                  <a:srgbClr val="666666"/>
                </a:solidFill>
                <a:effectLst/>
                <a:latin typeface="DejaVuSansMono"/>
              </a:rPr>
              <a:t>&gt;</a:t>
            </a: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mdspan</a:t>
            </a:r>
            <a:r>
              <a:rPr lang="en-US" sz="960" b="0" i="0" noProof="0" dirty="0">
                <a:solidFill>
                  <a:srgbClr val="000000"/>
                </a:solidFill>
                <a:effectLst/>
                <a:latin typeface="DejaVuSansMono"/>
              </a:rPr>
              <a:t>;</a:t>
            </a:r>
          </a:p>
        </p:txBody>
      </p:sp>
      <p:sp>
        <p:nvSpPr>
          <p:cNvPr id="19" name="TextBox 18">
            <a:extLst>
              <a:ext uri="{FF2B5EF4-FFF2-40B4-BE49-F238E27FC236}">
                <a16:creationId xmlns:a16="http://schemas.microsoft.com/office/drawing/2014/main" id="{24D10904-B7C0-3CC4-7415-DD17D80D24E4}"/>
              </a:ext>
            </a:extLst>
          </p:cNvPr>
          <p:cNvSpPr txBox="1"/>
          <p:nvPr/>
        </p:nvSpPr>
        <p:spPr>
          <a:xfrm>
            <a:off x="1016531" y="5059024"/>
            <a:ext cx="1450141" cy="369332"/>
          </a:xfrm>
          <a:prstGeom prst="rect">
            <a:avLst/>
          </a:prstGeom>
          <a:noFill/>
        </p:spPr>
        <p:txBody>
          <a:bodyPr wrap="none" rtlCol="0">
            <a:spAutoFit/>
          </a:bodyPr>
          <a:lstStyle/>
          <a:p>
            <a:r>
              <a:rPr lang="en-US" noProof="0" dirty="0"/>
              <a:t>std::</a:t>
            </a:r>
            <a:r>
              <a:rPr lang="en-US" noProof="0" dirty="0" err="1"/>
              <a:t>mdspan</a:t>
            </a:r>
            <a:endParaRPr lang="en-US" noProof="0" dirty="0"/>
          </a:p>
        </p:txBody>
      </p:sp>
      <p:pic>
        <p:nvPicPr>
          <p:cNvPr id="20" name="Picture 19" descr="File:NVIDIA logo.svg - Wikimedia Commons">
            <a:extLst>
              <a:ext uri="{FF2B5EF4-FFF2-40B4-BE49-F238E27FC236}">
                <a16:creationId xmlns:a16="http://schemas.microsoft.com/office/drawing/2014/main" id="{D20C279A-C56A-6DE5-775E-9EDFB109DDB7}"/>
              </a:ext>
            </a:extLst>
          </p:cNvPr>
          <p:cNvPicPr>
            <a:picLocks noChangeAspect="1"/>
          </p:cNvPicPr>
          <p:nvPr/>
        </p:nvPicPr>
        <p:blipFill>
          <a:blip r:embed="rId4"/>
          <a:stretch>
            <a:fillRect/>
          </a:stretch>
        </p:blipFill>
        <p:spPr>
          <a:xfrm>
            <a:off x="7182371" y="5860032"/>
            <a:ext cx="2297240" cy="421161"/>
          </a:xfrm>
          <a:prstGeom prst="rect">
            <a:avLst/>
          </a:prstGeom>
        </p:spPr>
      </p:pic>
      <p:pic>
        <p:nvPicPr>
          <p:cNvPr id="21" name="Picture 20" descr="Kokkos Logos">
            <a:extLst>
              <a:ext uri="{FF2B5EF4-FFF2-40B4-BE49-F238E27FC236}">
                <a16:creationId xmlns:a16="http://schemas.microsoft.com/office/drawing/2014/main" id="{688915D6-1C03-1602-5B45-A4CADED3D582}"/>
              </a:ext>
            </a:extLst>
          </p:cNvPr>
          <p:cNvPicPr>
            <a:picLocks noChangeAspect="1"/>
          </p:cNvPicPr>
          <p:nvPr/>
        </p:nvPicPr>
        <p:blipFill>
          <a:blip r:embed="rId5"/>
          <a:stretch>
            <a:fillRect/>
          </a:stretch>
        </p:blipFill>
        <p:spPr>
          <a:xfrm>
            <a:off x="3258768" y="5698337"/>
            <a:ext cx="1750863" cy="372276"/>
          </a:xfrm>
          <a:prstGeom prst="rect">
            <a:avLst/>
          </a:prstGeom>
        </p:spPr>
      </p:pic>
      <p:sp>
        <p:nvSpPr>
          <p:cNvPr id="29" name="TextBox 28">
            <a:extLst>
              <a:ext uri="{FF2B5EF4-FFF2-40B4-BE49-F238E27FC236}">
                <a16:creationId xmlns:a16="http://schemas.microsoft.com/office/drawing/2014/main" id="{3ACC472A-6620-096A-F5B4-266E4D43E76F}"/>
              </a:ext>
            </a:extLst>
          </p:cNvPr>
          <p:cNvSpPr txBox="1"/>
          <p:nvPr/>
        </p:nvSpPr>
        <p:spPr>
          <a:xfrm>
            <a:off x="5573544" y="5381916"/>
            <a:ext cx="1445623" cy="1200329"/>
          </a:xfrm>
          <a:prstGeom prst="rect">
            <a:avLst/>
          </a:prstGeom>
          <a:noFill/>
          <a:ln>
            <a:solidFill>
              <a:schemeClr val="tx1"/>
            </a:solidFill>
          </a:ln>
        </p:spPr>
        <p:txBody>
          <a:bodyPr wrap="square">
            <a:spAutoFit/>
          </a:bodyPr>
          <a:lstStyle/>
          <a:p>
            <a:pPr marL="0" marR="0" indent="0" algn="l">
              <a:buNone/>
            </a:pPr>
            <a:r>
              <a:rPr lang="en-US" sz="1200" b="0" i="0" noProof="0" dirty="0">
                <a:solidFill>
                  <a:srgbClr val="24292F"/>
                </a:solidFill>
                <a:effectLst/>
                <a:latin typeface="RobotoMono"/>
              </a:rPr>
              <a:t>Shape :  (4,2)</a:t>
            </a:r>
          </a:p>
          <a:p>
            <a:pPr marL="0" marR="0" indent="0" algn="l">
              <a:buNone/>
            </a:pPr>
            <a:r>
              <a:rPr lang="en-US" sz="1200" b="0" i="0" noProof="0" dirty="0">
                <a:solidFill>
                  <a:srgbClr val="24292F"/>
                </a:solidFill>
                <a:effectLst/>
                <a:latin typeface="RobotoMono"/>
              </a:rPr>
              <a:t>Stride:  (2,1)</a:t>
            </a:r>
          </a:p>
          <a:p>
            <a:pPr marL="0" marR="0" indent="0" algn="l">
              <a:buNone/>
            </a:pPr>
            <a:r>
              <a:rPr lang="en-US" sz="1200" b="0" i="0" noProof="0" dirty="0">
                <a:solidFill>
                  <a:srgbClr val="24292F"/>
                </a:solidFill>
                <a:effectLst/>
                <a:latin typeface="RobotoMono"/>
              </a:rPr>
              <a:t>  0   1</a:t>
            </a:r>
          </a:p>
          <a:p>
            <a:pPr marL="0" marR="0" indent="0" algn="l">
              <a:buNone/>
            </a:pPr>
            <a:r>
              <a:rPr lang="en-US" sz="1200" b="0" i="0" noProof="0" dirty="0">
                <a:solidFill>
                  <a:srgbClr val="24292F"/>
                </a:solidFill>
                <a:effectLst/>
                <a:latin typeface="RobotoMono"/>
              </a:rPr>
              <a:t>  2   3</a:t>
            </a:r>
          </a:p>
          <a:p>
            <a:pPr marL="0" marR="0" indent="0" algn="l">
              <a:buNone/>
            </a:pPr>
            <a:r>
              <a:rPr lang="en-US" sz="1200" b="0" i="0" noProof="0" dirty="0">
                <a:solidFill>
                  <a:srgbClr val="24292F"/>
                </a:solidFill>
                <a:effectLst/>
                <a:latin typeface="RobotoMono"/>
              </a:rPr>
              <a:t>  4   5</a:t>
            </a:r>
          </a:p>
          <a:p>
            <a:pPr marL="0" marR="0" indent="0" algn="l">
              <a:buNone/>
            </a:pPr>
            <a:r>
              <a:rPr lang="en-US" sz="1200" b="0" i="0" noProof="0" dirty="0">
                <a:solidFill>
                  <a:srgbClr val="24292F"/>
                </a:solidFill>
                <a:effectLst/>
                <a:latin typeface="RobotoMono"/>
              </a:rPr>
              <a:t>  6   7</a:t>
            </a:r>
          </a:p>
        </p:txBody>
      </p:sp>
      <p:sp>
        <p:nvSpPr>
          <p:cNvPr id="30" name="TextBox 29">
            <a:extLst>
              <a:ext uri="{FF2B5EF4-FFF2-40B4-BE49-F238E27FC236}">
                <a16:creationId xmlns:a16="http://schemas.microsoft.com/office/drawing/2014/main" id="{2BF7FBC8-8534-2A17-6EEE-266F00B94D37}"/>
              </a:ext>
            </a:extLst>
          </p:cNvPr>
          <p:cNvSpPr txBox="1"/>
          <p:nvPr/>
        </p:nvSpPr>
        <p:spPr>
          <a:xfrm>
            <a:off x="5578305" y="4984668"/>
            <a:ext cx="1436099" cy="369332"/>
          </a:xfrm>
          <a:prstGeom prst="rect">
            <a:avLst/>
          </a:prstGeom>
          <a:noFill/>
        </p:spPr>
        <p:txBody>
          <a:bodyPr wrap="none" rtlCol="0">
            <a:spAutoFit/>
          </a:bodyPr>
          <a:lstStyle/>
          <a:p>
            <a:r>
              <a:rPr lang="en-US" noProof="0" dirty="0" err="1"/>
              <a:t>CUTe</a:t>
            </a:r>
            <a:r>
              <a:rPr lang="en-US" noProof="0" dirty="0"/>
              <a:t> Layout</a:t>
            </a:r>
          </a:p>
        </p:txBody>
      </p:sp>
      <p:sp>
        <p:nvSpPr>
          <p:cNvPr id="38" name="TextBox 37">
            <a:extLst>
              <a:ext uri="{FF2B5EF4-FFF2-40B4-BE49-F238E27FC236}">
                <a16:creationId xmlns:a16="http://schemas.microsoft.com/office/drawing/2014/main" id="{1F5E2435-0E1B-BC1F-B025-E4809FCD1BB6}"/>
              </a:ext>
            </a:extLst>
          </p:cNvPr>
          <p:cNvSpPr txBox="1"/>
          <p:nvPr/>
        </p:nvSpPr>
        <p:spPr>
          <a:xfrm>
            <a:off x="6853642" y="919461"/>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D765482-04EA-108B-2C52-587952680CAA}"/>
              </a:ext>
            </a:extLst>
          </p:cNvPr>
          <p:cNvSpPr/>
          <p:nvPr/>
        </p:nvSpPr>
        <p:spPr>
          <a:xfrm>
            <a:off x="8403768" y="99920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3EFCE23F-B129-33E7-BBA1-A0C58E802D8E}"/>
              </a:ext>
            </a:extLst>
          </p:cNvPr>
          <p:cNvSpPr/>
          <p:nvPr/>
        </p:nvSpPr>
        <p:spPr>
          <a:xfrm>
            <a:off x="8403767" y="1456599"/>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4F4065D4-CE1C-8FB5-336C-3725D7A23F98}"/>
              </a:ext>
            </a:extLst>
          </p:cNvPr>
          <p:cNvSpPr/>
          <p:nvPr/>
        </p:nvSpPr>
        <p:spPr>
          <a:xfrm>
            <a:off x="8403767" y="192586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TextBox 47">
            <a:extLst>
              <a:ext uri="{FF2B5EF4-FFF2-40B4-BE49-F238E27FC236}">
                <a16:creationId xmlns:a16="http://schemas.microsoft.com/office/drawing/2014/main" id="{C66B6B2B-206E-B25D-E2EB-2BE507FA937A}"/>
              </a:ext>
            </a:extLst>
          </p:cNvPr>
          <p:cNvSpPr txBox="1"/>
          <p:nvPr/>
        </p:nvSpPr>
        <p:spPr>
          <a:xfrm>
            <a:off x="6853642" y="2395127"/>
            <a:ext cx="3986541" cy="1033873"/>
          </a:xfrm>
          <a:prstGeom prst="rect">
            <a:avLst/>
          </a:prstGeom>
          <a:noFill/>
        </p:spPr>
        <p:txBody>
          <a:bodyPr wrap="square">
            <a:spAutoFit/>
          </a:bodyPr>
          <a:lstStyle/>
          <a:p>
            <a:pPr>
              <a:lnSpc>
                <a:spcPct val="15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p>
        </p:txBody>
      </p:sp>
      <p:sp>
        <p:nvSpPr>
          <p:cNvPr id="52" name="TextBox 51">
            <a:extLst>
              <a:ext uri="{FF2B5EF4-FFF2-40B4-BE49-F238E27FC236}">
                <a16:creationId xmlns:a16="http://schemas.microsoft.com/office/drawing/2014/main" id="{81058A7E-911C-05B2-4601-238FFA7EE004}"/>
              </a:ext>
            </a:extLst>
          </p:cNvPr>
          <p:cNvSpPr txBox="1"/>
          <p:nvPr/>
        </p:nvSpPr>
        <p:spPr>
          <a:xfrm>
            <a:off x="7178348" y="3371679"/>
            <a:ext cx="4580709"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owned_matrix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FF"/>
                </a:solidFill>
                <a:effectLst/>
                <a:latin typeface="Fira Code" panose="020B0809050000020004" pitchFamily="49" charset="0"/>
              </a:rPr>
              <a:t>void</a:t>
            </a:r>
            <a:r>
              <a:rPr lang="en-US" sz="1050" b="0" noProof="0" dirty="0">
                <a:solidFill>
                  <a:srgbClr val="000000"/>
                </a:solidFill>
                <a:effectLst/>
                <a:latin typeface="Fira Code" panose="020B0809050000020004" pitchFamily="49" charset="0"/>
              </a:rPr>
              <a:t> </a:t>
            </a:r>
            <a:r>
              <a:rPr lang="en-US" sz="1050" b="0" noProof="0" dirty="0">
                <a:solidFill>
                  <a:srgbClr val="0000FF"/>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CUDA_CHECK</a:t>
            </a:r>
            <a:r>
              <a:rPr lang="en-US" sz="1050" b="0" noProof="0" dirty="0">
                <a:solidFill>
                  <a:srgbClr val="000000"/>
                </a:solidFill>
                <a:effectLst/>
                <a:latin typeface="Fira Code" panose="020B0809050000020004" pitchFamily="49" charset="0"/>
              </a:rPr>
              <a:t>(</a:t>
            </a:r>
            <a:r>
              <a:rPr lang="en-US" sz="1050" b="0" noProof="0" dirty="0" err="1">
                <a:solidFill>
                  <a:srgbClr val="795E26"/>
                </a:solidFill>
                <a:effectLst/>
                <a:latin typeface="Fira Code" panose="020B0809050000020004" pitchFamily="49" charset="0"/>
              </a:rPr>
              <a:t>cudaMalloc</a:t>
            </a:r>
            <a:r>
              <a:rPr lang="en-US" sz="1050" b="0" noProof="0" dirty="0">
                <a:solidFill>
                  <a:srgbClr val="000000"/>
                </a:solidFill>
                <a:effectLst/>
                <a:latin typeface="Fira Code" panose="020B0809050000020004" pitchFamily="49" charset="0"/>
              </a:rPr>
              <a:t>(&amp;</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get_size</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view_matrix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p:txBody>
      </p:sp>
      <p:sp>
        <p:nvSpPr>
          <p:cNvPr id="56" name="TextBox 55">
            <a:extLst>
              <a:ext uri="{FF2B5EF4-FFF2-40B4-BE49-F238E27FC236}">
                <a16:creationId xmlns:a16="http://schemas.microsoft.com/office/drawing/2014/main" id="{151B72E5-6CB7-97C1-AD5E-3609107123D5}"/>
              </a:ext>
            </a:extLst>
          </p:cNvPr>
          <p:cNvSpPr txBox="1"/>
          <p:nvPr/>
        </p:nvSpPr>
        <p:spPr>
          <a:xfrm>
            <a:off x="7467250" y="4559336"/>
            <a:ext cx="6096000" cy="816762"/>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a:t>
            </a:r>
          </a:p>
        </p:txBody>
      </p:sp>
      <p:sp>
        <p:nvSpPr>
          <p:cNvPr id="60" name="TextBox 59">
            <a:extLst>
              <a:ext uri="{FF2B5EF4-FFF2-40B4-BE49-F238E27FC236}">
                <a16:creationId xmlns:a16="http://schemas.microsoft.com/office/drawing/2014/main" id="{C90408C5-9F58-A622-B65B-BBDABAA76922}"/>
              </a:ext>
            </a:extLst>
          </p:cNvPr>
          <p:cNvSpPr txBox="1"/>
          <p:nvPr/>
        </p:nvSpPr>
        <p:spPr>
          <a:xfrm>
            <a:off x="8484327" y="5297003"/>
            <a:ext cx="6779622"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2215939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Tree>
    <p:extLst>
      <p:ext uri="{BB962C8B-B14F-4D97-AF65-F5344CB8AC3E}">
        <p14:creationId xmlns:p14="http://schemas.microsoft.com/office/powerpoint/2010/main" val="3503651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Tree>
    <p:extLst>
      <p:ext uri="{BB962C8B-B14F-4D97-AF65-F5344CB8AC3E}">
        <p14:creationId xmlns:p14="http://schemas.microsoft.com/office/powerpoint/2010/main" val="21261212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838200" y="5087259"/>
            <a:ext cx="4781006"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957942" y="2152471"/>
            <a:ext cx="5042263" cy="999376"/>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1.0f</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957941" y="3429000"/>
            <a:ext cx="5042263"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795E26"/>
                </a:solidFill>
                <a:effectLst/>
                <a:latin typeface="Fira Code" panose="020B0809050000020004" pitchFamily="49" charset="0"/>
              </a:rPr>
            </a:b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19124478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636E9FD-247E-1AA7-D6A5-E87E47C53CE2}"/>
              </a:ext>
            </a:extLst>
          </p:cNvPr>
          <p:cNvSpPr/>
          <p:nvPr/>
        </p:nvSpPr>
        <p:spPr>
          <a:xfrm>
            <a:off x="2377440" y="5712822"/>
            <a:ext cx="914400" cy="261257"/>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5E43FD9E-962F-507A-2FBC-11B41B5D5BA8}"/>
              </a:ext>
            </a:extLst>
          </p:cNvPr>
          <p:cNvSpPr/>
          <p:nvPr/>
        </p:nvSpPr>
        <p:spPr>
          <a:xfrm>
            <a:off x="838200" y="4981303"/>
            <a:ext cx="4282440" cy="731520"/>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BB2067E7-3940-E910-DD8D-1BFB7B264AF5}"/>
              </a:ext>
            </a:extLst>
          </p:cNvPr>
          <p:cNvSpPr txBox="1"/>
          <p:nvPr/>
        </p:nvSpPr>
        <p:spPr>
          <a:xfrm>
            <a:off x="838200" y="2047967"/>
            <a:ext cx="4781006"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B17E6F97-71C0-E7B6-3913-C7F1E0B84654}"/>
              </a:ext>
            </a:extLst>
          </p:cNvPr>
          <p:cNvSpPr txBox="1"/>
          <p:nvPr/>
        </p:nvSpPr>
        <p:spPr>
          <a:xfrm>
            <a:off x="838200" y="4290424"/>
            <a:ext cx="4781006" cy="2095061"/>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into_blocks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into_blocks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hoist</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9" name="TextBox 8">
            <a:extLst>
              <a:ext uri="{FF2B5EF4-FFF2-40B4-BE49-F238E27FC236}">
                <a16:creationId xmlns:a16="http://schemas.microsoft.com/office/drawing/2014/main" id="{4F6D6258-7B5D-FB97-F272-7A2D251F6BB0}"/>
              </a:ext>
            </a:extLst>
          </p:cNvPr>
          <p:cNvSpPr txBox="1"/>
          <p:nvPr/>
        </p:nvSpPr>
        <p:spPr>
          <a:xfrm flipH="1">
            <a:off x="7421879" y="4075611"/>
            <a:ext cx="3237412" cy="369332"/>
          </a:xfrm>
          <a:prstGeom prst="rect">
            <a:avLst/>
          </a:prstGeom>
          <a:noFill/>
        </p:spPr>
        <p:txBody>
          <a:bodyPr wrap="square" rtlCol="0">
            <a:spAutoFit/>
          </a:bodyPr>
          <a:lstStyle/>
          <a:p>
            <a:r>
              <a:rPr lang="en-US" noProof="0" dirty="0" err="1"/>
              <a:t>Proste</a:t>
            </a:r>
            <a:r>
              <a:rPr lang="en-US" noProof="0" dirty="0"/>
              <a:t> </a:t>
            </a:r>
            <a:r>
              <a:rPr lang="en-US" noProof="0" dirty="0" err="1"/>
              <a:t>parallelizovana</a:t>
            </a:r>
            <a:r>
              <a:rPr lang="en-US" noProof="0" dirty="0"/>
              <a:t> </a:t>
            </a:r>
            <a:r>
              <a:rPr lang="en-US" noProof="0" dirty="0" err="1"/>
              <a:t>vec</a:t>
            </a:r>
            <a:endParaRPr lang="en-US" noProof="0" dirty="0"/>
          </a:p>
        </p:txBody>
      </p:sp>
    </p:spTree>
    <p:extLst>
      <p:ext uri="{BB962C8B-B14F-4D97-AF65-F5344CB8AC3E}">
        <p14:creationId xmlns:p14="http://schemas.microsoft.com/office/powerpoint/2010/main" val="11176100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Tree>
    <p:extLst>
      <p:ext uri="{BB962C8B-B14F-4D97-AF65-F5344CB8AC3E}">
        <p14:creationId xmlns:p14="http://schemas.microsoft.com/office/powerpoint/2010/main" val="29584069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endParaRPr lang="en-US" noProof="0" dirty="0"/>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3648473" y="3573561"/>
            <a:ext cx="4208444" cy="1949986"/>
          </a:xfrm>
          <a:prstGeom prst="rect">
            <a:avLst/>
          </a:prstGeom>
        </p:spPr>
      </p:pic>
      <p:sp>
        <p:nvSpPr>
          <p:cNvPr id="10" name="Rectangle 9">
            <a:extLst>
              <a:ext uri="{FF2B5EF4-FFF2-40B4-BE49-F238E27FC236}">
                <a16:creationId xmlns:a16="http://schemas.microsoft.com/office/drawing/2014/main" id="{156176CF-A5A8-202F-6D91-07F22B4C343A}"/>
              </a:ext>
            </a:extLst>
          </p:cNvPr>
          <p:cNvSpPr/>
          <p:nvPr/>
        </p:nvSpPr>
        <p:spPr>
          <a:xfrm>
            <a:off x="838200" y="2467778"/>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EF842F52-719B-B662-4BF8-29ED15AC61DB}"/>
              </a:ext>
            </a:extLst>
          </p:cNvPr>
          <p:cNvSpPr/>
          <p:nvPr/>
        </p:nvSpPr>
        <p:spPr>
          <a:xfrm>
            <a:off x="838200" y="4763226"/>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14" name="Straight Arrow Connector 13">
            <a:extLst>
              <a:ext uri="{FF2B5EF4-FFF2-40B4-BE49-F238E27FC236}">
                <a16:creationId xmlns:a16="http://schemas.microsoft.com/office/drawing/2014/main" id="{B602A479-F122-7128-33EA-B0468E099110}"/>
              </a:ext>
            </a:extLst>
          </p:cNvPr>
          <p:cNvCxnSpPr/>
          <p:nvPr/>
        </p:nvCxnSpPr>
        <p:spPr>
          <a:xfrm>
            <a:off x="8020594" y="4484914"/>
            <a:ext cx="12975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C357A183-7240-A9A1-5A5E-E5F000C6DC05}"/>
              </a:ext>
            </a:extLst>
          </p:cNvPr>
          <p:cNvSpPr/>
          <p:nvPr/>
        </p:nvSpPr>
        <p:spPr>
          <a:xfrm>
            <a:off x="9394372" y="3683729"/>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4324489" y="5513019"/>
            <a:ext cx="2856411" cy="979856"/>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7707086" y="5750350"/>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10474420" y="5500211"/>
            <a:ext cx="1099238" cy="1099238"/>
          </a:xfrm>
          <a:prstGeom prst="rect">
            <a:avLst/>
          </a:prstGeom>
        </p:spPr>
      </p:pic>
    </p:spTree>
    <p:extLst>
      <p:ext uri="{BB962C8B-B14F-4D97-AF65-F5344CB8AC3E}">
        <p14:creationId xmlns:p14="http://schemas.microsoft.com/office/powerpoint/2010/main" val="189335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2905836" y="252614"/>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2276224" y="3794899"/>
            <a:ext cx="5117746" cy="2045562"/>
          </a:xfrm>
          <a:prstGeom prst="rect">
            <a:avLst/>
          </a:prstGeom>
        </p:spPr>
      </p:pic>
      <p:pic>
        <p:nvPicPr>
          <p:cNvPr id="9" name="Picture 8">
            <a:extLst>
              <a:ext uri="{FF2B5EF4-FFF2-40B4-BE49-F238E27FC236}">
                <a16:creationId xmlns:a16="http://schemas.microsoft.com/office/drawing/2014/main" id="{8C93F01F-DFCF-8FF5-BB0F-F31857B0A67F}"/>
              </a:ext>
            </a:extLst>
          </p:cNvPr>
          <p:cNvPicPr>
            <a:picLocks noChangeAspect="1"/>
          </p:cNvPicPr>
          <p:nvPr/>
        </p:nvPicPr>
        <p:blipFill>
          <a:blip r:embed="rId5"/>
          <a:stretch>
            <a:fillRect/>
          </a:stretch>
        </p:blipFill>
        <p:spPr>
          <a:xfrm>
            <a:off x="7775531" y="2569047"/>
            <a:ext cx="4410780" cy="2248633"/>
          </a:xfrm>
          <a:prstGeom prst="rect">
            <a:avLst/>
          </a:prstGeom>
        </p:spPr>
      </p:pic>
    </p:spTree>
    <p:extLst>
      <p:ext uri="{BB962C8B-B14F-4D97-AF65-F5344CB8AC3E}">
        <p14:creationId xmlns:p14="http://schemas.microsoft.com/office/powerpoint/2010/main" val="522048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DF7620-7AA1-EF30-FDC7-27AAC7FFE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42AB4-1D66-61B5-41F3-D1C814D6D79F}"/>
              </a:ext>
            </a:extLst>
          </p:cNvPr>
          <p:cNvSpPr>
            <a:spLocks noGrp="1"/>
          </p:cNvSpPr>
          <p:nvPr>
            <p:ph type="title"/>
          </p:nvPr>
        </p:nvSpPr>
        <p:spPr/>
        <p:txBody>
          <a:bodyPr/>
          <a:lstStyle/>
          <a:p>
            <a:r>
              <a:rPr lang="en-US" noProof="0" dirty="0"/>
              <a:t>M &amp; S</a:t>
            </a:r>
          </a:p>
        </p:txBody>
      </p:sp>
      <p:sp>
        <p:nvSpPr>
          <p:cNvPr id="3" name="Content Placeholder 2">
            <a:extLst>
              <a:ext uri="{FF2B5EF4-FFF2-40B4-BE49-F238E27FC236}">
                <a16:creationId xmlns:a16="http://schemas.microsoft.com/office/drawing/2014/main" id="{7FC71ADE-62E2-F5C5-38A6-5FA51E07F94E}"/>
              </a:ext>
            </a:extLst>
          </p:cNvPr>
          <p:cNvSpPr>
            <a:spLocks noGrp="1"/>
          </p:cNvSpPr>
          <p:nvPr>
            <p:ph idx="1"/>
          </p:nvPr>
        </p:nvSpPr>
        <p:spPr/>
        <p:txBody>
          <a:bodyPr/>
          <a:lstStyle/>
          <a:p>
            <a:r>
              <a:rPr lang="en-US" noProof="0" dirty="0"/>
              <a:t>Motivation: GPU &amp; Cluster computing</a:t>
            </a:r>
          </a:p>
          <a:p>
            <a:pPr lvl="1"/>
            <a:r>
              <a:rPr lang="en-US" noProof="0" dirty="0"/>
              <a:t>Too many decisions, complex code (you don’t know) </a:t>
            </a:r>
            <a:r>
              <a:rPr lang="en-US" noProof="0" dirty="0">
                <a:sym typeface="Wingdings" panose="05000000000000000000" pitchFamily="2" charset="2"/>
              </a:rPr>
              <a:t> the problem, it is hard</a:t>
            </a:r>
            <a:endParaRPr lang="en-US" noProof="0" dirty="0"/>
          </a:p>
          <a:p>
            <a:pPr lvl="2"/>
            <a:r>
              <a:rPr lang="en-US" noProof="0" dirty="0"/>
              <a:t>layout options, traversal options, parallelization (Matice, </a:t>
            </a:r>
            <a:r>
              <a:rPr lang="en-US" noProof="0" dirty="0" err="1"/>
              <a:t>pruchod</a:t>
            </a:r>
            <a:r>
              <a:rPr lang="en-US" noProof="0" dirty="0"/>
              <a:t>; </a:t>
            </a:r>
            <a:r>
              <a:rPr lang="en-US" noProof="0" dirty="0" err="1"/>
              <a:t>nasobeni</a:t>
            </a:r>
            <a:r>
              <a:rPr lang="en-US" noProof="0" dirty="0"/>
              <a:t>?)</a:t>
            </a:r>
          </a:p>
          <a:p>
            <a:pPr lvl="2"/>
            <a:r>
              <a:rPr lang="en-US" noProof="0" dirty="0"/>
              <a:t>parameters for the above (block sizes, …)</a:t>
            </a:r>
          </a:p>
          <a:p>
            <a:r>
              <a:rPr lang="en-US" noProof="0" dirty="0"/>
              <a:t>Our solution: Abstraction &amp; automatization </a:t>
            </a:r>
            <a:r>
              <a:rPr lang="en-US" noProof="0" dirty="0">
                <a:sym typeface="Wingdings" panose="05000000000000000000" pitchFamily="2" charset="2"/>
              </a:rPr>
              <a:t> we offer a solution</a:t>
            </a:r>
            <a:endParaRPr lang="en-US" noProof="0" dirty="0"/>
          </a:p>
          <a:p>
            <a:pPr lvl="1"/>
            <a:r>
              <a:rPr lang="en-US" noProof="0" dirty="0"/>
              <a:t>Separation of concerns, independent aspects</a:t>
            </a:r>
          </a:p>
          <a:p>
            <a:pPr lvl="1"/>
            <a:r>
              <a:rPr lang="en-US" noProof="0" dirty="0"/>
              <a:t>Introducing layout-agnostic and traversal-agnostic algorithm design</a:t>
            </a:r>
          </a:p>
          <a:p>
            <a:pPr lvl="1"/>
            <a:r>
              <a:rPr lang="en-US" noProof="0" dirty="0"/>
              <a:t>How the world is saved</a:t>
            </a:r>
          </a:p>
        </p:txBody>
      </p:sp>
    </p:spTree>
    <p:extLst>
      <p:ext uri="{BB962C8B-B14F-4D97-AF65-F5344CB8AC3E}">
        <p14:creationId xmlns:p14="http://schemas.microsoft.com/office/powerpoint/2010/main" val="14089203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4D8EA-565C-C8A0-F333-6EBD085AC735}"/>
              </a:ext>
            </a:extLst>
          </p:cNvPr>
          <p:cNvSpPr>
            <a:spLocks noGrp="1"/>
          </p:cNvSpPr>
          <p:nvPr>
            <p:ph type="title"/>
          </p:nvPr>
        </p:nvSpPr>
        <p:spPr/>
        <p:txBody>
          <a:bodyPr/>
          <a:lstStyle/>
          <a:p>
            <a:r>
              <a:rPr lang="en-US" noProof="0" dirty="0"/>
              <a:t>Proposed abstractions</a:t>
            </a:r>
          </a:p>
        </p:txBody>
      </p:sp>
      <p:sp>
        <p:nvSpPr>
          <p:cNvPr id="3" name="Content Placeholder 2">
            <a:extLst>
              <a:ext uri="{FF2B5EF4-FFF2-40B4-BE49-F238E27FC236}">
                <a16:creationId xmlns:a16="http://schemas.microsoft.com/office/drawing/2014/main" id="{0B0BC514-DFF4-C541-7399-85275B2EB075}"/>
              </a:ext>
            </a:extLst>
          </p:cNvPr>
          <p:cNvSpPr>
            <a:spLocks noGrp="1"/>
          </p:cNvSpPr>
          <p:nvPr>
            <p:ph idx="1"/>
          </p:nvPr>
        </p:nvSpPr>
        <p:spPr/>
        <p:txBody>
          <a:bodyPr/>
          <a:lstStyle/>
          <a:p>
            <a:r>
              <a:rPr lang="en-US" noProof="0" dirty="0"/>
              <a:t>Layout abstractions</a:t>
            </a:r>
          </a:p>
          <a:p>
            <a:r>
              <a:rPr lang="en-US" noProof="0" dirty="0"/>
              <a:t>Traversal abstractions</a:t>
            </a:r>
          </a:p>
          <a:p>
            <a:endParaRPr lang="en-US" noProof="0" dirty="0"/>
          </a:p>
          <a:p>
            <a:r>
              <a:rPr lang="en-US" noProof="0" dirty="0"/>
              <a:t>Extensions</a:t>
            </a:r>
          </a:p>
          <a:p>
            <a:pPr lvl="1"/>
            <a:r>
              <a:rPr lang="en-US" noProof="0" dirty="0"/>
              <a:t>? Practical aspects; </a:t>
            </a:r>
            <a:r>
              <a:rPr lang="en-US" noProof="0" dirty="0">
                <a:sym typeface="Wingdings" panose="05000000000000000000" pitchFamily="2" charset="2"/>
              </a:rPr>
              <a:t> autotuning</a:t>
            </a:r>
            <a:endParaRPr lang="en-US" noProof="0" dirty="0"/>
          </a:p>
          <a:p>
            <a:pPr lvl="1"/>
            <a:r>
              <a:rPr lang="en-US" noProof="0" dirty="0"/>
              <a:t>Distributed computing</a:t>
            </a:r>
          </a:p>
          <a:p>
            <a:endParaRPr lang="en-US" noProof="0" dirty="0"/>
          </a:p>
          <a:p>
            <a:r>
              <a:rPr lang="en-US" noProof="0" dirty="0"/>
              <a:t>Knowledge </a:t>
            </a:r>
            <a:r>
              <a:rPr lang="en-US" noProof="0" dirty="0" err="1"/>
              <a:t>neco</a:t>
            </a:r>
            <a:r>
              <a:rPr lang="en-US" noProof="0" dirty="0"/>
              <a:t> (</a:t>
            </a:r>
            <a:r>
              <a:rPr lang="en-US" noProof="0" dirty="0" err="1"/>
              <a:t>metaprogramovani</a:t>
            </a:r>
            <a:r>
              <a:rPr lang="en-US" noProof="0" dirty="0"/>
              <a:t>, </a:t>
            </a:r>
            <a:r>
              <a:rPr lang="en-US" noProof="0" dirty="0" err="1"/>
              <a:t>stavebni</a:t>
            </a:r>
            <a:r>
              <a:rPr lang="en-US" noProof="0" dirty="0"/>
              <a:t> </a:t>
            </a:r>
            <a:r>
              <a:rPr lang="en-US" noProof="0" dirty="0" err="1"/>
              <a:t>bloky</a:t>
            </a:r>
            <a:r>
              <a:rPr lang="en-US" noProof="0" dirty="0"/>
              <a:t>, </a:t>
            </a:r>
            <a:r>
              <a:rPr lang="en-US" noProof="0" dirty="0" err="1"/>
              <a:t>traversery</a:t>
            </a:r>
            <a:r>
              <a:rPr lang="en-US" noProof="0" dirty="0"/>
              <a:t>?)</a:t>
            </a:r>
          </a:p>
          <a:p>
            <a:pPr lvl="1"/>
            <a:r>
              <a:rPr lang="en-US" noProof="0" dirty="0"/>
              <a:t>CA computations (</a:t>
            </a:r>
          </a:p>
        </p:txBody>
      </p:sp>
    </p:spTree>
    <p:extLst>
      <p:ext uri="{BB962C8B-B14F-4D97-AF65-F5344CB8AC3E}">
        <p14:creationId xmlns:p14="http://schemas.microsoft.com/office/powerpoint/2010/main" val="21951909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noProof="0" dirty="0"/>
              <a:t>Enables optimizing the layouts on each computation node seamlessly</a:t>
            </a:r>
          </a:p>
          <a:p>
            <a:endParaRPr lang="en-US" noProof="0" dirty="0"/>
          </a:p>
        </p:txBody>
      </p:sp>
    </p:spTree>
    <p:extLst>
      <p:ext uri="{BB962C8B-B14F-4D97-AF65-F5344CB8AC3E}">
        <p14:creationId xmlns:p14="http://schemas.microsoft.com/office/powerpoint/2010/main" val="199449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endParaRPr lang="en-US" noProof="0" dirty="0"/>
          </a:p>
        </p:txBody>
      </p:sp>
      <p:sp>
        <p:nvSpPr>
          <p:cNvPr id="19" name="TextBox 18">
            <a:extLst>
              <a:ext uri="{FF2B5EF4-FFF2-40B4-BE49-F238E27FC236}">
                <a16:creationId xmlns:a16="http://schemas.microsoft.com/office/drawing/2014/main" id="{A5213A0B-F2B1-2FBF-0110-D745941C8165}"/>
              </a:ext>
            </a:extLst>
          </p:cNvPr>
          <p:cNvSpPr txBox="1"/>
          <p:nvPr/>
        </p:nvSpPr>
        <p:spPr>
          <a:xfrm>
            <a:off x="5068379" y="3357547"/>
            <a:ext cx="1037463" cy="369332"/>
          </a:xfrm>
          <a:prstGeom prst="rect">
            <a:avLst/>
          </a:prstGeom>
          <a:noFill/>
        </p:spPr>
        <p:txBody>
          <a:bodyPr wrap="none" rtlCol="0">
            <a:spAutoFit/>
          </a:bodyPr>
          <a:lstStyle/>
          <a:p>
            <a:r>
              <a:rPr lang="en-US" noProof="0" dirty="0"/>
              <a:t>MPI type</a:t>
            </a:r>
          </a:p>
        </p:txBody>
      </p:sp>
      <p:sp>
        <p:nvSpPr>
          <p:cNvPr id="20" name="Rectangle 19">
            <a:extLst>
              <a:ext uri="{FF2B5EF4-FFF2-40B4-BE49-F238E27FC236}">
                <a16:creationId xmlns:a16="http://schemas.microsoft.com/office/drawing/2014/main" id="{68DE49E3-54DC-3782-623E-9216D46CB5CE}"/>
              </a:ext>
            </a:extLst>
          </p:cNvPr>
          <p:cNvSpPr/>
          <p:nvPr/>
        </p:nvSpPr>
        <p:spPr>
          <a:xfrm>
            <a:off x="975360" y="2865120"/>
            <a:ext cx="3457303" cy="27083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704012" y="2865120"/>
            <a:ext cx="0" cy="270836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a:stCxn id="20" idx="1"/>
            <a:endCxn id="20" idx="3"/>
          </p:cNvCxnSpPr>
          <p:nvPr/>
        </p:nvCxnSpPr>
        <p:spPr>
          <a:xfrm>
            <a:off x="975360" y="421930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3" name="Right Brace 32">
            <a:extLst>
              <a:ext uri="{FF2B5EF4-FFF2-40B4-BE49-F238E27FC236}">
                <a16:creationId xmlns:a16="http://schemas.microsoft.com/office/drawing/2014/main" id="{EEEB8DE7-AB06-ECAC-C59A-47F2BA36D502}"/>
              </a:ext>
            </a:extLst>
          </p:cNvPr>
          <p:cNvSpPr/>
          <p:nvPr/>
        </p:nvSpPr>
        <p:spPr>
          <a:xfrm>
            <a:off x="4580708" y="2865123"/>
            <a:ext cx="339626" cy="135418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cxnSp>
        <p:nvCxnSpPr>
          <p:cNvPr id="35" name="Straight Connector 34">
            <a:extLst>
              <a:ext uri="{FF2B5EF4-FFF2-40B4-BE49-F238E27FC236}">
                <a16:creationId xmlns:a16="http://schemas.microsoft.com/office/drawing/2014/main" id="{5769E367-8977-3525-B957-1C2C939268D0}"/>
              </a:ext>
            </a:extLst>
          </p:cNvPr>
          <p:cNvCxnSpPr/>
          <p:nvPr/>
        </p:nvCxnSpPr>
        <p:spPr>
          <a:xfrm>
            <a:off x="1776549" y="3622766"/>
            <a:ext cx="3810561" cy="25429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a:off x="3587931" y="3622766"/>
            <a:ext cx="1999179" cy="25429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a:off x="1776549" y="5042263"/>
            <a:ext cx="3810561" cy="11091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5621944" y="5981003"/>
            <a:ext cx="3115661" cy="369332"/>
          </a:xfrm>
          <a:prstGeom prst="rect">
            <a:avLst/>
          </a:prstGeom>
          <a:noFill/>
        </p:spPr>
        <p:txBody>
          <a:bodyPr wrap="none" rtlCol="0">
            <a:spAutoFit/>
          </a:bodyPr>
          <a:lstStyle/>
          <a:p>
            <a:r>
              <a:rPr lang="en-US" noProof="0" dirty="0"/>
              <a:t>Binding to MPI communicator</a:t>
            </a:r>
          </a:p>
        </p:txBody>
      </p:sp>
      <p:sp>
        <p:nvSpPr>
          <p:cNvPr id="44" name="TextBox 43">
            <a:extLst>
              <a:ext uri="{FF2B5EF4-FFF2-40B4-BE49-F238E27FC236}">
                <a16:creationId xmlns:a16="http://schemas.microsoft.com/office/drawing/2014/main" id="{00612D55-36C9-6C61-DF21-5AA00D7D6F03}"/>
              </a:ext>
            </a:extLst>
          </p:cNvPr>
          <p:cNvSpPr txBox="1"/>
          <p:nvPr/>
        </p:nvSpPr>
        <p:spPr>
          <a:xfrm>
            <a:off x="1776549" y="2211977"/>
            <a:ext cx="1398268" cy="369332"/>
          </a:xfrm>
          <a:prstGeom prst="rect">
            <a:avLst/>
          </a:prstGeom>
          <a:noFill/>
        </p:spPr>
        <p:txBody>
          <a:bodyPr wrap="none" rtlCol="0">
            <a:spAutoFit/>
          </a:bodyPr>
          <a:lstStyle/>
          <a:p>
            <a:r>
              <a:rPr lang="en-US" noProof="0" dirty="0">
                <a:solidFill>
                  <a:srgbClr val="FF0000"/>
                </a:solidFill>
              </a:rPr>
              <a:t>TODO </a:t>
            </a:r>
            <a:r>
              <a:rPr lang="en-US" noProof="0" dirty="0" err="1">
                <a:solidFill>
                  <a:srgbClr val="FF0000"/>
                </a:solidFill>
              </a:rPr>
              <a:t>Noarr</a:t>
            </a:r>
            <a:endParaRPr lang="en-US" noProof="0" dirty="0">
              <a:solidFill>
                <a:srgbClr val="FF0000"/>
              </a:solidFill>
            </a:endParaRPr>
          </a:p>
        </p:txBody>
      </p:sp>
      <p:sp>
        <p:nvSpPr>
          <p:cNvPr id="46" name="TextBox 45">
            <a:extLst>
              <a:ext uri="{FF2B5EF4-FFF2-40B4-BE49-F238E27FC236}">
                <a16:creationId xmlns:a16="http://schemas.microsoft.com/office/drawing/2014/main" id="{4C65FA3D-9669-4004-2E6D-A1DA7F591C7C}"/>
              </a:ext>
            </a:extLst>
          </p:cNvPr>
          <p:cNvSpPr txBox="1"/>
          <p:nvPr/>
        </p:nvSpPr>
        <p:spPr>
          <a:xfrm>
            <a:off x="6388299" y="3357547"/>
            <a:ext cx="2638992" cy="369332"/>
          </a:xfrm>
          <a:prstGeom prst="rect">
            <a:avLst/>
          </a:prstGeom>
          <a:noFill/>
        </p:spPr>
        <p:txBody>
          <a:bodyPr wrap="none" rtlCol="0">
            <a:spAutoFit/>
          </a:bodyPr>
          <a:lstStyle/>
          <a:p>
            <a:r>
              <a:rPr lang="en-US" noProof="0" dirty="0">
                <a:solidFill>
                  <a:srgbClr val="FF0000"/>
                </a:solidFill>
              </a:rPr>
              <a:t>TODO actual description</a:t>
            </a:r>
          </a:p>
        </p:txBody>
      </p:sp>
      <p:sp>
        <p:nvSpPr>
          <p:cNvPr id="48" name="TextBox 47">
            <a:extLst>
              <a:ext uri="{FF2B5EF4-FFF2-40B4-BE49-F238E27FC236}">
                <a16:creationId xmlns:a16="http://schemas.microsoft.com/office/drawing/2014/main" id="{F5881909-F7F8-DD2C-3387-287BA8E13CE5}"/>
              </a:ext>
            </a:extLst>
          </p:cNvPr>
          <p:cNvSpPr txBox="1"/>
          <p:nvPr/>
        </p:nvSpPr>
        <p:spPr>
          <a:xfrm>
            <a:off x="5860278" y="6308209"/>
            <a:ext cx="2074735" cy="369332"/>
          </a:xfrm>
          <a:prstGeom prst="rect">
            <a:avLst/>
          </a:prstGeom>
          <a:noFill/>
        </p:spPr>
        <p:txBody>
          <a:bodyPr wrap="none" rtlCol="0">
            <a:spAutoFit/>
          </a:bodyPr>
          <a:lstStyle/>
          <a:p>
            <a:r>
              <a:rPr lang="en-US" noProof="0" dirty="0">
                <a:solidFill>
                  <a:srgbClr val="FF0000"/>
                </a:solidFill>
              </a:rPr>
              <a:t>TODO the mapping</a:t>
            </a:r>
          </a:p>
        </p:txBody>
      </p:sp>
      <p:sp>
        <p:nvSpPr>
          <p:cNvPr id="50" name="TextBox 49">
            <a:extLst>
              <a:ext uri="{FF2B5EF4-FFF2-40B4-BE49-F238E27FC236}">
                <a16:creationId xmlns:a16="http://schemas.microsoft.com/office/drawing/2014/main" id="{F37A857B-EB77-6965-42EF-0448615590BE}"/>
              </a:ext>
            </a:extLst>
          </p:cNvPr>
          <p:cNvSpPr txBox="1"/>
          <p:nvPr/>
        </p:nvSpPr>
        <p:spPr>
          <a:xfrm>
            <a:off x="7536678" y="4299943"/>
            <a:ext cx="3880229" cy="369332"/>
          </a:xfrm>
          <a:prstGeom prst="rect">
            <a:avLst/>
          </a:prstGeom>
          <a:noFill/>
        </p:spPr>
        <p:txBody>
          <a:bodyPr wrap="none" rtlCol="0">
            <a:spAutoFit/>
          </a:bodyPr>
          <a:lstStyle/>
          <a:p>
            <a:r>
              <a:rPr lang="en-US" noProof="0" dirty="0">
                <a:solidFill>
                  <a:srgbClr val="FF0000"/>
                </a:solidFill>
              </a:rPr>
              <a:t>TODO this can be done automatically</a:t>
            </a:r>
          </a:p>
        </p:txBody>
      </p:sp>
    </p:spTree>
    <p:extLst>
      <p:ext uri="{BB962C8B-B14F-4D97-AF65-F5344CB8AC3E}">
        <p14:creationId xmlns:p14="http://schemas.microsoft.com/office/powerpoint/2010/main" val="33990220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29051-C55D-C6C6-0632-56BEDC62718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AF9FE65-1712-5072-CF69-47E693209BEE}"/>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8F88950C-287E-7FB4-0D76-46A8FCD9878F}"/>
              </a:ext>
            </a:extLst>
          </p:cNvPr>
          <p:cNvSpPr txBox="1"/>
          <p:nvPr/>
        </p:nvSpPr>
        <p:spPr>
          <a:xfrm>
            <a:off x="838200" y="3280230"/>
            <a:ext cx="4781006" cy="2095061"/>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t>
            </a:r>
            <a:r>
              <a:rPr lang="en-US" sz="1050" noProof="0" dirty="0" err="1">
                <a:solidFill>
                  <a:srgbClr val="795E26"/>
                </a:solidFill>
                <a:latin typeface="Fira Code" panose="020B0809050000020004" pitchFamily="49" charset="0"/>
              </a:rPr>
              <a:t>into_blocks</a:t>
            </a:r>
            <a:r>
              <a:rPr lang="en-US" sz="1050" noProof="0" dirty="0">
                <a:solidFill>
                  <a:srgbClr val="000000"/>
                </a:solidFill>
                <a:latin typeface="Fira Code" panose="020B0809050000020004" pitchFamily="49" charset="0"/>
              </a:rPr>
              <a:t>&lt;</a:t>
            </a:r>
            <a:r>
              <a:rPr lang="en-US" sz="1050" noProof="0" dirty="0">
                <a:solidFill>
                  <a:srgbClr val="A31515"/>
                </a:solidFill>
                <a:latin typeface="Fira Code" panose="020B0809050000020004" pitchFamily="49" charset="0"/>
              </a:rPr>
              <a:t>'m'</a:t>
            </a:r>
            <a:r>
              <a:rPr lang="en-US" sz="1050" noProof="0" dirty="0">
                <a:solidFill>
                  <a:srgbClr val="000000"/>
                </a:solidFill>
                <a:latin typeface="Fira Code" panose="020B0809050000020004" pitchFamily="49" charset="0"/>
              </a:rPr>
              <a:t>, </a:t>
            </a:r>
            <a:r>
              <a:rPr lang="en-US" sz="1050" noProof="0" dirty="0">
                <a:solidFill>
                  <a:srgbClr val="A31515"/>
                </a:solidFill>
                <a:latin typeface="Fira Code" panose="020B0809050000020004" pitchFamily="49" charset="0"/>
              </a:rPr>
              <a:t>'M'</a:t>
            </a:r>
            <a:r>
              <a:rPr lang="en-US" sz="1050" noProof="0" dirty="0">
                <a:solidFill>
                  <a:srgbClr val="000000"/>
                </a:solidFill>
                <a:latin typeface="Fira Code" panose="020B0809050000020004" pitchFamily="49" charset="0"/>
              </a:rPr>
              <a:t>&gt;()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noProof="0" dirty="0" err="1">
                <a:solidFill>
                  <a:srgbClr val="795E26"/>
                </a:solidFill>
                <a:latin typeface="Fira Code" panose="020B0809050000020004" pitchFamily="49" charset="0"/>
              </a:rPr>
              <a:t>mpi_bind</a:t>
            </a:r>
            <a:r>
              <a:rPr lang="en-US" sz="1050" noProof="0" dirty="0">
                <a:solidFill>
                  <a:srgbClr val="000000"/>
                </a:solidFill>
                <a:latin typeface="Fira Code" panose="020B0809050000020004" pitchFamily="49" charset="0"/>
              </a:rPr>
              <a:t>&lt;</a:t>
            </a:r>
            <a:r>
              <a:rPr lang="en-US" sz="1050" noProof="0" dirty="0">
                <a:solidFill>
                  <a:srgbClr val="A31515"/>
                </a:solidFill>
                <a:latin typeface="Fira Code" panose="020B0809050000020004" pitchFamily="49" charset="0"/>
              </a:rPr>
              <a:t>'M’</a:t>
            </a:r>
            <a:r>
              <a:rPr lang="en-US" sz="1050" noProof="0" dirty="0">
                <a:solidFill>
                  <a:srgbClr val="000000"/>
                </a:solidFill>
                <a:latin typeface="Fira Code" panose="020B0809050000020004" pitchFamily="49" charset="0"/>
              </a:rPr>
              <a:t>&gt;(COMMUNICATOR) ^</a:t>
            </a: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hoist</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7" name="TextBox 6">
            <a:extLst>
              <a:ext uri="{FF2B5EF4-FFF2-40B4-BE49-F238E27FC236}">
                <a16:creationId xmlns:a16="http://schemas.microsoft.com/office/drawing/2014/main" id="{03BE4FC0-B7FD-D320-3766-50AA66B9FE4E}"/>
              </a:ext>
            </a:extLst>
          </p:cNvPr>
          <p:cNvSpPr txBox="1"/>
          <p:nvPr/>
        </p:nvSpPr>
        <p:spPr>
          <a:xfrm>
            <a:off x="4282440" y="3936274"/>
            <a:ext cx="2673532" cy="646331"/>
          </a:xfrm>
          <a:prstGeom prst="rect">
            <a:avLst/>
          </a:prstGeom>
          <a:noFill/>
        </p:spPr>
        <p:txBody>
          <a:bodyPr wrap="square" rtlCol="0">
            <a:spAutoFit/>
          </a:bodyPr>
          <a:lstStyle/>
          <a:p>
            <a:r>
              <a:rPr lang="en-US" noProof="0" dirty="0">
                <a:solidFill>
                  <a:srgbClr val="FF0000"/>
                </a:solidFill>
              </a:rPr>
              <a:t>TODO: COPY FROM THE ARTIFACT</a:t>
            </a:r>
          </a:p>
        </p:txBody>
      </p:sp>
      <p:cxnSp>
        <p:nvCxnSpPr>
          <p:cNvPr id="9" name="Straight Arrow Connector 8">
            <a:extLst>
              <a:ext uri="{FF2B5EF4-FFF2-40B4-BE49-F238E27FC236}">
                <a16:creationId xmlns:a16="http://schemas.microsoft.com/office/drawing/2014/main" id="{B99C109E-171A-6E48-B037-3009F35E3E49}"/>
              </a:ext>
            </a:extLst>
          </p:cNvPr>
          <p:cNvCxnSpPr/>
          <p:nvPr/>
        </p:nvCxnSpPr>
        <p:spPr>
          <a:xfrm flipV="1">
            <a:off x="6096000" y="2760617"/>
            <a:ext cx="2194560" cy="7489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FCAEE460-F635-1C27-9B25-A6B4548995A8}"/>
              </a:ext>
            </a:extLst>
          </p:cNvPr>
          <p:cNvCxnSpPr>
            <a:cxnSpLocks/>
          </p:cNvCxnSpPr>
          <p:nvPr/>
        </p:nvCxnSpPr>
        <p:spPr>
          <a:xfrm>
            <a:off x="6955972" y="4258491"/>
            <a:ext cx="1395548" cy="94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DFDAD778-041C-142A-9B74-7A0854065A9D}"/>
              </a:ext>
            </a:extLst>
          </p:cNvPr>
          <p:cNvCxnSpPr>
            <a:cxnSpLocks/>
          </p:cNvCxnSpPr>
          <p:nvPr/>
        </p:nvCxnSpPr>
        <p:spPr>
          <a:xfrm>
            <a:off x="6751320" y="5008376"/>
            <a:ext cx="1539240" cy="6696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9BE1F9E-2544-9BDB-5CC7-E47187F05A6E}"/>
              </a:ext>
            </a:extLst>
          </p:cNvPr>
          <p:cNvSpPr txBox="1"/>
          <p:nvPr/>
        </p:nvSpPr>
        <p:spPr>
          <a:xfrm>
            <a:off x="8429898" y="2575951"/>
            <a:ext cx="904671" cy="369332"/>
          </a:xfrm>
          <a:prstGeom prst="rect">
            <a:avLst/>
          </a:prstGeom>
          <a:noFill/>
        </p:spPr>
        <p:txBody>
          <a:bodyPr wrap="none" rtlCol="0">
            <a:spAutoFit/>
          </a:bodyPr>
          <a:lstStyle/>
          <a:p>
            <a:r>
              <a:rPr lang="en-US" noProof="0" dirty="0"/>
              <a:t>Scatter</a:t>
            </a:r>
          </a:p>
        </p:txBody>
      </p:sp>
      <p:sp>
        <p:nvSpPr>
          <p:cNvPr id="16" name="TextBox 15">
            <a:extLst>
              <a:ext uri="{FF2B5EF4-FFF2-40B4-BE49-F238E27FC236}">
                <a16:creationId xmlns:a16="http://schemas.microsoft.com/office/drawing/2014/main" id="{ED7CD3EF-9BE9-5D50-D214-6FD467C00A95}"/>
              </a:ext>
            </a:extLst>
          </p:cNvPr>
          <p:cNvSpPr txBox="1"/>
          <p:nvPr/>
        </p:nvSpPr>
        <p:spPr>
          <a:xfrm>
            <a:off x="8429897" y="4073825"/>
            <a:ext cx="1122871" cy="369332"/>
          </a:xfrm>
          <a:prstGeom prst="rect">
            <a:avLst/>
          </a:prstGeom>
          <a:noFill/>
        </p:spPr>
        <p:txBody>
          <a:bodyPr wrap="none" rtlCol="0">
            <a:spAutoFit/>
          </a:bodyPr>
          <a:lstStyle/>
          <a:p>
            <a:r>
              <a:rPr lang="en-US" noProof="0" dirty="0"/>
              <a:t>Compute</a:t>
            </a:r>
          </a:p>
        </p:txBody>
      </p:sp>
      <p:sp>
        <p:nvSpPr>
          <p:cNvPr id="18" name="TextBox 17">
            <a:extLst>
              <a:ext uri="{FF2B5EF4-FFF2-40B4-BE49-F238E27FC236}">
                <a16:creationId xmlns:a16="http://schemas.microsoft.com/office/drawing/2014/main" id="{63B12673-26DD-6FEE-1502-219CF700DF05}"/>
              </a:ext>
            </a:extLst>
          </p:cNvPr>
          <p:cNvSpPr txBox="1"/>
          <p:nvPr/>
        </p:nvSpPr>
        <p:spPr>
          <a:xfrm>
            <a:off x="8447081" y="5493323"/>
            <a:ext cx="870303" cy="369332"/>
          </a:xfrm>
          <a:prstGeom prst="rect">
            <a:avLst/>
          </a:prstGeom>
          <a:noFill/>
        </p:spPr>
        <p:txBody>
          <a:bodyPr wrap="none" rtlCol="0">
            <a:spAutoFit/>
          </a:bodyPr>
          <a:lstStyle/>
          <a:p>
            <a:r>
              <a:rPr lang="en-US" noProof="0" dirty="0"/>
              <a:t>Gather</a:t>
            </a:r>
          </a:p>
        </p:txBody>
      </p:sp>
    </p:spTree>
    <p:extLst>
      <p:ext uri="{BB962C8B-B14F-4D97-AF65-F5344CB8AC3E}">
        <p14:creationId xmlns:p14="http://schemas.microsoft.com/office/powerpoint/2010/main" val="3576227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2" name="Rectangle 1">
            <a:extLst>
              <a:ext uri="{FF2B5EF4-FFF2-40B4-BE49-F238E27FC236}">
                <a16:creationId xmlns:a16="http://schemas.microsoft.com/office/drawing/2014/main" id="{5078614E-A6EB-B58F-B6F8-B17BCC956B35}"/>
              </a:ext>
            </a:extLst>
          </p:cNvPr>
          <p:cNvSpPr/>
          <p:nvPr/>
        </p:nvSpPr>
        <p:spPr>
          <a:xfrm>
            <a:off x="1480457" y="2592977"/>
            <a:ext cx="1968137" cy="2360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Rectangle 4">
            <a:extLst>
              <a:ext uri="{FF2B5EF4-FFF2-40B4-BE49-F238E27FC236}">
                <a16:creationId xmlns:a16="http://schemas.microsoft.com/office/drawing/2014/main" id="{EF378A81-CAFE-54BD-887A-F06DC9BF4A37}"/>
              </a:ext>
            </a:extLst>
          </p:cNvPr>
          <p:cNvSpPr/>
          <p:nvPr/>
        </p:nvSpPr>
        <p:spPr>
          <a:xfrm rot="16200000">
            <a:off x="7863841" y="2521131"/>
            <a:ext cx="1968137" cy="2360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1523643" y="2081348"/>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7948720" y="2284215"/>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0" name="Rectangle 9">
            <a:extLst>
              <a:ext uri="{FF2B5EF4-FFF2-40B4-BE49-F238E27FC236}">
                <a16:creationId xmlns:a16="http://schemas.microsoft.com/office/drawing/2014/main" id="{92B3BAE0-1817-336E-2191-5401BAB3AF67}"/>
              </a:ext>
            </a:extLst>
          </p:cNvPr>
          <p:cNvSpPr/>
          <p:nvPr/>
        </p:nvSpPr>
        <p:spPr>
          <a:xfrm>
            <a:off x="1606731" y="5016527"/>
            <a:ext cx="1968137" cy="2360023"/>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C75B32D4-98DA-65FF-8827-23DC482C05DB}"/>
              </a:ext>
            </a:extLst>
          </p:cNvPr>
          <p:cNvSpPr/>
          <p:nvPr/>
        </p:nvSpPr>
        <p:spPr>
          <a:xfrm rot="16200000">
            <a:off x="7990115" y="4944681"/>
            <a:ext cx="1968137" cy="2360023"/>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39C9CAD-9E1E-7EC1-4429-D017CA1092E1}"/>
              </a:ext>
            </a:extLst>
          </p:cNvPr>
          <p:cNvSpPr txBox="1"/>
          <p:nvPr/>
        </p:nvSpPr>
        <p:spPr>
          <a:xfrm>
            <a:off x="5164183" y="3962400"/>
            <a:ext cx="425116" cy="369332"/>
          </a:xfrm>
          <a:prstGeom prst="rect">
            <a:avLst/>
          </a:prstGeom>
          <a:noFill/>
        </p:spPr>
        <p:txBody>
          <a:bodyPr wrap="none" rtlCol="0">
            <a:spAutoFit/>
          </a:bodyPr>
          <a:lstStyle/>
          <a:p>
            <a:r>
              <a:rPr lang="en-US" noProof="0" dirty="0"/>
              <a:t>us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5103223" y="6096000"/>
            <a:ext cx="713016" cy="369332"/>
          </a:xfrm>
          <a:prstGeom prst="rect">
            <a:avLst/>
          </a:prstGeom>
          <a:noFill/>
        </p:spPr>
        <p:txBody>
          <a:bodyPr wrap="none" rtlCol="0">
            <a:spAutoFit/>
          </a:bodyPr>
          <a:lstStyle/>
          <a:p>
            <a:r>
              <a:rPr lang="en-US" noProof="0" dirty="0"/>
              <a:t>naive</a:t>
            </a:r>
          </a:p>
        </p:txBody>
      </p:sp>
    </p:spTree>
    <p:extLst>
      <p:ext uri="{BB962C8B-B14F-4D97-AF65-F5344CB8AC3E}">
        <p14:creationId xmlns:p14="http://schemas.microsoft.com/office/powerpoint/2010/main" val="14841515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2940615" y="3429000"/>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4121330" y="1293295"/>
            <a:ext cx="6725589" cy="1886213"/>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noProof="0" dirty="0"/>
              <a:t>Layout &amp; encoding options (! bit-packing)</a:t>
            </a:r>
          </a:p>
          <a:p>
            <a:pPr lvl="1"/>
            <a:r>
              <a:rPr lang="en-US" noProof="0" dirty="0"/>
              <a:t>Evaluation options (! bit-wise vectorization)</a:t>
            </a:r>
          </a:p>
          <a:p>
            <a:pPr lvl="1"/>
            <a:r>
              <a:rPr lang="en-US" noProof="0" dirty="0"/>
              <a:t>Traversal options (incl. parallelism)</a:t>
            </a:r>
          </a:p>
          <a:p>
            <a:r>
              <a:rPr lang="en-US" noProof="0" dirty="0"/>
              <a:t>Agnostic design of CA computation rules</a:t>
            </a:r>
          </a:p>
          <a:p>
            <a:r>
              <a:rPr lang="en-US" noProof="0" dirty="0"/>
              <a:t>Faster development, experimentation (optimization)</a:t>
            </a:r>
          </a:p>
        </p:txBody>
      </p:sp>
    </p:spTree>
    <p:extLst>
      <p:ext uri="{BB962C8B-B14F-4D97-AF65-F5344CB8AC3E}">
        <p14:creationId xmlns:p14="http://schemas.microsoft.com/office/powerpoint/2010/main" val="34660364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5922BE7C-0751-598B-C00C-8B9564A9A09D}"/>
              </a:ext>
            </a:extLst>
          </p:cNvPr>
          <p:cNvSpPr/>
          <p:nvPr/>
        </p:nvSpPr>
        <p:spPr>
          <a:xfrm>
            <a:off x="4781005" y="326571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AEA9C9FB-1277-8D57-811D-B860C44F7929}"/>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181C6AE7-0A9D-76DD-6363-A2D7AD1912DB}"/>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EF6FEBD1-39F5-0475-1030-D2D0EBD8CB03}"/>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55FF3AEE-E135-1E62-5EDC-53066AD1A802}"/>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ABE75C30-5A1B-8AB4-A106-0A24D6AFEED2}"/>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8BD9587A-59F8-C7D4-6205-B1DE445BF524}"/>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CD844549-BDD8-ABCA-0C10-F904D442B53D}"/>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02D95BA9-E80B-25A8-64B6-B250EDD29F8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205EDB32-F4D4-CE69-B94B-87DE173BBCC4}"/>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960071AA-70B7-F66C-A4F3-77C62F0CCFA4}"/>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71165215-9458-D01B-8A4E-1683A85CA7BD}"/>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B466C9A0-18FB-0223-312F-7A0630D284B3}"/>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B1DD5F4C-3F36-7C17-D1E9-890B3B91F3E5}"/>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B24B6ACB-6D95-84C9-74D2-FD0339E4EF18}"/>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C3B35AA-31C5-70E2-7586-77C8AC6BD2CC}"/>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BE1D6BE9-114F-6743-FE27-0C964FC068D9}"/>
              </a:ext>
            </a:extLst>
          </p:cNvPr>
          <p:cNvSpPr txBox="1"/>
          <p:nvPr/>
        </p:nvSpPr>
        <p:spPr>
          <a:xfrm>
            <a:off x="5638416" y="4591597"/>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C012ADAE-C88E-F73E-63B5-BC5F78EE7D8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Tree>
    <p:extLst>
      <p:ext uri="{BB962C8B-B14F-4D97-AF65-F5344CB8AC3E}">
        <p14:creationId xmlns:p14="http://schemas.microsoft.com/office/powerpoint/2010/main" val="26305399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58894841-195F-D09C-28C7-7B371479C892}"/>
              </a:ext>
            </a:extLst>
          </p:cNvPr>
          <p:cNvPicPr>
            <a:picLocks noChangeAspect="1"/>
          </p:cNvPicPr>
          <p:nvPr/>
        </p:nvPicPr>
        <p:blipFill>
          <a:blip r:embed="rId3"/>
          <a:stretch>
            <a:fillRect/>
          </a:stretch>
        </p:blipFill>
        <p:spPr>
          <a:xfrm>
            <a:off x="685451" y="2850657"/>
            <a:ext cx="4991797" cy="2505425"/>
          </a:xfrm>
          <a:prstGeom prst="rect">
            <a:avLst/>
          </a:prstGeom>
        </p:spPr>
      </p:pic>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4"/>
          <a:stretch>
            <a:fillRect/>
          </a:stretch>
        </p:blipFill>
        <p:spPr>
          <a:xfrm>
            <a:off x="6015990" y="1690688"/>
            <a:ext cx="5687436" cy="2098628"/>
          </a:xfrm>
          <a:prstGeom prst="rect">
            <a:avLst/>
          </a:prstGeom>
        </p:spPr>
      </p:pic>
    </p:spTree>
    <p:extLst>
      <p:ext uri="{BB962C8B-B14F-4D97-AF65-F5344CB8AC3E}">
        <p14:creationId xmlns:p14="http://schemas.microsoft.com/office/powerpoint/2010/main" val="13104121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D8E19-FCBD-3C1F-9804-55F9EF315364}"/>
              </a:ext>
            </a:extLst>
          </p:cNvPr>
          <p:cNvSpPr>
            <a:spLocks noGrp="1"/>
          </p:cNvSpPr>
          <p:nvPr>
            <p:ph type="title"/>
          </p:nvPr>
        </p:nvSpPr>
        <p:spPr/>
        <p:txBody>
          <a:bodyPr/>
          <a:lstStyle/>
          <a:p>
            <a:r>
              <a:rPr lang="en-US" noProof="0" dirty="0"/>
              <a:t>LLMs in algorithm design</a:t>
            </a:r>
          </a:p>
        </p:txBody>
      </p:sp>
      <p:sp>
        <p:nvSpPr>
          <p:cNvPr id="3" name="Content Placeholder 2">
            <a:extLst>
              <a:ext uri="{FF2B5EF4-FFF2-40B4-BE49-F238E27FC236}">
                <a16:creationId xmlns:a16="http://schemas.microsoft.com/office/drawing/2014/main" id="{64F2D09B-2F00-3457-9D41-D2EAB2BD84E5}"/>
              </a:ext>
            </a:extLst>
          </p:cNvPr>
          <p:cNvSpPr>
            <a:spLocks noGrp="1"/>
          </p:cNvSpPr>
          <p:nvPr>
            <p:ph idx="1"/>
          </p:nvPr>
        </p:nvSpPr>
        <p:spPr/>
        <p:txBody>
          <a:bodyPr/>
          <a:lstStyle/>
          <a:p>
            <a:r>
              <a:rPr lang="en-US" noProof="0" dirty="0"/>
              <a:t>Tutoring LLMs for CUDA optimization</a:t>
            </a:r>
          </a:p>
          <a:p>
            <a:r>
              <a:rPr lang="en-US" noProof="0" dirty="0"/>
              <a:t>LLMs and abstractions</a:t>
            </a:r>
          </a:p>
        </p:txBody>
      </p:sp>
    </p:spTree>
    <p:extLst>
      <p:ext uri="{BB962C8B-B14F-4D97-AF65-F5344CB8AC3E}">
        <p14:creationId xmlns:p14="http://schemas.microsoft.com/office/powerpoint/2010/main" val="6458101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4D79-2E52-80F7-0541-30A0EEC45CA4}"/>
              </a:ext>
            </a:extLst>
          </p:cNvPr>
          <p:cNvSpPr>
            <a:spLocks noGrp="1"/>
          </p:cNvSpPr>
          <p:nvPr>
            <p:ph type="title"/>
          </p:nvPr>
        </p:nvSpPr>
        <p:spPr/>
        <p:txBody>
          <a:bodyPr/>
          <a:lstStyle/>
          <a:p>
            <a:r>
              <a:rPr lang="en-US" noProof="0" dirty="0"/>
              <a:t>Tutoring LLMs</a:t>
            </a:r>
          </a:p>
        </p:txBody>
      </p:sp>
      <p:sp>
        <p:nvSpPr>
          <p:cNvPr id="3" name="Content Placeholder 2">
            <a:extLst>
              <a:ext uri="{FF2B5EF4-FFF2-40B4-BE49-F238E27FC236}">
                <a16:creationId xmlns:a16="http://schemas.microsoft.com/office/drawing/2014/main" id="{5EC62719-077B-686B-2F9B-914035C8221C}"/>
              </a:ext>
            </a:extLst>
          </p:cNvPr>
          <p:cNvSpPr>
            <a:spLocks noGrp="1"/>
          </p:cNvSpPr>
          <p:nvPr>
            <p:ph idx="1"/>
          </p:nvPr>
        </p:nvSpPr>
        <p:spPr/>
        <p:txBody>
          <a:bodyPr>
            <a:normAutofit fontScale="92500" lnSpcReduction="20000"/>
          </a:bodyPr>
          <a:lstStyle/>
          <a:p>
            <a:r>
              <a:rPr lang="en-US" noProof="0" dirty="0"/>
              <a:t>The goal was always better automation/generalization of design and tuning</a:t>
            </a:r>
          </a:p>
          <a:p>
            <a:r>
              <a:rPr lang="en-US" noProof="0" dirty="0"/>
              <a:t>LLMs started to be surprisingly competent code generators</a:t>
            </a:r>
          </a:p>
          <a:p>
            <a:pPr lvl="1"/>
            <a:r>
              <a:rPr lang="en-US" noProof="0" dirty="0"/>
              <a:t>Not reliable, but extremely flexible, generalizable, simple to use (e.g., understanding natural language)</a:t>
            </a:r>
          </a:p>
          <a:p>
            <a:r>
              <a:rPr lang="en-US" noProof="0" dirty="0"/>
              <a:t>Core assumption for the study: LLMs are not very good in high-</a:t>
            </a:r>
            <a:r>
              <a:rPr lang="en-US" noProof="0" dirty="0" err="1"/>
              <a:t>lvl</a:t>
            </a:r>
            <a:r>
              <a:rPr lang="en-US" noProof="0" dirty="0"/>
              <a:t> decisions</a:t>
            </a:r>
          </a:p>
          <a:p>
            <a:r>
              <a:rPr lang="en-US" noProof="0" dirty="0"/>
              <a:t>Tutoring = improving quality of generated code by design suggestions/directions</a:t>
            </a:r>
          </a:p>
          <a:p>
            <a:r>
              <a:rPr lang="en-US" noProof="0" dirty="0"/>
              <a:t>Key findings:</a:t>
            </a:r>
          </a:p>
          <a:p>
            <a:pPr lvl="1"/>
            <a:r>
              <a:rPr lang="en-US" noProof="0" dirty="0"/>
              <a:t>Intricate relationship between algorithm complexity and this effect on an LLM</a:t>
            </a:r>
          </a:p>
          <a:p>
            <a:pPr lvl="1"/>
            <a:r>
              <a:rPr lang="en-US" noProof="0" dirty="0"/>
              <a:t>Improvement over time: the effect changes with each new model</a:t>
            </a:r>
          </a:p>
        </p:txBody>
      </p:sp>
    </p:spTree>
    <p:extLst>
      <p:ext uri="{BB962C8B-B14F-4D97-AF65-F5344CB8AC3E}">
        <p14:creationId xmlns:p14="http://schemas.microsoft.com/office/powerpoint/2010/main" val="26671222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a:t>
            </a:r>
          </a:p>
        </p:txBody>
      </p:sp>
      <p:sp>
        <p:nvSpPr>
          <p:cNvPr id="4" name="Rectangle 3">
            <a:extLst>
              <a:ext uri="{FF2B5EF4-FFF2-40B4-BE49-F238E27FC236}">
                <a16:creationId xmlns:a16="http://schemas.microsoft.com/office/drawing/2014/main" id="{9EA05739-3E4B-E17F-7391-6E54881710A4}"/>
              </a:ext>
            </a:extLst>
          </p:cNvPr>
          <p:cNvSpPr/>
          <p:nvPr/>
        </p:nvSpPr>
        <p:spPr>
          <a:xfrm>
            <a:off x="838200" y="2082188"/>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 prompt</a:t>
            </a:r>
          </a:p>
        </p:txBody>
      </p:sp>
      <p:sp>
        <p:nvSpPr>
          <p:cNvPr id="6" name="Rectangle 5">
            <a:extLst>
              <a:ext uri="{FF2B5EF4-FFF2-40B4-BE49-F238E27FC236}">
                <a16:creationId xmlns:a16="http://schemas.microsoft.com/office/drawing/2014/main" id="{35A7FE4F-4678-B79F-29F3-9F9073D768AF}"/>
              </a:ext>
            </a:extLst>
          </p:cNvPr>
          <p:cNvSpPr/>
          <p:nvPr/>
        </p:nvSpPr>
        <p:spPr>
          <a:xfrm>
            <a:off x="838200" y="3429000"/>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More yapping</a:t>
            </a:r>
          </a:p>
        </p:txBody>
      </p:sp>
      <p:sp>
        <p:nvSpPr>
          <p:cNvPr id="8" name="Rectangle 7">
            <a:extLst>
              <a:ext uri="{FF2B5EF4-FFF2-40B4-BE49-F238E27FC236}">
                <a16:creationId xmlns:a16="http://schemas.microsoft.com/office/drawing/2014/main" id="{4B070CC2-6D63-C785-706C-060808B72ED3}"/>
              </a:ext>
            </a:extLst>
          </p:cNvPr>
          <p:cNvSpPr/>
          <p:nvPr/>
        </p:nvSpPr>
        <p:spPr>
          <a:xfrm>
            <a:off x="838199" y="4756533"/>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Yapception</a:t>
            </a:r>
            <a:endParaRPr lang="en-US" dirty="0"/>
          </a:p>
        </p:txBody>
      </p:sp>
      <p:sp>
        <p:nvSpPr>
          <p:cNvPr id="10" name="Rectangle 9">
            <a:extLst>
              <a:ext uri="{FF2B5EF4-FFF2-40B4-BE49-F238E27FC236}">
                <a16:creationId xmlns:a16="http://schemas.microsoft.com/office/drawing/2014/main" id="{E41AE1CF-3723-30E9-4AFE-0D7D8CEE9886}"/>
              </a:ext>
            </a:extLst>
          </p:cNvPr>
          <p:cNvSpPr/>
          <p:nvPr/>
        </p:nvSpPr>
        <p:spPr>
          <a:xfrm>
            <a:off x="838198" y="5942031"/>
            <a:ext cx="2654147" cy="9159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Just do it like this</a:t>
            </a:r>
          </a:p>
        </p:txBody>
      </p:sp>
      <p:sp>
        <p:nvSpPr>
          <p:cNvPr id="11" name="Rectangle 10">
            <a:extLst>
              <a:ext uri="{FF2B5EF4-FFF2-40B4-BE49-F238E27FC236}">
                <a16:creationId xmlns:a16="http://schemas.microsoft.com/office/drawing/2014/main" id="{F769DA29-E96B-7240-966E-E1F5A9D82C79}"/>
              </a:ext>
            </a:extLst>
          </p:cNvPr>
          <p:cNvSpPr/>
          <p:nvPr/>
        </p:nvSpPr>
        <p:spPr>
          <a:xfrm>
            <a:off x="5827923" y="1167788"/>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API</a:t>
            </a:r>
          </a:p>
        </p:txBody>
      </p:sp>
      <p:cxnSp>
        <p:nvCxnSpPr>
          <p:cNvPr id="13" name="Straight Arrow Connector 12">
            <a:extLst>
              <a:ext uri="{FF2B5EF4-FFF2-40B4-BE49-F238E27FC236}">
                <a16:creationId xmlns:a16="http://schemas.microsoft.com/office/drawing/2014/main" id="{23029008-8D1D-29D0-EF13-1BCDA542EA59}"/>
              </a:ext>
            </a:extLst>
          </p:cNvPr>
          <p:cNvCxnSpPr/>
          <p:nvPr/>
        </p:nvCxnSpPr>
        <p:spPr>
          <a:xfrm>
            <a:off x="4054207" y="3979843"/>
            <a:ext cx="95846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59421C1E-10D9-E6E7-EEB3-8412695CDC12}"/>
              </a:ext>
            </a:extLst>
          </p:cNvPr>
          <p:cNvCxnSpPr/>
          <p:nvPr/>
        </p:nvCxnSpPr>
        <p:spPr>
          <a:xfrm>
            <a:off x="6096000" y="2633031"/>
            <a:ext cx="0" cy="10025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4121CBB7-0DD4-DDF7-5FFD-9B0BAE9A85F6}"/>
              </a:ext>
            </a:extLst>
          </p:cNvPr>
          <p:cNvSpPr/>
          <p:nvPr/>
        </p:nvSpPr>
        <p:spPr>
          <a:xfrm>
            <a:off x="5122843" y="3657600"/>
            <a:ext cx="2258458" cy="12449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cxnSp>
        <p:nvCxnSpPr>
          <p:cNvPr id="18" name="Straight Arrow Connector 17">
            <a:extLst>
              <a:ext uri="{FF2B5EF4-FFF2-40B4-BE49-F238E27FC236}">
                <a16:creationId xmlns:a16="http://schemas.microsoft.com/office/drawing/2014/main" id="{42AB000A-74E4-9E95-1825-E115CEA48B16}"/>
              </a:ext>
            </a:extLst>
          </p:cNvPr>
          <p:cNvCxnSpPr/>
          <p:nvPr/>
        </p:nvCxnSpPr>
        <p:spPr>
          <a:xfrm>
            <a:off x="7700790" y="4230477"/>
            <a:ext cx="15203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5F5F8FC9-89FE-2969-E492-5C11A92D81B7}"/>
              </a:ext>
            </a:extLst>
          </p:cNvPr>
          <p:cNvSpPr/>
          <p:nvPr/>
        </p:nvSpPr>
        <p:spPr>
          <a:xfrm>
            <a:off x="9352400" y="2163829"/>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 code</a:t>
            </a:r>
          </a:p>
        </p:txBody>
      </p:sp>
      <p:sp>
        <p:nvSpPr>
          <p:cNvPr id="23" name="Rectangle 22">
            <a:extLst>
              <a:ext uri="{FF2B5EF4-FFF2-40B4-BE49-F238E27FC236}">
                <a16:creationId xmlns:a16="http://schemas.microsoft.com/office/drawing/2014/main" id="{91FE1EB0-1E0B-4567-528C-FE1F5A0FA6FD}"/>
              </a:ext>
            </a:extLst>
          </p:cNvPr>
          <p:cNvSpPr/>
          <p:nvPr/>
        </p:nvSpPr>
        <p:spPr>
          <a:xfrm>
            <a:off x="9352400" y="3429000"/>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Better code</a:t>
            </a:r>
          </a:p>
        </p:txBody>
      </p:sp>
      <p:sp>
        <p:nvSpPr>
          <p:cNvPr id="25" name="Rectangle 24">
            <a:extLst>
              <a:ext uri="{FF2B5EF4-FFF2-40B4-BE49-F238E27FC236}">
                <a16:creationId xmlns:a16="http://schemas.microsoft.com/office/drawing/2014/main" id="{95CB8818-BC08-DAD5-2AF0-09E270F9E284}"/>
              </a:ext>
            </a:extLst>
          </p:cNvPr>
          <p:cNvSpPr/>
          <p:nvPr/>
        </p:nvSpPr>
        <p:spPr>
          <a:xfrm>
            <a:off x="9352400" y="4756532"/>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Even better code</a:t>
            </a:r>
          </a:p>
        </p:txBody>
      </p:sp>
      <p:sp>
        <p:nvSpPr>
          <p:cNvPr id="27" name="Rectangle 26">
            <a:extLst>
              <a:ext uri="{FF2B5EF4-FFF2-40B4-BE49-F238E27FC236}">
                <a16:creationId xmlns:a16="http://schemas.microsoft.com/office/drawing/2014/main" id="{D52D121F-65B9-A611-BD80-4395A0C934F8}"/>
              </a:ext>
            </a:extLst>
          </p:cNvPr>
          <p:cNvSpPr/>
          <p:nvPr/>
        </p:nvSpPr>
        <p:spPr>
          <a:xfrm>
            <a:off x="9352399" y="5942031"/>
            <a:ext cx="2654147" cy="9159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Expert code?</a:t>
            </a:r>
          </a:p>
        </p:txBody>
      </p:sp>
    </p:spTree>
    <p:extLst>
      <p:ext uri="{BB962C8B-B14F-4D97-AF65-F5344CB8AC3E}">
        <p14:creationId xmlns:p14="http://schemas.microsoft.com/office/powerpoint/2010/main" val="22452505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a:t>
            </a:r>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tretch>
            <a:fillRect/>
          </a:stretch>
        </p:blipFill>
        <p:spPr>
          <a:xfrm>
            <a:off x="221449" y="2599181"/>
            <a:ext cx="6925642" cy="2734057"/>
          </a:xfrm>
          <a:prstGeom prst="rect">
            <a:avLst/>
          </a:prstGeom>
        </p:spPr>
      </p:pic>
      <p:sp>
        <p:nvSpPr>
          <p:cNvPr id="7" name="TextBox 6">
            <a:extLst>
              <a:ext uri="{FF2B5EF4-FFF2-40B4-BE49-F238E27FC236}">
                <a16:creationId xmlns:a16="http://schemas.microsoft.com/office/drawing/2014/main" id="{4BC2AB0A-809B-4B8F-C3CD-7422568AA6CF}"/>
              </a:ext>
            </a:extLst>
          </p:cNvPr>
          <p:cNvSpPr txBox="1"/>
          <p:nvPr/>
        </p:nvSpPr>
        <p:spPr>
          <a:xfrm>
            <a:off x="2674620" y="2251710"/>
            <a:ext cx="2217017" cy="369332"/>
          </a:xfrm>
          <a:prstGeom prst="rect">
            <a:avLst/>
          </a:prstGeom>
          <a:noFill/>
        </p:spPr>
        <p:txBody>
          <a:bodyPr wrap="none" rtlCol="0">
            <a:spAutoFit/>
          </a:bodyPr>
          <a:lstStyle/>
          <a:p>
            <a:r>
              <a:rPr lang="en-US" dirty="0"/>
              <a:t>At the time of writing</a:t>
            </a:r>
          </a:p>
        </p:txBody>
      </p:sp>
      <p:sp>
        <p:nvSpPr>
          <p:cNvPr id="12" name="TextBox 11">
            <a:extLst>
              <a:ext uri="{FF2B5EF4-FFF2-40B4-BE49-F238E27FC236}">
                <a16:creationId xmlns:a16="http://schemas.microsoft.com/office/drawing/2014/main" id="{6D1D1C5D-C956-7741-15E6-FE8576D2FF5A}"/>
              </a:ext>
            </a:extLst>
          </p:cNvPr>
          <p:cNvSpPr txBox="1"/>
          <p:nvPr/>
        </p:nvSpPr>
        <p:spPr>
          <a:xfrm>
            <a:off x="6552317" y="538905"/>
            <a:ext cx="5400984" cy="646331"/>
          </a:xfrm>
          <a:prstGeom prst="rect">
            <a:avLst/>
          </a:prstGeom>
          <a:noFill/>
        </p:spPr>
        <p:txBody>
          <a:bodyPr wrap="square">
            <a:spAutoFit/>
          </a:bodyPr>
          <a:lstStyle/>
          <a:p>
            <a:r>
              <a:rPr lang="en-US" dirty="0">
                <a:hlinkClick r:id="rId4"/>
              </a:rPr>
              <a:t>https://github.com/matyas-brabec/2025-europar-llm/tree/GPT-5-high</a:t>
            </a:r>
            <a:endParaRPr lang="en-US" dirty="0"/>
          </a:p>
        </p:txBody>
      </p:sp>
      <p:pic>
        <p:nvPicPr>
          <p:cNvPr id="14" name="Picture 13">
            <a:extLst>
              <a:ext uri="{FF2B5EF4-FFF2-40B4-BE49-F238E27FC236}">
                <a16:creationId xmlns:a16="http://schemas.microsoft.com/office/drawing/2014/main" id="{F7771BBA-4D14-6D02-9EFC-CC75E1CBFDC6}"/>
              </a:ext>
            </a:extLst>
          </p:cNvPr>
          <p:cNvPicPr>
            <a:picLocks noChangeAspect="1"/>
          </p:cNvPicPr>
          <p:nvPr/>
        </p:nvPicPr>
        <p:blipFill>
          <a:blip r:embed="rId5"/>
          <a:stretch>
            <a:fillRect/>
          </a:stretch>
        </p:blipFill>
        <p:spPr>
          <a:xfrm>
            <a:off x="8463011" y="2091042"/>
            <a:ext cx="3320595" cy="2414072"/>
          </a:xfrm>
          <a:prstGeom prst="rect">
            <a:avLst/>
          </a:prstGeom>
        </p:spPr>
      </p:pic>
      <p:pic>
        <p:nvPicPr>
          <p:cNvPr id="17" name="Picture 16">
            <a:extLst>
              <a:ext uri="{FF2B5EF4-FFF2-40B4-BE49-F238E27FC236}">
                <a16:creationId xmlns:a16="http://schemas.microsoft.com/office/drawing/2014/main" id="{9B47DDC8-9F5A-3552-7451-858AFB39D903}"/>
              </a:ext>
            </a:extLst>
          </p:cNvPr>
          <p:cNvPicPr>
            <a:picLocks noChangeAspect="1"/>
          </p:cNvPicPr>
          <p:nvPr/>
        </p:nvPicPr>
        <p:blipFill>
          <a:blip r:embed="rId6"/>
          <a:stretch>
            <a:fillRect/>
          </a:stretch>
        </p:blipFill>
        <p:spPr>
          <a:xfrm>
            <a:off x="8720721" y="4818639"/>
            <a:ext cx="2805173" cy="2039361"/>
          </a:xfrm>
          <a:prstGeom prst="rect">
            <a:avLst/>
          </a:prstGeom>
        </p:spPr>
      </p:pic>
      <p:sp>
        <p:nvSpPr>
          <p:cNvPr id="19" name="TextBox 18">
            <a:extLst>
              <a:ext uri="{FF2B5EF4-FFF2-40B4-BE49-F238E27FC236}">
                <a16:creationId xmlns:a16="http://schemas.microsoft.com/office/drawing/2014/main" id="{5540FB4B-F466-4E9B-7925-B88B91FE3834}"/>
              </a:ext>
            </a:extLst>
          </p:cNvPr>
          <p:cNvSpPr txBox="1"/>
          <p:nvPr/>
        </p:nvSpPr>
        <p:spPr>
          <a:xfrm>
            <a:off x="8463011" y="1601867"/>
            <a:ext cx="3703834" cy="369332"/>
          </a:xfrm>
          <a:prstGeom prst="rect">
            <a:avLst/>
          </a:prstGeom>
          <a:noFill/>
        </p:spPr>
        <p:txBody>
          <a:bodyPr wrap="none" rtlCol="0">
            <a:spAutoFit/>
          </a:bodyPr>
          <a:lstStyle/>
          <a:p>
            <a:r>
              <a:rPr lang="en-US" dirty="0"/>
              <a:t>At the time of presenting the results</a:t>
            </a:r>
          </a:p>
        </p:txBody>
      </p:sp>
      <p:sp>
        <p:nvSpPr>
          <p:cNvPr id="20" name="TextBox 19">
            <a:extLst>
              <a:ext uri="{FF2B5EF4-FFF2-40B4-BE49-F238E27FC236}">
                <a16:creationId xmlns:a16="http://schemas.microsoft.com/office/drawing/2014/main" id="{FFA4F385-F597-0110-F8B3-AD03D6F2D503}"/>
              </a:ext>
            </a:extLst>
          </p:cNvPr>
          <p:cNvSpPr txBox="1"/>
          <p:nvPr/>
        </p:nvSpPr>
        <p:spPr>
          <a:xfrm>
            <a:off x="5137532" y="5893812"/>
            <a:ext cx="864339" cy="369332"/>
          </a:xfrm>
          <a:prstGeom prst="rect">
            <a:avLst/>
          </a:prstGeom>
          <a:noFill/>
        </p:spPr>
        <p:txBody>
          <a:bodyPr wrap="none" rtlCol="0">
            <a:spAutoFit/>
          </a:bodyPr>
          <a:lstStyle/>
          <a:p>
            <a:r>
              <a:rPr lang="en-US" dirty="0" err="1"/>
              <a:t>kNN</a:t>
            </a:r>
            <a:r>
              <a:rPr lang="en-US" dirty="0"/>
              <a:t> </a:t>
            </a:r>
            <a:r>
              <a:rPr lang="en-US" dirty="0">
                <a:sym typeface="Wingdings" panose="05000000000000000000" pitchFamily="2" charset="2"/>
              </a:rPr>
              <a:t></a:t>
            </a:r>
            <a:endParaRPr lang="en-US" dirty="0"/>
          </a:p>
        </p:txBody>
      </p:sp>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7"/>
          <a:stretch>
            <a:fillRect/>
          </a:stretch>
        </p:blipFill>
        <p:spPr>
          <a:xfrm>
            <a:off x="666106" y="5287742"/>
            <a:ext cx="3036122" cy="1589050"/>
          </a:xfrm>
          <a:prstGeom prst="rect">
            <a:avLst/>
          </a:prstGeom>
        </p:spPr>
      </p:pic>
      <p:pic>
        <p:nvPicPr>
          <p:cNvPr id="26" name="Picture 25">
            <a:extLst>
              <a:ext uri="{FF2B5EF4-FFF2-40B4-BE49-F238E27FC236}">
                <a16:creationId xmlns:a16="http://schemas.microsoft.com/office/drawing/2014/main" id="{C1FEF10D-405B-2C29-E783-6F8BBD010435}"/>
              </a:ext>
            </a:extLst>
          </p:cNvPr>
          <p:cNvPicPr>
            <a:picLocks noChangeAspect="1"/>
          </p:cNvPicPr>
          <p:nvPr/>
        </p:nvPicPr>
        <p:blipFill>
          <a:blip r:embed="rId8"/>
          <a:stretch>
            <a:fillRect/>
          </a:stretch>
        </p:blipFill>
        <p:spPr>
          <a:xfrm>
            <a:off x="7147091" y="2107319"/>
            <a:ext cx="2684569" cy="1951682"/>
          </a:xfrm>
          <a:prstGeom prst="rect">
            <a:avLst/>
          </a:prstGeom>
        </p:spPr>
      </p:pic>
    </p:spTree>
    <p:extLst>
      <p:ext uri="{BB962C8B-B14F-4D97-AF65-F5344CB8AC3E}">
        <p14:creationId xmlns:p14="http://schemas.microsoft.com/office/powerpoint/2010/main" val="23071661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noProof="0" dirty="0"/>
              <a:t>Key findings:</a:t>
            </a:r>
          </a:p>
          <a:p>
            <a:pPr lvl="1"/>
            <a:r>
              <a:rPr lang="en-US" noProof="0" dirty="0"/>
              <a:t>Prompt specificity improves results much more</a:t>
            </a:r>
          </a:p>
          <a:p>
            <a:pPr lvl="1"/>
            <a:r>
              <a:rPr lang="en-US" noProof="0" dirty="0"/>
              <a:t>LLMs more competent in pure C/C++</a:t>
            </a:r>
          </a:p>
          <a:p>
            <a:pPr lvl="1"/>
            <a:endParaRPr lang="en-US" noProof="0" dirty="0"/>
          </a:p>
        </p:txBody>
      </p:sp>
    </p:spTree>
    <p:extLst>
      <p:ext uri="{BB962C8B-B14F-4D97-AF65-F5344CB8AC3E}">
        <p14:creationId xmlns:p14="http://schemas.microsoft.com/office/powerpoint/2010/main" val="9656531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FC1E0-2FFD-A509-1AF0-959A0AFC5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428A2-491C-5FCA-EF3B-F536FBDAC5CA}"/>
              </a:ext>
            </a:extLst>
          </p:cNvPr>
          <p:cNvSpPr>
            <a:spLocks noGrp="1"/>
          </p:cNvSpPr>
          <p:nvPr>
            <p:ph type="title"/>
          </p:nvPr>
        </p:nvSpPr>
        <p:spPr/>
        <p:txBody>
          <a:bodyPr/>
          <a:lstStyle/>
          <a:p>
            <a:r>
              <a:rPr lang="en-US" noProof="0" dirty="0"/>
              <a:t>LLMs and abstractions</a:t>
            </a:r>
          </a:p>
        </p:txBody>
      </p:sp>
      <p:pic>
        <p:nvPicPr>
          <p:cNvPr id="8" name="Picture 7">
            <a:extLst>
              <a:ext uri="{FF2B5EF4-FFF2-40B4-BE49-F238E27FC236}">
                <a16:creationId xmlns:a16="http://schemas.microsoft.com/office/drawing/2014/main" id="{6BEAAA05-114E-208D-DFDE-367639786C54}"/>
              </a:ext>
            </a:extLst>
          </p:cNvPr>
          <p:cNvPicPr>
            <a:picLocks noChangeAspect="1"/>
          </p:cNvPicPr>
          <p:nvPr/>
        </p:nvPicPr>
        <p:blipFill>
          <a:blip r:embed="rId3"/>
          <a:stretch>
            <a:fillRect/>
          </a:stretch>
        </p:blipFill>
        <p:spPr>
          <a:xfrm>
            <a:off x="4894948" y="1912727"/>
            <a:ext cx="6725589" cy="2229161"/>
          </a:xfrm>
          <a:prstGeom prst="rect">
            <a:avLst/>
          </a:prstGeom>
        </p:spPr>
      </p:pic>
      <p:pic>
        <p:nvPicPr>
          <p:cNvPr id="10" name="Picture 9">
            <a:extLst>
              <a:ext uri="{FF2B5EF4-FFF2-40B4-BE49-F238E27FC236}">
                <a16:creationId xmlns:a16="http://schemas.microsoft.com/office/drawing/2014/main" id="{379CBEDB-3399-E476-B2E1-91035860BDD2}"/>
              </a:ext>
            </a:extLst>
          </p:cNvPr>
          <p:cNvPicPr>
            <a:picLocks noChangeAspect="1"/>
          </p:cNvPicPr>
          <p:nvPr/>
        </p:nvPicPr>
        <p:blipFill>
          <a:blip r:embed="rId4"/>
          <a:stretch>
            <a:fillRect/>
          </a:stretch>
        </p:blipFill>
        <p:spPr>
          <a:xfrm>
            <a:off x="5161686" y="4677223"/>
            <a:ext cx="6192114" cy="1286054"/>
          </a:xfrm>
          <a:prstGeom prst="rect">
            <a:avLst/>
          </a:prstGeom>
        </p:spPr>
      </p:pic>
      <p:sp>
        <p:nvSpPr>
          <p:cNvPr id="11" name="TextBox 10">
            <a:extLst>
              <a:ext uri="{FF2B5EF4-FFF2-40B4-BE49-F238E27FC236}">
                <a16:creationId xmlns:a16="http://schemas.microsoft.com/office/drawing/2014/main" id="{6C8FEF91-6DF2-D9C1-3C7C-927FC8555CBE}"/>
              </a:ext>
            </a:extLst>
          </p:cNvPr>
          <p:cNvSpPr txBox="1"/>
          <p:nvPr/>
        </p:nvSpPr>
        <p:spPr>
          <a:xfrm>
            <a:off x="9915828" y="1530781"/>
            <a:ext cx="2036455" cy="369332"/>
          </a:xfrm>
          <a:prstGeom prst="rect">
            <a:avLst/>
          </a:prstGeom>
          <a:noFill/>
        </p:spPr>
        <p:txBody>
          <a:bodyPr wrap="none" rtlCol="0">
            <a:spAutoFit/>
          </a:bodyPr>
          <a:lstStyle/>
          <a:p>
            <a:r>
              <a:rPr lang="en-US" dirty="0"/>
              <a:t>Which result best?</a:t>
            </a:r>
          </a:p>
        </p:txBody>
      </p:sp>
      <p:sp>
        <p:nvSpPr>
          <p:cNvPr id="13" name="TextBox 12">
            <a:extLst>
              <a:ext uri="{FF2B5EF4-FFF2-40B4-BE49-F238E27FC236}">
                <a16:creationId xmlns:a16="http://schemas.microsoft.com/office/drawing/2014/main" id="{13079C7E-EBE6-48C6-EAFC-9F6D960ED3AA}"/>
              </a:ext>
            </a:extLst>
          </p:cNvPr>
          <p:cNvSpPr txBox="1"/>
          <p:nvPr/>
        </p:nvSpPr>
        <p:spPr>
          <a:xfrm>
            <a:off x="8567916" y="4082521"/>
            <a:ext cx="2256387" cy="369332"/>
          </a:xfrm>
          <a:prstGeom prst="rect">
            <a:avLst/>
          </a:prstGeom>
          <a:noFill/>
        </p:spPr>
        <p:txBody>
          <a:bodyPr wrap="none" rtlCol="0">
            <a:spAutoFit/>
          </a:bodyPr>
          <a:lstStyle/>
          <a:p>
            <a:r>
              <a:rPr lang="en-US" dirty="0"/>
              <a:t>What prompt to use?</a:t>
            </a:r>
          </a:p>
        </p:txBody>
      </p:sp>
      <p:sp>
        <p:nvSpPr>
          <p:cNvPr id="15" name="TextBox 14">
            <a:extLst>
              <a:ext uri="{FF2B5EF4-FFF2-40B4-BE49-F238E27FC236}">
                <a16:creationId xmlns:a16="http://schemas.microsoft.com/office/drawing/2014/main" id="{7DBBF6DB-A3F4-9BDA-784B-07863D703169}"/>
              </a:ext>
            </a:extLst>
          </p:cNvPr>
          <p:cNvSpPr txBox="1"/>
          <p:nvPr/>
        </p:nvSpPr>
        <p:spPr>
          <a:xfrm>
            <a:off x="6252538" y="6003981"/>
            <a:ext cx="3840218" cy="369332"/>
          </a:xfrm>
          <a:prstGeom prst="rect">
            <a:avLst/>
          </a:prstGeom>
          <a:noFill/>
        </p:spPr>
        <p:txBody>
          <a:bodyPr wrap="none" rtlCol="0">
            <a:spAutoFit/>
          </a:bodyPr>
          <a:lstStyle/>
          <a:p>
            <a:r>
              <a:rPr lang="en-US" dirty="0"/>
              <a:t>Split the optimization into two steps?</a:t>
            </a:r>
          </a:p>
        </p:txBody>
      </p:sp>
      <p:sp>
        <p:nvSpPr>
          <p:cNvPr id="16" name="Rectangle 15">
            <a:extLst>
              <a:ext uri="{FF2B5EF4-FFF2-40B4-BE49-F238E27FC236}">
                <a16:creationId xmlns:a16="http://schemas.microsoft.com/office/drawing/2014/main" id="{6BB90353-381A-4006-0220-9E9CA9C30D3B}"/>
              </a:ext>
            </a:extLst>
          </p:cNvPr>
          <p:cNvSpPr/>
          <p:nvPr/>
        </p:nvSpPr>
        <p:spPr>
          <a:xfrm>
            <a:off x="2794082" y="137739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Baseline</a:t>
            </a:r>
          </a:p>
        </p:txBody>
      </p:sp>
      <p:sp>
        <p:nvSpPr>
          <p:cNvPr id="18" name="Rectangle 17">
            <a:extLst>
              <a:ext uri="{FF2B5EF4-FFF2-40B4-BE49-F238E27FC236}">
                <a16:creationId xmlns:a16="http://schemas.microsoft.com/office/drawing/2014/main" id="{0990C0B6-58D9-15D3-CB0B-5D196176BDE0}"/>
              </a:ext>
            </a:extLst>
          </p:cNvPr>
          <p:cNvSpPr/>
          <p:nvPr/>
        </p:nvSpPr>
        <p:spPr>
          <a:xfrm>
            <a:off x="154861" y="3407949"/>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Documentation</a:t>
            </a:r>
            <a:br>
              <a:rPr lang="en-US" dirty="0"/>
            </a:br>
            <a:r>
              <a:rPr lang="en-US" dirty="0"/>
              <a:t>&amp; language hints</a:t>
            </a:r>
          </a:p>
        </p:txBody>
      </p:sp>
      <p:sp>
        <p:nvSpPr>
          <p:cNvPr id="20" name="Rectangle 19">
            <a:extLst>
              <a:ext uri="{FF2B5EF4-FFF2-40B4-BE49-F238E27FC236}">
                <a16:creationId xmlns:a16="http://schemas.microsoft.com/office/drawing/2014/main" id="{3C98BE57-2A38-89A9-7FDE-296070049AA0}"/>
              </a:ext>
            </a:extLst>
          </p:cNvPr>
          <p:cNvSpPr/>
          <p:nvPr/>
        </p:nvSpPr>
        <p:spPr>
          <a:xfrm>
            <a:off x="154861" y="433002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Example</a:t>
            </a:r>
          </a:p>
        </p:txBody>
      </p:sp>
      <p:sp>
        <p:nvSpPr>
          <p:cNvPr id="22" name="Rectangle 21">
            <a:extLst>
              <a:ext uri="{FF2B5EF4-FFF2-40B4-BE49-F238E27FC236}">
                <a16:creationId xmlns:a16="http://schemas.microsoft.com/office/drawing/2014/main" id="{01DC6561-6C17-08E8-D1C2-54DD23B3B420}"/>
              </a:ext>
            </a:extLst>
          </p:cNvPr>
          <p:cNvSpPr/>
          <p:nvPr/>
        </p:nvSpPr>
        <p:spPr>
          <a:xfrm>
            <a:off x="154861" y="2485876"/>
            <a:ext cx="2100866" cy="71609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Optimization</a:t>
            </a:r>
            <a:br>
              <a:rPr lang="en-US" dirty="0"/>
            </a:br>
            <a:r>
              <a:rPr lang="en-US" dirty="0"/>
              <a:t>hints</a:t>
            </a:r>
          </a:p>
        </p:txBody>
      </p:sp>
      <p:sp>
        <p:nvSpPr>
          <p:cNvPr id="24" name="Rectangle 23">
            <a:extLst>
              <a:ext uri="{FF2B5EF4-FFF2-40B4-BE49-F238E27FC236}">
                <a16:creationId xmlns:a16="http://schemas.microsoft.com/office/drawing/2014/main" id="{0F4FB06D-29AA-ACC7-5573-C05802998A47}"/>
              </a:ext>
            </a:extLst>
          </p:cNvPr>
          <p:cNvSpPr/>
          <p:nvPr/>
        </p:nvSpPr>
        <p:spPr>
          <a:xfrm>
            <a:off x="2783437" y="5776779"/>
            <a:ext cx="2100866" cy="71609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Optimized</a:t>
            </a:r>
          </a:p>
        </p:txBody>
      </p:sp>
      <p:sp>
        <p:nvSpPr>
          <p:cNvPr id="26" name="Right Brace 25">
            <a:extLst>
              <a:ext uri="{FF2B5EF4-FFF2-40B4-BE49-F238E27FC236}">
                <a16:creationId xmlns:a16="http://schemas.microsoft.com/office/drawing/2014/main" id="{119D77B4-5A36-5A3B-B93D-EE6AB9478E3C}"/>
              </a:ext>
            </a:extLst>
          </p:cNvPr>
          <p:cNvSpPr/>
          <p:nvPr/>
        </p:nvSpPr>
        <p:spPr>
          <a:xfrm>
            <a:off x="2335576" y="2485876"/>
            <a:ext cx="649995" cy="271333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D64A32AA-01B4-1559-9337-81C50A0E8F3B}"/>
              </a:ext>
            </a:extLst>
          </p:cNvPr>
          <p:cNvCxnSpPr>
            <a:cxnSpLocks/>
          </p:cNvCxnSpPr>
          <p:nvPr/>
        </p:nvCxnSpPr>
        <p:spPr>
          <a:xfrm>
            <a:off x="3833870" y="2335576"/>
            <a:ext cx="0" cy="1093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A60EB943-7476-58D7-D62F-785FE459D2DD}"/>
              </a:ext>
            </a:extLst>
          </p:cNvPr>
          <p:cNvCxnSpPr/>
          <p:nvPr/>
        </p:nvCxnSpPr>
        <p:spPr>
          <a:xfrm>
            <a:off x="3843051" y="4396123"/>
            <a:ext cx="0" cy="1299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4FED10ED-91FE-8EF9-51E0-AC558579369F}"/>
              </a:ext>
            </a:extLst>
          </p:cNvPr>
          <p:cNvSpPr/>
          <p:nvPr/>
        </p:nvSpPr>
        <p:spPr>
          <a:xfrm>
            <a:off x="3183503" y="3609689"/>
            <a:ext cx="1322024" cy="7287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spTree>
    <p:extLst>
      <p:ext uri="{BB962C8B-B14F-4D97-AF65-F5344CB8AC3E}">
        <p14:creationId xmlns:p14="http://schemas.microsoft.com/office/powerpoint/2010/main" val="21355553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BD501-0287-7E9D-6C52-A86B98F9EB52}"/>
              </a:ext>
            </a:extLst>
          </p:cNvPr>
          <p:cNvSpPr>
            <a:spLocks noGrp="1"/>
          </p:cNvSpPr>
          <p:nvPr>
            <p:ph type="title"/>
          </p:nvPr>
        </p:nvSpPr>
        <p:spPr/>
        <p:txBody>
          <a:bodyPr/>
          <a:lstStyle/>
          <a:p>
            <a:r>
              <a:rPr lang="en-US" noProof="0" dirty="0" err="1"/>
              <a:t>Zahodit</a:t>
            </a:r>
            <a:endParaRPr lang="en-US" noProof="0" dirty="0"/>
          </a:p>
        </p:txBody>
      </p:sp>
      <p:sp>
        <p:nvSpPr>
          <p:cNvPr id="3" name="Content Placeholder 2">
            <a:extLst>
              <a:ext uri="{FF2B5EF4-FFF2-40B4-BE49-F238E27FC236}">
                <a16:creationId xmlns:a16="http://schemas.microsoft.com/office/drawing/2014/main" id="{369E5D67-EA03-A5CA-2D82-199F178CE89C}"/>
              </a:ext>
            </a:extLst>
          </p:cNvPr>
          <p:cNvSpPr>
            <a:spLocks noGrp="1"/>
          </p:cNvSpPr>
          <p:nvPr>
            <p:ph idx="1"/>
          </p:nvPr>
        </p:nvSpPr>
        <p:spPr/>
        <p:txBody>
          <a:bodyPr/>
          <a:lstStyle/>
          <a:p>
            <a:r>
              <a:rPr lang="en-US" noProof="0" dirty="0" err="1"/>
              <a:t>Noarr</a:t>
            </a:r>
            <a:endParaRPr lang="en-US" noProof="0" dirty="0"/>
          </a:p>
          <a:p>
            <a:r>
              <a:rPr lang="en-US" noProof="0" dirty="0" err="1"/>
              <a:t>Cellato</a:t>
            </a:r>
            <a:endParaRPr lang="en-US" noProof="0" dirty="0"/>
          </a:p>
        </p:txBody>
      </p:sp>
    </p:spTree>
    <p:extLst>
      <p:ext uri="{BB962C8B-B14F-4D97-AF65-F5344CB8AC3E}">
        <p14:creationId xmlns:p14="http://schemas.microsoft.com/office/powerpoint/2010/main" val="40851222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B7F8197-FC2F-9C2A-050C-CCCB46D86C7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60EC2A1A-B720-84BC-76D5-4751C09EA61A}"/>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6DB7F776-4EDC-09F4-F04A-E586FC4B4500}"/>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5B2B9BCB-5805-C1F1-AF45-681B37E6B83E}"/>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31388E94-1EEB-E24E-1923-AA250880AF84}"/>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DE8920A4-4430-6757-E41A-9BA9578DC80D}"/>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D01E75A2-333B-DF95-544C-0ACF1B88882C}"/>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67736357-2F90-D241-51F6-C03C797EFFC2}"/>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9EC73339-8B3D-25F4-18D5-E5821CB7CE8B}"/>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63EC4F51-D7C0-1DFC-E94E-75AE185B7CC1}"/>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B7D64168-E19F-C04D-293D-CB07E85D29DA}"/>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Tree>
    <p:extLst>
      <p:ext uri="{BB962C8B-B14F-4D97-AF65-F5344CB8AC3E}">
        <p14:creationId xmlns:p14="http://schemas.microsoft.com/office/powerpoint/2010/main" val="17454896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Tree>
    <p:extLst>
      <p:ext uri="{BB962C8B-B14F-4D97-AF65-F5344CB8AC3E}">
        <p14:creationId xmlns:p14="http://schemas.microsoft.com/office/powerpoint/2010/main" val="3094171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Tree>
    <p:extLst>
      <p:ext uri="{BB962C8B-B14F-4D97-AF65-F5344CB8AC3E}">
        <p14:creationId xmlns:p14="http://schemas.microsoft.com/office/powerpoint/2010/main" val="25953849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2682</TotalTime>
  <Words>5762</Words>
  <Application>Microsoft Office PowerPoint</Application>
  <PresentationFormat>Widescreen</PresentationFormat>
  <Paragraphs>496</Paragraphs>
  <Slides>34</Slides>
  <Notes>21</Notes>
  <HiddenSlides>13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34</vt:i4>
      </vt:variant>
    </vt:vector>
  </HeadingPairs>
  <TitlesOfParts>
    <vt:vector size="44" baseType="lpstr">
      <vt:lpstr>Aptos</vt:lpstr>
      <vt:lpstr>Aptos Display</vt:lpstr>
      <vt:lpstr>Arial</vt:lpstr>
      <vt:lpstr>Blackadder ITC</vt:lpstr>
      <vt:lpstr>Cambria Math</vt:lpstr>
      <vt:lpstr>DejaVuSansMono</vt:lpstr>
      <vt:lpstr>Fira Code</vt:lpstr>
      <vt:lpstr>RobotoMono</vt:lpstr>
      <vt:lpstr>Wingdings</vt:lpstr>
      <vt:lpstr>Office Theme</vt:lpstr>
      <vt:lpstr>Optimizing Memory Layouts and Traversal Orders in HPC</vt:lpstr>
      <vt:lpstr>PowerPoint Presentation</vt:lpstr>
      <vt:lpstr>Illustrative example: traversing matrices</vt:lpstr>
      <vt:lpstr>Automatization and simplification</vt:lpstr>
      <vt:lpstr>Small step: ?? layout agnostic design</vt:lpstr>
      <vt:lpstr>Layout- and Traversal-agnostic design</vt:lpstr>
      <vt:lpstr>PowerPoint Presentation</vt:lpstr>
      <vt:lpstr>Layout-agnostic design</vt:lpstr>
      <vt:lpstr>?? Traversal agnostic design</vt:lpstr>
      <vt:lpstr>PowerPoint Presentation</vt:lpstr>
      <vt:lpstr>PowerPoint Presentation</vt:lpstr>
      <vt:lpstr>Finalizing the automation: Autotuning</vt:lpstr>
      <vt:lpstr>PowerPoint Presentation</vt:lpstr>
      <vt:lpstr>Results</vt:lpstr>
      <vt:lpstr>M &amp; S</vt:lpstr>
      <vt:lpstr>Proposed abstractions</vt:lpstr>
      <vt:lpstr>Distributed computing</vt:lpstr>
      <vt:lpstr>PowerPoint Presentation</vt:lpstr>
      <vt:lpstr>PowerPoint Presentation</vt:lpstr>
      <vt:lpstr>PowerPoint Presentation</vt:lpstr>
      <vt:lpstr>Results</vt:lpstr>
      <vt:lpstr>Cellular automata</vt:lpstr>
      <vt:lpstr>PowerPoint Presentation</vt:lpstr>
      <vt:lpstr>Results</vt:lpstr>
      <vt:lpstr>LLMs in algorithm design</vt:lpstr>
      <vt:lpstr>Tutoring LLMs</vt:lpstr>
      <vt:lpstr>Tutoring LLMs</vt:lpstr>
      <vt:lpstr>Tutoring LLMs</vt:lpstr>
      <vt:lpstr>LLMs and abstractions</vt:lpstr>
      <vt:lpstr>LLMs and abstractions</vt:lpstr>
      <vt:lpstr>Zahodit</vt:lpstr>
      <vt:lpstr>Contribution map</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58</cp:revision>
  <dcterms:created xsi:type="dcterms:W3CDTF">2026-08-08T18:10:38Z</dcterms:created>
  <dcterms:modified xsi:type="dcterms:W3CDTF">2026-08-26T10:06:12Z</dcterms:modified>
</cp:coreProperties>
</file>