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22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278" r:id="rId11"/>
    <p:sldId id="300" r:id="rId12"/>
    <p:sldId id="286" r:id="rId13"/>
    <p:sldId id="290" r:id="rId14"/>
    <p:sldId id="279" r:id="rId15"/>
    <p:sldId id="287" r:id="rId16"/>
    <p:sldId id="316" r:id="rId17"/>
    <p:sldId id="302" r:id="rId18"/>
    <p:sldId id="280" r:id="rId19"/>
    <p:sldId id="310" r:id="rId20"/>
    <p:sldId id="295" r:id="rId21"/>
    <p:sldId id="288" r:id="rId22"/>
    <p:sldId id="305" r:id="rId23"/>
    <p:sldId id="291" r:id="rId24"/>
    <p:sldId id="306" r:id="rId25"/>
    <p:sldId id="315" r:id="rId26"/>
    <p:sldId id="308" r:id="rId27"/>
    <p:sldId id="309" r:id="rId28"/>
    <p:sldId id="311" r:id="rId29"/>
    <p:sldId id="266" r:id="rId30"/>
    <p:sldId id="312" r:id="rId31"/>
    <p:sldId id="262" r:id="rId32"/>
    <p:sldId id="320" r:id="rId33"/>
    <p:sldId id="318" r:id="rId34"/>
    <p:sldId id="319" r:id="rId35"/>
    <p:sldId id="317" r:id="rId36"/>
    <p:sldId id="32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322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 comments and questions" id="{40190F67-0659-405D-810E-4AC194B72FA5}">
          <p14:sldIdLst>
            <p14:sldId id="262"/>
            <p14:sldId id="320"/>
            <p14:sldId id="318"/>
            <p14:sldId id="319"/>
            <p14:sldId id="317"/>
            <p14:sldId id="321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2B2B"/>
    <a:srgbClr val="DC9494"/>
    <a:srgbClr val="D08888"/>
    <a:srgbClr val="D07070"/>
    <a:srgbClr val="C69292"/>
    <a:srgbClr val="C17F7F"/>
    <a:srgbClr val="D0A0A0"/>
    <a:srgbClr val="0F9ED5"/>
    <a:srgbClr val="FFFFFF"/>
    <a:srgbClr val="7ABE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2" autoAdjust="0"/>
    <p:restoredTop sz="75000" autoAdjust="0"/>
  </p:normalViewPr>
  <p:slideViewPr>
    <p:cSldViewPr snapToGrid="0">
      <p:cViewPr varScale="1">
        <p:scale>
          <a:sx n="67" d="100"/>
          <a:sy n="67" d="100"/>
        </p:scale>
        <p:origin x="66" y="12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-786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29ED-D737-34A6-0925-8C1CCC2C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9F78-7659-2C4C-F035-CA080DB17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7B2AE-D16B-B352-80B6-22209338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pitch the research in 30s)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Implementing efficient HPC algorithms is challenging.</a:t>
            </a:r>
          </a:p>
          <a:p>
            <a:r>
              <a:rPr lang="en-US" dirty="0"/>
              <a:t>Apart from ensuring the functionality and the right high-level algorithm design so it scales well for the expected use cases, the design must also ensure efficient evaluation.</a:t>
            </a:r>
          </a:p>
          <a:p>
            <a:endParaRPr lang="en-US" dirty="0"/>
          </a:p>
          <a:p>
            <a:r>
              <a:rPr lang="en-US" dirty="0"/>
              <a:t>Most algorithms that we consider perform computations on large, often multidimensional data.</a:t>
            </a:r>
          </a:p>
          <a:p>
            <a:r>
              <a:rPr lang="en-US" dirty="0"/>
              <a:t>These data are operated on using multi-level nested loops that iteratively perform reads and writes.</a:t>
            </a:r>
          </a:p>
          <a:p>
            <a:endParaRPr lang="en-US" dirty="0"/>
          </a:p>
          <a:p>
            <a:r>
              <a:rPr lang="en-US" dirty="0"/>
              <a:t>In such algorithms, the data and the loops may often be rearranged without changing the functionality,</a:t>
            </a:r>
            <a:br>
              <a:rPr lang="en-US" dirty="0"/>
            </a:br>
            <a:r>
              <a:rPr lang="en-US" dirty="0"/>
              <a:t>but doing so may influence the performance. The right choice of the data layouts and loop traversals can</a:t>
            </a:r>
            <a:br>
              <a:rPr lang="en-US" dirty="0"/>
            </a:br>
            <a:r>
              <a:rPr lang="en-US" dirty="0"/>
              <a:t>significantly speed up computation, especially if it is memory-bound (limited by memory access speed).</a:t>
            </a:r>
          </a:p>
          <a:p>
            <a:endParaRPr lang="en-US" dirty="0"/>
          </a:p>
          <a:p>
            <a:r>
              <a:rPr lang="en-US" dirty="0"/>
              <a:t>This problem is especially pronounced on modern, massively parallel systems that process large datasets –</a:t>
            </a:r>
            <a:br>
              <a:rPr lang="en-US" dirty="0"/>
            </a:br>
            <a:r>
              <a:rPr lang="en-US" dirty="0"/>
              <a:t>for example, modern AI systems.</a:t>
            </a:r>
          </a:p>
          <a:p>
            <a:endParaRPr lang="en-US" dirty="0"/>
          </a:p>
          <a:p>
            <a:r>
              <a:rPr lang="en-US" dirty="0"/>
              <a:t>In many cases, the right choice of data layouts and traversals requires an empirical approach of trial and error,</a:t>
            </a:r>
          </a:p>
          <a:p>
            <a:r>
              <a:rPr lang="en-US" dirty="0"/>
              <a:t>And finding the most efficient implementation may require re-evaluating the algorithm with many</a:t>
            </a:r>
            <a:br>
              <a:rPr lang="en-US" dirty="0"/>
            </a:br>
            <a:r>
              <a:rPr lang="en-US" dirty="0"/>
              <a:t>different choices of layouts and traversals. Furthermore, it may be necessary to repeat the process on each target system.</a:t>
            </a:r>
          </a:p>
          <a:p>
            <a:endParaRPr lang="en-US" dirty="0"/>
          </a:p>
          <a:p>
            <a:r>
              <a:rPr lang="en-US" dirty="0"/>
              <a:t>Our research starts by decoupling layouts from the algorithm design so they can be optimized independently,</a:t>
            </a:r>
            <a:br>
              <a:rPr lang="en-US" dirty="0"/>
            </a:br>
            <a:r>
              <a:rPr lang="en-US" dirty="0"/>
              <a:t>which we then iterate on to also consider traversals, and then enable full automation.</a:t>
            </a:r>
          </a:p>
          <a:p>
            <a:r>
              <a:rPr lang="en-US" dirty="0"/>
              <a:t>This may simplify the implementation of efficient algorithms for domain experts who do not </a:t>
            </a:r>
            <a:r>
              <a:rPr lang="en-US"/>
              <a:t>have the resources to study and iterate</a:t>
            </a:r>
            <a:br>
              <a:rPr lang="en-US"/>
            </a:br>
            <a:r>
              <a:rPr lang="en-US"/>
              <a:t>different optimization decisions.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D30D6-FB5C-C6E6-8452-1EC18E3B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72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r>
              <a:rPr lang="en-US" dirty="0"/>
              <a:t>We call a *layout abstraction* a mapping between these two concepts. It defines the indexation of a data structure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In this case, 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 with a special literal value, with no other modifications.</a:t>
            </a:r>
            <a:br>
              <a:rPr lang="en-US" dirty="0"/>
            </a:br>
            <a:r>
              <a:rPr lang="en-US" dirty="0"/>
              <a:t>This makes the value be directly propagated as a compiler constant instead of being stored in the object representing the layout;</a:t>
            </a:r>
            <a:br>
              <a:rPr lang="en-US" dirty="0"/>
            </a:br>
            <a:r>
              <a:rPr lang="en-US" dirty="0"/>
              <a:t>this might also enable more aggressive compiler optimizations. (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mame</a:t>
            </a:r>
            <a:r>
              <a:rPr lang="en-US" dirty="0"/>
              <a:t> </a:t>
            </a:r>
            <a:r>
              <a:rPr lang="en-US" dirty="0" err="1"/>
              <a:t>grafy</a:t>
            </a:r>
            <a:r>
              <a:rPr lang="en-US" dirty="0"/>
              <a:t> od </a:t>
            </a:r>
            <a:r>
              <a:rPr lang="en-US" dirty="0" err="1"/>
              <a:t>adama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memory layouts are a separate concept from data structures.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data structure can be constructed from a given layout using a simple “bag” constructor. In its simplest use, the constructor creates a data structure that automatically manages an appropriate</a:t>
            </a:r>
            <a:br>
              <a:rPr lang="en-US" dirty="0"/>
            </a:br>
            <a:r>
              <a:rPr lang="en-US" dirty="0"/>
              <a:t>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If, instead, we require the memory buffer to reside in a specific memory region or point to an already existing structure, we can supply it ourselves; the constructor then creates a view to the pointed data.</a:t>
            </a:r>
          </a:p>
          <a:p>
            <a:r>
              <a:rPr lang="en-US" dirty="0"/>
              <a:t>Here, for example, we requested the byte-wise size of the layout to allocate it ourselves in GPU device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  <a:br>
              <a:rPr lang="en-US" dirty="0"/>
            </a:br>
            <a:r>
              <a:rPr lang="en-US" dirty="0"/>
              <a:t>An adaptation of an idea of an iterator for multi-dimensional layouts and traversals.</a:t>
            </a:r>
          </a:p>
          <a:p>
            <a:endParaRPr lang="en-US" dirty="0"/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having to consider the dimensions of the structure.</a:t>
            </a:r>
            <a:br>
              <a:rPr lang="en-US" dirty="0"/>
            </a:br>
            <a:r>
              <a:rPr lang="en-US" dirty="0"/>
              <a:t>They are traversed automatically and composed into an index point, which we can use in a lambda expression specifying the element-specific action.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</a:t>
            </a:r>
          </a:p>
          <a:p>
            <a:r>
              <a:rPr lang="en-US" dirty="0"/>
              <a:t>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 with the other two dimensions (m and n).</a:t>
            </a:r>
          </a:p>
          <a:p>
            <a:r>
              <a:rPr lang="en-US" dirty="0"/>
              <a:t>It can be written as a dot product for each element of the output matrix, which, in code,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 which first infers the index space from A,</a:t>
            </a:r>
          </a:p>
          <a:p>
            <a:r>
              <a:rPr lang="en-US" dirty="0"/>
              <a:t>Then extends it to cover B as well, and does nothing for C, as its dimensions are already covered by the three loops.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much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and then applying it to the traverser.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can also parallelize the computation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the CUDA framework (used for general-purpose GPU programming), we define </a:t>
            </a:r>
            <a:r>
              <a:rPr lang="en-US" dirty="0" err="1"/>
              <a:t>cuda_traversers</a:t>
            </a:r>
            <a:r>
              <a:rPr lang="en-US" dirty="0"/>
              <a:t> that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  <a:p>
            <a:endParaRPr lang="en-US" dirty="0"/>
          </a:p>
          <a:p>
            <a:r>
              <a:rPr lang="en-US" dirty="0"/>
              <a:t>The plot on the left computes on small data of various layouts and highlights the possible performance overhead introduced by the MPI bindings,</a:t>
            </a:r>
            <a:br>
              <a:rPr lang="en-US" dirty="0"/>
            </a:br>
            <a:r>
              <a:rPr lang="en-US" dirty="0"/>
              <a:t>while the one on the  right highlights the performance overhead introduced by the abstractions used for computation</a:t>
            </a:r>
            <a:br>
              <a:rPr lang="en-US" dirty="0"/>
            </a:br>
            <a:r>
              <a:rPr lang="en-US" dirty="0"/>
              <a:t>as well as the differences between efficient layouts of data structures (shown on the x axis).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have shown that both abstractions and LLMs can be practical solutions for simplifying algorithm design &amp; optimization.</a:t>
            </a:r>
          </a:p>
          <a:p>
            <a:r>
              <a:rPr lang="en-US" dirty="0"/>
              <a:t>Both have their strengths and weaknesses;</a:t>
            </a:r>
          </a:p>
          <a:p>
            <a:pPr marL="171450" indent="-171450">
              <a:buFontTx/>
              <a:buChar char="-"/>
            </a:pPr>
            <a:r>
              <a:rPr lang="en-US" dirty="0"/>
              <a:t>reasonable use of abstractions usually leads to interpretable code with some safety checks and guarantees</a:t>
            </a:r>
            <a:br>
              <a:rPr lang="en-US" dirty="0"/>
            </a:br>
            <a:r>
              <a:rPr lang="en-US" dirty="0"/>
              <a:t>ensured by the transformation being applied by a deterministic system,</a:t>
            </a:r>
            <a:br>
              <a:rPr lang="en-US" dirty="0"/>
            </a:br>
            <a:r>
              <a:rPr lang="en-US" dirty="0"/>
              <a:t>while their use may require some learning and the abstractions may not apply to many problems well.</a:t>
            </a:r>
          </a:p>
          <a:p>
            <a:pPr marL="171450" indent="-171450">
              <a:buFontTx/>
              <a:buChar char="-"/>
            </a:pPr>
            <a:r>
              <a:rPr lang="en-US" dirty="0"/>
              <a:t>LLMs are pretty much unparalleled in the flexibility of their use, and they enable fully automatic solutions that may even</a:t>
            </a:r>
            <a:br>
              <a:rPr lang="en-US" dirty="0"/>
            </a:br>
            <a:r>
              <a:rPr lang="en-US" dirty="0"/>
              <a:t>interface with the user via natural language; on the other hand, they are inherently stochastic and they may output</a:t>
            </a:r>
            <a:br>
              <a:rPr lang="en-US" dirty="0"/>
            </a:br>
            <a:r>
              <a:rPr lang="en-US" dirty="0"/>
              <a:t>complex and hard to analyze code with many hidden bugs.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our next work, we have thus studied a possible combination of these two approaches to see if the abstractions improve</a:t>
            </a:r>
            <a:br>
              <a:rPr lang="en-US" dirty="0"/>
            </a:br>
            <a:r>
              <a:rPr lang="en-US" dirty="0"/>
              <a:t>the performance and correctness of LLM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for example, look up how to use specific abstractions or what algorithm designs to use.</a:t>
            </a:r>
          </a:p>
          <a:p>
            <a:endParaRPr lang="en-US" dirty="0"/>
          </a:p>
          <a:p>
            <a:r>
              <a:rPr lang="en-US" dirty="0"/>
              <a:t>It might also be interesting to explore abstraction design with LLMs as their explicit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45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dirty="0"/>
              <a:t>On the other hand, the text suffers from overstated novelty. The text is written in a way </a:t>
            </a:r>
            <a:r>
              <a:rPr lang="en-US" dirty="0" err="1"/>
              <a:t>thatrisks</a:t>
            </a:r>
            <a:r>
              <a:rPr lang="en-US" dirty="0"/>
              <a:t> giving the impression that the candidate invented the two </a:t>
            </a:r>
            <a:r>
              <a:rPr lang="en-US" dirty="0" err="1"/>
              <a:t>optimisation</a:t>
            </a:r>
            <a:r>
              <a:rPr lang="en-US" dirty="0"/>
              <a:t> paradigms (lay-out-agnostic and traversal-agnostic design) outright. This is misleading and, notably, does </a:t>
            </a:r>
            <a:r>
              <a:rPr lang="en-US" dirty="0" err="1"/>
              <a:t>notserve</a:t>
            </a:r>
            <a:r>
              <a:rPr lang="en-US" dirty="0"/>
              <a:t> the candidate's own case well: the candidate's contribution here is best </a:t>
            </a:r>
            <a:r>
              <a:rPr lang="en-US" dirty="0" err="1"/>
              <a:t>characterised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minor, incremental one within an existing landscape of </a:t>
            </a:r>
            <a:r>
              <a:rPr lang="en-US" dirty="0" err="1"/>
              <a:t>optimisations</a:t>
            </a:r>
            <a:r>
              <a:rPr lang="en-US" dirty="0"/>
              <a:t>. Which of these </a:t>
            </a:r>
            <a:r>
              <a:rPr lang="en-US" dirty="0" err="1"/>
              <a:t>ideascan</a:t>
            </a:r>
            <a:r>
              <a:rPr lang="en-US" dirty="0"/>
              <a:t> also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 err="1"/>
              <a:t>Kokkos</a:t>
            </a:r>
            <a:r>
              <a:rPr lang="en-US" dirty="0"/>
              <a:t> views and their related </a:t>
            </a:r>
            <a:r>
              <a:rPr lang="en-US" dirty="0" err="1"/>
              <a:t>mdspans</a:t>
            </a:r>
            <a:r>
              <a:rPr lang="en-US" dirty="0"/>
              <a:t> from the standard C++ library support some level of layout agnosticism; namely, they enable defining general interfaces for multidimensional arrays as well as their (rectangular) sub-arrays, which might be useful, for example, for divide-and-conquer strategies in layout-agnostic algorithms.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This, even by itself, is very useful; </a:t>
            </a:r>
            <a:r>
              <a:rPr lang="en-US" dirty="0" err="1"/>
              <a:t>CUTe</a:t>
            </a:r>
            <a:r>
              <a:rPr lang="en-US" dirty="0"/>
              <a:t> layouts even support more general layout algebra and thus come</a:t>
            </a:r>
            <a:r>
              <a:rPr lang="en-US" baseline="0" dirty="0"/>
              <a:t> very close to our approach. This might help, for example, define other derived views or temporary memory buffers in layout-agnostic way. However, their use is limited to Tensors and the design primarily focuses GPU computation.</a:t>
            </a:r>
            <a:br>
              <a:rPr lang="en-US" baseline="0" dirty="0"/>
            </a:br>
            <a:br>
              <a:rPr lang="en-US" baseline="0" dirty="0"/>
            </a:br>
            <a:r>
              <a:rPr lang="en-US" baseline="0" dirty="0"/>
              <a:t>New standards of OpenMP support powerful loop transformations, which might be used to optimize algorithms. While this doesn’t enable traversal-agnostic design of algorithms, it offers a good alternative with similar benefits in many use cases. Especially for algorithms that have a natural loop nest representation that allows for such transformations.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In the thesis (section 2.3.3), we lightly discuss some traversal-agnostic features of </a:t>
            </a:r>
            <a:r>
              <a:rPr lang="en-US" baseline="0" dirty="0" err="1"/>
              <a:t>GridTools</a:t>
            </a:r>
            <a:r>
              <a:rPr lang="en-US" baseline="0" dirty="0"/>
              <a:t> and 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80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currently struggle with interpreting the reviewer’s concern, will return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D00A-C97B-2737-13F2-3DAF74AE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ED1B-55E3-6487-BD53-B3FDC45B7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B8F4-47B3-8AEC-FEE0-BBA2C521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Designing efficient HPC algorithms is challenging</a:t>
            </a:r>
          </a:p>
          <a:p>
            <a:r>
              <a:rPr lang="en-US" dirty="0"/>
              <a:t>Multidimensional data processed in multi-level loops</a:t>
            </a:r>
          </a:p>
          <a:p>
            <a:pPr lvl="1"/>
            <a:r>
              <a:rPr lang="en-US" dirty="0"/>
              <a:t>Changing data layouts and traversals often preserves functionality</a:t>
            </a:r>
          </a:p>
          <a:p>
            <a:pPr lvl="1"/>
            <a:r>
              <a:rPr lang="en-US" b="1" dirty="0"/>
              <a:t>Right</a:t>
            </a:r>
            <a:r>
              <a:rPr lang="en-US" dirty="0"/>
              <a:t> </a:t>
            </a:r>
            <a:r>
              <a:rPr lang="en-US" b="1" dirty="0"/>
              <a:t>data layouts</a:t>
            </a:r>
            <a:r>
              <a:rPr lang="en-US" dirty="0"/>
              <a:t> and </a:t>
            </a:r>
            <a:r>
              <a:rPr lang="en-US" b="1" dirty="0"/>
              <a:t>traversals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significant </a:t>
            </a:r>
            <a:r>
              <a:rPr lang="en-US" b="1" dirty="0"/>
              <a:t>speedup</a:t>
            </a:r>
          </a:p>
          <a:p>
            <a:r>
              <a:rPr lang="en-US" dirty="0"/>
              <a:t>Massively parallel systems processing large datasets</a:t>
            </a:r>
          </a:p>
          <a:p>
            <a:r>
              <a:rPr lang="en-US" dirty="0"/>
              <a:t>Trial-and-error evaluation of many different choices</a:t>
            </a:r>
          </a:p>
          <a:p>
            <a:r>
              <a:rPr lang="en-US" dirty="0"/>
              <a:t>Different optima on different systems</a:t>
            </a:r>
          </a:p>
          <a:p>
            <a:endParaRPr lang="en-US" dirty="0"/>
          </a:p>
          <a:p>
            <a:r>
              <a:rPr lang="en-US" dirty="0"/>
              <a:t>Decoupling data layouts, then traversals, then full automation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174B8-24C5-EFF8-68D7-B0BAFDA2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8A958-9CA9-B376-C939-4B09FEE6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  <p:pic>
        <p:nvPicPr>
          <p:cNvPr id="6" name="Picture 5" descr="Thinking Man PNG Images Transparent Free Download">
            <a:extLst>
              <a:ext uri="{FF2B5EF4-FFF2-40B4-BE49-F238E27FC236}">
                <a16:creationId xmlns:a16="http://schemas.microsoft.com/office/drawing/2014/main" id="{EECB4EAE-D14C-1C42-94B6-34013519E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656" y="915929"/>
            <a:ext cx="1640006" cy="1640006"/>
          </a:xfrm>
          <a:prstGeom prst="rect">
            <a:avLst/>
          </a:prstGeom>
        </p:spPr>
      </p:pic>
      <p:pic>
        <p:nvPicPr>
          <p:cNvPr id="7" name="Picture 6" descr="Trial and error - Free education icons">
            <a:extLst>
              <a:ext uri="{FF2B5EF4-FFF2-40B4-BE49-F238E27FC236}">
                <a16:creationId xmlns:a16="http://schemas.microsoft.com/office/drawing/2014/main" id="{28071A90-4986-3170-8847-B34F3D138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061022"/>
            <a:ext cx="1269681" cy="126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22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9" y="3424149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3D42A-BB3F-3EFA-4CCB-5A700F8F468C}"/>
              </a:ext>
            </a:extLst>
          </p:cNvPr>
          <p:cNvSpPr/>
          <p:nvPr/>
        </p:nvSpPr>
        <p:spPr>
          <a:xfrm>
            <a:off x="5925244" y="3140003"/>
            <a:ext cx="1941388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5C1C8-80D9-8C99-35CE-890BA17FBF13}"/>
              </a:ext>
            </a:extLst>
          </p:cNvPr>
          <p:cNvSpPr/>
          <p:nvPr/>
        </p:nvSpPr>
        <p:spPr>
          <a:xfrm>
            <a:off x="5925244" y="3631744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AC22D-D974-2FFF-B64D-6B0E1C0C6D26}"/>
              </a:ext>
            </a:extLst>
          </p:cNvPr>
          <p:cNvSpPr/>
          <p:nvPr/>
        </p:nvSpPr>
        <p:spPr>
          <a:xfrm>
            <a:off x="5925244" y="4111106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46970" y="2629816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F3510A-7AA6-1D61-17F1-1FC3E8CDC94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874938" y="3428927"/>
            <a:ext cx="1312546" cy="343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2690771" y="1726004"/>
            <a:ext cx="1781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161496" y="4745859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495744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458711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4957409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4957409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4957409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1847750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11232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38339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1765307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2683187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1045F7D-5F95-D4A4-2108-8EF08244EF72}"/>
              </a:ext>
            </a:extLst>
          </p:cNvPr>
          <p:cNvSpPr/>
          <p:nvPr/>
        </p:nvSpPr>
        <p:spPr>
          <a:xfrm rot="5400000">
            <a:off x="4432819" y="3561426"/>
            <a:ext cx="78497" cy="5511492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EEBB8-CEAC-5121-92BA-FBA1CBC662D5}"/>
              </a:ext>
            </a:extLst>
          </p:cNvPr>
          <p:cNvSpPr txBox="1"/>
          <p:nvPr/>
        </p:nvSpPr>
        <p:spPr>
          <a:xfrm>
            <a:off x="4154512" y="6352143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31D2927F-1B91-15E0-3A30-9D2B9E9F1A75}"/>
              </a:ext>
            </a:extLst>
          </p:cNvPr>
          <p:cNvSpPr/>
          <p:nvPr/>
        </p:nvSpPr>
        <p:spPr>
          <a:xfrm rot="5400000">
            <a:off x="9315742" y="5192211"/>
            <a:ext cx="74219" cy="2245650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453C35-A3D1-C43A-87EB-29D2FECA4E69}"/>
              </a:ext>
            </a:extLst>
          </p:cNvPr>
          <p:cNvSpPr txBox="1"/>
          <p:nvPr/>
        </p:nvSpPr>
        <p:spPr>
          <a:xfrm>
            <a:off x="9024704" y="6352143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GPU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30B5E0-ABB5-8FFF-3D96-A05D108A0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9B62B548-A2CB-44E7-8C14-94F9EC04F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AF010DE9-B658-4682-CFDF-661E5A062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F7F7CFF8-EDA0-77B0-914C-2AD8CCB7F8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2719349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6756788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4642964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605927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3760050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270A02A-F64D-1590-FA37-729E2E1BC765}"/>
              </a:ext>
            </a:extLst>
          </p:cNvPr>
          <p:cNvSpPr/>
          <p:nvPr/>
        </p:nvSpPr>
        <p:spPr>
          <a:xfrm>
            <a:off x="5200214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17191D-6E0A-AA15-0D0A-F36C9AFA3E26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DDBBE2-A63E-674B-08AE-0EFF57E0FE3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E38BC2-DE6F-53AE-919A-9277CD5405A3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58166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8870612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499442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474888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293654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-25304" y="2637392"/>
            <a:ext cx="247097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 += TILE_SIZE</a:t>
            </a: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8882826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AE7025AB-C2BF-48E9-6016-7ED3E2EDADB6}"/>
              </a:ext>
            </a:extLst>
          </p:cNvPr>
          <p:cNvSpPr/>
          <p:nvPr/>
        </p:nvSpPr>
        <p:spPr>
          <a:xfrm>
            <a:off x="9423788" y="3704517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4B8FB-55FB-804F-D918-87CA02061244}"/>
              </a:ext>
            </a:extLst>
          </p:cNvPr>
          <p:cNvSpPr txBox="1"/>
          <p:nvPr/>
        </p:nvSpPr>
        <p:spPr>
          <a:xfrm>
            <a:off x="2598019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Abstractions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47FF7-FF2B-E35C-C5DC-D36095FC9DA6}"/>
              </a:ext>
            </a:extLst>
          </p:cNvPr>
          <p:cNvSpPr txBox="1"/>
          <p:nvPr/>
        </p:nvSpPr>
        <p:spPr>
          <a:xfrm>
            <a:off x="8119778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DD9E2C-DB94-9465-C838-8C4F60DDBD33}"/>
              </a:ext>
            </a:extLst>
          </p:cNvPr>
          <p:cNvSpPr txBox="1"/>
          <p:nvPr/>
        </p:nvSpPr>
        <p:spPr>
          <a:xfrm>
            <a:off x="3863658" y="2566736"/>
            <a:ext cx="4464684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Simplifying algorithm design &amp;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39B83B-4C76-1D1B-19E8-3F68E2DC03E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335121" y="2975359"/>
            <a:ext cx="851868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6E5E0-5E49-A14A-1A69-8F74E4643E8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005013" y="2975359"/>
            <a:ext cx="851867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C68EF8-2BD7-3EAB-EBBD-E77F253B6551}"/>
              </a:ext>
            </a:extLst>
          </p:cNvPr>
          <p:cNvSpPr txBox="1"/>
          <p:nvPr/>
        </p:nvSpPr>
        <p:spPr>
          <a:xfrm>
            <a:off x="1272695" y="3977774"/>
            <a:ext cx="1506491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Interpretable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5ED155-D147-8024-5E14-14189388C2EE}"/>
              </a:ext>
            </a:extLst>
          </p:cNvPr>
          <p:cNvSpPr txBox="1"/>
          <p:nvPr/>
        </p:nvSpPr>
        <p:spPr>
          <a:xfrm>
            <a:off x="7339256" y="3981345"/>
            <a:ext cx="989086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Flexible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B4CE5-730D-15C7-FE5D-C7F62D2A14B1}"/>
              </a:ext>
            </a:extLst>
          </p:cNvPr>
          <p:cNvSpPr txBox="1"/>
          <p:nvPr/>
        </p:nvSpPr>
        <p:spPr>
          <a:xfrm>
            <a:off x="6954309" y="4525356"/>
            <a:ext cx="1758979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Fully automatic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E5E7C-9BCF-9753-06F8-EAF716A55760}"/>
              </a:ext>
            </a:extLst>
          </p:cNvPr>
          <p:cNvSpPr txBox="1"/>
          <p:nvPr/>
        </p:nvSpPr>
        <p:spPr>
          <a:xfrm>
            <a:off x="1307498" y="4526548"/>
            <a:ext cx="1436883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Some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FA2B2-D1FB-7E40-AA4F-77E26D5DACCE}"/>
              </a:ext>
            </a:extLst>
          </p:cNvPr>
          <p:cNvSpPr txBox="1"/>
          <p:nvPr/>
        </p:nvSpPr>
        <p:spPr>
          <a:xfrm>
            <a:off x="3802966" y="3978297"/>
            <a:ext cx="1675382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Learning curve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F3EE-C465-006F-A738-B2C3CB9FD4F2}"/>
              </a:ext>
            </a:extLst>
          </p:cNvPr>
          <p:cNvSpPr txBox="1"/>
          <p:nvPr/>
        </p:nvSpPr>
        <p:spPr>
          <a:xfrm>
            <a:off x="3956208" y="4526547"/>
            <a:ext cx="1368897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Not general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90D71-6DEC-174A-0D4C-C5A0334D42F9}"/>
              </a:ext>
            </a:extLst>
          </p:cNvPr>
          <p:cNvSpPr txBox="1"/>
          <p:nvPr/>
        </p:nvSpPr>
        <p:spPr>
          <a:xfrm>
            <a:off x="9395405" y="3977774"/>
            <a:ext cx="1286026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Stochastic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42A5D-EA70-C360-ADE0-BC629217A2FF}"/>
              </a:ext>
            </a:extLst>
          </p:cNvPr>
          <p:cNvSpPr txBox="1"/>
          <p:nvPr/>
        </p:nvSpPr>
        <p:spPr>
          <a:xfrm>
            <a:off x="9126608" y="4525356"/>
            <a:ext cx="1823620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Complex output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9F09A8EB-ABF6-B6C8-D0BA-80FB857DE93D}"/>
              </a:ext>
            </a:extLst>
          </p:cNvPr>
          <p:cNvSpPr/>
          <p:nvPr/>
        </p:nvSpPr>
        <p:spPr>
          <a:xfrm rot="5400000">
            <a:off x="6019868" y="1648644"/>
            <a:ext cx="152264" cy="69959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9E2B3-4BCB-989F-B436-E7DF27AF788B}"/>
              </a:ext>
            </a:extLst>
          </p:cNvPr>
          <p:cNvSpPr txBox="1"/>
          <p:nvPr/>
        </p:nvSpPr>
        <p:spPr>
          <a:xfrm>
            <a:off x="4505436" y="5222758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Would abstractions help LLMs</a:t>
            </a:r>
            <a:br>
              <a:rPr lang="en-US" dirty="0"/>
            </a:br>
            <a:r>
              <a:rPr lang="en-US" dirty="0"/>
              <a:t>generate better code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76299-1652-9960-0CF0-FAE18BAA3D3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188369" y="3633311"/>
            <a:ext cx="1146752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9A658A6-462A-721C-919E-76FEB163D5B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335121" y="3633311"/>
            <a:ext cx="1170315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53AA8-39CA-47DE-F5FA-41E1EE49B24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898606" y="3633311"/>
            <a:ext cx="958274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7CF218E-2303-9C34-7EE9-CD93166E4988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8856880" y="3633311"/>
            <a:ext cx="1015783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dirty="0"/>
              <a:t>Possible f</a:t>
            </a:r>
            <a:r>
              <a:rPr lang="en-US" noProof="0" dirty="0" err="1"/>
              <a:t>uture</a:t>
            </a:r>
            <a:r>
              <a:rPr lang="en-US" noProof="0" dirty="0"/>
              <a:t>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 (performance, compile errors, …)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More LLM-focused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4178" y="3997487"/>
            <a:ext cx="289780" cy="289780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44768" y="4560162"/>
            <a:ext cx="289780" cy="289780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8070" y="2989368"/>
            <a:ext cx="289780" cy="289780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14D937-1CAE-414B-A7D5-018C6869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comments and questions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30AF46-445A-EA10-5B0A-764E1CA13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5DEE5-750D-2E34-780B-7B3070345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Novelty in layout- and traversal-agnosticism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C7CE7-A5CF-9AB9-4808-73A235F6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 not claim to invent these two concepts as new paradigms</a:t>
            </a:r>
          </a:p>
          <a:p>
            <a:pPr lvl="1"/>
            <a:r>
              <a:rPr lang="en-US" dirty="0"/>
              <a:t>The thesis explicitly studies the two concepts</a:t>
            </a:r>
          </a:p>
          <a:p>
            <a:pPr lvl="2"/>
            <a:r>
              <a:rPr lang="en-US" dirty="0"/>
              <a:t>introducing them as two identified underexplored principles</a:t>
            </a:r>
          </a:p>
          <a:p>
            <a:pPr lvl="1"/>
            <a:r>
              <a:rPr lang="en-US" dirty="0"/>
              <a:t>Not targeted by prior research or design in HPC algorithms</a:t>
            </a:r>
          </a:p>
          <a:p>
            <a:r>
              <a:rPr lang="en-US" dirty="0"/>
              <a:t>Main novelty</a:t>
            </a:r>
          </a:p>
          <a:p>
            <a:pPr lvl="1"/>
            <a:r>
              <a:rPr lang="en-US" dirty="0"/>
              <a:t>Unified approach for layout &amp; traversal-agnostic algorithm design</a:t>
            </a:r>
          </a:p>
          <a:p>
            <a:pPr lvl="1"/>
            <a:r>
              <a:rPr lang="en-US" dirty="0"/>
              <a:t>Named dimensions and compositional approach</a:t>
            </a:r>
          </a:p>
          <a:p>
            <a:pPr lvl="1"/>
            <a:r>
              <a:rPr lang="en-US" dirty="0"/>
              <a:t>Support for heterogeneous layouts</a:t>
            </a:r>
          </a:p>
          <a:p>
            <a:pPr lvl="1"/>
            <a:r>
              <a:rPr lang="en-US" dirty="0"/>
              <a:t>Abstracting evaluation strategy and encoding for Cellular Automata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54E1-6E6D-2E32-65E2-74ED092C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AAC9A-8584-05EF-C97F-9A8A4DE3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71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B94CF-19F9-112D-5812-9019906C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of these ideas can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BABB-A5A5-A95D-8DB1-6B93F86A9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(reaction to layout- and traversal-agnostic design)</a:t>
            </a:r>
          </a:p>
          <a:p>
            <a:endParaRPr lang="en-US" dirty="0"/>
          </a:p>
          <a:p>
            <a:r>
              <a:rPr lang="en-US" dirty="0" err="1"/>
              <a:t>Kokkos</a:t>
            </a:r>
            <a:r>
              <a:rPr lang="en-US" dirty="0"/>
              <a:t> Views (and </a:t>
            </a:r>
            <a:r>
              <a:rPr lang="en-US" dirty="0" err="1"/>
              <a:t>mdspans</a:t>
            </a:r>
            <a:r>
              <a:rPr lang="en-US" dirty="0"/>
              <a:t>) abstract physical memory layout</a:t>
            </a:r>
          </a:p>
          <a:p>
            <a:pPr lvl="1"/>
            <a:r>
              <a:rPr lang="en-US" dirty="0"/>
              <a:t>Limited to multidimensional arrays</a:t>
            </a:r>
          </a:p>
          <a:p>
            <a:pPr lvl="1"/>
            <a:r>
              <a:rPr lang="en-US" dirty="0"/>
              <a:t>Mostly focus row-major vs column-major (and custom strides)</a:t>
            </a:r>
          </a:p>
          <a:p>
            <a:pPr lvl="1"/>
            <a:r>
              <a:rPr lang="en-US" dirty="0" err="1"/>
              <a:t>Subview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 the only supported transformation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CUTe</a:t>
            </a:r>
            <a:r>
              <a:rPr lang="en-US" dirty="0">
                <a:sym typeface="Wingdings" panose="05000000000000000000" pitchFamily="2" charset="2"/>
              </a:rPr>
              <a:t> supports more general layout algebra</a:t>
            </a:r>
          </a:p>
          <a:p>
            <a:r>
              <a:rPr lang="en-US" dirty="0">
                <a:sym typeface="Wingdings" panose="05000000000000000000" pitchFamily="2" charset="2"/>
              </a:rPr>
              <a:t>OpenMP (6.0)  some powerful loop transformation directives</a:t>
            </a:r>
          </a:p>
          <a:p>
            <a:pPr lvl="1"/>
            <a:r>
              <a:rPr lang="en-US" dirty="0"/>
              <a:t>Not exactly traversal-agnostic design; good alternative in many use cases</a:t>
            </a:r>
          </a:p>
          <a:p>
            <a:r>
              <a:rPr lang="en-US" dirty="0"/>
              <a:t>Some traversal-agnostic capabilities in </a:t>
            </a:r>
            <a:r>
              <a:rPr lang="en-US" dirty="0" err="1"/>
              <a:t>GridTools</a:t>
            </a:r>
            <a:r>
              <a:rPr lang="en-US" dirty="0"/>
              <a:t> and RAJA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0CB14-538F-D9BD-31BC-4BF79D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55591-70A5-4366-E73A-F1A5B371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8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5C75-72D4-F8D1-AAB2-87E7B5F2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4FC06-723D-4133-C57B-96E03F8E7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Mdspan</a:t>
            </a:r>
            <a:r>
              <a:rPr lang="en-US" dirty="0"/>
              <a:t>, </a:t>
            </a:r>
            <a:r>
              <a:rPr lang="en-US" dirty="0" err="1"/>
              <a:t>Kokkos</a:t>
            </a:r>
            <a:r>
              <a:rPr lang="en-US" dirty="0"/>
              <a:t>, Raja, </a:t>
            </a:r>
            <a:r>
              <a:rPr lang="en-US" dirty="0" err="1"/>
              <a:t>CuTe</a:t>
            </a:r>
            <a:r>
              <a:rPr lang="en-US" dirty="0"/>
              <a:t>, </a:t>
            </a:r>
            <a:r>
              <a:rPr lang="en-US" dirty="0" err="1"/>
              <a:t>GridTools</a:t>
            </a:r>
            <a:r>
              <a:rPr lang="en-US" dirty="0"/>
              <a:t>, OpenMP loops,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Cellato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3D3EB-3E46-0420-084C-0ABC2588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0E3B4-2FE9-EF9E-DBB8-AFE3DD09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2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70497-CBB6-D2E1-4D1A-ED2AA0BB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CE5F-2C1C-357D-AE8A-7FA4DA55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Template-exclusive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9516C-E8E3-08CD-1240-AB67A564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D6062-9A3A-0AD5-574A-E26659D7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73E9E-8DA4-6D98-F073-7AF2BF20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45210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6181A-2F41-81F5-2007-5244DC687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the abstractions hinder the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9388A-2481-EE41-E355-566C2612F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398BB-7A0C-F187-3DAA-0CA6E59E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36833A-9918-E7AE-C3D5-650A1C45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95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4809</TotalTime>
  <Words>6022</Words>
  <Application>Microsoft Office PowerPoint</Application>
  <PresentationFormat>Widescreen</PresentationFormat>
  <Paragraphs>728</Paragraphs>
  <Slides>36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Conclusion</vt:lpstr>
      <vt:lpstr>Review comments and questions</vt:lpstr>
      <vt:lpstr>Novelty in layout- and traversal-agnosticism</vt:lpstr>
      <vt:lpstr>Which of these ideas can be found in software like Kokkos or OpenMP's loop transformations?</vt:lpstr>
      <vt:lpstr>Comparison table?</vt:lpstr>
      <vt:lpstr>Template-exclusive statements</vt:lpstr>
      <vt:lpstr>Why did the abstractions hinder the LLM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210</cp:revision>
  <dcterms:created xsi:type="dcterms:W3CDTF">2026-08-08T18:10:38Z</dcterms:created>
  <dcterms:modified xsi:type="dcterms:W3CDTF">2026-08-30T20:09:07Z</dcterms:modified>
</cp:coreProperties>
</file>