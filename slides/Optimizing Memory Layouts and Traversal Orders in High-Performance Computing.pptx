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6" r:id="rId2"/>
    <p:sldId id="268" r:id="rId3"/>
    <p:sldId id="277" r:id="rId4"/>
    <p:sldId id="269" r:id="rId5"/>
    <p:sldId id="270" r:id="rId6"/>
    <p:sldId id="281" r:id="rId7"/>
    <p:sldId id="282" r:id="rId8"/>
    <p:sldId id="263" r:id="rId9"/>
    <p:sldId id="271" r:id="rId10"/>
    <p:sldId id="283" r:id="rId11"/>
    <p:sldId id="284" r:id="rId12"/>
    <p:sldId id="272" r:id="rId13"/>
    <p:sldId id="285" r:id="rId14"/>
    <p:sldId id="278" r:id="rId15"/>
    <p:sldId id="265" r:id="rId16"/>
    <p:sldId id="258" r:id="rId17"/>
    <p:sldId id="273" r:id="rId18"/>
    <p:sldId id="286" r:id="rId19"/>
    <p:sldId id="279" r:id="rId20"/>
    <p:sldId id="274" r:id="rId21"/>
    <p:sldId id="287" r:id="rId22"/>
    <p:sldId id="280" r:id="rId23"/>
    <p:sldId id="259" r:id="rId24"/>
    <p:sldId id="275" r:id="rId25"/>
    <p:sldId id="288" r:id="rId26"/>
    <p:sldId id="276" r:id="rId27"/>
    <p:sldId id="260" r:id="rId28"/>
    <p:sldId id="266" r:id="rId29"/>
    <p:sldId id="261" r:id="rId30"/>
    <p:sldId id="262"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268"/>
            <p14:sldId id="277"/>
            <p14:sldId id="269"/>
          </p14:sldIdLst>
        </p14:section>
        <p14:section name="algorithms" id="{7894E90A-E282-4867-82A4-369CDB973E4E}">
          <p14:sldIdLst>
            <p14:sldId id="270"/>
            <p14:sldId id="281"/>
            <p14:sldId id="282"/>
            <p14:sldId id="263"/>
            <p14:sldId id="271"/>
            <p14:sldId id="283"/>
            <p14:sldId id="284"/>
            <p14:sldId id="272"/>
            <p14:sldId id="285"/>
            <p14:sldId id="278"/>
            <p14:sldId id="265"/>
            <p14:sldId id="258"/>
            <p14:sldId id="273"/>
            <p14:sldId id="286"/>
            <p14:sldId id="279"/>
            <p14:sldId id="274"/>
            <p14:sldId id="287"/>
            <p14:sldId id="280"/>
          </p14:sldIdLst>
        </p14:section>
        <p14:section name="llms" id="{2FE3CF17-CBFB-48E9-A3BF-DD99B7D2F01E}">
          <p14:sldIdLst>
            <p14:sldId id="259"/>
            <p14:sldId id="275"/>
            <p14:sldId id="288"/>
            <p14:sldId id="276"/>
          </p14:sldIdLst>
        </p14:section>
        <p14:section name="sw artifacts" id="{C643FBD2-A5DD-453D-B5B5-69D3884A4C2F}">
          <p14:sldIdLst>
            <p14:sldId id="260"/>
          </p14:sldIdLst>
        </p14:section>
        <p14:section name="summary" id="{D3BAAF83-51D3-4EFD-B7CC-7BA6DAC4A838}">
          <p14:sldIdLst>
            <p14:sldId id="266"/>
            <p14:sldId id="261"/>
          </p14:sldIdLst>
        </p14:section>
        <p14:section name="Reviewers' comments" id="{40190F67-0659-405D-810E-4AC194B72FA5}">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72428" autoAdjust="0"/>
  </p:normalViewPr>
  <p:slideViewPr>
    <p:cSldViewPr snapToGrid="0">
      <p:cViewPr varScale="1">
        <p:scale>
          <a:sx n="115" d="100"/>
          <a:sy n="115" d="100"/>
        </p:scale>
        <p:origin x="341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illustrate what we mean by memory layouts and traversal orders, let’s look at a simple example of just traversing a single matrix and initializing its elements to values that might depend on their indices.</a:t>
            </a:r>
          </a:p>
          <a:p>
            <a:endParaRPr lang="en-US" dirty="0"/>
          </a:p>
          <a:p>
            <a:r>
              <a:rPr lang="en-US" dirty="0"/>
              <a:t>?? Even this simple example can show a surprising level of complexity.</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(cool animation)</a:t>
            </a:r>
            <a:br>
              <a:rPr lang="en-US" dirty="0"/>
            </a:br>
            <a:r>
              <a:rPr lang="en-US" dirty="0"/>
              <a:t>Notice that for the *row-major matrix layout* on the left, the algorithm tends to access elements that are close together, whereas in the other, *column-major layout*, the accessed elements are spread out further.</a:t>
            </a:r>
            <a:br>
              <a:rPr lang="en-US" dirty="0"/>
            </a:br>
            <a:r>
              <a:rPr lang="en-US" dirty="0"/>
              <a:t>Thus, the algorithm expresses better *locality of reference* for the row-major layout, and we can expect a better performance as a result due to various hardware optimizations such as caching.</a:t>
            </a:r>
            <a:br>
              <a:rPr lang="en-US" dirty="0"/>
            </a:br>
            <a:r>
              <a:rPr lang="en-US" dirty="0"/>
              <a:t>(?? (caching) That relies on accessed values being temporarily stored in faster memory units, automatically by the hardware)</a:t>
            </a:r>
          </a:p>
          <a:p>
            <a:endParaRPr lang="en-US" dirty="0"/>
          </a:p>
          <a:p>
            <a:r>
              <a:rPr lang="en-US" dirty="0"/>
              <a:t>?? define locality of reference?</a:t>
            </a:r>
          </a:p>
          <a:p>
            <a:endParaRPr lang="en-US" dirty="0"/>
          </a:p>
          <a:p>
            <a:r>
              <a:rPr lang="en-US" dirty="0"/>
              <a:t>Of course, the two layouts are the simplest layouts for matrices, and for many real-use algorithms, more elaborate layouts, such as tile-major layouts (where each matrix is stored as a series of smaller sub-matrices), may often perform even better.</a:t>
            </a:r>
          </a:p>
          <a:p>
            <a:r>
              <a:rPr lang="en-US" dirty="0"/>
              <a:t>?? (Similarly, the traversal may be split into multiple blocks or tiles to better utilize caching)</a:t>
            </a:r>
          </a:p>
          <a:p>
            <a:endParaRPr lang="en-US" dirty="0"/>
          </a:p>
          <a:p>
            <a:r>
              <a:rPr lang="en-US" dirty="0"/>
              <a:t>In real-use algorithms, the situation is further complicated by factors such as algorithms having more elaborate traversal patterns, accessing multiple data structures at once, and each hardware architecture having further characteristics affecting the choice of memory layouts and traversal orders.</a:t>
            </a:r>
          </a:p>
          <a:p>
            <a:endParaRPr lang="en-US" dirty="0"/>
          </a:p>
          <a:p>
            <a:r>
              <a:rPr lang="en-US" dirty="0"/>
              <a:t>Thus, it is typically not feasible to know the correct design choices in advance</a:t>
            </a:r>
          </a:p>
          <a:p>
            <a:r>
              <a:rPr lang="en-US" dirty="0"/>
              <a:t>(and even if so, hard-coding optimizations for one hardware architecture makes the code less maintainable/readable and less portable to other architectures)</a:t>
            </a:r>
            <a:br>
              <a:rPr lang="en-US" dirty="0"/>
            </a:br>
            <a:r>
              <a:rPr lang="en-US" dirty="0"/>
              <a:t>?? Example</a:t>
            </a:r>
            <a:br>
              <a:rPr lang="en-US" dirty="0"/>
            </a:br>
            <a:br>
              <a:rPr lang="en-US" dirty="0"/>
            </a:br>
            <a:r>
              <a:rPr lang="en-US" dirty="0"/>
              <a:t>(ass bridge: our research focuses on making this automatable and simpler)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our research focused on two (something like compatible) directions</a:t>
            </a:r>
          </a:p>
          <a:p>
            <a:endParaRPr lang="en-US" dirty="0"/>
          </a:p>
          <a:p>
            <a:r>
              <a:rPr lang="en-US" dirty="0"/>
              <a:t>The first one was investigating and implementing abstractions that offer composable building blocks that can be used to design efficient memory layouts and traversal orders; the choices can be algorithmically automatized by techniques such as autotuning</a:t>
            </a:r>
          </a:p>
          <a:p>
            <a:endParaRPr lang="en-US" dirty="0"/>
          </a:p>
          <a:p>
            <a:r>
              <a:rPr lang="en-US" dirty="0"/>
              <a:t>The other direction has opened with the introduction of Large Language Models (LLMs), where the LLM can provide efficient implementation details fulfilling a given API requirement</a:t>
            </a:r>
          </a:p>
          <a:p>
            <a:endParaRPr lang="en-US" dirty="0"/>
          </a:p>
          <a:p>
            <a:r>
              <a:rPr lang="en-US" dirty="0"/>
              <a:t>(?? More yapping?</a:t>
            </a:r>
          </a:p>
          <a:p>
            <a:r>
              <a:rPr lang="en-US" dirty="0"/>
              <a:t>- We have investigated how to … (tutoring)</a:t>
            </a:r>
          </a:p>
          <a:p>
            <a:r>
              <a:rPr lang="en-US" dirty="0"/>
              <a:t>)</a:t>
            </a:r>
          </a:p>
          <a:p>
            <a:endParaRPr lang="en-US" dirty="0"/>
          </a:p>
          <a:p>
            <a:r>
              <a:rPr lang="en-US" dirty="0"/>
              <a:t>?? Since this research area is quite broad, we have mostly focused solely on dense data structures and algorithms utilizing regular loops, as even with this limitation, the area offers interesting challenges and many opportunities for improving the state of the art</a:t>
            </a:r>
          </a:p>
          <a:p>
            <a:endParaRPr lang="en-US" dirty="0"/>
          </a:p>
          <a:p>
            <a:r>
              <a:rPr lang="en-US" dirty="0"/>
              <a:t>(ass bridge: now focusing on the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4226210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445601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a:p>
            <a:r>
              <a:rPr lang="en-US" dirty="0"/>
              <a:t>As the first contribution of our research, we have devised an abstraction for building and transforming memory layouts that enable the design of layout-agnostic algorithms as well as the reuse of the defined layouts.</a:t>
            </a:r>
          </a:p>
          <a:p>
            <a:endParaRPr lang="en-US" dirty="0"/>
          </a:p>
          <a:p>
            <a:r>
              <a:rPr lang="en-US" dirty="0"/>
              <a:t>In real-use algorithms</a:t>
            </a:r>
            <a:br>
              <a:rPr lang="en-US" dirty="0"/>
            </a:br>
            <a:r>
              <a:rPr lang="en-US" dirty="0"/>
              <a:t>- dimensions have semantic value</a:t>
            </a:r>
            <a:br>
              <a:rPr lang="en-US" dirty="0"/>
            </a:br>
            <a:r>
              <a:rPr lang="en-US" dirty="0"/>
              <a:t>- a data access more often depends on the semantic (logic) structure than on a specific memory offset</a:t>
            </a:r>
            <a:br>
              <a:rPr lang="en-US" dirty="0"/>
            </a:br>
            <a:r>
              <a:rPr lang="en-US" dirty="0"/>
              <a:t>- traversals cover the semantic space rather than a set of abstract coordinates</a:t>
            </a:r>
          </a:p>
          <a:p>
            <a:r>
              <a:rPr lang="en-US" dirty="0"/>
              <a:t>*/</a:t>
            </a:r>
          </a:p>
          <a:p>
            <a:endParaRPr lang="en-US" dirty="0"/>
          </a:p>
          <a:p>
            <a:r>
              <a:rPr lang="en-US" dirty="0"/>
              <a:t>At the beginning of our research, we focused on devising abstractions that would enable a more seamless design of algorithms amenable to source-level optimizations allowing for user-direction and automation.</a:t>
            </a:r>
          </a:p>
          <a:p>
            <a:endParaRPr lang="en-US" dirty="0"/>
          </a:p>
          <a:p>
            <a:r>
              <a:rPr lang="en-US" dirty="0"/>
              <a:t>If we slightly optimize a standard matrix multiplication algorithm, we might end up with something similar to the shown code.</a:t>
            </a:r>
          </a:p>
          <a:p>
            <a:r>
              <a:rPr lang="en-US" dirty="0"/>
              <a:t>At first view, it is difficult to see that it is actually a three-dimensional traversal performed in a tiled manner, accessing elements in row-major or column-major layouts.</a:t>
            </a:r>
          </a:p>
          <a:p>
            <a:br>
              <a:rPr lang="en-US" dirty="0"/>
            </a:br>
            <a:br>
              <a:rPr lang="en-US" dirty="0"/>
            </a:br>
            <a:r>
              <a:rPr lang="en-US" dirty="0"/>
              <a:t>[v without runtime overhead]</a:t>
            </a:r>
            <a:br>
              <a:rPr lang="en-US" dirty="0"/>
            </a:br>
            <a:endParaRPr lang="en-US" dirty="0"/>
          </a:p>
          <a:p>
            <a:r>
              <a:rPr lang="en-US" dirty="0"/>
              <a:t>Our research iteratively progressed to a point where we can encode the semantic logical structure of layouts independently of the physical layout, naming the dimensions for specifying the logical API that is common to the layouts sharing the same dimensions.</a:t>
            </a:r>
          </a:p>
          <a:p>
            <a:r>
              <a:rPr lang="en-US" dirty="0"/>
              <a:t>This makes the structures more resistant to simple errors and encodes further information that then allows using these names to either identify common dimensions of different structures and thus automatically infer traversals over them, or specify transformations of these traversals.</a:t>
            </a:r>
            <a:br>
              <a:rPr lang="en-US" dirty="0"/>
            </a:br>
            <a:r>
              <a:rPr lang="en-US" dirty="0"/>
              <a:t>This then allows us to compact the difficult-to-maintain version of the matrix multiplication algorithm into a more compact and semantic code.</a:t>
            </a:r>
            <a:br>
              <a:rPr lang="en-US" dirty="0"/>
            </a:br>
            <a:r>
              <a:rPr lang="en-US" dirty="0"/>
              <a:t>(The first three rows directly match, then we simply specify we want to traverse the combined space of the three structures, and specify the action that should happen for each point of the space; the order directive then specifies the tiling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2754378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first contribution, we focused on abstractions for encoding the memory layouts so that they separate the logical structure used in the algorithms from the physical memory layout. Our research is not the only effort on this, as nowadays,</a:t>
            </a:r>
            <a:br>
              <a:rPr lang="en-US" dirty="0"/>
            </a:br>
            <a:r>
              <a:rPr lang="en-US" dirty="0"/>
              <a:t>We can see similar efforts in the C++ standard with the introduction of </a:t>
            </a:r>
            <a:r>
              <a:rPr lang="en-US" dirty="0" err="1"/>
              <a:t>mdspans</a:t>
            </a:r>
            <a:r>
              <a:rPr lang="en-US" dirty="0"/>
              <a:t> that offer flexible interfaces for later introduced linear algebra functions, or </a:t>
            </a:r>
            <a:r>
              <a:rPr lang="en-US" dirty="0" err="1"/>
              <a:t>CUTe</a:t>
            </a:r>
            <a:r>
              <a:rPr lang="en-US" dirty="0"/>
              <a:t> layouts used for optimizing GPU kernels in the CUTLASS framework.</a:t>
            </a:r>
          </a:p>
          <a:p>
            <a:endParaRPr lang="en-US" dirty="0"/>
          </a:p>
          <a:p>
            <a:r>
              <a:rPr lang="en-US" dirty="0"/>
              <a:t>?? Should I avoid </a:t>
            </a:r>
            <a:r>
              <a:rPr lang="en-US" dirty="0" err="1"/>
              <a:t>Noarr</a:t>
            </a:r>
            <a:r>
              <a:rPr lang="en-US" dirty="0"/>
              <a:t> structures and proto-structures?</a:t>
            </a:r>
          </a:p>
          <a:p>
            <a:endParaRPr lang="en-US" dirty="0"/>
          </a:p>
          <a:p>
            <a:r>
              <a:rPr lang="en-US" dirty="0"/>
              <a:t>Our approach is characteristic in defining the layouts via semantic building blocks (such as scalar that names a single value or vector that extends a given layout with one named dimension) that are freely composable and allow for defining derived layouts.</a:t>
            </a:r>
          </a:p>
          <a:p>
            <a:r>
              <a:rPr lang="en-US" dirty="0"/>
              <a:t>The abstraction further allows seamlessly encoding static constants as compile-time values that are encoded in the type of the resulting object rather than its runtime representation, which also allows for further optimizations.</a:t>
            </a:r>
          </a:p>
          <a:p>
            <a:endParaRPr lang="en-US" dirty="0"/>
          </a:p>
          <a:p>
            <a:r>
              <a:rPr lang="en-US" dirty="0"/>
              <a:t>Note that these building blocks, as shown, just define the layouts with no implied binding to actual memory yet. This is important, as it allows us to pair the layout specification with automatically acquired memory</a:t>
            </a:r>
            <a:br>
              <a:rPr lang="en-US" dirty="0"/>
            </a:br>
            <a:r>
              <a:rPr lang="en-US" dirty="0"/>
              <a:t>as well as with externally managed memory to offer a view of some data that might live in a special memory, such as GPU shared memory or a memory-mapped file.</a:t>
            </a:r>
          </a:p>
          <a:p>
            <a:endParaRPr lang="en-US" dirty="0"/>
          </a:p>
          <a:p>
            <a:r>
              <a:rPr lang="en-US" dirty="0"/>
              <a:t>The flexible composability allows us to easily define reusable, more complex transformations, various substructures, or unsized templates for later specified layouts.</a:t>
            </a:r>
          </a:p>
          <a:p>
            <a:endParaRPr lang="en-US" dirty="0"/>
          </a:p>
          <a:p>
            <a:r>
              <a:rPr lang="en-US" dirty="0"/>
              <a:t>Most importantly,  it allows us to achieve layout-agnostic design.</a:t>
            </a:r>
          </a:p>
        </p:txBody>
      </p:sp>
      <p:sp>
        <p:nvSpPr>
          <p:cNvPr id="4" name="Slide Number Placeholder 3"/>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4713003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carefully assessing how the principles play into defining layout-agnostic algorithms, we have extended the approach for traversals as well.</a:t>
            </a:r>
          </a:p>
          <a:p>
            <a:endParaRPr lang="en-US" dirty="0"/>
          </a:p>
          <a:p>
            <a:r>
              <a:rPr lang="en-US" dirty="0"/>
              <a:t>For that, we have devised a traverser abstraction. An adaptation of an idea of an iterator for multi-dimensional layouts and traversals.</a:t>
            </a:r>
          </a:p>
          <a:p>
            <a:endParaRPr lang="en-US" dirty="0"/>
          </a:p>
          <a:p>
            <a:r>
              <a:rPr lang="en-US" dirty="0"/>
              <a:t>A traverser is created from one or multiple data structures and then generates index points for accessing their shared space.</a:t>
            </a:r>
            <a:br>
              <a:rPr lang="en-US" dirty="0"/>
            </a:br>
            <a:br>
              <a:rPr lang="en-US" dirty="0"/>
            </a:br>
            <a:r>
              <a:rPr lang="en-US" dirty="0"/>
              <a:t>For a single structure, this mirrors a simple for-each algorithm;</a:t>
            </a:r>
            <a:br>
              <a:rPr lang="en-US" dirty="0"/>
            </a:br>
            <a:br>
              <a:rPr lang="en-US" dirty="0"/>
            </a:br>
            <a:r>
              <a:rPr lang="en-US" dirty="0"/>
              <a:t>If two structures share the same space, the traverser can be used to simply copy the data from one structure to the other</a:t>
            </a:r>
          </a:p>
          <a:p>
            <a:endParaRPr lang="en-US" dirty="0"/>
          </a:p>
          <a:p>
            <a:r>
              <a:rPr lang="en-US" dirty="0"/>
              <a:t>If the traversed structures have (partially) independent index spaces, the traverser infers the shared space as the cartesian product of the unique dimensions of all the </a:t>
            </a:r>
            <a:r>
              <a:rPr lang="en-US" dirty="0" err="1"/>
              <a:t>structurtes</a:t>
            </a:r>
            <a:r>
              <a:rPr lang="en-US" dirty="0"/>
              <a:t>. This can define, for example, the matrix multiplication algorithm.</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wouldn’t be very useful just like that.</a:t>
            </a:r>
            <a:br>
              <a:rPr lang="en-US" dirty="0"/>
            </a:br>
            <a:br>
              <a:rPr lang="en-US" dirty="0"/>
            </a:br>
            <a:r>
              <a:rPr lang="en-US" dirty="0"/>
              <a:t>The important part is that we can use the same principles for building memory layouts to specify transformations of the traversal orders as well.</a:t>
            </a:r>
          </a:p>
          <a:p>
            <a:r>
              <a:rPr lang="en-US" dirty="0"/>
              <a:t>This significantly improves the </a:t>
            </a:r>
            <a:r>
              <a:rPr lang="en-US" dirty="0" err="1"/>
              <a:t>expressibility</a:t>
            </a:r>
            <a:r>
              <a:rPr lang="en-US" dirty="0"/>
              <a:t> of the earlier work for optimizations, because oftentimes it is much easier to modify the (internal) traversal order of an algorithm</a:t>
            </a:r>
            <a:br>
              <a:rPr lang="en-US" dirty="0"/>
            </a:br>
            <a:r>
              <a:rPr lang="en-US" dirty="0"/>
              <a:t>rather than the memory layouts of the data structures that might be prescribed by the expected API.</a:t>
            </a:r>
          </a:p>
          <a:p>
            <a:endParaRPr lang="en-US" dirty="0"/>
          </a:p>
          <a:p>
            <a:r>
              <a:rPr lang="en-US" dirty="0"/>
              <a:t>We have also shown that this approach is very useful for specifying parallelization of the computation. We have showcased this on frameworks such as OpenMP and TBB,</a:t>
            </a:r>
            <a:br>
              <a:rPr lang="en-US" dirty="0"/>
            </a:br>
            <a:r>
              <a:rPr lang="en-US" dirty="0"/>
              <a:t>and in more detail in the CUDA framework for general-purpose GPU programming. There, we have shown that the principles pair well with multiple design specifics of</a:t>
            </a:r>
            <a:br>
              <a:rPr lang="en-US" dirty="0"/>
            </a:br>
            <a:r>
              <a:rPr lang="en-US" dirty="0"/>
              <a:t>CUDA programming, such as binding different threads and blocks to the dimensions of the computation and privatizing the data in the GPU shared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these two stages have provided the groundwork for enabling seamless and automatable code optimization in C++ that is fully transparent and directable by the user.</a:t>
            </a:r>
          </a:p>
          <a:p>
            <a:endParaRPr lang="en-US" dirty="0"/>
          </a:p>
          <a:p>
            <a:r>
              <a:rPr lang="en-US" dirty="0"/>
              <a:t>We have finalized this effort by implementing an autotuning interface that allows for specifying the tuned parameters in the same code as the algorithm.</a:t>
            </a:r>
          </a:p>
          <a:p>
            <a:r>
              <a:rPr lang="en-US" dirty="0"/>
              <a:t>This interface was designed to pair well with the abstractions.</a:t>
            </a:r>
          </a:p>
          <a:p>
            <a:endParaRPr lang="en-US" dirty="0"/>
          </a:p>
          <a:p>
            <a:r>
              <a:rPr lang="en-US" dirty="0"/>
              <a:t>(Oh god I don’t know how to continue </a:t>
            </a:r>
            <a:r>
              <a:rPr lang="en-US" dirty="0" err="1"/>
              <a:t>rn</a:t>
            </a: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9366052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a:t>
            </a:r>
            <a:br>
              <a:rPr lang="en-US" dirty="0"/>
            </a:br>
            <a:r>
              <a:rPr lang="en-US" dirty="0"/>
              <a:t>Since many scientific computing algorithms run in a distributed manner on larger clusters, which further complicates the design,</a:t>
            </a:r>
            <a:br>
              <a:rPr lang="en-US" dirty="0"/>
            </a:br>
            <a:r>
              <a:rPr lang="en-US" dirty="0"/>
              <a:t>we have investigated how the principles from the abstractions work in the context of distributed computing.</a:t>
            </a:r>
          </a:p>
          <a:p>
            <a:endParaRPr lang="en-US" dirty="0"/>
          </a:p>
          <a:p>
            <a:r>
              <a:rPr lang="en-US" dirty="0"/>
              <a:t>For this, we have chosen MPI, which is the most predominant technology used to distribute general computing tasks in C++ (as well as Fortran).</a:t>
            </a:r>
          </a:p>
          <a:p>
            <a:endParaRPr lang="en-US" dirty="0"/>
          </a:p>
          <a:p>
            <a:r>
              <a:rPr lang="en-US" dirty="0"/>
              <a:t>(data distribution patterns?)</a:t>
            </a:r>
          </a:p>
          <a:p>
            <a:r>
              <a:rPr lang="en-US" dirty="0"/>
              <a:t>We have observed that many communication patterns, as well as data scattering patterns, can be described using the same building blocks used for describing layout and traversal transformations.</a:t>
            </a:r>
          </a:p>
          <a:p>
            <a:endParaRPr lang="en-US" dirty="0"/>
          </a:p>
          <a:p>
            <a:r>
              <a:rPr lang="en-US" dirty="0"/>
              <a:t>This extension of the abstractions allows binding various dimensions of layouts and traversals to specific MPI communicators (which can specify an abstract topology of computation nodes)</a:t>
            </a:r>
            <a:br>
              <a:rPr lang="en-US" dirty="0"/>
            </a:br>
            <a:r>
              <a:rPr lang="en-US" dirty="0"/>
              <a:t>and layout specifications to native MPI types in such a way that they are communicated in a layout-agnostic way.</a:t>
            </a:r>
          </a:p>
          <a:p>
            <a:endParaRPr lang="en-US" dirty="0"/>
          </a:p>
          <a:p>
            <a:r>
              <a:rPr lang="en-US" dirty="0"/>
              <a:t>This allows, for example, for automatic distribution of data that can then be computed locally, and the local results can be gathered 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parallel with the earlier development, we have looked into whether the same design principles can be applied to more specific domains.</a:t>
            </a:r>
          </a:p>
          <a:p>
            <a:endParaRPr lang="en-US" dirty="0"/>
          </a:p>
          <a:p>
            <a:r>
              <a:rPr lang="en-US" dirty="0"/>
              <a:t>(Why are they cool? Is that just a random area?)</a:t>
            </a:r>
          </a:p>
          <a:p>
            <a:r>
              <a:rPr lang="en-US" dirty="0"/>
              <a:t>One domain of our particular interest was Cellular Automata simulation. These can be characterized as stencil computations on grids where each cell has a discrete state space.</a:t>
            </a:r>
          </a:p>
          <a:p>
            <a:r>
              <a:rPr lang="en-US" dirty="0"/>
              <a:t>Such computations are characterized by the following properties:</a:t>
            </a:r>
          </a:p>
          <a:p>
            <a:pPr marL="171450" indent="-171450">
              <a:buFontTx/>
              <a:buChar char="-"/>
            </a:pPr>
            <a:r>
              <a:rPr lang="en-US" dirty="0"/>
              <a:t>The grid (may be multidimensional; commonly 2D or 3D rectangular) &lt;- image</a:t>
            </a:r>
          </a:p>
          <a:p>
            <a:pPr marL="171450" indent="-171450">
              <a:buFontTx/>
              <a:buChar char="-"/>
            </a:pPr>
            <a:r>
              <a:rPr lang="en-US" dirty="0"/>
              <a:t>Definition of the neighborhood of each cell (typically Moore or von Neumann neighborhood) &lt;- image</a:t>
            </a:r>
          </a:p>
          <a:p>
            <a:pPr marL="171450" indent="-171450">
              <a:buFontTx/>
              <a:buChar char="-"/>
            </a:pPr>
            <a:r>
              <a:rPr lang="en-US" dirty="0"/>
              <a:t>Definition of the computation – this involves defining the state space for the cells and the update rule that depends on the neighborhood and updates the cell state</a:t>
            </a:r>
          </a:p>
          <a:p>
            <a:pPr marL="171450" indent="-171450">
              <a:buFontTx/>
              <a:buChar char="-"/>
            </a:pPr>
            <a:endParaRPr lang="en-US" dirty="0"/>
          </a:p>
          <a:p>
            <a:pPr marL="0" indent="0">
              <a:buFontTx/>
              <a:buNone/>
            </a:pPr>
            <a:r>
              <a:rPr lang="en-US" dirty="0"/>
              <a:t>The computation then involves updates of the grid in discrete time steps.</a:t>
            </a:r>
          </a:p>
          <a:p>
            <a:pPr marL="0" indent="0">
              <a:buFontTx/>
              <a:buNone/>
            </a:pPr>
            <a:endParaRPr lang="en-US" dirty="0"/>
          </a:p>
          <a:p>
            <a:pPr marL="0" indent="0">
              <a:buFontTx/>
              <a:buNone/>
            </a:pPr>
            <a:r>
              <a:rPr lang="en-US" dirty="0"/>
              <a:t>---</a:t>
            </a:r>
          </a:p>
          <a:p>
            <a:pPr marL="0" indent="0">
              <a:buFontTx/>
              <a:buNone/>
            </a:pPr>
            <a:endParaRPr lang="en-US" dirty="0"/>
          </a:p>
          <a:p>
            <a:pPr marL="0" indent="0">
              <a:buFontTx/>
              <a:buNone/>
            </a:pPr>
            <a:r>
              <a:rPr lang="en-US" dirty="0"/>
              <a:t>We have found out that a very impressive speedup of these computations can be achieved by applying the earlier principles of layout- and traversal-agnostic design on a slightly deeper level.</a:t>
            </a:r>
          </a:p>
          <a:p>
            <a:pPr marL="0" indent="0">
              <a:buFontTx/>
              <a:buNone/>
            </a:pPr>
            <a:endParaRPr lang="en-US" dirty="0"/>
          </a:p>
          <a:p>
            <a:pPr marL="0" indent="0">
              <a:buFontTx/>
              <a:buNone/>
            </a:pPr>
            <a:r>
              <a:rPr lang="en-US" dirty="0"/>
              <a:t>We can specify the update rule in an abstract way that is agnostic to the whole evaluation (including layouts as well as specific instructions), then we can pair this specification with templated components that automatically implement an efficient computation of the automaton.</a:t>
            </a:r>
          </a:p>
          <a:p>
            <a:pPr marL="0" indent="0">
              <a:buFontTx/>
              <a:buNone/>
            </a:pPr>
            <a:r>
              <a:rPr lang="en-US" dirty="0"/>
              <a:t>For this, we have devised 4 separate abstractions (components):</a:t>
            </a:r>
          </a:p>
          <a:p>
            <a:pPr marL="171450" indent="-171450">
              <a:buFontTx/>
              <a:buChar char="-"/>
            </a:pPr>
            <a:r>
              <a:rPr lang="en-US" dirty="0"/>
              <a:t>Memory layout:</a:t>
            </a:r>
          </a:p>
          <a:p>
            <a:pPr marL="171450" indent="-171450">
              <a:buFontTx/>
              <a:buChar char="-"/>
            </a:pPr>
            <a:r>
              <a:rPr lang="en-US" dirty="0"/>
              <a:t>Evaluator:</a:t>
            </a:r>
          </a:p>
          <a:p>
            <a:pPr marL="171450" indent="-171450">
              <a:buFontTx/>
              <a:buChar char="-"/>
            </a:pPr>
            <a:r>
              <a:rPr lang="en-US" dirty="0"/>
              <a:t>Traverser:</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a:t>
            </a:r>
            <a:br>
              <a:rPr lang="en-US" dirty="0"/>
            </a:br>
            <a:r>
              <a:rPr lang="en-US" dirty="0"/>
              <a:t>A slight detour from our regular schedule of abstractions is our study of LLMs in HPC algorithm design. This work reacted to the recent introduction of LLM models in the area of software design.</a:t>
            </a:r>
          </a:p>
          <a:p>
            <a:endParaRPr lang="en-US" dirty="0"/>
          </a:p>
          <a:p>
            <a:r>
              <a:rPr lang="en-US" dirty="0"/>
              <a:t>(?? groundwork for the following work?)</a:t>
            </a:r>
          </a:p>
          <a:p>
            <a:endParaRPr lang="en-US" dirty="0"/>
          </a:p>
          <a:p>
            <a:r>
              <a:rPr lang="en-US" dirty="0"/>
              <a:t>At the time of the study, LLM models were still regarded as incapable of high-level reasoning on efficient algorithm design, roughly fulfilling the role of a junior-level programmer.</a:t>
            </a:r>
            <a:br>
              <a:rPr lang="en-US" dirty="0"/>
            </a:br>
            <a:r>
              <a:rPr lang="en-US" dirty="0"/>
              <a:t>We have evaluated a state of the art reasoning LLM on three well-known algorithms (histogram computation, Game of Life simulation, and </a:t>
            </a:r>
            <a:r>
              <a:rPr lang="en-US" dirty="0" err="1"/>
              <a:t>kNN</a:t>
            </a:r>
            <a:r>
              <a:rPr lang="en-US" dirty="0"/>
              <a:t> search) to find out whether an</a:t>
            </a:r>
            <a:br>
              <a:rPr lang="en-US" dirty="0"/>
            </a:br>
            <a:r>
              <a:rPr lang="en-US" dirty="0"/>
              <a:t>LLM is capable of generating a highly efficient code for them, and whether the quality improves with more suggestions or even specific instructions (tutoring).</a:t>
            </a:r>
            <a:br>
              <a:rPr lang="en-US" dirty="0"/>
            </a:br>
            <a:br>
              <a:rPr lang="en-US" dirty="0"/>
            </a:br>
            <a:r>
              <a:rPr lang="en-US" dirty="0"/>
              <a:t>We found that histogram and </a:t>
            </a:r>
            <a:r>
              <a:rPr lang="en-US" dirty="0" err="1"/>
              <a:t>GoL</a:t>
            </a:r>
            <a:r>
              <a:rPr lang="en-US" dirty="0"/>
              <a:t> roughly fitted the complexity of algorithms for which the LLM indeed improves with tutoring; however the </a:t>
            </a:r>
            <a:r>
              <a:rPr lang="en-US" dirty="0" err="1"/>
              <a:t>kNN</a:t>
            </a:r>
            <a:r>
              <a:rPr lang="en-US" dirty="0"/>
              <a:t> algorithm was too complex for the LLM to</a:t>
            </a:r>
            <a:br>
              <a:rPr lang="en-US" dirty="0"/>
            </a:br>
            <a:r>
              <a:rPr lang="en-US" dirty="0"/>
              <a:t>implement even with specific instructions. The situation has changed with each new generation of LLMs since then, and GPT-5 has managed to get better with tutoring on the </a:t>
            </a:r>
            <a:r>
              <a:rPr lang="en-US" dirty="0" err="1"/>
              <a:t>kNN</a:t>
            </a:r>
            <a:r>
              <a:rPr lang="en-US" dirty="0"/>
              <a:t> algorithm,</a:t>
            </a:r>
            <a:br>
              <a:rPr lang="en-US" dirty="0"/>
            </a:br>
            <a:r>
              <a:rPr lang="en-US" dirty="0"/>
              <a:t>while fully saturating the </a:t>
            </a:r>
            <a:r>
              <a:rPr lang="en-US" dirty="0" err="1"/>
              <a:t>GoL</a:t>
            </a:r>
            <a:r>
              <a:rPr lang="en-US" dirty="0"/>
              <a:t> algorithm, even with very vague instructions.</a:t>
            </a:r>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improves with abstractions that allow user-directed optimizations of the code in a similar manner to our abstractions.</a:t>
            </a:r>
          </a:p>
          <a:p>
            <a:endParaRPr lang="en-US"/>
          </a:p>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2150312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245D912-7048-8F27-7BE0-2F656D101AD8}"/>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0EA5DD48-9F56-1FDB-7526-16D2FDD7CF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22EED6-4A9E-31FB-8AD8-6AEEFF78FDCA}"/>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noProof="0" dirty="0"/>
              <a:t>Jiří Klepl</a:t>
            </a:r>
          </a:p>
          <a:p>
            <a:r>
              <a:rPr lang="en-US" noProof="0" dirty="0"/>
              <a:t>Department of Distributed and Dependable Systems</a:t>
            </a:r>
          </a:p>
        </p:txBody>
      </p:sp>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43B47-263E-C46D-0276-B63FF60C41E2}"/>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AFF2A90F-7540-DC59-26EA-C4E197B07663}"/>
              </a:ext>
            </a:extLst>
          </p:cNvPr>
          <p:cNvSpPr>
            <a:spLocks noGrp="1"/>
          </p:cNvSpPr>
          <p:nvPr>
            <p:ph idx="1"/>
          </p:nvPr>
        </p:nvSpPr>
        <p:spPr/>
        <p:txBody>
          <a:bodyPr>
            <a:normAutofit lnSpcReduction="10000"/>
          </a:bodyPr>
          <a:lstStyle/>
          <a:p>
            <a:r>
              <a:rPr lang="en-US" noProof="0" dirty="0">
                <a:solidFill>
                  <a:schemeClr val="accent3"/>
                </a:solidFill>
              </a:rPr>
              <a:t>Data layout </a:t>
            </a:r>
            <a:r>
              <a:rPr lang="en-US" noProof="0" dirty="0"/>
              <a:t>(matrix - row/col major), </a:t>
            </a:r>
            <a:r>
              <a:rPr lang="en-US" noProof="0" dirty="0">
                <a:solidFill>
                  <a:schemeClr val="accent3"/>
                </a:solidFill>
              </a:rPr>
              <a:t>traversal order </a:t>
            </a:r>
            <a:r>
              <a:rPr lang="en-US" noProof="0" dirty="0"/>
              <a:t>(row/col-wise)</a:t>
            </a:r>
          </a:p>
          <a:p>
            <a:pPr lvl="1"/>
            <a:r>
              <a:rPr lang="en-US" noProof="0" dirty="0"/>
              <a:t>This case: match = good; not match = not good </a:t>
            </a:r>
            <a:r>
              <a:rPr lang="en-US" noProof="0" dirty="0">
                <a:sym typeface="Wingdings" panose="05000000000000000000" pitchFamily="2" charset="2"/>
              </a:rPr>
              <a:t> idea</a:t>
            </a:r>
            <a:endParaRPr lang="en-US" noProof="0" dirty="0"/>
          </a:p>
          <a:p>
            <a:pPr lvl="2"/>
            <a:r>
              <a:rPr lang="en-US" noProof="0" dirty="0">
                <a:solidFill>
                  <a:srgbClr val="FF0000"/>
                </a:solidFill>
              </a:rPr>
              <a:t>Sometimes can change both </a:t>
            </a:r>
          </a:p>
          <a:p>
            <a:pPr lvl="1"/>
            <a:r>
              <a:rPr lang="en-US" noProof="0" dirty="0"/>
              <a:t>Real use cases</a:t>
            </a:r>
          </a:p>
          <a:p>
            <a:pPr lvl="2"/>
            <a:r>
              <a:rPr lang="en-US" noProof="0" dirty="0"/>
              <a:t>Algorithms more complex; </a:t>
            </a:r>
            <a:r>
              <a:rPr lang="en-US" noProof="0" dirty="0" err="1"/>
              <a:t>eg</a:t>
            </a:r>
            <a:r>
              <a:rPr lang="en-US" noProof="0" dirty="0"/>
              <a:t>:</a:t>
            </a:r>
          </a:p>
          <a:p>
            <a:pPr lvl="3"/>
            <a:r>
              <a:rPr lang="en-US" noProof="0" dirty="0"/>
              <a:t>Multiple data structures</a:t>
            </a:r>
          </a:p>
          <a:p>
            <a:pPr lvl="3"/>
            <a:r>
              <a:rPr lang="en-US" noProof="0" dirty="0"/>
              <a:t>Traversals not simple perfect loop nests</a:t>
            </a:r>
          </a:p>
          <a:p>
            <a:pPr lvl="2"/>
            <a:r>
              <a:rPr lang="en-US" noProof="0" dirty="0"/>
              <a:t>Hardware many features; </a:t>
            </a:r>
            <a:r>
              <a:rPr lang="en-US" noProof="0" dirty="0" err="1"/>
              <a:t>eg</a:t>
            </a:r>
            <a:r>
              <a:rPr lang="en-US" noProof="0" dirty="0"/>
              <a:t>:</a:t>
            </a:r>
          </a:p>
          <a:p>
            <a:pPr lvl="3"/>
            <a:r>
              <a:rPr lang="en-US" noProof="0" dirty="0">
                <a:solidFill>
                  <a:schemeClr val="accent3"/>
                </a:solidFill>
              </a:rPr>
              <a:t>Caches</a:t>
            </a:r>
            <a:r>
              <a:rPr lang="en-US" noProof="0" dirty="0"/>
              <a:t>, memory bandwidths/capacities, etc.</a:t>
            </a:r>
          </a:p>
          <a:p>
            <a:pPr lvl="3"/>
            <a:r>
              <a:rPr lang="en-US" noProof="0" dirty="0"/>
              <a:t>Multiple proc. units</a:t>
            </a:r>
          </a:p>
          <a:p>
            <a:pPr lvl="2"/>
            <a:r>
              <a:rPr lang="en-US" noProof="0" dirty="0">
                <a:solidFill>
                  <a:schemeClr val="accent3"/>
                </a:solidFill>
              </a:rPr>
              <a:t>More optimized </a:t>
            </a:r>
            <a:r>
              <a:rPr lang="en-US" noProof="0" dirty="0">
                <a:solidFill>
                  <a:schemeClr val="accent3"/>
                </a:solidFill>
                <a:sym typeface="Wingdings" panose="05000000000000000000" pitchFamily="2" charset="2"/>
              </a:rPr>
              <a:t> more complex, less portable (each </a:t>
            </a:r>
            <a:r>
              <a:rPr lang="en-US" noProof="0" dirty="0" err="1">
                <a:solidFill>
                  <a:schemeClr val="accent3"/>
                </a:solidFill>
                <a:sym typeface="Wingdings" panose="05000000000000000000" pitchFamily="2" charset="2"/>
              </a:rPr>
              <a:t>hwarch</a:t>
            </a:r>
            <a:r>
              <a:rPr lang="en-US" noProof="0" dirty="0">
                <a:solidFill>
                  <a:schemeClr val="accent3"/>
                </a:solidFill>
                <a:sym typeface="Wingdings" panose="05000000000000000000" pitchFamily="2" charset="2"/>
              </a:rPr>
              <a:t> different decisions)</a:t>
            </a:r>
            <a:endParaRPr lang="en-US" noProof="0" dirty="0">
              <a:solidFill>
                <a:schemeClr val="accent3"/>
              </a:solidFill>
            </a:endParaRPr>
          </a:p>
          <a:p>
            <a:pPr lvl="2"/>
            <a:r>
              <a:rPr lang="en-US" noProof="0" dirty="0">
                <a:solidFill>
                  <a:schemeClr val="accent3"/>
                </a:solidFill>
              </a:rPr>
              <a:t>No analytical solutions – evidence: </a:t>
            </a:r>
            <a:r>
              <a:rPr lang="en-US" b="1" noProof="0" dirty="0">
                <a:solidFill>
                  <a:schemeClr val="accent3"/>
                </a:solidFill>
              </a:rPr>
              <a:t>use of </a:t>
            </a:r>
            <a:r>
              <a:rPr lang="en-US" b="1" noProof="0" dirty="0" err="1">
                <a:solidFill>
                  <a:schemeClr val="accent3"/>
                </a:solidFill>
              </a:rPr>
              <a:t>pgo</a:t>
            </a:r>
            <a:r>
              <a:rPr lang="en-US" b="1" noProof="0" dirty="0">
                <a:solidFill>
                  <a:schemeClr val="accent3"/>
                </a:solidFill>
              </a:rPr>
              <a:t>, autotuning, </a:t>
            </a:r>
            <a:r>
              <a:rPr lang="en-US" b="1" noProof="0" dirty="0" err="1">
                <a:solidFill>
                  <a:schemeClr val="accent3"/>
                </a:solidFill>
              </a:rPr>
              <a:t>ev</a:t>
            </a:r>
            <a:r>
              <a:rPr lang="en-US" b="1" noProof="0" dirty="0">
                <a:solidFill>
                  <a:schemeClr val="accent3"/>
                </a:solidFill>
              </a:rPr>
              <a:t>. alg., etc.</a:t>
            </a:r>
          </a:p>
          <a:p>
            <a:pPr lvl="1"/>
            <a:r>
              <a:rPr lang="en-US" noProof="0" dirty="0">
                <a:solidFill>
                  <a:srgbClr val="FF0000"/>
                </a:solidFill>
              </a:rPr>
              <a:t>Real-world data, dimensions ~~ semantic meaning (image x, y, channel)</a:t>
            </a:r>
          </a:p>
          <a:p>
            <a:pPr lvl="1"/>
            <a:endParaRPr lang="en-US" noProof="0" dirty="0"/>
          </a:p>
        </p:txBody>
      </p:sp>
    </p:spTree>
    <p:extLst>
      <p:ext uri="{BB962C8B-B14F-4D97-AF65-F5344CB8AC3E}">
        <p14:creationId xmlns:p14="http://schemas.microsoft.com/office/powerpoint/2010/main" val="1814957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dirty="0"/>
              <a:t>Illustrative example: traversing matrices</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206984" y="1998381"/>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m</a:t>
              </a:r>
              <a:endParaRPr lang="sk-SK" sz="2800" dirty="0">
                <a:latin typeface="Blackadder ITC" panose="04020505051007020D02" pitchFamily="82" charset="0"/>
              </a:endParaRP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n</a:t>
              </a:r>
              <a:endParaRPr lang="sk-SK" sz="2800" dirty="0">
                <a:latin typeface="Blackadder ITC" panose="04020505051007020D02" pitchFamily="82" charset="0"/>
              </a:endParaRP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5995525" y="1998381"/>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m</a:t>
              </a:r>
              <a:endParaRPr lang="sk-SK" sz="2800" dirty="0">
                <a:latin typeface="Blackadder ITC" panose="04020505051007020D02" pitchFamily="82" charset="0"/>
              </a:endParaRP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n</a:t>
              </a:r>
              <a:endParaRPr lang="sk-SK" sz="2800" dirty="0">
                <a:latin typeface="Blackadder ITC" panose="04020505051007020D02" pitchFamily="82" charset="0"/>
              </a:endParaRPr>
            </a:p>
          </p:txBody>
        </p:sp>
      </p:gr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2959100" y="1712546"/>
                <a:ext cx="6131935" cy="369332"/>
              </a:xfrm>
              <a:prstGeom prst="rect">
                <a:avLst/>
              </a:prstGeom>
              <a:noFill/>
            </p:spPr>
            <p:txBody>
              <a:bodyPr wrap="none" rtlCol="0">
                <a:spAutoFit/>
              </a:bodyPr>
              <a:lstStyle/>
              <a:p>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r>
                      <a:rPr lang="en-US" b="0" i="1" smtClean="0">
                        <a:latin typeface="Cambria Math" panose="02040503050406030204" pitchFamily="18" charset="0"/>
                      </a:rPr>
                      <m:t>𝑛</m:t>
                    </m:r>
                  </m:oMath>
                </a14:m>
                <a:r>
                  <a:rPr lang="en-US" dirty="0"/>
                  <a:t> matrix in row-major and column-major </a:t>
                </a:r>
                <a:r>
                  <a:rPr lang="en-US" i="1" dirty="0"/>
                  <a:t>memory layout</a:t>
                </a:r>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2959100" y="1712546"/>
                <a:ext cx="6131935" cy="369332"/>
              </a:xfrm>
              <a:prstGeom prst="rect">
                <a:avLst/>
              </a:prstGeom>
              <a:blipFill>
                <a:blip r:embed="rId4"/>
                <a:stretch>
                  <a:fillRect t="-8197" r="-795" b="-26230"/>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4379598" y="4388276"/>
            <a:ext cx="2870200" cy="634148"/>
          </a:xfrm>
          <a:prstGeom prst="rect">
            <a:avLst/>
          </a:prstGeom>
          <a:noFill/>
          <a:ln>
            <a:solidFill>
              <a:schemeClr val="tx1"/>
            </a:solidFill>
          </a:ln>
        </p:spPr>
        <p:txBody>
          <a:bodyPr wrap="square">
            <a:spAutoFit/>
          </a:bodyPr>
          <a:lstStyle/>
          <a:p>
            <a:pPr>
              <a:lnSpc>
                <a:spcPct val="113095"/>
              </a:lnSpc>
              <a:buNone/>
            </a:pP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in</a:t>
            </a:r>
            <a:r>
              <a:rPr lang="en-US" sz="1050" b="0" dirty="0">
                <a:solidFill>
                  <a:srgbClr val="000000"/>
                </a:solidFill>
                <a:effectLst/>
                <a:latin typeface="Fira Code" panose="020B0809050000020004" pitchFamily="49" charset="0"/>
              </a:rPr>
              <a:t>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m - </a:t>
            </a:r>
            <a:r>
              <a:rPr lang="en-US" sz="1050" b="0" dirty="0">
                <a:solidFill>
                  <a:srgbClr val="098658"/>
                </a:solidFill>
                <a:effectLst/>
                <a:latin typeface="Fira Code" panose="020B0809050000020004" pitchFamily="49" charset="0"/>
              </a:rPr>
              <a:t>1</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in</a:t>
            </a:r>
            <a:r>
              <a:rPr lang="en-US" sz="1050" b="0" dirty="0">
                <a:solidFill>
                  <a:srgbClr val="000000"/>
                </a:solidFill>
                <a:effectLst/>
                <a:latin typeface="Fira Code" panose="020B0809050000020004" pitchFamily="49" charset="0"/>
              </a:rPr>
              <a:t>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n - </a:t>
            </a:r>
            <a:r>
              <a:rPr lang="en-US" sz="1050" b="0" dirty="0">
                <a:solidFill>
                  <a:srgbClr val="098658"/>
                </a:solidFill>
                <a:effectLst/>
                <a:latin typeface="Fira Code" panose="020B0809050000020004" pitchFamily="49" charset="0"/>
              </a:rPr>
              <a:t>1</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matrix[</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err="1">
                <a:solidFill>
                  <a:srgbClr val="000000"/>
                </a:solidFill>
                <a:effectLst/>
                <a:latin typeface="Fira Code" panose="020B0809050000020004" pitchFamily="49" charset="0"/>
              </a:rPr>
              <a:t>init</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p:txBody>
      </p:sp>
      <p:sp>
        <p:nvSpPr>
          <p:cNvPr id="21" name="TextBox 20">
            <a:extLst>
              <a:ext uri="{FF2B5EF4-FFF2-40B4-BE49-F238E27FC236}">
                <a16:creationId xmlns:a16="http://schemas.microsoft.com/office/drawing/2014/main" id="{0A8B2928-1B7B-BAA4-93AA-EE7D017C718B}"/>
              </a:ext>
            </a:extLst>
          </p:cNvPr>
          <p:cNvSpPr txBox="1"/>
          <p:nvPr/>
        </p:nvSpPr>
        <p:spPr>
          <a:xfrm>
            <a:off x="4727381" y="3997086"/>
            <a:ext cx="2174634" cy="369332"/>
          </a:xfrm>
          <a:prstGeom prst="rect">
            <a:avLst/>
          </a:prstGeom>
          <a:noFill/>
        </p:spPr>
        <p:txBody>
          <a:bodyPr wrap="none" rtlCol="0">
            <a:spAutoFit/>
          </a:bodyPr>
          <a:lstStyle/>
          <a:p>
            <a:r>
              <a:rPr lang="en-US" dirty="0"/>
              <a:t>A row-wise </a:t>
            </a:r>
            <a:r>
              <a:rPr lang="en-US" i="1" dirty="0"/>
              <a:t>traversal</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6C07C-65B7-F09E-1FC3-13A2803F54CE}"/>
              </a:ext>
            </a:extLst>
          </p:cNvPr>
          <p:cNvSpPr>
            <a:spLocks noGrp="1"/>
          </p:cNvSpPr>
          <p:nvPr>
            <p:ph type="title"/>
          </p:nvPr>
        </p:nvSpPr>
        <p:spPr/>
        <p:txBody>
          <a:bodyPr>
            <a:normAutofit/>
          </a:bodyPr>
          <a:lstStyle/>
          <a:p>
            <a:r>
              <a:rPr lang="en-US" noProof="0" dirty="0"/>
              <a:t>Automatization and simplification</a:t>
            </a:r>
            <a:endParaRPr lang="en-US" noProof="0" dirty="0">
              <a:solidFill>
                <a:schemeClr val="accent5">
                  <a:lumMod val="75000"/>
                </a:schemeClr>
              </a:solidFill>
            </a:endParaRPr>
          </a:p>
        </p:txBody>
      </p:sp>
      <p:sp>
        <p:nvSpPr>
          <p:cNvPr id="3" name="Content Placeholder 2">
            <a:extLst>
              <a:ext uri="{FF2B5EF4-FFF2-40B4-BE49-F238E27FC236}">
                <a16:creationId xmlns:a16="http://schemas.microsoft.com/office/drawing/2014/main" id="{E0A72CA4-DE0C-C168-CA4C-3E1D449376E7}"/>
              </a:ext>
            </a:extLst>
          </p:cNvPr>
          <p:cNvSpPr>
            <a:spLocks noGrp="1"/>
          </p:cNvSpPr>
          <p:nvPr>
            <p:ph idx="1"/>
          </p:nvPr>
        </p:nvSpPr>
        <p:spPr/>
        <p:txBody>
          <a:bodyPr/>
          <a:lstStyle/>
          <a:p>
            <a:pPr marL="514350" indent="-514350">
              <a:buFont typeface="+mj-lt"/>
              <a:buAutoNum type="arabicPeriod"/>
            </a:pPr>
            <a:r>
              <a:rPr lang="en-US" noProof="0" dirty="0"/>
              <a:t>Abstraction with swappable building blocks</a:t>
            </a:r>
          </a:p>
          <a:p>
            <a:pPr lvl="1"/>
            <a:r>
              <a:rPr lang="en-US" noProof="0" dirty="0"/>
              <a:t>Autotuning chooses the bb</a:t>
            </a:r>
          </a:p>
          <a:p>
            <a:pPr lvl="1"/>
            <a:r>
              <a:rPr lang="en-US" noProof="0" dirty="0"/>
              <a:t>Layout-agnosticism; traversal-agnosticism</a:t>
            </a:r>
          </a:p>
          <a:p>
            <a:pPr marL="514350" indent="-514350">
              <a:buFont typeface="+mj-lt"/>
              <a:buAutoNum type="arabicPeriod"/>
            </a:pPr>
            <a:endParaRPr lang="en-US" noProof="0" dirty="0"/>
          </a:p>
          <a:p>
            <a:pPr marL="514350" indent="-514350">
              <a:buFont typeface="+mj-lt"/>
              <a:buAutoNum type="arabicPeriod"/>
            </a:pPr>
            <a:endParaRPr lang="en-US" dirty="0"/>
          </a:p>
          <a:p>
            <a:pPr marL="514350" indent="-514350">
              <a:buFont typeface="+mj-lt"/>
              <a:buAutoNum type="arabicPeriod"/>
            </a:pPr>
            <a:r>
              <a:rPr lang="en-US" noProof="0" dirty="0"/>
              <a:t>LLMs</a:t>
            </a:r>
          </a:p>
          <a:p>
            <a:pPr lvl="1"/>
            <a:r>
              <a:rPr lang="en-US" noProof="0" dirty="0"/>
              <a:t>First phase: the API is fixed, AI can do the magic</a:t>
            </a:r>
          </a:p>
          <a:p>
            <a:pPr lvl="1"/>
            <a:r>
              <a:rPr lang="en-US" noProof="0" dirty="0"/>
              <a:t>Second phase: how to improve the magic? Do the abstractions help?</a:t>
            </a:r>
          </a:p>
          <a:p>
            <a:pPr lvl="1"/>
            <a:endParaRPr lang="en-US" noProof="0" dirty="0"/>
          </a:p>
        </p:txBody>
      </p:sp>
    </p:spTree>
    <p:extLst>
      <p:ext uri="{BB962C8B-B14F-4D97-AF65-F5344CB8AC3E}">
        <p14:creationId xmlns:p14="http://schemas.microsoft.com/office/powerpoint/2010/main" val="2693993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86C2A-DE9D-7966-AEFE-4393C57CF5AE}"/>
              </a:ext>
            </a:extLst>
          </p:cNvPr>
          <p:cNvSpPr>
            <a:spLocks noGrp="1"/>
          </p:cNvSpPr>
          <p:nvPr>
            <p:ph type="title"/>
          </p:nvPr>
        </p:nvSpPr>
        <p:spPr/>
        <p:txBody>
          <a:bodyPr/>
          <a:lstStyle/>
          <a:p>
            <a:r>
              <a:rPr lang="en-US" noProof="0" dirty="0"/>
              <a:t>Small step: ?? layout agnostic design</a:t>
            </a:r>
          </a:p>
        </p:txBody>
      </p:sp>
      <p:sp>
        <p:nvSpPr>
          <p:cNvPr id="3" name="Content Placeholder 2">
            <a:extLst>
              <a:ext uri="{FF2B5EF4-FFF2-40B4-BE49-F238E27FC236}">
                <a16:creationId xmlns:a16="http://schemas.microsoft.com/office/drawing/2014/main" id="{003AA056-645F-427D-52A3-1F81FFA685BA}"/>
              </a:ext>
            </a:extLst>
          </p:cNvPr>
          <p:cNvSpPr>
            <a:spLocks noGrp="1"/>
          </p:cNvSpPr>
          <p:nvPr>
            <p:ph idx="1"/>
          </p:nvPr>
        </p:nvSpPr>
        <p:spPr/>
        <p:txBody>
          <a:bodyPr>
            <a:normAutofit/>
          </a:bodyPr>
          <a:lstStyle/>
          <a:p>
            <a:r>
              <a:rPr lang="en-US" noProof="0" dirty="0"/>
              <a:t>For a fixed </a:t>
            </a:r>
            <a:r>
              <a:rPr lang="en-US" noProof="0" dirty="0" err="1"/>
              <a:t>algorithm+traversal</a:t>
            </a:r>
            <a:r>
              <a:rPr lang="en-US" noProof="0" dirty="0"/>
              <a:t>, allow different layouts</a:t>
            </a:r>
          </a:p>
          <a:p>
            <a:pPr lvl="1"/>
            <a:r>
              <a:rPr lang="en-US" noProof="0" dirty="0"/>
              <a:t>Not entirely new idea: </a:t>
            </a:r>
            <a:r>
              <a:rPr lang="en-US" noProof="0" dirty="0" err="1"/>
              <a:t>Kokkoss</a:t>
            </a:r>
            <a:r>
              <a:rPr lang="en-US" noProof="0" dirty="0"/>
              <a:t>::View, </a:t>
            </a:r>
            <a:r>
              <a:rPr lang="en-US" noProof="0" dirty="0" err="1"/>
              <a:t>numpy.ndarray</a:t>
            </a:r>
            <a:r>
              <a:rPr lang="en-US" noProof="0" dirty="0"/>
              <a:t>, many others</a:t>
            </a:r>
          </a:p>
          <a:p>
            <a:r>
              <a:rPr lang="en-US" noProof="0" dirty="0" err="1"/>
              <a:t>Noarr</a:t>
            </a:r>
            <a:r>
              <a:rPr lang="en-US" noProof="0" dirty="0"/>
              <a:t> Structures</a:t>
            </a:r>
          </a:p>
          <a:p>
            <a:pPr lvl="1"/>
            <a:r>
              <a:rPr lang="en-US" noProof="0" dirty="0"/>
              <a:t>Abstraction for building &amp; transforming layouts</a:t>
            </a:r>
          </a:p>
          <a:p>
            <a:pPr lvl="2"/>
            <a:r>
              <a:rPr lang="en-US" noProof="0" dirty="0"/>
              <a:t>Separated from memory management </a:t>
            </a:r>
            <a:r>
              <a:rPr lang="en-US" noProof="0" dirty="0">
                <a:sym typeface="Wingdings" panose="05000000000000000000" pitchFamily="2" charset="2"/>
              </a:rPr>
              <a:t> can be paired with </a:t>
            </a:r>
            <a:r>
              <a:rPr lang="en-US" noProof="0" dirty="0" err="1">
                <a:sym typeface="Wingdings" panose="05000000000000000000" pitchFamily="2" charset="2"/>
              </a:rPr>
              <a:t>mmap</a:t>
            </a:r>
            <a:r>
              <a:rPr lang="en-US" noProof="0" dirty="0">
                <a:sym typeface="Wingdings" panose="05000000000000000000" pitchFamily="2" charset="2"/>
              </a:rPr>
              <a:t>, __shared__</a:t>
            </a:r>
            <a:endParaRPr lang="en-US" noProof="0" dirty="0"/>
          </a:p>
          <a:p>
            <a:pPr lvl="1"/>
            <a:r>
              <a:rPr lang="en-US" noProof="0" dirty="0"/>
              <a:t>Effortless static extents </a:t>
            </a:r>
            <a:r>
              <a:rPr lang="en-US" noProof="0" dirty="0">
                <a:sym typeface="Wingdings" panose="05000000000000000000" pitchFamily="2" charset="2"/>
              </a:rPr>
              <a:t> better compiler optimizations, faster</a:t>
            </a:r>
          </a:p>
          <a:p>
            <a:pPr lvl="2"/>
            <a:r>
              <a:rPr lang="en-US" noProof="0" dirty="0"/>
              <a:t>Static parameters encoded in type (no overhead until used)</a:t>
            </a:r>
          </a:p>
          <a:p>
            <a:pPr lvl="1"/>
            <a:r>
              <a:rPr lang="en-US" noProof="0" dirty="0"/>
              <a:t>Based on functional composition algebra </a:t>
            </a:r>
            <a:r>
              <a:rPr lang="en-US" noProof="0" dirty="0">
                <a:sym typeface="Wingdings" panose="05000000000000000000" pitchFamily="2" charset="2"/>
              </a:rPr>
              <a:t> easily extensible/reusable</a:t>
            </a:r>
            <a:endParaRPr lang="en-US" noProof="0" dirty="0"/>
          </a:p>
          <a:p>
            <a:pPr lvl="2"/>
            <a:r>
              <a:rPr lang="en-US" noProof="0" dirty="0"/>
              <a:t>Unlike std::</a:t>
            </a:r>
            <a:r>
              <a:rPr lang="en-US" noProof="0" dirty="0" err="1"/>
              <a:t>mdspan</a:t>
            </a:r>
            <a:r>
              <a:rPr lang="en-US" noProof="0" dirty="0"/>
              <a:t> or </a:t>
            </a:r>
            <a:r>
              <a:rPr lang="en-US" noProof="0" dirty="0" err="1"/>
              <a:t>Kokkos</a:t>
            </a:r>
            <a:r>
              <a:rPr lang="en-US" noProof="0" dirty="0"/>
              <a:t>::View, others</a:t>
            </a:r>
          </a:p>
          <a:p>
            <a:pPr lvl="2"/>
            <a:r>
              <a:rPr lang="en-US" noProof="0" dirty="0"/>
              <a:t>Later adopted by CUTLASS </a:t>
            </a:r>
            <a:r>
              <a:rPr lang="en-US" noProof="0" dirty="0" err="1"/>
              <a:t>CUTe</a:t>
            </a:r>
            <a:endParaRPr lang="en-US" noProof="0" dirty="0"/>
          </a:p>
          <a:p>
            <a:pPr lvl="1"/>
            <a:r>
              <a:rPr lang="en-US" noProof="0" dirty="0"/>
              <a:t>Named dimensions </a:t>
            </a:r>
            <a:r>
              <a:rPr lang="en-US" noProof="0" dirty="0">
                <a:sym typeface="Wingdings" panose="05000000000000000000" pitchFamily="2" charset="2"/>
              </a:rPr>
              <a:t> reasonable API</a:t>
            </a:r>
            <a:endParaRPr lang="en-US" noProof="0" dirty="0"/>
          </a:p>
        </p:txBody>
      </p:sp>
    </p:spTree>
    <p:extLst>
      <p:ext uri="{BB962C8B-B14F-4D97-AF65-F5344CB8AC3E}">
        <p14:creationId xmlns:p14="http://schemas.microsoft.com/office/powerpoint/2010/main" val="35158810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2D1F9-8796-FADC-F301-4DC1CDABBDE5}"/>
              </a:ext>
            </a:extLst>
          </p:cNvPr>
          <p:cNvSpPr>
            <a:spLocks noGrp="1"/>
          </p:cNvSpPr>
          <p:nvPr>
            <p:ph type="title"/>
          </p:nvPr>
        </p:nvSpPr>
        <p:spPr/>
        <p:txBody>
          <a:bodyPr/>
          <a:lstStyle/>
          <a:p>
            <a:r>
              <a:rPr lang="en-US" dirty="0"/>
              <a:t>Layout- and Traversal-agnostic design</a:t>
            </a:r>
          </a:p>
        </p:txBody>
      </p:sp>
      <p:sp>
        <p:nvSpPr>
          <p:cNvPr id="7" name="TextBox 6">
            <a:extLst>
              <a:ext uri="{FF2B5EF4-FFF2-40B4-BE49-F238E27FC236}">
                <a16:creationId xmlns:a16="http://schemas.microsoft.com/office/drawing/2014/main" id="{0CF186D6-25A7-ABCC-FC6B-5488C25449EB}"/>
              </a:ext>
            </a:extLst>
          </p:cNvPr>
          <p:cNvSpPr txBox="1"/>
          <p:nvPr/>
        </p:nvSpPr>
        <p:spPr>
          <a:xfrm>
            <a:off x="458758" y="1685833"/>
            <a:ext cx="5322570" cy="2095061"/>
          </a:xfrm>
          <a:prstGeom prst="rect">
            <a:avLst/>
          </a:prstGeom>
          <a:noFill/>
          <a:ln>
            <a:solidFill>
              <a:schemeClr val="tx1"/>
            </a:solidFill>
          </a:ln>
        </p:spPr>
        <p:txBody>
          <a:bodyPr wrap="square">
            <a:spAutoFit/>
          </a:bodyPr>
          <a:lstStyle/>
          <a:p>
            <a:pPr>
              <a:lnSpc>
                <a:spcPct val="113095"/>
              </a:lnSpc>
              <a:buNone/>
            </a:pPr>
            <a:r>
              <a:rPr lang="en-US" sz="1050" b="0" dirty="0">
                <a:solidFill>
                  <a:srgbClr val="0000FF"/>
                </a:solidFill>
                <a:effectLst/>
                <a:latin typeface="Fira Code" panose="020B0809050000020004" pitchFamily="49" charset="0"/>
              </a:rPr>
              <a:t>int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FF"/>
                </a:solidFill>
                <a:effectLst/>
                <a:latin typeface="Fira Code" panose="020B0809050000020004" pitchFamily="49" charset="0"/>
              </a:rPr>
              <a:t>int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FF"/>
                </a:solidFill>
                <a:effectLst/>
                <a:latin typeface="Fira Code" panose="020B0809050000020004" pitchFamily="49" charset="0"/>
              </a:rPr>
              <a:t>int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a:t>
            </a:r>
          </a:p>
          <a:p>
            <a:pPr>
              <a:lnSpc>
                <a:spcPct val="113095"/>
              </a:lnSpc>
              <a:buNone/>
            </a:pPr>
            <a:br>
              <a:rPr lang="en-US" sz="1050" b="0" dirty="0">
                <a:solidFill>
                  <a:srgbClr val="000000"/>
                </a:solidFill>
                <a:effectLst/>
                <a:latin typeface="Fira Code" panose="020B0809050000020004" pitchFamily="49" charset="0"/>
              </a:rPr>
            </a:br>
            <a:endParaRPr lang="en-US" sz="1050" b="0" dirty="0">
              <a:solidFill>
                <a:srgbClr val="000000"/>
              </a:solidFill>
              <a:effectLst/>
              <a:latin typeface="Fira Code" panose="020B0809050000020004" pitchFamily="49" charset="0"/>
            </a:endParaRPr>
          </a:p>
          <a:p>
            <a:pPr>
              <a:lnSpc>
                <a:spcPct val="113095"/>
              </a:lnSpc>
              <a:buNone/>
            </a:pP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16</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16</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&lt;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16</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&lt;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16</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p:txBody>
      </p:sp>
      <p:sp>
        <p:nvSpPr>
          <p:cNvPr id="11" name="TextBox 10">
            <a:extLst>
              <a:ext uri="{FF2B5EF4-FFF2-40B4-BE49-F238E27FC236}">
                <a16:creationId xmlns:a16="http://schemas.microsoft.com/office/drawing/2014/main" id="{4418C5DE-B552-F324-0BF5-F984480C4846}"/>
              </a:ext>
            </a:extLst>
          </p:cNvPr>
          <p:cNvSpPr txBox="1"/>
          <p:nvPr/>
        </p:nvSpPr>
        <p:spPr>
          <a:xfrm>
            <a:off x="6266583" y="4459386"/>
            <a:ext cx="5322570" cy="1912447"/>
          </a:xfrm>
          <a:prstGeom prst="rect">
            <a:avLst/>
          </a:prstGeom>
          <a:noFill/>
          <a:ln>
            <a:solidFill>
              <a:schemeClr val="tx1"/>
            </a:solidFill>
          </a:ln>
        </p:spPr>
        <p:txBody>
          <a:bodyPr wrap="square">
            <a:spAutoFit/>
          </a:bodyPr>
          <a:lstStyle/>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p>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&gt;();</a:t>
            </a:r>
          </a:p>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p>
          <a:p>
            <a:pPr>
              <a:lnSpc>
                <a:spcPct val="113095"/>
              </a:lnSpc>
              <a:buNone/>
            </a:pPr>
            <a:br>
              <a:rPr lang="en-US" sz="1050" b="0" dirty="0">
                <a:solidFill>
                  <a:srgbClr val="000000"/>
                </a:solidFill>
                <a:effectLst/>
                <a:latin typeface="Fira Code" panose="020B0809050000020004" pitchFamily="49" charset="0"/>
              </a:rPr>
            </a:br>
            <a:endParaRPr lang="en-US" sz="1050" b="0" dirty="0">
              <a:solidFill>
                <a:srgbClr val="000000"/>
              </a:solidFill>
              <a:effectLst/>
              <a:latin typeface="Fira Code" panose="020B0809050000020004" pitchFamily="49" charset="0"/>
            </a:endParaRPr>
          </a:p>
          <a:p>
            <a:pPr>
              <a:lnSpc>
                <a:spcPct val="113095"/>
              </a:lnSpc>
              <a:buNone/>
            </a:pPr>
            <a:r>
              <a:rPr lang="en-US" sz="1050" b="0" dirty="0">
                <a:solidFill>
                  <a:srgbClr val="267F99"/>
                </a:solidFill>
                <a:effectLst/>
                <a:latin typeface="Fira Code" panose="020B0809050000020004" pitchFamily="49" charset="0"/>
              </a:rPr>
              <a:t>Traversal</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795E26"/>
                </a:solidFill>
                <a:effectLst/>
                <a:latin typeface="Fira Code" panose="020B0809050000020004" pitchFamily="49" charset="0"/>
              </a:rPr>
              <a:t>order</a:t>
            </a:r>
            <a:r>
              <a:rPr lang="en-US" sz="1050" b="0" dirty="0">
                <a:solidFill>
                  <a:srgbClr val="000000"/>
                </a:solidFill>
                <a:effectLst/>
                <a:latin typeface="Fira Code" panose="020B0809050000020004" pitchFamily="49" charset="0"/>
              </a:rPr>
              <a:t>(</a:t>
            </a:r>
            <a:r>
              <a:rPr lang="en-US" sz="1050" b="0" dirty="0" err="1">
                <a:solidFill>
                  <a:srgbClr val="267F99"/>
                </a:solidFill>
                <a:effectLst/>
                <a:latin typeface="Fira Code" panose="020B0809050000020004" pitchFamily="49" charset="0"/>
              </a:rPr>
              <a:t>ByTiles</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r>
              <a:rPr lang="en-US" sz="1050" dirty="0">
                <a:solidFill>
                  <a:srgbClr val="098658"/>
                </a:solidFill>
                <a:latin typeface="Fira Code" panose="020B0809050000020004" pitchFamily="49" charset="0"/>
              </a:rPr>
              <a:t>16</a:t>
            </a:r>
            <a:r>
              <a:rPr lang="en-US" sz="1050" b="0" dirty="0">
                <a:solidFill>
                  <a:srgbClr val="000000"/>
                </a:solidFill>
                <a:effectLst/>
                <a:latin typeface="Fira Code" panose="020B0809050000020004" pitchFamily="49" charset="0"/>
              </a:rPr>
              <a:t>, </a:t>
            </a:r>
            <a:r>
              <a:rPr lang="en-US" sz="1050" dirty="0">
                <a:solidFill>
                  <a:srgbClr val="098658"/>
                </a:solidFill>
                <a:latin typeface="Fira Code" panose="020B0809050000020004" pitchFamily="49" charset="0"/>
              </a:rPr>
              <a:t>16</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err="1">
                <a:solidFill>
                  <a:srgbClr val="795E26"/>
                </a:solidFill>
                <a:effectLst/>
                <a:latin typeface="Fira Code" panose="020B0809050000020004" pitchFamily="49" charset="0"/>
              </a:rPr>
              <a:t>for_each</a:t>
            </a:r>
            <a:r>
              <a:rPr lang="en-US" sz="1050" dirty="0">
                <a:solidFill>
                  <a:srgbClr val="000000"/>
                </a:solidFill>
                <a:latin typeface="Fira Code" panose="020B0809050000020004" pitchFamily="49" charset="0"/>
              </a:rPr>
              <a:t>(</a:t>
            </a:r>
            <a:br>
              <a:rPr lang="en-US" sz="1050" dirty="0">
                <a:solidFill>
                  <a:srgbClr val="000000"/>
                </a:solidFill>
                <a:latin typeface="Fira Code" panose="020B0809050000020004" pitchFamily="49" charset="0"/>
              </a:rPr>
            </a:br>
            <a:r>
              <a:rPr lang="en-US" sz="1050" dirty="0">
                <a:solidFill>
                  <a:srgbClr val="000000"/>
                </a:solidFill>
                <a:latin typeface="Fira Code" panose="020B0809050000020004" pitchFamily="49" charset="0"/>
              </a:rPr>
              <a:t>        </a:t>
            </a:r>
            <a:r>
              <a:rPr lang="en-US" sz="1050" b="0" dirty="0">
                <a:solidFill>
                  <a:srgbClr val="000000"/>
                </a:solidFill>
                <a:effectLst/>
                <a:latin typeface="Fira Code" panose="020B0809050000020004" pitchFamily="49" charset="0"/>
              </a:rPr>
              <a:t>[&amp;](</a:t>
            </a: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index</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index</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index</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index</a:t>
            </a:r>
            <a:r>
              <a:rPr lang="en-US" sz="1050" b="0" dirty="0">
                <a:solidFill>
                  <a:srgbClr val="000000"/>
                </a:solidFill>
                <a:effectLst/>
                <a:latin typeface="Fira Code" panose="020B0809050000020004" pitchFamily="49" charset="0"/>
              </a:rPr>
              <a:t>]; }</a:t>
            </a:r>
            <a:br>
              <a:rPr lang="en-US" sz="1050" dirty="0">
                <a:solidFill>
                  <a:srgbClr val="000000"/>
                </a:solidFill>
                <a:latin typeface="Fira Code" panose="020B0809050000020004" pitchFamily="49" charset="0"/>
              </a:rPr>
            </a:br>
            <a:r>
              <a:rPr lang="en-US" sz="1050" dirty="0">
                <a:solidFill>
                  <a:srgbClr val="000000"/>
                </a:solidFill>
                <a:latin typeface="Fira Code" panose="020B0809050000020004" pitchFamily="49" charset="0"/>
              </a:rPr>
              <a:t>    </a:t>
            </a:r>
            <a:r>
              <a:rPr lang="en-US" sz="1050" b="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B84D94B0-4678-CCB0-75F4-4E127B361C61}"/>
              </a:ext>
            </a:extLst>
          </p:cNvPr>
          <p:cNvSpPr txBox="1"/>
          <p:nvPr/>
        </p:nvSpPr>
        <p:spPr>
          <a:xfrm>
            <a:off x="6266583" y="2082598"/>
            <a:ext cx="4981401" cy="816762"/>
          </a:xfrm>
          <a:prstGeom prst="rect">
            <a:avLst/>
          </a:prstGeom>
          <a:noFill/>
          <a:ln>
            <a:solidFill>
              <a:schemeClr val="tx1"/>
            </a:solidFill>
          </a:ln>
        </p:spPr>
        <p:txBody>
          <a:bodyPr wrap="square">
            <a:spAutoFit/>
          </a:bodyPr>
          <a:lstStyle/>
          <a:p>
            <a:pPr>
              <a:lnSpc>
                <a:spcPct val="113095"/>
              </a:lnSpc>
              <a:buNone/>
            </a:pP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accessC</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err="1">
                <a:solidFill>
                  <a:srgbClr val="001080"/>
                </a:solidFill>
                <a:effectLst/>
                <a:latin typeface="Fira Code" panose="020B0809050000020004" pitchFamily="49" charset="0"/>
              </a:rPr>
              <a:t>accessA</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err="1">
                <a:solidFill>
                  <a:srgbClr val="001080"/>
                </a:solidFill>
                <a:effectLst/>
                <a:latin typeface="Fira Code" panose="020B0809050000020004" pitchFamily="49" charset="0"/>
              </a:rPr>
              <a:t>accessB</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p:txBody>
      </p:sp>
      <p:sp>
        <p:nvSpPr>
          <p:cNvPr id="19" name="TextBox 18">
            <a:extLst>
              <a:ext uri="{FF2B5EF4-FFF2-40B4-BE49-F238E27FC236}">
                <a16:creationId xmlns:a16="http://schemas.microsoft.com/office/drawing/2014/main" id="{6BB35EA4-A471-A6FC-E9D0-7054843CDA81}"/>
              </a:ext>
            </a:extLst>
          </p:cNvPr>
          <p:cNvSpPr txBox="1"/>
          <p:nvPr/>
        </p:nvSpPr>
        <p:spPr>
          <a:xfrm>
            <a:off x="550203" y="4824615"/>
            <a:ext cx="3847230" cy="1181990"/>
          </a:xfrm>
          <a:prstGeom prst="rect">
            <a:avLst/>
          </a:prstGeom>
          <a:noFill/>
          <a:ln>
            <a:solidFill>
              <a:schemeClr val="tx1"/>
            </a:solidFill>
          </a:ln>
        </p:spPr>
        <p:txBody>
          <a:bodyPr wrap="square">
            <a:spAutoFit/>
          </a:bodyPr>
          <a:lstStyle/>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RowMajor</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p>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ColMajor</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&gt;();</a:t>
            </a:r>
          </a:p>
          <a:p>
            <a:pPr>
              <a:lnSpc>
                <a:spcPct val="113095"/>
              </a:lnSpc>
              <a:buNone/>
            </a:pPr>
            <a:br>
              <a:rPr lang="en-US" sz="1050" b="0" dirty="0">
                <a:solidFill>
                  <a:srgbClr val="000000"/>
                </a:solidFill>
                <a:effectLst/>
                <a:latin typeface="Fira Code" panose="020B0809050000020004" pitchFamily="49" charset="0"/>
              </a:rPr>
            </a:b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idx</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Idx</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r>
              <a:rPr lang="en-US" sz="1050" b="0" dirty="0">
                <a:solidFill>
                  <a:srgbClr val="098658"/>
                </a:solidFill>
                <a:effectLst/>
                <a:latin typeface="Fira Code" panose="020B0809050000020004" pitchFamily="49" charset="0"/>
              </a:rPr>
              <a:t>4</a:t>
            </a:r>
            <a:r>
              <a:rPr lang="en-US" sz="1050" b="0" dirty="0">
                <a:solidFill>
                  <a:srgbClr val="000000"/>
                </a:solidFill>
                <a:effectLst/>
                <a:latin typeface="Fira Code" panose="020B0809050000020004" pitchFamily="49" charset="0"/>
              </a:rPr>
              <a:t>, </a:t>
            </a:r>
            <a:r>
              <a:rPr lang="en-US" sz="1050" b="0" dirty="0">
                <a:solidFill>
                  <a:srgbClr val="098658"/>
                </a:solidFill>
                <a:effectLst/>
                <a:latin typeface="Fira Code" panose="020B0809050000020004" pitchFamily="49" charset="0"/>
              </a:rPr>
              <a:t>5</a:t>
            </a:r>
            <a:r>
              <a:rPr lang="en-US" sz="1050" b="0" dirty="0">
                <a:solidFill>
                  <a:srgbClr val="000000"/>
                </a:solidFill>
                <a:effectLst/>
                <a:latin typeface="Fira Code" panose="020B0809050000020004" pitchFamily="49" charset="0"/>
              </a:rPr>
              <a:t>);</a:t>
            </a:r>
          </a:p>
          <a:p>
            <a:pPr>
              <a:lnSpc>
                <a:spcPct val="113095"/>
              </a:lnSpc>
              <a:buNone/>
            </a:pPr>
            <a:endParaRPr lang="en-US" sz="1050" b="0" dirty="0">
              <a:solidFill>
                <a:srgbClr val="001080"/>
              </a:solidFill>
              <a:effectLst/>
              <a:latin typeface="Fira Code" panose="020B0809050000020004" pitchFamily="49" charset="0"/>
            </a:endParaRPr>
          </a:p>
          <a:p>
            <a:pPr>
              <a:lnSpc>
                <a:spcPct val="113095"/>
              </a:lnSpc>
              <a:buNone/>
            </a:pPr>
            <a:r>
              <a:rPr lang="en-US" sz="1050" b="0" dirty="0" err="1">
                <a:solidFill>
                  <a:srgbClr val="001080"/>
                </a:solidFill>
                <a:effectLst/>
                <a:latin typeface="Fira Code" panose="020B0809050000020004" pitchFamily="49" charset="0"/>
              </a:rPr>
              <a:t>RowMajor</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idx</a:t>
            </a:r>
            <a:r>
              <a:rPr lang="en-US" sz="1050" b="0" dirty="0">
                <a:solidFill>
                  <a:srgbClr val="000000"/>
                </a:solidFill>
                <a:effectLst/>
                <a:latin typeface="Fira Code" panose="020B0809050000020004" pitchFamily="49" charset="0"/>
              </a:rPr>
              <a:t>] = </a:t>
            </a:r>
            <a:r>
              <a:rPr lang="en-US" sz="1050" b="0" dirty="0" err="1">
                <a:solidFill>
                  <a:srgbClr val="001080"/>
                </a:solidFill>
                <a:effectLst/>
                <a:latin typeface="Fira Code" panose="020B0809050000020004" pitchFamily="49" charset="0"/>
              </a:rPr>
              <a:t>ColMajor</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idx</a:t>
            </a:r>
            <a:r>
              <a:rPr lang="en-US" sz="1050" b="0" dirty="0">
                <a:solidFill>
                  <a:srgbClr val="000000"/>
                </a:solidFill>
                <a:effectLst/>
                <a:latin typeface="Fira Code" panose="020B0809050000020004" pitchFamily="49" charset="0"/>
              </a:rPr>
              <a:t>];</a:t>
            </a:r>
          </a:p>
        </p:txBody>
      </p:sp>
    </p:spTree>
    <p:extLst>
      <p:ext uri="{BB962C8B-B14F-4D97-AF65-F5344CB8AC3E}">
        <p14:creationId xmlns:p14="http://schemas.microsoft.com/office/powerpoint/2010/main" val="6092968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4BCE46-A1EC-E0ED-AC97-840E25FF6D77}"/>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22159396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00110-1A1D-46C5-865E-8C33FFF09E26}"/>
              </a:ext>
            </a:extLst>
          </p:cNvPr>
          <p:cNvSpPr>
            <a:spLocks noGrp="1"/>
          </p:cNvSpPr>
          <p:nvPr>
            <p:ph type="title"/>
          </p:nvPr>
        </p:nvSpPr>
        <p:spPr/>
        <p:txBody>
          <a:bodyPr/>
          <a:lstStyle/>
          <a:p>
            <a:r>
              <a:rPr lang="en-US" noProof="0" dirty="0"/>
              <a:t>Layout-agnostic design</a:t>
            </a:r>
          </a:p>
        </p:txBody>
      </p:sp>
      <p:sp>
        <p:nvSpPr>
          <p:cNvPr id="3" name="Content Placeholder 2">
            <a:extLst>
              <a:ext uri="{FF2B5EF4-FFF2-40B4-BE49-F238E27FC236}">
                <a16:creationId xmlns:a16="http://schemas.microsoft.com/office/drawing/2014/main" id="{BC98E21C-63B1-8313-A72D-D4A24D26FBA1}"/>
              </a:ext>
            </a:extLst>
          </p:cNvPr>
          <p:cNvSpPr>
            <a:spLocks noGrp="1"/>
          </p:cNvSpPr>
          <p:nvPr>
            <p:ph idx="1"/>
          </p:nvPr>
        </p:nvSpPr>
        <p:spPr/>
        <p:txBody>
          <a:bodyPr/>
          <a:lstStyle/>
          <a:p>
            <a:r>
              <a:rPr lang="en-US" noProof="0" dirty="0"/>
              <a:t>Algorithm with explicit offset calculations × Algorithm with logical indices</a:t>
            </a:r>
          </a:p>
        </p:txBody>
      </p:sp>
    </p:spTree>
    <p:extLst>
      <p:ext uri="{BB962C8B-B14F-4D97-AF65-F5344CB8AC3E}">
        <p14:creationId xmlns:p14="http://schemas.microsoft.com/office/powerpoint/2010/main" val="3503651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6F341-5BBA-043E-301E-387913EC1471}"/>
              </a:ext>
            </a:extLst>
          </p:cNvPr>
          <p:cNvSpPr>
            <a:spLocks noGrp="1"/>
          </p:cNvSpPr>
          <p:nvPr>
            <p:ph type="title"/>
          </p:nvPr>
        </p:nvSpPr>
        <p:spPr/>
        <p:txBody>
          <a:bodyPr/>
          <a:lstStyle/>
          <a:p>
            <a:r>
              <a:rPr lang="en-US" noProof="0" dirty="0"/>
              <a:t>?? Traversal agnostic design</a:t>
            </a:r>
          </a:p>
        </p:txBody>
      </p:sp>
      <p:sp>
        <p:nvSpPr>
          <p:cNvPr id="3" name="Content Placeholder 2">
            <a:extLst>
              <a:ext uri="{FF2B5EF4-FFF2-40B4-BE49-F238E27FC236}">
                <a16:creationId xmlns:a16="http://schemas.microsoft.com/office/drawing/2014/main" id="{871CC203-309F-C580-057C-3B0A30FCD371}"/>
              </a:ext>
            </a:extLst>
          </p:cNvPr>
          <p:cNvSpPr>
            <a:spLocks noGrp="1"/>
          </p:cNvSpPr>
          <p:nvPr>
            <p:ph idx="1"/>
          </p:nvPr>
        </p:nvSpPr>
        <p:spPr/>
        <p:txBody>
          <a:bodyPr/>
          <a:lstStyle/>
          <a:p>
            <a:r>
              <a:rPr lang="en-US" noProof="0" dirty="0"/>
              <a:t>In many cases, changing traversals easier than structures</a:t>
            </a:r>
          </a:p>
          <a:p>
            <a:r>
              <a:rPr lang="en-US" noProof="0" dirty="0"/>
              <a:t>So focus on traversals</a:t>
            </a:r>
          </a:p>
          <a:p>
            <a:r>
              <a:rPr lang="en-US" noProof="0" dirty="0"/>
              <a:t>Traversal transformations can use the same principles (knowledge transfer?)</a:t>
            </a:r>
          </a:p>
          <a:p>
            <a:r>
              <a:rPr lang="en-US" noProof="0" dirty="0"/>
              <a:t>Traversers: </a:t>
            </a:r>
            <a:r>
              <a:rPr lang="en-US" noProof="0" dirty="0" err="1"/>
              <a:t>kinda</a:t>
            </a:r>
            <a:r>
              <a:rPr lang="en-US" noProof="0" dirty="0"/>
              <a:t> like iterators or range views</a:t>
            </a:r>
          </a:p>
          <a:p>
            <a:r>
              <a:rPr lang="en-US" noProof="0" dirty="0"/>
              <a:t>Extending transformations: blocking, spans, renaming, …</a:t>
            </a:r>
          </a:p>
          <a:p>
            <a:r>
              <a:rPr lang="en-US" noProof="0" dirty="0"/>
              <a:t>Simplifies parallelization (on TBB and CUDA)</a:t>
            </a:r>
          </a:p>
          <a:p>
            <a:pPr lvl="1"/>
            <a:r>
              <a:rPr lang="en-US" noProof="0" dirty="0"/>
              <a:t>(Named) dimensions of traversal can bind to dimension of the para BE</a:t>
            </a:r>
          </a:p>
        </p:txBody>
      </p:sp>
    </p:spTree>
    <p:extLst>
      <p:ext uri="{BB962C8B-B14F-4D97-AF65-F5344CB8AC3E}">
        <p14:creationId xmlns:p14="http://schemas.microsoft.com/office/powerpoint/2010/main" val="21261212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5C81CB-0D4D-015E-A6C7-6724860C9F8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F3BADD0-775D-00AB-6065-683027A95B8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9124478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67ECF-9BA1-2BE7-0036-A36004137A2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D95407F-A5F5-76A5-4E06-750FA9FB53D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1176100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25ADF-B97D-3587-87BD-4182502B6656}"/>
              </a:ext>
            </a:extLst>
          </p:cNvPr>
          <p:cNvSpPr>
            <a:spLocks noGrp="1"/>
          </p:cNvSpPr>
          <p:nvPr>
            <p:ph type="title"/>
          </p:nvPr>
        </p:nvSpPr>
        <p:spPr/>
        <p:txBody>
          <a:bodyPr/>
          <a:lstStyle/>
          <a:p>
            <a:r>
              <a:rPr lang="en-US" noProof="0" dirty="0"/>
              <a:t>Finalizing the automation: Autotuning</a:t>
            </a:r>
          </a:p>
        </p:txBody>
      </p:sp>
      <p:sp>
        <p:nvSpPr>
          <p:cNvPr id="3" name="Content Placeholder 2">
            <a:extLst>
              <a:ext uri="{FF2B5EF4-FFF2-40B4-BE49-F238E27FC236}">
                <a16:creationId xmlns:a16="http://schemas.microsoft.com/office/drawing/2014/main" id="{2673B8B7-D0E9-6CB9-1502-D2F6FEE0D62F}"/>
              </a:ext>
            </a:extLst>
          </p:cNvPr>
          <p:cNvSpPr>
            <a:spLocks noGrp="1"/>
          </p:cNvSpPr>
          <p:nvPr>
            <p:ph idx="1"/>
          </p:nvPr>
        </p:nvSpPr>
        <p:spPr/>
        <p:txBody>
          <a:bodyPr/>
          <a:lstStyle/>
          <a:p>
            <a:r>
              <a:rPr lang="en-US" noProof="0" dirty="0"/>
              <a:t>Abstraction for integrating with an </a:t>
            </a:r>
            <a:r>
              <a:rPr lang="en-US" noProof="0" dirty="0" err="1"/>
              <a:t>autotuner</a:t>
            </a:r>
            <a:endParaRPr lang="en-US" noProof="0" dirty="0"/>
          </a:p>
          <a:p>
            <a:pPr lvl="1"/>
            <a:r>
              <a:rPr lang="en-US" noProof="0" dirty="0"/>
              <a:t>Agnostic to the specific backend</a:t>
            </a:r>
          </a:p>
          <a:p>
            <a:pPr lvl="1"/>
            <a:r>
              <a:rPr lang="en-US" noProof="0" dirty="0"/>
              <a:t>PoC with </a:t>
            </a:r>
            <a:r>
              <a:rPr lang="en-US" noProof="0" dirty="0" err="1"/>
              <a:t>OpenTuner</a:t>
            </a:r>
            <a:r>
              <a:rPr lang="en-US" noProof="0" dirty="0"/>
              <a:t>, </a:t>
            </a:r>
            <a:r>
              <a:rPr lang="en-US" noProof="0" dirty="0" err="1"/>
              <a:t>Optuna</a:t>
            </a:r>
            <a:r>
              <a:rPr lang="en-US" noProof="0" dirty="0"/>
              <a:t>, ATF</a:t>
            </a:r>
          </a:p>
          <a:p>
            <a:r>
              <a:rPr lang="en-US" noProof="0" dirty="0"/>
              <a:t>Autotuning enables automatic layout &amp; traversal transformations</a:t>
            </a:r>
          </a:p>
        </p:txBody>
      </p:sp>
    </p:spTree>
    <p:extLst>
      <p:ext uri="{BB962C8B-B14F-4D97-AF65-F5344CB8AC3E}">
        <p14:creationId xmlns:p14="http://schemas.microsoft.com/office/powerpoint/2010/main" val="29584069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2CDF9-1A11-349C-B79A-D01E2C32766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E99F6D3-B032-B769-4CDC-FF1CDC69153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893358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3F49C5DC-F250-ABEE-8BA5-C59E6ABD627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522048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DF7620-7AA1-EF30-FDC7-27AAC7FFE5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C42AB4-1D66-61B5-41F3-D1C814D6D79F}"/>
              </a:ext>
            </a:extLst>
          </p:cNvPr>
          <p:cNvSpPr>
            <a:spLocks noGrp="1"/>
          </p:cNvSpPr>
          <p:nvPr>
            <p:ph type="title"/>
          </p:nvPr>
        </p:nvSpPr>
        <p:spPr/>
        <p:txBody>
          <a:bodyPr/>
          <a:lstStyle/>
          <a:p>
            <a:r>
              <a:rPr lang="en-US" noProof="0" dirty="0"/>
              <a:t>M &amp; S</a:t>
            </a:r>
          </a:p>
        </p:txBody>
      </p:sp>
      <p:sp>
        <p:nvSpPr>
          <p:cNvPr id="3" name="Content Placeholder 2">
            <a:extLst>
              <a:ext uri="{FF2B5EF4-FFF2-40B4-BE49-F238E27FC236}">
                <a16:creationId xmlns:a16="http://schemas.microsoft.com/office/drawing/2014/main" id="{7FC71ADE-62E2-F5C5-38A6-5FA51E07F94E}"/>
              </a:ext>
            </a:extLst>
          </p:cNvPr>
          <p:cNvSpPr>
            <a:spLocks noGrp="1"/>
          </p:cNvSpPr>
          <p:nvPr>
            <p:ph idx="1"/>
          </p:nvPr>
        </p:nvSpPr>
        <p:spPr/>
        <p:txBody>
          <a:bodyPr/>
          <a:lstStyle/>
          <a:p>
            <a:r>
              <a:rPr lang="en-US" noProof="0" dirty="0"/>
              <a:t>Motivation: GPU &amp; Cluster computing</a:t>
            </a:r>
          </a:p>
          <a:p>
            <a:pPr lvl="1"/>
            <a:r>
              <a:rPr lang="en-US" noProof="0" dirty="0"/>
              <a:t>Too many decisions, complex code (you don’t know) </a:t>
            </a:r>
            <a:r>
              <a:rPr lang="en-US" noProof="0" dirty="0">
                <a:sym typeface="Wingdings" panose="05000000000000000000" pitchFamily="2" charset="2"/>
              </a:rPr>
              <a:t> the problem, it is hard</a:t>
            </a:r>
            <a:endParaRPr lang="en-US" noProof="0" dirty="0"/>
          </a:p>
          <a:p>
            <a:pPr lvl="2"/>
            <a:r>
              <a:rPr lang="en-US" noProof="0" dirty="0"/>
              <a:t>layout options, traversal options, parallelization (Matice, </a:t>
            </a:r>
            <a:r>
              <a:rPr lang="en-US" noProof="0" dirty="0" err="1"/>
              <a:t>pruchod</a:t>
            </a:r>
            <a:r>
              <a:rPr lang="en-US" noProof="0" dirty="0"/>
              <a:t>; </a:t>
            </a:r>
            <a:r>
              <a:rPr lang="en-US" noProof="0" dirty="0" err="1"/>
              <a:t>nasobeni</a:t>
            </a:r>
            <a:r>
              <a:rPr lang="en-US" noProof="0" dirty="0"/>
              <a:t>?)</a:t>
            </a:r>
          </a:p>
          <a:p>
            <a:pPr lvl="2"/>
            <a:r>
              <a:rPr lang="en-US" noProof="0" dirty="0"/>
              <a:t>parameters for the above (block sizes, …)</a:t>
            </a:r>
          </a:p>
          <a:p>
            <a:r>
              <a:rPr lang="en-US" noProof="0" dirty="0"/>
              <a:t>Our solution: Abstraction &amp; automatization </a:t>
            </a:r>
            <a:r>
              <a:rPr lang="en-US" noProof="0" dirty="0">
                <a:sym typeface="Wingdings" panose="05000000000000000000" pitchFamily="2" charset="2"/>
              </a:rPr>
              <a:t> we offer a solution</a:t>
            </a:r>
            <a:endParaRPr lang="en-US" noProof="0" dirty="0"/>
          </a:p>
          <a:p>
            <a:pPr lvl="1"/>
            <a:r>
              <a:rPr lang="en-US" noProof="0" dirty="0"/>
              <a:t>Separation of concerns, independent aspects</a:t>
            </a:r>
          </a:p>
          <a:p>
            <a:pPr lvl="1"/>
            <a:r>
              <a:rPr lang="en-US" noProof="0" dirty="0"/>
              <a:t>Introducing layout-agnostic and traversal-agnostic algorithm design</a:t>
            </a:r>
          </a:p>
          <a:p>
            <a:pPr lvl="1"/>
            <a:r>
              <a:rPr lang="en-US" noProof="0" dirty="0"/>
              <a:t>How the world is saved</a:t>
            </a:r>
          </a:p>
        </p:txBody>
      </p:sp>
    </p:spTree>
    <p:extLst>
      <p:ext uri="{BB962C8B-B14F-4D97-AF65-F5344CB8AC3E}">
        <p14:creationId xmlns:p14="http://schemas.microsoft.com/office/powerpoint/2010/main" val="14089203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44D8EA-565C-C8A0-F333-6EBD085AC735}"/>
              </a:ext>
            </a:extLst>
          </p:cNvPr>
          <p:cNvSpPr>
            <a:spLocks noGrp="1"/>
          </p:cNvSpPr>
          <p:nvPr>
            <p:ph type="title"/>
          </p:nvPr>
        </p:nvSpPr>
        <p:spPr/>
        <p:txBody>
          <a:bodyPr/>
          <a:lstStyle/>
          <a:p>
            <a:r>
              <a:rPr lang="en-US" noProof="0" dirty="0"/>
              <a:t>Proposed abstractions</a:t>
            </a:r>
          </a:p>
        </p:txBody>
      </p:sp>
      <p:sp>
        <p:nvSpPr>
          <p:cNvPr id="3" name="Content Placeholder 2">
            <a:extLst>
              <a:ext uri="{FF2B5EF4-FFF2-40B4-BE49-F238E27FC236}">
                <a16:creationId xmlns:a16="http://schemas.microsoft.com/office/drawing/2014/main" id="{0B0BC514-DFF4-C541-7399-85275B2EB075}"/>
              </a:ext>
            </a:extLst>
          </p:cNvPr>
          <p:cNvSpPr>
            <a:spLocks noGrp="1"/>
          </p:cNvSpPr>
          <p:nvPr>
            <p:ph idx="1"/>
          </p:nvPr>
        </p:nvSpPr>
        <p:spPr/>
        <p:txBody>
          <a:bodyPr/>
          <a:lstStyle/>
          <a:p>
            <a:r>
              <a:rPr lang="en-US" noProof="0" dirty="0"/>
              <a:t>Layout abstractions</a:t>
            </a:r>
          </a:p>
          <a:p>
            <a:r>
              <a:rPr lang="en-US" noProof="0" dirty="0"/>
              <a:t>Traversal abstractions</a:t>
            </a:r>
          </a:p>
          <a:p>
            <a:endParaRPr lang="en-US" noProof="0" dirty="0"/>
          </a:p>
          <a:p>
            <a:r>
              <a:rPr lang="en-US" noProof="0" dirty="0"/>
              <a:t>Extensions</a:t>
            </a:r>
          </a:p>
          <a:p>
            <a:pPr lvl="1"/>
            <a:r>
              <a:rPr lang="en-US" noProof="0" dirty="0"/>
              <a:t>? Practical aspects; </a:t>
            </a:r>
            <a:r>
              <a:rPr lang="en-US" noProof="0" dirty="0">
                <a:sym typeface="Wingdings" panose="05000000000000000000" pitchFamily="2" charset="2"/>
              </a:rPr>
              <a:t> autotuning</a:t>
            </a:r>
            <a:endParaRPr lang="en-US" noProof="0" dirty="0"/>
          </a:p>
          <a:p>
            <a:pPr lvl="1"/>
            <a:r>
              <a:rPr lang="en-US" noProof="0" dirty="0"/>
              <a:t>Distributed computing</a:t>
            </a:r>
          </a:p>
          <a:p>
            <a:endParaRPr lang="en-US" noProof="0" dirty="0"/>
          </a:p>
          <a:p>
            <a:r>
              <a:rPr lang="en-US" noProof="0" dirty="0"/>
              <a:t>Knowledge </a:t>
            </a:r>
            <a:r>
              <a:rPr lang="en-US" noProof="0" dirty="0" err="1"/>
              <a:t>neco</a:t>
            </a:r>
            <a:r>
              <a:rPr lang="en-US" noProof="0" dirty="0"/>
              <a:t> (</a:t>
            </a:r>
            <a:r>
              <a:rPr lang="en-US" noProof="0" dirty="0" err="1"/>
              <a:t>metaprogramovani</a:t>
            </a:r>
            <a:r>
              <a:rPr lang="en-US" noProof="0" dirty="0"/>
              <a:t>, </a:t>
            </a:r>
            <a:r>
              <a:rPr lang="en-US" noProof="0" dirty="0" err="1"/>
              <a:t>stavebni</a:t>
            </a:r>
            <a:r>
              <a:rPr lang="en-US" noProof="0" dirty="0"/>
              <a:t> </a:t>
            </a:r>
            <a:r>
              <a:rPr lang="en-US" noProof="0" dirty="0" err="1"/>
              <a:t>bloky</a:t>
            </a:r>
            <a:r>
              <a:rPr lang="en-US" noProof="0" dirty="0"/>
              <a:t>, </a:t>
            </a:r>
            <a:r>
              <a:rPr lang="en-US" noProof="0" dirty="0" err="1"/>
              <a:t>traversery</a:t>
            </a:r>
            <a:r>
              <a:rPr lang="en-US" noProof="0" dirty="0"/>
              <a:t>?)</a:t>
            </a:r>
          </a:p>
          <a:p>
            <a:pPr lvl="1"/>
            <a:r>
              <a:rPr lang="en-US" noProof="0" dirty="0"/>
              <a:t>CA computations (</a:t>
            </a:r>
          </a:p>
        </p:txBody>
      </p:sp>
    </p:spTree>
    <p:extLst>
      <p:ext uri="{BB962C8B-B14F-4D97-AF65-F5344CB8AC3E}">
        <p14:creationId xmlns:p14="http://schemas.microsoft.com/office/powerpoint/2010/main" val="21951909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F5328-A4E6-AC76-4627-FB90089BB6D8}"/>
              </a:ext>
            </a:extLst>
          </p:cNvPr>
          <p:cNvSpPr>
            <a:spLocks noGrp="1"/>
          </p:cNvSpPr>
          <p:nvPr>
            <p:ph type="title"/>
          </p:nvPr>
        </p:nvSpPr>
        <p:spPr/>
        <p:txBody>
          <a:bodyPr/>
          <a:lstStyle/>
          <a:p>
            <a:r>
              <a:rPr lang="en-US" noProof="0" dirty="0"/>
              <a:t>Distributed computing</a:t>
            </a:r>
          </a:p>
        </p:txBody>
      </p:sp>
      <p:sp>
        <p:nvSpPr>
          <p:cNvPr id="3" name="Content Placeholder 2">
            <a:extLst>
              <a:ext uri="{FF2B5EF4-FFF2-40B4-BE49-F238E27FC236}">
                <a16:creationId xmlns:a16="http://schemas.microsoft.com/office/drawing/2014/main" id="{3CA0AA2D-BF91-A9FE-E55F-A715C4DD0CC6}"/>
              </a:ext>
            </a:extLst>
          </p:cNvPr>
          <p:cNvSpPr>
            <a:spLocks noGrp="1"/>
          </p:cNvSpPr>
          <p:nvPr>
            <p:ph idx="1"/>
          </p:nvPr>
        </p:nvSpPr>
        <p:spPr/>
        <p:txBody>
          <a:bodyPr/>
          <a:lstStyle/>
          <a:p>
            <a:r>
              <a:rPr lang="en-US" noProof="0" dirty="0"/>
              <a:t>Many scientific computations rely on spreading the load to many nodes</a:t>
            </a:r>
          </a:p>
          <a:p>
            <a:r>
              <a:rPr lang="en-US" noProof="0" dirty="0"/>
              <a:t>Designing distributed computations further increases the challenge</a:t>
            </a:r>
          </a:p>
          <a:p>
            <a:r>
              <a:rPr lang="en-US" noProof="0" dirty="0"/>
              <a:t>Many communication patterns can be described using the same principles as layouts &amp; traversals</a:t>
            </a:r>
          </a:p>
          <a:p>
            <a:r>
              <a:rPr lang="en-US" noProof="0" dirty="0"/>
              <a:t>New abstraction: faster &amp; more flexible/convenient than </a:t>
            </a:r>
            <a:r>
              <a:rPr lang="en-US" noProof="0" dirty="0" err="1"/>
              <a:t>SotA</a:t>
            </a:r>
            <a:endParaRPr lang="en-US" noProof="0" dirty="0"/>
          </a:p>
          <a:p>
            <a:pPr lvl="1"/>
            <a:r>
              <a:rPr lang="en-US" noProof="0" dirty="0"/>
              <a:t>Automatically communicates the layout with the MPI backend</a:t>
            </a:r>
          </a:p>
          <a:p>
            <a:pPr lvl="1"/>
            <a:r>
              <a:rPr lang="en-US" dirty="0"/>
              <a:t>Enables optimizing the layouts on each computation node seamlessly</a:t>
            </a:r>
            <a:endParaRPr lang="en-US" noProof="0" dirty="0"/>
          </a:p>
          <a:p>
            <a:endParaRPr lang="en-US" noProof="0" dirty="0"/>
          </a:p>
        </p:txBody>
      </p:sp>
    </p:spTree>
    <p:extLst>
      <p:ext uri="{BB962C8B-B14F-4D97-AF65-F5344CB8AC3E}">
        <p14:creationId xmlns:p14="http://schemas.microsoft.com/office/powerpoint/2010/main" val="1994498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76DF5-558B-3919-32B0-4F3084964F7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0667283-B3C4-C4F1-4079-B937054AF85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3990220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DBE9D86D-018E-4C50-0EFA-D7C58766058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024218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924F1-4B00-84E0-3832-4B100046AF51}"/>
              </a:ext>
            </a:extLst>
          </p:cNvPr>
          <p:cNvSpPr>
            <a:spLocks noGrp="1"/>
          </p:cNvSpPr>
          <p:nvPr>
            <p:ph type="title"/>
          </p:nvPr>
        </p:nvSpPr>
        <p:spPr/>
        <p:txBody>
          <a:bodyPr/>
          <a:lstStyle/>
          <a:p>
            <a:r>
              <a:rPr lang="en-US" noProof="0" dirty="0"/>
              <a:t>Cellular automata</a:t>
            </a:r>
          </a:p>
        </p:txBody>
      </p:sp>
      <p:sp>
        <p:nvSpPr>
          <p:cNvPr id="3" name="Content Placeholder 2">
            <a:extLst>
              <a:ext uri="{FF2B5EF4-FFF2-40B4-BE49-F238E27FC236}">
                <a16:creationId xmlns:a16="http://schemas.microsoft.com/office/drawing/2014/main" id="{F22AF8FD-4C12-AFD8-ED43-50529A45C04D}"/>
              </a:ext>
            </a:extLst>
          </p:cNvPr>
          <p:cNvSpPr>
            <a:spLocks noGrp="1"/>
          </p:cNvSpPr>
          <p:nvPr>
            <p:ph idx="1"/>
          </p:nvPr>
        </p:nvSpPr>
        <p:spPr/>
        <p:txBody>
          <a:bodyPr/>
          <a:lstStyle/>
          <a:p>
            <a:r>
              <a:rPr lang="en-US" noProof="0" dirty="0"/>
              <a:t>We noticed that CA commonly benefit from </a:t>
            </a:r>
            <a:r>
              <a:rPr lang="en-US" noProof="0" dirty="0" err="1"/>
              <a:t>templatable</a:t>
            </a:r>
            <a:r>
              <a:rPr lang="en-US" noProof="0" dirty="0"/>
              <a:t> design decisions</a:t>
            </a:r>
          </a:p>
          <a:p>
            <a:pPr lvl="1"/>
            <a:r>
              <a:rPr lang="en-US" dirty="0"/>
              <a:t>Layout &amp; encoding options (! bit-packing)</a:t>
            </a:r>
          </a:p>
          <a:p>
            <a:pPr lvl="1"/>
            <a:r>
              <a:rPr lang="en-US" dirty="0"/>
              <a:t>Evaluation options (! bit-wise vectorization)</a:t>
            </a:r>
          </a:p>
          <a:p>
            <a:pPr lvl="1"/>
            <a:r>
              <a:rPr lang="en-US" noProof="0" dirty="0"/>
              <a:t>Traversal options (incl. parallelism)</a:t>
            </a:r>
          </a:p>
          <a:p>
            <a:r>
              <a:rPr lang="en-US" noProof="0" dirty="0"/>
              <a:t>Agnostic design of CA computation rules</a:t>
            </a:r>
          </a:p>
          <a:p>
            <a:r>
              <a:rPr lang="en-US" dirty="0"/>
              <a:t>Faster development, experimentation (optimization)</a:t>
            </a:r>
            <a:endParaRPr lang="en-US" noProof="0" dirty="0"/>
          </a:p>
        </p:txBody>
      </p:sp>
    </p:spTree>
    <p:extLst>
      <p:ext uri="{BB962C8B-B14F-4D97-AF65-F5344CB8AC3E}">
        <p14:creationId xmlns:p14="http://schemas.microsoft.com/office/powerpoint/2010/main" val="34660364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8227E-92C1-58EB-DF13-B5786997FFC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BA74A47-DB48-A852-0AED-B35ABEBAE0A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6305399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F1E705A3-4FDF-AB1A-A2C5-33B72A01596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3104121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D8E19-FCBD-3C1F-9804-55F9EF315364}"/>
              </a:ext>
            </a:extLst>
          </p:cNvPr>
          <p:cNvSpPr>
            <a:spLocks noGrp="1"/>
          </p:cNvSpPr>
          <p:nvPr>
            <p:ph type="title"/>
          </p:nvPr>
        </p:nvSpPr>
        <p:spPr/>
        <p:txBody>
          <a:bodyPr/>
          <a:lstStyle/>
          <a:p>
            <a:r>
              <a:rPr lang="en-US" noProof="0" dirty="0"/>
              <a:t>LLMs in algorithm design</a:t>
            </a:r>
          </a:p>
        </p:txBody>
      </p:sp>
      <p:sp>
        <p:nvSpPr>
          <p:cNvPr id="3" name="Content Placeholder 2">
            <a:extLst>
              <a:ext uri="{FF2B5EF4-FFF2-40B4-BE49-F238E27FC236}">
                <a16:creationId xmlns:a16="http://schemas.microsoft.com/office/drawing/2014/main" id="{64F2D09B-2F00-3457-9D41-D2EAB2BD84E5}"/>
              </a:ext>
            </a:extLst>
          </p:cNvPr>
          <p:cNvSpPr>
            <a:spLocks noGrp="1"/>
          </p:cNvSpPr>
          <p:nvPr>
            <p:ph idx="1"/>
          </p:nvPr>
        </p:nvSpPr>
        <p:spPr/>
        <p:txBody>
          <a:bodyPr/>
          <a:lstStyle/>
          <a:p>
            <a:r>
              <a:rPr lang="en-US" noProof="0" dirty="0"/>
              <a:t>Tutoring LLMs for CUDA optimization</a:t>
            </a:r>
          </a:p>
          <a:p>
            <a:r>
              <a:rPr lang="en-US" noProof="0" dirty="0"/>
              <a:t>LLMs and abstractions</a:t>
            </a:r>
          </a:p>
        </p:txBody>
      </p:sp>
    </p:spTree>
    <p:extLst>
      <p:ext uri="{BB962C8B-B14F-4D97-AF65-F5344CB8AC3E}">
        <p14:creationId xmlns:p14="http://schemas.microsoft.com/office/powerpoint/2010/main" val="6458101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4D79-2E52-80F7-0541-30A0EEC45CA4}"/>
              </a:ext>
            </a:extLst>
          </p:cNvPr>
          <p:cNvSpPr>
            <a:spLocks noGrp="1"/>
          </p:cNvSpPr>
          <p:nvPr>
            <p:ph type="title"/>
          </p:nvPr>
        </p:nvSpPr>
        <p:spPr/>
        <p:txBody>
          <a:bodyPr/>
          <a:lstStyle/>
          <a:p>
            <a:r>
              <a:rPr lang="en-US" noProof="0" dirty="0"/>
              <a:t>Tutoring LLMs</a:t>
            </a:r>
          </a:p>
        </p:txBody>
      </p:sp>
      <p:sp>
        <p:nvSpPr>
          <p:cNvPr id="3" name="Content Placeholder 2">
            <a:extLst>
              <a:ext uri="{FF2B5EF4-FFF2-40B4-BE49-F238E27FC236}">
                <a16:creationId xmlns:a16="http://schemas.microsoft.com/office/drawing/2014/main" id="{5EC62719-077B-686B-2F9B-914035C8221C}"/>
              </a:ext>
            </a:extLst>
          </p:cNvPr>
          <p:cNvSpPr>
            <a:spLocks noGrp="1"/>
          </p:cNvSpPr>
          <p:nvPr>
            <p:ph idx="1"/>
          </p:nvPr>
        </p:nvSpPr>
        <p:spPr/>
        <p:txBody>
          <a:bodyPr>
            <a:normAutofit fontScale="92500" lnSpcReduction="20000"/>
          </a:bodyPr>
          <a:lstStyle/>
          <a:p>
            <a:r>
              <a:rPr lang="en-US" noProof="0" dirty="0"/>
              <a:t>The goal was always better automation/generalization of design and tuning</a:t>
            </a:r>
          </a:p>
          <a:p>
            <a:r>
              <a:rPr lang="en-US" dirty="0"/>
              <a:t>LLMs started to be surprisingly competent code generators</a:t>
            </a:r>
          </a:p>
          <a:p>
            <a:pPr lvl="1"/>
            <a:r>
              <a:rPr lang="en-US" noProof="0" dirty="0"/>
              <a:t>Not reliable, but extremely flexible, generalizable, simple to use (e.g., understanding natural language)</a:t>
            </a:r>
          </a:p>
          <a:p>
            <a:r>
              <a:rPr lang="en-US" dirty="0"/>
              <a:t>Core assumption for the study: LLMs are not very good in high-</a:t>
            </a:r>
            <a:r>
              <a:rPr lang="en-US" dirty="0" err="1"/>
              <a:t>lvl</a:t>
            </a:r>
            <a:r>
              <a:rPr lang="en-US" dirty="0"/>
              <a:t> decisions</a:t>
            </a:r>
          </a:p>
          <a:p>
            <a:r>
              <a:rPr lang="en-US" noProof="0" dirty="0"/>
              <a:t>Tutoring = improving quality of generated code by design suggestions/directions</a:t>
            </a:r>
          </a:p>
          <a:p>
            <a:r>
              <a:rPr lang="en-US" dirty="0"/>
              <a:t>Key findings:</a:t>
            </a:r>
          </a:p>
          <a:p>
            <a:pPr lvl="1"/>
            <a:r>
              <a:rPr lang="en-US" dirty="0"/>
              <a:t>Intricate relationship between algorithm complexity and this effect on an LLM</a:t>
            </a:r>
          </a:p>
          <a:p>
            <a:pPr lvl="1"/>
            <a:r>
              <a:rPr lang="en-US" noProof="0" dirty="0"/>
              <a:t>Improvement over time: the effect changes with each new model</a:t>
            </a:r>
          </a:p>
        </p:txBody>
      </p:sp>
    </p:spTree>
    <p:extLst>
      <p:ext uri="{BB962C8B-B14F-4D97-AF65-F5344CB8AC3E}">
        <p14:creationId xmlns:p14="http://schemas.microsoft.com/office/powerpoint/2010/main" val="26671222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98A8FBF-DBBB-B9D8-3585-DB6EB62FE7E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2452505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C7E3E-09C8-2B79-8EE7-B8D1557191BE}"/>
              </a:ext>
            </a:extLst>
          </p:cNvPr>
          <p:cNvSpPr>
            <a:spLocks noGrp="1"/>
          </p:cNvSpPr>
          <p:nvPr>
            <p:ph type="title"/>
          </p:nvPr>
        </p:nvSpPr>
        <p:spPr/>
        <p:txBody>
          <a:bodyPr/>
          <a:lstStyle/>
          <a:p>
            <a:r>
              <a:rPr lang="en-US" noProof="0" dirty="0"/>
              <a:t>LLMs and abstractions</a:t>
            </a:r>
          </a:p>
        </p:txBody>
      </p:sp>
      <p:sp>
        <p:nvSpPr>
          <p:cNvPr id="3" name="Content Placeholder 2">
            <a:extLst>
              <a:ext uri="{FF2B5EF4-FFF2-40B4-BE49-F238E27FC236}">
                <a16:creationId xmlns:a16="http://schemas.microsoft.com/office/drawing/2014/main" id="{DAF33F66-B59C-C15E-3BD1-85602E9A1F9E}"/>
              </a:ext>
            </a:extLst>
          </p:cNvPr>
          <p:cNvSpPr>
            <a:spLocks noGrp="1"/>
          </p:cNvSpPr>
          <p:nvPr>
            <p:ph idx="1"/>
          </p:nvPr>
        </p:nvSpPr>
        <p:spPr/>
        <p:txBody>
          <a:bodyPr/>
          <a:lstStyle/>
          <a:p>
            <a:r>
              <a:rPr lang="en-US" noProof="0" dirty="0"/>
              <a:t>Key question: Layout- and traversal-agnostic abstractions help humans; do they help LLMs as well?</a:t>
            </a:r>
          </a:p>
          <a:p>
            <a:r>
              <a:rPr lang="en-US" dirty="0"/>
              <a:t>Key findings:</a:t>
            </a:r>
          </a:p>
          <a:p>
            <a:pPr lvl="1"/>
            <a:r>
              <a:rPr lang="en-US" noProof="0" dirty="0"/>
              <a:t>Prompt specificity improves results much more</a:t>
            </a:r>
          </a:p>
          <a:p>
            <a:pPr lvl="1"/>
            <a:r>
              <a:rPr lang="en-US" dirty="0"/>
              <a:t>LLMs more competent in pure C/C++</a:t>
            </a:r>
          </a:p>
          <a:p>
            <a:pPr lvl="1"/>
            <a:endParaRPr lang="en-US" noProof="0" dirty="0"/>
          </a:p>
        </p:txBody>
      </p:sp>
    </p:spTree>
    <p:extLst>
      <p:ext uri="{BB962C8B-B14F-4D97-AF65-F5344CB8AC3E}">
        <p14:creationId xmlns:p14="http://schemas.microsoft.com/office/powerpoint/2010/main" val="9656531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BD501-0287-7E9D-6C52-A86B98F9EB52}"/>
              </a:ext>
            </a:extLst>
          </p:cNvPr>
          <p:cNvSpPr>
            <a:spLocks noGrp="1"/>
          </p:cNvSpPr>
          <p:nvPr>
            <p:ph type="title"/>
          </p:nvPr>
        </p:nvSpPr>
        <p:spPr/>
        <p:txBody>
          <a:bodyPr/>
          <a:lstStyle/>
          <a:p>
            <a:r>
              <a:rPr lang="en-US" noProof="0" dirty="0" err="1"/>
              <a:t>Zahodit</a:t>
            </a:r>
            <a:endParaRPr lang="en-US" noProof="0" dirty="0"/>
          </a:p>
        </p:txBody>
      </p:sp>
      <p:sp>
        <p:nvSpPr>
          <p:cNvPr id="3" name="Content Placeholder 2">
            <a:extLst>
              <a:ext uri="{FF2B5EF4-FFF2-40B4-BE49-F238E27FC236}">
                <a16:creationId xmlns:a16="http://schemas.microsoft.com/office/drawing/2014/main" id="{369E5D67-EA03-A5CA-2D82-199F178CE89C}"/>
              </a:ext>
            </a:extLst>
          </p:cNvPr>
          <p:cNvSpPr>
            <a:spLocks noGrp="1"/>
          </p:cNvSpPr>
          <p:nvPr>
            <p:ph idx="1"/>
          </p:nvPr>
        </p:nvSpPr>
        <p:spPr/>
        <p:txBody>
          <a:bodyPr/>
          <a:lstStyle/>
          <a:p>
            <a:r>
              <a:rPr lang="en-US" noProof="0" dirty="0" err="1"/>
              <a:t>Noarr</a:t>
            </a:r>
            <a:endParaRPr lang="en-US" noProof="0" dirty="0"/>
          </a:p>
          <a:p>
            <a:r>
              <a:rPr lang="en-US" noProof="0" dirty="0" err="1"/>
              <a:t>Cellato</a:t>
            </a:r>
            <a:endParaRPr lang="en-US" noProof="0" dirty="0"/>
          </a:p>
        </p:txBody>
      </p:sp>
    </p:spTree>
    <p:extLst>
      <p:ext uri="{BB962C8B-B14F-4D97-AF65-F5344CB8AC3E}">
        <p14:creationId xmlns:p14="http://schemas.microsoft.com/office/powerpoint/2010/main" val="40851222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5" name="Rectangle 4">
            <a:extLst>
              <a:ext uri="{FF2B5EF4-FFF2-40B4-BE49-F238E27FC236}">
                <a16:creationId xmlns:a16="http://schemas.microsoft.com/office/drawing/2014/main" id="{CB7F8197-FC2F-9C2A-050C-CCCB46D86C79}"/>
              </a:ext>
            </a:extLst>
          </p:cNvPr>
          <p:cNvSpPr/>
          <p:nvPr/>
        </p:nvSpPr>
        <p:spPr>
          <a:xfrm>
            <a:off x="4240490" y="140673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Separate algorithm design from performance optimization</a:t>
            </a:r>
          </a:p>
        </p:txBody>
      </p:sp>
      <p:sp>
        <p:nvSpPr>
          <p:cNvPr id="7" name="Rectangle 6">
            <a:extLst>
              <a:ext uri="{FF2B5EF4-FFF2-40B4-BE49-F238E27FC236}">
                <a16:creationId xmlns:a16="http://schemas.microsoft.com/office/drawing/2014/main" id="{60EC2A1A-B720-84BC-76D5-4751C09EA61A}"/>
              </a:ext>
            </a:extLst>
          </p:cNvPr>
          <p:cNvSpPr/>
          <p:nvPr/>
        </p:nvSpPr>
        <p:spPr>
          <a:xfrm>
            <a:off x="150074"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and traversal-agnostic abstractions</a:t>
            </a:r>
          </a:p>
        </p:txBody>
      </p:sp>
      <p:sp>
        <p:nvSpPr>
          <p:cNvPr id="9" name="Rectangle 8">
            <a:extLst>
              <a:ext uri="{FF2B5EF4-FFF2-40B4-BE49-F238E27FC236}">
                <a16:creationId xmlns:a16="http://schemas.microsoft.com/office/drawing/2014/main" id="{6DB7F776-4EDC-09F4-F04A-E586FC4B4500}"/>
              </a:ext>
            </a:extLst>
          </p:cNvPr>
          <p:cNvSpPr/>
          <p:nvPr/>
        </p:nvSpPr>
        <p:spPr>
          <a:xfrm>
            <a:off x="7840178"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LLM-assisted optimization</a:t>
            </a:r>
          </a:p>
        </p:txBody>
      </p:sp>
      <p:sp>
        <p:nvSpPr>
          <p:cNvPr id="11" name="Rectangle 10">
            <a:extLst>
              <a:ext uri="{FF2B5EF4-FFF2-40B4-BE49-F238E27FC236}">
                <a16:creationId xmlns:a16="http://schemas.microsoft.com/office/drawing/2014/main" id="{5B2B9BCB-5805-C1F1-AF45-681B37E6B83E}"/>
              </a:ext>
            </a:extLst>
          </p:cNvPr>
          <p:cNvSpPr/>
          <p:nvPr/>
        </p:nvSpPr>
        <p:spPr>
          <a:xfrm>
            <a:off x="150074"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abstractions</a:t>
            </a:r>
          </a:p>
        </p:txBody>
      </p:sp>
      <p:sp>
        <p:nvSpPr>
          <p:cNvPr id="13" name="Rectangle 12">
            <a:extLst>
              <a:ext uri="{FF2B5EF4-FFF2-40B4-BE49-F238E27FC236}">
                <a16:creationId xmlns:a16="http://schemas.microsoft.com/office/drawing/2014/main" id="{31388E94-1EEB-E24E-1923-AA250880AF84}"/>
              </a:ext>
            </a:extLst>
          </p:cNvPr>
          <p:cNvSpPr/>
          <p:nvPr/>
        </p:nvSpPr>
        <p:spPr>
          <a:xfrm>
            <a:off x="4240490"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Traversal abstractions</a:t>
            </a:r>
          </a:p>
        </p:txBody>
      </p:sp>
      <p:sp>
        <p:nvSpPr>
          <p:cNvPr id="15" name="Rectangle 14">
            <a:extLst>
              <a:ext uri="{FF2B5EF4-FFF2-40B4-BE49-F238E27FC236}">
                <a16:creationId xmlns:a16="http://schemas.microsoft.com/office/drawing/2014/main" id="{DE8920A4-4430-6757-E41A-9BA9578DC80D}"/>
              </a:ext>
            </a:extLst>
          </p:cNvPr>
          <p:cNvSpPr/>
          <p:nvPr/>
        </p:nvSpPr>
        <p:spPr>
          <a:xfrm>
            <a:off x="8330906"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Practical aspects</a:t>
            </a:r>
          </a:p>
        </p:txBody>
      </p:sp>
      <p:sp>
        <p:nvSpPr>
          <p:cNvPr id="17" name="Rectangle 16">
            <a:extLst>
              <a:ext uri="{FF2B5EF4-FFF2-40B4-BE49-F238E27FC236}">
                <a16:creationId xmlns:a16="http://schemas.microsoft.com/office/drawing/2014/main" id="{D01E75A2-333B-DF95-544C-0ACF1B88882C}"/>
              </a:ext>
            </a:extLst>
          </p:cNvPr>
          <p:cNvSpPr/>
          <p:nvPr/>
        </p:nvSpPr>
        <p:spPr>
          <a:xfrm>
            <a:off x="302474" y="53562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structures</a:t>
            </a:r>
          </a:p>
        </p:txBody>
      </p:sp>
      <p:sp>
        <p:nvSpPr>
          <p:cNvPr id="19" name="Rectangle 18">
            <a:extLst>
              <a:ext uri="{FF2B5EF4-FFF2-40B4-BE49-F238E27FC236}">
                <a16:creationId xmlns:a16="http://schemas.microsoft.com/office/drawing/2014/main" id="{67736357-2F90-D241-51F6-C03C797EFFC2}"/>
              </a:ext>
            </a:extLst>
          </p:cNvPr>
          <p:cNvSpPr/>
          <p:nvPr/>
        </p:nvSpPr>
        <p:spPr>
          <a:xfrm>
            <a:off x="454874" y="55086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traversers</a:t>
            </a:r>
          </a:p>
        </p:txBody>
      </p:sp>
      <p:sp>
        <p:nvSpPr>
          <p:cNvPr id="21" name="Rectangle 20">
            <a:extLst>
              <a:ext uri="{FF2B5EF4-FFF2-40B4-BE49-F238E27FC236}">
                <a16:creationId xmlns:a16="http://schemas.microsoft.com/office/drawing/2014/main" id="{9EC73339-8B3D-25F4-18D5-E5821CB7CE8B}"/>
              </a:ext>
            </a:extLst>
          </p:cNvPr>
          <p:cNvSpPr/>
          <p:nvPr/>
        </p:nvSpPr>
        <p:spPr>
          <a:xfrm>
            <a:off x="607274" y="56610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tuning</a:t>
            </a:r>
          </a:p>
        </p:txBody>
      </p:sp>
      <p:sp>
        <p:nvSpPr>
          <p:cNvPr id="23" name="Rectangle 22">
            <a:extLst>
              <a:ext uri="{FF2B5EF4-FFF2-40B4-BE49-F238E27FC236}">
                <a16:creationId xmlns:a16="http://schemas.microsoft.com/office/drawing/2014/main" id="{63EC4F51-D7C0-1DFC-E94E-75AE185B7CC1}"/>
              </a:ext>
            </a:extLst>
          </p:cNvPr>
          <p:cNvSpPr/>
          <p:nvPr/>
        </p:nvSpPr>
        <p:spPr>
          <a:xfrm>
            <a:off x="759674" y="58134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-MPI</a:t>
            </a:r>
          </a:p>
        </p:txBody>
      </p:sp>
      <p:sp>
        <p:nvSpPr>
          <p:cNvPr id="25" name="Rectangle 24">
            <a:extLst>
              <a:ext uri="{FF2B5EF4-FFF2-40B4-BE49-F238E27FC236}">
                <a16:creationId xmlns:a16="http://schemas.microsoft.com/office/drawing/2014/main" id="{B7D64168-E19F-C04D-293D-CB07E85D29DA}"/>
              </a:ext>
            </a:extLst>
          </p:cNvPr>
          <p:cNvSpPr/>
          <p:nvPr/>
        </p:nvSpPr>
        <p:spPr>
          <a:xfrm>
            <a:off x="4853138" y="54247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Cellato</a:t>
            </a:r>
            <a:endParaRPr lang="en-US" noProof="0" dirty="0"/>
          </a:p>
        </p:txBody>
      </p:sp>
    </p:spTree>
    <p:extLst>
      <p:ext uri="{BB962C8B-B14F-4D97-AF65-F5344CB8AC3E}">
        <p14:creationId xmlns:p14="http://schemas.microsoft.com/office/powerpoint/2010/main" val="17454896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07F39-5957-124B-D20D-4A155E0E07D1}"/>
              </a:ext>
            </a:extLst>
          </p:cNvPr>
          <p:cNvSpPr>
            <a:spLocks noGrp="1"/>
          </p:cNvSpPr>
          <p:nvPr>
            <p:ph type="title"/>
          </p:nvPr>
        </p:nvSpPr>
        <p:spPr/>
        <p:txBody>
          <a:bodyPr/>
          <a:lstStyle/>
          <a:p>
            <a:r>
              <a:rPr lang="en-US" noProof="0" dirty="0"/>
              <a:t>Summary</a:t>
            </a:r>
          </a:p>
        </p:txBody>
      </p:sp>
      <p:sp>
        <p:nvSpPr>
          <p:cNvPr id="3" name="Content Placeholder 2">
            <a:extLst>
              <a:ext uri="{FF2B5EF4-FFF2-40B4-BE49-F238E27FC236}">
                <a16:creationId xmlns:a16="http://schemas.microsoft.com/office/drawing/2014/main" id="{4437CB38-BBCE-B652-0445-A75C99068419}"/>
              </a:ext>
            </a:extLst>
          </p:cNvPr>
          <p:cNvSpPr>
            <a:spLocks noGrp="1"/>
          </p:cNvSpPr>
          <p:nvPr>
            <p:ph idx="1"/>
          </p:nvPr>
        </p:nvSpPr>
        <p:spPr/>
        <p:txBody>
          <a:bodyPr/>
          <a:lstStyle/>
          <a:p>
            <a:r>
              <a:rPr lang="en-US" noProof="0" dirty="0"/>
              <a:t>6 peer-reviewed publications </a:t>
            </a:r>
          </a:p>
          <a:p>
            <a:pPr lvl="1"/>
            <a:r>
              <a:rPr lang="en-US" noProof="0" dirty="0"/>
              <a:t>2 journal articles</a:t>
            </a:r>
          </a:p>
          <a:p>
            <a:pPr lvl="1"/>
            <a:r>
              <a:rPr lang="en-US" noProof="0" dirty="0"/>
              <a:t>3 conference papers,</a:t>
            </a:r>
          </a:p>
          <a:p>
            <a:pPr lvl="1"/>
            <a:r>
              <a:rPr lang="en-US" noProof="0" dirty="0"/>
              <a:t>1 workshop paper</a:t>
            </a:r>
          </a:p>
          <a:p>
            <a:r>
              <a:rPr lang="en-US" noProof="0" dirty="0"/>
              <a:t>1 publication awaiting peer review</a:t>
            </a:r>
          </a:p>
        </p:txBody>
      </p:sp>
    </p:spTree>
    <p:extLst>
      <p:ext uri="{BB962C8B-B14F-4D97-AF65-F5344CB8AC3E}">
        <p14:creationId xmlns:p14="http://schemas.microsoft.com/office/powerpoint/2010/main" val="3094171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CD7CC-C2D6-52E6-02D5-F41FC5389A5C}"/>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950373B6-1B3D-2E32-D54A-18C124620153}"/>
              </a:ext>
            </a:extLst>
          </p:cNvPr>
          <p:cNvSpPr>
            <a:spLocks noGrp="1"/>
          </p:cNvSpPr>
          <p:nvPr>
            <p:ph idx="1"/>
          </p:nvPr>
        </p:nvSpPr>
        <p:spPr/>
        <p:txBody>
          <a:bodyPr/>
          <a:lstStyle/>
          <a:p>
            <a:endParaRPr lang="en-US" noProof="0" dirty="0"/>
          </a:p>
        </p:txBody>
      </p:sp>
    </p:spTree>
    <p:extLst>
      <p:ext uri="{BB962C8B-B14F-4D97-AF65-F5344CB8AC3E}">
        <p14:creationId xmlns:p14="http://schemas.microsoft.com/office/powerpoint/2010/main" val="25953849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2439</TotalTime>
  <Words>3440</Words>
  <Application>Microsoft Office PowerPoint</Application>
  <PresentationFormat>Widescreen</PresentationFormat>
  <Paragraphs>286</Paragraphs>
  <Slides>30</Slides>
  <Notes>14</Notes>
  <HiddenSlides>12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30</vt:i4>
      </vt:variant>
    </vt:vector>
  </HeadingPairs>
  <TitlesOfParts>
    <vt:vector size="38" baseType="lpstr">
      <vt:lpstr>Aptos</vt:lpstr>
      <vt:lpstr>Aptos Display</vt:lpstr>
      <vt:lpstr>Arial</vt:lpstr>
      <vt:lpstr>Blackadder ITC</vt:lpstr>
      <vt:lpstr>Cambria Math</vt:lpstr>
      <vt:lpstr>Fira Code</vt:lpstr>
      <vt:lpstr>Wingdings</vt:lpstr>
      <vt:lpstr>Office Theme</vt:lpstr>
      <vt:lpstr>Optimizing Memory Layouts and Traversal Orders in HPC</vt:lpstr>
      <vt:lpstr>PowerPoint Presentation</vt:lpstr>
      <vt:lpstr>Illustrative example: traversing matrices</vt:lpstr>
      <vt:lpstr>Automatization and simplification</vt:lpstr>
      <vt:lpstr>Small step: ?? layout agnostic design</vt:lpstr>
      <vt:lpstr>Layout- and Traversal-agnostic design</vt:lpstr>
      <vt:lpstr>PowerPoint Presentation</vt:lpstr>
      <vt:lpstr>Layout-agnostic design</vt:lpstr>
      <vt:lpstr>?? Traversal agnostic design</vt:lpstr>
      <vt:lpstr>PowerPoint Presentation</vt:lpstr>
      <vt:lpstr>PowerPoint Presentation</vt:lpstr>
      <vt:lpstr>Finalizing the automation: Autotuning</vt:lpstr>
      <vt:lpstr>PowerPoint Presentation</vt:lpstr>
      <vt:lpstr>Results</vt:lpstr>
      <vt:lpstr>M &amp; S</vt:lpstr>
      <vt:lpstr>Proposed abstractions</vt:lpstr>
      <vt:lpstr>Distributed computing</vt:lpstr>
      <vt:lpstr>PowerPoint Presentation</vt:lpstr>
      <vt:lpstr>Results</vt:lpstr>
      <vt:lpstr>Cellular automata</vt:lpstr>
      <vt:lpstr>PowerPoint Presentation</vt:lpstr>
      <vt:lpstr>Results</vt:lpstr>
      <vt:lpstr>LLMs in algorithm design</vt:lpstr>
      <vt:lpstr>Tutoring LLMs</vt:lpstr>
      <vt:lpstr>PowerPoint Presentation</vt:lpstr>
      <vt:lpstr>LLMs and abstractions</vt:lpstr>
      <vt:lpstr>Zahodit</vt:lpstr>
      <vt:lpstr>Contribution map</vt:lpstr>
      <vt:lpstr>Summary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35</cp:revision>
  <dcterms:created xsi:type="dcterms:W3CDTF">2026-08-08T18:10:38Z</dcterms:created>
  <dcterms:modified xsi:type="dcterms:W3CDTF">2026-08-25T19:15:26Z</dcterms:modified>
</cp:coreProperties>
</file>