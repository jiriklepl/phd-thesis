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tags/tag8.xml" ContentType="application/vnd.openxmlformats-officedocument.presentationml.tag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9.xml" ContentType="application/vnd.openxmlformats-officedocument.presentationml.tags+xml"/>
  <Override PartName="/ppt/notesSlides/notesSlide12.xml" ContentType="application/vnd.openxmlformats-officedocument.presentationml.notesSlide+xml"/>
  <Override PartName="/ppt/tags/tag10.xml" ContentType="application/vnd.openxmlformats-officedocument.presentationml.tags+xml"/>
  <Override PartName="/ppt/notesSlides/notesSlide13.xml" ContentType="application/vnd.openxmlformats-officedocument.presentationml.notesSlide+xml"/>
  <Override PartName="/ppt/tags/tag11.xml" ContentType="application/vnd.openxmlformats-officedocument.presentationml.tags+xml"/>
  <Override PartName="/ppt/notesSlides/notesSlide14.xml" ContentType="application/vnd.openxmlformats-officedocument.presentationml.notesSlide+xml"/>
  <Override PartName="/ppt/tags/tag12.xml" ContentType="application/vnd.openxmlformats-officedocument.presentationml.tags+xml"/>
  <Override PartName="/ppt/notesSlides/notesSlide15.xml" ContentType="application/vnd.openxmlformats-officedocument.presentationml.notesSlide+xml"/>
  <Override PartName="/ppt/tags/tag13.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14.xml" ContentType="application/vnd.openxmlformats-officedocument.presentationml.tags+xml"/>
  <Override PartName="/ppt/notesSlides/notesSlide19.xml" ContentType="application/vnd.openxmlformats-officedocument.presentationml.notesSlide+xml"/>
  <Override PartName="/ppt/tags/tag15.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tags/tag16.xml" ContentType="application/vnd.openxmlformats-officedocument.presentationml.tags+xml"/>
  <Override PartName="/ppt/notesSlides/notesSlide23.xml" ContentType="application/vnd.openxmlformats-officedocument.presentationml.notesSlide+xml"/>
  <Override PartName="/ppt/tags/tag17.xml" ContentType="application/vnd.openxmlformats-officedocument.presentationml.tags+xml"/>
  <Override PartName="/ppt/notesSlides/notesSlide24.xml" ContentType="application/vnd.openxmlformats-officedocument.presentationml.notesSlide+xml"/>
  <Override PartName="/ppt/tags/tag18.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tags/tag19.xml" ContentType="application/vnd.openxmlformats-officedocument.presentationml.tags+xml"/>
  <Override PartName="/ppt/notesSlides/notesSlide28.xml" ContentType="application/vnd.openxmlformats-officedocument.presentationml.notesSlide+xml"/>
  <Override PartName="/ppt/tags/tag20.xml" ContentType="application/vnd.openxmlformats-officedocument.presentationml.tags+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tags/tag21.xml" ContentType="application/vnd.openxmlformats-officedocument.presentationml.tag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322" r:id="rId3"/>
    <p:sldId id="277" r:id="rId4"/>
    <p:sldId id="296" r:id="rId5"/>
    <p:sldId id="297" r:id="rId6"/>
    <p:sldId id="283" r:id="rId7"/>
    <p:sldId id="314" r:id="rId8"/>
    <p:sldId id="326" r:id="rId9"/>
    <p:sldId id="284" r:id="rId10"/>
    <p:sldId id="278" r:id="rId11"/>
    <p:sldId id="325" r:id="rId12"/>
    <p:sldId id="300" r:id="rId13"/>
    <p:sldId id="285" r:id="rId14"/>
    <p:sldId id="323"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266" r:id="rId32"/>
    <p:sldId id="312" r:id="rId33"/>
    <p:sldId id="262" r:id="rId34"/>
    <p:sldId id="327" r:id="rId35"/>
    <p:sldId id="328" r:id="rId36"/>
    <p:sldId id="331" r:id="rId37"/>
    <p:sldId id="329" r:id="rId38"/>
    <p:sldId id="330" r:id="rId39"/>
    <p:sldId id="320" r:id="rId40"/>
    <p:sldId id="318" r:id="rId41"/>
    <p:sldId id="332" r:id="rId42"/>
    <p:sldId id="319" r:id="rId43"/>
    <p:sldId id="333" r:id="rId44"/>
    <p:sldId id="317" r:id="rId45"/>
    <p:sldId id="321" r:id="rId46"/>
    <p:sldId id="311" r:id="rId47"/>
  </p:sldIdLst>
  <p:sldSz cx="12192000" cy="6858000"/>
  <p:notesSz cx="9313863"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78"/>
            <p14:sldId id="325"/>
            <p14:sldId id="300"/>
            <p14:sldId id="285"/>
            <p14:sldId id="323"/>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32"/>
            <p14:sldId id="319"/>
            <p14:sldId id="333"/>
            <p14:sldId id="317"/>
            <p14:sldId id="321"/>
          </p14:sldIdLst>
        </p14:section>
        <p14:section name="supplementary" id="{5D95F6E9-DF15-476C-BE69-BBEF48AA8B86}">
          <p14:sldIdLst>
            <p14:sldId id="31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85450"/>
    <a:srgbClr val="FFFFFF"/>
    <a:srgbClr val="82B366"/>
    <a:srgbClr val="6C8EBF"/>
    <a:srgbClr val="DDDDDD"/>
    <a:srgbClr val="FBA9ED"/>
    <a:srgbClr val="BED6FA"/>
    <a:srgbClr val="B4D0FA"/>
    <a:srgbClr val="FEC842"/>
    <a:srgbClr val="FECB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80944" autoAdjust="0"/>
  </p:normalViewPr>
  <p:slideViewPr>
    <p:cSldViewPr snapToGrid="0">
      <p:cViewPr varScale="1">
        <p:scale>
          <a:sx n="129" d="100"/>
          <a:sy n="129" d="100"/>
        </p:scale>
        <p:origin x="3672" y="114"/>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36007"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75701" y="1"/>
            <a:ext cx="4036007" cy="344091"/>
          </a:xfrm>
          <a:prstGeom prst="rect">
            <a:avLst/>
          </a:prstGeom>
        </p:spPr>
        <p:txBody>
          <a:bodyPr vert="horz" lIns="91440" tIns="45720" rIns="91440" bIns="45720" rtlCol="0"/>
          <a:lstStyle>
            <a:lvl1pPr algn="r">
              <a:defRPr sz="1200"/>
            </a:lvl1pPr>
          </a:lstStyle>
          <a:p>
            <a:fld id="{34A5C982-A1C5-4AC2-B4BF-466515DA1494}" type="datetimeFigureOut">
              <a:rPr lang="en-US" smtClean="0"/>
              <a:t>9/7/2026</a:t>
            </a:fld>
            <a:endParaRPr lang="en-US"/>
          </a:p>
        </p:txBody>
      </p:sp>
      <p:sp>
        <p:nvSpPr>
          <p:cNvPr id="4" name="Slide Image Placeholder 3"/>
          <p:cNvSpPr>
            <a:spLocks noGrp="1" noRot="1" noChangeAspect="1"/>
          </p:cNvSpPr>
          <p:nvPr>
            <p:ph type="sldImg" idx="2"/>
          </p:nvPr>
        </p:nvSpPr>
        <p:spPr>
          <a:xfrm>
            <a:off x="2598738" y="857250"/>
            <a:ext cx="4116387"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31387" y="3300412"/>
            <a:ext cx="745109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36007"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75701" y="6513910"/>
            <a:ext cx="4036007" cy="344090"/>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Good morning,</a:t>
            </a:r>
          </a:p>
          <a:p>
            <a:r>
              <a:rPr lang="en-US" sz="1200" b="0" kern="1200" dirty="0">
                <a:solidFill>
                  <a:schemeClr val="tx1"/>
                </a:solidFill>
                <a:effectLst/>
                <a:latin typeface="+mn-lt"/>
                <a:ea typeface="+mn-ea"/>
                <a:cs typeface="+mn-cs"/>
              </a:rPr>
              <a:t>Esteemed members of the committee, I’d like to present you my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between one and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the practical usefulness of abstractions in many aspects of HPC algorithm design.</a:t>
            </a:r>
          </a:p>
          <a:p>
            <a:endParaRPr lang="en-US" dirty="0"/>
          </a:p>
          <a:p>
            <a:r>
              <a:rPr lang="en-US" dirty="0"/>
              <a:t>These abstractions make the developed algorithms easier to write, more flexible to transform, and allow automatic exploration of optimizations.</a:t>
            </a:r>
          </a:p>
          <a:p>
            <a:endParaRPr lang="en-US" dirty="0"/>
          </a:p>
          <a:p>
            <a:r>
              <a:rPr lang="en-US" dirty="0"/>
              <a:t>Reacting to the recent introduction of Large language models to the area of software design, we studied their ability to optimize code.</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158397292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2454676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11522651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4943765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6670419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349893729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20186753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703351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42</a:t>
            </a:fld>
            <a:endParaRPr lang="en-US"/>
          </a:p>
        </p:txBody>
      </p:sp>
    </p:spTree>
    <p:extLst>
      <p:ext uri="{BB962C8B-B14F-4D97-AF65-F5344CB8AC3E}">
        <p14:creationId xmlns:p14="http://schemas.microsoft.com/office/powerpoint/2010/main" val="72301693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206848533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45</a:t>
            </a:fld>
            <a:endParaRPr lang="en-US"/>
          </a:p>
        </p:txBody>
      </p:sp>
    </p:spTree>
    <p:extLst>
      <p:ext uri="{BB962C8B-B14F-4D97-AF65-F5344CB8AC3E}">
        <p14:creationId xmlns:p14="http://schemas.microsoft.com/office/powerpoint/2010/main" val="24685932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46</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9/7/2026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9/7/2026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9/7/2026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9/7/2026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9/7/2026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9/7/2026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9/7/2026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9/7/2026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9/7/2026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9/7/2026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9/7/2026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9/7/2026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notesSlide" Target="../notesSlides/notesSlide2.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4.png"/><Relationship Id="rId5" Type="http://schemas.openxmlformats.org/officeDocument/2006/relationships/image" Target="../media/image3.svg"/><Relationship Id="rId10" Type="http://schemas.openxmlformats.org/officeDocument/2006/relationships/image" Target="../media/image6.svg"/><Relationship Id="rId4" Type="http://schemas.openxmlformats.org/officeDocument/2006/relationships/image" Target="../media/image2.png"/><Relationship Id="rId9" Type="http://schemas.openxmlformats.org/officeDocument/2006/relationships/image" Target="../media/image5.sv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0.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7.png"/><Relationship Id="rId9" Type="http://schemas.openxmlformats.org/officeDocument/2006/relationships/image" Target="../media/image90.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image" Target="../media/image59.png"/><Relationship Id="rId3" Type="http://schemas.openxmlformats.org/officeDocument/2006/relationships/notesSlide" Target="../notesSlides/notesSlide7.xml"/><Relationship Id="rId7" Type="http://schemas.openxmlformats.org/officeDocument/2006/relationships/image" Target="../media/image31.png"/><Relationship Id="rId12" Type="http://schemas.openxmlformats.org/officeDocument/2006/relationships/image" Target="../media/image47.png"/><Relationship Id="rId2" Type="http://schemas.openxmlformats.org/officeDocument/2006/relationships/slideLayout" Target="../slideLayouts/slideLayout6.xml"/><Relationship Id="rId1" Type="http://schemas.openxmlformats.org/officeDocument/2006/relationships/tags" Target="../tags/tag6.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11.png"/><Relationship Id="rId10" Type="http://schemas.openxmlformats.org/officeDocument/2006/relationships/image" Target="../media/image34.png"/><Relationship Id="rId4" Type="http://schemas.openxmlformats.org/officeDocument/2006/relationships/image" Target="../media/image10.png"/><Relationship Id="rId9" Type="http://schemas.openxmlformats.org/officeDocument/2006/relationships/image" Target="../media/image33.png"/></Relationships>
</file>

<file path=ppt/slides/_rels/slide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notesSlide" Target="../notesSlides/notesSlide8.xml"/><Relationship Id="rId7" Type="http://schemas.openxmlformats.org/officeDocument/2006/relationships/image" Target="../media/image41.png"/><Relationship Id="rId2" Type="http://schemas.openxmlformats.org/officeDocument/2006/relationships/slideLayout" Target="../slideLayouts/slideLayout6.xml"/><Relationship Id="rId1" Type="http://schemas.openxmlformats.org/officeDocument/2006/relationships/tags" Target="../tags/tag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15.png"/><Relationship Id="rId10" Type="http://schemas.openxmlformats.org/officeDocument/2006/relationships/image" Target="../media/image44.png"/><Relationship Id="rId4" Type="http://schemas.openxmlformats.org/officeDocument/2006/relationships/image" Target="../media/image14.png"/><Relationship Id="rId9" Type="http://schemas.openxmlformats.org/officeDocument/2006/relationships/image" Target="../media/image43.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6.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6.xml"/><Relationship Id="rId1" Type="http://schemas.openxmlformats.org/officeDocument/2006/relationships/tags" Target="../tags/tag9.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6.xml"/><Relationship Id="rId1" Type="http://schemas.openxmlformats.org/officeDocument/2006/relationships/tags" Target="../tags/tag10.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image" Target="../media/image21.png"/><Relationship Id="rId2" Type="http://schemas.openxmlformats.org/officeDocument/2006/relationships/slideLayout" Target="../slideLayouts/slideLayout6.xml"/><Relationship Id="rId1" Type="http://schemas.openxmlformats.org/officeDocument/2006/relationships/tags" Target="../tags/tag1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notesSlide" Target="../notesSlides/notesSlide15.xml"/><Relationship Id="rId7" Type="http://schemas.openxmlformats.org/officeDocument/2006/relationships/image" Target="../media/image5.svg"/><Relationship Id="rId2" Type="http://schemas.openxmlformats.org/officeDocument/2006/relationships/slideLayout" Target="../slideLayouts/slideLayout6.xml"/><Relationship Id="rId1" Type="http://schemas.openxmlformats.org/officeDocument/2006/relationships/tags" Target="../tags/tag12.xml"/><Relationship Id="rId6" Type="http://schemas.openxmlformats.org/officeDocument/2006/relationships/image" Target="../media/image6.svg"/><Relationship Id="rId5" Type="http://schemas.openxmlformats.org/officeDocument/2006/relationships/image" Target="../media/image22.svg"/><Relationship Id="rId10" Type="http://schemas.openxmlformats.org/officeDocument/2006/relationships/image" Target="../media/image61.png"/><Relationship Id="rId4" Type="http://schemas.openxmlformats.org/officeDocument/2006/relationships/image" Target="../media/image4.svg"/><Relationship Id="rId9"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tags" Target="../tags/tag13.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6.xml"/><Relationship Id="rId1" Type="http://schemas.openxmlformats.org/officeDocument/2006/relationships/tags" Target="../tags/tag14.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30.sv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xml"/><Relationship Id="rId1" Type="http://schemas.openxmlformats.org/officeDocument/2006/relationships/tags" Target="../tags/tag15.xml"/><Relationship Id="rId4" Type="http://schemas.openxmlformats.org/officeDocument/2006/relationships/image" Target="../media/image39.png"/></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tags" Target="../tags/tag16.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6.xml"/><Relationship Id="rId1" Type="http://schemas.openxmlformats.org/officeDocument/2006/relationships/tags" Target="../tags/tag17.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tags" Target="../tags/tag18.xml"/><Relationship Id="rId6" Type="http://schemas.openxmlformats.org/officeDocument/2006/relationships/image" Target="../media/image39.png"/><Relationship Id="rId5" Type="http://schemas.openxmlformats.org/officeDocument/2006/relationships/image" Target="../media/image50.png"/><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52.png"/></Relationships>
</file>

<file path=ppt/slides/_rels/slide2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54.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xml"/><Relationship Id="rId1" Type="http://schemas.openxmlformats.org/officeDocument/2006/relationships/tags" Target="../tags/tag19.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6.xml"/><Relationship Id="rId1" Type="http://schemas.openxmlformats.org/officeDocument/2006/relationships/tags" Target="../tags/tag20.xml"/><Relationship Id="rId5" Type="http://schemas.openxmlformats.org/officeDocument/2006/relationships/image" Target="../media/image2.png"/><Relationship Id="rId4" Type="http://schemas.openxmlformats.org/officeDocument/2006/relationships/image" Target="../media/image55.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notesSlide" Target="../notesSlides/notesSlide31.xml"/><Relationship Id="rId7" Type="http://schemas.openxmlformats.org/officeDocument/2006/relationships/image" Target="../media/image60.svg"/><Relationship Id="rId2" Type="http://schemas.openxmlformats.org/officeDocument/2006/relationships/slideLayout" Target="../slideLayouts/slideLayout6.xml"/><Relationship Id="rId1" Type="http://schemas.openxmlformats.org/officeDocument/2006/relationships/tags" Target="../tags/tag21.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 Id="rId9" Type="http://schemas.openxmlformats.org/officeDocument/2006/relationships/image" Target="../media/image62.svg"/></Relationships>
</file>

<file path=ppt/slides/_rels/slide3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9/7/2026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dirty="0"/>
              <a:t>Main f</a:t>
            </a:r>
            <a:r>
              <a:rPr lang="en-US" noProof="0" dirty="0" err="1"/>
              <a:t>ocus</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Simplifying and streamlining algorithm design for scientific computing</a:t>
            </a:r>
          </a:p>
          <a:p>
            <a:r>
              <a:rPr lang="en-US" noProof="0" dirty="0"/>
              <a:t>Regular data structures in nested loops</a:t>
            </a:r>
          </a:p>
          <a:p>
            <a:r>
              <a:rPr lang="en-US" noProof="0" dirty="0"/>
              <a:t>Optimizing memory accesses</a:t>
            </a:r>
          </a:p>
          <a:p>
            <a:pPr marL="0" indent="0">
              <a:buNone/>
            </a:pPr>
            <a:endParaRPr lang="en-US" dirty="0"/>
          </a:p>
          <a:p>
            <a:pPr marL="0" indent="0">
              <a:buNone/>
            </a:pPr>
            <a:endParaRPr lang="en-US" dirty="0"/>
          </a:p>
          <a:p>
            <a:pPr marL="0" indent="0">
              <a:buNone/>
            </a:pPr>
            <a:endParaRPr lang="en-US" noProof="0" dirty="0"/>
          </a:p>
          <a:p>
            <a:r>
              <a:rPr lang="en-US" noProof="0" dirty="0"/>
              <a:t>Layout and traversal abstractions</a:t>
            </a:r>
          </a:p>
          <a:p>
            <a:r>
              <a:rPr lang="en-US" noProof="0" dirty="0"/>
              <a:t>Parallelization and distributed computing</a:t>
            </a:r>
          </a:p>
          <a:p>
            <a:r>
              <a:rPr lang="en-US" noProof="0" dirty="0"/>
              <a:t>Even broader optimizations in specific domains</a:t>
            </a:r>
          </a:p>
          <a:p>
            <a:r>
              <a:rPr lang="cs-CZ" dirty="0"/>
              <a:t>L</a:t>
            </a:r>
            <a:r>
              <a:rPr lang="en-US" dirty="0" err="1"/>
              <a:t>arge</a:t>
            </a:r>
            <a:r>
              <a:rPr lang="en-US" dirty="0"/>
              <a:t> language models (LLMs)</a:t>
            </a:r>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a:extLst>
              <a:ext uri="{FF2B5EF4-FFF2-40B4-BE49-F238E27FC236}">
                <a16:creationId xmlns:a16="http://schemas.microsoft.com/office/drawing/2014/main" id="{AF27B56C-87EE-EA2A-36EA-6FC1F10704CE}"/>
              </a:ext>
            </a:extLst>
          </p:cNvPr>
          <p:cNvPicPr>
            <a:picLocks noChangeAspect="1"/>
          </p:cNvPicPr>
          <p:nvPr/>
        </p:nvPicPr>
        <p:blipFill>
          <a:blip r:embed="rId4"/>
          <a:srcRect l="12577" t="17864" r="12520" b="16352"/>
          <a:stretch>
            <a:fillRect/>
          </a:stretch>
        </p:blipFill>
        <p:spPr>
          <a:xfrm>
            <a:off x="5585476" y="5956238"/>
            <a:ext cx="663457" cy="582673"/>
          </a:xfrm>
          <a:prstGeom prst="rect">
            <a:avLst/>
          </a:prstGeom>
        </p:spPr>
      </p:pic>
      <p:pic>
        <p:nvPicPr>
          <p:cNvPr id="8" name="Graphic 7">
            <a:extLst>
              <a:ext uri="{FF2B5EF4-FFF2-40B4-BE49-F238E27FC236}">
                <a16:creationId xmlns:a16="http://schemas.microsoft.com/office/drawing/2014/main" id="{277BD5EA-6D3A-F65A-6F3E-A1A5A3279D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0" y="3536963"/>
            <a:ext cx="5419725" cy="928661"/>
          </a:xfrm>
          <a:prstGeom prst="rect">
            <a:avLst/>
          </a:prstGeom>
        </p:spPr>
      </p:pic>
      <p:cxnSp>
        <p:nvCxnSpPr>
          <p:cNvPr id="10" name="Straight Arrow Connector 9">
            <a:extLst>
              <a:ext uri="{FF2B5EF4-FFF2-40B4-BE49-F238E27FC236}">
                <a16:creationId xmlns:a16="http://schemas.microsoft.com/office/drawing/2014/main" id="{0E42E224-0C5A-B0F4-81EF-6673F3EF5499}"/>
              </a:ext>
            </a:extLst>
          </p:cNvPr>
          <p:cNvCxnSpPr/>
          <p:nvPr/>
        </p:nvCxnSpPr>
        <p:spPr>
          <a:xfrm>
            <a:off x="7353300" y="4001293"/>
            <a:ext cx="47625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68EEE45-000D-514C-C7F4-C04720B9D32D}"/>
                  </a:ext>
                </a:extLst>
              </p:cNvPr>
              <p:cNvSpPr txBox="1"/>
              <p:nvPr/>
            </p:nvSpPr>
            <p:spPr>
              <a:xfrm>
                <a:off x="5585476" y="37704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1" name="TextBox 10">
                <a:extLst>
                  <a:ext uri="{FF2B5EF4-FFF2-40B4-BE49-F238E27FC236}">
                    <a16:creationId xmlns:a16="http://schemas.microsoft.com/office/drawing/2014/main" id="{E68EEE45-000D-514C-C7F4-C04720B9D32D}"/>
                  </a:ext>
                </a:extLst>
              </p:cNvPr>
              <p:cNvSpPr txBox="1">
                <a:spLocks noRot="1" noChangeAspect="1" noMove="1" noResize="1" noEditPoints="1" noAdjustHandles="1" noChangeArrowheads="1" noChangeShapeType="1" noTextEdit="1"/>
              </p:cNvSpPr>
              <p:nvPr/>
            </p:nvSpPr>
            <p:spPr>
              <a:xfrm>
                <a:off x="5585476" y="3770460"/>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A685246-FE87-656A-5DCF-C1D4453F0DB4}"/>
                  </a:ext>
                </a:extLst>
              </p:cNvPr>
              <p:cNvSpPr txBox="1"/>
              <p:nvPr/>
            </p:nvSpPr>
            <p:spPr>
              <a:xfrm>
                <a:off x="6467780" y="4384464"/>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9A685246-FE87-656A-5DCF-C1D4453F0DB4}"/>
                  </a:ext>
                </a:extLst>
              </p:cNvPr>
              <p:cNvSpPr txBox="1">
                <a:spLocks noRot="1" noChangeAspect="1" noMove="1" noResize="1" noEditPoints="1" noAdjustHandles="1" noChangeArrowheads="1" noChangeShapeType="1" noTextEdit="1"/>
              </p:cNvSpPr>
              <p:nvPr/>
            </p:nvSpPr>
            <p:spPr>
              <a:xfrm>
                <a:off x="6467780" y="4384464"/>
                <a:ext cx="428771" cy="461665"/>
              </a:xfrm>
              <a:prstGeom prst="rect">
                <a:avLst/>
              </a:prstGeom>
              <a:blipFill>
                <a:blip r:embed="rId7"/>
                <a:stretch>
                  <a:fillRect/>
                </a:stretch>
              </a:blipFill>
            </p:spPr>
            <p:txBody>
              <a:bodyPr/>
              <a:lstStyle/>
              <a:p>
                <a:r>
                  <a:rPr lang="en-US">
                    <a:noFill/>
                  </a:rPr>
                  <a:t> </a:t>
                </a:r>
              </a:p>
            </p:txBody>
          </p:sp>
        </mc:Fallback>
      </mc:AlternateContent>
      <p:pic>
        <p:nvPicPr>
          <p:cNvPr id="16" name="Graphic 15" descr="Server with solid fill">
            <a:extLst>
              <a:ext uri="{FF2B5EF4-FFF2-40B4-BE49-F238E27FC236}">
                <a16:creationId xmlns:a16="http://schemas.microsoft.com/office/drawing/2014/main" id="{70A4A7DF-6CEC-EF25-F07E-0D77E10AA14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105830" y="4515945"/>
            <a:ext cx="709613" cy="709613"/>
          </a:xfrm>
          <a:prstGeom prst="rect">
            <a:avLst/>
          </a:prstGeom>
        </p:spPr>
      </p:pic>
      <p:pic>
        <p:nvPicPr>
          <p:cNvPr id="18" name="Graphic 17" descr="Server with solid fill">
            <a:extLst>
              <a:ext uri="{FF2B5EF4-FFF2-40B4-BE49-F238E27FC236}">
                <a16:creationId xmlns:a16="http://schemas.microsoft.com/office/drawing/2014/main" id="{6BE207B2-3DC6-3ED3-EE64-BBABDFF1090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322195" y="4515943"/>
            <a:ext cx="709613" cy="709613"/>
          </a:xfrm>
          <a:prstGeom prst="rect">
            <a:avLst/>
          </a:prstGeom>
        </p:spPr>
      </p:pic>
      <p:pic>
        <p:nvPicPr>
          <p:cNvPr id="20" name="Graphic 19" descr="Server with solid fill">
            <a:extLst>
              <a:ext uri="{FF2B5EF4-FFF2-40B4-BE49-F238E27FC236}">
                <a16:creationId xmlns:a16="http://schemas.microsoft.com/office/drawing/2014/main" id="{C933DE63-5EBE-9A62-40BA-EEFF92F0834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540945" y="4515943"/>
            <a:ext cx="709613" cy="709613"/>
          </a:xfrm>
          <a:prstGeom prst="rect">
            <a:avLst/>
          </a:prstGeom>
        </p:spPr>
      </p:pic>
      <p:cxnSp>
        <p:nvCxnSpPr>
          <p:cNvPr id="22" name="Straight Connector 21">
            <a:extLst>
              <a:ext uri="{FF2B5EF4-FFF2-40B4-BE49-F238E27FC236}">
                <a16:creationId xmlns:a16="http://schemas.microsoft.com/office/drawing/2014/main" id="{9BE94B6A-4C46-F85A-C164-FC65E560F801}"/>
              </a:ext>
            </a:extLst>
          </p:cNvPr>
          <p:cNvCxnSpPr>
            <a:cxnSpLocks/>
            <a:stCxn id="16" idx="0"/>
          </p:cNvCxnSpPr>
          <p:nvPr/>
        </p:nvCxnSpPr>
        <p:spPr>
          <a:xfrm flipV="1">
            <a:off x="8460637" y="4179094"/>
            <a:ext cx="0" cy="336851"/>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0415E36-2B0B-0A93-55E0-FDF778657DB6}"/>
              </a:ext>
            </a:extLst>
          </p:cNvPr>
          <p:cNvCxnSpPr>
            <a:cxnSpLocks/>
            <a:stCxn id="18" idx="0"/>
          </p:cNvCxnSpPr>
          <p:nvPr/>
        </p:nvCxnSpPr>
        <p:spPr>
          <a:xfrm flipH="1" flipV="1">
            <a:off x="9676660" y="4179094"/>
            <a:ext cx="342" cy="336849"/>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05A952B-2FD6-5FAD-3C9A-E4467DD22912}"/>
              </a:ext>
            </a:extLst>
          </p:cNvPr>
          <p:cNvCxnSpPr>
            <a:cxnSpLocks/>
            <a:stCxn id="20" idx="0"/>
          </p:cNvCxnSpPr>
          <p:nvPr/>
        </p:nvCxnSpPr>
        <p:spPr>
          <a:xfrm flipV="1">
            <a:off x="10895752" y="4179094"/>
            <a:ext cx="0" cy="336849"/>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9211" r="-2397"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9/7/2026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2998529" y="594267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19373" y="595106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320137" y="593990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1790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44259"/>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05602" y="2480436"/>
            <a:ext cx="2972352" cy="461665"/>
          </a:xfrm>
          <a:prstGeom prst="rect">
            <a:avLst/>
          </a:prstGeom>
          <a:noFill/>
        </p:spPr>
        <p:txBody>
          <a:bodyPr wrap="none" rtlCol="0" anchor="ctr">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672069" y="5490216"/>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9/7/2026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50008" y="1359843"/>
            <a:ext cx="194951" cy="804576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9/7/2026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9/7/2026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4558820" y="53279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4558819" y="616062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4558819" y="57467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5067934" y="3750432"/>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605485" y="3750432"/>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4152567" y="3750431"/>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9/7/2026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485795" y="1740032"/>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565345" y="3678613"/>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5"/>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1"/>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693247" y="2639021"/>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F67E973-44FE-CE64-80EC-471D1B6AA36F}"/>
                  </a:ext>
                </a:extLst>
              </p:cNvPr>
              <p:cNvSpPr txBox="1"/>
              <p:nvPr/>
            </p:nvSpPr>
            <p:spPr>
              <a:xfrm>
                <a:off x="4485795" y="52326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xmlns="">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4485795" y="5232699"/>
                <a:ext cx="1587166" cy="1384995"/>
              </a:xfrm>
              <a:prstGeom prst="rect">
                <a:avLst/>
              </a:prstGeom>
              <a:blipFill>
                <a:blip r:embed="rId12"/>
                <a:stretch>
                  <a:fillRect l="-8077" t="-4825" b="-10965"/>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4923637" y="53113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5629321" y="53017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5575672" y="61758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617910" y="2118998"/>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531516" y="4596963"/>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nvSpPr>
        <p:spPr>
          <a:xfrm>
            <a:off x="4859343" y="57418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nvSpPr>
        <p:spPr>
          <a:xfrm>
            <a:off x="5593853" y="57346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nvSpPr>
        <p:spPr>
          <a:xfrm>
            <a:off x="4901983" y="61674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nvSpPr>
        <p:spPr>
          <a:xfrm>
            <a:off x="6072961" y="52550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06A7DF1-6410-6B50-C5B4-1D19F94CC66E}"/>
                  </a:ext>
                </a:extLst>
              </p:cNvPr>
              <p:cNvSpPr txBox="1"/>
              <p:nvPr/>
            </p:nvSpPr>
            <p:spPr>
              <a:xfrm>
                <a:off x="6248302" y="56824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xmlns="">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nvSpPr>
            <p:spPr>
              <a:xfrm>
                <a:off x="6248302" y="5682419"/>
                <a:ext cx="1820178" cy="523220"/>
              </a:xfrm>
              <a:prstGeom prst="rect">
                <a:avLst/>
              </a:prstGeom>
              <a:blipFill>
                <a:blip r:embed="rId13"/>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nvSpPr>
        <p:spPr>
          <a:xfrm>
            <a:off x="6325185" y="57571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nvSpPr>
        <p:spPr>
          <a:xfrm>
            <a:off x="7001689" y="57659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nvSpPr>
        <p:spPr>
          <a:xfrm>
            <a:off x="7626160" y="57486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nvSpPr>
        <p:spPr>
          <a:xfrm>
            <a:off x="6212225" y="52452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nvCxnSpPr>
        <p:spPr>
          <a:xfrm flipV="1">
            <a:off x="8016446" y="2476067"/>
            <a:ext cx="2963434" cy="3482004"/>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custDataLst>
      <p:tags r:id="rId1"/>
    </p:custDataLst>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P spid="14" grpId="0" animBg="1"/>
      <p:bldP spid="15" grpId="0" animBg="1"/>
      <p:bldP spid="16" grpId="0" animBg="1"/>
      <p:bldP spid="20" grpId="0" animBg="1"/>
      <p:bldP spid="23" grpId="0"/>
      <p:bldP spid="25" grpId="0" animBg="1"/>
      <p:bldP spid="26" grpId="0" animBg="1"/>
      <p:bldP spid="27" grpId="0" animBg="1"/>
      <p:bldP spid="2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5"/>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1"/>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9/7/2026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custDataLst>
      <p:tags r:id="rId1"/>
    </p:custDataLst>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9/7/2026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custDataLst>
      <p:tags r:id="rId1"/>
    </p:custDataLst>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8" y="1291017"/>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No measurable runtime overhead</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1" y="6378080"/>
            <a:ext cx="2047355" cy="461665"/>
          </a:xfrm>
          <a:prstGeom prst="rect">
            <a:avLst/>
          </a:prstGeom>
          <a:noFill/>
        </p:spPr>
        <p:txBody>
          <a:bodyPr wrap="none" rtlCol="0">
            <a:spAutoFit/>
          </a:bodyPr>
          <a:lstStyle/>
          <a:p>
            <a:pPr algn="ctr"/>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5072321" y="965353"/>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Parallel computation</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nvPicPr>
        <p:blipFill>
          <a:blip r:embed="rId4"/>
          <a:stretch>
            <a:fillRect/>
          </a:stretch>
        </p:blipFill>
        <p:spPr>
          <a:xfrm>
            <a:off x="93090" y="1394231"/>
            <a:ext cx="10180320" cy="4113183"/>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8447434" y="2257837"/>
            <a:ext cx="1449255" cy="9460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8417978" y="3220336"/>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8372690" y="3629267"/>
            <a:ext cx="1523999" cy="89151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8447434" y="4587549"/>
            <a:ext cx="1433421" cy="906813"/>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nvSpPr>
        <p:spPr>
          <a:xfrm>
            <a:off x="4494780" y="643135"/>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cxnSpLocks/>
            <a:stCxn id="6" idx="1"/>
            <a:endCxn id="7" idx="2"/>
          </p:cNvCxnSpPr>
          <p:nvPr/>
        </p:nvCxnSpPr>
        <p:spPr>
          <a:xfrm flipH="1" flipV="1">
            <a:off x="6258304" y="1222017"/>
            <a:ext cx="2401368" cy="117437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1"/>
            <a:endCxn id="7" idx="2"/>
          </p:cNvCxnSpPr>
          <p:nvPr/>
        </p:nvCxnSpPr>
        <p:spPr>
          <a:xfrm flipH="1" flipV="1">
            <a:off x="6258304" y="1222017"/>
            <a:ext cx="2337570" cy="2537809"/>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nvSpPr>
        <p:spPr>
          <a:xfrm>
            <a:off x="9053524" y="5523148"/>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cxnSpLocks/>
            <a:stCxn id="14" idx="5"/>
            <a:endCxn id="18" idx="0"/>
          </p:cNvCxnSpPr>
          <p:nvPr/>
        </p:nvCxnSpPr>
        <p:spPr>
          <a:xfrm>
            <a:off x="9670935" y="5361562"/>
            <a:ext cx="823948" cy="16158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nvSpPr>
        <p:spPr>
          <a:xfrm>
            <a:off x="2886552" y="5523148"/>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nvCxnSpPr>
        <p:spPr>
          <a:xfrm flipV="1">
            <a:off x="7137073" y="3590562"/>
            <a:ext cx="1490825" cy="222202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nvSpPr>
        <p:spPr>
          <a:xfrm>
            <a:off x="3784386" y="6214865"/>
            <a:ext cx="2104438"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nvSpPr>
        <p:spPr>
          <a:xfrm>
            <a:off x="6303178" y="6221520"/>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cxnSp>
        <p:nvCxnSpPr>
          <p:cNvPr id="47" name="Straight Connector 46">
            <a:extLst>
              <a:ext uri="{FF2B5EF4-FFF2-40B4-BE49-F238E27FC236}">
                <a16:creationId xmlns:a16="http://schemas.microsoft.com/office/drawing/2014/main" id="{C1EB5605-1755-DC29-A293-2C533F0575EC}"/>
              </a:ext>
            </a:extLst>
          </p:cNvPr>
          <p:cNvCxnSpPr/>
          <p:nvPr/>
        </p:nvCxnSpPr>
        <p:spPr>
          <a:xfrm>
            <a:off x="381898" y="5404364"/>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8" name="Straight Connector 47">
            <a:extLst>
              <a:ext uri="{FF2B5EF4-FFF2-40B4-BE49-F238E27FC236}">
                <a16:creationId xmlns:a16="http://schemas.microsoft.com/office/drawing/2014/main" id="{F9331A32-DD4A-A8DD-55FF-2595D30008DA}"/>
              </a:ext>
            </a:extLst>
          </p:cNvPr>
          <p:cNvCxnSpPr/>
          <p:nvPr/>
        </p:nvCxnSpPr>
        <p:spPr>
          <a:xfrm>
            <a:off x="443756" y="4966539"/>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4B538ECA-EA93-B903-6AE2-0B4D637D5317}"/>
              </a:ext>
            </a:extLst>
          </p:cNvPr>
          <p:cNvCxnSpPr>
            <a:cxnSpLocks/>
          </p:cNvCxnSpPr>
          <p:nvPr/>
        </p:nvCxnSpPr>
        <p:spPr>
          <a:xfrm flipH="1">
            <a:off x="443756" y="4444715"/>
            <a:ext cx="21399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EBC69EF-7343-1C60-8471-2A3B60BC25A3}"/>
              </a:ext>
            </a:extLst>
          </p:cNvPr>
          <p:cNvCxnSpPr>
            <a:cxnSpLocks/>
          </p:cNvCxnSpPr>
          <p:nvPr/>
        </p:nvCxnSpPr>
        <p:spPr>
          <a:xfrm flipH="1">
            <a:off x="424706" y="4008946"/>
            <a:ext cx="2668538"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A9EB04D-E001-1A10-94AE-94E7BF017C11}"/>
              </a:ext>
            </a:extLst>
          </p:cNvPr>
          <p:cNvCxnSpPr>
            <a:cxnSpLocks/>
          </p:cNvCxnSpPr>
          <p:nvPr/>
        </p:nvCxnSpPr>
        <p:spPr>
          <a:xfrm flipH="1">
            <a:off x="443756" y="2637346"/>
            <a:ext cx="23685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FBD0A64-EC84-1B63-0414-355DA48CE37C}"/>
              </a:ext>
            </a:extLst>
          </p:cNvPr>
          <p:cNvCxnSpPr>
            <a:cxnSpLocks/>
          </p:cNvCxnSpPr>
          <p:nvPr/>
        </p:nvCxnSpPr>
        <p:spPr>
          <a:xfrm flipH="1">
            <a:off x="424706" y="3073115"/>
            <a:ext cx="1763663"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ACAC765E-E823-B48A-C7B1-7D1D771C0FF1}"/>
              </a:ext>
            </a:extLst>
          </p:cNvPr>
          <p:cNvCxnSpPr>
            <a:cxnSpLocks/>
          </p:cNvCxnSpPr>
          <p:nvPr/>
        </p:nvCxnSpPr>
        <p:spPr>
          <a:xfrm>
            <a:off x="411732" y="3604140"/>
            <a:ext cx="2872012" cy="0"/>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Tree>
    <p:custDataLst>
      <p:tags r:id="rId1"/>
    </p:custDataLst>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7"/>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7" grpId="0" animBg="1"/>
      <p:bldP spid="18" grpId="0" animBg="1"/>
      <p:bldP spid="23" grpId="0" animBg="1"/>
      <p:bldP spid="31" grpId="0" animBg="1"/>
      <p:bldP spid="3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9/7/2026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custDataLst>
      <p:tags r:id="rId1"/>
    </p:custDataLst>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4">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5"/>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6"/>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7"/>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9/7/2026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custDataLst>
      <p:tags r:id="rId1"/>
    </p:custDataLst>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9/7/2026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412156" y="5407427"/>
            <a:ext cx="521160" cy="521160"/>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848591" y="4397966"/>
                <a:ext cx="1567391" cy="369332"/>
              </a:xfrm>
              <a:prstGeom prst="rect">
                <a:avLst/>
              </a:prstGeom>
              <a:blipFill>
                <a:blip r:embed="rId9"/>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9/7/2026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custDataLst>
      <p:tags r:id="rId1"/>
    </p:custDataLst>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152400" y="1690849"/>
            <a:ext cx="11887200" cy="3476302"/>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Noarr-MPI does not introduce overhead</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9/7/2026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nvGrpSpPr>
        <p:grpSpPr>
          <a:xfrm>
            <a:off x="6804263" y="5776906"/>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nvGrpSpPr>
        <p:grpSpPr>
          <a:xfrm>
            <a:off x="3377999" y="5776906"/>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074132" y="1313599"/>
              <a:ext cx="732656" cy="732656"/>
            </a:xfrm>
            <a:prstGeom prst="rect">
              <a:avLst/>
            </a:prstGeom>
          </p:spPr>
        </p:pic>
      </p:grpSp>
    </p:spTree>
    <p:custDataLst>
      <p:tags r:id="rId1"/>
    </p:custDataLst>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9/7/2026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10" name="TextBox 9">
            <a:extLst>
              <a:ext uri="{FF2B5EF4-FFF2-40B4-BE49-F238E27FC236}">
                <a16:creationId xmlns:a16="http://schemas.microsoft.com/office/drawing/2014/main" id="{F87652A6-37F0-2CC7-1FD2-E46D9878EE9E}"/>
              </a:ext>
            </a:extLst>
          </p:cNvPr>
          <p:cNvSpPr txBox="1"/>
          <p:nvPr/>
        </p:nvSpPr>
        <p:spPr>
          <a:xfrm>
            <a:off x="4270819" y="1270770"/>
            <a:ext cx="3650359" cy="523220"/>
          </a:xfrm>
          <a:prstGeom prst="rect">
            <a:avLst/>
          </a:prstGeom>
          <a:noFill/>
        </p:spPr>
        <p:txBody>
          <a:bodyPr wrap="none" rtlCol="0" anchor="b">
            <a:spAutoFit/>
          </a:bodyPr>
          <a:lstStyle/>
          <a:p>
            <a:pPr algn="ctr"/>
            <a:r>
              <a:rPr lang="en-US" sz="2800" noProof="0" dirty="0"/>
              <a:t>Example: Game of Life</a:t>
            </a:r>
          </a:p>
        </p:txBody>
      </p:sp>
      <p:sp>
        <p:nvSpPr>
          <p:cNvPr id="7" name="TextBox 6">
            <a:extLst>
              <a:ext uri="{FF2B5EF4-FFF2-40B4-BE49-F238E27FC236}">
                <a16:creationId xmlns:a16="http://schemas.microsoft.com/office/drawing/2014/main" id="{558B0A78-F5BD-55EF-1087-A92815BCA5A1}"/>
              </a:ext>
            </a:extLst>
          </p:cNvPr>
          <p:cNvSpPr txBox="1"/>
          <p:nvPr/>
        </p:nvSpPr>
        <p:spPr>
          <a:xfrm>
            <a:off x="7068333" y="2078595"/>
            <a:ext cx="2994602" cy="830997"/>
          </a:xfrm>
          <a:prstGeom prst="rect">
            <a:avLst/>
          </a:prstGeom>
          <a:noFill/>
        </p:spPr>
        <p:txBody>
          <a:bodyPr wrap="none" rtlCol="0" anchor="ctr">
            <a:spAutoFit/>
          </a:bodyPr>
          <a:lstStyle/>
          <a:p>
            <a:r>
              <a:rPr lang="en-US" sz="2400" dirty="0"/>
              <a:t>Binary state</a:t>
            </a:r>
          </a:p>
          <a:p>
            <a:r>
              <a:rPr lang="en-US" sz="2400" dirty="0"/>
              <a:t>Neighbor-count rules</a:t>
            </a:r>
          </a:p>
        </p:txBody>
      </p:sp>
    </p:spTree>
    <p:custDataLst>
      <p:tags r:id="rId1"/>
    </p:custDataLst>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What the design allows us to gain</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68984CF-F135-422A-BC96-9BDB08D720D4}"/>
              </a:ext>
            </a:extLst>
          </p:cNvPr>
          <p:cNvPicPr>
            <a:picLocks noChangeAspect="1"/>
          </p:cNvPicPr>
          <p:nvPr/>
        </p:nvPicPr>
        <p:blipFill>
          <a:blip r:embed="rId4"/>
          <a:srcRect l="12883" t="17084" r="11844" b="16205"/>
          <a:stretch>
            <a:fillRect/>
          </a:stretch>
        </p:blipFill>
        <p:spPr>
          <a:xfrm>
            <a:off x="5740045" y="4200417"/>
            <a:ext cx="1507332" cy="1335881"/>
          </a:xfrm>
          <a:prstGeom prst="rect">
            <a:avLst/>
          </a:prstGeom>
        </p:spPr>
      </p:pic>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Aptos" panose="020B0004020202020204" pitchFamily="34" charset="0"/>
              <a:buChar char="+"/>
            </a:pPr>
            <a:r>
              <a:rPr lang="en-US" noProof="0" dirty="0"/>
              <a:t> Simplicity</a:t>
            </a:r>
          </a:p>
          <a:p>
            <a:pPr lvl="1">
              <a:buFont typeface="Aptos" panose="020B0004020202020204" pitchFamily="34" charset="0"/>
              <a:buChar char="+"/>
            </a:pPr>
            <a:r>
              <a:rPr lang="en-US" noProof="0" dirty="0"/>
              <a:t> Flexibility</a:t>
            </a:r>
          </a:p>
          <a:p>
            <a:pPr lvl="1">
              <a:buFont typeface="Aptos" panose="020B0004020202020204" pitchFamily="34" charset="0"/>
              <a:buChar char="+"/>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10" name="Straight Connector 9">
            <a:extLst>
              <a:ext uri="{FF2B5EF4-FFF2-40B4-BE49-F238E27FC236}">
                <a16:creationId xmlns:a16="http://schemas.microsoft.com/office/drawing/2014/main" id="{6A7A7546-AB4B-B0AA-3591-AB55403B6F68}"/>
              </a:ext>
            </a:extLst>
          </p:cNvPr>
          <p:cNvCxnSpPr>
            <a:cxnSpLocks/>
            <a:stCxn id="6" idx="1"/>
            <a:endCxn id="9" idx="1"/>
          </p:cNvCxnSpPr>
          <p:nvPr/>
        </p:nvCxnSpPr>
        <p:spPr>
          <a:xfrm>
            <a:off x="3685212" y="4439667"/>
            <a:ext cx="2054833" cy="428691"/>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6938950" y="3429000"/>
            <a:ext cx="4109740" cy="896259"/>
          </a:xfrm>
          <a:prstGeom prst="wedgeRoundRectCallout">
            <a:avLst>
              <a:gd name="adj1" fmla="val -46931"/>
              <a:gd name="adj2" fmla="val 78756"/>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custDataLst>
      <p:tags r:id="rId1"/>
    </p:custDataLst>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nvPicPr>
        <p:blipFill>
          <a:blip r:embed="rId4"/>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nvPicPr>
        <p:blipFill>
          <a:blip r:embed="rId4"/>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nvPicPr>
        <p:blipFill>
          <a:blip r:embed="rId4"/>
          <a:srcRect l="12577" t="17864" r="12520" b="16352"/>
          <a:stretch>
            <a:fillRect/>
          </a:stretch>
        </p:blipFill>
        <p:spPr>
          <a:xfrm>
            <a:off x="9667586" y="3847084"/>
            <a:ext cx="919163" cy="807244"/>
          </a:xfrm>
          <a:prstGeom prst="rect">
            <a:avLst/>
          </a:prstGeom>
        </p:spPr>
      </p:pic>
    </p:spTree>
    <p:custDataLst>
      <p:tags r:id="rId1"/>
    </p:custDataLst>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2" grpId="0" animBg="1"/>
      <p:bldP spid="47" grpId="0" animBg="1"/>
      <p:bldP spid="61" grpId="0" animBg="1"/>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4"/>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Tree>
    <p:custDataLst>
      <p:tags r:id="rId1"/>
    </p:custDataLst>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Tree>
    <p:custDataLst>
      <p:tags r:id="rId1"/>
    </p:custDataLst>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4"/>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nvPicPr>
        <p:blipFill>
          <a:blip r:embed="rId5"/>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nvPicPr>
        <p:blipFill>
          <a:blip r:embed="rId5"/>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Tree>
    <p:custDataLst>
      <p:tags r:id="rId1"/>
    </p:custDataLst>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043DA17-E138-247B-4A07-447B5A24647A}"/>
              </a:ext>
            </a:extLst>
          </p:cNvPr>
          <p:cNvPicPr>
            <a:picLocks noChangeAspect="1"/>
          </p:cNvPicPr>
          <p:nvPr/>
        </p:nvPicPr>
        <p:blipFill>
          <a:blip r:embed="rId3"/>
          <a:stretch>
            <a:fillRect/>
          </a:stretch>
        </p:blipFill>
        <p:spPr>
          <a:xfrm>
            <a:off x="371719" y="952391"/>
            <a:ext cx="11607430" cy="5594782"/>
          </a:xfrm>
          <a:prstGeom prst="rect">
            <a:avLst/>
          </a:prstGeom>
        </p:spPr>
      </p:pic>
      <p:sp>
        <p:nvSpPr>
          <p:cNvPr id="6" name="Title 5">
            <a:extLst>
              <a:ext uri="{FF2B5EF4-FFF2-40B4-BE49-F238E27FC236}">
                <a16:creationId xmlns:a16="http://schemas.microsoft.com/office/drawing/2014/main" id="{7951329F-EFE3-A4A4-5416-4AA800AB8042}"/>
              </a:ext>
            </a:extLst>
          </p:cNvPr>
          <p:cNvSpPr>
            <a:spLocks noGrp="1"/>
          </p:cNvSpPr>
          <p:nvPr>
            <p:ph type="title"/>
          </p:nvPr>
        </p:nvSpPr>
        <p:spPr/>
        <p:txBody>
          <a:bodyPr/>
          <a:lstStyle/>
          <a:p>
            <a:r>
              <a:rPr lang="en-US" dirty="0"/>
              <a:t>C outperforms the abstractions</a:t>
            </a:r>
          </a:p>
        </p:txBody>
      </p:sp>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1613934"/>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1213824"/>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10745" y="3001049"/>
            <a:ext cx="372564" cy="372564"/>
          </a:xfrm>
          <a:prstGeom prst="rect">
            <a:avLst/>
          </a:prstGeom>
        </p:spPr>
      </p:pic>
    </p:spTree>
    <p:custDataLst>
      <p:tags r:id="rId1"/>
    </p:custDataLst>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2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2" grpId="0" animBg="1"/>
      <p:bldP spid="16" grpId="0" animBg="1"/>
      <p:bldP spid="24" grpId="0" animBg="1"/>
      <p:bldP spid="27" grpId="0" animBg="1"/>
      <p:bldP spid="28" grpId="0" animBg="1"/>
      <p:bldP spid="14" grpId="0" animBg="1"/>
      <p:bldP spid="83" grpId="0" animBg="1"/>
      <p:bldP spid="30" grpId="0" animBg="1"/>
      <p:bldP spid="10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9/7/2026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113856"/>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3"/>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inspect or abstract statements/expressions</a:t>
            </a:r>
          </a:p>
          <a:p>
            <a:r>
              <a:rPr lang="en-US" dirty="0"/>
              <a:t>Cellato adopts layout &amp; traversal agnosticism and the template metaprogramming implementation; the goals are more specific</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a:p>
            <a:r>
              <a:rPr lang="en-US" noProof="0" dirty="0"/>
              <a:t>Inspiration by ComPilot: structured back-and-forth communication</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a:t>
            </a:r>
            <a:br>
              <a:rPr lang="en-US" noProof="0" dirty="0"/>
            </a:br>
            <a:r>
              <a:rPr lang="en-US" noProof="0" dirty="0"/>
              <a:t>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general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 the extent of sub-layout does not divide the stride of the result layout</a:t>
            </a:r>
            <a:br>
              <a:rPr lang="en-US" noProof="0" dirty="0"/>
            </a:br>
            <a:r>
              <a:rPr lang="en-US" noProof="0" dirty="0"/>
              <a:t>(see Slide 4 for better visualization of the two communicated layouts)</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4267201" y="5495658"/>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4771698" y="549565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5906814" y="549565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7049968"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8195443"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4267201" y="5987017"/>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4771698" y="598701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5906814" y="598701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7049968"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8195443"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5150070" y="598701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6285186" y="598701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7428340"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8573815"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5528442" y="598701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6663558" y="598700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7806712"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8952187"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6611251" y="3528668"/>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5A02E8D5-F21B-9668-E4EF-AB0E1DD30169}"/>
              </a:ext>
            </a:extLst>
          </p:cNvPr>
          <p:cNvSpPr txBox="1"/>
          <p:nvPr/>
        </p:nvSpPr>
        <p:spPr>
          <a:xfrm>
            <a:off x="6228375" y="5026152"/>
            <a:ext cx="870367" cy="400110"/>
          </a:xfrm>
          <a:prstGeom prst="rect">
            <a:avLst/>
          </a:prstGeom>
          <a:noFill/>
        </p:spPr>
        <p:txBody>
          <a:bodyPr wrap="none" rtlCol="0" anchor="b">
            <a:spAutoFit/>
          </a:bodyPr>
          <a:lstStyle/>
          <a:p>
            <a:pPr algn="ctr"/>
            <a:r>
              <a:rPr lang="en-US" sz="2000" dirty="0"/>
              <a:t>extent</a:t>
            </a:r>
          </a:p>
        </p:txBody>
      </p:sp>
      <p:sp>
        <p:nvSpPr>
          <p:cNvPr id="14" name="Right Brace 13">
            <a:extLst>
              <a:ext uri="{FF2B5EF4-FFF2-40B4-BE49-F238E27FC236}">
                <a16:creationId xmlns:a16="http://schemas.microsoft.com/office/drawing/2014/main" id="{A67D3EE3-3CE5-18DC-C41F-978BC4DB7EEF}"/>
              </a:ext>
            </a:extLst>
          </p:cNvPr>
          <p:cNvSpPr/>
          <p:nvPr/>
        </p:nvSpPr>
        <p:spPr>
          <a:xfrm rot="5400000">
            <a:off x="5120513" y="6223859"/>
            <a:ext cx="59115" cy="3783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618F4901-DE99-509C-6FD1-48F638F093B4}"/>
              </a:ext>
            </a:extLst>
          </p:cNvPr>
          <p:cNvSpPr txBox="1"/>
          <p:nvPr/>
        </p:nvSpPr>
        <p:spPr>
          <a:xfrm>
            <a:off x="4749560" y="6410087"/>
            <a:ext cx="817853" cy="400110"/>
          </a:xfrm>
          <a:prstGeom prst="rect">
            <a:avLst/>
          </a:prstGeom>
          <a:noFill/>
        </p:spPr>
        <p:txBody>
          <a:bodyPr wrap="none" rtlCol="0" anchor="t">
            <a:spAutoFit/>
          </a:bodyPr>
          <a:lstStyle/>
          <a:p>
            <a:pPr algn="ctr"/>
            <a:r>
              <a:rPr lang="en-US" sz="2000" dirty="0"/>
              <a:t>stride</a:t>
            </a:r>
          </a:p>
        </p:txBody>
      </p:sp>
    </p:spTree>
    <p:extLst>
      <p:ext uri="{BB962C8B-B14F-4D97-AF65-F5344CB8AC3E}">
        <p14:creationId xmlns:p14="http://schemas.microsoft.com/office/powerpoint/2010/main" val="1348916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a:t>
            </a:r>
            <a:br>
              <a:rPr lang="en-US" noProof="0" dirty="0"/>
            </a:br>
            <a:r>
              <a:rPr lang="en-US" noProof="0" dirty="0"/>
              <a:t>If not, why?</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endParaRPr lang="cs-CZ" noProof="0" dirty="0"/>
          </a:p>
          <a:p>
            <a:r>
              <a:rPr lang="cs-CZ" dirty="0"/>
              <a:t>CuTe?</a:t>
            </a:r>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OpenMP SIMD explicitly rejects class-based iteration (e.g., range-based for)</a:t>
            </a:r>
          </a:p>
          <a:p>
            <a:pPr lvl="1"/>
            <a:r>
              <a:rPr lang="en-US" noProof="0" dirty="0">
                <a:latin typeface="Fira Code" panose="020B0809050000020004" pitchFamily="49" charset="0"/>
                <a:ea typeface="Fira Code" panose="020B0809050000020004" pitchFamily="49" charset="0"/>
                <a:cs typeface="Fira Code" panose="020B0809050000020004" pitchFamily="49" charset="0"/>
              </a:rPr>
              <a:t>#pragma </a:t>
            </a:r>
            <a:r>
              <a:rPr lang="en-US" noProof="0" dirty="0" err="1">
                <a:latin typeface="Fira Code" panose="020B0809050000020004" pitchFamily="49" charset="0"/>
                <a:ea typeface="Fira Code" panose="020B0809050000020004" pitchFamily="49" charset="0"/>
                <a:cs typeface="Fira Code" panose="020B0809050000020004" pitchFamily="49" charset="0"/>
              </a:rPr>
              <a:t>omp</a:t>
            </a:r>
            <a:r>
              <a:rPr lang="en-US"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err="1">
                <a:latin typeface="Fira Code" panose="020B0809050000020004" pitchFamily="49" charset="0"/>
                <a:ea typeface="Fira Code" panose="020B0809050000020004" pitchFamily="49" charset="0"/>
                <a:cs typeface="Fira Code" panose="020B0809050000020004" pitchFamily="49" charset="0"/>
              </a:rPr>
              <a:t>simd</a:t>
            </a:r>
            <a:r>
              <a:rPr lang="en-US" noProof="0" dirty="0"/>
              <a:t> specifically may be in explicit SIMD-enabled for_each</a:t>
            </a:r>
          </a:p>
          <a:p>
            <a:pPr marL="914400" lvl="2" indent="0">
              <a:buNone/>
            </a:pPr>
            <a:r>
              <a:rPr lang="en-US" dirty="0" err="1">
                <a:solidFill>
                  <a:srgbClr val="001080"/>
                </a:solidFill>
                <a:latin typeface="Fira Code" panose="020B0809050000020004" pitchFamily="49" charset="0"/>
              </a:rPr>
              <a:t>traverser</a:t>
            </a:r>
            <a:r>
              <a:rPr lang="en-US" dirty="0" err="1">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795E26"/>
                </a:solidFill>
                <a:latin typeface="Fira Code" panose="020B0809050000020004" pitchFamily="49" charset="0"/>
                <a:ea typeface="Fira Code" panose="020B0809050000020004" pitchFamily="49" charset="0"/>
                <a:cs typeface="Fira Code" panose="020B0809050000020004" pitchFamily="49" charset="0"/>
              </a:rPr>
              <a:t>omp_simd_for_each</a:t>
            </a:r>
            <a:r>
              <a:rPr lang="en-US" noProof="0" dirty="0">
                <a:latin typeface="Fira Code" panose="020B0809050000020004" pitchFamily="49" charset="0"/>
                <a:ea typeface="Fira Code" panose="020B0809050000020004" pitchFamily="49" charset="0"/>
                <a:cs typeface="Fira Code" panose="020B0809050000020004" pitchFamily="49" charset="0"/>
              </a:rPr>
              <a:t>(…)</a:t>
            </a:r>
          </a:p>
          <a:p>
            <a:r>
              <a:rPr lang="en-US" noProof="0" dirty="0"/>
              <a:t>More extensive OpenMP pragma support challenging</a:t>
            </a:r>
          </a:p>
          <a:p>
            <a:r>
              <a:rPr lang="en-US" noProof="0" dirty="0"/>
              <a:t>Future SIMD-aware traversers</a:t>
            </a:r>
          </a:p>
          <a:p>
            <a:pPr lvl="1"/>
            <a:r>
              <a:rPr lang="en-US" noProof="0" dirty="0"/>
              <a:t>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nchor="ct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Abstracting evaluation strategy and encoding for Cellular Automata</a:t>
            </a:r>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Subviews</a:t>
            </a:r>
            <a:endParaRPr lang="en-US" noProof="0" dirty="0"/>
          </a:p>
          <a:p>
            <a:pPr lvl="1"/>
            <a:r>
              <a:rPr lang="en-US" noProof="0" dirty="0">
                <a:sym typeface="Wingdings" panose="05000000000000000000" pitchFamily="2" charset="2"/>
              </a:rPr>
              <a:t>CuTe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6747-FA1D-0A89-B23F-652400CDBDA3}"/>
              </a:ext>
            </a:extLst>
          </p:cNvPr>
          <p:cNvSpPr>
            <a:spLocks noGrp="1"/>
          </p:cNvSpPr>
          <p:nvPr>
            <p:ph type="title"/>
          </p:nvPr>
        </p:nvSpPr>
        <p:spPr/>
        <p:txBody>
          <a:bodyPr/>
          <a:lstStyle/>
          <a:p>
            <a:r>
              <a:rPr lang="en-US" dirty="0"/>
              <a:t>State of the art summary and our novelty</a:t>
            </a:r>
          </a:p>
        </p:txBody>
      </p:sp>
      <p:sp>
        <p:nvSpPr>
          <p:cNvPr id="3" name="Content Placeholder 2">
            <a:extLst>
              <a:ext uri="{FF2B5EF4-FFF2-40B4-BE49-F238E27FC236}">
                <a16:creationId xmlns:a16="http://schemas.microsoft.com/office/drawing/2014/main" id="{8AC28D19-3293-E69A-8D0A-95CD64D09AD4}"/>
              </a:ext>
            </a:extLst>
          </p:cNvPr>
          <p:cNvSpPr>
            <a:spLocks noGrp="1"/>
          </p:cNvSpPr>
          <p:nvPr>
            <p:ph idx="1"/>
          </p:nvPr>
        </p:nvSpPr>
        <p:spPr/>
        <p:txBody>
          <a:bodyPr/>
          <a:lstStyle/>
          <a:p>
            <a:r>
              <a:rPr lang="en-US" dirty="0"/>
              <a:t>Layout abstractions</a:t>
            </a:r>
          </a:p>
          <a:p>
            <a:pPr lvl="1"/>
            <a:r>
              <a:rPr lang="en-US" dirty="0"/>
              <a:t>Kokkos Views for general use, </a:t>
            </a:r>
            <a:r>
              <a:rPr lang="en-US" dirty="0" err="1"/>
              <a:t>GridTools</a:t>
            </a:r>
            <a:r>
              <a:rPr lang="en-US" dirty="0"/>
              <a:t> for stencils</a:t>
            </a:r>
          </a:p>
          <a:p>
            <a:pPr lvl="1"/>
            <a:r>
              <a:rPr lang="en-US" dirty="0"/>
              <a:t>Both target CPU &amp; GPU</a:t>
            </a:r>
          </a:p>
          <a:p>
            <a:pPr lvl="1"/>
            <a:r>
              <a:rPr lang="en-US" dirty="0"/>
              <a:t>Both implement facilities for automatic parallelization, tiling (, halo exchange)</a:t>
            </a:r>
          </a:p>
          <a:p>
            <a:r>
              <a:rPr lang="en-US" dirty="0"/>
              <a:t>Alternative layout and traversal transformation, parallelization</a:t>
            </a:r>
          </a:p>
          <a:p>
            <a:pPr lvl="1"/>
            <a:r>
              <a:rPr lang="en-US" dirty="0"/>
              <a:t>Algorithm + schedule model: Halide, Tiramisu, Exo, OpenMP, …</a:t>
            </a:r>
          </a:p>
          <a:p>
            <a:pPr lvl="2"/>
            <a:r>
              <a:rPr lang="en-US" dirty="0"/>
              <a:t>Tools/frameworks that rely on (custom) compilation pipelines</a:t>
            </a:r>
          </a:p>
          <a:p>
            <a:pPr lvl="1"/>
            <a:r>
              <a:rPr lang="en-US" dirty="0"/>
              <a:t>Policy-based execution model: Kokkos, standard C++ algorithms</a:t>
            </a:r>
          </a:p>
          <a:p>
            <a:r>
              <a:rPr lang="en-US" dirty="0"/>
              <a:t>Novelty</a:t>
            </a:r>
          </a:p>
          <a:p>
            <a:pPr lvl="1"/>
            <a:r>
              <a:rPr lang="en-US" dirty="0"/>
              <a:t>Native C++ compositional approach with named dimensions (Noarr)</a:t>
            </a:r>
          </a:p>
          <a:p>
            <a:pPr lvl="1"/>
            <a:r>
              <a:rPr lang="en-US" dirty="0"/>
              <a:t>Sub-byte encoding and bitwise evaluation strategies (Cellato)</a:t>
            </a:r>
          </a:p>
        </p:txBody>
      </p:sp>
      <p:sp>
        <p:nvSpPr>
          <p:cNvPr id="4" name="Date Placeholder 3">
            <a:extLst>
              <a:ext uri="{FF2B5EF4-FFF2-40B4-BE49-F238E27FC236}">
                <a16:creationId xmlns:a16="http://schemas.microsoft.com/office/drawing/2014/main" id="{5C5A991F-3D47-EA5C-A204-1DEF76D41D0A}"/>
              </a:ext>
            </a:extLst>
          </p:cNvPr>
          <p:cNvSpPr>
            <a:spLocks noGrp="1"/>
          </p:cNvSpPr>
          <p:nvPr>
            <p:ph type="dt" sz="half" idx="10"/>
          </p:nvPr>
        </p:nvSpPr>
        <p:spPr/>
        <p:txBody>
          <a:bodyPr/>
          <a:lstStyle/>
          <a:p>
            <a:fld id="{358C28A6-2969-482E-9A3B-5E13FCD8DD03}" type="datetime1">
              <a:rPr lang="en-US" smtClean="0"/>
              <a:t>9/7/2026</a:t>
            </a:fld>
            <a:endParaRPr lang="en-US"/>
          </a:p>
        </p:txBody>
      </p:sp>
      <p:sp>
        <p:nvSpPr>
          <p:cNvPr id="5" name="Slide Number Placeholder 4">
            <a:extLst>
              <a:ext uri="{FF2B5EF4-FFF2-40B4-BE49-F238E27FC236}">
                <a16:creationId xmlns:a16="http://schemas.microsoft.com/office/drawing/2014/main" id="{38353882-5ADB-9DD8-85F7-D28B47129FA0}"/>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33952908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pic>
        <p:nvPicPr>
          <p:cNvPr id="7" name="Picture 6">
            <a:extLst>
              <a:ext uri="{FF2B5EF4-FFF2-40B4-BE49-F238E27FC236}">
                <a16:creationId xmlns:a16="http://schemas.microsoft.com/office/drawing/2014/main" id="{1C400F22-D6D2-9A75-14E4-C50B839EF947}"/>
              </a:ext>
            </a:extLst>
          </p:cNvPr>
          <p:cNvPicPr>
            <a:picLocks noChangeAspect="1"/>
          </p:cNvPicPr>
          <p:nvPr/>
        </p:nvPicPr>
        <p:blipFill>
          <a:blip r:embed="rId3"/>
          <a:stretch>
            <a:fillRect/>
          </a:stretch>
        </p:blipFill>
        <p:spPr>
          <a:xfrm>
            <a:off x="0" y="1529445"/>
            <a:ext cx="12192000" cy="3799111"/>
          </a:xfrm>
          <a:prstGeom prst="rect">
            <a:avLst/>
          </a:prstGeom>
        </p:spPr>
      </p:pic>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58C31-21B3-4C00-B5D8-7F093ABFEC3C}"/>
              </a:ext>
            </a:extLst>
          </p:cNvPr>
          <p:cNvSpPr>
            <a:spLocks noGrp="1"/>
          </p:cNvSpPr>
          <p:nvPr>
            <p:ph type="title"/>
          </p:nvPr>
        </p:nvSpPr>
        <p:spPr/>
        <p:txBody>
          <a:bodyPr/>
          <a:lstStyle/>
          <a:p>
            <a:r>
              <a:rPr lang="en-US" dirty="0"/>
              <a:t>Genuine limitations of Noarr and Cellato</a:t>
            </a:r>
          </a:p>
        </p:txBody>
      </p:sp>
      <p:sp>
        <p:nvSpPr>
          <p:cNvPr id="5" name="Content Placeholder 4">
            <a:extLst>
              <a:ext uri="{FF2B5EF4-FFF2-40B4-BE49-F238E27FC236}">
                <a16:creationId xmlns:a16="http://schemas.microsoft.com/office/drawing/2014/main" id="{8A184959-C556-48E5-BDD9-ED0CC2A4736A}"/>
              </a:ext>
            </a:extLst>
          </p:cNvPr>
          <p:cNvSpPr>
            <a:spLocks noGrp="1"/>
          </p:cNvSpPr>
          <p:nvPr>
            <p:ph idx="1"/>
          </p:nvPr>
        </p:nvSpPr>
        <p:spPr/>
        <p:txBody>
          <a:bodyPr anchor="ctr"/>
          <a:lstStyle/>
          <a:p>
            <a:r>
              <a:rPr lang="en-US" dirty="0"/>
              <a:t>Not paired with formal verification</a:t>
            </a:r>
          </a:p>
          <a:p>
            <a:r>
              <a:rPr lang="en-US" dirty="0"/>
              <a:t>Compilation time overhead</a:t>
            </a:r>
          </a:p>
          <a:p>
            <a:r>
              <a:rPr lang="en-US" dirty="0"/>
              <a:t>Template metaprogramming imposes some limitations</a:t>
            </a:r>
          </a:p>
          <a:p>
            <a:pPr lvl="1"/>
            <a:r>
              <a:rPr lang="en-US" dirty="0"/>
              <a:t>The syntax of the resulting DSLs may be awkward</a:t>
            </a:r>
          </a:p>
          <a:p>
            <a:pPr lvl="1"/>
            <a:r>
              <a:rPr lang="en-US" dirty="0"/>
              <a:t>Makes online tuning more costly compared to alternatives such as </a:t>
            </a:r>
            <a:r>
              <a:rPr lang="en-US" dirty="0" err="1"/>
              <a:t>mdspans</a:t>
            </a:r>
            <a:r>
              <a:rPr lang="en-US" dirty="0"/>
              <a:t> or Kokkos Views (recompilation)</a:t>
            </a:r>
          </a:p>
          <a:p>
            <a:r>
              <a:rPr lang="en-US" dirty="0"/>
              <a:t>Usability not supported by user studies</a:t>
            </a:r>
          </a:p>
        </p:txBody>
      </p:sp>
      <p:sp>
        <p:nvSpPr>
          <p:cNvPr id="3" name="Date Placeholder 2">
            <a:extLst>
              <a:ext uri="{FF2B5EF4-FFF2-40B4-BE49-F238E27FC236}">
                <a16:creationId xmlns:a16="http://schemas.microsoft.com/office/drawing/2014/main" id="{D76BAA40-3587-0EAB-97D0-C6C555DE4F28}"/>
              </a:ext>
            </a:extLst>
          </p:cNvPr>
          <p:cNvSpPr>
            <a:spLocks noGrp="1"/>
          </p:cNvSpPr>
          <p:nvPr>
            <p:ph type="dt" sz="half" idx="10"/>
          </p:nvPr>
        </p:nvSpPr>
        <p:spPr/>
        <p:txBody>
          <a:bodyPr/>
          <a:lstStyle/>
          <a:p>
            <a:fld id="{1AB26190-46ED-4A0C-A5E8-CDBCA5C2D5C3}" type="datetime1">
              <a:rPr lang="en-US" smtClean="0"/>
              <a:t>9/7/2026</a:t>
            </a:fld>
            <a:endParaRPr lang="en-US" dirty="0"/>
          </a:p>
        </p:txBody>
      </p:sp>
      <p:sp>
        <p:nvSpPr>
          <p:cNvPr id="4" name="Slide Number Placeholder 3">
            <a:extLst>
              <a:ext uri="{FF2B5EF4-FFF2-40B4-BE49-F238E27FC236}">
                <a16:creationId xmlns:a16="http://schemas.microsoft.com/office/drawing/2014/main" id="{FA0D4A39-443E-0EE9-F71D-F4A2060B2526}"/>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7078600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nchor="ctr"/>
          <a:lstStyle/>
          <a:p>
            <a:r>
              <a:rPr lang="en-US" noProof="0" dirty="0"/>
              <a:t>I do not </a:t>
            </a:r>
            <a:r>
              <a:rPr lang="en-US" noProof="0" dirty="0" err="1"/>
              <a:t>clai</a:t>
            </a:r>
            <a:r>
              <a:rPr lang="en-US" dirty="0"/>
              <a:t>m that templates are the only solution</a:t>
            </a:r>
          </a:p>
          <a:p>
            <a:r>
              <a:rPr lang="en-US" noProof="0" dirty="0"/>
              <a:t>We do not consider compilation pipeline extensions (e.g., compiler extensions) due to:</a:t>
            </a:r>
          </a:p>
          <a:p>
            <a:pPr lvl="1"/>
            <a:r>
              <a:rPr lang="en-US" noProof="0" dirty="0"/>
              <a:t>Such solutions hindering portability; reliance on external tools</a:t>
            </a:r>
          </a:p>
          <a:p>
            <a:pPr lvl="1"/>
            <a:r>
              <a:rPr lang="en-US" dirty="0"/>
              <a:t>Core research group focus and expertise</a:t>
            </a:r>
          </a:p>
          <a:p>
            <a:pPr lvl="1"/>
            <a:r>
              <a:rPr lang="en-US" noProof="0" dirty="0"/>
              <a:t>Research scope closely tied to algorithm design</a:t>
            </a:r>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nchor="ctr"/>
          <a:lstStyle/>
          <a:p>
            <a:r>
              <a:rPr lang="en-US" dirty="0"/>
              <a:t>Some generated Noarr layouts preserve syntactic order of dimensions rather than the semantic one (unintended layout transformations)</a:t>
            </a:r>
          </a:p>
          <a:p>
            <a:r>
              <a:rPr lang="en-US" noProof="0" dirty="0"/>
              <a:t>Halide was an awkward representation </a:t>
            </a:r>
            <a:r>
              <a:rPr lang="en-US" dirty="0"/>
              <a:t>for many algorithms</a:t>
            </a:r>
          </a:p>
          <a:p>
            <a:r>
              <a:rPr lang="en-US" noProof="0" dirty="0"/>
              <a:t>Hallucinated API</a:t>
            </a:r>
          </a:p>
          <a:p>
            <a:pPr lvl="1"/>
            <a:r>
              <a:rPr lang="en-US" noProof="0" dirty="0"/>
              <a:t>(mostly for Halide), the LLM considered more general function overloads</a:t>
            </a:r>
          </a:p>
          <a:p>
            <a:pPr lvl="1"/>
            <a:r>
              <a:rPr lang="en-US" dirty="0"/>
              <a:t>(mostly for Exo), the LLM failed to preserve expected invariants</a:t>
            </a:r>
          </a:p>
          <a:p>
            <a:pPr lvl="1"/>
            <a:r>
              <a:rPr lang="en-US" noProof="0" dirty="0"/>
              <a:t>(mostly for Noarr), the LLM made </a:t>
            </a:r>
            <a:r>
              <a:rPr lang="en-US" dirty="0"/>
              <a:t>genuine mistakes (e.g., replaced angle brackets with square brackets)</a:t>
            </a:r>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9/7/2026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45</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9/7/2026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46</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8.4|7.7|6.7|7.3|9|12"/>
</p:tagLst>
</file>

<file path=ppt/tags/tag2.xml><?xml version="1.0" encoding="utf-8"?>
<p:tagLst xmlns:a="http://schemas.openxmlformats.org/drawingml/2006/main" xmlns:r="http://schemas.openxmlformats.org/officeDocument/2006/relationships" xmlns:p="http://schemas.openxmlformats.org/presentationml/2006/main">
  <p:tag name="TIMING" val="|32.9|28.1"/>
</p:tagLst>
</file>

<file path=ppt/tags/tag3.xml><?xml version="1.0" encoding="utf-8"?>
<p:tagLst xmlns:a="http://schemas.openxmlformats.org/drawingml/2006/main" xmlns:r="http://schemas.openxmlformats.org/officeDocument/2006/relationships" xmlns:p="http://schemas.openxmlformats.org/presentationml/2006/main">
  <p:tag name="TIMING" val="|33|9.2|4.9|9.6"/>
</p:tagLst>
</file>

<file path=ppt/tags/tag4.xml><?xml version="1.0" encoding="utf-8"?>
<p:tagLst xmlns:a="http://schemas.openxmlformats.org/drawingml/2006/main" xmlns:r="http://schemas.openxmlformats.org/officeDocument/2006/relationships" xmlns:p="http://schemas.openxmlformats.org/presentationml/2006/main">
  <p:tag name="TIMING" val="|17.4|8.2|0.6|14.1|34.8|18.8"/>
</p:tagLst>
</file>

<file path=ppt/tags/tag5.xml><?xml version="1.0" encoding="utf-8"?>
<p:tagLst xmlns:a="http://schemas.openxmlformats.org/drawingml/2006/main" xmlns:r="http://schemas.openxmlformats.org/officeDocument/2006/relationships" xmlns:p="http://schemas.openxmlformats.org/presentationml/2006/main">
  <p:tag name="TIMING" val="|26.3|39.7"/>
</p:tagLst>
</file>

<file path=ppt/tags/tag6.xml><?xml version="1.0" encoding="utf-8"?>
<p:tagLst xmlns:a="http://schemas.openxmlformats.org/drawingml/2006/main" xmlns:r="http://schemas.openxmlformats.org/officeDocument/2006/relationships" xmlns:p="http://schemas.openxmlformats.org/presentationml/2006/main">
  <p:tag name="TIMING" val="|28.7|15.2|5.8|12.2|16.2|0.9"/>
</p:tagLst>
</file>

<file path=ppt/tags/tag7.xml><?xml version="1.0" encoding="utf-8"?>
<p:tagLst xmlns:a="http://schemas.openxmlformats.org/drawingml/2006/main" xmlns:r="http://schemas.openxmlformats.org/officeDocument/2006/relationships" xmlns:p="http://schemas.openxmlformats.org/presentationml/2006/main">
  <p:tag name="TIMING" val="|19.9"/>
</p:tagLst>
</file>

<file path=ppt/tags/tag8.xml><?xml version="1.0" encoding="utf-8"?>
<p:tagLst xmlns:a="http://schemas.openxmlformats.org/drawingml/2006/main" xmlns:r="http://schemas.openxmlformats.org/officeDocument/2006/relationships" xmlns:p="http://schemas.openxmlformats.org/presentationml/2006/main">
  <p:tag name="TIMING" val="|19.1"/>
</p:tagLst>
</file>

<file path=ppt/tags/tag9.xml><?xml version="1.0" encoding="utf-8"?>
<p:tagLst xmlns:a="http://schemas.openxmlformats.org/drawingml/2006/main" xmlns:r="http://schemas.openxmlformats.org/officeDocument/2006/relationships" xmlns:p="http://schemas.openxmlformats.org/presentationml/2006/main">
  <p:tag name="TIMING" val="|15.2|55.6|10.5|19.7"/>
</p:tagLst>
</file>

<file path=ppt/tags/tag10.xml><?xml version="1.0" encoding="utf-8"?>
<p:tagLst xmlns:a="http://schemas.openxmlformats.org/drawingml/2006/main" xmlns:r="http://schemas.openxmlformats.org/officeDocument/2006/relationships" xmlns:p="http://schemas.openxmlformats.org/presentationml/2006/main">
  <p:tag name="TIMING" val="|11.4|16.4|11.8|1.1|18.1"/>
</p:tagLst>
</file>

<file path=ppt/tags/tag11.xml><?xml version="1.0" encoding="utf-8"?>
<p:tagLst xmlns:a="http://schemas.openxmlformats.org/drawingml/2006/main" xmlns:r="http://schemas.openxmlformats.org/officeDocument/2006/relationships" xmlns:p="http://schemas.openxmlformats.org/presentationml/2006/main">
  <p:tag name="TIMING" val="|45.2"/>
</p:tagLst>
</file>

<file path=ppt/tags/tag12.xml><?xml version="1.0" encoding="utf-8"?>
<p:tagLst xmlns:a="http://schemas.openxmlformats.org/drawingml/2006/main" xmlns:r="http://schemas.openxmlformats.org/officeDocument/2006/relationships" xmlns:p="http://schemas.openxmlformats.org/presentationml/2006/main">
  <p:tag name="TIMING" val="|17.9|39.1|45.8|3.9"/>
</p:tagLst>
</file>

<file path=ppt/tags/tag13.xml><?xml version="1.0" encoding="utf-8"?>
<p:tagLst xmlns:a="http://schemas.openxmlformats.org/drawingml/2006/main" xmlns:r="http://schemas.openxmlformats.org/officeDocument/2006/relationships" xmlns:p="http://schemas.openxmlformats.org/presentationml/2006/main">
  <p:tag name="TIMING" val="|44.5|3.9"/>
</p:tagLst>
</file>

<file path=ppt/tags/tag14.xml><?xml version="1.0" encoding="utf-8"?>
<p:tagLst xmlns:a="http://schemas.openxmlformats.org/drawingml/2006/main" xmlns:r="http://schemas.openxmlformats.org/officeDocument/2006/relationships" xmlns:p="http://schemas.openxmlformats.org/presentationml/2006/main">
  <p:tag name="TIMING" val="|2.5|0.8"/>
</p:tagLst>
</file>

<file path=ppt/tags/tag15.xml><?xml version="1.0" encoding="utf-8"?>
<p:tagLst xmlns:a="http://schemas.openxmlformats.org/drawingml/2006/main" xmlns:r="http://schemas.openxmlformats.org/officeDocument/2006/relationships" xmlns:p="http://schemas.openxmlformats.org/presentationml/2006/main">
  <p:tag name="TIMING" val="|0.9|1.2|2.6|1.5"/>
</p:tagLst>
</file>

<file path=ppt/tags/tag16.xml><?xml version="1.0" encoding="utf-8"?>
<p:tagLst xmlns:a="http://schemas.openxmlformats.org/drawingml/2006/main" xmlns:r="http://schemas.openxmlformats.org/officeDocument/2006/relationships" xmlns:p="http://schemas.openxmlformats.org/presentationml/2006/main">
  <p:tag name="TIMING" val="|1.1|0.4"/>
</p:tagLst>
</file>

<file path=ppt/tags/tag17.xml><?xml version="1.0" encoding="utf-8"?>
<p:tagLst xmlns:a="http://schemas.openxmlformats.org/drawingml/2006/main" xmlns:r="http://schemas.openxmlformats.org/officeDocument/2006/relationships" xmlns:p="http://schemas.openxmlformats.org/presentationml/2006/main">
  <p:tag name="TIMING" val="|0.8"/>
</p:tagLst>
</file>

<file path=ppt/tags/tag18.xml><?xml version="1.0" encoding="utf-8"?>
<p:tagLst xmlns:a="http://schemas.openxmlformats.org/drawingml/2006/main" xmlns:r="http://schemas.openxmlformats.org/officeDocument/2006/relationships" xmlns:p="http://schemas.openxmlformats.org/presentationml/2006/main">
  <p:tag name="TIMING" val="|0.6|0.7|0.4"/>
</p:tagLst>
</file>

<file path=ppt/tags/tag19.xml><?xml version="1.0" encoding="utf-8"?>
<p:tagLst xmlns:a="http://schemas.openxmlformats.org/drawingml/2006/main" xmlns:r="http://schemas.openxmlformats.org/officeDocument/2006/relationships" xmlns:p="http://schemas.openxmlformats.org/presentationml/2006/main">
  <p:tag name="TIMING" val="|0.8|0.4|0.5"/>
</p:tagLst>
</file>

<file path=ppt/tags/tag20.xml><?xml version="1.0" encoding="utf-8"?>
<p:tagLst xmlns:a="http://schemas.openxmlformats.org/drawingml/2006/main" xmlns:r="http://schemas.openxmlformats.org/officeDocument/2006/relationships" xmlns:p="http://schemas.openxmlformats.org/presentationml/2006/main">
  <p:tag name="TIMING" val="|1.5|0.4"/>
</p:tagLst>
</file>

<file path=ppt/tags/tag21.xml><?xml version="1.0" encoding="utf-8"?>
<p:tagLst xmlns:a="http://schemas.openxmlformats.org/drawingml/2006/main" xmlns:r="http://schemas.openxmlformats.org/officeDocument/2006/relationships" xmlns:p="http://schemas.openxmlformats.org/presentationml/2006/main">
  <p:tag name="TIMING" val="|0.7|0.3|0.5|0.4|0.4|0.3|0.3|0.4|0.6|0.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8903</TotalTime>
  <Words>5870</Words>
  <Application>Microsoft Office PowerPoint</Application>
  <PresentationFormat>Widescreen</PresentationFormat>
  <Paragraphs>908</Paragraphs>
  <Slides>46</Slides>
  <Notes>46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Aptos</vt:lpstr>
      <vt:lpstr>Aptos Display</vt:lpstr>
      <vt:lpstr>Arial</vt:lpstr>
      <vt:lpstr>Cambria Math</vt:lpstr>
      <vt:lpstr>Fira Code</vt:lpstr>
      <vt:lpstr>Wingdings</vt:lpstr>
      <vt:lpstr>Office Theme</vt:lpstr>
      <vt:lpstr>Optimizing Memory Layouts and Traversal Orders in HPC</vt:lpstr>
      <vt:lpstr>Main focus</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No measurable runtime overhead</vt:lpstr>
      <vt:lpstr>Parallel computation</vt:lpstr>
      <vt:lpstr>Code metrics</vt:lpstr>
      <vt:lpstr>Autotuning</vt:lpstr>
      <vt:lpstr>Autotuning</vt:lpstr>
      <vt:lpstr>Distributed initialization using MPI</vt:lpstr>
      <vt:lpstr>Automatic transformation in communication</vt:lpstr>
      <vt:lpstr>Support for layout-agnostic data distribution</vt:lpstr>
      <vt:lpstr>Noarr-MPI does not introduce overhead</vt:lpstr>
      <vt:lpstr>Stencil computation abstractions</vt:lpstr>
      <vt:lpstr>Discrete stencils – Cellular  automata</vt:lpstr>
      <vt:lpstr>PowerPoint Presentation</vt:lpstr>
      <vt:lpstr>What the design allows us to gain</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C outperforms the abstractions</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 If not, why?</vt:lpstr>
      <vt:lpstr>Can Noarr naturally incorporate #pragma omp simd or SIMD-aware traversers</vt:lpstr>
      <vt:lpstr>Novelty in layout- and traversal-agnosticism</vt:lpstr>
      <vt:lpstr>Which of these ideas can be found in software like Kokkos or OpenMP's loop transformations?</vt:lpstr>
      <vt:lpstr>State of the art summary and our novelty</vt:lpstr>
      <vt:lpstr>Comparison table</vt:lpstr>
      <vt:lpstr>Genuine limitations of Noarr and Cellato</vt:lpstr>
      <vt:lpstr>Template-exclusive statements</vt:lpstr>
      <vt:lpstr>Why did the abstractions hinder the LLM</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598</cp:revision>
  <cp:lastPrinted>2026-09-06T20:26:24Z</cp:lastPrinted>
  <dcterms:created xsi:type="dcterms:W3CDTF">2026-08-08T18:10:38Z</dcterms:created>
  <dcterms:modified xsi:type="dcterms:W3CDTF">2026-09-07T17:02:53Z</dcterms:modified>
</cp:coreProperties>
</file>