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notesSlides/notesSlide4.xml" ContentType="application/vnd.openxmlformats-officedocument.presentationml.notesSlide+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6" r:id="rId2"/>
    <p:sldId id="322" r:id="rId3"/>
    <p:sldId id="277" r:id="rId4"/>
    <p:sldId id="296" r:id="rId5"/>
    <p:sldId id="297" r:id="rId6"/>
    <p:sldId id="283" r:id="rId7"/>
    <p:sldId id="314" r:id="rId8"/>
    <p:sldId id="326" r:id="rId9"/>
    <p:sldId id="284" r:id="rId10"/>
    <p:sldId id="285" r:id="rId11"/>
    <p:sldId id="323" r:id="rId12"/>
    <p:sldId id="278" r:id="rId13"/>
    <p:sldId id="325" r:id="rId14"/>
    <p:sldId id="300" r:id="rId15"/>
    <p:sldId id="286" r:id="rId16"/>
    <p:sldId id="290" r:id="rId17"/>
    <p:sldId id="279" r:id="rId18"/>
    <p:sldId id="324" r:id="rId19"/>
    <p:sldId id="287" r:id="rId20"/>
    <p:sldId id="316" r:id="rId21"/>
    <p:sldId id="302" r:id="rId22"/>
    <p:sldId id="280" r:id="rId23"/>
    <p:sldId id="310" r:id="rId24"/>
    <p:sldId id="288" r:id="rId25"/>
    <p:sldId id="305" r:id="rId26"/>
    <p:sldId id="291" r:id="rId27"/>
    <p:sldId id="306" r:id="rId28"/>
    <p:sldId id="315" r:id="rId29"/>
    <p:sldId id="308" r:id="rId30"/>
    <p:sldId id="309" r:id="rId31"/>
    <p:sldId id="266" r:id="rId32"/>
    <p:sldId id="312" r:id="rId33"/>
    <p:sldId id="262" r:id="rId34"/>
    <p:sldId id="327" r:id="rId35"/>
    <p:sldId id="328" r:id="rId36"/>
    <p:sldId id="331" r:id="rId37"/>
    <p:sldId id="329" r:id="rId38"/>
    <p:sldId id="330" r:id="rId39"/>
    <p:sldId id="320" r:id="rId40"/>
    <p:sldId id="318" r:id="rId41"/>
    <p:sldId id="319" r:id="rId42"/>
    <p:sldId id="317" r:id="rId43"/>
    <p:sldId id="321" r:id="rId44"/>
    <p:sldId id="311" r:id="rId4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326"/>
            <p14:sldId id="284"/>
            <p14:sldId id="285"/>
            <p14:sldId id="323"/>
            <p14:sldId id="278"/>
            <p14:sldId id="325"/>
            <p14:sldId id="300"/>
            <p14:sldId id="286"/>
            <p14:sldId id="290"/>
            <p14:sldId id="279"/>
            <p14:sldId id="324"/>
            <p14:sldId id="287"/>
            <p14:sldId id="316"/>
            <p14:sldId id="302"/>
            <p14:sldId id="280"/>
            <p14:sldId id="310"/>
          </p14:sldIdLst>
        </p14:section>
        <p14:section name="llms" id="{2FE3CF17-CBFB-48E9-A3BF-DD99B7D2F01E}">
          <p14:sldIdLst>
            <p14:sldId id="288"/>
            <p14:sldId id="305"/>
            <p14:sldId id="291"/>
            <p14:sldId id="306"/>
            <p14:sldId id="315"/>
            <p14:sldId id="308"/>
            <p14:sldId id="309"/>
          </p14:sldIdLst>
        </p14:section>
        <p14:section name="summary" id="{D3BAAF83-51D3-4EFD-B7CC-7BA6DAC4A838}">
          <p14:sldIdLst>
            <p14:sldId id="266"/>
            <p14:sldId id="312"/>
          </p14:sldIdLst>
        </p14:section>
        <p14:section name="Review comments and questions" id="{40190F67-0659-405D-810E-4AC194B72FA5}">
          <p14:sldIdLst>
            <p14:sldId id="262"/>
            <p14:sldId id="327"/>
            <p14:sldId id="328"/>
            <p14:sldId id="331"/>
            <p14:sldId id="329"/>
            <p14:sldId id="330"/>
            <p14:sldId id="320"/>
            <p14:sldId id="318"/>
            <p14:sldId id="319"/>
            <p14:sldId id="317"/>
            <p14:sldId id="321"/>
          </p14:sldIdLst>
        </p14:section>
        <p14:section name="supplementary" id="{5D95F6E9-DF15-476C-BE69-BBEF48AA8B86}">
          <p14:sldIdLst>
            <p14:sldId id="31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DDD"/>
    <a:srgbClr val="FFFFFF"/>
    <a:srgbClr val="FBA9ED"/>
    <a:srgbClr val="BED6FA"/>
    <a:srgbClr val="B4D0FA"/>
    <a:srgbClr val="FEC842"/>
    <a:srgbClr val="FECB4C"/>
    <a:srgbClr val="FED160"/>
    <a:srgbClr val="FED46A"/>
    <a:srgbClr val="94F29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9144" autoAdjust="0"/>
    <p:restoredTop sz="75845" autoAdjust="0"/>
  </p:normalViewPr>
  <p:slideViewPr>
    <p:cSldViewPr snapToGrid="0">
      <p:cViewPr>
        <p:scale>
          <a:sx n="100" d="100"/>
          <a:sy n="100" d="100"/>
        </p:scale>
        <p:origin x="3780" y="540"/>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sz="1200" b="0" kern="1200" dirty="0" err="1">
                <a:solidFill>
                  <a:schemeClr val="tx1"/>
                </a:solidFill>
                <a:effectLst/>
                <a:latin typeface="+mn-lt"/>
                <a:ea typeface="+mn-ea"/>
                <a:cs typeface="+mn-cs"/>
              </a:rPr>
              <a:t>Jenom</a:t>
            </a:r>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pozdrav</a:t>
            </a:r>
            <a:endParaRPr lang="en-U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dirty="0"/>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My research </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endParaRPr lang="en-US" dirty="0"/>
          </a:p>
          <a:p>
            <a:r>
              <a:rPr lang="en-US" dirty="0"/>
              <a:t>This affects hardware mechanisms such as caching, which makes accesses to close-by elements faster.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As the correct choices in real-world algorithms with more complex data structures and traversals may not be so obvious,</a:t>
            </a:r>
          </a:p>
          <a:p>
            <a:r>
              <a:rPr lang="en-US" dirty="0"/>
              <a:t>we focused on *layout-agnostic* design of algorithms, which minimizes reliance on specific memory layouts of the data structures.</a:t>
            </a:r>
            <a:br>
              <a:rPr lang="en-US" dirty="0"/>
            </a:br>
            <a:endParaRPr lang="en-US" dirty="0"/>
          </a:p>
          <a:p>
            <a:r>
              <a:rPr lang="en-US" dirty="0"/>
              <a:t>Using the same example, it accesses the matrix using the two-dimensional *index space*, while the specific *physical memory layout* is decoupled from the algorithm design.</a:t>
            </a:r>
          </a:p>
          <a:p>
            <a:endParaRPr lang="en-US" dirty="0"/>
          </a:p>
          <a:p>
            <a:r>
              <a:rPr lang="en-US" dirty="0"/>
              <a:t>The mapping from the index space to a physical memory layout forms a *layout abstraction*, commonly expressed as a linear function of the indices.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have implemented a native C++ abstraction using templates to ensure portability and minimal runtime overhead with no need for custom tooling.</a:t>
            </a:r>
          </a:p>
          <a:p>
            <a:r>
              <a:rPr lang="en-US" dirty="0"/>
              <a:t>It is based on composable *building blocks*, such as </a:t>
            </a:r>
            <a:r>
              <a:rPr lang="en-US"/>
              <a:t>*scalar*, </a:t>
            </a:r>
            <a:r>
              <a:rPr lang="en-US" dirty="0"/>
              <a:t>which names a single value, </a:t>
            </a:r>
            <a:r>
              <a:rPr lang="en-US"/>
              <a:t>or *vector*, </a:t>
            </a:r>
            <a:r>
              <a:rPr lang="en-US" dirty="0"/>
              <a:t>which extends the given layout with one named dimension.</a:t>
            </a:r>
          </a:p>
          <a:p>
            <a:endParaRPr lang="en-US" dirty="0"/>
          </a:p>
          <a:p>
            <a:r>
              <a:rPr lang="en-US" dirty="0"/>
              <a:t>A data structure with dimensions m and n can be indexed with an index point with the appropriate dimensions.</a:t>
            </a:r>
          </a:p>
          <a:p>
            <a:r>
              <a:rPr lang="en-US" dirty="0"/>
              <a:t>The encoded dimension names ensure that the indices are correctly paired with dimensions.</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a:t>
            </a:r>
            <a:r>
              <a:rPr lang="en-US"/>
              <a:t>simple *bag* </a:t>
            </a:r>
            <a:r>
              <a:rPr lang="en-US" dirty="0"/>
              <a:t>constructor, which automatically manages an appropriate memory buffer.</a:t>
            </a:r>
          </a:p>
          <a:p>
            <a:r>
              <a:rPr lang="en-US" dirty="0"/>
              <a:t>If we require the </a:t>
            </a:r>
            <a:r>
              <a:rPr lang="cs-CZ" dirty="0"/>
              <a:t>data </a:t>
            </a:r>
            <a:r>
              <a:rPr lang="en-US" dirty="0"/>
              <a:t>to reside in a</a:t>
            </a:r>
            <a:r>
              <a:rPr lang="cs-CZ" dirty="0"/>
              <a:t> </a:t>
            </a:r>
            <a:r>
              <a:rPr lang="en-US" noProof="0" dirty="0"/>
              <a:t>specific</a:t>
            </a:r>
            <a:r>
              <a:rPr lang="cs-CZ" dirty="0"/>
              <a:t> buffer</a:t>
            </a:r>
            <a:r>
              <a:rPr lang="en-US" dirty="0"/>
              <a:t>, we can supply it ourselves to create a non-owning view to the data</a:t>
            </a:r>
            <a:r>
              <a:rPr lang="cs-CZ" dirty="0"/>
              <a:t>.</a:t>
            </a:r>
            <a:endParaRPr lang="en-US" dirty="0"/>
          </a:p>
          <a:p>
            <a:endParaRPr lang="cs-CZ"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index space.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dirty="0"/>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(key idea: introducing abstraction for traversal-agnostic algorithms – traversers)</a:t>
            </a:r>
            <a:br>
              <a:rPr lang="en-US" noProof="0" dirty="0"/>
            </a:br>
            <a:br>
              <a:rPr lang="en-US" noProof="0" dirty="0"/>
            </a:br>
            <a:r>
              <a:rPr lang="en-US" noProof="0" dirty="0"/>
              <a:t>(with bridge: which enables traversal-agnostic design)</a:t>
            </a:r>
          </a:p>
          <a:p>
            <a:r>
              <a:rPr lang="en-US" noProof="0" dirty="0"/>
              <a:t>(without bridge: After carefully assessing how the principles play into defining layout-agnostic algorithms, we have extended the approach to define traversals as well, enabling traversal-agnostic design.)</a:t>
            </a:r>
          </a:p>
          <a:p>
            <a:endParaRPr lang="en-US" noProof="0" dirty="0"/>
          </a:p>
          <a:p>
            <a:r>
              <a:rPr lang="en-US" noProof="0" dirty="0"/>
              <a:t>For that, we have devised a traverser abstraction.</a:t>
            </a:r>
          </a:p>
          <a:p>
            <a:r>
              <a:rPr lang="en-US" noProof="0" dirty="0"/>
              <a:t>For a single structure, the traverser offers the functionality of a for-each algorithm – we can thus write the earlier shown initialization algorithm without relying on the dimensions of the structure.</a:t>
            </a:r>
          </a:p>
          <a:p>
            <a:r>
              <a:rPr lang="en-US" noProof="0" dirty="0"/>
              <a:t>The dimensions are traversed automatically and composed into an index point that is given as an argument to a lambda expression specifying the element-wise action on the traversed structure.</a:t>
            </a:r>
            <a:br>
              <a:rPr lang="en-US" noProof="0" dirty="0"/>
            </a:br>
            <a:br>
              <a:rPr lang="en-US" noProof="0" dirty="0"/>
            </a:br>
            <a:r>
              <a:rPr lang="en-US" noProof="0"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If the structures use different physical layouts, the same algorithm automatically converts between the memory layouts.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noProof="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t>Generalizing this to a situation with different index spaces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a:t>
            </a:r>
          </a:p>
          <a:p>
            <a:r>
              <a:rPr lang="en-US" dirty="0"/>
              <a:t>Let’s show that on the matrix multiplication algorithm, which can be expressed as a three-dimensional loop nest.</a:t>
            </a:r>
          </a:p>
          <a:p>
            <a:endParaRPr lang="en-US" dirty="0"/>
          </a:p>
          <a:p>
            <a:r>
              <a:rPr lang="en-US" dirty="0"/>
              <a:t>We can define the same traversal by simply using the traverser on the three data structures.</a:t>
            </a:r>
          </a:p>
          <a:p>
            <a:endParaRPr lang="en-US" dirty="0"/>
          </a:p>
          <a:p>
            <a:r>
              <a:rPr lang="en-US" dirty="0"/>
              <a:t>It extracts the dimensions from the provided data structures and represents a loop nest from unique copies of the dimension.</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45A5D-911E-326E-C9A3-9C3EB7DB5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C4EFE1-B0C5-BDA3-347D-3368CED5717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70F7586-8B8C-9621-4AFF-13A63F5D168A}"/>
              </a:ext>
            </a:extLst>
          </p:cNvPr>
          <p:cNvSpPr>
            <a:spLocks noGrp="1"/>
          </p:cNvSpPr>
          <p:nvPr>
            <p:ph type="body" idx="1"/>
          </p:nvPr>
        </p:nvSpPr>
        <p:spPr/>
        <p:txBody>
          <a:bodyPr/>
          <a:lstStyle/>
          <a:p>
            <a:r>
              <a:rPr lang="en-US" dirty="0"/>
              <a:t>(key idea: optimizing the traversal)</a:t>
            </a:r>
          </a:p>
          <a:p>
            <a:endParaRPr lang="en-US" dirty="0"/>
          </a:p>
          <a:p>
            <a:r>
              <a:rPr lang="en-US" dirty="0"/>
              <a:t>(…)</a:t>
            </a:r>
          </a:p>
          <a:p>
            <a:endParaRPr lang="en-US" dirty="0"/>
          </a:p>
          <a:p>
            <a:r>
              <a:rPr lang="en-US" dirty="0"/>
              <a:t>Let’s say we want to perform the matrix multiplication by tiles of the output to improve the caching behavior.</a:t>
            </a:r>
            <a:br>
              <a:rPr lang="en-US" dirty="0"/>
            </a:br>
            <a:r>
              <a:rPr lang="en-US" dirty="0"/>
              <a:t>We can define a transformation using the same principles as the layouts and then apply it to the traverser.</a:t>
            </a:r>
          </a:p>
          <a:p>
            <a:endParaRPr lang="en-US" dirty="0"/>
          </a:p>
          <a:p>
            <a:r>
              <a:rPr lang="en-US" dirty="0"/>
              <a:t>(…)</a:t>
            </a:r>
          </a:p>
        </p:txBody>
      </p:sp>
      <p:sp>
        <p:nvSpPr>
          <p:cNvPr id="4" name="Slide Number Placeholder 3">
            <a:extLst>
              <a:ext uri="{FF2B5EF4-FFF2-40B4-BE49-F238E27FC236}">
                <a16:creationId xmlns:a16="http://schemas.microsoft.com/office/drawing/2014/main" id="{0E987452-59B1-C67B-B782-0C8B96ABBD42}"/>
              </a:ext>
            </a:extLst>
          </p:cNvPr>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77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parallelizing the traversal)</a:t>
            </a:r>
          </a:p>
          <a:p>
            <a:endParaRPr lang="en-US" dirty="0"/>
          </a:p>
          <a:p>
            <a:r>
              <a:rPr lang="en-US" dirty="0"/>
              <a:t>(…)</a:t>
            </a:r>
          </a:p>
          <a:p>
            <a:endParaRPr lang="en-US" dirty="0"/>
          </a:p>
          <a:p>
            <a:r>
              <a:rPr lang="en-US" dirty="0"/>
              <a:t>We can also parallelize the computation on CPU using various parallel backends such as OpenMP or Threading Building Blocks using dedicated for_each executors.</a:t>
            </a:r>
          </a:p>
          <a:p>
            <a:r>
              <a:rPr lang="en-US" dirty="0"/>
              <a:t>For parallelization using the CUDA framework, we define cuda_traversers, which bind the traversal to the GPU and then run the computation in many threads.</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autotuners)</a:t>
            </a:r>
          </a:p>
          <a:p>
            <a:endParaRPr lang="en-US" dirty="0"/>
          </a:p>
          <a:p>
            <a:r>
              <a:rPr lang="en-US" dirty="0"/>
              <a:t>Even with the transformations and parallelization being easily directable by the user, the exploration takes manual effort.</a:t>
            </a:r>
          </a:p>
          <a:p>
            <a:r>
              <a:rPr lang="en-US" dirty="0"/>
              <a:t>Thus, we have implemented an autotuning interface for these abstractions.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And define the same parameter on the autotuner’s side</a:t>
            </a:r>
          </a:p>
          <a:p>
            <a:pPr marL="0" indent="0">
              <a:buFontTx/>
              <a:buNone/>
            </a:pPr>
            <a:endParaRPr lang="en-US" dirty="0"/>
          </a:p>
          <a:p>
            <a:pPr marL="0" indent="0">
              <a:buFontTx/>
              <a:buNone/>
            </a:pPr>
            <a:r>
              <a:rPr lang="en-US" dirty="0"/>
              <a:t>The autotuner-provided values may be used in preprocessor directives to choose between different layouts or injected into the code.</a:t>
            </a:r>
          </a:p>
          <a:p>
            <a:pPr marL="0" indent="0">
              <a:buFontTx/>
              <a:buNone/>
            </a:pPr>
            <a:endParaRPr lang="en-US" dirty="0"/>
          </a:p>
          <a:p>
            <a:pPr marL="0" indent="0">
              <a:buFontTx/>
              <a:buNone/>
            </a:pPr>
            <a:r>
              <a:rPr lang="en-US" dirty="0"/>
              <a:t>This creates an unnecessary amount of boilerplate code that is difficult to maintain and error-prone.</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 and using them as regular constants.</a:t>
            </a:r>
          </a:p>
          <a:p>
            <a:br>
              <a:rPr lang="en-US" dirty="0"/>
            </a:br>
            <a:r>
              <a:rPr lang="en-US" dirty="0"/>
              <a:t>This specification is independent of the autotuning backend, and the whole autotuning process is handled automatically, 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a:t>
            </a:r>
            <a:r>
              <a:rPr lang="en-US" dirty="0" err="1"/>
              <a:t>PolyBench</a:t>
            </a:r>
            <a:r>
              <a:rPr lang="en-US" dirty="0"/>
              <a:t>/C, a standard HPC benchmark suite with algorithms from different areas, reimplementing each algorithm using Noarr and comparing them to the C baselines.</a:t>
            </a:r>
          </a:p>
          <a:p>
            <a:endParaRPr lang="en-US" dirty="0"/>
          </a:p>
          <a:p>
            <a:r>
              <a:rPr lang="en-US" dirty="0"/>
              <a:t>The plot shows the relative speedup, highlighting the difference in performance; most implementations perform on par, showing the abstraction does not introduce measurable runtime overhead.</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4231C-99AF-A37D-3B97-99027AECD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6B43E-916F-F0E8-143C-150E2EA8DA7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834A780-56D1-B3D7-FD6B-22EBBB772E35}"/>
              </a:ext>
            </a:extLst>
          </p:cNvPr>
          <p:cNvSpPr>
            <a:spLocks noGrp="1"/>
          </p:cNvSpPr>
          <p:nvPr>
            <p:ph type="body" idx="1"/>
          </p:nvPr>
        </p:nvSpPr>
        <p:spPr/>
        <p:txBody>
          <a:bodyPr/>
          <a:lstStyle/>
          <a:p>
            <a:r>
              <a:rPr lang="en-US" dirty="0"/>
              <a:t>(key idea: the abstractions pose no runtime overhead)</a:t>
            </a:r>
          </a:p>
          <a:p>
            <a:endParaRPr lang="en-US" dirty="0"/>
          </a:p>
          <a:p>
            <a:r>
              <a:rPr lang="en-US" dirty="0"/>
              <a:t>(…)</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a:extLst>
              <a:ext uri="{FF2B5EF4-FFF2-40B4-BE49-F238E27FC236}">
                <a16:creationId xmlns:a16="http://schemas.microsoft.com/office/drawing/2014/main" id="{9CDDD263-2623-C8A3-A72C-EAD1D38E6FD1}"/>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1425210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pPr marL="0" indent="0">
              <a:buNone/>
            </a:pPr>
            <a:endParaRPr lang="en-US" dirty="0"/>
          </a:p>
          <a:p>
            <a:pPr marL="0" indent="0">
              <a:buNone/>
            </a:pPr>
            <a:r>
              <a:rPr lang="en-US" dirty="0"/>
              <a:t>Binding a traversal dimension to the participating MPI ranks described by an MPI communicator.</a:t>
            </a:r>
          </a:p>
          <a:p>
            <a:pPr marL="0" indent="0">
              <a:buNone/>
            </a:pPr>
            <a:r>
              <a:rPr lang="en-US" dirty="0"/>
              <a:t>For the binding, we implemented an MPI traverser that binds the communicator to a specified dimension.</a:t>
            </a:r>
          </a:p>
          <a:p>
            <a:pPr marL="0" indent="0">
              <a:buNone/>
            </a:pPr>
            <a:endParaRPr lang="en-US" dirty="0"/>
          </a:p>
          <a:p>
            <a:pPr marL="0" indent="0">
              <a:buNone/>
            </a:pPr>
            <a:r>
              <a:rPr lang="en-US" dirty="0"/>
              <a:t>This then allows us to define the derived local tile and instantiate it similarly to the serial implementation.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type translation worked naïvely by following the physical layout, the logical ordering of the data could be lost.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follows the logical ordering of the elements based on the index space and sends them correctly.</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Our approach is the only one that automatically handles differing physical layouts of multidimensional data on opposite endpoints of communication,</a:t>
            </a:r>
          </a:p>
          <a:p>
            <a:r>
              <a:rPr lang="en-US" dirty="0"/>
              <a:t>checks type safety and supports collective operations such as scatter and gather.</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83BFA-8783-1636-904D-607405B476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AAE5-A878-F56E-4C09-318E4AB2FA9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C7B76B8-E708-FD49-531B-1B09985ABB4E}"/>
              </a:ext>
            </a:extLst>
          </p:cNvPr>
          <p:cNvSpPr>
            <a:spLocks noGrp="1"/>
          </p:cNvSpPr>
          <p:nvPr>
            <p:ph type="body" idx="1"/>
          </p:nvPr>
        </p:nvSpPr>
        <p:spPr/>
        <p:txBody>
          <a:bodyPr/>
          <a:lstStyle/>
          <a:p>
            <a:r>
              <a:rPr lang="en-US" dirty="0"/>
              <a:t>(key idea: it is very great)</a:t>
            </a:r>
          </a:p>
          <a:p>
            <a:endParaRPr lang="en-US" dirty="0"/>
          </a:p>
          <a:p>
            <a:r>
              <a:rPr lang="en-US" dirty="0"/>
              <a:t>(…)</a:t>
            </a:r>
          </a:p>
          <a:p>
            <a:endParaRPr lang="en-US" dirty="0"/>
          </a:p>
          <a:p>
            <a:r>
              <a:rPr lang="en-US" dirty="0"/>
              <a:t>In terms of performance, our approach does not add a significant overhead compared to a hand-written native MPI distributed computation.</a:t>
            </a:r>
          </a:p>
          <a:p>
            <a:endParaRPr lang="en-US" dirty="0"/>
          </a:p>
          <a:p>
            <a:r>
              <a:rPr lang="en-US" dirty="0"/>
              <a:t>Here we show the runtime of an application using various bindings; lower is better.</a:t>
            </a:r>
          </a:p>
          <a:p>
            <a:endParaRPr lang="en-US" dirty="0"/>
          </a:p>
          <a:p>
            <a:r>
              <a:rPr lang="en-US" dirty="0"/>
              <a:t>The plot on the left shows the computation on small data of various layouts, highlighting the possible performance overhead introduced by the MPI bindings,</a:t>
            </a:r>
            <a:br>
              <a:rPr lang="en-US" dirty="0"/>
            </a:br>
            <a:r>
              <a:rPr lang="en-US" dirty="0"/>
              <a:t>while the one on the right highlights possible performance differences between different choices of layouts.</a:t>
            </a:r>
          </a:p>
          <a:p>
            <a:endParaRPr lang="en-US" dirty="0"/>
          </a:p>
          <a:p>
            <a:r>
              <a:rPr lang="en-US" dirty="0"/>
              <a:t>In both plots, our approach performs on par with the hand-written implementation.</a:t>
            </a:r>
          </a:p>
        </p:txBody>
      </p:sp>
      <p:sp>
        <p:nvSpPr>
          <p:cNvPr id="4" name="Slide Number Placeholder 3">
            <a:extLst>
              <a:ext uri="{FF2B5EF4-FFF2-40B4-BE49-F238E27FC236}">
                <a16:creationId xmlns:a16="http://schemas.microsoft.com/office/drawing/2014/main" id="{ECDBFCA8-23DF-8800-D1EA-B5EF55065B8A}"/>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10073232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Here, we visualize possible speedup gains enabled by the applicable optimization strategies on multiple cellular automata.</a:t>
            </a:r>
          </a:p>
          <a:p>
            <a:r>
              <a:rPr lang="en-US" dirty="0"/>
              <a:t>The plot shows that for most of the automata, the right choice of (automatically applied) optimizations may lead to two orders of magnitude over already GPU-parallelized solutions.</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the practical usefulness of abstractions in many aspects of HPC algorithm design.</a:t>
            </a:r>
          </a:p>
          <a:p>
            <a:endParaRPr lang="en-US" dirty="0"/>
          </a:p>
          <a:p>
            <a:r>
              <a:rPr lang="en-US" dirty="0"/>
              <a:t>These abstractions make the developed algorithms easier to write, more flexible to transform, and allow automatic exploration of optimizations.</a:t>
            </a:r>
          </a:p>
          <a:p>
            <a:endParaRPr lang="en-US" dirty="0"/>
          </a:p>
          <a:p>
            <a:r>
              <a:rPr lang="en-US" dirty="0"/>
              <a:t>Reacting to the recent introduction of Large language models to the area of software design, we studied their ability to optimize code.</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0" indent="0">
              <a:buFontTx/>
              <a:buNone/>
            </a:pPr>
            <a:r>
              <a:rPr lang="en-US" dirty="0"/>
              <a:t>The three algorithms represent implementation problems of increasing complexity.</a:t>
            </a:r>
          </a:p>
          <a:p>
            <a:pPr marL="0" indent="0">
              <a:buFontTx/>
              <a:buNone/>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runtime measurements of the generated code for the Histogram and Game of Life algorithms. (lower is better)</a:t>
            </a:r>
          </a:p>
          <a:p>
            <a:endParaRPr lang="en-US" dirty="0"/>
          </a:p>
          <a:p>
            <a:r>
              <a:rPr lang="en-US" dirty="0"/>
              <a:t>The x-axis of both indicates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endParaRPr lang="en-US" dirty="0"/>
          </a:p>
          <a:p>
            <a:r>
              <a:rPr lang="en-US" dirty="0"/>
              <a:t>Both have their strengths and weaknesses;</a:t>
            </a:r>
          </a:p>
          <a:p>
            <a:pPr marL="171450" indent="-171450">
              <a:buFontTx/>
              <a:buChar char="-"/>
            </a:pPr>
            <a:r>
              <a:rPr lang="en-US" dirty="0"/>
              <a:t>Abstractions may improve interpretability of the code and they are deterministic;</a:t>
            </a:r>
            <a:br>
              <a:rPr lang="en-US" dirty="0"/>
            </a:br>
            <a:r>
              <a:rPr lang="en-US" dirty="0"/>
              <a:t>however, they require some learning and may not apply well to specific algorithms</a:t>
            </a:r>
          </a:p>
          <a:p>
            <a:pPr marL="171450" indent="-171450">
              <a:buFontTx/>
              <a:buChar char="-"/>
            </a:pPr>
            <a:r>
              <a:rPr lang="en-US" dirty="0"/>
              <a:t>LLMs are much more flexible and can significantly improve automation;</a:t>
            </a:r>
            <a:br>
              <a:rPr lang="en-US" dirty="0"/>
            </a:br>
            <a:r>
              <a:rPr lang="en-US" dirty="0"/>
              <a:t>on the other hand, they are fundamentally stochastic and may produce complex outputs difficult to interpret.</a:t>
            </a:r>
          </a:p>
          <a:p>
            <a:pPr marL="0" indent="0">
              <a:buFontTx/>
              <a:buNone/>
            </a:pPr>
            <a:endParaRPr lang="en-US" dirty="0"/>
          </a:p>
          <a:p>
            <a:pPr marL="0" indent="0">
              <a:buFontTx/>
              <a:buNone/>
            </a:pPr>
            <a:r>
              <a:rPr lang="en-US" dirty="0"/>
              <a:t>In our next work, we combine the two approaches to get the benefits of both.</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we show the expected speedup and validity for the different abstractions and C. (in both cases, upper is better)</a:t>
            </a:r>
          </a:p>
          <a:p>
            <a:r>
              <a:rPr lang="en-US" dirty="0"/>
              <a:t>The x-axis shows the number of attempts; more attempts generally lead to a higher chance of finding a successful optimization.</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a:t>
            </a:r>
          </a:p>
          <a:p>
            <a:r>
              <a:rPr lang="en-US" dirty="0"/>
              <a:t>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40</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42</a:t>
            </a:fld>
            <a:endParaRPr lang="en-US"/>
          </a:p>
        </p:txBody>
      </p:sp>
    </p:spTree>
    <p:extLst>
      <p:ext uri="{BB962C8B-B14F-4D97-AF65-F5344CB8AC3E}">
        <p14:creationId xmlns:p14="http://schemas.microsoft.com/office/powerpoint/2010/main" val="41791213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44</a:t>
            </a:fld>
            <a:endParaRPr lang="en-US"/>
          </a:p>
        </p:txBody>
      </p:sp>
    </p:spTree>
    <p:extLst>
      <p:ext uri="{BB962C8B-B14F-4D97-AF65-F5344CB8AC3E}">
        <p14:creationId xmlns:p14="http://schemas.microsoft.com/office/powerpoint/2010/main" val="3665500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pPr/>
              <a:t>9/4/2026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pPr/>
              <a:t>‹#›</a:t>
            </a:fld>
            <a:endParaRPr lang="en-US" dirty="0"/>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9/4/2026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9/4/2026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9/4/2026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9/4/2026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9/4/2026</a:t>
            </a:fld>
            <a:endParaRPr lang="en-US" dirty="0"/>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9/4/2026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9/4/2026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9/4/2026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9/4/2026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9/4/2026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auto">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488578" y="18255"/>
            <a:ext cx="11214844"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488578" y="1343818"/>
            <a:ext cx="11214844" cy="531495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488578" y="6356350"/>
            <a:ext cx="2743200" cy="365125"/>
          </a:xfrm>
          <a:prstGeom prst="rect">
            <a:avLst/>
          </a:prstGeom>
        </p:spPr>
        <p:txBody>
          <a:bodyPr vert="horz" lIns="91440" tIns="45720" rIns="91440" bIns="45720" rtlCol="0" anchor="ctr"/>
          <a:lstStyle>
            <a:lvl1pPr algn="l">
              <a:defRPr sz="2000">
                <a:solidFill>
                  <a:schemeClr val="tx1">
                    <a:tint val="82000"/>
                  </a:schemeClr>
                </a:solidFill>
              </a:defRPr>
            </a:lvl1pPr>
          </a:lstStyle>
          <a:p>
            <a:fld id="{FDEB8912-975C-4DE8-9A59-8B9C133AEEC5}" type="datetime1">
              <a:rPr lang="en-US" smtClean="0"/>
              <a:pPr/>
              <a:t>9/4/2026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9148482" y="6356349"/>
            <a:ext cx="2743200" cy="365125"/>
          </a:xfrm>
          <a:prstGeom prst="rect">
            <a:avLst/>
          </a:prstGeom>
        </p:spPr>
        <p:txBody>
          <a:bodyPr vert="horz" lIns="91440" tIns="45720" rIns="91440" bIns="45720" rtlCol="0" anchor="ctr"/>
          <a:lstStyle>
            <a:lvl1pPr algn="r">
              <a:defRPr sz="2000">
                <a:solidFill>
                  <a:schemeClr val="tx1">
                    <a:tint val="82000"/>
                  </a:schemeClr>
                </a:solidFill>
              </a:defRPr>
            </a:lvl1pPr>
          </a:lstStyle>
          <a:p>
            <a:fld id="{DA0BB241-1B5F-4309-9407-9EEA04D9598D}" type="slidenum">
              <a:rPr lang="en-US" smtClean="0"/>
              <a:pPr/>
              <a:t>‹#›</a:t>
            </a:fld>
            <a:endParaRPr lang="en-US"/>
          </a:p>
        </p:txBody>
      </p:sp>
      <p:pic>
        <p:nvPicPr>
          <p:cNvPr id="10" name="Picture 9">
            <a:extLst>
              <a:ext uri="{FF2B5EF4-FFF2-40B4-BE49-F238E27FC236}">
                <a16:creationId xmlns:a16="http://schemas.microsoft.com/office/drawing/2014/main" id="{75577D58-7A11-E289-9D1F-308CA3E6101F}"/>
              </a:ext>
            </a:extLst>
          </p:cNvPr>
          <p:cNvPicPr>
            <a:picLocks noChangeAspect="1" noChangeArrowheads="1"/>
          </p:cNvPicPr>
          <p:nvPr userDrawn="1"/>
        </p:nvPicPr>
        <p:blipFill>
          <a:blip r:embed="rId13">
            <a:alphaModFix amt="90000"/>
            <a:extLst>
              <a:ext uri="{28A0092B-C50C-407E-A947-70E740481C1C}">
                <a14:useLocalDpi xmlns:a14="http://schemas.microsoft.com/office/drawing/2010/main" val="0"/>
              </a:ext>
            </a:extLst>
          </a:blip>
          <a:srcRect/>
          <a:stretch>
            <a:fillRect/>
          </a:stretch>
        </p:blipFill>
        <p:spPr bwMode="auto">
          <a:xfrm>
            <a:off x="10719386" y="382029"/>
            <a:ext cx="1172296" cy="598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notesSlide" Target="../notesSlides/notesSlide3.xml"/><Relationship Id="rId7" Type="http://schemas.openxmlformats.org/officeDocument/2006/relationships/image" Target="../media/image7.png"/><Relationship Id="rId2" Type="http://schemas.openxmlformats.org/officeDocument/2006/relationships/slideLayout" Target="../slideLayouts/slideLayout6.xml"/><Relationship Id="rId1" Type="http://schemas.openxmlformats.org/officeDocument/2006/relationships/tags" Target="../tags/tag2.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18" Type="http://schemas.openxmlformats.org/officeDocument/2006/relationships/image" Target="../media/image23.png"/><Relationship Id="rId3" Type="http://schemas.openxmlformats.org/officeDocument/2006/relationships/notesSlide" Target="../notesSlides/notesSlide4.xml"/><Relationship Id="rId17" Type="http://schemas.openxmlformats.org/officeDocument/2006/relationships/image" Target="../media/image22.png"/><Relationship Id="rId2" Type="http://schemas.openxmlformats.org/officeDocument/2006/relationships/slideLayout" Target="../slideLayouts/slideLayout6.xml"/><Relationship Id="rId20" Type="http://schemas.openxmlformats.org/officeDocument/2006/relationships/image" Target="../media/image25.png"/><Relationship Id="rId1" Type="http://schemas.openxmlformats.org/officeDocument/2006/relationships/tags" Target="../tags/tag3.xml"/><Relationship Id="rId19" Type="http://schemas.openxmlformats.org/officeDocument/2006/relationships/image" Target="../media/image2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6.xml"/><Relationship Id="rId1" Type="http://schemas.openxmlformats.org/officeDocument/2006/relationships/tags" Target="../tags/tag5.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10.png"/><Relationship Id="rId7" Type="http://schemas.openxmlformats.org/officeDocument/2006/relationships/image" Target="../media/image32.png"/><Relationship Id="rId12"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31.png"/><Relationship Id="rId11" Type="http://schemas.openxmlformats.org/officeDocument/2006/relationships/image" Target="../media/image4.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1.png"/><Relationship Id="rId9" Type="http://schemas.openxmlformats.org/officeDocument/2006/relationships/image" Target="../media/image34.png"/></Relationships>
</file>

<file path=ppt/slides/_rels/slide8.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4.png"/><Relationship Id="rId7" Type="http://schemas.openxmlformats.org/officeDocument/2006/relationships/image" Target="../media/image42.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15.png"/><Relationship Id="rId9"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 Id="rId9" Type="http://schemas.openxmlformats.org/officeDocument/2006/relationships/image" Target="../media/image6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notesSlide" Target="../notesSlides/notesSlide19.xml"/><Relationship Id="rId1" Type="http://schemas.openxmlformats.org/officeDocument/2006/relationships/slideLayout" Target="../slideLayouts/slideLayout6.xml"/><Relationship Id="rId5" Type="http://schemas.openxmlformats.org/officeDocument/2006/relationships/image" Target="../media/image47.svg"/><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5.xml"/><Relationship Id="rId1" Type="http://schemas.openxmlformats.org/officeDocument/2006/relationships/slideLayout" Target="../slideLayouts/slideLayout6.xml"/><Relationship Id="rId5" Type="http://schemas.openxmlformats.org/officeDocument/2006/relationships/image" Target="../media/image48.png"/><Relationship Id="rId4" Type="http://schemas.openxmlformats.org/officeDocument/2006/relationships/image" Target="../media/image53.png"/></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6.xml"/><Relationship Id="rId1" Type="http://schemas.openxmlformats.org/officeDocument/2006/relationships/slideLayout" Target="../slideLayouts/slideLayout6.xml"/><Relationship Id="rId4" Type="http://schemas.openxmlformats.org/officeDocument/2006/relationships/image" Target="../media/image55.png"/></Relationships>
</file>

<file path=ppt/slides/_rels/slide2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57.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9.xml"/><Relationship Id="rId1" Type="http://schemas.openxmlformats.org/officeDocument/2006/relationships/slideLayout" Target="../slideLayouts/slideLayout6.xml"/><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8" Type="http://schemas.openxmlformats.org/officeDocument/2006/relationships/image" Target="../media/image65.svg"/><Relationship Id="rId3" Type="http://schemas.openxmlformats.org/officeDocument/2006/relationships/image" Target="../media/image60.svg"/><Relationship Id="rId7" Type="http://schemas.openxmlformats.org/officeDocument/2006/relationships/image" Target="../media/image64.svg"/><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image" Target="../media/image63.svg"/><Relationship Id="rId5" Type="http://schemas.openxmlformats.org/officeDocument/2006/relationships/image" Target="../media/image62.svg"/><Relationship Id="rId4" Type="http://schemas.openxmlformats.org/officeDocument/2006/relationships/image" Target="../media/image61.svg"/></Relationships>
</file>

<file path=ppt/slides/_rels/slide32.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9/4/2026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Simplifying and streamlining algorithm design for scientific computing</a:t>
            </a:r>
          </a:p>
          <a:p>
            <a:r>
              <a:rPr lang="en-US" noProof="0" dirty="0"/>
              <a:t>Regular data structures in nested loops</a:t>
            </a:r>
          </a:p>
          <a:p>
            <a:r>
              <a:rPr lang="en-US" noProof="0" dirty="0"/>
              <a:t>Optimizing memory accesses</a:t>
            </a:r>
          </a:p>
          <a:p>
            <a:pPr marL="0" indent="0">
              <a:buNone/>
            </a:pPr>
            <a:endParaRPr lang="en-US" dirty="0"/>
          </a:p>
          <a:p>
            <a:pPr marL="0" indent="0">
              <a:buNone/>
            </a:pPr>
            <a:endParaRPr lang="en-US" dirty="0"/>
          </a:p>
          <a:p>
            <a:pPr marL="0" indent="0">
              <a:buNone/>
            </a:pPr>
            <a:endParaRPr lang="en-US" noProof="0" dirty="0"/>
          </a:p>
          <a:p>
            <a:r>
              <a:rPr lang="en-US" noProof="0" dirty="0"/>
              <a:t>Layout and traversal abstractions</a:t>
            </a:r>
          </a:p>
          <a:p>
            <a:r>
              <a:rPr lang="en-US" noProof="0" dirty="0"/>
              <a:t>Parallelization and distributed computing</a:t>
            </a:r>
          </a:p>
          <a:p>
            <a:r>
              <a:rPr lang="en-US" noProof="0" dirty="0"/>
              <a:t>Sub-byte encoding and evaluation</a:t>
            </a:r>
          </a:p>
          <a:p>
            <a:r>
              <a:rPr lang="en-US" dirty="0"/>
              <a:t>Using large language models</a:t>
            </a:r>
            <a:endParaRPr lang="en-US" noProof="0"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Why layouts matter</a:t>
            </a:r>
          </a:p>
        </p:txBody>
      </p:sp>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4"/>
          <a:stretch>
            <a:fillRect/>
          </a:stretch>
        </p:blipFill>
        <p:spPr>
          <a:xfrm>
            <a:off x="2914089" y="4145062"/>
            <a:ext cx="1785102" cy="1774049"/>
          </a:xfrm>
          <a:prstGeom prst="rect">
            <a:avLst/>
          </a:prstGeom>
        </p:spPr>
      </p:pic>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4"/>
          <a:stretch>
            <a:fillRect/>
          </a:stretch>
        </p:blipFill>
        <p:spPr>
          <a:xfrm rot="16200000" flipH="1">
            <a:off x="7285278" y="4127242"/>
            <a:ext cx="1796224" cy="1785102"/>
          </a:xfrm>
          <a:prstGeom prst="rect">
            <a:avLst/>
          </a:prstGeom>
        </p:spPr>
      </p:pic>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3816318" y="1610496"/>
                <a:ext cx="3557256" cy="461665"/>
              </a:xfrm>
              <a:prstGeom prst="rect">
                <a:avLst/>
              </a:prstGeom>
              <a:noFill/>
            </p:spPr>
            <p:txBody>
              <a:bodyPr wrap="none" rtlCol="0" anchor="b">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initialization</a:t>
                </a:r>
                <a:endParaRPr lang="en-US" sz="2400" i="1" noProof="0" dirty="0"/>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3816318" y="1610496"/>
                <a:ext cx="3557256" cy="461665"/>
              </a:xfrm>
              <a:prstGeom prst="rect">
                <a:avLst/>
              </a:prstGeom>
              <a:blipFill>
                <a:blip r:embed="rId5"/>
                <a:stretch>
                  <a:fillRect t="-9211" r="-2397" b="-30263"/>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2285689" y="2047595"/>
            <a:ext cx="6618514" cy="1330685"/>
          </a:xfrm>
          <a:prstGeom prst="rect">
            <a:avLst/>
          </a:prstGeom>
          <a:no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9/4/2026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2998529" y="5942676"/>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019373" y="5951066"/>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2320137" y="5939902"/>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9075941" y="5917905"/>
            <a:ext cx="678392" cy="523220"/>
          </a:xfrm>
          <a:prstGeom prst="rect">
            <a:avLst/>
          </a:prstGeom>
          <a:noFill/>
        </p:spPr>
        <p:txBody>
          <a:bodyPr wrap="none" rtlCol="0">
            <a:spAutoFit/>
          </a:bodyPr>
          <a:lstStyle/>
          <a:p>
            <a:pPr algn="ctr"/>
            <a:r>
              <a:rPr lang="en-US" sz="2800" noProof="0" dirty="0"/>
              <a:t>🐌</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D8FA95F-2675-1FD6-BC91-3590519E9D21}"/>
                  </a:ext>
                </a:extLst>
              </p:cNvPr>
              <p:cNvSpPr txBox="1"/>
              <p:nvPr/>
            </p:nvSpPr>
            <p:spPr>
              <a:xfrm>
                <a:off x="2469117" y="4801253"/>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0" name="TextBox 9">
                <a:extLst>
                  <a:ext uri="{FF2B5EF4-FFF2-40B4-BE49-F238E27FC236}">
                    <a16:creationId xmlns:a16="http://schemas.microsoft.com/office/drawing/2014/main" id="{0D8FA95F-2675-1FD6-BC91-3590519E9D21}"/>
                  </a:ext>
                </a:extLst>
              </p:cNvPr>
              <p:cNvSpPr txBox="1">
                <a:spLocks noRot="1" noChangeAspect="1" noMove="1" noResize="1" noEditPoints="1" noAdjustHandles="1" noChangeArrowheads="1" noChangeShapeType="1" noTextEdit="1"/>
              </p:cNvSpPr>
              <p:nvPr/>
            </p:nvSpPr>
            <p:spPr>
              <a:xfrm>
                <a:off x="2469117" y="4801253"/>
                <a:ext cx="510524"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99167C-04A4-F722-8AAD-E9C93817DE28}"/>
                  </a:ext>
                </a:extLst>
              </p:cNvPr>
              <p:cNvSpPr txBox="1"/>
              <p:nvPr/>
            </p:nvSpPr>
            <p:spPr>
              <a:xfrm>
                <a:off x="7947754" y="3627378"/>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3" name="TextBox 12">
                <a:extLst>
                  <a:ext uri="{FF2B5EF4-FFF2-40B4-BE49-F238E27FC236}">
                    <a16:creationId xmlns:a16="http://schemas.microsoft.com/office/drawing/2014/main" id="{5D99167C-04A4-F722-8AAD-E9C93817DE28}"/>
                  </a:ext>
                </a:extLst>
              </p:cNvPr>
              <p:cNvSpPr txBox="1">
                <a:spLocks noRot="1" noChangeAspect="1" noMove="1" noResize="1" noEditPoints="1" noAdjustHandles="1" noChangeArrowheads="1" noChangeShapeType="1" noTextEdit="1"/>
              </p:cNvSpPr>
              <p:nvPr/>
            </p:nvSpPr>
            <p:spPr>
              <a:xfrm>
                <a:off x="7947754" y="3627378"/>
                <a:ext cx="428771"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78A7279-5F01-C120-7112-C7DEE7206658}"/>
                  </a:ext>
                </a:extLst>
              </p:cNvPr>
              <p:cNvSpPr txBox="1"/>
              <p:nvPr/>
            </p:nvSpPr>
            <p:spPr>
              <a:xfrm>
                <a:off x="6842324" y="4788960"/>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9" name="TextBox 18">
                <a:extLst>
                  <a:ext uri="{FF2B5EF4-FFF2-40B4-BE49-F238E27FC236}">
                    <a16:creationId xmlns:a16="http://schemas.microsoft.com/office/drawing/2014/main" id="{078A7279-5F01-C120-7112-C7DEE7206658}"/>
                  </a:ext>
                </a:extLst>
              </p:cNvPr>
              <p:cNvSpPr txBox="1">
                <a:spLocks noRot="1" noChangeAspect="1" noMove="1" noResize="1" noEditPoints="1" noAdjustHandles="1" noChangeArrowheads="1" noChangeShapeType="1" noTextEdit="1"/>
              </p:cNvSpPr>
              <p:nvPr/>
            </p:nvSpPr>
            <p:spPr>
              <a:xfrm>
                <a:off x="6842324" y="4788960"/>
                <a:ext cx="510524"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385C36A-8F48-E47B-7C6E-E9CE50E27705}"/>
                  </a:ext>
                </a:extLst>
              </p:cNvPr>
              <p:cNvSpPr txBox="1"/>
              <p:nvPr/>
            </p:nvSpPr>
            <p:spPr>
              <a:xfrm>
                <a:off x="3585324" y="3674263"/>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3" name="TextBox 22">
                <a:extLst>
                  <a:ext uri="{FF2B5EF4-FFF2-40B4-BE49-F238E27FC236}">
                    <a16:creationId xmlns:a16="http://schemas.microsoft.com/office/drawing/2014/main" id="{C385C36A-8F48-E47B-7C6E-E9CE50E27705}"/>
                  </a:ext>
                </a:extLst>
              </p:cNvPr>
              <p:cNvSpPr txBox="1">
                <a:spLocks noRot="1" noChangeAspect="1" noMove="1" noResize="1" noEditPoints="1" noAdjustHandles="1" noChangeArrowheads="1" noChangeShapeType="1" noTextEdit="1"/>
              </p:cNvSpPr>
              <p:nvPr/>
            </p:nvSpPr>
            <p:spPr>
              <a:xfrm>
                <a:off x="3585324" y="3674263"/>
                <a:ext cx="428771" cy="461665"/>
              </a:xfrm>
              <a:prstGeom prst="rect">
                <a:avLst/>
              </a:prstGeom>
              <a:blipFill>
                <a:blip r:embed="rId9"/>
                <a:stretch>
                  <a:fillRect/>
                </a:stretch>
              </a:blipFill>
            </p:spPr>
            <p:txBody>
              <a:bodyPr/>
              <a:lstStyle/>
              <a:p>
                <a:r>
                  <a:rPr lang="en-US">
                    <a:noFill/>
                  </a:rPr>
                  <a:t> </a:t>
                </a:r>
              </a:p>
            </p:txBody>
          </p:sp>
        </mc:Fallback>
      </mc:AlternateContent>
      <p:sp>
        <p:nvSpPr>
          <p:cNvPr id="14" name="Right Brace 13">
            <a:extLst>
              <a:ext uri="{FF2B5EF4-FFF2-40B4-BE49-F238E27FC236}">
                <a16:creationId xmlns:a16="http://schemas.microsoft.com/office/drawing/2014/main" id="{92F803B9-E42A-FBF5-688A-F8B7645D0956}"/>
              </a:ext>
            </a:extLst>
          </p:cNvPr>
          <p:cNvSpPr/>
          <p:nvPr/>
        </p:nvSpPr>
        <p:spPr>
          <a:xfrm>
            <a:off x="8997669" y="2044259"/>
            <a:ext cx="139683" cy="1334021"/>
          </a:xfrm>
          <a:prstGeom prst="rightBrac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F7AB1616-978C-81B6-E5CB-C2AC5946404D}"/>
              </a:ext>
            </a:extLst>
          </p:cNvPr>
          <p:cNvSpPr txBox="1"/>
          <p:nvPr/>
        </p:nvSpPr>
        <p:spPr>
          <a:xfrm>
            <a:off x="9105602" y="2480436"/>
            <a:ext cx="2972352" cy="461665"/>
          </a:xfrm>
          <a:prstGeom prst="rect">
            <a:avLst/>
          </a:prstGeom>
          <a:noFill/>
        </p:spPr>
        <p:txBody>
          <a:bodyPr wrap="none" rtlCol="0" anchor="ctr">
            <a:spAutoFit/>
          </a:bodyPr>
          <a:lstStyle/>
          <a:p>
            <a:r>
              <a:rPr lang="en-US" sz="2400" dirty="0"/>
              <a:t>Row-by-row traversal</a:t>
            </a:r>
          </a:p>
        </p:txBody>
      </p:sp>
    </p:spTree>
    <p:custDataLst>
      <p:tags r:id="rId1"/>
    </p:custDataLst>
    <p:extLst>
      <p:ext uri="{BB962C8B-B14F-4D97-AF65-F5344CB8AC3E}">
        <p14:creationId xmlns:p14="http://schemas.microsoft.com/office/powerpoint/2010/main" val="2636511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7" grpId="0"/>
      <p:bldP spid="18" grpId="0"/>
      <p:bldP spid="22" grpId="0"/>
      <p:bldP spid="10" grpId="0"/>
      <p:bldP spid="13" grpId="0"/>
      <p:bldP spid="19" grpId="0"/>
      <p:bldP spid="2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7" name="Straight Arrow Connector 16">
            <a:extLst>
              <a:ext uri="{FF2B5EF4-FFF2-40B4-BE49-F238E27FC236}">
                <a16:creationId xmlns:a16="http://schemas.microsoft.com/office/drawing/2014/main" id="{CF9699A7-6E7F-6A4A-1BE0-B901964BBD4A}"/>
              </a:ext>
            </a:extLst>
          </p:cNvPr>
          <p:cNvCxnSpPr>
            <a:cxnSpLocks/>
            <a:stCxn id="10" idx="2"/>
            <a:endCxn id="6" idx="1"/>
          </p:cNvCxnSpPr>
          <p:nvPr/>
        </p:nvCxnSpPr>
        <p:spPr>
          <a:xfrm flipH="1">
            <a:off x="3101112" y="2695517"/>
            <a:ext cx="2767442" cy="787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272092" y="3252164"/>
            <a:ext cx="1829020" cy="461665"/>
          </a:xfrm>
          <a:prstGeom prst="rect">
            <a:avLst/>
          </a:prstGeom>
          <a:noFill/>
        </p:spPr>
        <p:txBody>
          <a:bodyPr wrap="square" rtlCol="0" anchor="b">
            <a:spAutoFit/>
          </a:bodyPr>
          <a:lstStyle/>
          <a:p>
            <a:pPr algn="ctr"/>
            <a:r>
              <a:rPr lang="en-US" sz="2400" noProof="0" dirty="0"/>
              <a:t>Index space</a:t>
            </a:r>
          </a:p>
        </p:txBody>
      </p:sp>
      <p:cxnSp>
        <p:nvCxnSpPr>
          <p:cNvPr id="7" name="Straight Arrow Connector 6">
            <a:extLst>
              <a:ext uri="{FF2B5EF4-FFF2-40B4-BE49-F238E27FC236}">
                <a16:creationId xmlns:a16="http://schemas.microsoft.com/office/drawing/2014/main" id="{810D43FC-A3D8-FA7F-57C5-AF9023BC6E13}"/>
              </a:ext>
            </a:extLst>
          </p:cNvPr>
          <p:cNvCxnSpPr>
            <a:cxnSpLocks/>
          </p:cNvCxnSpPr>
          <p:nvPr/>
        </p:nvCxnSpPr>
        <p:spPr>
          <a:xfrm flipV="1">
            <a:off x="2965699" y="3622045"/>
            <a:ext cx="1913618" cy="61013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631896" y="3071365"/>
            <a:ext cx="3400422" cy="461665"/>
          </a:xfrm>
          <a:prstGeom prst="rect">
            <a:avLst/>
          </a:prstGeom>
          <a:noFill/>
        </p:spPr>
        <p:txBody>
          <a:bodyPr wrap="square" rtlCol="0" anchor="b">
            <a:spAutoFit/>
          </a:bodyPr>
          <a:lstStyle/>
          <a:p>
            <a:pPr algn="ctr"/>
            <a:r>
              <a:rPr lang="en-US" sz="2400"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2672069" y="5490216"/>
            <a:ext cx="5550828" cy="461665"/>
          </a:xfrm>
          <a:prstGeom prst="rect">
            <a:avLst/>
          </a:prstGeom>
          <a:noFill/>
        </p:spPr>
        <p:txBody>
          <a:bodyPr wrap="square" rtlCol="0">
            <a:spAutoFit/>
          </a:bodyPr>
          <a:lstStyle/>
          <a:p>
            <a:pPr algn="ctr"/>
            <a:r>
              <a:rPr lang="en-US" sz="2400"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4"/>
          <a:stretch>
            <a:fillRect/>
          </a:stretch>
        </p:blipFill>
        <p:spPr>
          <a:xfrm>
            <a:off x="9729605" y="2671868"/>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9/4/2026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2588746" y="1364832"/>
            <a:ext cx="6559615" cy="1330685"/>
          </a:xfrm>
          <a:prstGeom prst="rect">
            <a:avLst/>
          </a:prstGeom>
          <a:solidFill>
            <a:srgbClr val="FFFFFF"/>
          </a:solidFill>
          <a:ln>
            <a:solidFill>
              <a:schemeClr val="tx1"/>
            </a:solidFill>
          </a:ln>
        </p:spPr>
        <p:txBody>
          <a:bodyPr wrap="none">
            <a:spAutoFit/>
          </a:bodyPr>
          <a:lstStyle/>
          <a:p>
            <a:pPr>
              <a:lnSpc>
                <a:spcPct val="113095"/>
              </a:lnSpc>
              <a:buNone/>
            </a:pP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M</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AF00DB"/>
                </a:solidFill>
                <a:latin typeface="Fira Code" panose="020B0809050000020004" pitchFamily="49" charset="0"/>
              </a:rPr>
              <a:t>for</a:t>
            </a:r>
            <a:r>
              <a:rPr lang="en-US" sz="2400" noProof="0" dirty="0">
                <a:solidFill>
                  <a:srgbClr val="000000"/>
                </a:solidFill>
                <a:latin typeface="Fira Code" panose="020B0809050000020004" pitchFamily="49" charset="0"/>
              </a:rPr>
              <a:t> (</a:t>
            </a:r>
            <a:r>
              <a:rPr lang="en-US" sz="2400" noProof="0" dirty="0">
                <a:solidFill>
                  <a:srgbClr val="0000FF"/>
                </a:solidFill>
                <a:latin typeface="Fira Code" panose="020B0809050000020004" pitchFamily="49" charset="0"/>
              </a:rPr>
              <a:t>int</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a:solidFill>
                  <a:srgbClr val="098658"/>
                </a:solidFill>
                <a:latin typeface="Fira Code" panose="020B0809050000020004" pitchFamily="49" charset="0"/>
              </a:rPr>
              <a:t>0</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&lt; </a:t>
            </a:r>
            <a:r>
              <a:rPr lang="en-US" sz="2400" noProof="0" dirty="0">
                <a:solidFill>
                  <a:srgbClr val="0070C1"/>
                </a:solidFill>
                <a:latin typeface="Fira Code" panose="020B0809050000020004" pitchFamily="49" charset="0"/>
              </a:rPr>
              <a:t>N</a:t>
            </a:r>
            <a:r>
              <a:rPr lang="en-US" sz="2400" noProof="0" dirty="0">
                <a:solidFill>
                  <a:srgbClr val="000000"/>
                </a:solidFill>
                <a:latin typeface="Fira Code" panose="020B0809050000020004" pitchFamily="49" charset="0"/>
              </a:rPr>
              <a:t>; </a:t>
            </a:r>
            <a:r>
              <a:rPr lang="en-US" sz="2400" noProof="0" dirty="0" err="1">
                <a:solidFill>
                  <a:srgbClr val="001080"/>
                </a:solidFill>
                <a:latin typeface="Fira Code" panose="020B0809050000020004" pitchFamily="49" charset="0"/>
              </a:rPr>
              <a:t>j</a:t>
            </a:r>
            <a:r>
              <a:rPr lang="en-US" sz="2400" noProof="0" dirty="0" err="1">
                <a:solidFill>
                  <a:srgbClr val="000000"/>
                </a:solidFill>
                <a:latin typeface="Fira Code" panose="020B0809050000020004" pitchFamily="49" charset="0"/>
              </a:rPr>
              <a:t>++</a:t>
            </a:r>
            <a:r>
              <a:rPr lang="en-US" sz="2400" noProof="0" dirty="0">
                <a:solidFill>
                  <a:srgbClr val="000000"/>
                </a:solidFill>
                <a:latin typeface="Fira Code" panose="020B0809050000020004" pitchFamily="49" charset="0"/>
              </a:rPr>
              <a:t>)</a:t>
            </a:r>
          </a:p>
          <a:p>
            <a:pPr>
              <a:lnSpc>
                <a:spcPct val="113095"/>
              </a:lnSpc>
              <a:buNone/>
            </a:pP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matrix</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 = </a:t>
            </a:r>
            <a:r>
              <a:rPr lang="en-US" sz="2400" noProof="0" dirty="0" err="1">
                <a:solidFill>
                  <a:srgbClr val="795E26"/>
                </a:solidFill>
                <a:latin typeface="Fira Code" panose="020B0809050000020004" pitchFamily="49" charset="0"/>
              </a:rPr>
              <a:t>init</a:t>
            </a:r>
            <a:r>
              <a:rPr lang="en-US" sz="2400" noProof="0" dirty="0">
                <a:solidFill>
                  <a:srgbClr val="000000"/>
                </a:solidFill>
                <a:latin typeface="Fira Code" panose="020B0809050000020004" pitchFamily="49" charset="0"/>
              </a:rPr>
              <a:t>(</a:t>
            </a:r>
            <a:r>
              <a:rPr lang="en-US" sz="2400" noProof="0" dirty="0" err="1">
                <a:solidFill>
                  <a:srgbClr val="001080"/>
                </a:solidFill>
                <a:latin typeface="Fira Code" panose="020B0809050000020004" pitchFamily="49" charset="0"/>
              </a:rPr>
              <a:t>i</a:t>
            </a:r>
            <a:r>
              <a:rPr lang="en-US" sz="2400" noProof="0" dirty="0">
                <a:solidFill>
                  <a:srgbClr val="000000"/>
                </a:solidFill>
                <a:latin typeface="Fira Code" panose="020B0809050000020004" pitchFamily="49" charset="0"/>
              </a:rPr>
              <a:t>, </a:t>
            </a:r>
            <a:r>
              <a:rPr lang="en-US" sz="2400" noProof="0" dirty="0">
                <a:solidFill>
                  <a:srgbClr val="001080"/>
                </a:solidFill>
                <a:latin typeface="Fira Code" panose="020B0809050000020004" pitchFamily="49" charset="0"/>
              </a:rPr>
              <a:t>j</a:t>
            </a:r>
            <a:r>
              <a:rPr lang="en-US" sz="2400" noProof="0" dirty="0">
                <a:solidFill>
                  <a:srgbClr val="000000"/>
                </a:solidFill>
                <a:latin typeface="Fira Code" panose="020B0809050000020004" pitchFamily="49" charset="0"/>
              </a:rPr>
              <a:t>);</a:t>
            </a:r>
          </a:p>
        </p:txBody>
      </p:sp>
      <p:sp>
        <p:nvSpPr>
          <p:cNvPr id="38" name="Rectangle 37">
            <a:extLst>
              <a:ext uri="{FF2B5EF4-FFF2-40B4-BE49-F238E27FC236}">
                <a16:creationId xmlns:a16="http://schemas.microsoft.com/office/drawing/2014/main" id="{60BA42AF-1518-DEC5-1F3C-80A280A7EFA5}"/>
              </a:ext>
            </a:extLst>
          </p:cNvPr>
          <p:cNvSpPr/>
          <p:nvPr/>
        </p:nvSpPr>
        <p:spPr>
          <a:xfrm>
            <a:off x="1805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41" name="Rectangle 40">
            <a:extLst>
              <a:ext uri="{FF2B5EF4-FFF2-40B4-BE49-F238E27FC236}">
                <a16:creationId xmlns:a16="http://schemas.microsoft.com/office/drawing/2014/main" id="{8F77A00D-5F0A-C53C-2E84-7E68D37FB0F9}"/>
              </a:ext>
            </a:extLst>
          </p:cNvPr>
          <p:cNvSpPr/>
          <p:nvPr/>
        </p:nvSpPr>
        <p:spPr>
          <a:xfrm>
            <a:off x="1805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44" name="Rectangle 43">
            <a:extLst>
              <a:ext uri="{FF2B5EF4-FFF2-40B4-BE49-F238E27FC236}">
                <a16:creationId xmlns:a16="http://schemas.microsoft.com/office/drawing/2014/main" id="{0D40FD5B-4279-D19A-284C-8DD59BE9A1A2}"/>
              </a:ext>
            </a:extLst>
          </p:cNvPr>
          <p:cNvSpPr/>
          <p:nvPr/>
        </p:nvSpPr>
        <p:spPr>
          <a:xfrm>
            <a:off x="2567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47" name="Rectangle 46">
            <a:extLst>
              <a:ext uri="{FF2B5EF4-FFF2-40B4-BE49-F238E27FC236}">
                <a16:creationId xmlns:a16="http://schemas.microsoft.com/office/drawing/2014/main" id="{1A804295-5464-D6C3-B11B-A116FC622994}"/>
              </a:ext>
            </a:extLst>
          </p:cNvPr>
          <p:cNvSpPr/>
          <p:nvPr/>
        </p:nvSpPr>
        <p:spPr>
          <a:xfrm>
            <a:off x="2186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50" name="Rectangle 49">
            <a:extLst>
              <a:ext uri="{FF2B5EF4-FFF2-40B4-BE49-F238E27FC236}">
                <a16:creationId xmlns:a16="http://schemas.microsoft.com/office/drawing/2014/main" id="{0CCC24C4-4808-4F38-F366-D4DDCA9CABFE}"/>
              </a:ext>
            </a:extLst>
          </p:cNvPr>
          <p:cNvSpPr/>
          <p:nvPr/>
        </p:nvSpPr>
        <p:spPr>
          <a:xfrm>
            <a:off x="1424602" y="4097961"/>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53" name="Rectangle 52">
            <a:extLst>
              <a:ext uri="{FF2B5EF4-FFF2-40B4-BE49-F238E27FC236}">
                <a16:creationId xmlns:a16="http://schemas.microsoft.com/office/drawing/2014/main" id="{EF2A6CBC-BCD6-48DC-0CEC-7C2718D2F2D9}"/>
              </a:ext>
            </a:extLst>
          </p:cNvPr>
          <p:cNvSpPr/>
          <p:nvPr/>
        </p:nvSpPr>
        <p:spPr>
          <a:xfrm>
            <a:off x="1424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56" name="Rectangle 55">
            <a:extLst>
              <a:ext uri="{FF2B5EF4-FFF2-40B4-BE49-F238E27FC236}">
                <a16:creationId xmlns:a16="http://schemas.microsoft.com/office/drawing/2014/main" id="{3C549CCF-7BF6-8AF8-0F6C-1AD9581A3F23}"/>
              </a:ext>
            </a:extLst>
          </p:cNvPr>
          <p:cNvSpPr/>
          <p:nvPr/>
        </p:nvSpPr>
        <p:spPr>
          <a:xfrm>
            <a:off x="1424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59" name="Rectangle 58">
            <a:extLst>
              <a:ext uri="{FF2B5EF4-FFF2-40B4-BE49-F238E27FC236}">
                <a16:creationId xmlns:a16="http://schemas.microsoft.com/office/drawing/2014/main" id="{393B6F24-028C-DD9D-A7F9-ED63FC6AB9CE}"/>
              </a:ext>
            </a:extLst>
          </p:cNvPr>
          <p:cNvSpPr/>
          <p:nvPr/>
        </p:nvSpPr>
        <p:spPr>
          <a:xfrm>
            <a:off x="2186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62" name="Rectangle 61">
            <a:extLst>
              <a:ext uri="{FF2B5EF4-FFF2-40B4-BE49-F238E27FC236}">
                <a16:creationId xmlns:a16="http://schemas.microsoft.com/office/drawing/2014/main" id="{C4F146ED-DC98-EE10-A006-FCCCB5F2689E}"/>
              </a:ext>
            </a:extLst>
          </p:cNvPr>
          <p:cNvSpPr/>
          <p:nvPr/>
        </p:nvSpPr>
        <p:spPr>
          <a:xfrm>
            <a:off x="2567602" y="3716969"/>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65" name="Rectangle 64">
            <a:extLst>
              <a:ext uri="{FF2B5EF4-FFF2-40B4-BE49-F238E27FC236}">
                <a16:creationId xmlns:a16="http://schemas.microsoft.com/office/drawing/2014/main" id="{453E93D2-8D1A-077C-9A89-E1D36460EC5B}"/>
              </a:ext>
            </a:extLst>
          </p:cNvPr>
          <p:cNvSpPr/>
          <p:nvPr/>
        </p:nvSpPr>
        <p:spPr>
          <a:xfrm>
            <a:off x="2567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68" name="Rectangle 67">
            <a:extLst>
              <a:ext uri="{FF2B5EF4-FFF2-40B4-BE49-F238E27FC236}">
                <a16:creationId xmlns:a16="http://schemas.microsoft.com/office/drawing/2014/main" id="{925BE6C3-506B-9AAB-FBBD-7AB2AC83233B}"/>
              </a:ext>
            </a:extLst>
          </p:cNvPr>
          <p:cNvSpPr/>
          <p:nvPr/>
        </p:nvSpPr>
        <p:spPr>
          <a:xfrm>
            <a:off x="1805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71" name="Rectangle 70">
            <a:extLst>
              <a:ext uri="{FF2B5EF4-FFF2-40B4-BE49-F238E27FC236}">
                <a16:creationId xmlns:a16="http://schemas.microsoft.com/office/drawing/2014/main" id="{BB59E621-860F-75EB-3352-EB2D933B13C0}"/>
              </a:ext>
            </a:extLst>
          </p:cNvPr>
          <p:cNvSpPr/>
          <p:nvPr/>
        </p:nvSpPr>
        <p:spPr>
          <a:xfrm>
            <a:off x="2186602" y="4478954"/>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74" name="Rectangle 73">
            <a:extLst>
              <a:ext uri="{FF2B5EF4-FFF2-40B4-BE49-F238E27FC236}">
                <a16:creationId xmlns:a16="http://schemas.microsoft.com/office/drawing/2014/main" id="{C017114C-4B9B-189E-5F4D-E3234F5BF9B4}"/>
              </a:ext>
            </a:extLst>
          </p:cNvPr>
          <p:cNvSpPr/>
          <p:nvPr/>
        </p:nvSpPr>
        <p:spPr>
          <a:xfrm>
            <a:off x="5260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77" name="Rectangle 76">
            <a:extLst>
              <a:ext uri="{FF2B5EF4-FFF2-40B4-BE49-F238E27FC236}">
                <a16:creationId xmlns:a16="http://schemas.microsoft.com/office/drawing/2014/main" id="{27814029-6F98-4055-439B-51AF0156C7F8}"/>
              </a:ext>
            </a:extLst>
          </p:cNvPr>
          <p:cNvSpPr/>
          <p:nvPr/>
        </p:nvSpPr>
        <p:spPr>
          <a:xfrm>
            <a:off x="6784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80" name="Rectangle 79">
            <a:extLst>
              <a:ext uri="{FF2B5EF4-FFF2-40B4-BE49-F238E27FC236}">
                <a16:creationId xmlns:a16="http://schemas.microsoft.com/office/drawing/2014/main" id="{71500E03-9C84-6DAE-C18B-7C7A249E1704}"/>
              </a:ext>
            </a:extLst>
          </p:cNvPr>
          <p:cNvSpPr/>
          <p:nvPr/>
        </p:nvSpPr>
        <p:spPr>
          <a:xfrm>
            <a:off x="7546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83" name="Rectangle 82">
            <a:extLst>
              <a:ext uri="{FF2B5EF4-FFF2-40B4-BE49-F238E27FC236}">
                <a16:creationId xmlns:a16="http://schemas.microsoft.com/office/drawing/2014/main" id="{AE602D09-5476-2D97-3F39-B3301C510D97}"/>
              </a:ext>
            </a:extLst>
          </p:cNvPr>
          <p:cNvSpPr/>
          <p:nvPr/>
        </p:nvSpPr>
        <p:spPr>
          <a:xfrm>
            <a:off x="7165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86" name="Rectangle 85">
            <a:extLst>
              <a:ext uri="{FF2B5EF4-FFF2-40B4-BE49-F238E27FC236}">
                <a16:creationId xmlns:a16="http://schemas.microsoft.com/office/drawing/2014/main" id="{0B4A79BD-970B-69A5-CA89-23BD9BF1219C}"/>
              </a:ext>
            </a:extLst>
          </p:cNvPr>
          <p:cNvSpPr/>
          <p:nvPr/>
        </p:nvSpPr>
        <p:spPr>
          <a:xfrm>
            <a:off x="6403317" y="3482997"/>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89" name="Rectangle 88">
            <a:extLst>
              <a:ext uri="{FF2B5EF4-FFF2-40B4-BE49-F238E27FC236}">
                <a16:creationId xmlns:a16="http://schemas.microsoft.com/office/drawing/2014/main" id="{FB202CA8-F886-1127-F914-31628CFCD14A}"/>
              </a:ext>
            </a:extLst>
          </p:cNvPr>
          <p:cNvSpPr/>
          <p:nvPr/>
        </p:nvSpPr>
        <p:spPr>
          <a:xfrm>
            <a:off x="4879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92" name="Rectangle 91">
            <a:extLst>
              <a:ext uri="{FF2B5EF4-FFF2-40B4-BE49-F238E27FC236}">
                <a16:creationId xmlns:a16="http://schemas.microsoft.com/office/drawing/2014/main" id="{B8977E23-4CDB-1264-F4AD-A71A91BF3890}"/>
              </a:ext>
            </a:extLst>
          </p:cNvPr>
          <p:cNvSpPr/>
          <p:nvPr/>
        </p:nvSpPr>
        <p:spPr>
          <a:xfrm>
            <a:off x="7927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95" name="Rectangle 94">
            <a:extLst>
              <a:ext uri="{FF2B5EF4-FFF2-40B4-BE49-F238E27FC236}">
                <a16:creationId xmlns:a16="http://schemas.microsoft.com/office/drawing/2014/main" id="{70C68701-285E-394C-56CB-B2B925283B76}"/>
              </a:ext>
            </a:extLst>
          </p:cNvPr>
          <p:cNvSpPr/>
          <p:nvPr/>
        </p:nvSpPr>
        <p:spPr>
          <a:xfrm>
            <a:off x="5641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98" name="Rectangle 97">
            <a:extLst>
              <a:ext uri="{FF2B5EF4-FFF2-40B4-BE49-F238E27FC236}">
                <a16:creationId xmlns:a16="http://schemas.microsoft.com/office/drawing/2014/main" id="{8EA68D86-1A02-EE92-B997-D5D94FEACE08}"/>
              </a:ext>
            </a:extLst>
          </p:cNvPr>
          <p:cNvSpPr/>
          <p:nvPr/>
        </p:nvSpPr>
        <p:spPr>
          <a:xfrm>
            <a:off x="6022317" y="3482997"/>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01" name="Rectangle 100">
            <a:extLst>
              <a:ext uri="{FF2B5EF4-FFF2-40B4-BE49-F238E27FC236}">
                <a16:creationId xmlns:a16="http://schemas.microsoft.com/office/drawing/2014/main" id="{115C4D2C-EE3D-1F7C-B037-189CE77D91F2}"/>
              </a:ext>
            </a:extLst>
          </p:cNvPr>
          <p:cNvSpPr/>
          <p:nvPr/>
        </p:nvSpPr>
        <p:spPr>
          <a:xfrm>
            <a:off x="9070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04" name="Rectangle 103">
            <a:extLst>
              <a:ext uri="{FF2B5EF4-FFF2-40B4-BE49-F238E27FC236}">
                <a16:creationId xmlns:a16="http://schemas.microsoft.com/office/drawing/2014/main" id="{9210E62F-B36D-7DFB-8DF9-AAFF793EABFA}"/>
              </a:ext>
            </a:extLst>
          </p:cNvPr>
          <p:cNvSpPr/>
          <p:nvPr/>
        </p:nvSpPr>
        <p:spPr>
          <a:xfrm>
            <a:off x="8308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07" name="Rectangle 106">
            <a:extLst>
              <a:ext uri="{FF2B5EF4-FFF2-40B4-BE49-F238E27FC236}">
                <a16:creationId xmlns:a16="http://schemas.microsoft.com/office/drawing/2014/main" id="{303D1F9A-13EE-7BB8-84D7-4B3131D55425}"/>
              </a:ext>
            </a:extLst>
          </p:cNvPr>
          <p:cNvSpPr/>
          <p:nvPr/>
        </p:nvSpPr>
        <p:spPr>
          <a:xfrm>
            <a:off x="8689317" y="3482997"/>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sp>
        <p:nvSpPr>
          <p:cNvPr id="110" name="Rectangle 109">
            <a:extLst>
              <a:ext uri="{FF2B5EF4-FFF2-40B4-BE49-F238E27FC236}">
                <a16:creationId xmlns:a16="http://schemas.microsoft.com/office/drawing/2014/main" id="{EFA7F8D3-BAD2-4029-5B48-56B1D9D350CF}"/>
              </a:ext>
            </a:extLst>
          </p:cNvPr>
          <p:cNvSpPr/>
          <p:nvPr/>
        </p:nvSpPr>
        <p:spPr>
          <a:xfrm>
            <a:off x="6022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2</a:t>
            </a:r>
          </a:p>
        </p:txBody>
      </p:sp>
      <p:sp>
        <p:nvSpPr>
          <p:cNvPr id="113" name="Rectangle 112">
            <a:extLst>
              <a:ext uri="{FF2B5EF4-FFF2-40B4-BE49-F238E27FC236}">
                <a16:creationId xmlns:a16="http://schemas.microsoft.com/office/drawing/2014/main" id="{4A3B9DBA-D0CF-5DFF-B1F0-AE25E9B2F115}"/>
              </a:ext>
            </a:extLst>
          </p:cNvPr>
          <p:cNvSpPr/>
          <p:nvPr/>
        </p:nvSpPr>
        <p:spPr>
          <a:xfrm>
            <a:off x="6403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6</a:t>
            </a:r>
          </a:p>
        </p:txBody>
      </p:sp>
      <p:sp>
        <p:nvSpPr>
          <p:cNvPr id="116" name="Rectangle 115">
            <a:extLst>
              <a:ext uri="{FF2B5EF4-FFF2-40B4-BE49-F238E27FC236}">
                <a16:creationId xmlns:a16="http://schemas.microsoft.com/office/drawing/2014/main" id="{FEE21F3C-FCC9-9DDC-352B-5B25C9F7C058}"/>
              </a:ext>
            </a:extLst>
          </p:cNvPr>
          <p:cNvSpPr/>
          <p:nvPr/>
        </p:nvSpPr>
        <p:spPr>
          <a:xfrm>
            <a:off x="8689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8</a:t>
            </a:r>
          </a:p>
        </p:txBody>
      </p:sp>
      <p:sp>
        <p:nvSpPr>
          <p:cNvPr id="119" name="Rectangle 118">
            <a:extLst>
              <a:ext uri="{FF2B5EF4-FFF2-40B4-BE49-F238E27FC236}">
                <a16:creationId xmlns:a16="http://schemas.microsoft.com/office/drawing/2014/main" id="{94C85911-3B16-FB07-3A45-313E40E40F7B}"/>
              </a:ext>
            </a:extLst>
          </p:cNvPr>
          <p:cNvSpPr/>
          <p:nvPr/>
        </p:nvSpPr>
        <p:spPr>
          <a:xfrm>
            <a:off x="7546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7</a:t>
            </a:r>
          </a:p>
        </p:txBody>
      </p:sp>
      <p:sp>
        <p:nvSpPr>
          <p:cNvPr id="122" name="Rectangle 121">
            <a:extLst>
              <a:ext uri="{FF2B5EF4-FFF2-40B4-BE49-F238E27FC236}">
                <a16:creationId xmlns:a16="http://schemas.microsoft.com/office/drawing/2014/main" id="{ACDF9B56-E1A5-32D8-0930-92E8E480A0C3}"/>
              </a:ext>
            </a:extLst>
          </p:cNvPr>
          <p:cNvSpPr/>
          <p:nvPr/>
        </p:nvSpPr>
        <p:spPr>
          <a:xfrm>
            <a:off x="5260317" y="4794565"/>
            <a:ext cx="381000" cy="380992"/>
          </a:xfrm>
          <a:prstGeom prst="rect">
            <a:avLst/>
          </a:prstGeom>
          <a:solidFill>
            <a:srgbClr val="94F29B"/>
          </a:solidFill>
          <a:ln w="9525" cap="flat">
            <a:solidFill>
              <a:schemeClr val="tx1">
                <a:lumMod val="75000"/>
                <a:lumOff val="25000"/>
              </a:schemeClr>
            </a:solidFill>
            <a:prstDash val="solid"/>
            <a:miter/>
          </a:ln>
        </p:spPr>
        <p:txBody>
          <a:bodyPr wrap="none" anchor="ctr"/>
          <a:lstStyle/>
          <a:p>
            <a:pPr algn="ctr"/>
            <a:r>
              <a:rPr lang="en-US" sz="2000" noProof="0" dirty="0"/>
              <a:t>5</a:t>
            </a:r>
          </a:p>
        </p:txBody>
      </p:sp>
      <p:sp>
        <p:nvSpPr>
          <p:cNvPr id="125" name="Rectangle 124">
            <a:extLst>
              <a:ext uri="{FF2B5EF4-FFF2-40B4-BE49-F238E27FC236}">
                <a16:creationId xmlns:a16="http://schemas.microsoft.com/office/drawing/2014/main" id="{BAEB7AAE-6098-D3AE-E50C-860A05F2AF1F}"/>
              </a:ext>
            </a:extLst>
          </p:cNvPr>
          <p:cNvSpPr/>
          <p:nvPr/>
        </p:nvSpPr>
        <p:spPr>
          <a:xfrm>
            <a:off x="4879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1</a:t>
            </a:r>
          </a:p>
        </p:txBody>
      </p:sp>
      <p:sp>
        <p:nvSpPr>
          <p:cNvPr id="128" name="Rectangle 127">
            <a:extLst>
              <a:ext uri="{FF2B5EF4-FFF2-40B4-BE49-F238E27FC236}">
                <a16:creationId xmlns:a16="http://schemas.microsoft.com/office/drawing/2014/main" id="{87CDE090-1007-F93C-C94B-F65C05AF7955}"/>
              </a:ext>
            </a:extLst>
          </p:cNvPr>
          <p:cNvSpPr/>
          <p:nvPr/>
        </p:nvSpPr>
        <p:spPr>
          <a:xfrm>
            <a:off x="5641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9</a:t>
            </a:r>
          </a:p>
        </p:txBody>
      </p:sp>
      <p:sp>
        <p:nvSpPr>
          <p:cNvPr id="131" name="Rectangle 130">
            <a:extLst>
              <a:ext uri="{FF2B5EF4-FFF2-40B4-BE49-F238E27FC236}">
                <a16:creationId xmlns:a16="http://schemas.microsoft.com/office/drawing/2014/main" id="{B3755AD7-C1D5-2776-A250-35403C2095FC}"/>
              </a:ext>
            </a:extLst>
          </p:cNvPr>
          <p:cNvSpPr/>
          <p:nvPr/>
        </p:nvSpPr>
        <p:spPr>
          <a:xfrm>
            <a:off x="7165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3</a:t>
            </a:r>
          </a:p>
        </p:txBody>
      </p:sp>
      <p:sp>
        <p:nvSpPr>
          <p:cNvPr id="134" name="Rectangle 133">
            <a:extLst>
              <a:ext uri="{FF2B5EF4-FFF2-40B4-BE49-F238E27FC236}">
                <a16:creationId xmlns:a16="http://schemas.microsoft.com/office/drawing/2014/main" id="{22DFEFB8-108D-1A71-4F29-AE6F03A556C2}"/>
              </a:ext>
            </a:extLst>
          </p:cNvPr>
          <p:cNvSpPr/>
          <p:nvPr/>
        </p:nvSpPr>
        <p:spPr>
          <a:xfrm>
            <a:off x="8308317" y="4794565"/>
            <a:ext cx="381000" cy="380992"/>
          </a:xfrm>
          <a:prstGeom prst="rect">
            <a:avLst/>
          </a:prstGeom>
          <a:solidFill>
            <a:srgbClr val="DAE8FC"/>
          </a:solidFill>
          <a:ln w="9525" cap="flat">
            <a:solidFill>
              <a:schemeClr val="tx1">
                <a:lumMod val="75000"/>
                <a:lumOff val="25000"/>
              </a:schemeClr>
            </a:solidFill>
            <a:prstDash val="solid"/>
            <a:miter/>
          </a:ln>
        </p:spPr>
        <p:txBody>
          <a:bodyPr wrap="none" anchor="ctr"/>
          <a:lstStyle/>
          <a:p>
            <a:pPr algn="ctr"/>
            <a:r>
              <a:rPr lang="en-US" sz="2000" noProof="0" dirty="0"/>
              <a:t>4</a:t>
            </a:r>
          </a:p>
        </p:txBody>
      </p:sp>
      <p:sp>
        <p:nvSpPr>
          <p:cNvPr id="137" name="Rectangle 136">
            <a:extLst>
              <a:ext uri="{FF2B5EF4-FFF2-40B4-BE49-F238E27FC236}">
                <a16:creationId xmlns:a16="http://schemas.microsoft.com/office/drawing/2014/main" id="{4B06CD16-5CFF-9783-4142-A79F711C0702}"/>
              </a:ext>
            </a:extLst>
          </p:cNvPr>
          <p:cNvSpPr/>
          <p:nvPr/>
        </p:nvSpPr>
        <p:spPr>
          <a:xfrm>
            <a:off x="9070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12</a:t>
            </a:r>
          </a:p>
        </p:txBody>
      </p:sp>
      <p:sp>
        <p:nvSpPr>
          <p:cNvPr id="140" name="Rectangle 139">
            <a:extLst>
              <a:ext uri="{FF2B5EF4-FFF2-40B4-BE49-F238E27FC236}">
                <a16:creationId xmlns:a16="http://schemas.microsoft.com/office/drawing/2014/main" id="{83496A3D-46C3-B602-5DEC-9FF632E19DAA}"/>
              </a:ext>
            </a:extLst>
          </p:cNvPr>
          <p:cNvSpPr/>
          <p:nvPr/>
        </p:nvSpPr>
        <p:spPr>
          <a:xfrm>
            <a:off x="6784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10</a:t>
            </a:r>
          </a:p>
        </p:txBody>
      </p:sp>
      <p:sp>
        <p:nvSpPr>
          <p:cNvPr id="143" name="Rectangle 142">
            <a:extLst>
              <a:ext uri="{FF2B5EF4-FFF2-40B4-BE49-F238E27FC236}">
                <a16:creationId xmlns:a16="http://schemas.microsoft.com/office/drawing/2014/main" id="{58279558-BDB0-F4DD-B769-C72E50415C5F}"/>
              </a:ext>
            </a:extLst>
          </p:cNvPr>
          <p:cNvSpPr/>
          <p:nvPr/>
        </p:nvSpPr>
        <p:spPr>
          <a:xfrm>
            <a:off x="7927317" y="4794565"/>
            <a:ext cx="381000" cy="380992"/>
          </a:xfrm>
          <a:prstGeom prst="rect">
            <a:avLst/>
          </a:prstGeom>
          <a:solidFill>
            <a:srgbClr val="FEC842"/>
          </a:solidFill>
          <a:ln w="9525" cap="flat">
            <a:solidFill>
              <a:schemeClr val="tx1">
                <a:lumMod val="75000"/>
                <a:lumOff val="25000"/>
              </a:schemeClr>
            </a:solidFill>
            <a:prstDash val="solid"/>
            <a:miter/>
          </a:ln>
        </p:spPr>
        <p:txBody>
          <a:bodyPr wrap="none" anchor="ctr"/>
          <a:lstStyle/>
          <a:p>
            <a:pPr algn="ctr"/>
            <a:r>
              <a:rPr lang="en-US" sz="2000" noProof="0" dirty="0"/>
              <a:t>11</a:t>
            </a:r>
          </a:p>
        </p:txBody>
      </p:sp>
      <p:cxnSp>
        <p:nvCxnSpPr>
          <p:cNvPr id="27" name="Straight Arrow Connector 26">
            <a:extLst>
              <a:ext uri="{FF2B5EF4-FFF2-40B4-BE49-F238E27FC236}">
                <a16:creationId xmlns:a16="http://schemas.microsoft.com/office/drawing/2014/main" id="{EDD1A278-7C00-DF7C-219E-946088D75D0E}"/>
              </a:ext>
            </a:extLst>
          </p:cNvPr>
          <p:cNvCxnSpPr>
            <a:cxnSpLocks/>
          </p:cNvCxnSpPr>
          <p:nvPr/>
        </p:nvCxnSpPr>
        <p:spPr>
          <a:xfrm>
            <a:off x="2965699" y="4232178"/>
            <a:ext cx="1913618" cy="72634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4"/>
          <a:stretch>
            <a:fillRect/>
          </a:stretch>
        </p:blipFill>
        <p:spPr>
          <a:xfrm rot="16200000" flipH="1">
            <a:off x="9725738" y="4664580"/>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350008" y="1359843"/>
            <a:ext cx="194951" cy="804576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401890" y="3389098"/>
                <a:ext cx="1111137"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𝑖</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𝑁</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𝑗</m:t>
                      </m:r>
                    </m:oMath>
                  </m:oMathPara>
                </a14:m>
                <a:endParaRPr lang="en-US" sz="2000" noProof="0"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401890" y="3389098"/>
                <a:ext cx="1111137" cy="400110"/>
              </a:xfrm>
              <a:prstGeom prst="rect">
                <a:avLst/>
              </a:prstGeom>
              <a:blipFill>
                <a:blip r:embed="rId17"/>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224937" y="4675622"/>
                <a:ext cx="1141595" cy="400110"/>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𝑗</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𝑀</m:t>
                      </m:r>
                      <m:r>
                        <a:rPr lang="en-US" sz="2000" b="0" i="1" noProof="0" smtClean="0">
                          <a:latin typeface="Cambria Math" panose="02040503050406030204" pitchFamily="18" charset="0"/>
                        </a:rPr>
                        <m:t>+</m:t>
                      </m:r>
                      <m:r>
                        <a:rPr lang="en-US" sz="2000" b="0" i="1" noProof="0" smtClean="0">
                          <a:latin typeface="Cambria Math" panose="02040503050406030204" pitchFamily="18" charset="0"/>
                        </a:rPr>
                        <m:t>𝑖</m:t>
                      </m:r>
                    </m:oMath>
                  </m:oMathPara>
                </a14:m>
                <a:endParaRPr lang="en-US" sz="2000" noProof="0"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224937" y="4675622"/>
                <a:ext cx="1141595" cy="400110"/>
              </a:xfrm>
              <a:prstGeom prst="rect">
                <a:avLst/>
              </a:prstGeom>
              <a:blipFill>
                <a:blip r:embed="rId18"/>
                <a:stretch>
                  <a:fillRect b="-121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965434" y="4009497"/>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965434" y="4009497"/>
                <a:ext cx="510524"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1991030" y="4782590"/>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1991030" y="4782590"/>
                <a:ext cx="428771" cy="461665"/>
              </a:xfrm>
              <a:prstGeom prst="rect">
                <a:avLst/>
              </a:prstGeom>
              <a:blipFill>
                <a:blip r:embed="rId20"/>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653607" y="3913204"/>
            <a:ext cx="1393330" cy="400110"/>
          </a:xfrm>
          <a:prstGeom prst="rect">
            <a:avLst/>
          </a:prstGeom>
          <a:noFill/>
        </p:spPr>
        <p:txBody>
          <a:bodyPr wrap="none" rtlCol="0">
            <a:spAutoFit/>
          </a:bodyPr>
          <a:lstStyle/>
          <a:p>
            <a:pPr algn="ctr"/>
            <a:r>
              <a:rPr lang="en-US" sz="2000" noProof="0"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449224" y="5894684"/>
            <a:ext cx="1802096" cy="400110"/>
          </a:xfrm>
          <a:prstGeom prst="rect">
            <a:avLst/>
          </a:prstGeom>
          <a:noFill/>
        </p:spPr>
        <p:txBody>
          <a:bodyPr wrap="none" rtlCol="0">
            <a:spAutoFit/>
          </a:bodyPr>
          <a:lstStyle/>
          <a:p>
            <a:pPr algn="ctr"/>
            <a:r>
              <a:rPr lang="en-US" sz="2000" noProof="0" dirty="0"/>
              <a:t>Column-major</a:t>
            </a:r>
          </a:p>
        </p:txBody>
      </p:sp>
      <p:sp>
        <p:nvSpPr>
          <p:cNvPr id="149" name="TextBox 148">
            <a:extLst>
              <a:ext uri="{FF2B5EF4-FFF2-40B4-BE49-F238E27FC236}">
                <a16:creationId xmlns:a16="http://schemas.microsoft.com/office/drawing/2014/main" id="{A262744E-E846-9FB3-DA18-535CD46E385E}"/>
              </a:ext>
            </a:extLst>
          </p:cNvPr>
          <p:cNvSpPr txBox="1"/>
          <p:nvPr/>
        </p:nvSpPr>
        <p:spPr>
          <a:xfrm>
            <a:off x="5868553" y="4409098"/>
            <a:ext cx="2794804" cy="400110"/>
          </a:xfrm>
          <a:prstGeom prst="rect">
            <a:avLst/>
          </a:prstGeom>
          <a:noFill/>
        </p:spPr>
        <p:txBody>
          <a:bodyPr wrap="none" rtlCol="0" anchor="b">
            <a:spAutoFit/>
          </a:bodyPr>
          <a:lstStyle/>
          <a:p>
            <a:pPr algn="ctr"/>
            <a:r>
              <a:rPr lang="en-US" sz="2000" i="1" noProof="0" dirty="0"/>
              <a:t>Another possible layout</a:t>
            </a:r>
          </a:p>
        </p:txBody>
      </p:sp>
    </p:spTree>
    <p:custDataLst>
      <p:tags r:id="rId1"/>
    </p:custDataLst>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7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8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8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8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2"/>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95"/>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9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10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0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0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5"/>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27"/>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3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0"/>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113"/>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11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19"/>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22"/>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2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2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31"/>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34"/>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137"/>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40"/>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143"/>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1" presetClass="entr" presetSubtype="0" fill="hold" grpId="0" nodeType="clickEffect">
                                  <p:stCondLst>
                                    <p:cond delay="0"/>
                                  </p:stCondLst>
                                  <p:childTnLst>
                                    <p:set>
                                      <p:cBhvr>
                                        <p:cTn id="112" dur="1" fill="hold">
                                          <p:stCondLst>
                                            <p:cond delay="0"/>
                                          </p:stCondLst>
                                        </p:cTn>
                                        <p:tgtEl>
                                          <p:spTgt spid="33"/>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71" grpId="0" animBg="1"/>
      <p:bldP spid="74" grpId="0" animBg="1"/>
      <p:bldP spid="77" grpId="0" animBg="1"/>
      <p:bldP spid="80" grpId="0" animBg="1"/>
      <p:bldP spid="83" grpId="0" animBg="1"/>
      <p:bldP spid="86" grpId="0" animBg="1"/>
      <p:bldP spid="89" grpId="0" animBg="1"/>
      <p:bldP spid="92" grpId="0" animBg="1"/>
      <p:bldP spid="95" grpId="0" animBg="1"/>
      <p:bldP spid="98" grpId="0" animBg="1"/>
      <p:bldP spid="101" grpId="0" animBg="1"/>
      <p:bldP spid="104" grpId="0" animBg="1"/>
      <p:bldP spid="107" grpId="0" animBg="1"/>
      <p:bldP spid="110" grpId="0" animBg="1"/>
      <p:bldP spid="113" grpId="0" animBg="1"/>
      <p:bldP spid="116" grpId="0" animBg="1"/>
      <p:bldP spid="119" grpId="0" animBg="1"/>
      <p:bldP spid="122" grpId="0" animBg="1"/>
      <p:bldP spid="125" grpId="0" animBg="1"/>
      <p:bldP spid="128" grpId="0" animBg="1"/>
      <p:bldP spid="131" grpId="0" animBg="1"/>
      <p:bldP spid="134" grpId="0" animBg="1"/>
      <p:bldP spid="137" grpId="0" animBg="1"/>
      <p:bldP spid="140" grpId="0" animBg="1"/>
      <p:bldP spid="143" grpId="0" animBg="1"/>
      <p:bldP spid="33" grpId="0" animBg="1"/>
      <p:bldP spid="3" grpId="0"/>
      <p:bldP spid="5" grpId="0"/>
      <p:bldP spid="4" grpId="0"/>
      <p:bldP spid="12" grpId="0"/>
      <p:bldP spid="18" grpId="0"/>
      <p:bldP spid="22" grpId="0"/>
      <p:bldP spid="149"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28F9A7A-4E68-17F0-FD80-992DB87E748C}"/>
              </a:ext>
            </a:extLst>
          </p:cNvPr>
          <p:cNvSpPr txBox="1"/>
          <p:nvPr/>
        </p:nvSpPr>
        <p:spPr>
          <a:xfrm>
            <a:off x="1960456" y="2730603"/>
            <a:ext cx="6008376" cy="1706429"/>
          </a:xfrm>
          <a:prstGeom prst="rect">
            <a:avLst/>
          </a:prstGeom>
          <a:noFill/>
        </p:spPr>
        <p:txBody>
          <a:bodyPr wrap="none">
            <a:spAutoFit/>
          </a:bodyPr>
          <a:lstStyle/>
          <a:p>
            <a:pPr>
              <a:lnSpc>
                <a:spcPct val="150000"/>
              </a:lnSpc>
              <a:buNone/>
            </a:pPr>
            <a:r>
              <a:rPr lang="en-US" sz="24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r>
              <a:rPr lang="en-US" sz="2400" b="0" noProof="0" dirty="0">
                <a:solidFill>
                  <a:srgbClr val="001080"/>
                </a:solidFill>
                <a:effectLst/>
                <a:latin typeface="Fira Code" panose="020B0809050000020004" pitchFamily="49" charset="0"/>
              </a:rPr>
              <a:t>layout</a:t>
            </a:r>
            <a:r>
              <a:rPr lang="en-US" sz="2400" b="0" noProof="0" dirty="0">
                <a:solidFill>
                  <a:srgbClr val="000000"/>
                </a:solidFill>
                <a:effectLst/>
                <a:latin typeface="Fira Code" panose="020B0809050000020004" pitchFamily="49" charset="0"/>
              </a:rPr>
              <a:t> = </a:t>
            </a:r>
            <a:r>
              <a:rPr lang="en-US" sz="2400" b="0" noProof="0" dirty="0">
                <a:solidFill>
                  <a:srgbClr val="267F99"/>
                </a:solidFill>
                <a:effectLst/>
                <a:latin typeface="Fira Code" panose="020B0809050000020004" pitchFamily="49" charset="0"/>
              </a:rPr>
              <a:t>scalar</a:t>
            </a:r>
            <a:r>
              <a:rPr lang="en-US" sz="700" b="0" noProof="0" dirty="0">
                <a:solidFill>
                  <a:srgbClr val="267F99"/>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0000FF"/>
                </a:solidFill>
                <a:effectLst/>
                <a:latin typeface="Fira Code" panose="020B0809050000020004" pitchFamily="49" charset="0"/>
              </a:rPr>
              <a:t>float</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N</a:t>
            </a:r>
            <a:r>
              <a:rPr lang="en-US" sz="2400" b="0" noProof="0" dirty="0">
                <a:solidFill>
                  <a:srgbClr val="000000"/>
                </a:solidFill>
                <a:effectLst/>
                <a:latin typeface="Fira Code" panose="020B0809050000020004" pitchFamily="49" charset="0"/>
              </a:rPr>
              <a:t>)  ^</a:t>
            </a:r>
          </a:p>
          <a:p>
            <a:pPr>
              <a:lnSpc>
                <a:spcPct val="150000"/>
              </a:lnSpc>
              <a:buNone/>
            </a:pPr>
            <a:r>
              <a:rPr lang="en-US" sz="2400" b="0" noProof="0" dirty="0">
                <a:solidFill>
                  <a:srgbClr val="000000"/>
                </a:solidFill>
                <a:effectLst/>
                <a:latin typeface="Fira Code" panose="020B0809050000020004" pitchFamily="49" charset="0"/>
              </a:rPr>
              <a:t>              </a:t>
            </a:r>
            <a:r>
              <a:rPr lang="en-US" sz="2400" b="0" noProof="0" dirty="0">
                <a:solidFill>
                  <a:srgbClr val="795E26"/>
                </a:solidFill>
                <a:effectLst/>
                <a:latin typeface="Fira Code" panose="020B0809050000020004" pitchFamily="49" charset="0"/>
              </a:rPr>
              <a:t>vector</a:t>
            </a:r>
            <a:r>
              <a:rPr lang="en-US" sz="700" b="0" noProof="0" dirty="0">
                <a:solidFill>
                  <a:srgbClr val="795E26"/>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&lt;</a:t>
            </a:r>
            <a:r>
              <a:rPr lang="en-US" sz="2400" b="0" noProof="0" dirty="0">
                <a:solidFill>
                  <a:srgbClr val="A31515"/>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&gt;</a:t>
            </a:r>
            <a:r>
              <a:rPr lang="en-US" sz="700" b="0" noProof="0" dirty="0">
                <a:solidFill>
                  <a:srgbClr val="000000"/>
                </a:solidFill>
                <a:effectLst/>
                <a:latin typeface="Fira Code" panose="020B0809050000020004" pitchFamily="49" charset="0"/>
              </a:rPr>
              <a:t> </a:t>
            </a:r>
            <a:r>
              <a:rPr lang="en-US" sz="2400" b="0" noProof="0" dirty="0">
                <a:solidFill>
                  <a:srgbClr val="000000"/>
                </a:solidFill>
                <a:effectLst/>
                <a:latin typeface="Fira Code" panose="020B0809050000020004" pitchFamily="49" charset="0"/>
              </a:rPr>
              <a:t>(</a:t>
            </a:r>
            <a:r>
              <a:rPr lang="en-US" sz="2400" b="0" noProof="0" dirty="0">
                <a:solidFill>
                  <a:srgbClr val="0070C1"/>
                </a:solidFill>
                <a:effectLst/>
                <a:latin typeface="Fira Code" panose="020B0809050000020004" pitchFamily="49" charset="0"/>
              </a:rPr>
              <a:t>M</a:t>
            </a:r>
            <a:r>
              <a:rPr lang="en-US" sz="2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ADDBBC2-AFD6-00E5-EC92-B2FBB581AE19}"/>
              </a:ext>
            </a:extLst>
          </p:cNvPr>
          <p:cNvSpPr/>
          <p:nvPr/>
        </p:nvSpPr>
        <p:spPr>
          <a:xfrm>
            <a:off x="5788049" y="3449989"/>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46810C5D-DD0E-9895-8B05-9203DE3C52FC}"/>
              </a:ext>
            </a:extLst>
          </p:cNvPr>
          <p:cNvSpPr/>
          <p:nvPr/>
        </p:nvSpPr>
        <p:spPr>
          <a:xfrm>
            <a:off x="5788049" y="4005531"/>
            <a:ext cx="874096" cy="362907"/>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6993DAE6-53AF-8D78-063C-7D841E5B5C15}"/>
              </a:ext>
            </a:extLst>
          </p:cNvPr>
          <p:cNvSpPr/>
          <p:nvPr/>
        </p:nvSpPr>
        <p:spPr>
          <a:xfrm>
            <a:off x="9777338" y="4037123"/>
            <a:ext cx="1359068" cy="23508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E810BA74-1063-85B3-2324-103E8E900E55}"/>
              </a:ext>
            </a:extLst>
          </p:cNvPr>
          <p:cNvSpPr/>
          <p:nvPr/>
        </p:nvSpPr>
        <p:spPr>
          <a:xfrm>
            <a:off x="5762591" y="2928684"/>
            <a:ext cx="1261396" cy="302651"/>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 (Noarr)</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100544" y="3964137"/>
            <a:ext cx="4241343" cy="400110"/>
          </a:xfrm>
          <a:prstGeom prst="rect">
            <a:avLst/>
          </a:prstGeom>
          <a:noFill/>
        </p:spPr>
        <p:txBody>
          <a:bodyPr wrap="none">
            <a:spAutoFit/>
          </a:bodyPr>
          <a:lstStyle/>
          <a:p>
            <a:r>
              <a:rPr lang="en-US" sz="2000" noProof="0" dirty="0">
                <a:solidFill>
                  <a:srgbClr val="001080"/>
                </a:solidFill>
                <a:latin typeface="Fira Code" panose="020B0809050000020004" pitchFamily="49" charset="0"/>
              </a:rPr>
              <a:t>matrix</a:t>
            </a:r>
            <a:r>
              <a:rPr lang="en-US" sz="2000" noProof="0" dirty="0">
                <a:solidFill>
                  <a:srgbClr val="000000"/>
                </a:solidFill>
                <a:latin typeface="Fira Code" panose="020B0809050000020004" pitchFamily="49" charset="0"/>
              </a:rPr>
              <a:t>[</a:t>
            </a: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4</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2</a:t>
            </a:r>
            <a:r>
              <a:rPr lang="en-US" sz="2000" noProof="0" dirty="0">
                <a:solidFill>
                  <a:srgbClr val="000000"/>
                </a:solidFill>
                <a:latin typeface="Fira Code" panose="020B0809050000020004" pitchFamily="49" charset="0"/>
              </a:rPr>
              <a:t>)]</a:t>
            </a:r>
            <a:endParaRPr lang="en-US" sz="28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7505124" y="3906905"/>
            <a:ext cx="903112" cy="957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ight Brace 17">
            <a:extLst>
              <a:ext uri="{FF2B5EF4-FFF2-40B4-BE49-F238E27FC236}">
                <a16:creationId xmlns:a16="http://schemas.microsoft.com/office/drawing/2014/main" id="{D66E5204-4017-2EAF-4A60-5194514D442A}"/>
              </a:ext>
            </a:extLst>
          </p:cNvPr>
          <p:cNvSpPr/>
          <p:nvPr/>
        </p:nvSpPr>
        <p:spPr>
          <a:xfrm rot="16200000">
            <a:off x="6254587" y="2156360"/>
            <a:ext cx="275785" cy="126139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2937911" y="2154296"/>
            <a:ext cx="6909135" cy="461665"/>
          </a:xfrm>
          <a:prstGeom prst="rect">
            <a:avLst/>
          </a:prstGeom>
          <a:noFill/>
        </p:spPr>
        <p:txBody>
          <a:bodyPr wrap="none" rtlCol="0" anchor="b">
            <a:spAutoFit/>
          </a:bodyPr>
          <a:lstStyle/>
          <a:p>
            <a:r>
              <a:rPr lang="en-US" sz="2400" i="1"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316587" y="5681347"/>
            <a:ext cx="4308138"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4870763" y="5666800"/>
            <a:ext cx="6459562" cy="428707"/>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matrix_view</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bag</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layout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myBuffer</a:t>
            </a:r>
            <a:r>
              <a:rPr lang="en-US" sz="20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9/4/2026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4"/>
          <a:stretch>
            <a:fillRect/>
          </a:stretch>
        </p:blipFill>
        <p:spPr>
          <a:xfrm>
            <a:off x="1598974" y="2851618"/>
            <a:ext cx="1249070" cy="1241336"/>
          </a:xfrm>
          <a:prstGeom prst="rect">
            <a:avLst/>
          </a:prstGeom>
        </p:spPr>
      </p:pic>
      <p:sp>
        <p:nvSpPr>
          <p:cNvPr id="4" name="TextBox 3">
            <a:extLst>
              <a:ext uri="{FF2B5EF4-FFF2-40B4-BE49-F238E27FC236}">
                <a16:creationId xmlns:a16="http://schemas.microsoft.com/office/drawing/2014/main" id="{E49BE013-F209-8403-8D5B-F71D68CF5E02}"/>
              </a:ext>
            </a:extLst>
          </p:cNvPr>
          <p:cNvSpPr txBox="1"/>
          <p:nvPr/>
        </p:nvSpPr>
        <p:spPr>
          <a:xfrm>
            <a:off x="7845692" y="5063908"/>
            <a:ext cx="1425509" cy="442674"/>
          </a:xfrm>
          <a:prstGeom prst="roundRect">
            <a:avLst/>
          </a:prstGeom>
          <a:gradFill>
            <a:gsLst>
              <a:gs pos="0">
                <a:srgbClr val="AFD8F7"/>
              </a:gs>
              <a:gs pos="50000">
                <a:srgbClr val="A2CDEE"/>
              </a:gs>
              <a:gs pos="100000">
                <a:srgbClr val="9ED0F2"/>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pPr algn="ctr"/>
            <a:r>
              <a:rPr lang="en-US" sz="2000" noProof="0"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630151" y="5063908"/>
            <a:ext cx="1511785" cy="442674"/>
          </a:xfrm>
          <a:prstGeom prst="roundRect">
            <a:avLst/>
          </a:prstGeom>
          <a:gradFill>
            <a:gsLst>
              <a:gs pos="0">
                <a:srgbClr val="B5DCAE"/>
              </a:gs>
              <a:gs pos="50000">
                <a:srgbClr val="A8D1A1"/>
              </a:gs>
              <a:gs pos="100000">
                <a:srgbClr val="A3D29A"/>
              </a:gs>
            </a:gsLst>
          </a:gradFill>
        </p:spPr>
        <p:style>
          <a:lnRef idx="1">
            <a:schemeClr val="accent6"/>
          </a:lnRef>
          <a:fillRef idx="2">
            <a:schemeClr val="accent6"/>
          </a:fillRef>
          <a:effectRef idx="1">
            <a:schemeClr val="accent6"/>
          </a:effectRef>
          <a:fontRef idx="minor">
            <a:schemeClr val="dk1"/>
          </a:fontRef>
        </p:style>
        <p:txBody>
          <a:bodyPr wrap="none" rtlCol="0" anchor="b">
            <a:spAutoFit/>
          </a:bodyPr>
          <a:lstStyle/>
          <a:p>
            <a:pPr algn="ctr"/>
            <a:r>
              <a:rPr lang="en-US" sz="2000" noProof="0"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503683" y="5048027"/>
            <a:ext cx="381836" cy="369332"/>
          </a:xfrm>
          <a:prstGeom prst="rect">
            <a:avLst/>
          </a:prstGeom>
          <a:noFill/>
        </p:spPr>
        <p:txBody>
          <a:bodyPr wrap="none" rtlCol="0">
            <a:spAutoFit/>
          </a:bodyPr>
          <a:lstStyle/>
          <a:p>
            <a:r>
              <a:rPr lang="en-US" noProof="0"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777883" y="3338823"/>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4"/>
          <a:srcRect b="85346"/>
          <a:stretch>
            <a:fillRect/>
          </a:stretch>
        </p:blipFill>
        <p:spPr>
          <a:xfrm>
            <a:off x="1598974" y="2853365"/>
            <a:ext cx="1249070" cy="181909"/>
          </a:xfrm>
          <a:prstGeom prst="rect">
            <a:avLst/>
          </a:prstGeom>
        </p:spPr>
      </p:pic>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4"/>
          <a:srcRect r="86029" b="86573"/>
          <a:stretch>
            <a:fillRect/>
          </a:stretch>
        </p:blipFill>
        <p:spPr>
          <a:xfrm>
            <a:off x="1598974" y="2851546"/>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640756" y="285161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1F2CCB64-480B-94C0-D265-F80677755FCA}"/>
              </a:ext>
            </a:extLst>
          </p:cNvPr>
          <p:cNvSpPr/>
          <p:nvPr/>
        </p:nvSpPr>
        <p:spPr>
          <a:xfrm>
            <a:off x="7610823" y="3369590"/>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TextBox 16">
            <a:extLst>
              <a:ext uri="{FF2B5EF4-FFF2-40B4-BE49-F238E27FC236}">
                <a16:creationId xmlns:a16="http://schemas.microsoft.com/office/drawing/2014/main" id="{14AB64E0-7A98-B19A-964F-1077043B0728}"/>
              </a:ext>
            </a:extLst>
          </p:cNvPr>
          <p:cNvSpPr txBox="1"/>
          <p:nvPr/>
        </p:nvSpPr>
        <p:spPr>
          <a:xfrm rot="401190">
            <a:off x="7599041" y="3595793"/>
            <a:ext cx="996169" cy="400110"/>
          </a:xfrm>
          <a:prstGeom prst="rect">
            <a:avLst/>
          </a:prstGeom>
          <a:noFill/>
        </p:spPr>
        <p:txBody>
          <a:bodyPr wrap="square" rtlCol="0">
            <a:spAutoFit/>
          </a:bodyPr>
          <a:lstStyle/>
          <a:p>
            <a:r>
              <a:rPr lang="en-US" sz="2000" noProof="0" dirty="0"/>
              <a:t>access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EC39785-C6A5-6402-E99D-0A38D0D1251F}"/>
                  </a:ext>
                </a:extLst>
              </p:cNvPr>
              <p:cNvSpPr txBox="1"/>
              <p:nvPr/>
            </p:nvSpPr>
            <p:spPr>
              <a:xfrm>
                <a:off x="1101183" y="3193698"/>
                <a:ext cx="510524" cy="461665"/>
              </a:xfrm>
              <a:prstGeom prst="rect">
                <a:avLst/>
              </a:prstGeom>
              <a:noFill/>
            </p:spPr>
            <p:txBody>
              <a:bodyPr wrap="none" rtlCol="0">
                <a:spAutoFit/>
              </a:bodyPr>
              <a:lstStyle/>
              <a:p>
                <a:pPr/>
                <a14:m>
                  <m:oMathPara xmlns:m="http://schemas.openxmlformats.org/officeDocument/2006/math">
                    <m:oMath>
                      <m:r>
                        <a:rPr lang="en-US" sz="2400" i="1" noProof="0" smtClean="0">
                          <a:latin typeface="Cambria Math" panose="02040503050406030204" pitchFamily="18" charset="0"/>
                        </a:rPr>
                        <m:t>𝑚</m:t>
                      </m:r>
                    </m:oMath>
                  </m:oMathPara>
                </a14:m>
                <a:endParaRPr lang="en-US" sz="2400" noProof="0" dirty="0"/>
              </a:p>
            </p:txBody>
          </p:sp>
        </mc:Choice>
        <mc:Fallback xmlns="">
          <p:sp>
            <p:nvSpPr>
              <p:cNvPr id="15" name="TextBox 14">
                <a:extLst>
                  <a:ext uri="{FF2B5EF4-FFF2-40B4-BE49-F238E27FC236}">
                    <a16:creationId xmlns:a16="http://schemas.microsoft.com/office/drawing/2014/main" id="{0EC39785-C6A5-6402-E99D-0A38D0D1251F}"/>
                  </a:ext>
                </a:extLst>
              </p:cNvPr>
              <p:cNvSpPr txBox="1">
                <a:spLocks noRot="1" noChangeAspect="1" noMove="1" noResize="1" noEditPoints="1" noAdjustHandles="1" noChangeArrowheads="1" noChangeShapeType="1" noTextEdit="1"/>
              </p:cNvSpPr>
              <p:nvPr/>
            </p:nvSpPr>
            <p:spPr>
              <a:xfrm>
                <a:off x="1101183" y="3193698"/>
                <a:ext cx="510524"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C284C3B-1E96-7EDB-FF3B-2FFD924CFC76}"/>
                  </a:ext>
                </a:extLst>
              </p:cNvPr>
              <p:cNvSpPr txBox="1"/>
              <p:nvPr/>
            </p:nvSpPr>
            <p:spPr>
              <a:xfrm>
                <a:off x="2009123" y="2422355"/>
                <a:ext cx="428771"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panose="02040503050406030204" pitchFamily="18" charset="0"/>
                        </a:rPr>
                        <m:t>𝑛</m:t>
                      </m:r>
                    </m:oMath>
                  </m:oMathPara>
                </a14:m>
                <a:endParaRPr lang="en-US" sz="2400" noProof="0" dirty="0"/>
              </a:p>
            </p:txBody>
          </p:sp>
        </mc:Choice>
        <mc:Fallback xmlns="">
          <p:sp>
            <p:nvSpPr>
              <p:cNvPr id="22" name="TextBox 21">
                <a:extLst>
                  <a:ext uri="{FF2B5EF4-FFF2-40B4-BE49-F238E27FC236}">
                    <a16:creationId xmlns:a16="http://schemas.microsoft.com/office/drawing/2014/main" id="{3C284C3B-1E96-7EDB-FF3B-2FFD924CFC76}"/>
                  </a:ext>
                </a:extLst>
              </p:cNvPr>
              <p:cNvSpPr txBox="1">
                <a:spLocks noRot="1" noChangeAspect="1" noMove="1" noResize="1" noEditPoints="1" noAdjustHandles="1" noChangeArrowheads="1" noChangeShapeType="1" noTextEdit="1"/>
              </p:cNvSpPr>
              <p:nvPr/>
            </p:nvSpPr>
            <p:spPr>
              <a:xfrm>
                <a:off x="2009123" y="2422355"/>
                <a:ext cx="428771" cy="461665"/>
              </a:xfrm>
              <a:prstGeom prst="rect">
                <a:avLst/>
              </a:prstGeom>
              <a:blipFill>
                <a:blip r:embed="rId6"/>
                <a:stretch>
                  <a:fillRect/>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AEBC8779-F4FF-3DA2-7279-F475B25C2AB4}"/>
              </a:ext>
            </a:extLst>
          </p:cNvPr>
          <p:cNvSpPr txBox="1"/>
          <p:nvPr/>
        </p:nvSpPr>
        <p:spPr>
          <a:xfrm>
            <a:off x="3078241" y="1168157"/>
            <a:ext cx="6293711" cy="461665"/>
          </a:xfrm>
          <a:prstGeom prst="rect">
            <a:avLst/>
          </a:prstGeom>
          <a:noFill/>
        </p:spPr>
        <p:txBody>
          <a:bodyPr wrap="none" rtlCol="0">
            <a:spAutoFit/>
          </a:bodyPr>
          <a:lstStyle/>
          <a:p>
            <a:pPr algn="ctr"/>
            <a:r>
              <a:rPr lang="en-US" sz="2400" noProof="0" dirty="0"/>
              <a:t>Composition of building blocks in native C++</a:t>
            </a:r>
          </a:p>
        </p:txBody>
      </p:sp>
    </p:spTree>
    <p:custDataLst>
      <p:tags r:id="rId1"/>
    </p:custDataLst>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xit"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xit" presetSubtype="0" fill="hold" grpId="0" nodeType="withEffect">
                                  <p:stCondLst>
                                    <p:cond delay="0"/>
                                  </p:stCondLst>
                                  <p:childTnLst>
                                    <p:set>
                                      <p:cBhvr>
                                        <p:cTn id="32" dur="1" fill="hold">
                                          <p:stCondLst>
                                            <p:cond delay="0"/>
                                          </p:stCondLst>
                                        </p:cTn>
                                        <p:tgtEl>
                                          <p:spTgt spid="31"/>
                                        </p:tgtEl>
                                        <p:attrNameLst>
                                          <p:attrName>style.visibility</p:attrName>
                                        </p:attrNameLst>
                                      </p:cBhvr>
                                      <p:to>
                                        <p:strVal val="hidden"/>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13"/>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8" grpId="0" animBg="1"/>
      <p:bldP spid="19" grpId="0"/>
      <p:bldP spid="21" grpId="0" animBg="1"/>
      <p:bldP spid="28" grpId="0" animBg="1"/>
      <p:bldP spid="4" grpId="0" animBg="1"/>
      <p:bldP spid="13" grpId="0" animBg="1"/>
      <p:bldP spid="32" grpId="0"/>
      <p:bldP spid="33" grpId="0" animBg="1"/>
      <p:bldP spid="27" grpId="0" animBg="1"/>
      <p:bldP spid="31" grpId="0" animBg="1"/>
      <p:bldP spid="17" grpId="0"/>
      <p:bldP spid="15" grpId="0"/>
      <p:bldP spid="2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557028" y="2604917"/>
            <a:ext cx="1353345" cy="300575"/>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252965" y="3148043"/>
            <a:ext cx="6954364"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411173" y="5027079"/>
            <a:ext cx="9207632"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other_matrix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959229" y="1742602"/>
            <a:ext cx="5503336"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j</a:t>
            </a:r>
            <a:r>
              <a:rPr lang="en-US" sz="2000" b="0" noProof="0" dirty="0" err="1">
                <a:solidFill>
                  <a:srgbClr val="000000"/>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init</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endCxn id="12" idx="0"/>
          </p:cNvCxnSpPr>
          <p:nvPr/>
        </p:nvCxnSpPr>
        <p:spPr>
          <a:xfrm>
            <a:off x="6473723" y="2457214"/>
            <a:ext cx="1256424" cy="690829"/>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9/4/2026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637175" y="1343818"/>
            <a:ext cx="6157391" cy="461665"/>
          </a:xfrm>
          <a:prstGeom prst="rect">
            <a:avLst/>
          </a:prstGeom>
          <a:noFill/>
        </p:spPr>
        <p:txBody>
          <a:bodyPr wrap="none" rtlCol="0" anchor="b">
            <a:spAutoFit/>
          </a:bodyPr>
          <a:lstStyle/>
          <a:p>
            <a:pPr algn="ctr"/>
            <a:r>
              <a:rPr lang="en-US" sz="2400"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2322938" y="6089892"/>
            <a:ext cx="6795450" cy="461665"/>
          </a:xfrm>
          <a:prstGeom prst="rect">
            <a:avLst/>
          </a:prstGeom>
          <a:noFill/>
        </p:spPr>
        <p:txBody>
          <a:bodyPr wrap="none" rtlCol="0">
            <a:spAutoFit/>
          </a:bodyPr>
          <a:lstStyle/>
          <a:p>
            <a:pPr algn="ctr"/>
            <a:r>
              <a:rPr lang="en-US" sz="2400" b="1" noProof="0" dirty="0"/>
              <a:t>Copy</a:t>
            </a:r>
            <a:r>
              <a:rPr lang="en-US" sz="2400" noProof="0" dirty="0"/>
              <a:t> to another matrix with the same index space</a:t>
            </a:r>
          </a:p>
        </p:txBody>
      </p:sp>
      <p:sp>
        <p:nvSpPr>
          <p:cNvPr id="5" name="TextBox 4">
            <a:extLst>
              <a:ext uri="{FF2B5EF4-FFF2-40B4-BE49-F238E27FC236}">
                <a16:creationId xmlns:a16="http://schemas.microsoft.com/office/drawing/2014/main" id="{102F209B-F6E7-05CC-AF4B-64FCAFC0D5D7}"/>
              </a:ext>
            </a:extLst>
          </p:cNvPr>
          <p:cNvSpPr txBox="1"/>
          <p:nvPr/>
        </p:nvSpPr>
        <p:spPr>
          <a:xfrm>
            <a:off x="4987793" y="4232113"/>
            <a:ext cx="5484707" cy="461665"/>
          </a:xfrm>
          <a:prstGeom prst="rect">
            <a:avLst/>
          </a:prstGeom>
          <a:noFill/>
        </p:spPr>
        <p:txBody>
          <a:bodyPr wrap="none" rtlCol="0">
            <a:spAutoFit/>
          </a:bodyPr>
          <a:lstStyle/>
          <a:p>
            <a:pPr algn="ctr"/>
            <a:r>
              <a:rPr lang="en-US" sz="2400" b="1" noProof="0" dirty="0"/>
              <a:t>Traversal-agnostic 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10145438" y="2666484"/>
            <a:ext cx="182989" cy="76374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8" name="TextBox 7">
            <a:extLst>
              <a:ext uri="{FF2B5EF4-FFF2-40B4-BE49-F238E27FC236}">
                <a16:creationId xmlns:a16="http://schemas.microsoft.com/office/drawing/2014/main" id="{CF4B3C17-3722-616D-840D-1F144C8A9277}"/>
              </a:ext>
            </a:extLst>
          </p:cNvPr>
          <p:cNvSpPr txBox="1"/>
          <p:nvPr/>
        </p:nvSpPr>
        <p:spPr>
          <a:xfrm>
            <a:off x="8947541" y="2557312"/>
            <a:ext cx="2578782" cy="400110"/>
          </a:xfrm>
          <a:prstGeom prst="rect">
            <a:avLst/>
          </a:prstGeom>
          <a:noFill/>
        </p:spPr>
        <p:txBody>
          <a:bodyPr wrap="none" anchor="b">
            <a:spAutoFit/>
          </a:bodyPr>
          <a:lstStyle/>
          <a:p>
            <a:pPr algn="ctr"/>
            <a:r>
              <a:rPr lang="en-US" sz="2000" noProof="0" dirty="0" err="1">
                <a:solidFill>
                  <a:srgbClr val="0070C1"/>
                </a:solidFill>
                <a:latin typeface="Fira Code" panose="020B0809050000020004" pitchFamily="49" charset="0"/>
              </a:rPr>
              <a:t>idx</a:t>
            </a:r>
            <a:r>
              <a:rPr lang="en-US" sz="600" noProof="0" dirty="0">
                <a:solidFill>
                  <a:srgbClr val="0070C1"/>
                </a:solidFill>
                <a:latin typeface="Fira Code" panose="020B0809050000020004" pitchFamily="49" charset="0"/>
              </a:rPr>
              <a:t> </a:t>
            </a:r>
            <a:r>
              <a:rPr lang="en-US" sz="2000" noProof="0" dirty="0">
                <a:solidFill>
                  <a:srgbClr val="000000"/>
                </a:solidFill>
                <a:latin typeface="Fira Code" panose="020B0809050000020004" pitchFamily="49" charset="0"/>
              </a:rPr>
              <a:t>&lt;</a:t>
            </a:r>
            <a:r>
              <a:rPr lang="en-US" sz="2000" noProof="0" dirty="0">
                <a:solidFill>
                  <a:srgbClr val="A31515"/>
                </a:solidFill>
                <a:latin typeface="Fira Code" panose="020B0809050000020004" pitchFamily="49" charset="0"/>
              </a:rPr>
              <a:t>'</a:t>
            </a:r>
            <a:r>
              <a:rPr lang="en-US" sz="2000" noProof="0" dirty="0" err="1">
                <a:solidFill>
                  <a:srgbClr val="A31515"/>
                </a:solidFill>
                <a:latin typeface="Fira Code" panose="020B0809050000020004" pitchFamily="49" charset="0"/>
              </a:rPr>
              <a:t>m'</a:t>
            </a:r>
            <a:r>
              <a:rPr lang="en-US" sz="2000" noProof="0" dirty="0" err="1">
                <a:solidFill>
                  <a:srgbClr val="000000"/>
                </a:solidFill>
                <a:latin typeface="Fira Code" panose="020B0809050000020004" pitchFamily="49" charset="0"/>
              </a:rPr>
              <a:t>,</a:t>
            </a:r>
            <a:r>
              <a:rPr lang="en-US" sz="2000" noProof="0" dirty="0" err="1">
                <a:solidFill>
                  <a:srgbClr val="A31515"/>
                </a:solidFill>
                <a:latin typeface="Fira Code" panose="020B0809050000020004" pitchFamily="49" charset="0"/>
              </a:rPr>
              <a:t>'n</a:t>
            </a:r>
            <a:r>
              <a:rPr lang="en-US" sz="2000" noProof="0" dirty="0">
                <a:solidFill>
                  <a:srgbClr val="A31515"/>
                </a:solidFill>
                <a:latin typeface="Fira Code" panose="020B0809050000020004" pitchFamily="49" charset="0"/>
              </a:rPr>
              <a:t>'</a:t>
            </a:r>
            <a:r>
              <a:rPr lang="en-US" sz="2000" noProof="0" dirty="0">
                <a:solidFill>
                  <a:srgbClr val="000000"/>
                </a:solidFill>
                <a:latin typeface="Fira Code" panose="020B0809050000020004" pitchFamily="49" charset="0"/>
              </a:rPr>
              <a:t>&gt;</a:t>
            </a:r>
            <a:r>
              <a:rPr lang="en-US" sz="600" noProof="0" dirty="0">
                <a:solidFill>
                  <a:srgbClr val="000000"/>
                </a:solidFill>
                <a:latin typeface="Fira Code" panose="020B0809050000020004" pitchFamily="49" charset="0"/>
              </a:rPr>
              <a:t> </a:t>
            </a:r>
            <a:r>
              <a:rPr lang="en-US" sz="2000" noProof="0" dirty="0">
                <a:solidFill>
                  <a:srgbClr val="000000"/>
                </a:solidFill>
                <a:latin typeface="Fira Code" panose="020B0809050000020004" pitchFamily="49" charset="0"/>
              </a:rPr>
              <a:t>(</a:t>
            </a:r>
            <a:r>
              <a:rPr lang="en-US" sz="2000" noProof="0" dirty="0">
                <a:solidFill>
                  <a:srgbClr val="0070C1"/>
                </a:solidFill>
                <a:latin typeface="Fira Code" panose="020B0809050000020004" pitchFamily="49" charset="0"/>
              </a:rPr>
              <a:t>…</a:t>
            </a:r>
            <a:r>
              <a:rPr lang="en-US" sz="2000" noProof="0" dirty="0">
                <a:solidFill>
                  <a:srgbClr val="000000"/>
                </a:solidFill>
                <a:latin typeface="Fira Code" panose="020B0809050000020004" pitchFamily="49" charset="0"/>
              </a:rPr>
              <a:t>)</a:t>
            </a:r>
            <a:endParaRPr lang="en-US" sz="2400" noProof="0" dirty="0"/>
          </a:p>
        </p:txBody>
      </p:sp>
    </p:spTree>
    <p:custDataLst>
      <p:tags r:id="rId1"/>
    </p:custDataLst>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45" name="Rectangle 44">
            <a:extLst>
              <a:ext uri="{FF2B5EF4-FFF2-40B4-BE49-F238E27FC236}">
                <a16:creationId xmlns:a16="http://schemas.microsoft.com/office/drawing/2014/main" id="{B3976AD9-FA58-3705-5BFD-DD270E27737C}"/>
              </a:ext>
            </a:extLst>
          </p:cNvPr>
          <p:cNvSpPr/>
          <p:nvPr/>
        </p:nvSpPr>
        <p:spPr>
          <a:xfrm>
            <a:off x="4558820" y="5327992"/>
            <a:ext cx="245269" cy="323451"/>
          </a:xfrm>
          <a:prstGeom prst="rect">
            <a:avLst/>
          </a:prstGeom>
          <a:solidFill>
            <a:srgbClr val="D5E8D4"/>
          </a:solidFill>
          <a:ln w="9525" cap="flat">
            <a:solidFill>
              <a:srgbClr val="82B366"/>
            </a:solidFill>
            <a:prstDash val="solid"/>
            <a:miter/>
          </a:ln>
        </p:spPr>
        <p:txBody>
          <a:bodyPr/>
          <a:lstStyle/>
          <a:p>
            <a:endParaRPr lang="en-US" sz="2400" noProof="0" dirty="0"/>
          </a:p>
        </p:txBody>
      </p:sp>
      <p:sp>
        <p:nvSpPr>
          <p:cNvPr id="46" name="Rectangle 45">
            <a:extLst>
              <a:ext uri="{FF2B5EF4-FFF2-40B4-BE49-F238E27FC236}">
                <a16:creationId xmlns:a16="http://schemas.microsoft.com/office/drawing/2014/main" id="{911B9DBE-6587-8382-9E03-37F6BAC2D133}"/>
              </a:ext>
            </a:extLst>
          </p:cNvPr>
          <p:cNvSpPr/>
          <p:nvPr/>
        </p:nvSpPr>
        <p:spPr>
          <a:xfrm>
            <a:off x="4558819" y="6160621"/>
            <a:ext cx="245269" cy="318591"/>
          </a:xfrm>
          <a:prstGeom prst="rect">
            <a:avLst/>
          </a:prstGeom>
          <a:solidFill>
            <a:srgbClr val="DAE8FC"/>
          </a:solidFill>
          <a:ln w="9525" cap="flat">
            <a:solidFill>
              <a:srgbClr val="6C8EBF"/>
            </a:solidFill>
            <a:prstDash val="solid"/>
            <a:miter/>
          </a:ln>
        </p:spPr>
        <p:txBody>
          <a:bodyPr/>
          <a:lstStyle/>
          <a:p>
            <a:endParaRPr lang="en-US" sz="2400" noProof="0" dirty="0"/>
          </a:p>
        </p:txBody>
      </p:sp>
      <p:sp>
        <p:nvSpPr>
          <p:cNvPr id="47" name="Rectangle 46">
            <a:extLst>
              <a:ext uri="{FF2B5EF4-FFF2-40B4-BE49-F238E27FC236}">
                <a16:creationId xmlns:a16="http://schemas.microsoft.com/office/drawing/2014/main" id="{68983F2C-1668-52BB-B4F9-C612E7B2F10A}"/>
              </a:ext>
            </a:extLst>
          </p:cNvPr>
          <p:cNvSpPr/>
          <p:nvPr/>
        </p:nvSpPr>
        <p:spPr>
          <a:xfrm>
            <a:off x="4558819" y="5746737"/>
            <a:ext cx="245269" cy="318590"/>
          </a:xfrm>
          <a:prstGeom prst="rect">
            <a:avLst/>
          </a:prstGeom>
          <a:solidFill>
            <a:srgbClr val="F8CECC"/>
          </a:solidFill>
          <a:ln w="9525" cap="flat">
            <a:solidFill>
              <a:srgbClr val="B85450"/>
            </a:solidFill>
            <a:prstDash val="solid"/>
            <a:miter/>
          </a:ln>
        </p:spPr>
        <p:txBody>
          <a:bodyPr/>
          <a:lstStyle/>
          <a:p>
            <a:endParaRPr lang="en-US" sz="2400" noProof="0" dirty="0"/>
          </a:p>
        </p:txBody>
      </p:sp>
      <p:sp>
        <p:nvSpPr>
          <p:cNvPr id="19" name="Rectangle 18">
            <a:extLst>
              <a:ext uri="{FF2B5EF4-FFF2-40B4-BE49-F238E27FC236}">
                <a16:creationId xmlns:a16="http://schemas.microsoft.com/office/drawing/2014/main" id="{B800FBA5-1D37-3DF6-701A-70896D275692}"/>
              </a:ext>
            </a:extLst>
          </p:cNvPr>
          <p:cNvSpPr/>
          <p:nvPr/>
        </p:nvSpPr>
        <p:spPr>
          <a:xfrm>
            <a:off x="5067934" y="3750432"/>
            <a:ext cx="222808" cy="279329"/>
          </a:xfrm>
          <a:prstGeom prst="rect">
            <a:avLst/>
          </a:prstGeom>
          <a:solidFill>
            <a:srgbClr val="DAE8FC"/>
          </a:solidFill>
          <a:ln w="9525" cap="flat">
            <a:solidFill>
              <a:srgbClr val="6C8EBF"/>
            </a:solidFill>
            <a:prstDash val="solid"/>
            <a:miter/>
          </a:ln>
        </p:spPr>
        <p:txBody>
          <a:bodyPr wrap="none"/>
          <a:lstStyle/>
          <a:p>
            <a:endParaRPr lang="en-US" sz="2400" noProof="0" dirty="0"/>
          </a:p>
        </p:txBody>
      </p:sp>
      <p:sp>
        <p:nvSpPr>
          <p:cNvPr id="13" name="Rectangle 12">
            <a:extLst>
              <a:ext uri="{FF2B5EF4-FFF2-40B4-BE49-F238E27FC236}">
                <a16:creationId xmlns:a16="http://schemas.microsoft.com/office/drawing/2014/main" id="{666A78F4-88C1-5BB5-A720-F8E1C747C4A4}"/>
              </a:ext>
            </a:extLst>
          </p:cNvPr>
          <p:cNvSpPr/>
          <p:nvPr/>
        </p:nvSpPr>
        <p:spPr>
          <a:xfrm>
            <a:off x="4605485" y="3750432"/>
            <a:ext cx="222808" cy="279329"/>
          </a:xfrm>
          <a:prstGeom prst="rect">
            <a:avLst/>
          </a:prstGeom>
          <a:solidFill>
            <a:srgbClr val="F8CECC"/>
          </a:solidFill>
          <a:ln w="9525" cap="flat">
            <a:solidFill>
              <a:srgbClr val="B85450"/>
            </a:solidFill>
            <a:prstDash val="solid"/>
            <a:miter/>
          </a:ln>
        </p:spPr>
        <p:txBody>
          <a:bodyPr wrap="none"/>
          <a:lstStyle/>
          <a:p>
            <a:endParaRPr lang="en-US" sz="2400" noProof="0" dirty="0"/>
          </a:p>
        </p:txBody>
      </p:sp>
      <p:sp>
        <p:nvSpPr>
          <p:cNvPr id="11" name="Rectangle 10">
            <a:extLst>
              <a:ext uri="{FF2B5EF4-FFF2-40B4-BE49-F238E27FC236}">
                <a16:creationId xmlns:a16="http://schemas.microsoft.com/office/drawing/2014/main" id="{45C6B551-6774-AC99-228E-D1F7AAF62B05}"/>
              </a:ext>
            </a:extLst>
          </p:cNvPr>
          <p:cNvSpPr/>
          <p:nvPr/>
        </p:nvSpPr>
        <p:spPr>
          <a:xfrm>
            <a:off x="4152567" y="3750431"/>
            <a:ext cx="222807" cy="279329"/>
          </a:xfrm>
          <a:prstGeom prst="rect">
            <a:avLst/>
          </a:prstGeom>
          <a:solidFill>
            <a:srgbClr val="D5E8D4"/>
          </a:solidFill>
          <a:ln w="9525" cap="flat">
            <a:solidFill>
              <a:srgbClr val="82B366"/>
            </a:solidFill>
            <a:prstDash val="solid"/>
            <a:miter/>
          </a:ln>
        </p:spPr>
        <p:txBody>
          <a:bodyPr wrap="none"/>
          <a:lstStyle/>
          <a:p>
            <a:endParaRPr lang="en-US" sz="2400" noProof="0" dirty="0"/>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9/4/2026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860575" y="1130185"/>
            <a:ext cx="2909772" cy="461665"/>
          </a:xfrm>
          <a:prstGeom prst="rect">
            <a:avLst/>
          </a:prstGeom>
          <a:noFill/>
        </p:spPr>
        <p:txBody>
          <a:bodyPr wrap="none" rtlCol="0">
            <a:spAutoFit/>
          </a:bodyPr>
          <a:lstStyle/>
          <a:p>
            <a:pPr algn="ctr"/>
            <a:r>
              <a:rPr lang="en-US" sz="2400" noProof="0" dirty="0"/>
              <a:t>Matrix multiplication</a:t>
            </a:r>
          </a:p>
        </p:txBody>
      </p:sp>
      <p:sp>
        <p:nvSpPr>
          <p:cNvPr id="24" name="TextBox 23">
            <a:extLst>
              <a:ext uri="{FF2B5EF4-FFF2-40B4-BE49-F238E27FC236}">
                <a16:creationId xmlns:a16="http://schemas.microsoft.com/office/drawing/2014/main" id="{1D0BC665-A3D5-7187-98DA-94BA7091C22C}"/>
              </a:ext>
            </a:extLst>
          </p:cNvPr>
          <p:cNvSpPr txBox="1"/>
          <p:nvPr/>
        </p:nvSpPr>
        <p:spPr>
          <a:xfrm>
            <a:off x="4485795" y="1740032"/>
            <a:ext cx="6494085" cy="1472070"/>
          </a:xfrm>
          <a:prstGeom prst="rect">
            <a:avLst/>
          </a:prstGeom>
          <a:noFill/>
          <a:ln>
            <a:solidFill>
              <a:schemeClr val="tx1"/>
            </a:solidFill>
          </a:ln>
        </p:spPr>
        <p:txBody>
          <a:bodyPr wrap="none">
            <a:spAutoFit/>
          </a:bodyPr>
          <a:lstStyle/>
          <a:p>
            <a:pPr>
              <a:lnSpc>
                <a:spcPct val="113095"/>
              </a:lnSpc>
            </a:pPr>
            <a:r>
              <a:rPr lang="en-US" sz="2000" dirty="0">
                <a:solidFill>
                  <a:srgbClr val="AF00DB"/>
                </a:solidFill>
                <a:latin typeface="Fira Code" panose="020B0809050000020004" pitchFamily="49" charset="0"/>
              </a:rPr>
              <a:t>for</a:t>
            </a:r>
            <a:r>
              <a:rPr lang="en-US" sz="2000" dirty="0">
                <a:solidFill>
                  <a:srgbClr val="000000"/>
                </a:solidFill>
                <a:latin typeface="Fira Code" panose="020B0809050000020004" pitchFamily="49" charset="0"/>
              </a:rPr>
              <a:t> (</a:t>
            </a:r>
            <a:r>
              <a:rPr lang="en-US" sz="2000" dirty="0">
                <a:solidFill>
                  <a:srgbClr val="0000FF"/>
                </a:solidFill>
                <a:latin typeface="Fira Code" panose="020B0809050000020004" pitchFamily="49" charset="0"/>
              </a:rPr>
              <a:t>int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 </a:t>
            </a:r>
            <a:r>
              <a:rPr lang="en-US" sz="2000" dirty="0">
                <a:solidFill>
                  <a:srgbClr val="098658"/>
                </a:solidFill>
                <a:latin typeface="Fira Code" panose="020B0809050000020004" pitchFamily="49" charset="0"/>
              </a:rPr>
              <a:t>0</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 &lt; </a:t>
            </a:r>
            <a:r>
              <a:rPr lang="en-US" sz="2000" dirty="0">
                <a:solidFill>
                  <a:srgbClr val="0070C1"/>
                </a:solidFill>
                <a:latin typeface="Fira Code" panose="020B0809050000020004" pitchFamily="49" charset="0"/>
              </a:rPr>
              <a:t>M</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i</a:t>
            </a:r>
            <a:r>
              <a:rPr lang="en-US" sz="2000" dirty="0">
                <a:solidFill>
                  <a:srgbClr val="000000"/>
                </a:solidFill>
                <a:latin typeface="Fira Code" panose="020B0809050000020004" pitchFamily="49" charset="0"/>
              </a:rPr>
              <a:t>++)</a:t>
            </a:r>
          </a:p>
          <a:p>
            <a:pPr>
              <a:lnSpc>
                <a:spcPct val="113095"/>
              </a:lnSpc>
            </a:pPr>
            <a:r>
              <a:rPr lang="en-US" sz="2000" noProof="0" dirty="0">
                <a:solidFill>
                  <a:srgbClr val="AF00DB"/>
                </a:solidFill>
                <a:latin typeface="Fira Code" panose="020B0809050000020004" pitchFamily="49" charset="0"/>
              </a:rPr>
              <a:t>    for</a:t>
            </a:r>
            <a:r>
              <a:rPr lang="en-US" sz="2000" noProof="0" dirty="0">
                <a:solidFill>
                  <a:srgbClr val="000000"/>
                </a:solidFill>
                <a:latin typeface="Fira Code" panose="020B0809050000020004" pitchFamily="49" charset="0"/>
              </a:rPr>
              <a:t> (</a:t>
            </a:r>
            <a:r>
              <a:rPr lang="en-US" sz="2000" noProof="0" dirty="0">
                <a:solidFill>
                  <a:srgbClr val="0000FF"/>
                </a:solidFill>
                <a:latin typeface="Fira Code" panose="020B0809050000020004" pitchFamily="49" charset="0"/>
              </a:rPr>
              <a:t>int</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 </a:t>
            </a:r>
            <a:r>
              <a:rPr lang="en-US" sz="2000" noProof="0" dirty="0">
                <a:solidFill>
                  <a:srgbClr val="098658"/>
                </a:solidFill>
                <a:latin typeface="Fira Code" panose="020B0809050000020004" pitchFamily="49" charset="0"/>
              </a:rPr>
              <a:t>0</a:t>
            </a:r>
            <a:r>
              <a:rPr lang="en-US" sz="2000" noProof="0" dirty="0">
                <a:solidFill>
                  <a:srgbClr val="000000"/>
                </a:solidFill>
                <a:latin typeface="Fira Code" panose="020B0809050000020004" pitchFamily="49" charset="0"/>
              </a:rPr>
              <a:t>; </a:t>
            </a:r>
            <a:r>
              <a:rPr lang="en-US" sz="2000" noProof="0" dirty="0">
                <a:solidFill>
                  <a:srgbClr val="001080"/>
                </a:solidFill>
                <a:latin typeface="Fira Code" panose="020B0809050000020004" pitchFamily="49" charset="0"/>
              </a:rPr>
              <a:t>j</a:t>
            </a:r>
            <a:r>
              <a:rPr lang="en-US" sz="2000" noProof="0" dirty="0">
                <a:solidFill>
                  <a:srgbClr val="000000"/>
                </a:solidFill>
                <a:latin typeface="Fira Code" panose="020B0809050000020004" pitchFamily="49" charset="0"/>
              </a:rPr>
              <a:t> &lt; </a:t>
            </a:r>
            <a:r>
              <a:rPr lang="en-US" sz="2000" noProof="0" dirty="0">
                <a:solidFill>
                  <a:srgbClr val="0070C1"/>
                </a:solidFill>
                <a:latin typeface="Fira Code" panose="020B0809050000020004" pitchFamily="49" charset="0"/>
              </a:rPr>
              <a:t>N</a:t>
            </a:r>
            <a:r>
              <a:rPr lang="en-US" sz="2000" noProof="0" dirty="0">
                <a:solidFill>
                  <a:srgbClr val="000000"/>
                </a:solidFill>
                <a:latin typeface="Fira Code" panose="020B0809050000020004" pitchFamily="49" charset="0"/>
              </a:rPr>
              <a:t>; </a:t>
            </a:r>
            <a:r>
              <a:rPr lang="en-US" sz="2000" noProof="0" dirty="0" err="1">
                <a:solidFill>
                  <a:srgbClr val="001080"/>
                </a:solidFill>
                <a:latin typeface="Fira Code" panose="020B0809050000020004" pitchFamily="49" charset="0"/>
              </a:rPr>
              <a:t>j</a:t>
            </a:r>
            <a:r>
              <a:rPr lang="en-US" sz="2000" noProof="0" dirty="0" err="1">
                <a:solidFill>
                  <a:srgbClr val="000000"/>
                </a:solidFill>
                <a:latin typeface="Fira Code" panose="020B0809050000020004" pitchFamily="49" charset="0"/>
              </a:rPr>
              <a:t>++</a:t>
            </a:r>
            <a:r>
              <a:rPr lang="en-US" sz="2000" noProof="0" dirty="0">
                <a:solidFill>
                  <a:srgbClr val="000000"/>
                </a:solidFill>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AF00DB"/>
                </a:solidFill>
                <a:effectLst/>
                <a:latin typeface="Fira Code" panose="020B0809050000020004" pitchFamily="49" charset="0"/>
              </a:rPr>
              <a:t>for</a:t>
            </a:r>
            <a:r>
              <a:rPr lang="en-US" sz="2000" b="0" noProof="0" dirty="0">
                <a:solidFill>
                  <a:srgbClr val="000000"/>
                </a:solidFill>
                <a:effectLst/>
                <a:latin typeface="Fira Code" panose="020B0809050000020004" pitchFamily="49" charset="0"/>
              </a:rPr>
              <a:t> (</a:t>
            </a:r>
            <a:r>
              <a:rPr lang="en-US" sz="2000" b="0" noProof="0" dirty="0">
                <a:solidFill>
                  <a:srgbClr val="0000FF"/>
                </a:solidFill>
                <a:effectLst/>
                <a:latin typeface="Fira Code" panose="020B0809050000020004" pitchFamily="49" charset="0"/>
              </a:rPr>
              <a:t>int</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98658"/>
                </a:solidFill>
                <a:effectLst/>
                <a:latin typeface="Fira Code" panose="020B0809050000020004" pitchFamily="49" charset="0"/>
              </a:rPr>
              <a:t>0</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&lt; </a:t>
            </a:r>
            <a:r>
              <a:rPr lang="en-US" sz="2000" b="0" noProof="0" dirty="0">
                <a:solidFill>
                  <a:srgbClr val="0070C1"/>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err="1">
                <a:solidFill>
                  <a:srgbClr val="001080"/>
                </a:solidFill>
                <a:effectLst/>
                <a:latin typeface="Fira Code" panose="020B0809050000020004" pitchFamily="49" charset="0"/>
              </a:rPr>
              <a:t>i</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k</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j</a:t>
            </a:r>
            <a:r>
              <a:rPr lang="en-US" sz="200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9E2F7AA6-5F7F-99DE-465E-A4472E5548CB}"/>
              </a:ext>
            </a:extLst>
          </p:cNvPr>
          <p:cNvSpPr txBox="1"/>
          <p:nvPr/>
        </p:nvSpPr>
        <p:spPr>
          <a:xfrm>
            <a:off x="2565345" y="3678613"/>
            <a:ext cx="7109639"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328569" y="1596409"/>
            <a:ext cx="4003009" cy="1832591"/>
            <a:chOff x="1106463" y="1862333"/>
            <a:chExt cx="4003009" cy="1832591"/>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06463" y="1862333"/>
              <a:ext cx="3955707" cy="1832591"/>
              <a:chOff x="37909" y="1664560"/>
              <a:chExt cx="5395542" cy="2499634"/>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12033" y="2646411"/>
                    <a:ext cx="422427"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12033" y="2646411"/>
                    <a:ext cx="422427" cy="54574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32966" y="2624906"/>
                    <a:ext cx="586414"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32966" y="2624906"/>
                    <a:ext cx="586414" cy="545746"/>
                  </a:xfrm>
                  <a:prstGeom prst="rect">
                    <a:avLst/>
                  </a:prstGeom>
                  <a:blipFill>
                    <a:blip r:embed="rId4"/>
                    <a:stretch>
                      <a:fillRect/>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848109" y="3618449"/>
                <a:ext cx="461784" cy="545745"/>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546352"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452754" y="3614686"/>
                <a:ext cx="461784"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37909" y="1964973"/>
                    <a:ext cx="622972" cy="545746"/>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37909" y="1964973"/>
                    <a:ext cx="622972" cy="54574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5" y="1673266"/>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5" y="1673266"/>
                    <a:ext cx="526679" cy="54574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563378" y="2038382"/>
                    <a:ext cx="52667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563378" y="2038382"/>
                    <a:ext cx="526679" cy="54574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490369" y="1858436"/>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490369" y="1858436"/>
                    <a:ext cx="531139" cy="54574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35376" y="1890394"/>
                    <a:ext cx="622972"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35376" y="1890394"/>
                    <a:ext cx="622972" cy="54574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531139" cy="545746"/>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531139" cy="545746"/>
                  </a:xfrm>
                  <a:prstGeom prst="rect">
                    <a:avLst/>
                  </a:prstGeom>
                  <a:blipFill>
                    <a:blip r:embed="rId10"/>
                    <a:stretch>
                      <a:fillRect/>
                    </a:stretch>
                  </a:blipFill>
                </p:spPr>
                <p:txBody>
                  <a:bodyPr/>
                  <a:lstStyle/>
                  <a:p>
                    <a:r>
                      <a:rPr lang="en-US">
                        <a:noFill/>
                      </a:rPr>
                      <a:t> </a:t>
                    </a:r>
                  </a:p>
                </p:txBody>
              </p:sp>
            </mc:Fallback>
          </mc:AlternateContent>
        </p:grpSp>
      </p:grp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6693247" y="2639021"/>
            <a:ext cx="466511" cy="1612673"/>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1F67E973-44FE-CE64-80EC-471D1B6AA36F}"/>
                  </a:ext>
                </a:extLst>
              </p:cNvPr>
              <p:cNvSpPr txBox="1"/>
              <p:nvPr/>
            </p:nvSpPr>
            <p:spPr>
              <a:xfrm>
                <a:off x="4485795" y="5232699"/>
                <a:ext cx="1587166" cy="1384995"/>
              </a:xfrm>
              <a:prstGeom prst="rect">
                <a:avLst/>
              </a:prstGeom>
              <a:noFill/>
            </p:spPr>
            <p:txBody>
              <a:bodyPr wrap="none" rtlCol="0">
                <a:spAutoFit/>
              </a:bodyPr>
              <a:lstStyle/>
              <a:p>
                <a:r>
                  <a:rPr lang="en-US" sz="2800" noProof="0" dirty="0">
                    <a:solidFill>
                      <a:srgbClr val="001080"/>
                    </a:solidFill>
                    <a:latin typeface="Fira Code" panose="020B0809050000020004" pitchFamily="49" charset="0"/>
                  </a:rPr>
                  <a:t>A</a:t>
                </a:r>
                <a:r>
                  <a:rPr lang="en-US" sz="2800" noProof="0" dirty="0"/>
                  <a:t>: </a:t>
                </a:r>
                <a14:m>
                  <m:oMath xmlns:m="http://schemas.openxmlformats.org/officeDocument/2006/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 </m:t>
                    </m:r>
                    <m:r>
                      <a:rPr lang="en-US" sz="2800" b="0" i="1" noProof="0" smtClean="0">
                        <a:latin typeface="Cambria Math" panose="02040503050406030204" pitchFamily="18" charset="0"/>
                      </a:rPr>
                      <m:t>𝑘</m:t>
                    </m:r>
                  </m:oMath>
                </a14:m>
                <a:endParaRPr lang="en-US" sz="2800" b="0" noProof="0" dirty="0"/>
              </a:p>
              <a:p>
                <a:r>
                  <a:rPr lang="en-US" sz="2800" noProof="0" dirty="0">
                    <a:solidFill>
                      <a:srgbClr val="001080"/>
                    </a:solidFill>
                    <a:latin typeface="Fira Code" panose="020B0809050000020004" pitchFamily="49" charset="0"/>
                  </a:rPr>
                  <a:t>B</a:t>
                </a:r>
                <a:r>
                  <a:rPr lang="en-US" sz="2800" noProof="0" dirty="0"/>
                  <a:t>: </a:t>
                </a:r>
                <a14:m>
                  <m:oMath xmlns:m="http://schemas.openxmlformats.org/officeDocument/2006/math">
                    <m:r>
                      <m:rPr>
                        <m:sty m:val="p"/>
                      </m:rPr>
                      <a:rPr lang="en-US" sz="2800" noProof="0">
                        <a:latin typeface="Cambria Math" panose="02040503050406030204" pitchFamily="18" charset="0"/>
                      </a:rPr>
                      <m:t>k</m:t>
                    </m:r>
                    <m:r>
                      <a:rPr lang="en-US" sz="2800" b="0" i="1" noProof="0" smtClean="0">
                        <a:latin typeface="Cambria Math" panose="02040503050406030204" pitchFamily="18" charset="0"/>
                      </a:rPr>
                      <m:t> </m:t>
                    </m:r>
                    <m:r>
                      <a:rPr lang="en-US" sz="2800" i="1" noProof="0">
                        <a:latin typeface="Cambria Math" panose="02040503050406030204" pitchFamily="18" charset="0"/>
                      </a:rPr>
                      <m:t>×</m:t>
                    </m:r>
                    <m:r>
                      <a:rPr lang="en-US" sz="2800" b="0" i="1" noProof="0" smtClean="0">
                        <a:latin typeface="Cambria Math" panose="02040503050406030204" pitchFamily="18" charset="0"/>
                      </a:rPr>
                      <m:t> </m:t>
                    </m:r>
                    <m:r>
                      <a:rPr lang="en-US" sz="2800" i="1" noProof="0">
                        <a:latin typeface="Cambria Math" panose="02040503050406030204" pitchFamily="18" charset="0"/>
                      </a:rPr>
                      <m:t>𝑛</m:t>
                    </m:r>
                  </m:oMath>
                </a14:m>
                <a:endParaRPr lang="en-US" sz="2800" noProof="0" dirty="0"/>
              </a:p>
              <a:p>
                <a:r>
                  <a:rPr lang="en-US" sz="2800" noProof="0" dirty="0">
                    <a:solidFill>
                      <a:srgbClr val="001080"/>
                    </a:solidFill>
                    <a:latin typeface="Fira Code" panose="020B0809050000020004" pitchFamily="49" charset="0"/>
                  </a:rPr>
                  <a:t>C</a:t>
                </a:r>
                <a:r>
                  <a:rPr lang="en-US" sz="2800" noProof="0" dirty="0"/>
                  <a:t>: </a:t>
                </a:r>
                <a14:m>
                  <m:oMath xmlns:m="http://schemas.openxmlformats.org/officeDocument/2006/math">
                    <m:r>
                      <a:rPr lang="en-US" sz="2800" i="1" noProof="0" smtClean="0">
                        <a:latin typeface="Cambria Math" panose="02040503050406030204" pitchFamily="18" charset="0"/>
                      </a:rPr>
                      <m:t>𝑚</m:t>
                    </m:r>
                    <m:r>
                      <a:rPr lang="en-US" sz="2800" i="1" noProof="0">
                        <a:latin typeface="Cambria Math" panose="02040503050406030204" pitchFamily="18" charset="0"/>
                      </a:rPr>
                      <m:t>×</m:t>
                    </m:r>
                    <m:r>
                      <a:rPr lang="en-US" sz="2800" i="1" noProof="0">
                        <a:latin typeface="Cambria Math" panose="02040503050406030204" pitchFamily="18" charset="0"/>
                      </a:rPr>
                      <m:t>𝑛</m:t>
                    </m:r>
                  </m:oMath>
                </a14:m>
                <a:endParaRPr lang="en-US" sz="2800" noProof="0" dirty="0"/>
              </a:p>
            </p:txBody>
          </p:sp>
        </mc:Choice>
        <mc:Fallback>
          <p:sp>
            <p:nvSpPr>
              <p:cNvPr id="44" name="TextBox 43">
                <a:extLst>
                  <a:ext uri="{FF2B5EF4-FFF2-40B4-BE49-F238E27FC236}">
                    <a16:creationId xmlns:a16="http://schemas.microsoft.com/office/drawing/2014/main" id="{1F67E973-44FE-CE64-80EC-471D1B6AA36F}"/>
                  </a:ext>
                </a:extLst>
              </p:cNvPr>
              <p:cNvSpPr txBox="1">
                <a:spLocks noRot="1" noChangeAspect="1" noMove="1" noResize="1" noEditPoints="1" noAdjustHandles="1" noChangeArrowheads="1" noChangeShapeType="1" noTextEdit="1"/>
              </p:cNvSpPr>
              <p:nvPr/>
            </p:nvSpPr>
            <p:spPr>
              <a:xfrm>
                <a:off x="4485795" y="5232699"/>
                <a:ext cx="1587166" cy="1384995"/>
              </a:xfrm>
              <a:prstGeom prst="rect">
                <a:avLst/>
              </a:prstGeom>
              <a:blipFill>
                <a:blip r:embed="rId11"/>
                <a:stretch>
                  <a:fillRect l="-8077" t="-4825" b="-10965"/>
                </a:stretch>
              </a:blipFill>
            </p:spPr>
            <p:txBody>
              <a:bodyPr/>
              <a:lstStyle/>
              <a:p>
                <a:r>
                  <a:rPr lang="en-US">
                    <a:noFill/>
                  </a:rPr>
                  <a:t> </a:t>
                </a:r>
              </a:p>
            </p:txBody>
          </p:sp>
        </mc:Fallback>
      </mc:AlternateContent>
      <p:sp>
        <p:nvSpPr>
          <p:cNvPr id="49" name="Oval 48">
            <a:extLst>
              <a:ext uri="{FF2B5EF4-FFF2-40B4-BE49-F238E27FC236}">
                <a16:creationId xmlns:a16="http://schemas.microsoft.com/office/drawing/2014/main" id="{0127B336-9807-04BC-1EE0-479911DCB919}"/>
              </a:ext>
            </a:extLst>
          </p:cNvPr>
          <p:cNvSpPr/>
          <p:nvPr/>
        </p:nvSpPr>
        <p:spPr>
          <a:xfrm>
            <a:off x="4923637" y="5311317"/>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Oval 50">
            <a:extLst>
              <a:ext uri="{FF2B5EF4-FFF2-40B4-BE49-F238E27FC236}">
                <a16:creationId xmlns:a16="http://schemas.microsoft.com/office/drawing/2014/main" id="{F2118018-0BAA-9CA8-C6F1-FC0D7AF4E40D}"/>
              </a:ext>
            </a:extLst>
          </p:cNvPr>
          <p:cNvSpPr/>
          <p:nvPr/>
        </p:nvSpPr>
        <p:spPr>
          <a:xfrm>
            <a:off x="5629321" y="5301792"/>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Oval 52">
            <a:extLst>
              <a:ext uri="{FF2B5EF4-FFF2-40B4-BE49-F238E27FC236}">
                <a16:creationId xmlns:a16="http://schemas.microsoft.com/office/drawing/2014/main" id="{1FA30D08-7546-1C19-C43C-639429F560C8}"/>
              </a:ext>
            </a:extLst>
          </p:cNvPr>
          <p:cNvSpPr/>
          <p:nvPr/>
        </p:nvSpPr>
        <p:spPr>
          <a:xfrm>
            <a:off x="5575672" y="617589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Right Brace 30">
            <a:extLst>
              <a:ext uri="{FF2B5EF4-FFF2-40B4-BE49-F238E27FC236}">
                <a16:creationId xmlns:a16="http://schemas.microsoft.com/office/drawing/2014/main" id="{BB183800-4A8F-401C-ADB9-A0312F9AA178}"/>
              </a:ext>
            </a:extLst>
          </p:cNvPr>
          <p:cNvSpPr/>
          <p:nvPr/>
        </p:nvSpPr>
        <p:spPr>
          <a:xfrm rot="5400000">
            <a:off x="5617910" y="2118998"/>
            <a:ext cx="140703" cy="482183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1087AE82-F462-C9EB-EA1F-F959C9A7C955}"/>
              </a:ext>
            </a:extLst>
          </p:cNvPr>
          <p:cNvSpPr txBox="1"/>
          <p:nvPr/>
        </p:nvSpPr>
        <p:spPr>
          <a:xfrm>
            <a:off x="3531516" y="4596963"/>
            <a:ext cx="4313489" cy="400110"/>
          </a:xfrm>
          <a:prstGeom prst="rect">
            <a:avLst/>
          </a:prstGeom>
          <a:solidFill>
            <a:schemeClr val="bg1"/>
          </a:solidFill>
        </p:spPr>
        <p:txBody>
          <a:bodyPr wrap="none" rtlCol="0">
            <a:spAutoFit/>
          </a:bodyPr>
          <a:lstStyle/>
          <a:p>
            <a:pPr algn="ctr"/>
            <a:r>
              <a:rPr lang="en-US" sz="2000" dirty="0"/>
              <a:t>Correct indices passed automatically</a:t>
            </a:r>
          </a:p>
        </p:txBody>
      </p:sp>
      <p:sp>
        <p:nvSpPr>
          <p:cNvPr id="14" name="Oval 13">
            <a:extLst>
              <a:ext uri="{FF2B5EF4-FFF2-40B4-BE49-F238E27FC236}">
                <a16:creationId xmlns:a16="http://schemas.microsoft.com/office/drawing/2014/main" id="{F0835908-CF21-76B9-3CF4-B5B20E755A64}"/>
              </a:ext>
            </a:extLst>
          </p:cNvPr>
          <p:cNvSpPr/>
          <p:nvPr/>
        </p:nvSpPr>
        <p:spPr>
          <a:xfrm>
            <a:off x="4859343" y="5741876"/>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Oval 14">
            <a:extLst>
              <a:ext uri="{FF2B5EF4-FFF2-40B4-BE49-F238E27FC236}">
                <a16:creationId xmlns:a16="http://schemas.microsoft.com/office/drawing/2014/main" id="{B2FBA510-0FE4-ECC2-607B-D4366279FCA8}"/>
              </a:ext>
            </a:extLst>
          </p:cNvPr>
          <p:cNvSpPr/>
          <p:nvPr/>
        </p:nvSpPr>
        <p:spPr>
          <a:xfrm>
            <a:off x="5593853" y="5734657"/>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Oval 15">
            <a:extLst>
              <a:ext uri="{FF2B5EF4-FFF2-40B4-BE49-F238E27FC236}">
                <a16:creationId xmlns:a16="http://schemas.microsoft.com/office/drawing/2014/main" id="{0B9B1486-1199-82F3-9362-B05932946618}"/>
              </a:ext>
            </a:extLst>
          </p:cNvPr>
          <p:cNvSpPr/>
          <p:nvPr/>
        </p:nvSpPr>
        <p:spPr>
          <a:xfrm>
            <a:off x="4901983" y="6167443"/>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Right Brace 19">
            <a:extLst>
              <a:ext uri="{FF2B5EF4-FFF2-40B4-BE49-F238E27FC236}">
                <a16:creationId xmlns:a16="http://schemas.microsoft.com/office/drawing/2014/main" id="{3866BB6C-69F6-AEF1-CDC9-1CBC539C8365}"/>
              </a:ext>
            </a:extLst>
          </p:cNvPr>
          <p:cNvSpPr/>
          <p:nvPr/>
        </p:nvSpPr>
        <p:spPr>
          <a:xfrm>
            <a:off x="6072961" y="5255078"/>
            <a:ext cx="163402" cy="138499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B06A7DF1-6410-6B50-C5B4-1D19F94CC66E}"/>
                  </a:ext>
                </a:extLst>
              </p:cNvPr>
              <p:cNvSpPr txBox="1"/>
              <p:nvPr/>
            </p:nvSpPr>
            <p:spPr>
              <a:xfrm>
                <a:off x="6248302" y="5682419"/>
                <a:ext cx="1820178" cy="523220"/>
              </a:xfrm>
              <a:prstGeom prst="rect">
                <a:avLst/>
              </a:prstGeom>
              <a:noFill/>
            </p:spPr>
            <p:txBody>
              <a:bodyPr wrap="none" rtlCol="0">
                <a:spAutoFit/>
              </a:bodyPr>
              <a:lstStyle/>
              <a:p>
                <a14:m>
                  <m:oMathPara xmlns:m="http://schemas.openxmlformats.org/officeDocument/2006/math">
                    <m:oMath>
                      <m:r>
                        <a:rPr lang="en-US" sz="2800" b="0" i="1" noProof="0" smtClean="0">
                          <a:latin typeface="Cambria Math" panose="02040503050406030204" pitchFamily="18" charset="0"/>
                        </a:rPr>
                        <m:t>𝑚</m:t>
                      </m:r>
                      <m:r>
                        <a:rPr lang="en-US" sz="2800" b="0" i="1" noProof="0" smtClean="0">
                          <a:latin typeface="Cambria Math" panose="02040503050406030204" pitchFamily="18" charset="0"/>
                        </a:rPr>
                        <m:t>×</m:t>
                      </m:r>
                      <m:r>
                        <a:rPr lang="en-US" sz="2800" b="0" i="1" noProof="0" smtClean="0">
                          <a:latin typeface="Cambria Math" panose="02040503050406030204" pitchFamily="18" charset="0"/>
                        </a:rPr>
                        <m:t>𝑛</m:t>
                      </m:r>
                      <m:r>
                        <a:rPr lang="en-US" sz="2800" i="1" noProof="0">
                          <a:latin typeface="Cambria Math" panose="02040503050406030204" pitchFamily="18" charset="0"/>
                        </a:rPr>
                        <m:t>×</m:t>
                      </m:r>
                      <m:r>
                        <a:rPr lang="en-US" sz="2800" b="0" i="1" noProof="0" smtClean="0">
                          <a:latin typeface="Cambria Math" panose="02040503050406030204" pitchFamily="18" charset="0"/>
                        </a:rPr>
                        <m:t>𝑘</m:t>
                      </m:r>
                    </m:oMath>
                  </m:oMathPara>
                </a14:m>
                <a:endParaRPr lang="en-US" sz="2800" noProof="0" dirty="0"/>
              </a:p>
            </p:txBody>
          </p:sp>
        </mc:Choice>
        <mc:Fallback>
          <p:sp>
            <p:nvSpPr>
              <p:cNvPr id="23" name="TextBox 22">
                <a:extLst>
                  <a:ext uri="{FF2B5EF4-FFF2-40B4-BE49-F238E27FC236}">
                    <a16:creationId xmlns:a16="http://schemas.microsoft.com/office/drawing/2014/main" id="{B06A7DF1-6410-6B50-C5B4-1D19F94CC66E}"/>
                  </a:ext>
                </a:extLst>
              </p:cNvPr>
              <p:cNvSpPr txBox="1">
                <a:spLocks noRot="1" noChangeAspect="1" noMove="1" noResize="1" noEditPoints="1" noAdjustHandles="1" noChangeArrowheads="1" noChangeShapeType="1" noTextEdit="1"/>
              </p:cNvSpPr>
              <p:nvPr/>
            </p:nvSpPr>
            <p:spPr>
              <a:xfrm>
                <a:off x="6248302" y="5682419"/>
                <a:ext cx="1820178" cy="523220"/>
              </a:xfrm>
              <a:prstGeom prst="rect">
                <a:avLst/>
              </a:prstGeom>
              <a:blipFill>
                <a:blip r:embed="rId12"/>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8DBAFB5-6687-0B30-A4B3-3B451E4A7C9C}"/>
              </a:ext>
            </a:extLst>
          </p:cNvPr>
          <p:cNvSpPr/>
          <p:nvPr/>
        </p:nvSpPr>
        <p:spPr>
          <a:xfrm>
            <a:off x="6325185" y="5757152"/>
            <a:ext cx="390286" cy="41874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Oval 25">
            <a:extLst>
              <a:ext uri="{FF2B5EF4-FFF2-40B4-BE49-F238E27FC236}">
                <a16:creationId xmlns:a16="http://schemas.microsoft.com/office/drawing/2014/main" id="{6E28A1E1-5F7A-AD01-3038-8212D40F8EB4}"/>
              </a:ext>
            </a:extLst>
          </p:cNvPr>
          <p:cNvSpPr/>
          <p:nvPr/>
        </p:nvSpPr>
        <p:spPr>
          <a:xfrm>
            <a:off x="7001689" y="5765981"/>
            <a:ext cx="390286" cy="418745"/>
          </a:xfrm>
          <a:prstGeom prst="ellipse">
            <a:avLst/>
          </a:prstGeom>
          <a:noFill/>
          <a:ln w="285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7" name="Oval 26">
            <a:extLst>
              <a:ext uri="{FF2B5EF4-FFF2-40B4-BE49-F238E27FC236}">
                <a16:creationId xmlns:a16="http://schemas.microsoft.com/office/drawing/2014/main" id="{83002441-847F-3512-0068-D6C90AC01B06}"/>
              </a:ext>
            </a:extLst>
          </p:cNvPr>
          <p:cNvSpPr/>
          <p:nvPr/>
        </p:nvSpPr>
        <p:spPr>
          <a:xfrm>
            <a:off x="7626160" y="5748698"/>
            <a:ext cx="390286" cy="418745"/>
          </a:xfrm>
          <a:prstGeom prst="ellipse">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TextBox 27">
            <a:extLst>
              <a:ext uri="{FF2B5EF4-FFF2-40B4-BE49-F238E27FC236}">
                <a16:creationId xmlns:a16="http://schemas.microsoft.com/office/drawing/2014/main" id="{9B2456D5-27F4-08D6-017D-CEA75BF1E789}"/>
              </a:ext>
            </a:extLst>
          </p:cNvPr>
          <p:cNvSpPr txBox="1"/>
          <p:nvPr/>
        </p:nvSpPr>
        <p:spPr>
          <a:xfrm>
            <a:off x="6212225" y="5245252"/>
            <a:ext cx="2938625" cy="461665"/>
          </a:xfrm>
          <a:prstGeom prst="rect">
            <a:avLst/>
          </a:prstGeom>
          <a:noFill/>
        </p:spPr>
        <p:txBody>
          <a:bodyPr wrap="none" rtlCol="0">
            <a:spAutoFit/>
          </a:bodyPr>
          <a:lstStyle/>
          <a:p>
            <a:r>
              <a:rPr lang="en-US" sz="2400" dirty="0"/>
              <a:t>Unique occurrences</a:t>
            </a:r>
          </a:p>
        </p:txBody>
      </p:sp>
      <p:cxnSp>
        <p:nvCxnSpPr>
          <p:cNvPr id="30" name="Connector: Curved 29">
            <a:extLst>
              <a:ext uri="{FF2B5EF4-FFF2-40B4-BE49-F238E27FC236}">
                <a16:creationId xmlns:a16="http://schemas.microsoft.com/office/drawing/2014/main" id="{7BEE34A4-13CB-FA1B-697A-93DD0F0D5A04}"/>
              </a:ext>
            </a:extLst>
          </p:cNvPr>
          <p:cNvCxnSpPr>
            <a:stCxn id="27" idx="6"/>
            <a:endCxn id="24" idx="3"/>
          </p:cNvCxnSpPr>
          <p:nvPr/>
        </p:nvCxnSpPr>
        <p:spPr>
          <a:xfrm flipV="1">
            <a:off x="8016446" y="2476067"/>
            <a:ext cx="2963434" cy="3482004"/>
          </a:xfrm>
          <a:prstGeom prst="curvedConnector3">
            <a:avLst>
              <a:gd name="adj1" fmla="val 107714"/>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30"/>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animBg="1"/>
      <p:bldP spid="47" grpId="0" animBg="1"/>
      <p:bldP spid="19" grpId="0" animBg="1"/>
      <p:bldP spid="13" grpId="0" animBg="1"/>
      <p:bldP spid="11" grpId="0" animBg="1"/>
      <p:bldP spid="8" grpId="0" animBg="1"/>
      <p:bldP spid="44" grpId="0"/>
      <p:bldP spid="49" grpId="0" animBg="1"/>
      <p:bldP spid="51" grpId="0" animBg="1"/>
      <p:bldP spid="53" grpId="0" animBg="1"/>
      <p:bldP spid="31" grpId="0" animBg="1"/>
      <p:bldP spid="32" grpId="0" animBg="1"/>
      <p:bldP spid="14" grpId="0" animBg="1"/>
      <p:bldP spid="15" grpId="0" animBg="1"/>
      <p:bldP spid="16" grpId="0" animBg="1"/>
      <p:bldP spid="20" grpId="0" animBg="1"/>
      <p:bldP spid="23" grpId="0"/>
      <p:bldP spid="25" grpId="0" animBg="1"/>
      <p:bldP spid="26" grpId="0" animBg="1"/>
      <p:bldP spid="27" grpId="0" animBg="1"/>
      <p:bldP spid="2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A1B06-775C-3A79-A24D-CBA423531276}"/>
            </a:ext>
          </a:extLst>
        </p:cNvPr>
        <p:cNvGrpSpPr/>
        <p:nvPr/>
      </p:nvGrpSpPr>
      <p:grpSpPr>
        <a:xfrm>
          <a:off x="0" y="0"/>
          <a:ext cx="0" cy="0"/>
          <a:chOff x="0" y="0"/>
          <a:chExt cx="0" cy="0"/>
        </a:xfrm>
      </p:grpSpPr>
      <p:grpSp>
        <p:nvGrpSpPr>
          <p:cNvPr id="85" name="Group 84">
            <a:extLst>
              <a:ext uri="{FF2B5EF4-FFF2-40B4-BE49-F238E27FC236}">
                <a16:creationId xmlns:a16="http://schemas.microsoft.com/office/drawing/2014/main" id="{4D087898-5A6D-E4B9-2541-608728A090D8}"/>
              </a:ext>
            </a:extLst>
          </p:cNvPr>
          <p:cNvGrpSpPr/>
          <p:nvPr/>
        </p:nvGrpSpPr>
        <p:grpSpPr>
          <a:xfrm>
            <a:off x="3976409" y="4724706"/>
            <a:ext cx="4022551" cy="1848358"/>
            <a:chOff x="4018020" y="4013380"/>
            <a:chExt cx="4022551" cy="1848358"/>
          </a:xfrm>
        </p:grpSpPr>
        <p:grpSp>
          <p:nvGrpSpPr>
            <p:cNvPr id="2" name="Group 1">
              <a:extLst>
                <a:ext uri="{FF2B5EF4-FFF2-40B4-BE49-F238E27FC236}">
                  <a16:creationId xmlns:a16="http://schemas.microsoft.com/office/drawing/2014/main" id="{8530CF8B-DFD8-AEF9-83EF-2C0BA908A157}"/>
                </a:ext>
              </a:extLst>
            </p:cNvPr>
            <p:cNvGrpSpPr/>
            <p:nvPr/>
          </p:nvGrpSpPr>
          <p:grpSpPr>
            <a:xfrm>
              <a:off x="4018020" y="4013380"/>
              <a:ext cx="4022551" cy="1848358"/>
              <a:chOff x="1086921" y="1846567"/>
              <a:chExt cx="4022551" cy="1848358"/>
            </a:xfrm>
          </p:grpSpPr>
          <p:sp>
            <p:nvSpPr>
              <p:cNvPr id="5" name="Rectangle 4">
                <a:extLst>
                  <a:ext uri="{FF2B5EF4-FFF2-40B4-BE49-F238E27FC236}">
                    <a16:creationId xmlns:a16="http://schemas.microsoft.com/office/drawing/2014/main" id="{6AFDD0BC-16EC-6AFC-3238-92A545CEF3AB}"/>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nvGrpSpPr>
              <p:cNvPr id="13" name="Group 12">
                <a:extLst>
                  <a:ext uri="{FF2B5EF4-FFF2-40B4-BE49-F238E27FC236}">
                    <a16:creationId xmlns:a16="http://schemas.microsoft.com/office/drawing/2014/main" id="{A4218266-FFDC-C285-F59C-65BDFBF9D205}"/>
                  </a:ext>
                </a:extLst>
              </p:cNvPr>
              <p:cNvGrpSpPr/>
              <p:nvPr/>
            </p:nvGrpSpPr>
            <p:grpSpPr>
              <a:xfrm>
                <a:off x="1086921" y="1846567"/>
                <a:ext cx="3975249" cy="1848358"/>
                <a:chOff x="11255" y="1643056"/>
                <a:chExt cx="5422196" cy="2521139"/>
              </a:xfrm>
            </p:grpSpPr>
            <p:grpSp>
              <p:nvGrpSpPr>
                <p:cNvPr id="16" name="Group 15">
                  <a:extLst>
                    <a:ext uri="{FF2B5EF4-FFF2-40B4-BE49-F238E27FC236}">
                      <a16:creationId xmlns:a16="http://schemas.microsoft.com/office/drawing/2014/main" id="{D3F61D01-231E-EE17-297A-54C1CC0C9047}"/>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B2D3CB05-E42E-6402-61F9-7B184E6B1228}"/>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69" name="Rectangle 68">
                    <a:extLst>
                      <a:ext uri="{FF2B5EF4-FFF2-40B4-BE49-F238E27FC236}">
                        <a16:creationId xmlns:a16="http://schemas.microsoft.com/office/drawing/2014/main" id="{653592E7-74BB-6E96-4E97-570BB18A1A01}"/>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0" name="Rectangle 69">
                    <a:extLst>
                      <a:ext uri="{FF2B5EF4-FFF2-40B4-BE49-F238E27FC236}">
                        <a16:creationId xmlns:a16="http://schemas.microsoft.com/office/drawing/2014/main" id="{BE927FF9-76A1-989E-3DEE-FCA5E7061CCA}"/>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1" name="Rectangle 70">
                    <a:extLst>
                      <a:ext uri="{FF2B5EF4-FFF2-40B4-BE49-F238E27FC236}">
                        <a16:creationId xmlns:a16="http://schemas.microsoft.com/office/drawing/2014/main" id="{E578230D-1B6F-014C-CE75-390CBB3EE7E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2" name="Rectangle 71">
                    <a:extLst>
                      <a:ext uri="{FF2B5EF4-FFF2-40B4-BE49-F238E27FC236}">
                        <a16:creationId xmlns:a16="http://schemas.microsoft.com/office/drawing/2014/main" id="{AB32AE09-4C3C-F080-623E-7E97460FB2DE}"/>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3" name="Rectangle 72">
                    <a:extLst>
                      <a:ext uri="{FF2B5EF4-FFF2-40B4-BE49-F238E27FC236}">
                        <a16:creationId xmlns:a16="http://schemas.microsoft.com/office/drawing/2014/main" id="{3D01201D-A0A2-1E44-C962-1B30F652E76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4" name="Rectangle 73">
                    <a:extLst>
                      <a:ext uri="{FF2B5EF4-FFF2-40B4-BE49-F238E27FC236}">
                        <a16:creationId xmlns:a16="http://schemas.microsoft.com/office/drawing/2014/main" id="{E1B73ABB-336A-1089-19F2-113FB466C161}"/>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5" name="Rectangle 74">
                    <a:extLst>
                      <a:ext uri="{FF2B5EF4-FFF2-40B4-BE49-F238E27FC236}">
                        <a16:creationId xmlns:a16="http://schemas.microsoft.com/office/drawing/2014/main" id="{C613B5C7-5AED-69B0-F5B7-49A048CC9531}"/>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6" name="Rectangle 75">
                    <a:extLst>
                      <a:ext uri="{FF2B5EF4-FFF2-40B4-BE49-F238E27FC236}">
                        <a16:creationId xmlns:a16="http://schemas.microsoft.com/office/drawing/2014/main" id="{07C41829-8992-B934-8D1A-27600154B492}"/>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7" name="Rectangle 76">
                    <a:extLst>
                      <a:ext uri="{FF2B5EF4-FFF2-40B4-BE49-F238E27FC236}">
                        <a16:creationId xmlns:a16="http://schemas.microsoft.com/office/drawing/2014/main" id="{D0B09FB3-42CC-150A-43C6-B1E9F0B92F2A}"/>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8" name="Rectangle 77">
                    <a:extLst>
                      <a:ext uri="{FF2B5EF4-FFF2-40B4-BE49-F238E27FC236}">
                        <a16:creationId xmlns:a16="http://schemas.microsoft.com/office/drawing/2014/main" id="{39A58CCF-32F4-387A-F6A0-3843F8787477}"/>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sp>
                <p:nvSpPr>
                  <p:cNvPr id="79" name="Rectangle 78">
                    <a:extLst>
                      <a:ext uri="{FF2B5EF4-FFF2-40B4-BE49-F238E27FC236}">
                        <a16:creationId xmlns:a16="http://schemas.microsoft.com/office/drawing/2014/main" id="{68EBF358-977F-4CBC-2793-14CA11EEC6A7}"/>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sz="2000" noProof="0" dirty="0"/>
                  </a:p>
                </p:txBody>
              </p:sp>
            </p:grpSp>
            <p:grpSp>
              <p:nvGrpSpPr>
                <p:cNvPr id="17" name="Group 16">
                  <a:extLst>
                    <a:ext uri="{FF2B5EF4-FFF2-40B4-BE49-F238E27FC236}">
                      <a16:creationId xmlns:a16="http://schemas.microsoft.com/office/drawing/2014/main" id="{CE0BB471-A7CA-89CB-5220-CD7A06B9DFB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99024D56-2D0D-37E5-7C6E-2ED5A1AD21E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7" name="Rectangle 56">
                    <a:extLst>
                      <a:ext uri="{FF2B5EF4-FFF2-40B4-BE49-F238E27FC236}">
                        <a16:creationId xmlns:a16="http://schemas.microsoft.com/office/drawing/2014/main" id="{B7A06D45-1535-F905-679C-DA02E5E70ABF}"/>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8" name="Rectangle 57">
                    <a:extLst>
                      <a:ext uri="{FF2B5EF4-FFF2-40B4-BE49-F238E27FC236}">
                        <a16:creationId xmlns:a16="http://schemas.microsoft.com/office/drawing/2014/main" id="{799F3E51-87E8-A003-F9D0-5A79568E1CAF}"/>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59" name="Rectangle 58">
                    <a:extLst>
                      <a:ext uri="{FF2B5EF4-FFF2-40B4-BE49-F238E27FC236}">
                        <a16:creationId xmlns:a16="http://schemas.microsoft.com/office/drawing/2014/main" id="{C7BD5A93-8CE3-8F5F-090C-C7DD23855704}"/>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0" name="Rectangle 59">
                    <a:extLst>
                      <a:ext uri="{FF2B5EF4-FFF2-40B4-BE49-F238E27FC236}">
                        <a16:creationId xmlns:a16="http://schemas.microsoft.com/office/drawing/2014/main" id="{71358AAE-4308-0E4B-E521-E5B9D9E606E0}"/>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1" name="Rectangle 60">
                    <a:extLst>
                      <a:ext uri="{FF2B5EF4-FFF2-40B4-BE49-F238E27FC236}">
                        <a16:creationId xmlns:a16="http://schemas.microsoft.com/office/drawing/2014/main" id="{412EAA14-4F09-5E3B-7564-DB20A6AFFB6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2" name="Rectangle 61">
                    <a:extLst>
                      <a:ext uri="{FF2B5EF4-FFF2-40B4-BE49-F238E27FC236}">
                        <a16:creationId xmlns:a16="http://schemas.microsoft.com/office/drawing/2014/main" id="{44E5EC01-BB2B-E060-EDA1-9A8D7617F1DA}"/>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3" name="Rectangle 62">
                    <a:extLst>
                      <a:ext uri="{FF2B5EF4-FFF2-40B4-BE49-F238E27FC236}">
                        <a16:creationId xmlns:a16="http://schemas.microsoft.com/office/drawing/2014/main" id="{FC195A79-64E6-E07D-882E-4682D7560399}"/>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4" name="Rectangle 63">
                    <a:extLst>
                      <a:ext uri="{FF2B5EF4-FFF2-40B4-BE49-F238E27FC236}">
                        <a16:creationId xmlns:a16="http://schemas.microsoft.com/office/drawing/2014/main" id="{569A29F6-8DC9-A37F-929A-869BFEAD7268}"/>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5" name="Rectangle 64">
                    <a:extLst>
                      <a:ext uri="{FF2B5EF4-FFF2-40B4-BE49-F238E27FC236}">
                        <a16:creationId xmlns:a16="http://schemas.microsoft.com/office/drawing/2014/main" id="{7ECC0DB4-C6AA-AA7A-39FD-40385DC6ECAB}"/>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6" name="Rectangle 65">
                    <a:extLst>
                      <a:ext uri="{FF2B5EF4-FFF2-40B4-BE49-F238E27FC236}">
                        <a16:creationId xmlns:a16="http://schemas.microsoft.com/office/drawing/2014/main" id="{14CF4B07-C9B6-1D94-B6BD-37A2B6EEB7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sp>
                <p:nvSpPr>
                  <p:cNvPr id="67" name="Rectangle 66">
                    <a:extLst>
                      <a:ext uri="{FF2B5EF4-FFF2-40B4-BE49-F238E27FC236}">
                        <a16:creationId xmlns:a16="http://schemas.microsoft.com/office/drawing/2014/main" id="{2D7F35EE-1D9A-FD86-8AC9-22A90F108F1F}"/>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sz="2000" noProof="0" dirty="0"/>
                  </a:p>
                </p:txBody>
              </p:sp>
            </p:grpSp>
            <p:grpSp>
              <p:nvGrpSpPr>
                <p:cNvPr id="18" name="Group 17">
                  <a:extLst>
                    <a:ext uri="{FF2B5EF4-FFF2-40B4-BE49-F238E27FC236}">
                      <a16:creationId xmlns:a16="http://schemas.microsoft.com/office/drawing/2014/main" id="{4E884ECF-3C7E-F758-E4A0-47904B7DDA10}"/>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63A1395F-BE2F-6ECC-AB82-C657CBB9A22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0" name="Rectangle 39">
                    <a:extLst>
                      <a:ext uri="{FF2B5EF4-FFF2-40B4-BE49-F238E27FC236}">
                        <a16:creationId xmlns:a16="http://schemas.microsoft.com/office/drawing/2014/main" id="{74D8802E-0BBA-B525-E374-CD772B5B22A6}"/>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1" name="Rectangle 40">
                    <a:extLst>
                      <a:ext uri="{FF2B5EF4-FFF2-40B4-BE49-F238E27FC236}">
                        <a16:creationId xmlns:a16="http://schemas.microsoft.com/office/drawing/2014/main" id="{A9321AB8-DDD9-2B68-0D86-C717A55230E8}"/>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2" name="Rectangle 41">
                    <a:extLst>
                      <a:ext uri="{FF2B5EF4-FFF2-40B4-BE49-F238E27FC236}">
                        <a16:creationId xmlns:a16="http://schemas.microsoft.com/office/drawing/2014/main" id="{0BDDDC71-4CC9-76C8-A410-2F7586BED029}"/>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4" name="Rectangle 43">
                    <a:extLst>
                      <a:ext uri="{FF2B5EF4-FFF2-40B4-BE49-F238E27FC236}">
                        <a16:creationId xmlns:a16="http://schemas.microsoft.com/office/drawing/2014/main" id="{ECFEF596-44F3-23D1-9C03-D453DAA1A10E}"/>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5" name="Rectangle 44">
                    <a:extLst>
                      <a:ext uri="{FF2B5EF4-FFF2-40B4-BE49-F238E27FC236}">
                        <a16:creationId xmlns:a16="http://schemas.microsoft.com/office/drawing/2014/main" id="{96F1BF7E-E9EA-6031-5D30-BE938887E882}"/>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6" name="Rectangle 45">
                    <a:extLst>
                      <a:ext uri="{FF2B5EF4-FFF2-40B4-BE49-F238E27FC236}">
                        <a16:creationId xmlns:a16="http://schemas.microsoft.com/office/drawing/2014/main" id="{6B6FE00E-F1EB-B1D3-E50D-786FA260B9B5}"/>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7" name="Rectangle 46">
                    <a:extLst>
                      <a:ext uri="{FF2B5EF4-FFF2-40B4-BE49-F238E27FC236}">
                        <a16:creationId xmlns:a16="http://schemas.microsoft.com/office/drawing/2014/main" id="{6F0B967E-4EBC-FBA9-D3C1-6F9ECF9541CF}"/>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8" name="Rectangle 47">
                    <a:extLst>
                      <a:ext uri="{FF2B5EF4-FFF2-40B4-BE49-F238E27FC236}">
                        <a16:creationId xmlns:a16="http://schemas.microsoft.com/office/drawing/2014/main" id="{55CF4C0D-F34B-FB8F-84F6-1A08DA3BCBD7}"/>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49" name="Rectangle 48">
                    <a:extLst>
                      <a:ext uri="{FF2B5EF4-FFF2-40B4-BE49-F238E27FC236}">
                        <a16:creationId xmlns:a16="http://schemas.microsoft.com/office/drawing/2014/main" id="{55C84C22-7485-BEEE-A163-BB04C8E905DE}"/>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0" name="Rectangle 49">
                    <a:extLst>
                      <a:ext uri="{FF2B5EF4-FFF2-40B4-BE49-F238E27FC236}">
                        <a16:creationId xmlns:a16="http://schemas.microsoft.com/office/drawing/2014/main" id="{B490E4AF-9B12-6ECE-9AE6-2330164AE657}"/>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1" name="Rectangle 50">
                    <a:extLst>
                      <a:ext uri="{FF2B5EF4-FFF2-40B4-BE49-F238E27FC236}">
                        <a16:creationId xmlns:a16="http://schemas.microsoft.com/office/drawing/2014/main" id="{82FCD4C7-0B4F-E271-462D-4700EE78BFFF}"/>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2" name="Rectangle 51">
                    <a:extLst>
                      <a:ext uri="{FF2B5EF4-FFF2-40B4-BE49-F238E27FC236}">
                        <a16:creationId xmlns:a16="http://schemas.microsoft.com/office/drawing/2014/main" id="{540BF186-CAE9-85D6-0466-2B731FE84E95}"/>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3" name="Rectangle 52">
                    <a:extLst>
                      <a:ext uri="{FF2B5EF4-FFF2-40B4-BE49-F238E27FC236}">
                        <a16:creationId xmlns:a16="http://schemas.microsoft.com/office/drawing/2014/main" id="{6E298451-067F-94AA-52B8-DEA060E18911}"/>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4" name="Rectangle 53">
                    <a:extLst>
                      <a:ext uri="{FF2B5EF4-FFF2-40B4-BE49-F238E27FC236}">
                        <a16:creationId xmlns:a16="http://schemas.microsoft.com/office/drawing/2014/main" id="{40C6E7A3-CE89-BA82-AEC1-AE994B8F4959}"/>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sp>
                <p:nvSpPr>
                  <p:cNvPr id="55" name="Rectangle 54">
                    <a:extLst>
                      <a:ext uri="{FF2B5EF4-FFF2-40B4-BE49-F238E27FC236}">
                        <a16:creationId xmlns:a16="http://schemas.microsoft.com/office/drawing/2014/main" id="{D80D398F-D0CB-55B7-2998-093263B37DC5}"/>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sz="2000" noProof="0" dirty="0"/>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E6AE8EA-F3A2-4429-46DA-FAD917748140}"/>
                        </a:ext>
                      </a:extLst>
                    </p:cNvPr>
                    <p:cNvSpPr txBox="1"/>
                    <p:nvPr/>
                  </p:nvSpPr>
                  <p:spPr>
                    <a:xfrm>
                      <a:off x="1622785" y="2635659"/>
                      <a:ext cx="422427"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19" name="TextBox 18">
                      <a:extLst>
                        <a:ext uri="{FF2B5EF4-FFF2-40B4-BE49-F238E27FC236}">
                          <a16:creationId xmlns:a16="http://schemas.microsoft.com/office/drawing/2014/main" id="{AE6AE8EA-F3A2-4429-46DA-FAD917748140}"/>
                        </a:ext>
                      </a:extLst>
                    </p:cNvPr>
                    <p:cNvSpPr txBox="1">
                      <a:spLocks noRot="1" noChangeAspect="1" noMove="1" noResize="1" noEditPoints="1" noAdjustHandles="1" noChangeArrowheads="1" noChangeShapeType="1" noTextEdit="1"/>
                    </p:cNvSpPr>
                    <p:nvPr/>
                  </p:nvSpPr>
                  <p:spPr>
                    <a:xfrm>
                      <a:off x="1622785" y="2635659"/>
                      <a:ext cx="422427" cy="54574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D7E9B2-E767-3D0E-8430-92B5D9AA07CD}"/>
                        </a:ext>
                      </a:extLst>
                    </p:cNvPr>
                    <p:cNvSpPr txBox="1"/>
                    <p:nvPr/>
                  </p:nvSpPr>
                  <p:spPr>
                    <a:xfrm>
                      <a:off x="3432966" y="2646411"/>
                      <a:ext cx="586414"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m:t>
                            </m:r>
                          </m:oMath>
                        </m:oMathPara>
                      </a14:m>
                      <a:endParaRPr lang="en-US" sz="2000" noProof="0" dirty="0"/>
                    </a:p>
                  </p:txBody>
                </p:sp>
              </mc:Choice>
              <mc:Fallback xmlns="">
                <p:sp>
                  <p:nvSpPr>
                    <p:cNvPr id="20" name="TextBox 19">
                      <a:extLst>
                        <a:ext uri="{FF2B5EF4-FFF2-40B4-BE49-F238E27FC236}">
                          <a16:creationId xmlns:a16="http://schemas.microsoft.com/office/drawing/2014/main" id="{6DD7E9B2-E767-3D0E-8430-92B5D9AA07CD}"/>
                        </a:ext>
                      </a:extLst>
                    </p:cNvPr>
                    <p:cNvSpPr txBox="1">
                      <a:spLocks noRot="1" noChangeAspect="1" noMove="1" noResize="1" noEditPoints="1" noAdjustHandles="1" noChangeArrowheads="1" noChangeShapeType="1" noTextEdit="1"/>
                    </p:cNvSpPr>
                    <p:nvPr/>
                  </p:nvSpPr>
                  <p:spPr>
                    <a:xfrm>
                      <a:off x="3432966" y="2646411"/>
                      <a:ext cx="586414" cy="545745"/>
                    </a:xfrm>
                    <a:prstGeom prst="rect">
                      <a:avLst/>
                    </a:prstGeom>
                    <a:blipFill>
                      <a:blip r:embed="rId4"/>
                      <a:stretch>
                        <a:fillRect/>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592E941E-9CFD-B1A8-8E40-876A28A38091}"/>
                    </a:ext>
                  </a:extLst>
                </p:cNvPr>
                <p:cNvSpPr txBox="1"/>
                <p:nvPr/>
              </p:nvSpPr>
              <p:spPr>
                <a:xfrm>
                  <a:off x="848108" y="3618449"/>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F6239C17-840D-0086-3E25-CEF991D4CFDC}"/>
                    </a:ext>
                  </a:extLst>
                </p:cNvPr>
                <p:cNvSpPr txBox="1"/>
                <p:nvPr/>
              </p:nvSpPr>
              <p:spPr>
                <a:xfrm>
                  <a:off x="2546351"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A14F5966-1709-E66B-D6A8-4739C6F0CEB5}"/>
                    </a:ext>
                  </a:extLst>
                </p:cNvPr>
                <p:cNvSpPr txBox="1"/>
                <p:nvPr/>
              </p:nvSpPr>
              <p:spPr>
                <a:xfrm>
                  <a:off x="4452752" y="3614686"/>
                  <a:ext cx="461785" cy="545746"/>
                </a:xfrm>
                <a:prstGeom prst="rect">
                  <a:avLst/>
                </a:prstGeom>
                <a:noFill/>
              </p:spPr>
              <p:txBody>
                <a:bodyPr wrap="none" rtlCol="0">
                  <a:spAutoFit/>
                </a:bodyPr>
                <a:lstStyle/>
                <a:p>
                  <a:pPr algn="ctr"/>
                  <a:r>
                    <a:rPr lang="en-US" sz="2000" noProof="0"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C43CE03B-E12C-3FE7-6183-56F902A74570}"/>
                        </a:ext>
                      </a:extLst>
                    </p:cNvPr>
                    <p:cNvSpPr txBox="1"/>
                    <p:nvPr/>
                  </p:nvSpPr>
                  <p:spPr>
                    <a:xfrm>
                      <a:off x="11255" y="1857073"/>
                      <a:ext cx="622972" cy="545745"/>
                    </a:xfrm>
                    <a:prstGeom prst="rect">
                      <a:avLst/>
                    </a:prstGeom>
                    <a:noFill/>
                  </p:spPr>
                  <p:txBody>
                    <a:bodyPr wrap="none" rtlCol="0">
                      <a:spAutoFit/>
                    </a:bodyPr>
                    <a:lstStyle/>
                    <a:p>
                      <a:pPr/>
                      <a14:m>
                        <m:oMathPara xmlns:m="http://schemas.openxmlformats.org/officeDocument/2006/math">
                          <m:oMath>
                            <m:r>
                              <a:rPr lang="en-US" sz="2000" i="1" noProof="0" smtClean="0">
                                <a:latin typeface="Cambria Math" panose="02040503050406030204" pitchFamily="18" charset="0"/>
                              </a:rPr>
                              <m:t>𝑚</m:t>
                            </m:r>
                          </m:oMath>
                        </m:oMathPara>
                      </a14:m>
                      <a:endParaRPr lang="en-US" sz="2000" noProof="0" dirty="0"/>
                    </a:p>
                  </p:txBody>
                </p:sp>
              </mc:Choice>
              <mc:Fallback xmlns="">
                <p:sp>
                  <p:nvSpPr>
                    <p:cNvPr id="30" name="TextBox 29">
                      <a:extLst>
                        <a:ext uri="{FF2B5EF4-FFF2-40B4-BE49-F238E27FC236}">
                          <a16:creationId xmlns:a16="http://schemas.microsoft.com/office/drawing/2014/main" id="{C43CE03B-E12C-3FE7-6183-56F902A74570}"/>
                        </a:ext>
                      </a:extLst>
                    </p:cNvPr>
                    <p:cNvSpPr txBox="1">
                      <a:spLocks noRot="1" noChangeAspect="1" noMove="1" noResize="1" noEditPoints="1" noAdjustHandles="1" noChangeArrowheads="1" noChangeShapeType="1" noTextEdit="1"/>
                    </p:cNvSpPr>
                    <p:nvPr/>
                  </p:nvSpPr>
                  <p:spPr>
                    <a:xfrm>
                      <a:off x="11255" y="1857073"/>
                      <a:ext cx="622972" cy="54574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2318064-48CB-ADD5-6D22-6A347AFB73D4}"/>
                        </a:ext>
                      </a:extLst>
                    </p:cNvPr>
                    <p:cNvSpPr txBox="1"/>
                    <p:nvPr/>
                  </p:nvSpPr>
                  <p:spPr>
                    <a:xfrm>
                      <a:off x="835771" y="1673266"/>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1" name="TextBox 30">
                      <a:extLst>
                        <a:ext uri="{FF2B5EF4-FFF2-40B4-BE49-F238E27FC236}">
                          <a16:creationId xmlns:a16="http://schemas.microsoft.com/office/drawing/2014/main" id="{B2318064-48CB-ADD5-6D22-6A347AFB73D4}"/>
                        </a:ext>
                      </a:extLst>
                    </p:cNvPr>
                    <p:cNvSpPr txBox="1">
                      <a:spLocks noRot="1" noChangeAspect="1" noMove="1" noResize="1" noEditPoints="1" noAdjustHandles="1" noChangeArrowheads="1" noChangeShapeType="1" noTextEdit="1"/>
                    </p:cNvSpPr>
                    <p:nvPr/>
                  </p:nvSpPr>
                  <p:spPr>
                    <a:xfrm>
                      <a:off x="835771" y="1673266"/>
                      <a:ext cx="526679" cy="54574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6E00BB2-9768-DF4B-6D99-295C8EB36058}"/>
                        </a:ext>
                      </a:extLst>
                    </p:cNvPr>
                    <p:cNvSpPr txBox="1"/>
                    <p:nvPr/>
                  </p:nvSpPr>
                  <p:spPr>
                    <a:xfrm>
                      <a:off x="1596035" y="1985521"/>
                      <a:ext cx="526679"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𝑘</m:t>
                            </m:r>
                          </m:oMath>
                        </m:oMathPara>
                      </a14:m>
                      <a:endParaRPr lang="en-US" sz="2000" noProof="0" dirty="0"/>
                    </a:p>
                  </p:txBody>
                </p:sp>
              </mc:Choice>
              <mc:Fallback xmlns="">
                <p:sp>
                  <p:nvSpPr>
                    <p:cNvPr id="32" name="TextBox 31">
                      <a:extLst>
                        <a:ext uri="{FF2B5EF4-FFF2-40B4-BE49-F238E27FC236}">
                          <a16:creationId xmlns:a16="http://schemas.microsoft.com/office/drawing/2014/main" id="{56E00BB2-9768-DF4B-6D99-295C8EB36058}"/>
                        </a:ext>
                      </a:extLst>
                    </p:cNvPr>
                    <p:cNvSpPr txBox="1">
                      <a:spLocks noRot="1" noChangeAspect="1" noMove="1" noResize="1" noEditPoints="1" noAdjustHandles="1" noChangeArrowheads="1" noChangeShapeType="1" noTextEdit="1"/>
                    </p:cNvSpPr>
                    <p:nvPr/>
                  </p:nvSpPr>
                  <p:spPr>
                    <a:xfrm>
                      <a:off x="1596035" y="1985521"/>
                      <a:ext cx="526679" cy="54574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E19B0D-209B-81E1-FFD7-E6F3525EB4F7}"/>
                        </a:ext>
                      </a:extLst>
                    </p:cNvPr>
                    <p:cNvSpPr txBox="1"/>
                    <p:nvPr/>
                  </p:nvSpPr>
                  <p:spPr>
                    <a:xfrm>
                      <a:off x="2500887" y="1836429"/>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4" name="TextBox 33">
                      <a:extLst>
                        <a:ext uri="{FF2B5EF4-FFF2-40B4-BE49-F238E27FC236}">
                          <a16:creationId xmlns:a16="http://schemas.microsoft.com/office/drawing/2014/main" id="{96E19B0D-209B-81E1-FFD7-E6F3525EB4F7}"/>
                        </a:ext>
                      </a:extLst>
                    </p:cNvPr>
                    <p:cNvSpPr txBox="1">
                      <a:spLocks noRot="1" noChangeAspect="1" noMove="1" noResize="1" noEditPoints="1" noAdjustHandles="1" noChangeArrowheads="1" noChangeShapeType="1" noTextEdit="1"/>
                    </p:cNvSpPr>
                    <p:nvPr/>
                  </p:nvSpPr>
                  <p:spPr>
                    <a:xfrm>
                      <a:off x="2500887" y="1836429"/>
                      <a:ext cx="531140" cy="54574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B9BD1A5-B3AE-3C81-5716-56D19271BD2F}"/>
                        </a:ext>
                      </a:extLst>
                    </p:cNvPr>
                    <p:cNvSpPr txBox="1"/>
                    <p:nvPr/>
                  </p:nvSpPr>
                  <p:spPr>
                    <a:xfrm>
                      <a:off x="3405091" y="1862905"/>
                      <a:ext cx="622972"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𝑚</m:t>
                            </m:r>
                          </m:oMath>
                        </m:oMathPara>
                      </a14:m>
                      <a:endParaRPr lang="en-US" sz="2000" noProof="0" dirty="0"/>
                    </a:p>
                  </p:txBody>
                </p:sp>
              </mc:Choice>
              <mc:Fallback xmlns="">
                <p:sp>
                  <p:nvSpPr>
                    <p:cNvPr id="36" name="TextBox 35">
                      <a:extLst>
                        <a:ext uri="{FF2B5EF4-FFF2-40B4-BE49-F238E27FC236}">
                          <a16:creationId xmlns:a16="http://schemas.microsoft.com/office/drawing/2014/main" id="{5B9BD1A5-B3AE-3C81-5716-56D19271BD2F}"/>
                        </a:ext>
                      </a:extLst>
                    </p:cNvPr>
                    <p:cNvSpPr txBox="1">
                      <a:spLocks noRot="1" noChangeAspect="1" noMove="1" noResize="1" noEditPoints="1" noAdjustHandles="1" noChangeArrowheads="1" noChangeShapeType="1" noTextEdit="1"/>
                    </p:cNvSpPr>
                    <p:nvPr/>
                  </p:nvSpPr>
                  <p:spPr>
                    <a:xfrm>
                      <a:off x="3405091" y="1862905"/>
                      <a:ext cx="622972" cy="54574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957B4049-5429-535D-EEAC-3B0EB1CE0ACE}"/>
                        </a:ext>
                      </a:extLst>
                    </p:cNvPr>
                    <p:cNvSpPr txBox="1"/>
                    <p:nvPr/>
                  </p:nvSpPr>
                  <p:spPr>
                    <a:xfrm>
                      <a:off x="4417872" y="1643056"/>
                      <a:ext cx="531140" cy="545745"/>
                    </a:xfrm>
                    <a:prstGeom prst="rect">
                      <a:avLst/>
                    </a:prstGeom>
                    <a:noFill/>
                  </p:spPr>
                  <p:txBody>
                    <a:bodyPr wrap="none" rtlCol="0">
                      <a:spAutoFit/>
                    </a:bodyPr>
                    <a:lstStyle/>
                    <a:p>
                      <a:pPr/>
                      <a14:m>
                        <m:oMathPara xmlns:m="http://schemas.openxmlformats.org/officeDocument/2006/math">
                          <m:oMath>
                            <m:r>
                              <a:rPr lang="en-US" sz="2000" b="0" i="1" noProof="0" smtClean="0">
                                <a:latin typeface="Cambria Math" panose="02040503050406030204" pitchFamily="18" charset="0"/>
                              </a:rPr>
                              <m:t>𝑛</m:t>
                            </m:r>
                          </m:oMath>
                        </m:oMathPara>
                      </a14:m>
                      <a:endParaRPr lang="en-US" sz="2000" noProof="0" dirty="0"/>
                    </a:p>
                  </p:txBody>
                </p:sp>
              </mc:Choice>
              <mc:Fallback xmlns="">
                <p:sp>
                  <p:nvSpPr>
                    <p:cNvPr id="38" name="TextBox 37">
                      <a:extLst>
                        <a:ext uri="{FF2B5EF4-FFF2-40B4-BE49-F238E27FC236}">
                          <a16:creationId xmlns:a16="http://schemas.microsoft.com/office/drawing/2014/main" id="{957B4049-5429-535D-EEAC-3B0EB1CE0ACE}"/>
                        </a:ext>
                      </a:extLst>
                    </p:cNvPr>
                    <p:cNvSpPr txBox="1">
                      <a:spLocks noRot="1" noChangeAspect="1" noMove="1" noResize="1" noEditPoints="1" noAdjustHandles="1" noChangeArrowheads="1" noChangeShapeType="1" noTextEdit="1"/>
                    </p:cNvSpPr>
                    <p:nvPr/>
                  </p:nvSpPr>
                  <p:spPr>
                    <a:xfrm>
                      <a:off x="4417872" y="1643056"/>
                      <a:ext cx="531140" cy="545745"/>
                    </a:xfrm>
                    <a:prstGeom prst="rect">
                      <a:avLst/>
                    </a:prstGeom>
                    <a:blipFill>
                      <a:blip r:embed="rId10"/>
                      <a:stretch>
                        <a:fillRect/>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B67384CC-1D86-A8E9-8BEC-871F9DFAE7AA}"/>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2" name="Rectangle 81">
              <a:extLst>
                <a:ext uri="{FF2B5EF4-FFF2-40B4-BE49-F238E27FC236}">
                  <a16:creationId xmlns:a16="http://schemas.microsoft.com/office/drawing/2014/main" id="{797184A6-B8C9-8BE1-5775-E01C29201E1E}"/>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84" name="Rectangle 83">
              <a:extLst>
                <a:ext uri="{FF2B5EF4-FFF2-40B4-BE49-F238E27FC236}">
                  <a16:creationId xmlns:a16="http://schemas.microsoft.com/office/drawing/2014/main" id="{CE42996D-A7D2-C278-F257-24477D27D231}"/>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grpSp>
      <p:sp>
        <p:nvSpPr>
          <p:cNvPr id="4" name="Title 3">
            <a:extLst>
              <a:ext uri="{FF2B5EF4-FFF2-40B4-BE49-F238E27FC236}">
                <a16:creationId xmlns:a16="http://schemas.microsoft.com/office/drawing/2014/main" id="{5EF9D386-01F8-3927-E59A-917ABFB77B04}"/>
              </a:ext>
            </a:extLst>
          </p:cNvPr>
          <p:cNvSpPr>
            <a:spLocks noGrp="1"/>
          </p:cNvSpPr>
          <p:nvPr>
            <p:ph type="title"/>
          </p:nvPr>
        </p:nvSpPr>
        <p:spPr/>
        <p:txBody>
          <a:bodyPr/>
          <a:lstStyle/>
          <a:p>
            <a:r>
              <a:rPr lang="en-US" noProof="0" dirty="0"/>
              <a:t>Traversal transformations</a:t>
            </a:r>
          </a:p>
        </p:txBody>
      </p:sp>
      <p:sp>
        <p:nvSpPr>
          <p:cNvPr id="26" name="Date Placeholder 25">
            <a:extLst>
              <a:ext uri="{FF2B5EF4-FFF2-40B4-BE49-F238E27FC236}">
                <a16:creationId xmlns:a16="http://schemas.microsoft.com/office/drawing/2014/main" id="{E5787EB7-BD3B-CCF1-8AEA-70766F875185}"/>
              </a:ext>
            </a:extLst>
          </p:cNvPr>
          <p:cNvSpPr>
            <a:spLocks noGrp="1"/>
          </p:cNvSpPr>
          <p:nvPr>
            <p:ph type="dt" sz="half" idx="10"/>
          </p:nvPr>
        </p:nvSpPr>
        <p:spPr/>
        <p:txBody>
          <a:bodyPr/>
          <a:lstStyle/>
          <a:p>
            <a:fld id="{8BB690F1-35CC-4B34-B898-A35702C2DAD5}" type="datetime1">
              <a:rPr lang="en-US" noProof="0" smtClean="0"/>
              <a:t>9/4/2026</a:t>
            </a:fld>
            <a:endParaRPr lang="en-US" noProof="0" dirty="0"/>
          </a:p>
        </p:txBody>
      </p:sp>
      <p:sp>
        <p:nvSpPr>
          <p:cNvPr id="27" name="Slide Number Placeholder 26">
            <a:extLst>
              <a:ext uri="{FF2B5EF4-FFF2-40B4-BE49-F238E27FC236}">
                <a16:creationId xmlns:a16="http://schemas.microsoft.com/office/drawing/2014/main" id="{00AA8B2A-1815-9AD2-C837-8175AEC8FFF5}"/>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6" name="Rectangle 5">
            <a:extLst>
              <a:ext uri="{FF2B5EF4-FFF2-40B4-BE49-F238E27FC236}">
                <a16:creationId xmlns:a16="http://schemas.microsoft.com/office/drawing/2014/main" id="{94315874-4365-BD7E-38E9-6E300532D1B0}"/>
              </a:ext>
            </a:extLst>
          </p:cNvPr>
          <p:cNvSpPr/>
          <p:nvPr/>
        </p:nvSpPr>
        <p:spPr>
          <a:xfrm>
            <a:off x="6914245" y="1534018"/>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0" name="Rectangle 9">
            <a:extLst>
              <a:ext uri="{FF2B5EF4-FFF2-40B4-BE49-F238E27FC236}">
                <a16:creationId xmlns:a16="http://schemas.microsoft.com/office/drawing/2014/main" id="{FD7BF336-2D6B-75E5-35D1-BB6F556A8522}"/>
              </a:ext>
            </a:extLst>
          </p:cNvPr>
          <p:cNvSpPr/>
          <p:nvPr/>
        </p:nvSpPr>
        <p:spPr>
          <a:xfrm>
            <a:off x="6914245" y="1878964"/>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12" name="Rectangle 11">
            <a:extLst>
              <a:ext uri="{FF2B5EF4-FFF2-40B4-BE49-F238E27FC236}">
                <a16:creationId xmlns:a16="http://schemas.microsoft.com/office/drawing/2014/main" id="{6B5E3D72-639F-DBE8-60C5-E7360CC97F9F}"/>
              </a:ext>
            </a:extLst>
          </p:cNvPr>
          <p:cNvSpPr/>
          <p:nvPr/>
        </p:nvSpPr>
        <p:spPr>
          <a:xfrm>
            <a:off x="6007392" y="2222371"/>
            <a:ext cx="1383566" cy="273019"/>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8" name="TextBox 7">
            <a:extLst>
              <a:ext uri="{FF2B5EF4-FFF2-40B4-BE49-F238E27FC236}">
                <a16:creationId xmlns:a16="http://schemas.microsoft.com/office/drawing/2014/main" id="{D8CA8669-3DF0-4485-E218-6A9F90B6F725}"/>
              </a:ext>
            </a:extLst>
          </p:cNvPr>
          <p:cNvSpPr txBox="1"/>
          <p:nvPr/>
        </p:nvSpPr>
        <p:spPr>
          <a:xfrm>
            <a:off x="2667000" y="1431917"/>
            <a:ext cx="6858000" cy="1124282"/>
          </a:xfrm>
          <a:prstGeom prst="rect">
            <a:avLst/>
          </a:prstGeom>
          <a:noFill/>
          <a:ln>
            <a:solidFill>
              <a:schemeClr val="tx1"/>
            </a:solidFill>
          </a:ln>
        </p:spPr>
        <p:txBody>
          <a:bodyPr wrap="non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 =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'M</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err="1">
                <a:solidFill>
                  <a:srgbClr val="795E26"/>
                </a:solidFill>
                <a:effectLst/>
                <a:latin typeface="Fira Code" panose="020B0809050000020004" pitchFamily="49" charset="0"/>
              </a:rPr>
              <a:t>into_blocks</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err="1">
                <a:solidFill>
                  <a:srgbClr val="000000"/>
                </a:solidFill>
                <a:effectLst/>
                <a:latin typeface="Fira Code" panose="020B0809050000020004" pitchFamily="49" charset="0"/>
              </a:rPr>
              <a:t>,</a:t>
            </a:r>
            <a:r>
              <a:rPr lang="en-US" sz="2000" b="0" noProof="0" dirty="0" err="1">
                <a:solidFill>
                  <a:srgbClr val="A31515"/>
                </a:solidFill>
                <a:effectLst/>
                <a:latin typeface="Fira Code" panose="020B0809050000020004" pitchFamily="49" charset="0"/>
              </a:rPr>
              <a:t>'N</a:t>
            </a:r>
            <a:r>
              <a:rPr lang="en-US" sz="2000" b="0" noProof="0" dirty="0">
                <a:solidFill>
                  <a:srgbClr val="A31515"/>
                </a:solidFill>
                <a:effectLst/>
                <a:latin typeface="Fira Code" panose="020B0809050000020004" pitchFamily="49" charset="0"/>
              </a:rPr>
              <a:t>'</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98658"/>
                </a:solidFill>
                <a:effectLst/>
                <a:latin typeface="Fira Code" panose="020B0809050000020004" pitchFamily="49" charset="0"/>
              </a:rPr>
              <a:t>16</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hoist</a:t>
            </a:r>
            <a:r>
              <a:rPr lang="en-US" sz="6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6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0FCBA717-9CCC-E582-9AD5-0BD4B28E0F5A}"/>
              </a:ext>
            </a:extLst>
          </p:cNvPr>
          <p:cNvSpPr txBox="1"/>
          <p:nvPr/>
        </p:nvSpPr>
        <p:spPr>
          <a:xfrm>
            <a:off x="1498604" y="3176471"/>
            <a:ext cx="9194792" cy="1124282"/>
          </a:xfrm>
          <a:prstGeom prst="rect">
            <a:avLst/>
          </a:prstGeom>
          <a:noFill/>
          <a:ln>
            <a:solidFill>
              <a:schemeClr val="tx1"/>
            </a:solidFill>
          </a:ln>
        </p:spPr>
        <p:txBody>
          <a:bodyPr wrap="none">
            <a:spAutoFit/>
          </a:bodyPr>
          <a:lstStyle/>
          <a:p>
            <a:pPr>
              <a:lnSpc>
                <a:spcPct val="113095"/>
              </a:lnSpc>
              <a:buNone/>
            </a:pPr>
            <a:r>
              <a:rPr lang="en-US" sz="2000" noProof="0" dirty="0">
                <a:solidFill>
                  <a:srgbClr val="000000"/>
                </a:solidFill>
                <a:latin typeface="Fira Code" panose="020B0809050000020004" pitchFamily="49" charset="0"/>
              </a:rPr>
              <a:t>(</a:t>
            </a: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 </a:t>
            </a:r>
            <a:r>
              <a:rPr lang="en-US" sz="2000" b="1" noProof="0" dirty="0" err="1">
                <a:solidFill>
                  <a:srgbClr val="001080"/>
                </a:solidFill>
                <a:effectLst/>
                <a:latin typeface="Fira Code" panose="020B0809050000020004" pitchFamily="49" charset="0"/>
              </a:rPr>
              <a:t>by_tiles</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DF00CA29-CB8D-E775-A70D-52850554C362}"/>
              </a:ext>
            </a:extLst>
          </p:cNvPr>
          <p:cNvCxnSpPr>
            <a:cxnSpLocks/>
            <a:stCxn id="8" idx="2"/>
            <a:endCxn id="3" idx="0"/>
          </p:cNvCxnSpPr>
          <p:nvPr/>
        </p:nvCxnSpPr>
        <p:spPr>
          <a:xfrm>
            <a:off x="6096000" y="2556199"/>
            <a:ext cx="0" cy="620272"/>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F77E6586-7CA7-0470-44A7-FA4B38EA596E}"/>
              </a:ext>
            </a:extLst>
          </p:cNvPr>
          <p:cNvSpPr txBox="1"/>
          <p:nvPr/>
        </p:nvSpPr>
        <p:spPr>
          <a:xfrm>
            <a:off x="1498604" y="3176471"/>
            <a:ext cx="9194791" cy="1124282"/>
          </a:xfrm>
          <a:prstGeom prst="rect">
            <a:avLst/>
          </a:prstGeom>
          <a:solidFill>
            <a:schemeClr val="bg1"/>
          </a:solidFill>
          <a:ln>
            <a:solidFill>
              <a:schemeClr val="tx1"/>
            </a:solidFill>
          </a:ln>
        </p:spPr>
        <p:txBody>
          <a:bodyPr wrap="square">
            <a:sp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C</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A</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b="0" noProof="0" dirty="0">
                <a:solidFill>
                  <a:srgbClr val="001080"/>
                </a:solidFill>
                <a:effectLst/>
                <a:latin typeface="Fira Code" panose="020B0809050000020004" pitchFamily="49" charset="0"/>
              </a:rPr>
              <a:t>B</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p>
        </p:txBody>
      </p:sp>
      <p:sp>
        <p:nvSpPr>
          <p:cNvPr id="83" name="TextBox 82">
            <a:extLst>
              <a:ext uri="{FF2B5EF4-FFF2-40B4-BE49-F238E27FC236}">
                <a16:creationId xmlns:a16="http://schemas.microsoft.com/office/drawing/2014/main" id="{1195DDFC-51FA-D6DB-4B8E-E4B9CB728047}"/>
              </a:ext>
            </a:extLst>
          </p:cNvPr>
          <p:cNvSpPr txBox="1"/>
          <p:nvPr/>
        </p:nvSpPr>
        <p:spPr>
          <a:xfrm>
            <a:off x="3698997" y="4382925"/>
            <a:ext cx="4610558" cy="400110"/>
          </a:xfrm>
          <a:prstGeom prst="rect">
            <a:avLst/>
          </a:prstGeom>
          <a:noFill/>
        </p:spPr>
        <p:txBody>
          <a:bodyPr wrap="none" rtlCol="0">
            <a:spAutoFit/>
          </a:bodyPr>
          <a:lstStyle/>
          <a:p>
            <a:pPr algn="ctr"/>
            <a:r>
              <a:rPr lang="en-US" sz="2000" noProof="0" dirty="0"/>
              <a:t>Common optimization: compute by tiles</a:t>
            </a:r>
          </a:p>
        </p:txBody>
      </p:sp>
    </p:spTree>
    <p:extLst>
      <p:ext uri="{BB962C8B-B14F-4D97-AF65-F5344CB8AC3E}">
        <p14:creationId xmlns:p14="http://schemas.microsoft.com/office/powerpoint/2010/main" val="382772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8" grpId="0" animBg="1"/>
      <p:bldP spid="4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ectangle 95">
            <a:extLst>
              <a:ext uri="{FF2B5EF4-FFF2-40B4-BE49-F238E27FC236}">
                <a16:creationId xmlns:a16="http://schemas.microsoft.com/office/drawing/2014/main" id="{2EF9E071-1389-EE9C-0095-6F47C9FA3FA8}"/>
              </a:ext>
            </a:extLst>
          </p:cNvPr>
          <p:cNvSpPr/>
          <p:nvPr/>
        </p:nvSpPr>
        <p:spPr>
          <a:xfrm>
            <a:off x="6365700" y="4813730"/>
            <a:ext cx="1636420" cy="326688"/>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parallelization</a:t>
            </a:r>
          </a:p>
        </p:txBody>
      </p:sp>
      <p:sp>
        <p:nvSpPr>
          <p:cNvPr id="95" name="Content Placeholder 94">
            <a:extLst>
              <a:ext uri="{FF2B5EF4-FFF2-40B4-BE49-F238E27FC236}">
                <a16:creationId xmlns:a16="http://schemas.microsoft.com/office/drawing/2014/main" id="{93C01887-40CB-9411-BE90-232F3AF5F29E}"/>
              </a:ext>
            </a:extLst>
          </p:cNvPr>
          <p:cNvSpPr>
            <a:spLocks noGrp="1"/>
          </p:cNvSpPr>
          <p:nvPr>
            <p:ph idx="1"/>
          </p:nvPr>
        </p:nvSpPr>
        <p:spPr/>
        <p:txBody>
          <a:bodyPr/>
          <a:lstStyle/>
          <a:p>
            <a:r>
              <a:rPr lang="en-US" noProof="0" dirty="0"/>
              <a:t>CPU</a:t>
            </a:r>
          </a:p>
          <a:p>
            <a:pPr lvl="1"/>
            <a:r>
              <a:rPr lang="en-US" noProof="0" dirty="0"/>
              <a:t>OpenMP</a:t>
            </a:r>
          </a:p>
          <a:p>
            <a:pPr marL="457200" lvl="1" indent="0">
              <a:buNone/>
            </a:pPr>
            <a:r>
              <a:rPr lang="en-US" noProof="0" dirty="0" err="1">
                <a:solidFill>
                  <a:srgbClr val="795E26"/>
                </a:solidFill>
                <a:latin typeface="Fira Code" panose="020B0809050000020004" pitchFamily="49" charset="0"/>
              </a:rPr>
              <a:t>omp_for_each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endParaRPr lang="en-US" noProof="0" dirty="0"/>
          </a:p>
          <a:p>
            <a:pPr lvl="1"/>
            <a:endParaRPr lang="en-US" noProof="0" dirty="0"/>
          </a:p>
          <a:p>
            <a:pPr lvl="1"/>
            <a:r>
              <a:rPr lang="en-US" noProof="0" dirty="0" err="1"/>
              <a:t>oneTBB</a:t>
            </a:r>
            <a:endParaRPr lang="en-US" noProof="0" dirty="0"/>
          </a:p>
          <a:p>
            <a:pPr marL="457200" lvl="1" indent="0">
              <a:buNone/>
            </a:pPr>
            <a:r>
              <a:rPr lang="en-US" noProof="0" dirty="0" err="1">
                <a:solidFill>
                  <a:srgbClr val="795E26"/>
                </a:solidFill>
                <a:latin typeface="Fira Code" panose="020B0809050000020004" pitchFamily="49" charset="0"/>
              </a:rPr>
              <a:t>tbb_for_each</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 …)</a:t>
            </a:r>
            <a:r>
              <a:rPr lang="en-US" noProof="0" dirty="0"/>
              <a:t>	</a:t>
            </a:r>
          </a:p>
          <a:p>
            <a:endParaRPr lang="en-US" noProof="0" dirty="0"/>
          </a:p>
          <a:p>
            <a:r>
              <a:rPr lang="en-US" noProof="0" dirty="0"/>
              <a:t>GPU</a:t>
            </a:r>
          </a:p>
          <a:p>
            <a:pPr marL="457200" lvl="1" indent="0">
              <a:buNone/>
            </a:pPr>
            <a:r>
              <a:rPr lang="en-US" noProof="0" dirty="0" err="1">
                <a:solidFill>
                  <a:srgbClr val="001080"/>
                </a:solidFill>
                <a:latin typeface="Fira Code" panose="020B0809050000020004" pitchFamily="49" charset="0"/>
              </a:rPr>
              <a:t>cuda_traverser</a:t>
            </a:r>
            <a:r>
              <a:rPr lang="en-US" noProof="0" dirty="0">
                <a:latin typeface="Fira Code" panose="020B0809050000020004" pitchFamily="49" charset="0"/>
              </a:rPr>
              <a:t> = </a:t>
            </a:r>
            <a:r>
              <a:rPr lang="en-US" noProof="0" dirty="0" err="1">
                <a:solidFill>
                  <a:srgbClr val="795E26"/>
                </a:solidFill>
                <a:latin typeface="Fira Code" panose="020B0809050000020004" pitchFamily="49" charset="0"/>
              </a:rPr>
              <a:t>cuda_threads</a:t>
            </a:r>
            <a:r>
              <a:rPr lang="en-US" sz="400" noProof="0" dirty="0">
                <a:solidFill>
                  <a:srgbClr val="795E26"/>
                </a:solidFill>
                <a:latin typeface="Fira Code" panose="020B0809050000020004" pitchFamily="49" charset="0"/>
              </a:rPr>
              <a:t> </a:t>
            </a:r>
            <a:r>
              <a:rPr lang="en-US" noProof="0" dirty="0">
                <a:latin typeface="Fira Code" panose="020B0809050000020004" pitchFamily="49" charset="0"/>
              </a:rPr>
              <a:t>&lt;</a:t>
            </a:r>
            <a:r>
              <a:rPr lang="en-US" noProof="0" dirty="0">
                <a:solidFill>
                  <a:srgbClr val="FF0000"/>
                </a:solidFill>
                <a:latin typeface="Fira Code" panose="020B0809050000020004" pitchFamily="49" charset="0"/>
              </a:rPr>
              <a:t>'</a:t>
            </a:r>
            <a:r>
              <a:rPr lang="en-US" noProof="0" dirty="0" err="1">
                <a:solidFill>
                  <a:srgbClr val="FF0000"/>
                </a:solidFill>
                <a:latin typeface="Fira Code" panose="020B0809050000020004" pitchFamily="49" charset="0"/>
              </a:rPr>
              <a:t>t'</a:t>
            </a:r>
            <a:r>
              <a:rPr lang="en-US" noProof="0" dirty="0" err="1">
                <a:latin typeface="Fira Code" panose="020B0809050000020004" pitchFamily="49" charset="0"/>
              </a:rPr>
              <a:t>,</a:t>
            </a:r>
            <a:r>
              <a:rPr lang="en-US" noProof="0" dirty="0" err="1">
                <a:solidFill>
                  <a:srgbClr val="FF0000"/>
                </a:solidFill>
                <a:latin typeface="Fira Code" panose="020B0809050000020004" pitchFamily="49" charset="0"/>
              </a:rPr>
              <a:t>'b</a:t>
            </a:r>
            <a:r>
              <a:rPr lang="en-US" noProof="0" dirty="0">
                <a:solidFill>
                  <a:srgbClr val="FF0000"/>
                </a:solidFill>
                <a:latin typeface="Fira Code" panose="020B0809050000020004" pitchFamily="49" charset="0"/>
              </a:rPr>
              <a:t>'</a:t>
            </a:r>
            <a:r>
              <a:rPr lang="en-US" noProof="0" dirty="0">
                <a:latin typeface="Fira Code" panose="020B0809050000020004" pitchFamily="49" charset="0"/>
              </a:rPr>
              <a:t>&gt;</a:t>
            </a:r>
            <a:r>
              <a:rPr lang="en-US" sz="400" noProof="0" dirty="0">
                <a:latin typeface="Fira Code" panose="020B0809050000020004" pitchFamily="49" charset="0"/>
              </a:rPr>
              <a:t> </a:t>
            </a:r>
            <a:r>
              <a:rPr lang="en-US" noProof="0" dirty="0">
                <a:latin typeface="Fira Code" panose="020B0809050000020004" pitchFamily="49" charset="0"/>
              </a:rPr>
              <a:t>(</a:t>
            </a:r>
            <a:r>
              <a:rPr lang="en-US" noProof="0" dirty="0">
                <a:solidFill>
                  <a:srgbClr val="001080"/>
                </a:solidFill>
                <a:latin typeface="Fira Code" panose="020B0809050000020004" pitchFamily="49" charset="0"/>
              </a:rPr>
              <a:t>traverser</a:t>
            </a:r>
            <a:r>
              <a:rPr lang="en-US" noProof="0" dirty="0">
                <a:latin typeface="Fira Code" panose="020B0809050000020004" pitchFamily="49" charset="0"/>
              </a:rPr>
              <a:t>)</a:t>
            </a:r>
          </a:p>
          <a:p>
            <a:pPr marL="457200" lvl="1" indent="0">
              <a:buNone/>
            </a:pPr>
            <a:r>
              <a:rPr lang="en-US" noProof="0" dirty="0" err="1">
                <a:solidFill>
                  <a:srgbClr val="001080"/>
                </a:solidFill>
                <a:latin typeface="Fira Code" panose="020B0809050000020004" pitchFamily="49" charset="0"/>
              </a:rPr>
              <a:t>cuda_traverser</a:t>
            </a:r>
            <a:r>
              <a:rPr lang="en-US" noProof="0" dirty="0" err="1">
                <a:latin typeface="Fira Code" panose="020B0809050000020004" pitchFamily="49" charset="0"/>
              </a:rPr>
              <a:t>.</a:t>
            </a:r>
            <a:r>
              <a:rPr lang="en-US" noProof="0" dirty="0" err="1">
                <a:solidFill>
                  <a:srgbClr val="795E26"/>
                </a:solidFill>
                <a:latin typeface="Fira Code" panose="020B0809050000020004" pitchFamily="49" charset="0"/>
              </a:rPr>
              <a:t>simple_run</a:t>
            </a:r>
            <a:r>
              <a:rPr lang="en-US" noProof="0" dirty="0">
                <a:latin typeface="Fira Code" panose="020B0809050000020004" pitchFamily="49" charset="0"/>
              </a:rPr>
              <a:t>(…)</a:t>
            </a:r>
            <a:endParaRPr lang="en-US" noProof="0" dirty="0">
              <a:solidFill>
                <a:srgbClr val="001080"/>
              </a:solidFill>
              <a:latin typeface="Fira Code" panose="020B0809050000020004" pitchFamily="49" charset="0"/>
            </a:endParaRP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9/4/2026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5">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5">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5">
                                            <p:txEl>
                                              <p:pRg st="9" end="9"/>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98450" y="2280208"/>
            <a:ext cx="2407303" cy="842437"/>
          </a:xfrm>
          <a:prstGeom prst="wedgeRoundRectCallout">
            <a:avLst>
              <a:gd name="adj1" fmla="val 54139"/>
              <a:gd name="adj2" fmla="val -3935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Tile</a:t>
            </a:r>
            <a:r>
              <a:rPr lang="en-US" sz="1600" noProof="0" dirty="0"/>
              <a:t> </a:t>
            </a:r>
            <a:r>
              <a:rPr lang="en-US" sz="2400" noProof="0" dirty="0"/>
              <a:t>size</a:t>
            </a:r>
            <a:r>
              <a:rPr lang="en-US" sz="1600" noProof="0" dirty="0"/>
              <a:t> </a:t>
            </a:r>
            <a:r>
              <a:rPr lang="en-US" sz="2400" noProof="0" dirty="0"/>
              <a:t>for</a:t>
            </a:r>
            <a:r>
              <a:rPr lang="en-US" sz="1600" noProof="0" dirty="0"/>
              <a:t> </a:t>
            </a:r>
            <a:r>
              <a:rPr lang="en-US" sz="2400" noProof="0" dirty="0"/>
              <a:t>tiling</a:t>
            </a:r>
            <a:br>
              <a:rPr lang="en-US" sz="2400" noProof="0" dirty="0"/>
            </a:b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102038" y="1343818"/>
            <a:ext cx="2407305" cy="842437"/>
          </a:xfrm>
          <a:prstGeom prst="wedgeRoundRectCallout">
            <a:avLst>
              <a:gd name="adj1" fmla="val 54538"/>
              <a:gd name="adj2" fmla="val 25624"/>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Choice</a:t>
            </a:r>
            <a:r>
              <a:rPr lang="en-US" sz="1600" noProof="0" dirty="0"/>
              <a:t> </a:t>
            </a:r>
            <a:r>
              <a:rPr lang="en-US" sz="2400" noProof="0" dirty="0"/>
              <a:t>of</a:t>
            </a:r>
            <a:r>
              <a:rPr lang="en-US" sz="1600" noProof="0" dirty="0"/>
              <a:t> </a:t>
            </a:r>
            <a:r>
              <a:rPr lang="en-US" sz="2400" noProof="0" dirty="0"/>
              <a:t>layout</a:t>
            </a:r>
          </a:p>
          <a:p>
            <a:pPr algn="ctr"/>
            <a:endParaRPr lang="en-US" sz="2400" noProof="0"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561798" y="1496321"/>
            <a:ext cx="2543412" cy="537432"/>
          </a:xfrm>
          <a:prstGeom prst="wedgeRoundRectCallout">
            <a:avLst>
              <a:gd name="adj1" fmla="val -53824"/>
              <a:gd name="adj2" fmla="val 29339"/>
              <a:gd name="adj3" fmla="val 16667"/>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noProof="0" dirty="0"/>
              <a:t>Categorical value</a:t>
            </a:r>
          </a:p>
        </p:txBody>
      </p: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561798" y="2338760"/>
            <a:ext cx="2543412" cy="537432"/>
          </a:xfrm>
          <a:prstGeom prst="wedgeRoundRectCallout">
            <a:avLst>
              <a:gd name="adj1" fmla="val -53454"/>
              <a:gd name="adj2" fmla="val -34984"/>
              <a:gd name="adj3" fmla="val 16667"/>
            </a:avLst>
          </a:prstGeom>
          <a:gradFill>
            <a:gsLst>
              <a:gs pos="0">
                <a:srgbClr val="D7ADD0"/>
              </a:gs>
              <a:gs pos="50000">
                <a:srgbClr val="CD9FC6"/>
              </a:gs>
              <a:gs pos="100000">
                <a:srgbClr val="C88CBE"/>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Numerical value</a:t>
            </a:r>
            <a:endParaRPr lang="en-US" sz="2400" noProof="0"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106641" y="1765036"/>
            <a:ext cx="2824662" cy="461665"/>
          </a:xfrm>
          <a:prstGeom prst="rect">
            <a:avLst/>
          </a:prstGeom>
          <a:noFill/>
        </p:spPr>
        <p:txBody>
          <a:bodyPr wrap="square">
            <a:spAutoFit/>
          </a:bodyPr>
          <a:lstStyle/>
          <a:p>
            <a:pPr algn="ctr"/>
            <a:r>
              <a:rPr lang="en-US" sz="2400" noProof="0" dirty="0">
                <a:latin typeface="Fira Code" panose="020B0809050000020004" pitchFamily="49" charset="0"/>
                <a:ea typeface="Fira Code" panose="020B0809050000020004" pitchFamily="49" charset="0"/>
                <a:cs typeface="Fira Code" panose="020B0809050000020004" pitchFamily="49" charset="0"/>
              </a:rPr>
              <a:t>#if</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CHOICE</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900" noProof="0" dirty="0">
                <a:latin typeface="Fira Code" panose="020B0809050000020004" pitchFamily="49" charset="0"/>
                <a:ea typeface="Fira Code" panose="020B0809050000020004" pitchFamily="49" charset="0"/>
                <a:cs typeface="Fira Code" panose="020B0809050000020004" pitchFamily="49" charset="0"/>
              </a:rPr>
              <a:t> </a:t>
            </a:r>
            <a:r>
              <a:rPr lang="en-US" sz="2400" noProof="0" dirty="0">
                <a:latin typeface="Fira Code" panose="020B0809050000020004" pitchFamily="49" charset="0"/>
                <a:ea typeface="Fira Code" panose="020B0809050000020004" pitchFamily="49" charset="0"/>
                <a:cs typeface="Fira Code" panose="020B0809050000020004" pitchFamily="49" charset="0"/>
              </a:rPr>
              <a:t>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78828" y="2660980"/>
            <a:ext cx="2446546" cy="461665"/>
          </a:xfrm>
          <a:prstGeom prst="rect">
            <a:avLst/>
          </a:prstGeom>
          <a:noFill/>
        </p:spPr>
        <p:txBody>
          <a:bodyPr wrap="square">
            <a:spAutoFit/>
          </a:bodyPr>
          <a:lstStyle/>
          <a:p>
            <a:pPr algn="ctr"/>
            <a:r>
              <a:rPr lang="en-US" sz="2400" noProof="0" dirty="0"/>
              <a:t>I</a:t>
            </a:r>
            <a:r>
              <a:rPr lang="en-US" sz="1000" noProof="0" dirty="0"/>
              <a:t> </a:t>
            </a:r>
            <a:r>
              <a:rPr lang="en-US" sz="2400" noProof="0" dirty="0"/>
              <a:t>+=</a:t>
            </a:r>
            <a:r>
              <a:rPr lang="en-US" sz="1000" noProof="0" dirty="0"/>
              <a:t> </a:t>
            </a:r>
            <a:r>
              <a:rPr lang="en-US" sz="2400" noProof="0" dirty="0"/>
              <a:t>TILE_SIZE</a:t>
            </a:r>
            <a:endParaRPr lang="en-US" sz="2400" noProof="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40" grpId="0" animBg="1"/>
      <p:bldP spid="12" grpId="0"/>
      <p:bldP spid="2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499553" y="3948155"/>
            <a:ext cx="6637132" cy="3075322"/>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640027" y="5107245"/>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640027" y="4293832"/>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10048422" y="2962990"/>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cxnSpLocks/>
            <a:endCxn id="19" idx="1"/>
          </p:cNvCxnSpPr>
          <p:nvPr/>
        </p:nvCxnSpPr>
        <p:spPr>
          <a:xfrm flipV="1">
            <a:off x="8831481" y="3512609"/>
            <a:ext cx="1216941" cy="9935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831481" y="4534677"/>
            <a:ext cx="808546" cy="1701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cxnSpLocks/>
            <a:endCxn id="17" idx="1"/>
          </p:cNvCxnSpPr>
          <p:nvPr/>
        </p:nvCxnSpPr>
        <p:spPr>
          <a:xfrm>
            <a:off x="8831481" y="4551693"/>
            <a:ext cx="808546" cy="976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Arrow: Down 14">
            <a:extLst>
              <a:ext uri="{FF2B5EF4-FFF2-40B4-BE49-F238E27FC236}">
                <a16:creationId xmlns:a16="http://schemas.microsoft.com/office/drawing/2014/main" id="{71F4EF2F-6E0C-390A-B96B-78A98DF8198D}"/>
              </a:ext>
            </a:extLst>
          </p:cNvPr>
          <p:cNvSpPr/>
          <p:nvPr/>
        </p:nvSpPr>
        <p:spPr>
          <a:xfrm>
            <a:off x="5546381" y="3265015"/>
            <a:ext cx="1099238" cy="610800"/>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229487" y="4164317"/>
            <a:ext cx="315718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808081" y="4606991"/>
            <a:ext cx="81886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8" name="Right Brace 7">
            <a:extLst>
              <a:ext uri="{FF2B5EF4-FFF2-40B4-BE49-F238E27FC236}">
                <a16:creationId xmlns:a16="http://schemas.microsoft.com/office/drawing/2014/main" id="{F6515878-1DFA-03A8-4EEB-60F2CDE02676}"/>
              </a:ext>
            </a:extLst>
          </p:cNvPr>
          <p:cNvSpPr/>
          <p:nvPr/>
        </p:nvSpPr>
        <p:spPr>
          <a:xfrm rot="5400000">
            <a:off x="5962407" y="-690971"/>
            <a:ext cx="147459" cy="6825238"/>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400" noProof="0" dirty="0"/>
          </a:p>
        </p:txBody>
      </p:sp>
      <p:sp>
        <p:nvSpPr>
          <p:cNvPr id="10" name="TextBox 9">
            <a:extLst>
              <a:ext uri="{FF2B5EF4-FFF2-40B4-BE49-F238E27FC236}">
                <a16:creationId xmlns:a16="http://schemas.microsoft.com/office/drawing/2014/main" id="{97A718B6-DF4F-3AB7-40D5-7116112700F5}"/>
              </a:ext>
            </a:extLst>
          </p:cNvPr>
          <p:cNvSpPr txBox="1"/>
          <p:nvPr/>
        </p:nvSpPr>
        <p:spPr>
          <a:xfrm>
            <a:off x="4190470" y="2765605"/>
            <a:ext cx="3879652" cy="400110"/>
          </a:xfrm>
          <a:prstGeom prst="rect">
            <a:avLst/>
          </a:prstGeom>
          <a:noFill/>
        </p:spPr>
        <p:txBody>
          <a:bodyPr wrap="none" rtlCol="0">
            <a:spAutoFit/>
          </a:bodyPr>
          <a:lstStyle/>
          <a:p>
            <a:pPr algn="ctr"/>
            <a:r>
              <a:rPr lang="en-US" sz="2000" noProof="0" dirty="0"/>
              <a:t>Too much boilerplate, error-prone</a:t>
            </a:r>
          </a:p>
        </p:txBody>
      </p:sp>
      <p:sp>
        <p:nvSpPr>
          <p:cNvPr id="11" name="Flowchart: Process 10">
            <a:extLst>
              <a:ext uri="{FF2B5EF4-FFF2-40B4-BE49-F238E27FC236}">
                <a16:creationId xmlns:a16="http://schemas.microsoft.com/office/drawing/2014/main" id="{26E37F59-4196-7649-B7D2-BB801E53E504}"/>
              </a:ext>
            </a:extLst>
          </p:cNvPr>
          <p:cNvSpPr/>
          <p:nvPr/>
        </p:nvSpPr>
        <p:spPr>
          <a:xfrm>
            <a:off x="2623518" y="1690418"/>
            <a:ext cx="2279575"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the </a:t>
            </a:r>
            <a:r>
              <a:rPr lang="en-US" sz="2400" b="1" noProof="0" dirty="0"/>
              <a:t>application</a:t>
            </a:r>
          </a:p>
        </p:txBody>
      </p:sp>
      <p:sp>
        <p:nvSpPr>
          <p:cNvPr id="12" name="Flowchart: Process 11">
            <a:extLst>
              <a:ext uri="{FF2B5EF4-FFF2-40B4-BE49-F238E27FC236}">
                <a16:creationId xmlns:a16="http://schemas.microsoft.com/office/drawing/2014/main" id="{9F2F22A6-86BF-4BFC-64C7-6A15CEB87151}"/>
              </a:ext>
            </a:extLst>
          </p:cNvPr>
          <p:cNvSpPr/>
          <p:nvPr/>
        </p:nvSpPr>
        <p:spPr>
          <a:xfrm>
            <a:off x="7021773" y="1685974"/>
            <a:ext cx="2426983" cy="842437"/>
          </a:xfrm>
          <a:prstGeom prst="flowChartProcess">
            <a:avLst/>
          </a:prstGeom>
          <a:gradFill>
            <a:gsLst>
              <a:gs pos="0">
                <a:srgbClr val="E96733"/>
              </a:gs>
              <a:gs pos="50000">
                <a:schemeClr val="accent2">
                  <a:satMod val="110000"/>
                  <a:lumMod val="100000"/>
                  <a:shade val="100000"/>
                </a:schemeClr>
              </a:gs>
              <a:gs pos="100000">
                <a:schemeClr val="accent2">
                  <a:lumMod val="99000"/>
                  <a:satMod val="120000"/>
                  <a:shade val="78000"/>
                </a:schemeClr>
              </a:gs>
            </a:gsLst>
          </a:gradFill>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sz="2400" noProof="0" dirty="0"/>
              <a:t>Parameters in an </a:t>
            </a:r>
            <a:r>
              <a:rPr lang="en-US" sz="2400" b="1" noProof="0" dirty="0"/>
              <a:t>autotuner script</a:t>
            </a:r>
          </a:p>
        </p:txBody>
      </p:sp>
      <p:sp>
        <p:nvSpPr>
          <p:cNvPr id="13" name="Arrow: Left-Right 12">
            <a:extLst>
              <a:ext uri="{FF2B5EF4-FFF2-40B4-BE49-F238E27FC236}">
                <a16:creationId xmlns:a16="http://schemas.microsoft.com/office/drawing/2014/main" id="{92459CEA-1CC1-7AFE-25A7-DEEB6918DF18}"/>
              </a:ext>
            </a:extLst>
          </p:cNvPr>
          <p:cNvSpPr/>
          <p:nvPr/>
        </p:nvSpPr>
        <p:spPr>
          <a:xfrm>
            <a:off x="4909444" y="1774066"/>
            <a:ext cx="2098330" cy="690836"/>
          </a:xfrm>
          <a:prstGeom prst="leftRightArrow">
            <a:avLst>
              <a:gd name="adj1" fmla="val 46405"/>
              <a:gd name="adj2" fmla="val 45816"/>
            </a:avLst>
          </a:prstGeom>
          <a:gradFill flip="none" rotWithShape="1">
            <a:gsLst>
              <a:gs pos="0">
                <a:schemeClr val="accent2">
                  <a:lumMod val="67000"/>
                </a:schemeClr>
              </a:gs>
              <a:gs pos="48000">
                <a:schemeClr val="accent2">
                  <a:lumMod val="97000"/>
                  <a:lumOff val="3000"/>
                </a:schemeClr>
              </a:gs>
              <a:gs pos="100000">
                <a:srgbClr val="EE9360"/>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2000" noProof="0" dirty="0"/>
              <a:t>Communication</a:t>
            </a:r>
          </a:p>
        </p:txBody>
      </p:sp>
      <p:cxnSp>
        <p:nvCxnSpPr>
          <p:cNvPr id="14" name="Straight Connector 13">
            <a:extLst>
              <a:ext uri="{FF2B5EF4-FFF2-40B4-BE49-F238E27FC236}">
                <a16:creationId xmlns:a16="http://schemas.microsoft.com/office/drawing/2014/main" id="{E43CE43A-8545-77B8-3811-4F92BAE947E3}"/>
              </a:ext>
            </a:extLst>
          </p:cNvPr>
          <p:cNvCxnSpPr>
            <a:cxnSpLocks/>
            <a:endCxn id="32" idx="0"/>
          </p:cNvCxnSpPr>
          <p:nvPr/>
        </p:nvCxnSpPr>
        <p:spPr>
          <a:xfrm flipH="1">
            <a:off x="1494066" y="5242990"/>
            <a:ext cx="1129451" cy="635999"/>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16BAB3F-2C66-7B11-FCB8-A349105AB726}"/>
              </a:ext>
            </a:extLst>
          </p:cNvPr>
          <p:cNvSpPr txBox="1"/>
          <p:nvPr/>
        </p:nvSpPr>
        <p:spPr>
          <a:xfrm>
            <a:off x="141578" y="5878989"/>
            <a:ext cx="2704976"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000" noProof="0" dirty="0"/>
              <a:t>Used as regular values</a:t>
            </a:r>
          </a:p>
        </p:txBody>
      </p: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1984829" y="859520"/>
            <a:ext cx="8222343" cy="5138960"/>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5072322" y="5946583"/>
            <a:ext cx="2047355" cy="461665"/>
          </a:xfrm>
          <a:prstGeom prst="rect">
            <a:avLst/>
          </a:prstGeom>
          <a:noFill/>
        </p:spPr>
        <p:txBody>
          <a:bodyPr wrap="none" rtlCol="0">
            <a:spAutoFit/>
          </a:bodyPr>
          <a:lstStyle/>
          <a:p>
            <a:pPr algn="ctr"/>
            <a:r>
              <a:rPr lang="en-US" sz="2400"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5072322" y="533856"/>
            <a:ext cx="2302302"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Tree>
    <p:extLst>
      <p:ext uri="{BB962C8B-B14F-4D97-AF65-F5344CB8AC3E}">
        <p14:creationId xmlns:p14="http://schemas.microsoft.com/office/powerpoint/2010/main" val="522048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84B52-9DD9-A429-012A-A49C5D8EA8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004940-8761-D376-5D89-223EF87A2B46}"/>
              </a:ext>
            </a:extLst>
          </p:cNvPr>
          <p:cNvSpPr>
            <a:spLocks noGrp="1"/>
          </p:cNvSpPr>
          <p:nvPr>
            <p:ph type="title"/>
          </p:nvPr>
        </p:nvSpPr>
        <p:spPr/>
        <p:txBody>
          <a:bodyPr/>
          <a:lstStyle/>
          <a:p>
            <a:r>
              <a:rPr lang="en-US" noProof="0" dirty="0"/>
              <a:t>Performance</a:t>
            </a:r>
          </a:p>
        </p:txBody>
      </p:sp>
      <p:sp>
        <p:nvSpPr>
          <p:cNvPr id="3" name="Date Placeholder 2">
            <a:extLst>
              <a:ext uri="{FF2B5EF4-FFF2-40B4-BE49-F238E27FC236}">
                <a16:creationId xmlns:a16="http://schemas.microsoft.com/office/drawing/2014/main" id="{4FFBC0BB-6204-6A99-7FFA-79E9F93FE637}"/>
              </a:ext>
            </a:extLst>
          </p:cNvPr>
          <p:cNvSpPr>
            <a:spLocks noGrp="1"/>
          </p:cNvSpPr>
          <p:nvPr>
            <p:ph type="dt" sz="half" idx="10"/>
          </p:nvPr>
        </p:nvSpPr>
        <p:spPr/>
        <p:txBody>
          <a:bodyPr/>
          <a:lstStyle/>
          <a:p>
            <a:fld id="{1A21DD6E-5048-4D3D-823A-657D259BCC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B837290D-EEA3-A479-2D49-8B742B58976D}"/>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10" name="TextBox 9">
            <a:extLst>
              <a:ext uri="{FF2B5EF4-FFF2-40B4-BE49-F238E27FC236}">
                <a16:creationId xmlns:a16="http://schemas.microsoft.com/office/drawing/2014/main" id="{8F4ACCF0-5C1C-5E73-7132-0B2A17F92827}"/>
              </a:ext>
            </a:extLst>
          </p:cNvPr>
          <p:cNvSpPr txBox="1"/>
          <p:nvPr/>
        </p:nvSpPr>
        <p:spPr>
          <a:xfrm>
            <a:off x="3695213" y="1134007"/>
            <a:ext cx="2127171" cy="461665"/>
          </a:xfrm>
          <a:prstGeom prst="rect">
            <a:avLst/>
          </a:prstGeom>
          <a:noFill/>
        </p:spPr>
        <p:txBody>
          <a:bodyPr wrap="square" rtlCol="0" anchor="b">
            <a:spAutoFit/>
          </a:bodyPr>
          <a:lstStyle/>
          <a:p>
            <a:pPr algn="ctr"/>
            <a:r>
              <a:rPr lang="en-US" sz="2400" noProof="0" dirty="0" err="1"/>
              <a:t>PolyBench</a:t>
            </a:r>
            <a:r>
              <a:rPr lang="en-US" sz="2400" noProof="0" dirty="0"/>
              <a:t>/C</a:t>
            </a:r>
          </a:p>
        </p:txBody>
      </p:sp>
      <p:sp>
        <p:nvSpPr>
          <p:cNvPr id="11" name="Right Brace 10">
            <a:extLst>
              <a:ext uri="{FF2B5EF4-FFF2-40B4-BE49-F238E27FC236}">
                <a16:creationId xmlns:a16="http://schemas.microsoft.com/office/drawing/2014/main" id="{A39CFA25-A759-FD09-8613-F03A145A7D85}"/>
              </a:ext>
            </a:extLst>
          </p:cNvPr>
          <p:cNvSpPr/>
          <p:nvPr/>
        </p:nvSpPr>
        <p:spPr>
          <a:xfrm rot="16200000">
            <a:off x="4663077" y="-1118335"/>
            <a:ext cx="191445" cy="5540685"/>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pic>
        <p:nvPicPr>
          <p:cNvPr id="9" name="Picture 8">
            <a:extLst>
              <a:ext uri="{FF2B5EF4-FFF2-40B4-BE49-F238E27FC236}">
                <a16:creationId xmlns:a16="http://schemas.microsoft.com/office/drawing/2014/main" id="{D61DA4FA-2AF0-0F8F-FB51-4B45F895D17D}"/>
              </a:ext>
            </a:extLst>
          </p:cNvPr>
          <p:cNvPicPr>
            <a:picLocks noChangeAspect="1"/>
          </p:cNvPicPr>
          <p:nvPr/>
        </p:nvPicPr>
        <p:blipFill>
          <a:blip r:embed="rId3"/>
          <a:stretch>
            <a:fillRect/>
          </a:stretch>
        </p:blipFill>
        <p:spPr>
          <a:xfrm>
            <a:off x="1377582" y="1747731"/>
            <a:ext cx="2599332" cy="4417175"/>
          </a:xfrm>
          <a:prstGeom prst="rect">
            <a:avLst/>
          </a:prstGeom>
        </p:spPr>
      </p:pic>
      <p:pic>
        <p:nvPicPr>
          <p:cNvPr id="12" name="Picture 11">
            <a:extLst>
              <a:ext uri="{FF2B5EF4-FFF2-40B4-BE49-F238E27FC236}">
                <a16:creationId xmlns:a16="http://schemas.microsoft.com/office/drawing/2014/main" id="{D6CEF4D3-5BA9-BD97-BEB4-6E66A3F6E546}"/>
              </a:ext>
            </a:extLst>
          </p:cNvPr>
          <p:cNvPicPr>
            <a:picLocks noChangeAspect="1"/>
          </p:cNvPicPr>
          <p:nvPr/>
        </p:nvPicPr>
        <p:blipFill>
          <a:blip r:embed="rId4"/>
          <a:stretch>
            <a:fillRect/>
          </a:stretch>
        </p:blipFill>
        <p:spPr>
          <a:xfrm>
            <a:off x="4929810" y="1747731"/>
            <a:ext cx="2599332" cy="4417173"/>
          </a:xfrm>
          <a:prstGeom prst="rect">
            <a:avLst/>
          </a:prstGeom>
        </p:spPr>
      </p:pic>
      <p:pic>
        <p:nvPicPr>
          <p:cNvPr id="13" name="Picture 12">
            <a:extLst>
              <a:ext uri="{FF2B5EF4-FFF2-40B4-BE49-F238E27FC236}">
                <a16:creationId xmlns:a16="http://schemas.microsoft.com/office/drawing/2014/main" id="{1929BE2B-B750-862E-E7F8-E5055850943F}"/>
              </a:ext>
            </a:extLst>
          </p:cNvPr>
          <p:cNvPicPr>
            <a:picLocks noChangeAspect="1"/>
          </p:cNvPicPr>
          <p:nvPr/>
        </p:nvPicPr>
        <p:blipFill>
          <a:blip r:embed="rId5"/>
          <a:stretch>
            <a:fillRect/>
          </a:stretch>
        </p:blipFill>
        <p:spPr>
          <a:xfrm>
            <a:off x="8215088" y="1751360"/>
            <a:ext cx="2599330" cy="4417170"/>
          </a:xfrm>
          <a:prstGeom prst="rect">
            <a:avLst/>
          </a:prstGeom>
        </p:spPr>
      </p:pic>
      <p:sp>
        <p:nvSpPr>
          <p:cNvPr id="14" name="TextBox 13">
            <a:extLst>
              <a:ext uri="{FF2B5EF4-FFF2-40B4-BE49-F238E27FC236}">
                <a16:creationId xmlns:a16="http://schemas.microsoft.com/office/drawing/2014/main" id="{F6688653-755E-3CE2-5C89-C6F464C4D86D}"/>
              </a:ext>
            </a:extLst>
          </p:cNvPr>
          <p:cNvSpPr txBox="1"/>
          <p:nvPr/>
        </p:nvSpPr>
        <p:spPr>
          <a:xfrm>
            <a:off x="2314048" y="6125517"/>
            <a:ext cx="1337226" cy="461665"/>
          </a:xfrm>
          <a:prstGeom prst="rect">
            <a:avLst/>
          </a:prstGeom>
          <a:noFill/>
        </p:spPr>
        <p:txBody>
          <a:bodyPr wrap="none" rtlCol="0">
            <a:spAutoFit/>
          </a:bodyPr>
          <a:lstStyle/>
          <a:p>
            <a:pPr algn="ctr"/>
            <a:r>
              <a:rPr lang="en-US" sz="2400" noProof="0" dirty="0"/>
              <a:t>OpenMP</a:t>
            </a:r>
          </a:p>
        </p:txBody>
      </p:sp>
      <p:sp>
        <p:nvSpPr>
          <p:cNvPr id="17" name="TextBox 16">
            <a:extLst>
              <a:ext uri="{FF2B5EF4-FFF2-40B4-BE49-F238E27FC236}">
                <a16:creationId xmlns:a16="http://schemas.microsoft.com/office/drawing/2014/main" id="{667B5F2B-0CBE-6E78-3B10-333B35B0B297}"/>
              </a:ext>
            </a:extLst>
          </p:cNvPr>
          <p:cNvSpPr txBox="1"/>
          <p:nvPr/>
        </p:nvSpPr>
        <p:spPr>
          <a:xfrm>
            <a:off x="6216107" y="6077247"/>
            <a:ext cx="704039" cy="461665"/>
          </a:xfrm>
          <a:prstGeom prst="rect">
            <a:avLst/>
          </a:prstGeom>
          <a:noFill/>
        </p:spPr>
        <p:txBody>
          <a:bodyPr wrap="none" rtlCol="0">
            <a:spAutoFit/>
          </a:bodyPr>
          <a:lstStyle/>
          <a:p>
            <a:pPr algn="ctr"/>
            <a:r>
              <a:rPr lang="en-US" sz="2400" noProof="0" dirty="0"/>
              <a:t>TBB</a:t>
            </a:r>
          </a:p>
        </p:txBody>
      </p:sp>
      <p:sp>
        <p:nvSpPr>
          <p:cNvPr id="19" name="TextBox 18">
            <a:extLst>
              <a:ext uri="{FF2B5EF4-FFF2-40B4-BE49-F238E27FC236}">
                <a16:creationId xmlns:a16="http://schemas.microsoft.com/office/drawing/2014/main" id="{20442BAB-9C7C-A7E7-E003-E192B24A9990}"/>
              </a:ext>
            </a:extLst>
          </p:cNvPr>
          <p:cNvSpPr txBox="1"/>
          <p:nvPr/>
        </p:nvSpPr>
        <p:spPr>
          <a:xfrm>
            <a:off x="9484980" y="6125516"/>
            <a:ext cx="994439" cy="461665"/>
          </a:xfrm>
          <a:prstGeom prst="rect">
            <a:avLst/>
          </a:prstGeom>
          <a:noFill/>
        </p:spPr>
        <p:txBody>
          <a:bodyPr wrap="none" rtlCol="0">
            <a:spAutoFit/>
          </a:bodyPr>
          <a:lstStyle/>
          <a:p>
            <a:pPr algn="ctr"/>
            <a:r>
              <a:rPr lang="en-US" sz="2400" noProof="0" dirty="0"/>
              <a:t>CUDA</a:t>
            </a:r>
          </a:p>
        </p:txBody>
      </p:sp>
      <p:sp>
        <p:nvSpPr>
          <p:cNvPr id="15" name="TextBox 14">
            <a:extLst>
              <a:ext uri="{FF2B5EF4-FFF2-40B4-BE49-F238E27FC236}">
                <a16:creationId xmlns:a16="http://schemas.microsoft.com/office/drawing/2014/main" id="{2E799F0C-B061-4025-3DCB-D375FEAC5ADD}"/>
              </a:ext>
            </a:extLst>
          </p:cNvPr>
          <p:cNvSpPr txBox="1"/>
          <p:nvPr/>
        </p:nvSpPr>
        <p:spPr>
          <a:xfrm>
            <a:off x="8365923" y="1092101"/>
            <a:ext cx="2721384" cy="461665"/>
          </a:xfrm>
          <a:prstGeom prst="rect">
            <a:avLst/>
          </a:prstGeom>
          <a:noFill/>
        </p:spPr>
        <p:txBody>
          <a:bodyPr wrap="square" rtlCol="0" anchor="b">
            <a:spAutoFit/>
          </a:bodyPr>
          <a:lstStyle/>
          <a:p>
            <a:pPr algn="ctr"/>
            <a:r>
              <a:rPr lang="en-US" sz="2400" noProof="0" dirty="0" err="1"/>
              <a:t>PolyBench</a:t>
            </a:r>
            <a:r>
              <a:rPr lang="en-US" sz="2400" noProof="0" dirty="0"/>
              <a:t>/GPU</a:t>
            </a:r>
          </a:p>
        </p:txBody>
      </p:sp>
    </p:spTree>
    <p:extLst>
      <p:ext uri="{BB962C8B-B14F-4D97-AF65-F5344CB8AC3E}">
        <p14:creationId xmlns:p14="http://schemas.microsoft.com/office/powerpoint/2010/main" val="4719303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0" y="1324308"/>
            <a:ext cx="9584233" cy="488608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7848599" y="1776739"/>
            <a:ext cx="1523999" cy="1093207"/>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7905411" y="3448828"/>
            <a:ext cx="1433421" cy="433747"/>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7939177" y="4752246"/>
            <a:ext cx="1433421" cy="786423"/>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7939177" y="5538669"/>
            <a:ext cx="1433421" cy="786425"/>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Code metrics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sp>
        <p:nvSpPr>
          <p:cNvPr id="7" name="TextBox 6">
            <a:extLst>
              <a:ext uri="{FF2B5EF4-FFF2-40B4-BE49-F238E27FC236}">
                <a16:creationId xmlns:a16="http://schemas.microsoft.com/office/drawing/2014/main" id="{7859C2BD-F5BA-A488-11E4-2C22ACB78A0F}"/>
              </a:ext>
            </a:extLst>
          </p:cNvPr>
          <p:cNvSpPr txBox="1"/>
          <p:nvPr/>
        </p:nvSpPr>
        <p:spPr>
          <a:xfrm>
            <a:off x="8664952" y="908416"/>
            <a:ext cx="3527048" cy="578882"/>
          </a:xfrm>
          <a:prstGeom prst="roundRect">
            <a:avLst/>
          </a:prstGeom>
          <a:gradFill>
            <a:gsLst>
              <a:gs pos="0">
                <a:srgbClr val="E1A3A3"/>
              </a:gs>
              <a:gs pos="50000">
                <a:srgbClr val="D69696"/>
              </a:gs>
              <a:gs pos="100000">
                <a:srgbClr val="DC9696"/>
              </a:gs>
            </a:gsLst>
          </a:gradFill>
          <a:ln w="19050">
            <a:solidFill>
              <a:srgbClr val="FF0000"/>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dirty="0"/>
              <a:t>Slightly more verbose</a:t>
            </a:r>
          </a:p>
        </p:txBody>
      </p:sp>
      <p:cxnSp>
        <p:nvCxnSpPr>
          <p:cNvPr id="11" name="Straight Connector 10">
            <a:extLst>
              <a:ext uri="{FF2B5EF4-FFF2-40B4-BE49-F238E27FC236}">
                <a16:creationId xmlns:a16="http://schemas.microsoft.com/office/drawing/2014/main" id="{CA8136D9-C585-21C8-F43F-1916F4B73BA7}"/>
              </a:ext>
            </a:extLst>
          </p:cNvPr>
          <p:cNvCxnSpPr>
            <a:stCxn id="6" idx="7"/>
            <a:endCxn id="7" idx="2"/>
          </p:cNvCxnSpPr>
          <p:nvPr/>
        </p:nvCxnSpPr>
        <p:spPr>
          <a:xfrm flipV="1">
            <a:off x="9149414" y="1487298"/>
            <a:ext cx="1279062" cy="449537"/>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C6FA21F2-553A-B049-D946-099C05E7CF52}"/>
              </a:ext>
            </a:extLst>
          </p:cNvPr>
          <p:cNvCxnSpPr>
            <a:cxnSpLocks/>
            <a:stCxn id="12" idx="7"/>
            <a:endCxn id="7" idx="2"/>
          </p:cNvCxnSpPr>
          <p:nvPr/>
        </p:nvCxnSpPr>
        <p:spPr>
          <a:xfrm flipV="1">
            <a:off x="9162678" y="1487298"/>
            <a:ext cx="1265798" cy="3380117"/>
          </a:xfrm>
          <a:prstGeom prst="line">
            <a:avLst/>
          </a:prstGeom>
          <a:ln w="28575">
            <a:solidFill>
              <a:srgbClr val="FF000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E727AB4C-67A7-AAC7-2305-D1A2D7D919D3}"/>
              </a:ext>
            </a:extLst>
          </p:cNvPr>
          <p:cNvSpPr txBox="1"/>
          <p:nvPr/>
        </p:nvSpPr>
        <p:spPr>
          <a:xfrm>
            <a:off x="9338832" y="4633210"/>
            <a:ext cx="2882718" cy="578882"/>
          </a:xfrm>
          <a:prstGeom prst="roundRect">
            <a:avLst/>
          </a:prstGeom>
          <a:gradFill>
            <a:gsLst>
              <a:gs pos="0">
                <a:srgbClr val="AFD8F7"/>
              </a:gs>
              <a:gs pos="50000">
                <a:srgbClr val="A2CDEE"/>
              </a:gs>
              <a:gs pos="100000">
                <a:srgbClr val="8CC8F0"/>
              </a:gs>
            </a:gsLst>
          </a:gradFill>
          <a:ln w="19050">
            <a:solidFill>
              <a:srgbClr val="0F9ED5"/>
            </a:solidFill>
          </a:ln>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dirty="0">
                <a:solidFill>
                  <a:schemeClr val="tx1"/>
                </a:solidFill>
              </a:rPr>
              <a:t>Easier indexation</a:t>
            </a:r>
          </a:p>
        </p:txBody>
      </p:sp>
      <p:cxnSp>
        <p:nvCxnSpPr>
          <p:cNvPr id="21" name="Straight Connector 20">
            <a:extLst>
              <a:ext uri="{FF2B5EF4-FFF2-40B4-BE49-F238E27FC236}">
                <a16:creationId xmlns:a16="http://schemas.microsoft.com/office/drawing/2014/main" id="{81DDF38D-7C2E-B78B-A18E-D27404334146}"/>
              </a:ext>
            </a:extLst>
          </p:cNvPr>
          <p:cNvCxnSpPr>
            <a:stCxn id="14" idx="7"/>
            <a:endCxn id="18" idx="2"/>
          </p:cNvCxnSpPr>
          <p:nvPr/>
        </p:nvCxnSpPr>
        <p:spPr>
          <a:xfrm flipV="1">
            <a:off x="9162678" y="5212092"/>
            <a:ext cx="1617513" cy="441746"/>
          </a:xfrm>
          <a:prstGeom prst="lin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E9B890DD-3E8E-4986-8252-8F93582597DE}"/>
              </a:ext>
            </a:extLst>
          </p:cNvPr>
          <p:cNvSpPr txBox="1"/>
          <p:nvPr/>
        </p:nvSpPr>
        <p:spPr>
          <a:xfrm>
            <a:off x="2528412" y="6249470"/>
            <a:ext cx="425052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Less complex control flow</a:t>
            </a:r>
          </a:p>
        </p:txBody>
      </p:sp>
      <p:cxnSp>
        <p:nvCxnSpPr>
          <p:cNvPr id="30" name="Straight Connector 29">
            <a:extLst>
              <a:ext uri="{FF2B5EF4-FFF2-40B4-BE49-F238E27FC236}">
                <a16:creationId xmlns:a16="http://schemas.microsoft.com/office/drawing/2014/main" id="{5B97DB35-61F2-17C7-4287-77006A04D535}"/>
              </a:ext>
            </a:extLst>
          </p:cNvPr>
          <p:cNvCxnSpPr>
            <a:stCxn id="23" idx="3"/>
            <a:endCxn id="10" idx="3"/>
          </p:cNvCxnSpPr>
          <p:nvPr/>
        </p:nvCxnSpPr>
        <p:spPr>
          <a:xfrm flipV="1">
            <a:off x="6778933" y="3819054"/>
            <a:ext cx="1336398" cy="2719857"/>
          </a:xfrm>
          <a:prstGeom prst="lin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cxnSp>
      <p:sp>
        <p:nvSpPr>
          <p:cNvPr id="31" name="TextBox 30">
            <a:extLst>
              <a:ext uri="{FF2B5EF4-FFF2-40B4-BE49-F238E27FC236}">
                <a16:creationId xmlns:a16="http://schemas.microsoft.com/office/drawing/2014/main" id="{CF6AD224-7830-5869-6729-C63C5D8E0FFF}"/>
              </a:ext>
            </a:extLst>
          </p:cNvPr>
          <p:cNvSpPr txBox="1"/>
          <p:nvPr/>
        </p:nvSpPr>
        <p:spPr>
          <a:xfrm>
            <a:off x="381912" y="4001294"/>
            <a:ext cx="1955992"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 Flexibility</a:t>
            </a:r>
          </a:p>
        </p:txBody>
      </p:sp>
      <p:sp>
        <p:nvSpPr>
          <p:cNvPr id="32" name="TextBox 31">
            <a:extLst>
              <a:ext uri="{FF2B5EF4-FFF2-40B4-BE49-F238E27FC236}">
                <a16:creationId xmlns:a16="http://schemas.microsoft.com/office/drawing/2014/main" id="{77520BB6-B4CA-E0DE-29CF-16475D0921A2}"/>
              </a:ext>
            </a:extLst>
          </p:cNvPr>
          <p:cNvSpPr txBox="1"/>
          <p:nvPr/>
        </p:nvSpPr>
        <p:spPr>
          <a:xfrm>
            <a:off x="359650" y="4695852"/>
            <a:ext cx="2211141" cy="578882"/>
          </a:xfrm>
          <a:prstGeom prst="roundRect">
            <a:avLst/>
          </a:prstGeom>
          <a:gradFill>
            <a:gsLst>
              <a:gs pos="0">
                <a:srgbClr val="B5DCAE"/>
              </a:gs>
              <a:gs pos="50000">
                <a:srgbClr val="A8D1A1"/>
              </a:gs>
              <a:gs pos="100000">
                <a:srgbClr val="97CC8C"/>
              </a:gs>
            </a:gsLst>
          </a:gradFill>
          <a:ln w="19050">
            <a:solidFill>
              <a:srgbClr val="4EA72E"/>
            </a:solidFill>
          </a:ln>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dirty="0"/>
              <a:t>+ Type safety</a:t>
            </a:r>
          </a:p>
        </p:txBody>
      </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2" grpId="0" animBg="1"/>
      <p:bldP spid="14" grpId="0" animBg="1"/>
      <p:bldP spid="7" grpId="0" animBg="1"/>
      <p:bldP spid="18" grpId="0" animBg="1"/>
      <p:bldP spid="23" grpId="0" animBg="1"/>
      <p:bldP spid="31" grpId="0" animBg="1"/>
      <p:bldP spid="3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690570" y="1416337"/>
            <a:ext cx="7003310" cy="1124282"/>
          </a:xfrm>
          <a:prstGeom prst="rect">
            <a:avLst/>
          </a:prstGeom>
          <a:noFill/>
          <a:ln>
            <a:solidFill>
              <a:schemeClr val="tx1"/>
            </a:solidFill>
          </a:ln>
        </p:spPr>
        <p:txBody>
          <a:bodyPr wrap="none">
            <a:noAutofit/>
          </a:bodyPr>
          <a:lstStyle/>
          <a:p>
            <a:pPr>
              <a:lnSpc>
                <a:spcPct val="113095"/>
              </a:lnSpc>
              <a:buNone/>
            </a:pPr>
            <a:r>
              <a:rPr lang="en-US" sz="2000" b="0" noProof="0" dirty="0">
                <a:solidFill>
                  <a:srgbClr val="795E26"/>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noProof="0" dirty="0">
                <a:solidFill>
                  <a:srgbClr val="795E26"/>
                </a:solidFill>
                <a:latin typeface="Fira Code" panose="020B0809050000020004" pitchFamily="49" charset="0"/>
              </a:rPr>
              <a:t>for_each</a:t>
            </a:r>
            <a:r>
              <a:rPr lang="en-US" sz="2000" b="0" noProof="0" dirty="0">
                <a:solidFill>
                  <a:srgbClr val="000000"/>
                </a:solidFill>
                <a:effectLst/>
                <a:latin typeface="Fira Code" panose="020B0809050000020004" pitchFamily="49" charset="0"/>
              </a:rPr>
              <a:t>([&amp;](</a:t>
            </a: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index</a:t>
            </a:r>
            <a:r>
              <a:rPr lang="en-US" sz="2000" b="0" noProof="0" dirty="0">
                <a:solidFill>
                  <a:srgbClr val="000000"/>
                </a:solidFill>
                <a:effectLst/>
                <a:latin typeface="Fira Code" panose="020B0809050000020004" pitchFamily="49" charset="0"/>
              </a:rPr>
              <a:t>] = </a:t>
            </a:r>
            <a:r>
              <a:rPr lang="en-US" sz="2000" noProof="0" dirty="0" err="1">
                <a:solidFill>
                  <a:srgbClr val="795E26"/>
                </a:solidFill>
                <a:latin typeface="Fira Code" panose="020B0809050000020004" pitchFamily="49" charset="0"/>
              </a:rPr>
              <a:t>init</a:t>
            </a:r>
            <a:r>
              <a:rPr lang="en-US" sz="2000" noProof="0" dirty="0">
                <a:solidFill>
                  <a:srgbClr val="000000"/>
                </a:solidFill>
                <a:latin typeface="Fira Code" panose="020B0809050000020004" pitchFamily="49" charset="0"/>
              </a:rPr>
              <a:t>(</a:t>
            </a:r>
            <a:r>
              <a:rPr lang="en-US" sz="2000" noProof="0" dirty="0">
                <a:solidFill>
                  <a:srgbClr val="001080"/>
                </a:solidFill>
                <a:latin typeface="Fira Code" panose="020B0809050000020004" pitchFamily="49" charset="0"/>
              </a:rPr>
              <a:t>index</a:t>
            </a:r>
            <a:r>
              <a:rPr lang="en-US" sz="2000" noProof="0" dirty="0">
                <a:solidFill>
                  <a:srgbClr val="000000"/>
                </a:solidFill>
                <a:latin typeface="Fira Code" panose="020B0809050000020004" pitchFamily="49" charset="0"/>
              </a:rPr>
              <a:t>)</a:t>
            </a:r>
            <a:r>
              <a:rPr lang="en-US" sz="2000" b="0" noProof="0" dirty="0">
                <a:solidFill>
                  <a:srgbClr val="000000"/>
                </a:solidFill>
                <a:effectLst/>
                <a:latin typeface="Fira Code" panose="020B0809050000020004" pitchFamily="49" charset="0"/>
              </a:rPr>
              <a:t>;</a:t>
            </a:r>
          </a:p>
          <a:p>
            <a:pPr>
              <a:lnSpc>
                <a:spcPct val="113095"/>
              </a:lnSpc>
              <a:buNone/>
            </a:pPr>
            <a:r>
              <a:rPr lang="en-US" sz="2000" b="0" noProof="0" dirty="0">
                <a:solidFill>
                  <a:srgbClr val="000000"/>
                </a:solidFill>
                <a:effectLst/>
                <a:latin typeface="Fira Code" panose="020B0809050000020004" pitchFamily="49" charset="0"/>
              </a:rPr>
              <a:t>})</a:t>
            </a:r>
            <a:r>
              <a:rPr lang="en-US" sz="2000" noProof="0"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134062" y="3483908"/>
            <a:ext cx="757025" cy="217083"/>
          </a:xfrm>
          <a:prstGeom prst="rect">
            <a:avLst/>
          </a:prstGeom>
          <a:solidFill>
            <a:srgbClr val="C0C0C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noProof="0" dirty="0"/>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 using MPI</a:t>
            </a:r>
          </a:p>
        </p:txBody>
      </p:sp>
      <p:sp>
        <p:nvSpPr>
          <p:cNvPr id="43" name="TextBox 42">
            <a:extLst>
              <a:ext uri="{FF2B5EF4-FFF2-40B4-BE49-F238E27FC236}">
                <a16:creationId xmlns:a16="http://schemas.microsoft.com/office/drawing/2014/main" id="{3C95CC93-9CA9-7209-C22C-7D083498E953}"/>
              </a:ext>
            </a:extLst>
          </p:cNvPr>
          <p:cNvSpPr txBox="1"/>
          <p:nvPr/>
        </p:nvSpPr>
        <p:spPr>
          <a:xfrm>
            <a:off x="5303351" y="2574520"/>
            <a:ext cx="5703806" cy="461665"/>
          </a:xfrm>
          <a:prstGeom prst="rect">
            <a:avLst/>
          </a:prstGeom>
          <a:noFill/>
        </p:spPr>
        <p:txBody>
          <a:bodyPr wrap="none" rtlCol="0" anchor="b">
            <a:spAutoFit/>
          </a:bodyPr>
          <a:lstStyle/>
          <a:p>
            <a:pPr algn="ctr"/>
            <a:r>
              <a:rPr lang="en-US" sz="2400" noProof="0" dirty="0"/>
              <a:t>Binding traversal to an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418827" y="3026655"/>
            <a:ext cx="7472855" cy="3225555"/>
          </a:xfrm>
          <a:prstGeom prst="rect">
            <a:avLst/>
          </a:prstGeom>
          <a:noFill/>
          <a:ln>
            <a:solidFill>
              <a:schemeClr val="tx1"/>
            </a:solidFill>
          </a:ln>
        </p:spPr>
        <p:txBody>
          <a:bodyPr wrap="none">
            <a:no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noProof="0" dirty="0" err="1">
                <a:solidFill>
                  <a:srgbClr val="001080"/>
                </a:solidFill>
                <a:effectLst/>
                <a:latin typeface="Fira Code" panose="020B0809050000020004" pitchFamily="49" charset="0"/>
              </a:rPr>
              <a:t>MPItrav</a:t>
            </a:r>
            <a:r>
              <a:rPr lang="en-US" sz="10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    </a:t>
            </a:r>
            <a:r>
              <a:rPr lang="en-US" sz="2000"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2000" b="0" noProof="0" dirty="0">
                <a:solidFill>
                  <a:srgbClr val="000000"/>
                </a:solidFill>
                <a:effectLst/>
                <a:latin typeface="Fira Code" panose="020B0809050000020004" pitchFamily="49" charset="0"/>
              </a:rPr>
              <a:t>(</a:t>
            </a:r>
            <a:r>
              <a:rPr lang="en-US" sz="2000" b="0" noProof="0" dirty="0">
                <a:solidFill>
                  <a:srgbClr val="001080"/>
                </a:solidFill>
                <a:effectLst/>
                <a:latin typeface="Fira Code" panose="020B0809050000020004" pitchFamily="49" charset="0"/>
              </a:rPr>
              <a:t>traverser</a:t>
            </a:r>
            <a:r>
              <a:rPr lang="en-US" sz="2000" b="0" noProof="0" dirty="0">
                <a:solidFill>
                  <a:srgbClr val="000000"/>
                </a:solidFill>
                <a:effectLst/>
                <a:latin typeface="Fira Code" panose="020B0809050000020004" pitchFamily="49" charset="0"/>
              </a:rPr>
              <a:t>,</a:t>
            </a:r>
            <a:r>
              <a:rPr lang="en-US" sz="1000"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sz="2000" b="0" noProof="0" dirty="0">
                <a:solidFill>
                  <a:srgbClr val="000000"/>
                </a:solidFill>
                <a:effectLst/>
                <a:latin typeface="Fira Code" panose="020B0809050000020004" pitchFamily="49" charset="0"/>
              </a:rPr>
              <a:t>);</a:t>
            </a:r>
            <a:endParaRPr lang="en-US" sz="2000" dirty="0">
              <a:solidFill>
                <a:srgbClr val="000000"/>
              </a:solidFill>
              <a:latin typeface="Fira Code" panose="020B0809050000020004" pitchFamily="49" charset="0"/>
            </a:endParaRPr>
          </a:p>
          <a:p>
            <a:pPr>
              <a:lnSpc>
                <a:spcPct val="113095"/>
              </a:lnSpc>
              <a:buNone/>
            </a:pPr>
            <a:endParaRPr lang="en-US" sz="2000" dirty="0">
              <a:solidFill>
                <a:srgbClr val="267F99"/>
              </a:solidFill>
              <a:latin typeface="Fira Code" panose="020B0809050000020004" pitchFamily="49" charset="0"/>
            </a:endParaRPr>
          </a:p>
          <a:p>
            <a:pPr>
              <a:lnSpc>
                <a:spcPct val="113095"/>
              </a:lnSpc>
              <a:buNone/>
            </a:pPr>
            <a:r>
              <a:rPr lang="en-US" sz="2000" dirty="0">
                <a:solidFill>
                  <a:srgbClr val="267F99"/>
                </a:solidFill>
                <a:latin typeface="Fira Code" panose="020B0809050000020004" pitchFamily="49" charset="0"/>
              </a:rPr>
              <a:t>auto Tile</a:t>
            </a:r>
            <a:r>
              <a:rPr lang="en-US" sz="2000" dirty="0">
                <a:solidFill>
                  <a:srgbClr val="000000"/>
                </a:solidFill>
                <a:latin typeface="Fira Code" panose="020B0809050000020004" pitchFamily="49" charset="0"/>
              </a:rPr>
              <a:t> = …</a:t>
            </a:r>
          </a:p>
          <a:p>
            <a:pPr>
              <a:lnSpc>
                <a:spcPct val="113095"/>
              </a:lnSpc>
              <a:buNone/>
            </a:pPr>
            <a:r>
              <a:rPr lang="en-US" sz="2000" dirty="0" err="1">
                <a:solidFill>
                  <a:srgbClr val="001080"/>
                </a:solidFill>
                <a:latin typeface="Fira Code" panose="020B0809050000020004" pitchFamily="49" charset="0"/>
              </a:rPr>
              <a:t>MPItrav</a:t>
            </a:r>
            <a:r>
              <a:rPr lang="en-US" sz="2000" dirty="0" err="1">
                <a:solidFill>
                  <a:srgbClr val="000000"/>
                </a:solidFill>
                <a:latin typeface="Fira Code" panose="020B0809050000020004" pitchFamily="49" charset="0"/>
              </a:rPr>
              <a:t>.</a:t>
            </a:r>
            <a:r>
              <a:rPr lang="en-US" sz="2000" dirty="0" err="1">
                <a:solidFill>
                  <a:srgbClr val="795E26"/>
                </a:solidFill>
                <a:latin typeface="Fira Code" panose="020B0809050000020004" pitchFamily="49" charset="0"/>
              </a:rPr>
              <a:t>for_each</a:t>
            </a:r>
            <a:r>
              <a:rPr lang="en-US" sz="2000" dirty="0">
                <a:solidFill>
                  <a:srgbClr val="000000"/>
                </a:solidFill>
                <a:latin typeface="Fira Code" panose="020B0809050000020004" pitchFamily="49" charset="0"/>
              </a:rPr>
              <a:t>([&amp;](</a:t>
            </a:r>
            <a:r>
              <a:rPr lang="en-US" sz="2000" dirty="0">
                <a:solidFill>
                  <a:srgbClr val="267F99"/>
                </a:solidFill>
                <a:latin typeface="Fira Code" panose="020B0809050000020004" pitchFamily="49" charset="0"/>
              </a:rPr>
              <a:t>auto</a:t>
            </a:r>
            <a:r>
              <a:rPr lang="en-US" sz="2000" dirty="0">
                <a:solidFill>
                  <a:srgbClr val="000000"/>
                </a:solidFill>
                <a:latin typeface="Fira Code" panose="020B0809050000020004" pitchFamily="49" charset="0"/>
              </a:rPr>
              <a:t> </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a:t>
            </a:r>
          </a:p>
          <a:p>
            <a:pPr>
              <a:lnSpc>
                <a:spcPct val="113095"/>
              </a:lnSpc>
              <a:buNone/>
            </a:pP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 = </a:t>
            </a:r>
            <a:r>
              <a:rPr lang="en-US" sz="2000" dirty="0" err="1">
                <a:solidFill>
                  <a:srgbClr val="795E26"/>
                </a:solidFill>
                <a:latin typeface="Fira Code" panose="020B0809050000020004" pitchFamily="49" charset="0"/>
              </a:rPr>
              <a:t>init</a:t>
            </a:r>
            <a:r>
              <a:rPr lang="en-US" sz="2000" dirty="0">
                <a:solidFill>
                  <a:srgbClr val="000000"/>
                </a:solidFill>
                <a:latin typeface="Fira Code" panose="020B0809050000020004" pitchFamily="49" charset="0"/>
              </a:rPr>
              <a:t>(</a:t>
            </a:r>
            <a:r>
              <a:rPr lang="en-US" sz="2000" dirty="0">
                <a:solidFill>
                  <a:srgbClr val="001080"/>
                </a:solidFill>
                <a:latin typeface="Fira Code" panose="020B0809050000020004" pitchFamily="49" charset="0"/>
              </a:rPr>
              <a:t>index</a:t>
            </a:r>
            <a:r>
              <a:rPr lang="en-US" sz="2000" dirty="0">
                <a:solidFill>
                  <a:srgbClr val="000000"/>
                </a:solidFill>
                <a:latin typeface="Fira Code" panose="020B0809050000020004" pitchFamily="49" charset="0"/>
              </a:rPr>
              <a:t>);</a:t>
            </a:r>
          </a:p>
          <a:p>
            <a:pPr>
              <a:lnSpc>
                <a:spcPct val="113095"/>
              </a:lnSpc>
              <a:buNone/>
            </a:pPr>
            <a:r>
              <a:rPr lang="en-US" sz="2000" dirty="0">
                <a:solidFill>
                  <a:srgbClr val="000000"/>
                </a:solidFill>
                <a:latin typeface="Fira Code" panose="020B0809050000020004" pitchFamily="49" charset="0"/>
              </a:rPr>
              <a:t>});</a:t>
            </a:r>
          </a:p>
          <a:p>
            <a:pPr>
              <a:lnSpc>
                <a:spcPct val="113095"/>
              </a:lnSpc>
              <a:buNone/>
            </a:pPr>
            <a:endParaRPr lang="en-US" sz="2000" dirty="0">
              <a:solidFill>
                <a:srgbClr val="000000"/>
              </a:solidFill>
              <a:latin typeface="Fira Code" panose="020B0809050000020004" pitchFamily="49" charset="0"/>
            </a:endParaRPr>
          </a:p>
          <a:p>
            <a:pPr>
              <a:lnSpc>
                <a:spcPct val="113095"/>
              </a:lnSpc>
            </a:pPr>
            <a:r>
              <a:rPr lang="en-US" sz="2000" dirty="0">
                <a:solidFill>
                  <a:srgbClr val="795E26"/>
                </a:solidFill>
                <a:latin typeface="Fira Code" panose="020B0809050000020004" pitchFamily="49" charset="0"/>
              </a:rPr>
              <a:t>gather</a:t>
            </a:r>
            <a:r>
              <a:rPr lang="en-US" sz="2000" dirty="0">
                <a:solidFill>
                  <a:srgbClr val="000000"/>
                </a:solidFill>
                <a:latin typeface="Fira Code" panose="020B0809050000020004" pitchFamily="49" charset="0"/>
              </a:rPr>
              <a:t>(</a:t>
            </a:r>
            <a:r>
              <a:rPr lang="en-US" sz="2000" dirty="0">
                <a:solidFill>
                  <a:srgbClr val="0070C1"/>
                </a:solidFill>
                <a:latin typeface="Fira Code" panose="020B0809050000020004" pitchFamily="49" charset="0"/>
              </a:rPr>
              <a:t>Tile</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Data</a:t>
            </a:r>
            <a:r>
              <a:rPr lang="en-US" sz="2000" dirty="0">
                <a:solidFill>
                  <a:srgbClr val="000000"/>
                </a:solidFill>
                <a:latin typeface="Fira Code" panose="020B0809050000020004" pitchFamily="49" charset="0"/>
              </a:rPr>
              <a:t>, </a:t>
            </a:r>
            <a:r>
              <a:rPr lang="en-US" sz="2000" dirty="0">
                <a:solidFill>
                  <a:srgbClr val="0070C1"/>
                </a:solidFill>
                <a:latin typeface="Fira Code" panose="020B0809050000020004" pitchFamily="49" charset="0"/>
              </a:rPr>
              <a:t>root</a:t>
            </a:r>
            <a:r>
              <a:rPr lang="en-US" sz="2000" dirty="0">
                <a:solidFill>
                  <a:srgbClr val="000000"/>
                </a:solidFill>
                <a:latin typeface="Fira Code" panose="020B0809050000020004" pitchFamily="49" charset="0"/>
              </a:rPr>
              <a:t>, </a:t>
            </a:r>
            <a:r>
              <a:rPr lang="en-US" sz="2000" dirty="0" err="1">
                <a:solidFill>
                  <a:srgbClr val="001080"/>
                </a:solidFill>
                <a:latin typeface="Fira Code" panose="020B0809050000020004" pitchFamily="49" charset="0"/>
              </a:rPr>
              <a:t>MPItrav</a:t>
            </a:r>
            <a:r>
              <a:rPr lang="en-US" sz="2000" dirty="0">
                <a:solidFill>
                  <a:srgbClr val="000000"/>
                </a:solidFill>
                <a:latin typeface="Fira Code" panose="020B0809050000020004" pitchFamily="49" charset="0"/>
              </a:rPr>
              <a:t>);</a:t>
            </a:r>
          </a:p>
          <a:p>
            <a:pPr>
              <a:lnSpc>
                <a:spcPct val="113095"/>
              </a:lnSpc>
              <a:buNone/>
            </a:pPr>
            <a:endParaRPr lang="en-US" sz="2000" b="0" noProof="0" dirty="0">
              <a:solidFill>
                <a:srgbClr val="000000"/>
              </a:solidFill>
              <a:effectLst/>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a:p>
            <a:pPr>
              <a:lnSpc>
                <a:spcPct val="113095"/>
              </a:lnSpc>
              <a:buNone/>
            </a:pPr>
            <a:endParaRPr lang="en-US" sz="2000" noProof="0" dirty="0">
              <a:solidFill>
                <a:srgbClr val="000000"/>
              </a:solidFill>
              <a:latin typeface="Fira Code" panose="020B0809050000020004" pitchFamily="49" charset="0"/>
            </a:endParaRP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412156" y="3162420"/>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78885" y="3049108"/>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412156" y="3988961"/>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412156" y="4696523"/>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412156" y="5407427"/>
            <a:ext cx="521160" cy="521160"/>
          </a:xfrm>
          <a:prstGeom prst="rect">
            <a:avLst/>
          </a:prstGeom>
        </p:spPr>
      </p:pic>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EE10E03B-CD42-27DC-6DF5-CB9596382EE5}"/>
                  </a:ext>
                </a:extLst>
              </p:cNvPr>
              <p:cNvSpPr txBox="1"/>
              <p:nvPr/>
            </p:nvSpPr>
            <p:spPr>
              <a:xfrm>
                <a:off x="2848591" y="4397966"/>
                <a:ext cx="1567391" cy="369332"/>
              </a:xfrm>
              <a:prstGeom prst="rect">
                <a:avLst/>
              </a:prstGeom>
              <a:noFill/>
            </p:spPr>
            <p:txBody>
              <a:bodyPr wrap="square" rtlCol="0">
                <a:spAutoFit/>
              </a:bodyPr>
              <a:lstStyle/>
              <a:p>
                <a14:m>
                  <m:oMath xmlns:m="http://schemas.openxmlformats.org/officeDocument/2006/math">
                    <m:r>
                      <a:rPr lang="en-US" i="1" noProof="0" smtClean="0">
                        <a:solidFill>
                          <a:srgbClr val="FF0000"/>
                        </a:solidFill>
                        <a:latin typeface="Cambria Math" panose="02040503050406030204" pitchFamily="18" charset="0"/>
                      </a:rPr>
                      <m:t>𝑀</m:t>
                    </m:r>
                  </m:oMath>
                </a14:m>
                <a:r>
                  <a:rPr lang="en-US" noProof="0" dirty="0"/>
                  <a:t> blocks of </a:t>
                </a:r>
                <a14:m>
                  <m:oMath xmlns:m="http://schemas.openxmlformats.org/officeDocument/2006/math">
                    <m:r>
                      <a:rPr lang="en-US" i="1" noProof="0" smtClean="0">
                        <a:solidFill>
                          <a:srgbClr val="FF0000"/>
                        </a:solidFill>
                        <a:latin typeface="Cambria Math" panose="02040503050406030204" pitchFamily="18" charset="0"/>
                      </a:rPr>
                      <m:t>𝑚</m:t>
                    </m:r>
                  </m:oMath>
                </a14:m>
                <a:endParaRPr lang="en-US" noProof="0" dirty="0"/>
              </a:p>
            </p:txBody>
          </p:sp>
        </mc:Choice>
        <mc:Fallback>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2848591" y="4397966"/>
                <a:ext cx="1567391" cy="369332"/>
              </a:xfrm>
              <a:prstGeom prst="rect">
                <a:avLst/>
              </a:prstGeom>
              <a:blipFill>
                <a:blip r:embed="rId8"/>
                <a:stretch>
                  <a:fillRect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033705" y="2614207"/>
                <a:ext cx="1567391" cy="369332"/>
              </a:xfrm>
              <a:prstGeom prst="rect">
                <a:avLst/>
              </a:prstGeom>
              <a:noFill/>
            </p:spPr>
            <p:txBody>
              <a:bodyPr wrap="square" rtlCol="0">
                <a:spAutoFit/>
              </a:bodyPr>
              <a:lstStyle/>
              <a:p>
                <a:pPr/>
                <a14:m>
                  <m:oMathPara xmlns:m="http://schemas.openxmlformats.org/officeDocument/2006/math">
                    <m:oMath>
                      <m:r>
                        <a:rPr lang="en-US" b="0" i="1" noProof="0" smtClean="0">
                          <a:solidFill>
                            <a:srgbClr val="FF0000"/>
                          </a:solidFill>
                          <a:latin typeface="Cambria Math" panose="02040503050406030204" pitchFamily="18" charset="0"/>
                        </a:rPr>
                        <m:t>𝑛</m:t>
                      </m:r>
                    </m:oMath>
                  </m:oMathPara>
                </a14:m>
                <a:endParaRPr lang="en-US" noProof="0"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033705" y="2614207"/>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904990" y="3406997"/>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904990" y="4199953"/>
            <a:ext cx="1310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904990" y="4957103"/>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904990" y="5719407"/>
            <a:ext cx="156471"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1466876" y="6116157"/>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noProof="0" dirty="0"/>
          </a:p>
        </p:txBody>
      </p:sp>
      <p:sp>
        <p:nvSpPr>
          <p:cNvPr id="50" name="Left Brace 49">
            <a:extLst>
              <a:ext uri="{FF2B5EF4-FFF2-40B4-BE49-F238E27FC236}">
                <a16:creationId xmlns:a16="http://schemas.microsoft.com/office/drawing/2014/main" id="{E95766C1-B5D9-13B5-FB19-BBB779E706C4}"/>
              </a:ext>
            </a:extLst>
          </p:cNvPr>
          <p:cNvSpPr/>
          <p:nvPr/>
        </p:nvSpPr>
        <p:spPr>
          <a:xfrm>
            <a:off x="338460" y="3049108"/>
            <a:ext cx="122402" cy="3111531"/>
          </a:xfrm>
          <a:prstGeom prst="lef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634661" y="4368896"/>
            <a:ext cx="1638654" cy="369332"/>
          </a:xfrm>
          <a:prstGeom prst="rect">
            <a:avLst/>
          </a:prstGeom>
          <a:noFill/>
        </p:spPr>
        <p:txBody>
          <a:bodyPr wrap="none" rtlCol="0">
            <a:spAutoFit/>
          </a:bodyPr>
          <a:lstStyle/>
          <a:p>
            <a:r>
              <a:rPr lang="en-US" noProof="0" dirty="0"/>
              <a:t>MPI processes</a:t>
            </a:r>
          </a:p>
        </p:txBody>
      </p:sp>
      <p:sp>
        <p:nvSpPr>
          <p:cNvPr id="24" name="TextBox 23">
            <a:extLst>
              <a:ext uri="{FF2B5EF4-FFF2-40B4-BE49-F238E27FC236}">
                <a16:creationId xmlns:a16="http://schemas.microsoft.com/office/drawing/2014/main" id="{FA059D70-FCD1-6DBE-F6AD-CD030885F585}"/>
              </a:ext>
            </a:extLst>
          </p:cNvPr>
          <p:cNvSpPr txBox="1"/>
          <p:nvPr/>
        </p:nvSpPr>
        <p:spPr>
          <a:xfrm>
            <a:off x="2555373" y="960896"/>
            <a:ext cx="3084499" cy="461665"/>
          </a:xfrm>
          <a:prstGeom prst="rect">
            <a:avLst/>
          </a:prstGeom>
          <a:noFill/>
        </p:spPr>
        <p:txBody>
          <a:bodyPr wrap="none" rtlCol="0" anchor="b">
            <a:spAutoFit/>
          </a:bodyPr>
          <a:lstStyle/>
          <a:p>
            <a:pPr algn="ctr"/>
            <a:r>
              <a:rPr lang="en-US" sz="2400" noProof="0" dirty="0"/>
              <a:t>We want to distribute:</a:t>
            </a:r>
          </a:p>
        </p:txBody>
      </p:sp>
      <p:sp>
        <p:nvSpPr>
          <p:cNvPr id="5" name="Right Brace 4">
            <a:extLst>
              <a:ext uri="{FF2B5EF4-FFF2-40B4-BE49-F238E27FC236}">
                <a16:creationId xmlns:a16="http://schemas.microsoft.com/office/drawing/2014/main" id="{77506296-0DDC-BC41-92BD-0C2E58DAA530}"/>
              </a:ext>
            </a:extLst>
          </p:cNvPr>
          <p:cNvSpPr/>
          <p:nvPr/>
        </p:nvSpPr>
        <p:spPr>
          <a:xfrm>
            <a:off x="2684016" y="3049108"/>
            <a:ext cx="212320" cy="3067049"/>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5">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5">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5">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5">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43" grpId="0"/>
      <p:bldP spid="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9/4/2026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4667457" y="1339278"/>
            <a:ext cx="3134191" cy="461665"/>
          </a:xfrm>
          <a:prstGeom prst="rect">
            <a:avLst/>
          </a:prstGeom>
          <a:noFill/>
        </p:spPr>
        <p:txBody>
          <a:bodyPr wrap="none" rtlCol="0" anchor="b">
            <a:spAutoFit/>
          </a:bodyPr>
          <a:lstStyle/>
          <a:p>
            <a:pPr algn="ctr"/>
            <a:r>
              <a:rPr lang="en-US" sz="2400" noProof="0" dirty="0">
                <a:solidFill>
                  <a:srgbClr val="795E26"/>
                </a:solidFill>
                <a:latin typeface="Fira Code" panose="020B0809050000020004" pitchFamily="49" charset="0"/>
              </a:rPr>
              <a:t>send</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row_major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023316" y="3551624"/>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33555" y="3085823"/>
            <a:ext cx="913712" cy="523220"/>
          </a:xfrm>
          <a:prstGeom prst="rect">
            <a:avLst/>
          </a:prstGeom>
          <a:noFill/>
        </p:spPr>
        <p:txBody>
          <a:bodyPr wrap="none" rtlCol="0">
            <a:spAutoFit/>
          </a:bodyPr>
          <a:lstStyle/>
          <a:p>
            <a:pPr marL="0" algn="l" rtl="0" eaLnBrk="1" latinLnBrk="0" hangingPunct="1">
              <a:buNone/>
            </a:pPr>
            <a:r>
              <a:rPr lang="en-US" sz="2800" b="1" kern="1200" noProof="0" dirty="0">
                <a:solidFill>
                  <a:srgbClr val="000000"/>
                </a:solidFill>
                <a:effectLst/>
                <a:latin typeface="Aptos" panose="020B0004020202020204" pitchFamily="34" charset="0"/>
                <a:ea typeface="+mn-ea"/>
                <a:cs typeface="+mn-cs"/>
              </a:rPr>
              <a:t>ours</a:t>
            </a:r>
            <a:endParaRPr lang="en-US" sz="2800" noProof="0" dirty="0">
              <a:effectLst/>
            </a:endParaRPr>
          </a:p>
        </p:txBody>
      </p:sp>
      <p:sp>
        <p:nvSpPr>
          <p:cNvPr id="13" name="TextBox 12">
            <a:extLst>
              <a:ext uri="{FF2B5EF4-FFF2-40B4-BE49-F238E27FC236}">
                <a16:creationId xmlns:a16="http://schemas.microsoft.com/office/drawing/2014/main" id="{439C9CAD-9E1E-7EC1-4429-D017CA1092E1}"/>
              </a:ext>
            </a:extLst>
          </p:cNvPr>
          <p:cNvSpPr txBox="1"/>
          <p:nvPr/>
        </p:nvSpPr>
        <p:spPr>
          <a:xfrm>
            <a:off x="2503783" y="3082682"/>
            <a:ext cx="1062791" cy="523220"/>
          </a:xfrm>
          <a:prstGeom prst="rect">
            <a:avLst/>
          </a:prstGeom>
          <a:noFill/>
        </p:spPr>
        <p:txBody>
          <a:bodyPr wrap="none" rtlCol="0">
            <a:spAutoFit/>
          </a:bodyPr>
          <a:lstStyle/>
          <a:p>
            <a:pPr marL="0" algn="l" rtl="0" eaLnBrk="1" latinLnBrk="0" hangingPunct="1">
              <a:buNone/>
            </a:pPr>
            <a:r>
              <a:rPr lang="en-US" sz="2800" b="1" kern="1200" noProof="0" dirty="0">
                <a:solidFill>
                  <a:srgbClr val="C00000"/>
                </a:solidFill>
                <a:effectLst/>
                <a:latin typeface="Aptos" panose="020B0004020202020204" pitchFamily="34" charset="0"/>
                <a:ea typeface="+mn-ea"/>
                <a:cs typeface="+mn-cs"/>
              </a:rPr>
              <a:t>naive</a:t>
            </a:r>
            <a:endParaRPr lang="en-US" sz="2800" noProof="0" dirty="0">
              <a:effectLst/>
            </a:endParaRPr>
          </a:p>
        </p:txBody>
      </p:sp>
      <p:sp>
        <p:nvSpPr>
          <p:cNvPr id="26" name="TextBox 25">
            <a:extLst>
              <a:ext uri="{FF2B5EF4-FFF2-40B4-BE49-F238E27FC236}">
                <a16:creationId xmlns:a16="http://schemas.microsoft.com/office/drawing/2014/main" id="{961FBEC7-CB4A-332B-8305-81A140E2B4BC}"/>
              </a:ext>
            </a:extLst>
          </p:cNvPr>
          <p:cNvSpPr txBox="1"/>
          <p:nvPr/>
        </p:nvSpPr>
        <p:spPr>
          <a:xfrm>
            <a:off x="1505514" y="3478608"/>
            <a:ext cx="3134191" cy="461665"/>
          </a:xfrm>
          <a:prstGeom prst="rect">
            <a:avLst/>
          </a:prstGeom>
          <a:noFill/>
        </p:spPr>
        <p:txBody>
          <a:bodyPr wrap="none" rtlCol="0" anchor="b">
            <a:spAutoFit/>
          </a:bodyPr>
          <a:lstStyle/>
          <a:p>
            <a:pPr algn="ctr"/>
            <a:r>
              <a:rPr lang="en-US" sz="2400" noProof="0" dirty="0" err="1">
                <a:solidFill>
                  <a:srgbClr val="795E26"/>
                </a:solidFill>
                <a:latin typeface="Fira Code" panose="020B0809050000020004" pitchFamily="49" charset="0"/>
              </a:rPr>
              <a:t>recv</a:t>
            </a:r>
            <a:r>
              <a:rPr lang="en-US" sz="2400" noProof="0" dirty="0">
                <a:latin typeface="Fira Code" panose="020B0809050000020004" pitchFamily="49" charset="0"/>
                <a:ea typeface="Fira Code" panose="020B0809050000020004" pitchFamily="49" charset="0"/>
                <a:cs typeface="Fira Code" panose="020B0809050000020004" pitchFamily="49" charset="0"/>
              </a:rPr>
              <a:t>(</a:t>
            </a:r>
            <a:r>
              <a:rPr lang="en-US" sz="2400" noProof="0" dirty="0" err="1">
                <a:solidFill>
                  <a:srgbClr val="001080"/>
                </a:solidFill>
                <a:latin typeface="Fira Code" panose="020B0809050000020004" pitchFamily="49" charset="0"/>
              </a:rPr>
              <a:t>col_major</a:t>
            </a:r>
            <a:r>
              <a:rPr lang="en-US" sz="2400" noProof="0" dirty="0">
                <a:latin typeface="Fira Code" panose="020B0809050000020004" pitchFamily="49" charset="0"/>
                <a:ea typeface="Fira Code" panose="020B0809050000020004" pitchFamily="49" charset="0"/>
                <a:cs typeface="Fira Code" panose="020B0809050000020004" pitchFamily="49" charset="0"/>
              </a:rPr>
              <a:t>);</a:t>
            </a:r>
          </a:p>
        </p:txBody>
      </p:sp>
      <p:cxnSp>
        <p:nvCxnSpPr>
          <p:cNvPr id="28" name="Straight Arrow Connector 27">
            <a:extLst>
              <a:ext uri="{FF2B5EF4-FFF2-40B4-BE49-F238E27FC236}">
                <a16:creationId xmlns:a16="http://schemas.microsoft.com/office/drawing/2014/main" id="{2045E9BC-7505-AE12-2FF8-B6E23CAD3D28}"/>
              </a:ext>
            </a:extLst>
          </p:cNvPr>
          <p:cNvCxnSpPr>
            <a:cxnSpLocks/>
          </p:cNvCxnSpPr>
          <p:nvPr/>
        </p:nvCxnSpPr>
        <p:spPr>
          <a:xfrm flipH="1">
            <a:off x="4035771" y="3798827"/>
            <a:ext cx="2199832" cy="144011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cxnSpLocks/>
          </p:cNvCxnSpPr>
          <p:nvPr/>
        </p:nvCxnSpPr>
        <p:spPr>
          <a:xfrm>
            <a:off x="6235603" y="3798827"/>
            <a:ext cx="2280209" cy="14766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321148" y="4578262"/>
            <a:ext cx="2350708" cy="461665"/>
          </a:xfrm>
          <a:prstGeom prst="rect">
            <a:avLst/>
          </a:prstGeom>
          <a:noFill/>
        </p:spPr>
        <p:txBody>
          <a:bodyPr wrap="none" rtlCol="0">
            <a:spAutoFit/>
          </a:bodyPr>
          <a:lstStyle/>
          <a:p>
            <a:pPr marL="0" algn="ctr" rtl="0" eaLnBrk="1" latinLnBrk="0" hangingPunct="1">
              <a:buNone/>
            </a:pPr>
            <a:r>
              <a:rPr lang="en-US" sz="2400" b="1" kern="1200" noProof="0" dirty="0">
                <a:solidFill>
                  <a:srgbClr val="000000"/>
                </a:solidFill>
                <a:effectLst/>
                <a:latin typeface="Aptos" panose="020B0004020202020204" pitchFamily="34" charset="0"/>
                <a:ea typeface="+mn-ea"/>
                <a:cs typeface="+mn-cs"/>
              </a:rPr>
              <a:t>logical ordering</a:t>
            </a:r>
            <a:endParaRPr lang="en-US" sz="2400" noProof="0" dirty="0">
              <a:effectLst/>
            </a:endParaRP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072345" y="4454517"/>
            <a:ext cx="2297873" cy="461665"/>
          </a:xfrm>
          <a:prstGeom prst="rect">
            <a:avLst/>
          </a:prstGeom>
          <a:noFill/>
        </p:spPr>
        <p:txBody>
          <a:bodyPr wrap="none" rtlCol="0">
            <a:spAutoFit/>
          </a:bodyPr>
          <a:lstStyle/>
          <a:p>
            <a:pPr marL="0" algn="ctr" rtl="0" eaLnBrk="1" latinLnBrk="0" hangingPunct="1">
              <a:buNone/>
            </a:pPr>
            <a:r>
              <a:rPr lang="en-US" sz="2400" b="1" kern="1200" noProof="0" dirty="0">
                <a:solidFill>
                  <a:srgbClr val="C00000"/>
                </a:solidFill>
                <a:effectLst/>
                <a:latin typeface="Aptos" panose="020B0004020202020204" pitchFamily="34" charset="0"/>
                <a:ea typeface="+mn-ea"/>
                <a:cs typeface="+mn-cs"/>
              </a:rPr>
              <a:t>physical layout</a:t>
            </a:r>
            <a:endParaRPr lang="en-US" sz="2400" noProof="0" dirty="0">
              <a:effectLst/>
            </a:endParaRP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8023316" y="1515849"/>
            <a:ext cx="2743200" cy="912635"/>
            <a:chOff x="8661401" y="1810235"/>
            <a:chExt cx="2743200" cy="912635"/>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26744"/>
                <a:gd name="adj2" fmla="val 179316"/>
                <a:gd name="adj3" fmla="val 16667"/>
              </a:avLst>
            </a:prstGeom>
            <a:solidFill>
              <a:srgbClr val="8EC8F0"/>
            </a:soli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661401" y="1812471"/>
              <a:ext cx="2743200" cy="898064"/>
            </a:xfrm>
            <a:prstGeom prst="wedgeRoundRectCallout">
              <a:avLst>
                <a:gd name="adj1" fmla="val -59905"/>
                <a:gd name="adj2" fmla="val -45335"/>
                <a:gd name="adj3" fmla="val 16667"/>
              </a:avLst>
            </a:prstGeom>
            <a:gradFill>
              <a:gsLst>
                <a:gs pos="0">
                  <a:srgbClr val="AFD8F7"/>
                </a:gs>
                <a:gs pos="50000">
                  <a:srgbClr val="A2CDEE"/>
                </a:gs>
                <a:gs pos="100000">
                  <a:srgbClr val="8CC8F0"/>
                </a:gs>
              </a:gsLst>
            </a:gradFill>
            <a:ln w="19050">
              <a:solidFill>
                <a:srgbClr val="44B9E8"/>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000" noProof="0" dirty="0"/>
                <a:t>Same for </a:t>
              </a:r>
              <a:r>
                <a:rPr lang="en-US" sz="2000" noProof="0" dirty="0" err="1">
                  <a:solidFill>
                    <a:srgbClr val="795E26"/>
                  </a:solidFill>
                  <a:latin typeface="Fira Code" panose="020B0809050000020004" pitchFamily="49" charset="0"/>
                </a:rPr>
                <a:t>bcast</a:t>
              </a:r>
              <a:r>
                <a:rPr lang="en-US" sz="2000" noProof="0" dirty="0"/>
                <a:t>, </a:t>
              </a:r>
              <a:r>
                <a:rPr lang="en-US" sz="2000" noProof="0" dirty="0">
                  <a:solidFill>
                    <a:srgbClr val="795E26"/>
                  </a:solidFill>
                  <a:latin typeface="Fira Code" panose="020B0809050000020004" pitchFamily="49" charset="0"/>
                </a:rPr>
                <a:t>scatter</a:t>
              </a:r>
              <a:r>
                <a:rPr lang="en-US" sz="2000" noProof="0" dirty="0"/>
                <a:t>, </a:t>
              </a:r>
              <a:r>
                <a:rPr lang="en-US" sz="2000" noProof="0" dirty="0">
                  <a:solidFill>
                    <a:srgbClr val="795E26"/>
                  </a:solidFill>
                  <a:latin typeface="Fira Code" panose="020B0809050000020004" pitchFamily="49" charset="0"/>
                </a:rPr>
                <a:t>gather</a:t>
              </a:r>
              <a:r>
                <a:rPr lang="en-US" sz="2000" noProof="0"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58748" y="2621961"/>
              <a:ext cx="653208" cy="100909"/>
            </a:xfrm>
            <a:prstGeom prst="roundRect">
              <a:avLst>
                <a:gd name="adj" fmla="val 50000"/>
              </a:avLst>
            </a:prstGeom>
            <a:solidFill>
              <a:srgbClr val="8EC8F0"/>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noProof="0" dirty="0"/>
            </a:p>
          </p:txBody>
        </p:sp>
      </p:grpSp>
      <p:grpSp>
        <p:nvGrpSpPr>
          <p:cNvPr id="247" name="Group 246">
            <a:extLst>
              <a:ext uri="{FF2B5EF4-FFF2-40B4-BE49-F238E27FC236}">
                <a16:creationId xmlns:a16="http://schemas.microsoft.com/office/drawing/2014/main" id="{39546144-54F9-8B96-CF33-3E5BF0E44AE0}"/>
              </a:ext>
            </a:extLst>
          </p:cNvPr>
          <p:cNvGrpSpPr/>
          <p:nvPr/>
        </p:nvGrpSpPr>
        <p:grpSpPr>
          <a:xfrm>
            <a:off x="8560458" y="3978562"/>
            <a:ext cx="1959624" cy="2612861"/>
            <a:chOff x="2695324" y="4724546"/>
            <a:chExt cx="1959624" cy="2612861"/>
          </a:xfrm>
        </p:grpSpPr>
        <p:sp>
          <p:nvSpPr>
            <p:cNvPr id="248" name="Rectangle 247">
              <a:extLst>
                <a:ext uri="{FF2B5EF4-FFF2-40B4-BE49-F238E27FC236}">
                  <a16:creationId xmlns:a16="http://schemas.microsoft.com/office/drawing/2014/main" id="{67E95BE1-B58B-3D52-8832-A34FFB8E47B2}"/>
                </a:ext>
              </a:extLst>
            </p:cNvPr>
            <p:cNvSpPr/>
            <p:nvPr/>
          </p:nvSpPr>
          <p:spPr>
            <a:xfrm>
              <a:off x="2695324" y="4724546"/>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49" name="Rectangle 248">
              <a:extLst>
                <a:ext uri="{FF2B5EF4-FFF2-40B4-BE49-F238E27FC236}">
                  <a16:creationId xmlns:a16="http://schemas.microsoft.com/office/drawing/2014/main" id="{3C510894-67E4-56EC-75D0-C5A3D4CEDB8B}"/>
                </a:ext>
              </a:extLst>
            </p:cNvPr>
            <p:cNvSpPr/>
            <p:nvPr/>
          </p:nvSpPr>
          <p:spPr>
            <a:xfrm>
              <a:off x="2695324" y="5377761"/>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50" name="Rectangle 249">
              <a:extLst>
                <a:ext uri="{FF2B5EF4-FFF2-40B4-BE49-F238E27FC236}">
                  <a16:creationId xmlns:a16="http://schemas.microsoft.com/office/drawing/2014/main" id="{8BBB6E45-3B33-3D7B-ECFA-C6D524DC0C69}"/>
                </a:ext>
              </a:extLst>
            </p:cNvPr>
            <p:cNvSpPr/>
            <p:nvPr/>
          </p:nvSpPr>
          <p:spPr>
            <a:xfrm>
              <a:off x="2695324" y="6030977"/>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51" name="Rectangle 250">
              <a:extLst>
                <a:ext uri="{FF2B5EF4-FFF2-40B4-BE49-F238E27FC236}">
                  <a16:creationId xmlns:a16="http://schemas.microsoft.com/office/drawing/2014/main" id="{3C804533-48C9-60EF-0ED7-DAA1CB46E57F}"/>
                </a:ext>
              </a:extLst>
            </p:cNvPr>
            <p:cNvSpPr/>
            <p:nvPr/>
          </p:nvSpPr>
          <p:spPr>
            <a:xfrm>
              <a:off x="2695324" y="6684192"/>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52" name="Rectangle 251">
              <a:extLst>
                <a:ext uri="{FF2B5EF4-FFF2-40B4-BE49-F238E27FC236}">
                  <a16:creationId xmlns:a16="http://schemas.microsoft.com/office/drawing/2014/main" id="{F75E07F7-895B-5974-F694-EF3CBD895052}"/>
                </a:ext>
              </a:extLst>
            </p:cNvPr>
            <p:cNvSpPr/>
            <p:nvPr/>
          </p:nvSpPr>
          <p:spPr>
            <a:xfrm>
              <a:off x="3348532" y="4724546"/>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53" name="Rectangle 252">
              <a:extLst>
                <a:ext uri="{FF2B5EF4-FFF2-40B4-BE49-F238E27FC236}">
                  <a16:creationId xmlns:a16="http://schemas.microsoft.com/office/drawing/2014/main" id="{027BD938-2CE3-50FB-5A6C-DF7578D19233}"/>
                </a:ext>
              </a:extLst>
            </p:cNvPr>
            <p:cNvSpPr/>
            <p:nvPr/>
          </p:nvSpPr>
          <p:spPr>
            <a:xfrm>
              <a:off x="3348532" y="5377761"/>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54" name="Rectangle 253">
              <a:extLst>
                <a:ext uri="{FF2B5EF4-FFF2-40B4-BE49-F238E27FC236}">
                  <a16:creationId xmlns:a16="http://schemas.microsoft.com/office/drawing/2014/main" id="{CD2BF58C-4B2A-DDB2-0590-4FA5296E7978}"/>
                </a:ext>
              </a:extLst>
            </p:cNvPr>
            <p:cNvSpPr/>
            <p:nvPr/>
          </p:nvSpPr>
          <p:spPr>
            <a:xfrm>
              <a:off x="3348532" y="6030977"/>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55" name="Rectangle 254">
              <a:extLst>
                <a:ext uri="{FF2B5EF4-FFF2-40B4-BE49-F238E27FC236}">
                  <a16:creationId xmlns:a16="http://schemas.microsoft.com/office/drawing/2014/main" id="{B2D05F2D-BBAD-A3F2-4410-20DFB91A330C}"/>
                </a:ext>
              </a:extLst>
            </p:cNvPr>
            <p:cNvSpPr/>
            <p:nvPr/>
          </p:nvSpPr>
          <p:spPr>
            <a:xfrm>
              <a:off x="3348532" y="6684192"/>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56" name="Rectangle 255">
              <a:extLst>
                <a:ext uri="{FF2B5EF4-FFF2-40B4-BE49-F238E27FC236}">
                  <a16:creationId xmlns:a16="http://schemas.microsoft.com/office/drawing/2014/main" id="{11714080-B8B6-1EEC-E322-0AC57C54313B}"/>
                </a:ext>
              </a:extLst>
            </p:cNvPr>
            <p:cNvSpPr/>
            <p:nvPr/>
          </p:nvSpPr>
          <p:spPr>
            <a:xfrm>
              <a:off x="4001740" y="4724546"/>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57" name="Rectangle 256">
              <a:extLst>
                <a:ext uri="{FF2B5EF4-FFF2-40B4-BE49-F238E27FC236}">
                  <a16:creationId xmlns:a16="http://schemas.microsoft.com/office/drawing/2014/main" id="{404FCA19-9279-8EAF-394F-45A3EA34AFA0}"/>
                </a:ext>
              </a:extLst>
            </p:cNvPr>
            <p:cNvSpPr/>
            <p:nvPr/>
          </p:nvSpPr>
          <p:spPr>
            <a:xfrm>
              <a:off x="4001740" y="5377761"/>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58" name="Rectangle 257">
              <a:extLst>
                <a:ext uri="{FF2B5EF4-FFF2-40B4-BE49-F238E27FC236}">
                  <a16:creationId xmlns:a16="http://schemas.microsoft.com/office/drawing/2014/main" id="{E1955B61-0DF9-348A-80A9-1BF1B88C14B7}"/>
                </a:ext>
              </a:extLst>
            </p:cNvPr>
            <p:cNvSpPr/>
            <p:nvPr/>
          </p:nvSpPr>
          <p:spPr>
            <a:xfrm>
              <a:off x="4001740" y="6030977"/>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59" name="Rectangle 258">
              <a:extLst>
                <a:ext uri="{FF2B5EF4-FFF2-40B4-BE49-F238E27FC236}">
                  <a16:creationId xmlns:a16="http://schemas.microsoft.com/office/drawing/2014/main" id="{EE589CD3-DC6E-F797-F207-8CE5ABDE65D0}"/>
                </a:ext>
              </a:extLst>
            </p:cNvPr>
            <p:cNvSpPr/>
            <p:nvPr/>
          </p:nvSpPr>
          <p:spPr>
            <a:xfrm>
              <a:off x="4001740" y="6684192"/>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62" name="Group 261">
            <a:extLst>
              <a:ext uri="{FF2B5EF4-FFF2-40B4-BE49-F238E27FC236}">
                <a16:creationId xmlns:a16="http://schemas.microsoft.com/office/drawing/2014/main" id="{E3BFC522-F1EF-2168-0CD0-4D620EEFE5BA}"/>
              </a:ext>
            </a:extLst>
          </p:cNvPr>
          <p:cNvGrpSpPr/>
          <p:nvPr/>
        </p:nvGrpSpPr>
        <p:grpSpPr>
          <a:xfrm>
            <a:off x="4928137" y="1806440"/>
            <a:ext cx="2612833" cy="1959646"/>
            <a:chOff x="2695324" y="2111684"/>
            <a:chExt cx="2612833" cy="1959646"/>
          </a:xfrm>
        </p:grpSpPr>
        <p:sp>
          <p:nvSpPr>
            <p:cNvPr id="263" name="Rectangle 262">
              <a:extLst>
                <a:ext uri="{FF2B5EF4-FFF2-40B4-BE49-F238E27FC236}">
                  <a16:creationId xmlns:a16="http://schemas.microsoft.com/office/drawing/2014/main" id="{C24216A8-419D-DB33-BC85-B971CEB56A4E}"/>
                </a:ext>
              </a:extLst>
            </p:cNvPr>
            <p:cNvSpPr/>
            <p:nvPr/>
          </p:nvSpPr>
          <p:spPr>
            <a:xfrm>
              <a:off x="2695324"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64" name="Rectangle 263">
              <a:extLst>
                <a:ext uri="{FF2B5EF4-FFF2-40B4-BE49-F238E27FC236}">
                  <a16:creationId xmlns:a16="http://schemas.microsoft.com/office/drawing/2014/main" id="{311C226C-C930-FE9B-896D-7A8A1C8DC3AE}"/>
                </a:ext>
              </a:extLst>
            </p:cNvPr>
            <p:cNvSpPr/>
            <p:nvPr/>
          </p:nvSpPr>
          <p:spPr>
            <a:xfrm>
              <a:off x="334853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65" name="Rectangle 264">
              <a:extLst>
                <a:ext uri="{FF2B5EF4-FFF2-40B4-BE49-F238E27FC236}">
                  <a16:creationId xmlns:a16="http://schemas.microsoft.com/office/drawing/2014/main" id="{35980DA4-ADFC-6F8A-0BA1-010E6EE067E0}"/>
                </a:ext>
              </a:extLst>
            </p:cNvPr>
            <p:cNvSpPr/>
            <p:nvPr/>
          </p:nvSpPr>
          <p:spPr>
            <a:xfrm>
              <a:off x="400174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66" name="Rectangle 265">
              <a:extLst>
                <a:ext uri="{FF2B5EF4-FFF2-40B4-BE49-F238E27FC236}">
                  <a16:creationId xmlns:a16="http://schemas.microsoft.com/office/drawing/2014/main" id="{569D00A0-CC33-75F5-4446-A596ADE4352F}"/>
                </a:ext>
              </a:extLst>
            </p:cNvPr>
            <p:cNvSpPr/>
            <p:nvPr/>
          </p:nvSpPr>
          <p:spPr>
            <a:xfrm>
              <a:off x="4654949"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67" name="Rectangle 266">
              <a:extLst>
                <a:ext uri="{FF2B5EF4-FFF2-40B4-BE49-F238E27FC236}">
                  <a16:creationId xmlns:a16="http://schemas.microsoft.com/office/drawing/2014/main" id="{ACC0D66D-D18E-C431-AA37-49C15CC7EC41}"/>
                </a:ext>
              </a:extLst>
            </p:cNvPr>
            <p:cNvSpPr/>
            <p:nvPr/>
          </p:nvSpPr>
          <p:spPr>
            <a:xfrm>
              <a:off x="2695324"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68" name="Rectangle 267">
              <a:extLst>
                <a:ext uri="{FF2B5EF4-FFF2-40B4-BE49-F238E27FC236}">
                  <a16:creationId xmlns:a16="http://schemas.microsoft.com/office/drawing/2014/main" id="{A29CA531-0659-5409-828F-DD6F3284FF20}"/>
                </a:ext>
              </a:extLst>
            </p:cNvPr>
            <p:cNvSpPr/>
            <p:nvPr/>
          </p:nvSpPr>
          <p:spPr>
            <a:xfrm>
              <a:off x="3348532"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69" name="Rectangle 268">
              <a:extLst>
                <a:ext uri="{FF2B5EF4-FFF2-40B4-BE49-F238E27FC236}">
                  <a16:creationId xmlns:a16="http://schemas.microsoft.com/office/drawing/2014/main" id="{F2F9797C-CE4F-B9BB-281C-DA3FE25AE0A9}"/>
                </a:ext>
              </a:extLst>
            </p:cNvPr>
            <p:cNvSpPr/>
            <p:nvPr/>
          </p:nvSpPr>
          <p:spPr>
            <a:xfrm>
              <a:off x="400174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70" name="Rectangle 269">
              <a:extLst>
                <a:ext uri="{FF2B5EF4-FFF2-40B4-BE49-F238E27FC236}">
                  <a16:creationId xmlns:a16="http://schemas.microsoft.com/office/drawing/2014/main" id="{5260F082-0A0A-3985-3FAB-DD757292FF8E}"/>
                </a:ext>
              </a:extLst>
            </p:cNvPr>
            <p:cNvSpPr/>
            <p:nvPr/>
          </p:nvSpPr>
          <p:spPr>
            <a:xfrm>
              <a:off x="4654949"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71" name="Rectangle 270">
              <a:extLst>
                <a:ext uri="{FF2B5EF4-FFF2-40B4-BE49-F238E27FC236}">
                  <a16:creationId xmlns:a16="http://schemas.microsoft.com/office/drawing/2014/main" id="{8D3385A8-1686-1E53-4C0A-F729BFF0EA84}"/>
                </a:ext>
              </a:extLst>
            </p:cNvPr>
            <p:cNvSpPr/>
            <p:nvPr/>
          </p:nvSpPr>
          <p:spPr>
            <a:xfrm>
              <a:off x="2695324"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72" name="Rectangle 271">
              <a:extLst>
                <a:ext uri="{FF2B5EF4-FFF2-40B4-BE49-F238E27FC236}">
                  <a16:creationId xmlns:a16="http://schemas.microsoft.com/office/drawing/2014/main" id="{5EB78552-7BB3-5601-6FFD-E537D2448EA2}"/>
                </a:ext>
              </a:extLst>
            </p:cNvPr>
            <p:cNvSpPr/>
            <p:nvPr/>
          </p:nvSpPr>
          <p:spPr>
            <a:xfrm>
              <a:off x="3348532"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73" name="Rectangle 272">
              <a:extLst>
                <a:ext uri="{FF2B5EF4-FFF2-40B4-BE49-F238E27FC236}">
                  <a16:creationId xmlns:a16="http://schemas.microsoft.com/office/drawing/2014/main" id="{1B25A40A-A26F-7725-07CE-39A7BFF318BE}"/>
                </a:ext>
              </a:extLst>
            </p:cNvPr>
            <p:cNvSpPr/>
            <p:nvPr/>
          </p:nvSpPr>
          <p:spPr>
            <a:xfrm>
              <a:off x="4001740"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74" name="Rectangle 273">
              <a:extLst>
                <a:ext uri="{FF2B5EF4-FFF2-40B4-BE49-F238E27FC236}">
                  <a16:creationId xmlns:a16="http://schemas.microsoft.com/office/drawing/2014/main" id="{819EB925-88FA-DC61-7720-C364D646144D}"/>
                </a:ext>
              </a:extLst>
            </p:cNvPr>
            <p:cNvSpPr/>
            <p:nvPr/>
          </p:nvSpPr>
          <p:spPr>
            <a:xfrm>
              <a:off x="4654949"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grpSp>
        <p:nvGrpSpPr>
          <p:cNvPr id="275" name="Group 274">
            <a:extLst>
              <a:ext uri="{FF2B5EF4-FFF2-40B4-BE49-F238E27FC236}">
                <a16:creationId xmlns:a16="http://schemas.microsoft.com/office/drawing/2014/main" id="{417B981E-C63C-E124-C567-767FE72B7AAC}"/>
              </a:ext>
            </a:extLst>
          </p:cNvPr>
          <p:cNvGrpSpPr/>
          <p:nvPr/>
        </p:nvGrpSpPr>
        <p:grpSpPr>
          <a:xfrm>
            <a:off x="1998386" y="3932508"/>
            <a:ext cx="1959624" cy="2612861"/>
            <a:chOff x="7267782" y="2111684"/>
            <a:chExt cx="1959624" cy="2612861"/>
          </a:xfrm>
        </p:grpSpPr>
        <p:sp>
          <p:nvSpPr>
            <p:cNvPr id="276" name="Rectangle 275">
              <a:extLst>
                <a:ext uri="{FF2B5EF4-FFF2-40B4-BE49-F238E27FC236}">
                  <a16:creationId xmlns:a16="http://schemas.microsoft.com/office/drawing/2014/main" id="{E432A966-D3D9-4263-BD18-BBCFDC19418B}"/>
                </a:ext>
              </a:extLst>
            </p:cNvPr>
            <p:cNvSpPr/>
            <p:nvPr/>
          </p:nvSpPr>
          <p:spPr>
            <a:xfrm>
              <a:off x="7267782"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1</a:t>
              </a:r>
            </a:p>
          </p:txBody>
        </p:sp>
        <p:sp>
          <p:nvSpPr>
            <p:cNvPr id="277" name="Rectangle 276">
              <a:extLst>
                <a:ext uri="{FF2B5EF4-FFF2-40B4-BE49-F238E27FC236}">
                  <a16:creationId xmlns:a16="http://schemas.microsoft.com/office/drawing/2014/main" id="{6D77121A-E1BE-4D31-20A0-203F0D202B63}"/>
                </a:ext>
              </a:extLst>
            </p:cNvPr>
            <p:cNvSpPr/>
            <p:nvPr/>
          </p:nvSpPr>
          <p:spPr>
            <a:xfrm>
              <a:off x="7920990"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2</a:t>
              </a:r>
            </a:p>
          </p:txBody>
        </p:sp>
        <p:sp>
          <p:nvSpPr>
            <p:cNvPr id="278" name="Rectangle 277">
              <a:extLst>
                <a:ext uri="{FF2B5EF4-FFF2-40B4-BE49-F238E27FC236}">
                  <a16:creationId xmlns:a16="http://schemas.microsoft.com/office/drawing/2014/main" id="{C8419681-EE03-ECC7-F0F2-F2932A667AFE}"/>
                </a:ext>
              </a:extLst>
            </p:cNvPr>
            <p:cNvSpPr/>
            <p:nvPr/>
          </p:nvSpPr>
          <p:spPr>
            <a:xfrm>
              <a:off x="8574198" y="2111684"/>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3</a:t>
              </a:r>
            </a:p>
          </p:txBody>
        </p:sp>
        <p:sp>
          <p:nvSpPr>
            <p:cNvPr id="279" name="Rectangle 278">
              <a:extLst>
                <a:ext uri="{FF2B5EF4-FFF2-40B4-BE49-F238E27FC236}">
                  <a16:creationId xmlns:a16="http://schemas.microsoft.com/office/drawing/2014/main" id="{F166A70F-73ED-803F-3F0C-71DE3565EDBC}"/>
                </a:ext>
              </a:extLst>
            </p:cNvPr>
            <p:cNvSpPr/>
            <p:nvPr/>
          </p:nvSpPr>
          <p:spPr>
            <a:xfrm>
              <a:off x="7267782" y="2764899"/>
              <a:ext cx="653208" cy="653215"/>
            </a:xfrm>
            <a:prstGeom prst="rect">
              <a:avLst/>
            </a:prstGeom>
            <a:solidFill>
              <a:srgbClr val="A2F4A6"/>
            </a:solidFill>
            <a:ln w="4928" cap="flat">
              <a:solidFill>
                <a:schemeClr val="tx1">
                  <a:lumMod val="75000"/>
                  <a:lumOff val="25000"/>
                </a:schemeClr>
              </a:solidFill>
              <a:prstDash val="solid"/>
              <a:miter/>
            </a:ln>
          </p:spPr>
          <p:txBody>
            <a:bodyPr wrap="none" anchor="ctr"/>
            <a:lstStyle/>
            <a:p>
              <a:pPr algn="ctr"/>
              <a:r>
                <a:rPr lang="en-US" sz="2800" noProof="0" dirty="0"/>
                <a:t>4</a:t>
              </a:r>
            </a:p>
          </p:txBody>
        </p:sp>
        <p:sp>
          <p:nvSpPr>
            <p:cNvPr id="280" name="Rectangle 279">
              <a:extLst>
                <a:ext uri="{FF2B5EF4-FFF2-40B4-BE49-F238E27FC236}">
                  <a16:creationId xmlns:a16="http://schemas.microsoft.com/office/drawing/2014/main" id="{E15C6862-61A1-8EFD-63CA-3918EB71239D}"/>
                </a:ext>
              </a:extLst>
            </p:cNvPr>
            <p:cNvSpPr/>
            <p:nvPr/>
          </p:nvSpPr>
          <p:spPr>
            <a:xfrm>
              <a:off x="7920990"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5</a:t>
              </a:r>
            </a:p>
          </p:txBody>
        </p:sp>
        <p:sp>
          <p:nvSpPr>
            <p:cNvPr id="281" name="Rectangle 280">
              <a:extLst>
                <a:ext uri="{FF2B5EF4-FFF2-40B4-BE49-F238E27FC236}">
                  <a16:creationId xmlns:a16="http://schemas.microsoft.com/office/drawing/2014/main" id="{972B3B49-62D6-42EF-3FA1-8E655F00AA44}"/>
                </a:ext>
              </a:extLst>
            </p:cNvPr>
            <p:cNvSpPr/>
            <p:nvPr/>
          </p:nvSpPr>
          <p:spPr>
            <a:xfrm>
              <a:off x="8574198" y="2764899"/>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6</a:t>
              </a:r>
            </a:p>
          </p:txBody>
        </p:sp>
        <p:sp>
          <p:nvSpPr>
            <p:cNvPr id="282" name="Rectangle 281">
              <a:extLst>
                <a:ext uri="{FF2B5EF4-FFF2-40B4-BE49-F238E27FC236}">
                  <a16:creationId xmlns:a16="http://schemas.microsoft.com/office/drawing/2014/main" id="{A1D4053D-B172-78CF-A694-B1E16F5EC418}"/>
                </a:ext>
              </a:extLst>
            </p:cNvPr>
            <p:cNvSpPr/>
            <p:nvPr/>
          </p:nvSpPr>
          <p:spPr>
            <a:xfrm>
              <a:off x="7267782"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7</a:t>
              </a:r>
            </a:p>
          </p:txBody>
        </p:sp>
        <p:sp>
          <p:nvSpPr>
            <p:cNvPr id="283" name="Rectangle 282">
              <a:extLst>
                <a:ext uri="{FF2B5EF4-FFF2-40B4-BE49-F238E27FC236}">
                  <a16:creationId xmlns:a16="http://schemas.microsoft.com/office/drawing/2014/main" id="{80CA5CB3-BDE6-56FD-A424-135F609A4B33}"/>
                </a:ext>
              </a:extLst>
            </p:cNvPr>
            <p:cNvSpPr/>
            <p:nvPr/>
          </p:nvSpPr>
          <p:spPr>
            <a:xfrm>
              <a:off x="7920990" y="3418115"/>
              <a:ext cx="653208" cy="653215"/>
            </a:xfrm>
            <a:prstGeom prst="rect">
              <a:avLst/>
            </a:prstGeom>
            <a:solidFill>
              <a:srgbClr val="BED6FA"/>
            </a:solidFill>
            <a:ln w="4928" cap="flat">
              <a:solidFill>
                <a:schemeClr val="tx1">
                  <a:lumMod val="75000"/>
                  <a:lumOff val="25000"/>
                </a:schemeClr>
              </a:solidFill>
              <a:prstDash val="solid"/>
              <a:miter/>
            </a:ln>
          </p:spPr>
          <p:txBody>
            <a:bodyPr wrap="none" anchor="ctr"/>
            <a:lstStyle/>
            <a:p>
              <a:pPr algn="ctr"/>
              <a:r>
                <a:rPr lang="en-US" sz="2800" noProof="0" dirty="0"/>
                <a:t>8</a:t>
              </a:r>
            </a:p>
          </p:txBody>
        </p:sp>
        <p:sp>
          <p:nvSpPr>
            <p:cNvPr id="284" name="Rectangle 283">
              <a:extLst>
                <a:ext uri="{FF2B5EF4-FFF2-40B4-BE49-F238E27FC236}">
                  <a16:creationId xmlns:a16="http://schemas.microsoft.com/office/drawing/2014/main" id="{DCF04BFA-01E3-13E2-55F2-91585F9FC85B}"/>
                </a:ext>
              </a:extLst>
            </p:cNvPr>
            <p:cNvSpPr/>
            <p:nvPr/>
          </p:nvSpPr>
          <p:spPr>
            <a:xfrm>
              <a:off x="8574198" y="3418115"/>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9</a:t>
              </a:r>
            </a:p>
          </p:txBody>
        </p:sp>
        <p:sp>
          <p:nvSpPr>
            <p:cNvPr id="285" name="Rectangle 284">
              <a:extLst>
                <a:ext uri="{FF2B5EF4-FFF2-40B4-BE49-F238E27FC236}">
                  <a16:creationId xmlns:a16="http://schemas.microsoft.com/office/drawing/2014/main" id="{9D1404AE-BDF6-8EDE-8D97-2B7F5AD57054}"/>
                </a:ext>
              </a:extLst>
            </p:cNvPr>
            <p:cNvSpPr/>
            <p:nvPr/>
          </p:nvSpPr>
          <p:spPr>
            <a:xfrm>
              <a:off x="7267782"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10</a:t>
              </a:r>
            </a:p>
          </p:txBody>
        </p:sp>
        <p:sp>
          <p:nvSpPr>
            <p:cNvPr id="286" name="Rectangle 285">
              <a:extLst>
                <a:ext uri="{FF2B5EF4-FFF2-40B4-BE49-F238E27FC236}">
                  <a16:creationId xmlns:a16="http://schemas.microsoft.com/office/drawing/2014/main" id="{D00AE7D2-DF24-407A-268B-452856AF8CC3}"/>
                </a:ext>
              </a:extLst>
            </p:cNvPr>
            <p:cNvSpPr/>
            <p:nvPr/>
          </p:nvSpPr>
          <p:spPr>
            <a:xfrm>
              <a:off x="7920990"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11</a:t>
              </a:r>
            </a:p>
          </p:txBody>
        </p:sp>
        <p:sp>
          <p:nvSpPr>
            <p:cNvPr id="287" name="Rectangle 286">
              <a:extLst>
                <a:ext uri="{FF2B5EF4-FFF2-40B4-BE49-F238E27FC236}">
                  <a16:creationId xmlns:a16="http://schemas.microsoft.com/office/drawing/2014/main" id="{AB675FF9-4A7E-55C7-0BD7-BB123C923E54}"/>
                </a:ext>
              </a:extLst>
            </p:cNvPr>
            <p:cNvSpPr/>
            <p:nvPr/>
          </p:nvSpPr>
          <p:spPr>
            <a:xfrm>
              <a:off x="8574198" y="4071330"/>
              <a:ext cx="653208" cy="653215"/>
            </a:xfrm>
            <a:prstGeom prst="rect">
              <a:avLst/>
            </a:prstGeom>
            <a:solidFill>
              <a:srgbClr val="FBA9ED"/>
            </a:solidFill>
            <a:ln w="4928" cap="flat">
              <a:solidFill>
                <a:schemeClr val="tx1">
                  <a:lumMod val="75000"/>
                  <a:lumOff val="25000"/>
                </a:schemeClr>
              </a:solidFill>
              <a:prstDash val="solid"/>
              <a:miter/>
            </a:ln>
          </p:spPr>
          <p:txBody>
            <a:bodyPr wrap="none" anchor="ctr"/>
            <a:lstStyle/>
            <a:p>
              <a:pPr algn="ctr"/>
              <a:r>
                <a:rPr lang="en-US" sz="2800" noProof="0" dirty="0"/>
                <a:t>12</a:t>
              </a:r>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4" grpId="0"/>
      <p:bldP spid="31"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Support for layout-agnostic data distribution</a:t>
            </a:r>
          </a:p>
        </p:txBody>
      </p:sp>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pic>
        <p:nvPicPr>
          <p:cNvPr id="8" name="Picture 7">
            <a:extLst>
              <a:ext uri="{FF2B5EF4-FFF2-40B4-BE49-F238E27FC236}">
                <a16:creationId xmlns:a16="http://schemas.microsoft.com/office/drawing/2014/main" id="{E0FCA7EC-7437-CC15-6D3A-990AAB3DDAFA}"/>
              </a:ext>
            </a:extLst>
          </p:cNvPr>
          <p:cNvPicPr>
            <a:picLocks noChangeAspect="1"/>
          </p:cNvPicPr>
          <p:nvPr/>
        </p:nvPicPr>
        <p:blipFill>
          <a:blip r:embed="rId3"/>
          <a:stretch>
            <a:fillRect/>
          </a:stretch>
        </p:blipFill>
        <p:spPr>
          <a:xfrm>
            <a:off x="152400" y="1690849"/>
            <a:ext cx="11887200" cy="3476302"/>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3AE25-E132-6DBD-F16F-E9598EA68D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2CBB0C-3BD1-5355-89AC-1EFD3483308F}"/>
              </a:ext>
            </a:extLst>
          </p:cNvPr>
          <p:cNvSpPr>
            <a:spLocks noGrp="1"/>
          </p:cNvSpPr>
          <p:nvPr>
            <p:ph type="title"/>
          </p:nvPr>
        </p:nvSpPr>
        <p:spPr/>
        <p:txBody>
          <a:bodyPr/>
          <a:lstStyle/>
          <a:p>
            <a:r>
              <a:rPr lang="en-US" noProof="0" dirty="0"/>
              <a:t>Performance comparison</a:t>
            </a:r>
          </a:p>
        </p:txBody>
      </p:sp>
      <p:sp>
        <p:nvSpPr>
          <p:cNvPr id="3" name="Date Placeholder 2">
            <a:extLst>
              <a:ext uri="{FF2B5EF4-FFF2-40B4-BE49-F238E27FC236}">
                <a16:creationId xmlns:a16="http://schemas.microsoft.com/office/drawing/2014/main" id="{28BB4D7E-1AFC-CDF0-9265-FE90CABB0DF6}"/>
              </a:ext>
            </a:extLst>
          </p:cNvPr>
          <p:cNvSpPr>
            <a:spLocks noGrp="1"/>
          </p:cNvSpPr>
          <p:nvPr>
            <p:ph type="dt" sz="half" idx="10"/>
          </p:nvPr>
        </p:nvSpPr>
        <p:spPr/>
        <p:txBody>
          <a:bodyPr/>
          <a:lstStyle/>
          <a:p>
            <a:fld id="{D2B8A75C-05AF-4892-8E0E-22A5D3C1A1D7}"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5F5A869E-F9A0-1579-FBDB-E8F79B3DF8D9}"/>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8" name="Picture 7">
            <a:extLst>
              <a:ext uri="{FF2B5EF4-FFF2-40B4-BE49-F238E27FC236}">
                <a16:creationId xmlns:a16="http://schemas.microsoft.com/office/drawing/2014/main" id="{9B147978-2CA9-0505-C6D4-60F25215B78C}"/>
              </a:ext>
            </a:extLst>
          </p:cNvPr>
          <p:cNvPicPr>
            <a:picLocks noChangeAspect="1"/>
          </p:cNvPicPr>
          <p:nvPr/>
        </p:nvPicPr>
        <p:blipFill>
          <a:blip r:embed="rId3"/>
          <a:stretch>
            <a:fillRect/>
          </a:stretch>
        </p:blipFill>
        <p:spPr>
          <a:xfrm>
            <a:off x="2628" y="1466512"/>
            <a:ext cx="12189372" cy="3924976"/>
          </a:xfrm>
          <a:prstGeom prst="rect">
            <a:avLst/>
          </a:prstGeom>
        </p:spPr>
      </p:pic>
    </p:spTree>
    <p:extLst>
      <p:ext uri="{BB962C8B-B14F-4D97-AF65-F5344CB8AC3E}">
        <p14:creationId xmlns:p14="http://schemas.microsoft.com/office/powerpoint/2010/main" val="39727034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grpSp>
        <p:nvGrpSpPr>
          <p:cNvPr id="10" name="Group 9">
            <a:extLst>
              <a:ext uri="{FF2B5EF4-FFF2-40B4-BE49-F238E27FC236}">
                <a16:creationId xmlns:a16="http://schemas.microsoft.com/office/drawing/2014/main" id="{DCEA82E3-1BE2-3FF6-28C1-ADABA685AC1D}"/>
              </a:ext>
            </a:extLst>
          </p:cNvPr>
          <p:cNvGrpSpPr/>
          <p:nvPr/>
        </p:nvGrpSpPr>
        <p:grpSpPr>
          <a:xfrm>
            <a:off x="6804263" y="5776906"/>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nchor="ctr">
              <a:spAutoFit/>
            </a:bodyPr>
            <a:lstStyle/>
            <a:p>
              <a:r>
                <a:rPr lang="en-US" sz="2000" noProof="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1972661" y="1663006"/>
            <a:ext cx="4026808" cy="461665"/>
          </a:xfrm>
          <a:prstGeom prst="rect">
            <a:avLst/>
          </a:prstGeom>
          <a:noFill/>
        </p:spPr>
        <p:txBody>
          <a:bodyPr wrap="none" rtlCol="0" anchor="b">
            <a:spAutoFit/>
          </a:bodyPr>
          <a:lstStyle/>
          <a:p>
            <a:pPr algn="ctr"/>
            <a:r>
              <a:rPr lang="en-US" sz="2400" noProof="0" dirty="0"/>
              <a:t>Example of an 8-point stencil</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2320646"/>
            <a:chOff x="4042550" y="4991122"/>
            <a:chExt cx="4627188" cy="2320646"/>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4"/>
            <a:stretch>
              <a:fillRect/>
            </a:stretch>
          </p:blipFill>
          <p:spPr>
            <a:xfrm>
              <a:off x="6970149" y="5560830"/>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785232" cy="578882"/>
            </a:xfrm>
            <a:prstGeom prst="wedgeRoundRectCallout">
              <a:avLst>
                <a:gd name="adj1" fmla="val 32918"/>
                <a:gd name="adj2" fmla="val 128777"/>
                <a:gd name="adj3" fmla="val 16667"/>
              </a:avLst>
            </a:prstGeom>
            <a:gradFill>
              <a:gsLst>
                <a:gs pos="0">
                  <a:srgbClr val="ADD7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b">
              <a:spAutoFit/>
            </a:bodyPr>
            <a:lstStyle/>
            <a:p>
              <a:r>
                <a:rPr lang="en-US" sz="2800" noProof="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294921" y="6850103"/>
              <a:ext cx="2374817" cy="461665"/>
            </a:xfrm>
            <a:prstGeom prst="rect">
              <a:avLst/>
            </a:prstGeom>
            <a:noFill/>
          </p:spPr>
          <p:txBody>
            <a:bodyPr wrap="none" rtlCol="0">
              <a:spAutoFit/>
            </a:bodyPr>
            <a:lstStyle/>
            <a:p>
              <a:pPr algn="ctr"/>
              <a:r>
                <a:rPr lang="en-US" sz="2400" noProof="0" dirty="0" err="1"/>
                <a:t>Collegue</a:t>
              </a:r>
              <a:r>
                <a:rPr lang="en-US" sz="2400" noProof="0" dirty="0"/>
                <a:t> Brabec</a:t>
              </a:r>
            </a:p>
          </p:txBody>
        </p:sp>
      </p:grpSp>
      <p:sp>
        <p:nvSpPr>
          <p:cNvPr id="19" name="Rectangle 18">
            <a:extLst>
              <a:ext uri="{FF2B5EF4-FFF2-40B4-BE49-F238E27FC236}">
                <a16:creationId xmlns:a16="http://schemas.microsoft.com/office/drawing/2014/main" id="{6E59B725-5B8D-D594-A1C6-5596E71C41D8}"/>
              </a:ext>
            </a:extLst>
          </p:cNvPr>
          <p:cNvSpPr/>
          <p:nvPr/>
        </p:nvSpPr>
        <p:spPr>
          <a:xfrm>
            <a:off x="2534310" y="2124671"/>
            <a:ext cx="2705100" cy="2705100"/>
          </a:xfrm>
          <a:prstGeom prst="rect">
            <a:avLst/>
          </a:prstGeom>
          <a:solidFill>
            <a:srgbClr val="FFFFFF"/>
          </a:solidFill>
          <a:ln w="9525" cap="flat">
            <a:noFill/>
            <a:prstDash val="solid"/>
            <a:miter/>
          </a:ln>
        </p:spPr>
        <p:txBody>
          <a:bodyPr/>
          <a:lstStyle/>
          <a:p>
            <a:endParaRPr lang="en-US" noProof="0" dirty="0"/>
          </a:p>
        </p:txBody>
      </p:sp>
      <p:grpSp>
        <p:nvGrpSpPr>
          <p:cNvPr id="21" name="Graphic 14">
            <a:extLst>
              <a:ext uri="{FF2B5EF4-FFF2-40B4-BE49-F238E27FC236}">
                <a16:creationId xmlns:a16="http://schemas.microsoft.com/office/drawing/2014/main" id="{131381F6-097A-8BC9-D3A9-020A95F0412B}"/>
              </a:ext>
            </a:extLst>
          </p:cNvPr>
          <p:cNvGrpSpPr/>
          <p:nvPr/>
        </p:nvGrpSpPr>
        <p:grpSpPr>
          <a:xfrm>
            <a:off x="2548597" y="2138958"/>
            <a:ext cx="2667000" cy="2667000"/>
            <a:chOff x="4757737" y="2090737"/>
            <a:chExt cx="2667000" cy="2667000"/>
          </a:xfrm>
        </p:grpSpPr>
        <p:sp>
          <p:nvSpPr>
            <p:cNvPr id="22" name="Rectangle 21">
              <a:extLst>
                <a:ext uri="{FF2B5EF4-FFF2-40B4-BE49-F238E27FC236}">
                  <a16:creationId xmlns:a16="http://schemas.microsoft.com/office/drawing/2014/main" id="{EF7F5BCC-707A-C7A9-26AA-9EBB8EB6FDF3}"/>
                </a:ext>
              </a:extLst>
            </p:cNvPr>
            <p:cNvSpPr/>
            <p:nvPr/>
          </p:nvSpPr>
          <p:spPr>
            <a:xfrm>
              <a:off x="4757737" y="2090737"/>
              <a:ext cx="2667000" cy="2667000"/>
            </a:xfrm>
            <a:prstGeom prst="rect">
              <a:avLst/>
            </a:prstGeom>
            <a:noFill/>
            <a:ln w="28575" cap="flat">
              <a:solidFill>
                <a:srgbClr val="000000"/>
              </a:solidFill>
              <a:prstDash val="solid"/>
              <a:miter/>
            </a:ln>
          </p:spPr>
          <p:txBody>
            <a:bodyPr/>
            <a:lstStyle/>
            <a:p>
              <a:endParaRPr lang="en-US" noProof="0" dirty="0"/>
            </a:p>
          </p:txBody>
        </p:sp>
        <p:sp>
          <p:nvSpPr>
            <p:cNvPr id="23" name="Rectangle 22">
              <a:extLst>
                <a:ext uri="{FF2B5EF4-FFF2-40B4-BE49-F238E27FC236}">
                  <a16:creationId xmlns:a16="http://schemas.microsoft.com/office/drawing/2014/main" id="{6188D0D4-A30F-BF09-D1A4-991195FC2358}"/>
                </a:ext>
              </a:extLst>
            </p:cNvPr>
            <p:cNvSpPr/>
            <p:nvPr/>
          </p:nvSpPr>
          <p:spPr>
            <a:xfrm>
              <a:off x="4757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4" name="Rectangle 23">
              <a:extLst>
                <a:ext uri="{FF2B5EF4-FFF2-40B4-BE49-F238E27FC236}">
                  <a16:creationId xmlns:a16="http://schemas.microsoft.com/office/drawing/2014/main" id="{00188916-92A3-C146-6295-587F5EA3BBA0}"/>
                </a:ext>
              </a:extLst>
            </p:cNvPr>
            <p:cNvSpPr/>
            <p:nvPr/>
          </p:nvSpPr>
          <p:spPr>
            <a:xfrm>
              <a:off x="5138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5" name="Rectangle 24">
              <a:extLst>
                <a:ext uri="{FF2B5EF4-FFF2-40B4-BE49-F238E27FC236}">
                  <a16:creationId xmlns:a16="http://schemas.microsoft.com/office/drawing/2014/main" id="{D565B24B-CFB0-9AF6-2694-250DAAC2D82A}"/>
                </a:ext>
              </a:extLst>
            </p:cNvPr>
            <p:cNvSpPr/>
            <p:nvPr/>
          </p:nvSpPr>
          <p:spPr>
            <a:xfrm>
              <a:off x="4757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6" name="Rectangle 25">
              <a:extLst>
                <a:ext uri="{FF2B5EF4-FFF2-40B4-BE49-F238E27FC236}">
                  <a16:creationId xmlns:a16="http://schemas.microsoft.com/office/drawing/2014/main" id="{CFFB034F-FB02-984D-1C5D-AD7DADD8CCEE}"/>
                </a:ext>
              </a:extLst>
            </p:cNvPr>
            <p:cNvSpPr/>
            <p:nvPr/>
          </p:nvSpPr>
          <p:spPr>
            <a:xfrm>
              <a:off x="5138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7" name="Rectangle 26">
              <a:extLst>
                <a:ext uri="{FF2B5EF4-FFF2-40B4-BE49-F238E27FC236}">
                  <a16:creationId xmlns:a16="http://schemas.microsoft.com/office/drawing/2014/main" id="{016B05D1-22BF-3997-FCC5-A7BF9E1104CC}"/>
                </a:ext>
              </a:extLst>
            </p:cNvPr>
            <p:cNvSpPr/>
            <p:nvPr/>
          </p:nvSpPr>
          <p:spPr>
            <a:xfrm>
              <a:off x="5519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8" name="Rectangle 27">
              <a:extLst>
                <a:ext uri="{FF2B5EF4-FFF2-40B4-BE49-F238E27FC236}">
                  <a16:creationId xmlns:a16="http://schemas.microsoft.com/office/drawing/2014/main" id="{96FDCCAA-F3FB-DF0F-194B-10625614E55E}"/>
                </a:ext>
              </a:extLst>
            </p:cNvPr>
            <p:cNvSpPr/>
            <p:nvPr/>
          </p:nvSpPr>
          <p:spPr>
            <a:xfrm>
              <a:off x="5900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29" name="Rectangle 28">
              <a:extLst>
                <a:ext uri="{FF2B5EF4-FFF2-40B4-BE49-F238E27FC236}">
                  <a16:creationId xmlns:a16="http://schemas.microsoft.com/office/drawing/2014/main" id="{E566E2F5-E6AC-E8BB-DD7C-0DE27F52268C}"/>
                </a:ext>
              </a:extLst>
            </p:cNvPr>
            <p:cNvSpPr/>
            <p:nvPr/>
          </p:nvSpPr>
          <p:spPr>
            <a:xfrm>
              <a:off x="5519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0" name="Rectangle 29">
              <a:extLst>
                <a:ext uri="{FF2B5EF4-FFF2-40B4-BE49-F238E27FC236}">
                  <a16:creationId xmlns:a16="http://schemas.microsoft.com/office/drawing/2014/main" id="{6702C292-D602-F047-6E5D-07963C84A4EB}"/>
                </a:ext>
              </a:extLst>
            </p:cNvPr>
            <p:cNvSpPr/>
            <p:nvPr/>
          </p:nvSpPr>
          <p:spPr>
            <a:xfrm>
              <a:off x="5900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1" name="Rectangle 30">
              <a:extLst>
                <a:ext uri="{FF2B5EF4-FFF2-40B4-BE49-F238E27FC236}">
                  <a16:creationId xmlns:a16="http://schemas.microsoft.com/office/drawing/2014/main" id="{713BC10D-DEEF-977B-5260-48F3EFFA0845}"/>
                </a:ext>
              </a:extLst>
            </p:cNvPr>
            <p:cNvSpPr/>
            <p:nvPr/>
          </p:nvSpPr>
          <p:spPr>
            <a:xfrm>
              <a:off x="6281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2" name="Rectangle 31">
              <a:extLst>
                <a:ext uri="{FF2B5EF4-FFF2-40B4-BE49-F238E27FC236}">
                  <a16:creationId xmlns:a16="http://schemas.microsoft.com/office/drawing/2014/main" id="{8FAA4B6A-CFDE-D085-E468-CE06D057F64F}"/>
                </a:ext>
              </a:extLst>
            </p:cNvPr>
            <p:cNvSpPr/>
            <p:nvPr/>
          </p:nvSpPr>
          <p:spPr>
            <a:xfrm>
              <a:off x="6662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3" name="Rectangle 32">
              <a:extLst>
                <a:ext uri="{FF2B5EF4-FFF2-40B4-BE49-F238E27FC236}">
                  <a16:creationId xmlns:a16="http://schemas.microsoft.com/office/drawing/2014/main" id="{6389750B-27AD-9F2E-3F88-CFA26D7D8A81}"/>
                </a:ext>
              </a:extLst>
            </p:cNvPr>
            <p:cNvSpPr/>
            <p:nvPr/>
          </p:nvSpPr>
          <p:spPr>
            <a:xfrm>
              <a:off x="6281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4" name="Rectangle 33">
              <a:extLst>
                <a:ext uri="{FF2B5EF4-FFF2-40B4-BE49-F238E27FC236}">
                  <a16:creationId xmlns:a16="http://schemas.microsoft.com/office/drawing/2014/main" id="{3C890C6A-2351-89FA-0F19-374AD2365963}"/>
                </a:ext>
              </a:extLst>
            </p:cNvPr>
            <p:cNvSpPr/>
            <p:nvPr/>
          </p:nvSpPr>
          <p:spPr>
            <a:xfrm>
              <a:off x="6662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5" name="Rectangle 34">
              <a:extLst>
                <a:ext uri="{FF2B5EF4-FFF2-40B4-BE49-F238E27FC236}">
                  <a16:creationId xmlns:a16="http://schemas.microsoft.com/office/drawing/2014/main" id="{E5044FC0-207D-AD26-4347-8122E38748B0}"/>
                </a:ext>
              </a:extLst>
            </p:cNvPr>
            <p:cNvSpPr/>
            <p:nvPr/>
          </p:nvSpPr>
          <p:spPr>
            <a:xfrm>
              <a:off x="7043737" y="2090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6" name="Rectangle 35">
              <a:extLst>
                <a:ext uri="{FF2B5EF4-FFF2-40B4-BE49-F238E27FC236}">
                  <a16:creationId xmlns:a16="http://schemas.microsoft.com/office/drawing/2014/main" id="{9E0ADB09-AF36-DF07-D7AB-BB065EDC6924}"/>
                </a:ext>
              </a:extLst>
            </p:cNvPr>
            <p:cNvSpPr/>
            <p:nvPr/>
          </p:nvSpPr>
          <p:spPr>
            <a:xfrm>
              <a:off x="7043737" y="2471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7" name="Rectangle 36">
              <a:extLst>
                <a:ext uri="{FF2B5EF4-FFF2-40B4-BE49-F238E27FC236}">
                  <a16:creationId xmlns:a16="http://schemas.microsoft.com/office/drawing/2014/main" id="{22E54BAB-88FD-1454-1BD8-2B98F80E238A}"/>
                </a:ext>
              </a:extLst>
            </p:cNvPr>
            <p:cNvSpPr/>
            <p:nvPr/>
          </p:nvSpPr>
          <p:spPr>
            <a:xfrm>
              <a:off x="4757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8" name="Rectangle 37">
              <a:extLst>
                <a:ext uri="{FF2B5EF4-FFF2-40B4-BE49-F238E27FC236}">
                  <a16:creationId xmlns:a16="http://schemas.microsoft.com/office/drawing/2014/main" id="{358A08F8-CED6-6152-0F69-34DAEE3D4046}"/>
                </a:ext>
              </a:extLst>
            </p:cNvPr>
            <p:cNvSpPr/>
            <p:nvPr/>
          </p:nvSpPr>
          <p:spPr>
            <a:xfrm>
              <a:off x="5138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39" name="Rectangle 38">
              <a:extLst>
                <a:ext uri="{FF2B5EF4-FFF2-40B4-BE49-F238E27FC236}">
                  <a16:creationId xmlns:a16="http://schemas.microsoft.com/office/drawing/2014/main" id="{5A10A4CB-C35E-F199-070A-4C13EE0AF10C}"/>
                </a:ext>
              </a:extLst>
            </p:cNvPr>
            <p:cNvSpPr/>
            <p:nvPr/>
          </p:nvSpPr>
          <p:spPr>
            <a:xfrm>
              <a:off x="4757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0" name="Rectangle 39">
              <a:extLst>
                <a:ext uri="{FF2B5EF4-FFF2-40B4-BE49-F238E27FC236}">
                  <a16:creationId xmlns:a16="http://schemas.microsoft.com/office/drawing/2014/main" id="{824DB158-9A93-B150-0B6B-4432E7BF3A1D}"/>
                </a:ext>
              </a:extLst>
            </p:cNvPr>
            <p:cNvSpPr/>
            <p:nvPr/>
          </p:nvSpPr>
          <p:spPr>
            <a:xfrm>
              <a:off x="5138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1" name="Rectangle 40">
              <a:extLst>
                <a:ext uri="{FF2B5EF4-FFF2-40B4-BE49-F238E27FC236}">
                  <a16:creationId xmlns:a16="http://schemas.microsoft.com/office/drawing/2014/main" id="{BCDE420E-24C9-F752-1F86-628695037DFB}"/>
                </a:ext>
              </a:extLst>
            </p:cNvPr>
            <p:cNvSpPr/>
            <p:nvPr/>
          </p:nvSpPr>
          <p:spPr>
            <a:xfrm>
              <a:off x="5519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2" name="Rectangle 41">
              <a:extLst>
                <a:ext uri="{FF2B5EF4-FFF2-40B4-BE49-F238E27FC236}">
                  <a16:creationId xmlns:a16="http://schemas.microsoft.com/office/drawing/2014/main" id="{D2573C6B-914F-6E70-3607-01D6D4AA2171}"/>
                </a:ext>
              </a:extLst>
            </p:cNvPr>
            <p:cNvSpPr/>
            <p:nvPr/>
          </p:nvSpPr>
          <p:spPr>
            <a:xfrm>
              <a:off x="5900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3" name="Rectangle 42">
              <a:extLst>
                <a:ext uri="{FF2B5EF4-FFF2-40B4-BE49-F238E27FC236}">
                  <a16:creationId xmlns:a16="http://schemas.microsoft.com/office/drawing/2014/main" id="{4E9D0D9C-1D7E-4015-DC4B-F852F0E0E8C5}"/>
                </a:ext>
              </a:extLst>
            </p:cNvPr>
            <p:cNvSpPr/>
            <p:nvPr/>
          </p:nvSpPr>
          <p:spPr>
            <a:xfrm>
              <a:off x="5519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4" name="Rectangle 43">
              <a:extLst>
                <a:ext uri="{FF2B5EF4-FFF2-40B4-BE49-F238E27FC236}">
                  <a16:creationId xmlns:a16="http://schemas.microsoft.com/office/drawing/2014/main" id="{2009D743-456B-CC33-B852-F2B83A20B667}"/>
                </a:ext>
              </a:extLst>
            </p:cNvPr>
            <p:cNvSpPr/>
            <p:nvPr/>
          </p:nvSpPr>
          <p:spPr>
            <a:xfrm>
              <a:off x="5900737" y="3233737"/>
              <a:ext cx="381000" cy="381000"/>
            </a:xfrm>
            <a:prstGeom prst="rect">
              <a:avLst/>
            </a:prstGeom>
            <a:solidFill>
              <a:srgbClr val="000000"/>
            </a:solidFill>
            <a:ln w="9525" cap="flat">
              <a:solidFill>
                <a:srgbClr val="000000"/>
              </a:solidFill>
              <a:prstDash val="solid"/>
              <a:miter/>
            </a:ln>
          </p:spPr>
          <p:txBody>
            <a:bodyPr/>
            <a:lstStyle/>
            <a:p>
              <a:endParaRPr lang="en-US" noProof="0" dirty="0"/>
            </a:p>
          </p:txBody>
        </p:sp>
        <p:sp>
          <p:nvSpPr>
            <p:cNvPr id="45" name="Rectangle 44">
              <a:extLst>
                <a:ext uri="{FF2B5EF4-FFF2-40B4-BE49-F238E27FC236}">
                  <a16:creationId xmlns:a16="http://schemas.microsoft.com/office/drawing/2014/main" id="{51D6CE2D-EC21-F227-66B9-A82F2F55270F}"/>
                </a:ext>
              </a:extLst>
            </p:cNvPr>
            <p:cNvSpPr/>
            <p:nvPr/>
          </p:nvSpPr>
          <p:spPr>
            <a:xfrm>
              <a:off x="6281737" y="2852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6" name="Rectangle 45">
              <a:extLst>
                <a:ext uri="{FF2B5EF4-FFF2-40B4-BE49-F238E27FC236}">
                  <a16:creationId xmlns:a16="http://schemas.microsoft.com/office/drawing/2014/main" id="{69D39EEB-9B98-21F0-046F-3C36D161BCCE}"/>
                </a:ext>
              </a:extLst>
            </p:cNvPr>
            <p:cNvSpPr/>
            <p:nvPr/>
          </p:nvSpPr>
          <p:spPr>
            <a:xfrm>
              <a:off x="6662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7" name="Rectangle 46">
              <a:extLst>
                <a:ext uri="{FF2B5EF4-FFF2-40B4-BE49-F238E27FC236}">
                  <a16:creationId xmlns:a16="http://schemas.microsoft.com/office/drawing/2014/main" id="{D8023305-2D4B-C087-55B5-07F10F8019CD}"/>
                </a:ext>
              </a:extLst>
            </p:cNvPr>
            <p:cNvSpPr/>
            <p:nvPr/>
          </p:nvSpPr>
          <p:spPr>
            <a:xfrm>
              <a:off x="6281737" y="3233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48" name="Rectangle 47">
              <a:extLst>
                <a:ext uri="{FF2B5EF4-FFF2-40B4-BE49-F238E27FC236}">
                  <a16:creationId xmlns:a16="http://schemas.microsoft.com/office/drawing/2014/main" id="{D54D7C03-3CBC-B686-415D-AA21F544ACE7}"/>
                </a:ext>
              </a:extLst>
            </p:cNvPr>
            <p:cNvSpPr/>
            <p:nvPr/>
          </p:nvSpPr>
          <p:spPr>
            <a:xfrm>
              <a:off x="6662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49" name="Rectangle 48">
              <a:extLst>
                <a:ext uri="{FF2B5EF4-FFF2-40B4-BE49-F238E27FC236}">
                  <a16:creationId xmlns:a16="http://schemas.microsoft.com/office/drawing/2014/main" id="{5380EAF7-0F2E-056E-76E7-DF9F1382E993}"/>
                </a:ext>
              </a:extLst>
            </p:cNvPr>
            <p:cNvSpPr/>
            <p:nvPr/>
          </p:nvSpPr>
          <p:spPr>
            <a:xfrm>
              <a:off x="7043737" y="2852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0" name="Rectangle 49">
              <a:extLst>
                <a:ext uri="{FF2B5EF4-FFF2-40B4-BE49-F238E27FC236}">
                  <a16:creationId xmlns:a16="http://schemas.microsoft.com/office/drawing/2014/main" id="{CB5759A0-355A-D02E-5D90-8FC5737A3AA5}"/>
                </a:ext>
              </a:extLst>
            </p:cNvPr>
            <p:cNvSpPr/>
            <p:nvPr/>
          </p:nvSpPr>
          <p:spPr>
            <a:xfrm>
              <a:off x="7043737" y="3233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1" name="Rectangle 50">
              <a:extLst>
                <a:ext uri="{FF2B5EF4-FFF2-40B4-BE49-F238E27FC236}">
                  <a16:creationId xmlns:a16="http://schemas.microsoft.com/office/drawing/2014/main" id="{9DBB0A95-8172-7945-C268-841E3B935C4B}"/>
                </a:ext>
              </a:extLst>
            </p:cNvPr>
            <p:cNvSpPr/>
            <p:nvPr/>
          </p:nvSpPr>
          <p:spPr>
            <a:xfrm>
              <a:off x="4757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2" name="Rectangle 51">
              <a:extLst>
                <a:ext uri="{FF2B5EF4-FFF2-40B4-BE49-F238E27FC236}">
                  <a16:creationId xmlns:a16="http://schemas.microsoft.com/office/drawing/2014/main" id="{D8D4BD9B-EDF0-D194-D15E-B7B21262275A}"/>
                </a:ext>
              </a:extLst>
            </p:cNvPr>
            <p:cNvSpPr/>
            <p:nvPr/>
          </p:nvSpPr>
          <p:spPr>
            <a:xfrm>
              <a:off x="5138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3" name="Rectangle 52">
              <a:extLst>
                <a:ext uri="{FF2B5EF4-FFF2-40B4-BE49-F238E27FC236}">
                  <a16:creationId xmlns:a16="http://schemas.microsoft.com/office/drawing/2014/main" id="{AD785FB2-6A56-DB40-4026-78CF899FE89A}"/>
                </a:ext>
              </a:extLst>
            </p:cNvPr>
            <p:cNvSpPr/>
            <p:nvPr/>
          </p:nvSpPr>
          <p:spPr>
            <a:xfrm>
              <a:off x="4757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4" name="Rectangle 53">
              <a:extLst>
                <a:ext uri="{FF2B5EF4-FFF2-40B4-BE49-F238E27FC236}">
                  <a16:creationId xmlns:a16="http://schemas.microsoft.com/office/drawing/2014/main" id="{6DCBFF32-E6E1-23DE-1749-D186187E8D3B}"/>
                </a:ext>
              </a:extLst>
            </p:cNvPr>
            <p:cNvSpPr/>
            <p:nvPr/>
          </p:nvSpPr>
          <p:spPr>
            <a:xfrm>
              <a:off x="5138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5" name="Rectangle 54">
              <a:extLst>
                <a:ext uri="{FF2B5EF4-FFF2-40B4-BE49-F238E27FC236}">
                  <a16:creationId xmlns:a16="http://schemas.microsoft.com/office/drawing/2014/main" id="{330818D5-1AC3-12B2-BBBE-0FC00ADF755D}"/>
                </a:ext>
              </a:extLst>
            </p:cNvPr>
            <p:cNvSpPr/>
            <p:nvPr/>
          </p:nvSpPr>
          <p:spPr>
            <a:xfrm>
              <a:off x="5519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6" name="Rectangle 55">
              <a:extLst>
                <a:ext uri="{FF2B5EF4-FFF2-40B4-BE49-F238E27FC236}">
                  <a16:creationId xmlns:a16="http://schemas.microsoft.com/office/drawing/2014/main" id="{97126080-7EA2-8DEC-2EF7-686C0EEBD4C4}"/>
                </a:ext>
              </a:extLst>
            </p:cNvPr>
            <p:cNvSpPr/>
            <p:nvPr/>
          </p:nvSpPr>
          <p:spPr>
            <a:xfrm>
              <a:off x="5900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57" name="Rectangle 56">
              <a:extLst>
                <a:ext uri="{FF2B5EF4-FFF2-40B4-BE49-F238E27FC236}">
                  <a16:creationId xmlns:a16="http://schemas.microsoft.com/office/drawing/2014/main" id="{AEA4483D-3D15-9D38-0587-882779D8E507}"/>
                </a:ext>
              </a:extLst>
            </p:cNvPr>
            <p:cNvSpPr/>
            <p:nvPr/>
          </p:nvSpPr>
          <p:spPr>
            <a:xfrm>
              <a:off x="5519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8" name="Rectangle 57">
              <a:extLst>
                <a:ext uri="{FF2B5EF4-FFF2-40B4-BE49-F238E27FC236}">
                  <a16:creationId xmlns:a16="http://schemas.microsoft.com/office/drawing/2014/main" id="{84161FC5-3F75-246A-88F7-52C64A2E0528}"/>
                </a:ext>
              </a:extLst>
            </p:cNvPr>
            <p:cNvSpPr/>
            <p:nvPr/>
          </p:nvSpPr>
          <p:spPr>
            <a:xfrm>
              <a:off x="5900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59" name="Rectangle 58">
              <a:extLst>
                <a:ext uri="{FF2B5EF4-FFF2-40B4-BE49-F238E27FC236}">
                  <a16:creationId xmlns:a16="http://schemas.microsoft.com/office/drawing/2014/main" id="{F1EAC736-6456-0CE3-6AEF-2B8E3DA5A09B}"/>
                </a:ext>
              </a:extLst>
            </p:cNvPr>
            <p:cNvSpPr/>
            <p:nvPr/>
          </p:nvSpPr>
          <p:spPr>
            <a:xfrm>
              <a:off x="6281737" y="3614737"/>
              <a:ext cx="381000" cy="381000"/>
            </a:xfrm>
            <a:prstGeom prst="rect">
              <a:avLst/>
            </a:prstGeom>
            <a:solidFill>
              <a:srgbClr val="CCCCCC"/>
            </a:solidFill>
            <a:ln w="9525" cap="flat">
              <a:solidFill>
                <a:srgbClr val="000000"/>
              </a:solidFill>
              <a:prstDash val="solid"/>
              <a:miter/>
            </a:ln>
          </p:spPr>
          <p:txBody>
            <a:bodyPr/>
            <a:lstStyle/>
            <a:p>
              <a:endParaRPr lang="en-US" noProof="0" dirty="0"/>
            </a:p>
          </p:txBody>
        </p:sp>
        <p:sp>
          <p:nvSpPr>
            <p:cNvPr id="60" name="Rectangle 59">
              <a:extLst>
                <a:ext uri="{FF2B5EF4-FFF2-40B4-BE49-F238E27FC236}">
                  <a16:creationId xmlns:a16="http://schemas.microsoft.com/office/drawing/2014/main" id="{EDAC7F04-1BD8-0A14-9AAA-0A3104224F6F}"/>
                </a:ext>
              </a:extLst>
            </p:cNvPr>
            <p:cNvSpPr/>
            <p:nvPr/>
          </p:nvSpPr>
          <p:spPr>
            <a:xfrm>
              <a:off x="6662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1" name="Rectangle 60">
              <a:extLst>
                <a:ext uri="{FF2B5EF4-FFF2-40B4-BE49-F238E27FC236}">
                  <a16:creationId xmlns:a16="http://schemas.microsoft.com/office/drawing/2014/main" id="{D87ED04B-9027-FAA2-A1B8-ED3C9DE2B44B}"/>
                </a:ext>
              </a:extLst>
            </p:cNvPr>
            <p:cNvSpPr/>
            <p:nvPr/>
          </p:nvSpPr>
          <p:spPr>
            <a:xfrm>
              <a:off x="6281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2" name="Rectangle 61">
              <a:extLst>
                <a:ext uri="{FF2B5EF4-FFF2-40B4-BE49-F238E27FC236}">
                  <a16:creationId xmlns:a16="http://schemas.microsoft.com/office/drawing/2014/main" id="{F097E7EE-FDEB-0281-CE11-213C25A9584A}"/>
                </a:ext>
              </a:extLst>
            </p:cNvPr>
            <p:cNvSpPr/>
            <p:nvPr/>
          </p:nvSpPr>
          <p:spPr>
            <a:xfrm>
              <a:off x="6662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3" name="Rectangle 62">
              <a:extLst>
                <a:ext uri="{FF2B5EF4-FFF2-40B4-BE49-F238E27FC236}">
                  <a16:creationId xmlns:a16="http://schemas.microsoft.com/office/drawing/2014/main" id="{A2B744D5-0A39-8D5B-2C2B-1934A69835CE}"/>
                </a:ext>
              </a:extLst>
            </p:cNvPr>
            <p:cNvSpPr/>
            <p:nvPr/>
          </p:nvSpPr>
          <p:spPr>
            <a:xfrm>
              <a:off x="7043737" y="3614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4" name="Rectangle 63">
              <a:extLst>
                <a:ext uri="{FF2B5EF4-FFF2-40B4-BE49-F238E27FC236}">
                  <a16:creationId xmlns:a16="http://schemas.microsoft.com/office/drawing/2014/main" id="{9DDD8BDB-2928-13A7-DA72-4276F995358C}"/>
                </a:ext>
              </a:extLst>
            </p:cNvPr>
            <p:cNvSpPr/>
            <p:nvPr/>
          </p:nvSpPr>
          <p:spPr>
            <a:xfrm>
              <a:off x="7043737" y="3995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5" name="Rectangle 64">
              <a:extLst>
                <a:ext uri="{FF2B5EF4-FFF2-40B4-BE49-F238E27FC236}">
                  <a16:creationId xmlns:a16="http://schemas.microsoft.com/office/drawing/2014/main" id="{96130875-0B1F-A0F1-5C8A-0B597CFA38EF}"/>
                </a:ext>
              </a:extLst>
            </p:cNvPr>
            <p:cNvSpPr/>
            <p:nvPr/>
          </p:nvSpPr>
          <p:spPr>
            <a:xfrm>
              <a:off x="4757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6" name="Rectangle 65">
              <a:extLst>
                <a:ext uri="{FF2B5EF4-FFF2-40B4-BE49-F238E27FC236}">
                  <a16:creationId xmlns:a16="http://schemas.microsoft.com/office/drawing/2014/main" id="{95A17DD4-7EEC-6816-B3AE-965CDD860873}"/>
                </a:ext>
              </a:extLst>
            </p:cNvPr>
            <p:cNvSpPr/>
            <p:nvPr/>
          </p:nvSpPr>
          <p:spPr>
            <a:xfrm>
              <a:off x="5138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7" name="Rectangle 66">
              <a:extLst>
                <a:ext uri="{FF2B5EF4-FFF2-40B4-BE49-F238E27FC236}">
                  <a16:creationId xmlns:a16="http://schemas.microsoft.com/office/drawing/2014/main" id="{9C9136F6-0E96-BCA6-AE37-27E0C1711017}"/>
                </a:ext>
              </a:extLst>
            </p:cNvPr>
            <p:cNvSpPr/>
            <p:nvPr/>
          </p:nvSpPr>
          <p:spPr>
            <a:xfrm>
              <a:off x="5519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8" name="Rectangle 67">
              <a:extLst>
                <a:ext uri="{FF2B5EF4-FFF2-40B4-BE49-F238E27FC236}">
                  <a16:creationId xmlns:a16="http://schemas.microsoft.com/office/drawing/2014/main" id="{8BA9E4EA-B9A7-45EA-6627-6E577E5ABF85}"/>
                </a:ext>
              </a:extLst>
            </p:cNvPr>
            <p:cNvSpPr/>
            <p:nvPr/>
          </p:nvSpPr>
          <p:spPr>
            <a:xfrm>
              <a:off x="5900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69" name="Rectangle 68">
              <a:extLst>
                <a:ext uri="{FF2B5EF4-FFF2-40B4-BE49-F238E27FC236}">
                  <a16:creationId xmlns:a16="http://schemas.microsoft.com/office/drawing/2014/main" id="{3575F222-3D19-8E86-D9EF-648AA78DAFF2}"/>
                </a:ext>
              </a:extLst>
            </p:cNvPr>
            <p:cNvSpPr/>
            <p:nvPr/>
          </p:nvSpPr>
          <p:spPr>
            <a:xfrm>
              <a:off x="6281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0" name="Rectangle 69">
              <a:extLst>
                <a:ext uri="{FF2B5EF4-FFF2-40B4-BE49-F238E27FC236}">
                  <a16:creationId xmlns:a16="http://schemas.microsoft.com/office/drawing/2014/main" id="{0B7B1F17-8648-71C3-9A16-DD3FD0A826A4}"/>
                </a:ext>
              </a:extLst>
            </p:cNvPr>
            <p:cNvSpPr/>
            <p:nvPr/>
          </p:nvSpPr>
          <p:spPr>
            <a:xfrm>
              <a:off x="6662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sp>
          <p:nvSpPr>
            <p:cNvPr id="71" name="Rectangle 70">
              <a:extLst>
                <a:ext uri="{FF2B5EF4-FFF2-40B4-BE49-F238E27FC236}">
                  <a16:creationId xmlns:a16="http://schemas.microsoft.com/office/drawing/2014/main" id="{B0A66F5A-941C-CD39-1FB9-F29D909642CB}"/>
                </a:ext>
              </a:extLst>
            </p:cNvPr>
            <p:cNvSpPr/>
            <p:nvPr/>
          </p:nvSpPr>
          <p:spPr>
            <a:xfrm>
              <a:off x="7043737" y="4376737"/>
              <a:ext cx="381000" cy="381000"/>
            </a:xfrm>
            <a:prstGeom prst="rect">
              <a:avLst/>
            </a:prstGeom>
            <a:solidFill>
              <a:srgbClr val="FFFFFF"/>
            </a:solidFill>
            <a:ln w="9525" cap="flat">
              <a:solidFill>
                <a:srgbClr val="000000"/>
              </a:solidFill>
              <a:prstDash val="solid"/>
              <a:miter/>
            </a:ln>
          </p:spPr>
          <p:txBody>
            <a:bodyPr/>
            <a:lstStyle/>
            <a:p>
              <a:endParaRPr lang="en-US" noProof="0" dirty="0"/>
            </a:p>
          </p:txBody>
        </p:sp>
      </p:grpSp>
      <p:cxnSp>
        <p:nvCxnSpPr>
          <p:cNvPr id="73" name="Straight Arrow Connector 72">
            <a:extLst>
              <a:ext uri="{FF2B5EF4-FFF2-40B4-BE49-F238E27FC236}">
                <a16:creationId xmlns:a16="http://schemas.microsoft.com/office/drawing/2014/main" id="{1C7BF7AF-DC09-34FF-9444-944EDC6A9794}"/>
              </a:ext>
            </a:extLst>
          </p:cNvPr>
          <p:cNvCxnSpPr/>
          <p:nvPr/>
        </p:nvCxnSpPr>
        <p:spPr>
          <a:xfrm flipH="1" flipV="1">
            <a:off x="3896801" y="3489820"/>
            <a:ext cx="1898650" cy="241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4" name="TextBox 73">
            <a:extLst>
              <a:ext uri="{FF2B5EF4-FFF2-40B4-BE49-F238E27FC236}">
                <a16:creationId xmlns:a16="http://schemas.microsoft.com/office/drawing/2014/main" id="{92165F4C-C28A-EF05-DBA3-80C928C520DD}"/>
              </a:ext>
            </a:extLst>
          </p:cNvPr>
          <p:cNvSpPr txBox="1"/>
          <p:nvPr/>
        </p:nvSpPr>
        <p:spPr>
          <a:xfrm>
            <a:off x="5763902" y="3545839"/>
            <a:ext cx="1599797" cy="400110"/>
          </a:xfrm>
          <a:prstGeom prst="rect">
            <a:avLst/>
          </a:prstGeom>
          <a:noFill/>
        </p:spPr>
        <p:txBody>
          <a:bodyPr wrap="none" rtlCol="0" anchor="ctr">
            <a:spAutoFit/>
          </a:bodyPr>
          <a:lstStyle/>
          <a:p>
            <a:r>
              <a:rPr lang="en-US" sz="2000" noProof="0" dirty="0"/>
              <a:t>Updated cell</a:t>
            </a:r>
          </a:p>
        </p:txBody>
      </p:sp>
      <p:cxnSp>
        <p:nvCxnSpPr>
          <p:cNvPr id="76" name="Straight Arrow Connector 75">
            <a:extLst>
              <a:ext uri="{FF2B5EF4-FFF2-40B4-BE49-F238E27FC236}">
                <a16:creationId xmlns:a16="http://schemas.microsoft.com/office/drawing/2014/main" id="{C124EAF2-32DC-27D9-87E5-D12E3A32FC6C}"/>
              </a:ext>
            </a:extLst>
          </p:cNvPr>
          <p:cNvCxnSpPr/>
          <p:nvPr/>
        </p:nvCxnSpPr>
        <p:spPr>
          <a:xfrm flipH="1" flipV="1">
            <a:off x="4326970" y="3915786"/>
            <a:ext cx="1258931" cy="89017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42AA0690-756B-164D-33E4-45263355827E}"/>
              </a:ext>
            </a:extLst>
          </p:cNvPr>
          <p:cNvSpPr txBox="1"/>
          <p:nvPr/>
        </p:nvSpPr>
        <p:spPr>
          <a:xfrm>
            <a:off x="5563245" y="4685147"/>
            <a:ext cx="1766830" cy="400110"/>
          </a:xfrm>
          <a:prstGeom prst="rect">
            <a:avLst/>
          </a:prstGeom>
          <a:noFill/>
        </p:spPr>
        <p:txBody>
          <a:bodyPr wrap="none" rtlCol="0">
            <a:spAutoFit/>
          </a:bodyPr>
          <a:lstStyle/>
          <a:p>
            <a:r>
              <a:rPr lang="en-US" sz="2000" noProof="0" dirty="0"/>
              <a:t>Neighborhood</a:t>
            </a:r>
          </a:p>
        </p:txBody>
      </p:sp>
      <p:grpSp>
        <p:nvGrpSpPr>
          <p:cNvPr id="16" name="Group 15">
            <a:extLst>
              <a:ext uri="{FF2B5EF4-FFF2-40B4-BE49-F238E27FC236}">
                <a16:creationId xmlns:a16="http://schemas.microsoft.com/office/drawing/2014/main" id="{5D8B1D59-EBBC-B833-68D2-16BD698052C9}"/>
              </a:ext>
            </a:extLst>
          </p:cNvPr>
          <p:cNvGrpSpPr/>
          <p:nvPr/>
        </p:nvGrpSpPr>
        <p:grpSpPr>
          <a:xfrm>
            <a:off x="3377999" y="5776906"/>
            <a:ext cx="2920332" cy="732656"/>
            <a:chOff x="3074132" y="1313599"/>
            <a:chExt cx="2920332" cy="732656"/>
          </a:xfrm>
        </p:grpSpPr>
        <p:sp>
          <p:nvSpPr>
            <p:cNvPr id="9" name="TextBox 8">
              <a:extLst>
                <a:ext uri="{FF2B5EF4-FFF2-40B4-BE49-F238E27FC236}">
                  <a16:creationId xmlns:a16="http://schemas.microsoft.com/office/drawing/2014/main" id="{9D4FD725-88BE-61BC-EA94-E5BEA6E7C2CD}"/>
                </a:ext>
              </a:extLst>
            </p:cNvPr>
            <p:cNvSpPr txBox="1"/>
            <p:nvPr/>
          </p:nvSpPr>
          <p:spPr>
            <a:xfrm>
              <a:off x="3740321" y="1563919"/>
              <a:ext cx="2254143" cy="400110"/>
            </a:xfrm>
            <a:prstGeom prst="rect">
              <a:avLst/>
            </a:prstGeom>
            <a:noFill/>
          </p:spPr>
          <p:txBody>
            <a:bodyPr wrap="none" rtlCol="0" anchor="ctr">
              <a:spAutoFit/>
            </a:bodyPr>
            <a:lstStyle/>
            <a:p>
              <a:r>
                <a:rPr lang="en-US" sz="2000" noProof="0" dirty="0"/>
                <a:t>Physics simulation</a:t>
              </a:r>
            </a:p>
          </p:txBody>
        </p:sp>
        <p:pic>
          <p:nvPicPr>
            <p:cNvPr id="15" name="Graphic 14" descr="Atom with solid fill">
              <a:extLst>
                <a:ext uri="{FF2B5EF4-FFF2-40B4-BE49-F238E27FC236}">
                  <a16:creationId xmlns:a16="http://schemas.microsoft.com/office/drawing/2014/main" id="{79E2538A-4E2F-2F10-C33E-80A662E8EBF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74132" y="1313599"/>
              <a:ext cx="732656" cy="732656"/>
            </a:xfrm>
            <a:prstGeom prst="rect">
              <a:avLst/>
            </a:prstGeom>
          </p:spPr>
        </p:pic>
      </p:gr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4147A86-CFDD-318C-A07B-EB6A53DC1D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3664" y="1794013"/>
            <a:ext cx="1944669" cy="1400162"/>
          </a:xfrm>
          <a:prstGeom prst="rect">
            <a:avLst/>
          </a:prstGeom>
          <a:ln>
            <a:solidFill>
              <a:schemeClr val="tx1"/>
            </a:solidFill>
          </a:ln>
        </p:spPr>
      </p:pic>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Discrete stencils – Cellular  automata</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084212"/>
            <a:ext cx="4974439" cy="3318028"/>
            <a:chOff x="118662" y="3398116"/>
            <a:chExt cx="4974439" cy="33180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4974439" cy="2899383"/>
            </a:xfrm>
            <a:prstGeom prst="rect">
              <a:avLst/>
            </a:prstGeom>
            <a:noFill/>
            <a:ln>
              <a:solidFill>
                <a:schemeClr val="tx1"/>
              </a:solidFill>
            </a:ln>
          </p:spPr>
          <p:txBody>
            <a:bodyPr wrap="none">
              <a:spAutoFit/>
            </a:bodyPr>
            <a:lstStyle/>
            <a:p>
              <a:pPr>
                <a:lnSpc>
                  <a:spcPct val="113095"/>
                </a:lnSpc>
                <a:buNone/>
              </a:pPr>
              <a:r>
                <a:rPr lang="en-US" noProof="0" dirty="0">
                  <a:solidFill>
                    <a:srgbClr val="AF00DB"/>
                  </a:solidFill>
                  <a:effectLst/>
                  <a:latin typeface="Fira Code" panose="020B0809050000020004" pitchFamily="49" charset="0"/>
                </a:rPr>
                <a:t>if</a:t>
              </a:r>
              <a:r>
                <a:rPr lang="en-US" noProof="0" dirty="0">
                  <a:solidFill>
                    <a:srgbClr val="000000"/>
                  </a:solidFill>
                  <a:effectLst/>
                  <a:latin typeface="Fira Code" panose="020B0809050000020004" pitchFamily="49" charset="0"/>
                </a:rPr>
                <a:t> (</a:t>
              </a:r>
              <a:r>
                <a:rPr lang="en-US" noProof="0" dirty="0">
                  <a:solidFill>
                    <a:srgbClr val="001080"/>
                  </a:solidFill>
                  <a:effectLst/>
                  <a:latin typeface="Fira Code" panose="020B0809050000020004" pitchFamily="49" charset="0"/>
                </a:rPr>
                <a:t>current</a:t>
              </a:r>
              <a:r>
                <a:rPr lang="en-US" sz="500" noProof="0" dirty="0">
                  <a:solidFill>
                    <a:srgbClr val="000000"/>
                  </a:solidFill>
                  <a:effectLst/>
                  <a:latin typeface="Fira Code" panose="020B0809050000020004" pitchFamily="49" charset="0"/>
                </a:rPr>
                <a:t> </a:t>
              </a:r>
              <a:r>
                <a:rPr lang="en-US"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noProof="0" dirty="0">
                  <a:solidFill>
                    <a:srgbClr val="000000"/>
                  </a:solidFill>
                  <a:effectLst/>
                  <a:latin typeface="Fira Code" panose="020B0809050000020004" pitchFamily="49" charset="0"/>
                </a:rPr>
                <a:t>=</a:t>
              </a:r>
              <a:r>
                <a:rPr lang="en-US" sz="500" noProof="0" dirty="0">
                  <a:solidFill>
                    <a:srgbClr val="000000"/>
                  </a:solidFill>
                  <a:effectLst/>
                  <a:latin typeface="Fira Code" panose="020B0809050000020004" pitchFamily="49" charset="0"/>
                </a:rPr>
                <a:t> </a:t>
              </a:r>
              <a:r>
                <a:rPr lang="en-US" noProof="0" dirty="0">
                  <a:solidFill>
                    <a:srgbClr val="0070C1"/>
                  </a:solidFill>
                  <a:effectLst/>
                  <a:latin typeface="Fira Code" panose="020B0809050000020004" pitchFamily="49" charset="0"/>
                </a:rPr>
                <a:t>ALIVE</a:t>
              </a:r>
              <a:r>
                <a:rPr lang="en-US"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2</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 </a:t>
              </a:r>
              <a:r>
                <a:rPr lang="en-US" b="0" noProof="0" dirty="0">
                  <a:solidFill>
                    <a:srgbClr val="000000"/>
                  </a:solidFill>
                  <a:effectLst/>
                  <a:latin typeface="Fira Code" panose="020B0809050000020004" pitchFamily="49" charset="0"/>
                </a:rPr>
                <a:t>=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else</a:t>
              </a:r>
              <a:r>
                <a:rPr lang="en-US" b="0" noProof="0" dirty="0">
                  <a:solidFill>
                    <a:srgbClr val="000000"/>
                  </a:solidFill>
                  <a:effectLst/>
                  <a:latin typeface="Fira Code" panose="020B0809050000020004" pitchFamily="49" charset="0"/>
                </a:rPr>
                <a:t> </a:t>
              </a:r>
              <a:r>
                <a:rPr lang="en-US" b="0" noProof="0" dirty="0">
                  <a:solidFill>
                    <a:srgbClr val="AF00DB"/>
                  </a:solidFill>
                  <a:effectLst/>
                  <a:latin typeface="Fira Code" panose="020B0809050000020004" pitchFamily="49" charset="0"/>
                </a:rPr>
                <a:t>if</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neighbors</a:t>
              </a:r>
              <a:r>
                <a:rPr lang="en-US" sz="5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sz="100" baseline="-25000" noProof="0" dirty="0">
                  <a:latin typeface="Fira Code" panose="020B0809050000020004" pitchFamily="49" charset="0"/>
                  <a:ea typeface="Fira Code" panose="020B0809050000020004" pitchFamily="49" charset="0"/>
                  <a:cs typeface="Fira Code" panose="020B0809050000020004" pitchFamily="49" charset="0"/>
                </a:rPr>
                <a:t> </a:t>
              </a:r>
              <a:r>
                <a:rPr lang="en-US" b="0" noProof="0" dirty="0">
                  <a:solidFill>
                    <a:srgbClr val="000000"/>
                  </a:solidFill>
                  <a:effectLst/>
                  <a:latin typeface="Fira Code" panose="020B0809050000020004" pitchFamily="49" charset="0"/>
                </a:rPr>
                <a:t>=</a:t>
              </a:r>
              <a:r>
                <a:rPr lang="en-US" sz="500" b="0" noProof="0" dirty="0">
                  <a:solidFill>
                    <a:srgbClr val="000000"/>
                  </a:solidFill>
                  <a:effectLst/>
                  <a:latin typeface="Fira Code" panose="020B0809050000020004" pitchFamily="49" charset="0"/>
                </a:rPr>
                <a:t> </a:t>
              </a:r>
              <a:r>
                <a:rPr lang="en-US" b="0" noProof="0" dirty="0">
                  <a:solidFill>
                    <a:srgbClr val="098658"/>
                  </a:solidFill>
                  <a:effectLst/>
                  <a:latin typeface="Fira Code" panose="020B0809050000020004" pitchFamily="49" charset="0"/>
                </a:rPr>
                <a:t>3</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AF00DB"/>
                  </a:solidFill>
                  <a:effectLst/>
                  <a:latin typeface="Fira Code" panose="020B0809050000020004" pitchFamily="49" charset="0"/>
                </a:rPr>
                <a:t>else</a:t>
              </a:r>
              <a:endParaRPr lang="en-US" b="0" noProof="0" dirty="0">
                <a:solidFill>
                  <a:srgbClr val="000000"/>
                </a:solidFill>
                <a:effectLst/>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next</a:t>
              </a:r>
              <a:r>
                <a:rPr lang="en-US" b="0" noProof="0" dirty="0">
                  <a:solidFill>
                    <a:srgbClr val="000000"/>
                  </a:solidFill>
                  <a:effectLst/>
                  <a:latin typeface="Fira Code" panose="020B0809050000020004" pitchFamily="49" charset="0"/>
                </a:rPr>
                <a:t> = </a:t>
              </a:r>
              <a:r>
                <a:rPr lang="en-US" b="0" noProof="0" dirty="0">
                  <a:solidFill>
                    <a:srgbClr val="0070C1"/>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781622" y="3398116"/>
              <a:ext cx="3899657" cy="461665"/>
            </a:xfrm>
            <a:prstGeom prst="rect">
              <a:avLst/>
            </a:prstGeom>
            <a:noFill/>
          </p:spPr>
          <p:txBody>
            <a:bodyPr wrap="none" rtlCol="0" anchor="b">
              <a:spAutoFit/>
            </a:bodyPr>
            <a:lstStyle/>
            <a:p>
              <a:pPr algn="ctr"/>
              <a:r>
                <a:rPr lang="en-US" sz="2400" noProof="0" dirty="0"/>
                <a:t>Update rule for Game of Life</a:t>
              </a:r>
            </a:p>
          </p:txBody>
        </p:sp>
      </p:grpSp>
      <p:grpSp>
        <p:nvGrpSpPr>
          <p:cNvPr id="12" name="Group 11">
            <a:extLst>
              <a:ext uri="{FF2B5EF4-FFF2-40B4-BE49-F238E27FC236}">
                <a16:creationId xmlns:a16="http://schemas.microsoft.com/office/drawing/2014/main" id="{0E365D69-516D-0808-8085-F8A462F03D96}"/>
              </a:ext>
            </a:extLst>
          </p:cNvPr>
          <p:cNvGrpSpPr/>
          <p:nvPr/>
        </p:nvGrpSpPr>
        <p:grpSpPr>
          <a:xfrm>
            <a:off x="5426127" y="3607154"/>
            <a:ext cx="6706530" cy="2225552"/>
            <a:chOff x="5703901" y="3724517"/>
            <a:chExt cx="6369437" cy="2225552"/>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819857"/>
            </a:xfrm>
            <a:prstGeom prst="rect">
              <a:avLst/>
            </a:prstGeom>
            <a:noFill/>
            <a:ln>
              <a:solidFill>
                <a:schemeClr val="tx1"/>
              </a:solidFill>
            </a:ln>
          </p:spPr>
          <p:txBody>
            <a:bodyPr wrap="none">
              <a:spAutoFit/>
            </a:bodyPr>
            <a:lstStyle/>
            <a:p>
              <a:pPr>
                <a:lnSpc>
                  <a:spcPct val="113095"/>
                </a:lnSpc>
                <a:buNone/>
              </a:pP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err="1">
                  <a:solidFill>
                    <a:srgbClr val="001080"/>
                  </a:solidFill>
                  <a:latin typeface="Fira Code" panose="020B0809050000020004" pitchFamily="49" charset="0"/>
                  <a:ea typeface="Fira Code" panose="020B0809050000020004" pitchFamily="49" charset="0"/>
                  <a:cs typeface="Fira Code" panose="020B0809050000020004" pitchFamily="49" charset="0"/>
                </a:rPr>
                <a:t>is_alive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has3_or_2</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endParaRPr lang="en-US" sz="2000" noProof="0" dirty="0">
                <a:solidFill>
                  <a:srgbClr val="000000"/>
                </a:solidFill>
                <a:latin typeface="Fira Code" panose="020B0809050000020004" pitchFamily="49" charset="0"/>
                <a:ea typeface="Fira Code" panose="020B0809050000020004" pitchFamily="49" charset="0"/>
                <a:cs typeface="Fira Code" panose="020B0809050000020004" pitchFamily="49" charset="0"/>
              </a:endParaRP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  </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if_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noProof="0" dirty="0">
                  <a:solidFill>
                    <a:srgbClr val="001080"/>
                  </a:solidFill>
                  <a:latin typeface="Fira Code" panose="020B0809050000020004" pitchFamily="49" charset="0"/>
                  <a:ea typeface="Fira Code" panose="020B0809050000020004" pitchFamily="49" charset="0"/>
                  <a:cs typeface="Fira Code" panose="020B0809050000020004" pitchFamily="49" charset="0"/>
                </a:rPr>
                <a:t>has3</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b="0" noProof="0" dirty="0">
                  <a:effectLst/>
                  <a:latin typeface="Fira Code" panose="020B0809050000020004" pitchFamily="49" charset="0"/>
                  <a:ea typeface="Fira Code" panose="020B0809050000020004" pitchFamily="49" charset="0"/>
                  <a:cs typeface="Fira Code" panose="020B0809050000020004" pitchFamily="49" charset="0"/>
                </a:rPr>
                <a:t>then_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alive</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r>
                <a:rPr lang="en-US"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a:t>
              </a:r>
              <a:r>
                <a:rPr lang="en-US" sz="2000" noProof="0" dirty="0">
                  <a:solidFill>
                    <a:srgbClr val="AF00DB"/>
                  </a:solidFill>
                  <a:latin typeface="Fira Code" panose="020B0809050000020004" pitchFamily="49" charset="0"/>
                  <a:ea typeface="Fira Code" panose="020B0809050000020004" pitchFamily="49" charset="0"/>
                  <a:cs typeface="Fira Code" panose="020B0809050000020004" pitchFamily="49" charset="0"/>
                </a:rPr>
                <a:t>else_</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&lt;</a:t>
              </a:r>
              <a:r>
                <a:rPr lang="en-US" sz="2000" b="0" noProof="0" dirty="0">
                  <a:solidFill>
                    <a:srgbClr val="267F99"/>
                  </a:solidFill>
                  <a:effectLst/>
                  <a:latin typeface="Fira Code" panose="020B0809050000020004" pitchFamily="49" charset="0"/>
                  <a:ea typeface="Fira Code" panose="020B0809050000020004" pitchFamily="49" charset="0"/>
                  <a:cs typeface="Fira Code" panose="020B0809050000020004" pitchFamily="49" charset="0"/>
                </a:rPr>
                <a:t>dead</a:t>
              </a: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a:p>
              <a:pPr>
                <a:lnSpc>
                  <a:spcPct val="113095"/>
                </a:lnSpc>
                <a:buNone/>
              </a:pPr>
              <a:r>
                <a:rPr lang="en-US" sz="2000" b="0" noProof="0" dirty="0">
                  <a:solidFill>
                    <a:srgbClr val="000000"/>
                  </a:solidFill>
                  <a:effectLst/>
                  <a:latin typeface="Fira Code" panose="020B0809050000020004" pitchFamily="49" charset="0"/>
                  <a:ea typeface="Fira Code" panose="020B0809050000020004" pitchFamily="49" charset="0"/>
                  <a:cs typeface="Fira Code" panose="020B0809050000020004" pitchFamily="49" charset="0"/>
                </a:rPr>
                <a:t>&gt;;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6891475" y="3724517"/>
              <a:ext cx="4579776" cy="461665"/>
            </a:xfrm>
            <a:prstGeom prst="rect">
              <a:avLst/>
            </a:prstGeom>
            <a:noFill/>
          </p:spPr>
          <p:txBody>
            <a:bodyPr wrap="none" rtlCol="0" anchor="b">
              <a:spAutoFit/>
            </a:bodyPr>
            <a:lstStyle/>
            <a:p>
              <a:pPr algn="ctr"/>
              <a:r>
                <a:rPr lang="en-US" sz="2400" noProof="0" dirty="0">
                  <a:ea typeface="Fira Code" panose="020B0809050000020004" pitchFamily="49" charset="0"/>
                  <a:cs typeface="Fira Code" panose="020B0809050000020004" pitchFamily="49" charset="0"/>
                </a:rPr>
                <a:t>Type-level expression (Cellato DSL)</a:t>
              </a:r>
            </a:p>
          </p:txBody>
        </p:sp>
      </p:grpSp>
      <p:sp>
        <p:nvSpPr>
          <p:cNvPr id="10" name="TextBox 9">
            <a:extLst>
              <a:ext uri="{FF2B5EF4-FFF2-40B4-BE49-F238E27FC236}">
                <a16:creationId xmlns:a16="http://schemas.microsoft.com/office/drawing/2014/main" id="{F87652A6-37F0-2CC7-1FD2-E46D9878EE9E}"/>
              </a:ext>
            </a:extLst>
          </p:cNvPr>
          <p:cNvSpPr txBox="1"/>
          <p:nvPr/>
        </p:nvSpPr>
        <p:spPr>
          <a:xfrm>
            <a:off x="4270819" y="1270770"/>
            <a:ext cx="3650359" cy="523220"/>
          </a:xfrm>
          <a:prstGeom prst="rect">
            <a:avLst/>
          </a:prstGeom>
          <a:noFill/>
        </p:spPr>
        <p:txBody>
          <a:bodyPr wrap="none" rtlCol="0" anchor="b">
            <a:spAutoFit/>
          </a:bodyPr>
          <a:lstStyle/>
          <a:p>
            <a:pPr algn="ctr"/>
            <a:r>
              <a:rPr lang="en-US" sz="2800" noProof="0" dirty="0"/>
              <a:t>Example: Game of Life</a:t>
            </a:r>
          </a:p>
        </p:txBody>
      </p:sp>
      <p:sp>
        <p:nvSpPr>
          <p:cNvPr id="7" name="TextBox 6">
            <a:extLst>
              <a:ext uri="{FF2B5EF4-FFF2-40B4-BE49-F238E27FC236}">
                <a16:creationId xmlns:a16="http://schemas.microsoft.com/office/drawing/2014/main" id="{558B0A78-F5BD-55EF-1087-A92815BCA5A1}"/>
              </a:ext>
            </a:extLst>
          </p:cNvPr>
          <p:cNvSpPr txBox="1"/>
          <p:nvPr/>
        </p:nvSpPr>
        <p:spPr>
          <a:xfrm>
            <a:off x="7068333" y="2078595"/>
            <a:ext cx="2994602" cy="830997"/>
          </a:xfrm>
          <a:prstGeom prst="rect">
            <a:avLst/>
          </a:prstGeom>
          <a:noFill/>
        </p:spPr>
        <p:txBody>
          <a:bodyPr wrap="none" rtlCol="0" anchor="ctr">
            <a:spAutoFit/>
          </a:bodyPr>
          <a:lstStyle/>
          <a:p>
            <a:r>
              <a:rPr lang="en-US" sz="2400" dirty="0"/>
              <a:t>Binary state</a:t>
            </a:r>
          </a:p>
          <a:p>
            <a:r>
              <a:rPr lang="en-US" sz="2400" dirty="0"/>
              <a:t>Neighbor-count rules</a:t>
            </a:r>
          </a:p>
        </p:txBody>
      </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7"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B4367950-8D7A-8F93-A9DA-64D5AC81F27E}"/>
              </a:ext>
            </a:extLst>
          </p:cNvPr>
          <p:cNvSpPr txBox="1"/>
          <p:nvPr/>
        </p:nvSpPr>
        <p:spPr>
          <a:xfrm>
            <a:off x="2787245" y="609035"/>
            <a:ext cx="6737742" cy="1819857"/>
          </a:xfrm>
          <a:prstGeom prst="rect">
            <a:avLst/>
          </a:prstGeom>
          <a:noFill/>
          <a:ln>
            <a:solidFill>
              <a:schemeClr val="tx1"/>
            </a:solidFill>
          </a:ln>
        </p:spPr>
        <p:txBody>
          <a:bodyPr wrap="none">
            <a:spAutoFit/>
          </a:bodyPr>
          <a:lstStyle/>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err="1">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is_alive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has3_or_2</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  </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if_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001080"/>
                </a:solidFill>
                <a:effectLst/>
                <a:uLnTx/>
                <a:uFillTx/>
                <a:latin typeface="Fira Code" panose="020B0809050000020004" pitchFamily="49" charset="0"/>
                <a:ea typeface="Fira Code" panose="020B0809050000020004" pitchFamily="49" charset="0"/>
                <a:cs typeface="Fira Code" panose="020B0809050000020004" pitchFamily="49" charset="0"/>
              </a:rPr>
              <a:t>has3</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prstClr val="black"/>
                </a:solidFill>
                <a:effectLst/>
                <a:uLnTx/>
                <a:uFillTx/>
                <a:latin typeface="Fira Code" panose="020B0809050000020004" pitchFamily="49" charset="0"/>
                <a:ea typeface="Fira Code" panose="020B0809050000020004" pitchFamily="49" charset="0"/>
                <a:cs typeface="Fira Code" panose="020B0809050000020004" pitchFamily="49" charset="0"/>
              </a:rPr>
              <a:t>then_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alive</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r>
              <a:rPr kumimoji="0" lang="en-US" sz="18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a:t>
            </a:r>
            <a:r>
              <a:rPr kumimoji="0" lang="en-US" sz="2000" b="0" i="0" u="none" strike="noStrike" kern="1200" cap="none" spc="0" normalizeH="0" baseline="0" noProof="0" dirty="0">
                <a:ln>
                  <a:noFill/>
                </a:ln>
                <a:solidFill>
                  <a:srgbClr val="AF00DB"/>
                </a:solidFill>
                <a:effectLst/>
                <a:uLnTx/>
                <a:uFillTx/>
                <a:latin typeface="Fira Code" panose="020B0809050000020004" pitchFamily="49" charset="0"/>
                <a:ea typeface="Fira Code" panose="020B0809050000020004" pitchFamily="49" charset="0"/>
                <a:cs typeface="Fira Code" panose="020B0809050000020004" pitchFamily="49" charset="0"/>
              </a:rPr>
              <a:t>else_</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&lt;</a:t>
            </a:r>
            <a:r>
              <a:rPr kumimoji="0" lang="en-US" sz="2000" b="0" i="0" u="none" strike="noStrike" kern="1200" cap="none" spc="0" normalizeH="0" baseline="0" noProof="0" dirty="0">
                <a:ln>
                  <a:noFill/>
                </a:ln>
                <a:solidFill>
                  <a:srgbClr val="267F99"/>
                </a:solidFill>
                <a:effectLst/>
                <a:uLnTx/>
                <a:uFillTx/>
                <a:latin typeface="Fira Code" panose="020B0809050000020004" pitchFamily="49" charset="0"/>
                <a:ea typeface="Fira Code" panose="020B0809050000020004" pitchFamily="49" charset="0"/>
                <a:cs typeface="Fira Code" panose="020B0809050000020004" pitchFamily="49" charset="0"/>
              </a:rPr>
              <a:t>dead</a:t>
            </a: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a:p>
            <a:pPr marL="0" marR="0" lvl="0" indent="0" algn="l" defTabSz="914400" rtl="0" eaLnBrk="1" fontAlgn="auto" latinLnBrk="0" hangingPunct="1">
              <a:lnSpc>
                <a:spcPct val="113095"/>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Fira Code" panose="020B0809050000020004" pitchFamily="49" charset="0"/>
                <a:ea typeface="Fira Code" panose="020B0809050000020004" pitchFamily="49" charset="0"/>
                <a:cs typeface="Fira Code" panose="020B0809050000020004" pitchFamily="49" charset="0"/>
              </a:rPr>
              <a:t>&gt;;</a:t>
            </a:r>
          </a:p>
        </p:txBody>
      </p:sp>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047003" y="2824126"/>
            <a:ext cx="10286254" cy="3636772"/>
          </a:xfrm>
          <a:prstGeom prst="rect">
            <a:avLst/>
          </a:prstGeom>
          <a:ln>
            <a:solidFill>
              <a:schemeClr val="tx1"/>
            </a:solidFill>
          </a:ln>
        </p:spPr>
      </p:pic>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8647386" y="2428892"/>
            <a:ext cx="930166" cy="9449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3680915" y="166269"/>
            <a:ext cx="4830168" cy="461665"/>
          </a:xfrm>
          <a:prstGeom prst="rect">
            <a:avLst/>
          </a:prstGeom>
          <a:noFill/>
        </p:spPr>
        <p:txBody>
          <a:bodyPr wrap="none" rtlCol="0">
            <a:spAutoFit/>
          </a:bodyPr>
          <a:lstStyle/>
          <a:p>
            <a:pPr algn="ctr"/>
            <a:r>
              <a:rPr lang="en-US" sz="2400" noProof="0" dirty="0"/>
              <a:t>Type-level expression (Cellato DSL)</a:t>
            </a:r>
          </a:p>
        </p:txBody>
      </p:sp>
      <p:sp>
        <p:nvSpPr>
          <p:cNvPr id="11" name="TextBox 10">
            <a:extLst>
              <a:ext uri="{FF2B5EF4-FFF2-40B4-BE49-F238E27FC236}">
                <a16:creationId xmlns:a16="http://schemas.microsoft.com/office/drawing/2014/main" id="{04678AD1-9DFB-3AD1-C85E-E08FEAB31F7D}"/>
              </a:ext>
            </a:extLst>
          </p:cNvPr>
          <p:cNvSpPr txBox="1"/>
          <p:nvPr/>
        </p:nvSpPr>
        <p:spPr>
          <a:xfrm>
            <a:off x="1563128" y="4776952"/>
            <a:ext cx="2448234" cy="830997"/>
          </a:xfrm>
          <a:prstGeom prst="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nchor="ctr">
            <a:spAutoFit/>
          </a:bodyPr>
          <a:lstStyle/>
          <a:p>
            <a:pPr algn="ctr"/>
            <a:r>
              <a:rPr lang="en-US" sz="2400" noProof="0" dirty="0"/>
              <a:t>Already prepared</a:t>
            </a:r>
            <a:br>
              <a:rPr lang="en-US" sz="2400" noProof="0" dirty="0"/>
            </a:br>
            <a:r>
              <a:rPr lang="en-US" sz="2400" noProof="0" dirty="0"/>
              <a:t>in the library</a:t>
            </a:r>
          </a:p>
        </p:txBody>
      </p:sp>
      <p:cxnSp>
        <p:nvCxnSpPr>
          <p:cNvPr id="14" name="Straight Arrow Connector 13">
            <a:extLst>
              <a:ext uri="{FF2B5EF4-FFF2-40B4-BE49-F238E27FC236}">
                <a16:creationId xmlns:a16="http://schemas.microsoft.com/office/drawing/2014/main" id="{66F763AA-62BB-1A9E-B067-864136F9DBD9}"/>
              </a:ext>
            </a:extLst>
          </p:cNvPr>
          <p:cNvCxnSpPr>
            <a:stCxn id="11" idx="0"/>
          </p:cNvCxnSpPr>
          <p:nvPr/>
        </p:nvCxnSpPr>
        <p:spPr>
          <a:xfrm flipH="1" flipV="1">
            <a:off x="2388476" y="4099034"/>
            <a:ext cx="398769" cy="67791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A2EA30E8-0AB2-E770-D08E-8C4BF7B98448}"/>
              </a:ext>
            </a:extLst>
          </p:cNvPr>
          <p:cNvCxnSpPr>
            <a:stCxn id="11" idx="3"/>
          </p:cNvCxnSpPr>
          <p:nvPr/>
        </p:nvCxnSpPr>
        <p:spPr>
          <a:xfrm>
            <a:off x="4011362" y="5192451"/>
            <a:ext cx="1341031" cy="3333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0A2D40E2-56FA-1456-C944-4EAED82B478E}"/>
              </a:ext>
            </a:extLst>
          </p:cNvPr>
          <p:cNvCxnSpPr/>
          <p:nvPr/>
        </p:nvCxnSpPr>
        <p:spPr>
          <a:xfrm flipV="1">
            <a:off x="4011362" y="4035972"/>
            <a:ext cx="1199141" cy="74098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535449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0" y="1486810"/>
            <a:ext cx="12192000" cy="4511038"/>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1493490" y="5997848"/>
            <a:ext cx="9205020" cy="430887"/>
          </a:xfrm>
          <a:prstGeom prst="rect">
            <a:avLst/>
          </a:prstGeom>
          <a:noFill/>
        </p:spPr>
        <p:txBody>
          <a:bodyPr wrap="none" rtlCol="0">
            <a:spAutoFit/>
          </a:bodyPr>
          <a:lstStyle/>
          <a:p>
            <a:pPr algn="ctr"/>
            <a:r>
              <a:rPr lang="en-US" sz="2200" noProof="0" dirty="0"/>
              <a:t>Comparison of GPU-parallelized computation of various cellular automata</a:t>
            </a:r>
            <a:endParaRPr lang="en-US" sz="2200" i="1" noProof="0" dirty="0"/>
          </a:p>
        </p:txBody>
      </p:sp>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68984CF-F135-422A-BC96-9BDB08D720D4}"/>
              </a:ext>
            </a:extLst>
          </p:cNvPr>
          <p:cNvPicPr>
            <a:picLocks noChangeAspect="1"/>
          </p:cNvPicPr>
          <p:nvPr/>
        </p:nvPicPr>
        <p:blipFill>
          <a:blip r:embed="rId3"/>
          <a:srcRect l="12883" t="17084" r="11844" b="16205"/>
          <a:stretch>
            <a:fillRect/>
          </a:stretch>
        </p:blipFill>
        <p:spPr>
          <a:xfrm>
            <a:off x="5740045" y="4200417"/>
            <a:ext cx="1507332" cy="1335881"/>
          </a:xfrm>
          <a:prstGeom prst="rect">
            <a:avLst/>
          </a:prstGeom>
        </p:spPr>
      </p:pic>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noProof="0" dirty="0"/>
              <a:t> Distributed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Aptos" panose="020B0004020202020204" pitchFamily="34" charset="0"/>
              <a:buChar char="+"/>
            </a:pPr>
            <a:r>
              <a:rPr lang="en-US" noProof="0" dirty="0"/>
              <a:t> Simplicity</a:t>
            </a:r>
          </a:p>
          <a:p>
            <a:pPr lvl="1">
              <a:buFont typeface="Aptos" panose="020B0004020202020204" pitchFamily="34" charset="0"/>
              <a:buChar char="+"/>
            </a:pPr>
            <a:r>
              <a:rPr lang="en-US" noProof="0" dirty="0"/>
              <a:t> Flexibility</a:t>
            </a:r>
          </a:p>
          <a:p>
            <a:pPr lvl="1">
              <a:buFont typeface="Aptos" panose="020B0004020202020204" pitchFamily="34" charset="0"/>
              <a:buChar char="+"/>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388659" y="3805519"/>
            <a:ext cx="296553" cy="1268296"/>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cxnSp>
        <p:nvCxnSpPr>
          <p:cNvPr id="10" name="Straight Connector 9">
            <a:extLst>
              <a:ext uri="{FF2B5EF4-FFF2-40B4-BE49-F238E27FC236}">
                <a16:creationId xmlns:a16="http://schemas.microsoft.com/office/drawing/2014/main" id="{6A7A7546-AB4B-B0AA-3591-AB55403B6F68}"/>
              </a:ext>
            </a:extLst>
          </p:cNvPr>
          <p:cNvCxnSpPr>
            <a:cxnSpLocks/>
            <a:stCxn id="6" idx="1"/>
            <a:endCxn id="9" idx="1"/>
          </p:cNvCxnSpPr>
          <p:nvPr/>
        </p:nvCxnSpPr>
        <p:spPr>
          <a:xfrm>
            <a:off x="3685212" y="4439667"/>
            <a:ext cx="2054833" cy="428691"/>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6938950" y="3429000"/>
            <a:ext cx="4109740" cy="896259"/>
          </a:xfrm>
          <a:prstGeom prst="wedgeRoundRectCallout">
            <a:avLst>
              <a:gd name="adj1" fmla="val -46931"/>
              <a:gd name="adj2" fmla="val 78756"/>
              <a:gd name="adj3" fmla="val 16667"/>
            </a:avLst>
          </a:prstGeom>
          <a:gradFill>
            <a:gsLst>
              <a:gs pos="0">
                <a:srgbClr val="D7ADD0"/>
              </a:gs>
              <a:gs pos="50000">
                <a:srgbClr val="CD9FC6"/>
              </a:gs>
              <a:gs pos="100000">
                <a:srgbClr val="CE9AC5"/>
              </a:gs>
            </a:gsLst>
          </a:gra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noProof="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1417280"/>
            <a:ext cx="4423175"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Implement</a:t>
            </a:r>
            <a:br>
              <a:rPr lang="en-US" sz="3200" noProof="0" dirty="0"/>
            </a:br>
            <a:r>
              <a:rPr lang="en-US" sz="3200" noProof="0" dirty="0"/>
              <a:t>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42" idx="0"/>
          </p:cNvCxnSpPr>
          <p:nvPr/>
        </p:nvCxnSpPr>
        <p:spPr>
          <a:xfrm flipH="1">
            <a:off x="2252208" y="3141444"/>
            <a:ext cx="3" cy="710685"/>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229586" y="5440720"/>
            <a:ext cx="404524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42" idx="2"/>
            <a:endCxn id="24" idx="0"/>
          </p:cNvCxnSpPr>
          <p:nvPr/>
        </p:nvCxnSpPr>
        <p:spPr>
          <a:xfrm>
            <a:off x="2252208"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6FAD4EE1-A685-999A-4B14-45D9D5B9DB08}"/>
              </a:ext>
            </a:extLst>
          </p:cNvPr>
          <p:cNvSpPr txBox="1"/>
          <p:nvPr/>
        </p:nvSpPr>
        <p:spPr>
          <a:xfrm>
            <a:off x="4616552" y="1450268"/>
            <a:ext cx="3549984" cy="172416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 Here are</a:t>
            </a:r>
            <a:br>
              <a:rPr lang="en-US" sz="3200" noProof="0" dirty="0"/>
            </a:br>
            <a:r>
              <a:rPr lang="en-US" sz="3200" noProof="0" dirty="0"/>
              <a:t>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45" idx="0"/>
          </p:cNvCxnSpPr>
          <p:nvPr/>
        </p:nvCxnSpPr>
        <p:spPr>
          <a:xfrm>
            <a:off x="6391544" y="3174432"/>
            <a:ext cx="0" cy="67769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4768213" y="5440720"/>
            <a:ext cx="3246662"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45" idx="2"/>
            <a:endCxn id="32" idx="0"/>
          </p:cNvCxnSpPr>
          <p:nvPr/>
        </p:nvCxnSpPr>
        <p:spPr>
          <a:xfrm>
            <a:off x="6391544" y="4659373"/>
            <a:ext cx="0" cy="781347"/>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8319290" y="1515440"/>
            <a:ext cx="3615756" cy="1626004"/>
          </a:xfrm>
          <a:prstGeom prst="wedgeEllipseCallout">
            <a:avLst>
              <a:gd name="adj1" fmla="val -44456"/>
              <a:gd name="adj2" fmla="val 73252"/>
            </a:avLst>
          </a:prstGeom>
          <a:gradFill>
            <a:gsLst>
              <a:gs pos="0">
                <a:srgbClr val="AFD8F7"/>
              </a:gs>
              <a:gs pos="50000">
                <a:srgbClr val="A2CDEE"/>
              </a:gs>
              <a:gs pos="100000">
                <a:srgbClr val="8CC8F0"/>
              </a:gs>
            </a:gsLst>
          </a:gradFill>
          <a:ln/>
        </p:spPr>
        <p:style>
          <a:lnRef idx="1">
            <a:schemeClr val="accent4"/>
          </a:lnRef>
          <a:fillRef idx="2">
            <a:schemeClr val="accent4"/>
          </a:fillRef>
          <a:effectRef idx="1">
            <a:schemeClr val="accent4"/>
          </a:effectRef>
          <a:fontRef idx="minor">
            <a:schemeClr val="dk1"/>
          </a:fontRef>
        </p:style>
        <p:txBody>
          <a:bodyPr wrap="none" rtlCol="0" anchor="ctr">
            <a:noAutofit/>
          </a:bodyPr>
          <a:lstStyle/>
          <a:p>
            <a:pPr algn="ctr"/>
            <a:r>
              <a:rPr lang="en-US" sz="3200" noProof="0" dirty="0"/>
              <a:t>Follow this</a:t>
            </a:r>
            <a:br>
              <a:rPr lang="en-US" sz="3200" noProof="0" dirty="0"/>
            </a:br>
            <a:r>
              <a:rPr lang="en-US" sz="3200" noProof="0" dirty="0"/>
              <a:t>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8473761" y="5440720"/>
            <a:ext cx="3306814" cy="663927"/>
          </a:xfrm>
          <a:prstGeom prst="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nchor="ctr"/>
          <a:lstStyle/>
          <a:p>
            <a:pPr algn="ctr"/>
            <a:r>
              <a:rPr lang="en-US" sz="3200" noProof="0" dirty="0"/>
              <a:t>Efficient code?</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46" idx="0"/>
          </p:cNvCxnSpPr>
          <p:nvPr/>
        </p:nvCxnSpPr>
        <p:spPr>
          <a:xfrm>
            <a:off x="10127168" y="3141444"/>
            <a:ext cx="0" cy="70564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cxnSpLocks/>
            <a:stCxn id="46" idx="2"/>
            <a:endCxn id="61" idx="0"/>
          </p:cNvCxnSpPr>
          <p:nvPr/>
        </p:nvCxnSpPr>
        <p:spPr>
          <a:xfrm>
            <a:off x="10127168" y="4654328"/>
            <a:ext cx="0" cy="7863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017106" y="407645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091925" y="4148175"/>
            <a:ext cx="381836" cy="369332"/>
          </a:xfrm>
          <a:prstGeom prst="rect">
            <a:avLst/>
          </a:prstGeom>
          <a:noFill/>
        </p:spPr>
        <p:txBody>
          <a:bodyPr wrap="none" rtlCol="0">
            <a:spAutoFit/>
          </a:bodyPr>
          <a:lstStyle/>
          <a:p>
            <a:r>
              <a:rPr lang="en-US" noProof="0" dirty="0"/>
              <a:t>…</a:t>
            </a:r>
          </a:p>
        </p:txBody>
      </p:sp>
      <p:pic>
        <p:nvPicPr>
          <p:cNvPr id="42" name="Picture 41">
            <a:extLst>
              <a:ext uri="{FF2B5EF4-FFF2-40B4-BE49-F238E27FC236}">
                <a16:creationId xmlns:a16="http://schemas.microsoft.com/office/drawing/2014/main" id="{316BF04B-178F-112C-0FA1-1E930ED0B64B}"/>
              </a:ext>
            </a:extLst>
          </p:cNvPr>
          <p:cNvPicPr>
            <a:picLocks noChangeAspect="1"/>
          </p:cNvPicPr>
          <p:nvPr/>
        </p:nvPicPr>
        <p:blipFill>
          <a:blip r:embed="rId3"/>
          <a:srcRect l="12577" t="17864" r="12520" b="16352"/>
          <a:stretch>
            <a:fillRect/>
          </a:stretch>
        </p:blipFill>
        <p:spPr>
          <a:xfrm>
            <a:off x="1792626" y="3852129"/>
            <a:ext cx="919163" cy="807244"/>
          </a:xfrm>
          <a:prstGeom prst="rect">
            <a:avLst/>
          </a:prstGeom>
        </p:spPr>
      </p:pic>
      <p:pic>
        <p:nvPicPr>
          <p:cNvPr id="45" name="Picture 44">
            <a:extLst>
              <a:ext uri="{FF2B5EF4-FFF2-40B4-BE49-F238E27FC236}">
                <a16:creationId xmlns:a16="http://schemas.microsoft.com/office/drawing/2014/main" id="{D98B62BA-C0CE-0DD2-0B2E-7832065054EA}"/>
              </a:ext>
            </a:extLst>
          </p:cNvPr>
          <p:cNvPicPr>
            <a:picLocks noChangeAspect="1"/>
          </p:cNvPicPr>
          <p:nvPr/>
        </p:nvPicPr>
        <p:blipFill>
          <a:blip r:embed="rId3"/>
          <a:srcRect l="12577" t="17864" r="12520" b="16352"/>
          <a:stretch>
            <a:fillRect/>
          </a:stretch>
        </p:blipFill>
        <p:spPr>
          <a:xfrm>
            <a:off x="5931962" y="3852129"/>
            <a:ext cx="919163" cy="807244"/>
          </a:xfrm>
          <a:prstGeom prst="rect">
            <a:avLst/>
          </a:prstGeom>
        </p:spPr>
      </p:pic>
      <p:pic>
        <p:nvPicPr>
          <p:cNvPr id="46" name="Picture 45">
            <a:extLst>
              <a:ext uri="{FF2B5EF4-FFF2-40B4-BE49-F238E27FC236}">
                <a16:creationId xmlns:a16="http://schemas.microsoft.com/office/drawing/2014/main" id="{AC2085E0-A83D-2E90-B6F6-59D17C0E4A65}"/>
              </a:ext>
            </a:extLst>
          </p:cNvPr>
          <p:cNvPicPr>
            <a:picLocks noChangeAspect="1"/>
          </p:cNvPicPr>
          <p:nvPr/>
        </p:nvPicPr>
        <p:blipFill>
          <a:blip r:embed="rId3"/>
          <a:srcRect l="12577" t="17864" r="12520" b="16352"/>
          <a:stretch>
            <a:fillRect/>
          </a:stretch>
        </p:blipFill>
        <p:spPr>
          <a:xfrm>
            <a:off x="9667586" y="3847084"/>
            <a:ext cx="919163" cy="807244"/>
          </a:xfrm>
          <a:prstGeom prst="rect">
            <a:avLst/>
          </a:prstGeom>
        </p:spPr>
      </p:pic>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2" grpId="0" animBg="1"/>
      <p:bldP spid="47" grpId="0" animBg="1"/>
      <p:bldP spid="61" grpId="0" animBg="1"/>
      <p:bldP spid="68" grpId="0"/>
      <p:bldP spid="7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486525" y="1648814"/>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352298" y="2622246"/>
            <a:ext cx="1635384" cy="461665"/>
          </a:xfrm>
          <a:prstGeom prst="rect">
            <a:avLst/>
          </a:prstGeom>
          <a:noFill/>
        </p:spPr>
        <p:txBody>
          <a:bodyPr wrap="none" rtlCol="0">
            <a:spAutoFit/>
          </a:bodyPr>
          <a:lstStyle/>
          <a:p>
            <a:pPr algn="ctr"/>
            <a:r>
              <a:rPr lang="en-US" sz="2400" b="1" noProof="0" dirty="0"/>
              <a:t>Histogram</a:t>
            </a:r>
          </a:p>
        </p:txBody>
      </p:sp>
      <p:sp>
        <p:nvSpPr>
          <p:cNvPr id="9" name="TextBox 8">
            <a:extLst>
              <a:ext uri="{FF2B5EF4-FFF2-40B4-BE49-F238E27FC236}">
                <a16:creationId xmlns:a16="http://schemas.microsoft.com/office/drawing/2014/main" id="{A7A96B6C-4F97-6D9F-8D10-DDB95932C78B}"/>
              </a:ext>
            </a:extLst>
          </p:cNvPr>
          <p:cNvSpPr txBox="1"/>
          <p:nvPr/>
        </p:nvSpPr>
        <p:spPr>
          <a:xfrm>
            <a:off x="5896961" y="2731778"/>
            <a:ext cx="1936749" cy="461665"/>
          </a:xfrm>
          <a:prstGeom prst="rect">
            <a:avLst/>
          </a:prstGeom>
          <a:noFill/>
        </p:spPr>
        <p:txBody>
          <a:bodyPr wrap="none" rtlCol="0">
            <a:spAutoFit/>
          </a:bodyPr>
          <a:lstStyle/>
          <a:p>
            <a:pPr algn="ctr"/>
            <a:r>
              <a:rPr lang="en-US" sz="24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4"/>
          <a:stretch>
            <a:fillRect/>
          </a:stretch>
        </p:blipFill>
        <p:spPr>
          <a:xfrm>
            <a:off x="9545342" y="1659658"/>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474567" y="2668413"/>
            <a:ext cx="1622560" cy="830997"/>
          </a:xfrm>
          <a:prstGeom prst="rect">
            <a:avLst/>
          </a:prstGeom>
          <a:noFill/>
        </p:spPr>
        <p:txBody>
          <a:bodyPr wrap="none" rtlCol="0">
            <a:spAutoFit/>
          </a:bodyPr>
          <a:lstStyle/>
          <a:p>
            <a:pPr algn="ctr"/>
            <a:r>
              <a:rPr lang="en-US" sz="2400" b="1" noProof="0" dirty="0"/>
              <a:t>K-Nearest</a:t>
            </a:r>
            <a:br>
              <a:rPr lang="en-US" sz="2400" b="1" noProof="0" dirty="0"/>
            </a:br>
            <a:r>
              <a:rPr lang="en-US" sz="24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052558" y="3468770"/>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723626" y="3468770"/>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641777" y="3468770"/>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380748" y="4106371"/>
            <a:ext cx="2214068" cy="461665"/>
          </a:xfrm>
          <a:prstGeom prst="rect">
            <a:avLst/>
          </a:prstGeom>
          <a:noFill/>
        </p:spPr>
        <p:txBody>
          <a:bodyPr wrap="none" rtlCol="0" anchor="ctr">
            <a:spAutoFit/>
          </a:bodyPr>
          <a:lstStyle/>
          <a:p>
            <a:pPr algn="ctr"/>
            <a:r>
              <a:rPr lang="en-US" sz="24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2822048" y="4105182"/>
            <a:ext cx="748923" cy="584775"/>
          </a:xfrm>
          <a:prstGeom prst="rect">
            <a:avLst/>
          </a:prstGeom>
          <a:noFill/>
        </p:spPr>
        <p:txBody>
          <a:bodyPr wrap="none" rtlCol="0">
            <a:spAutoFit/>
          </a:bodyPr>
          <a:lstStyle/>
          <a:p>
            <a:pPr algn="r"/>
            <a:r>
              <a:rPr lang="en-US" sz="32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463411" y="4105182"/>
            <a:ext cx="748923" cy="584775"/>
          </a:xfrm>
          <a:prstGeom prst="rect">
            <a:avLst/>
          </a:prstGeom>
          <a:noFill/>
        </p:spPr>
        <p:txBody>
          <a:bodyPr wrap="none" rtlCol="0">
            <a:spAutoFit/>
          </a:bodyPr>
          <a:lstStyle/>
          <a:p>
            <a:pPr algn="r"/>
            <a:r>
              <a:rPr lang="en-US" sz="32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9880866" y="4105182"/>
            <a:ext cx="748923" cy="584775"/>
          </a:xfrm>
          <a:prstGeom prst="rect">
            <a:avLst/>
          </a:prstGeom>
          <a:noFill/>
        </p:spPr>
        <p:txBody>
          <a:bodyPr wrap="none" rtlCol="0">
            <a:spAutoFit/>
          </a:bodyPr>
          <a:lstStyle/>
          <a:p>
            <a:pPr algn="r"/>
            <a:r>
              <a:rPr lang="en-US" sz="32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24441" y="4793321"/>
            <a:ext cx="1525162" cy="461665"/>
          </a:xfrm>
          <a:prstGeom prst="rect">
            <a:avLst/>
          </a:prstGeom>
          <a:noFill/>
        </p:spPr>
        <p:txBody>
          <a:bodyPr wrap="none" rtlCol="0" anchor="ctr">
            <a:spAutoFit/>
          </a:bodyPr>
          <a:lstStyle/>
          <a:p>
            <a:pPr algn="ctr"/>
            <a:r>
              <a:rPr lang="en-US" sz="24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381318" y="4105182"/>
            <a:ext cx="748923" cy="584775"/>
          </a:xfrm>
          <a:prstGeom prst="rect">
            <a:avLst/>
          </a:prstGeom>
          <a:noFill/>
        </p:spPr>
        <p:txBody>
          <a:bodyPr wrap="none" rtlCol="0">
            <a:spAutoFit/>
          </a:bodyPr>
          <a:lstStyle/>
          <a:p>
            <a:r>
              <a:rPr lang="en-US" sz="32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6988894" y="4105182"/>
            <a:ext cx="748923" cy="584775"/>
          </a:xfrm>
          <a:prstGeom prst="rect">
            <a:avLst/>
          </a:prstGeom>
          <a:noFill/>
        </p:spPr>
        <p:txBody>
          <a:bodyPr wrap="none" rtlCol="0">
            <a:spAutoFit/>
          </a:bodyPr>
          <a:lstStyle/>
          <a:p>
            <a:r>
              <a:rPr lang="en-US" sz="32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409168" y="4105182"/>
            <a:ext cx="748923" cy="584775"/>
          </a:xfrm>
          <a:prstGeom prst="rect">
            <a:avLst/>
          </a:prstGeom>
          <a:noFill/>
        </p:spPr>
        <p:txBody>
          <a:bodyPr wrap="none" rtlCol="0">
            <a:spAutoFit/>
          </a:bodyPr>
          <a:lstStyle/>
          <a:p>
            <a:r>
              <a:rPr lang="en-US" sz="32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381318" y="4695336"/>
            <a:ext cx="748923" cy="584775"/>
          </a:xfrm>
          <a:prstGeom prst="rect">
            <a:avLst/>
          </a:prstGeom>
          <a:noFill/>
        </p:spPr>
        <p:txBody>
          <a:bodyPr wrap="none" rtlCol="0">
            <a:spAutoFit/>
          </a:bodyPr>
          <a:lstStyle/>
          <a:p>
            <a:r>
              <a:rPr lang="en-US" sz="32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2822048" y="4736228"/>
            <a:ext cx="748923" cy="584775"/>
          </a:xfrm>
          <a:prstGeom prst="rect">
            <a:avLst/>
          </a:prstGeom>
          <a:noFill/>
        </p:spPr>
        <p:txBody>
          <a:bodyPr wrap="none" rtlCol="0">
            <a:spAutoFit/>
          </a:bodyPr>
          <a:lstStyle/>
          <a:p>
            <a:pPr algn="r"/>
            <a:r>
              <a:rPr lang="en-US" sz="32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019287" y="4695336"/>
            <a:ext cx="748923" cy="584775"/>
          </a:xfrm>
          <a:prstGeom prst="rect">
            <a:avLst/>
          </a:prstGeom>
          <a:noFill/>
        </p:spPr>
        <p:txBody>
          <a:bodyPr wrap="none" rtlCol="0">
            <a:spAutoFit/>
          </a:bodyPr>
          <a:lstStyle/>
          <a:p>
            <a:r>
              <a:rPr lang="en-US" sz="32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460017" y="4736228"/>
            <a:ext cx="748923" cy="584775"/>
          </a:xfrm>
          <a:prstGeom prst="rect">
            <a:avLst/>
          </a:prstGeom>
          <a:noFill/>
        </p:spPr>
        <p:txBody>
          <a:bodyPr wrap="none" rtlCol="0">
            <a:spAutoFit/>
          </a:bodyPr>
          <a:lstStyle/>
          <a:p>
            <a:pPr algn="r"/>
            <a:r>
              <a:rPr lang="en-US" sz="32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157847" y="4731767"/>
            <a:ext cx="748923" cy="584775"/>
          </a:xfrm>
          <a:prstGeom prst="rect">
            <a:avLst/>
          </a:prstGeom>
          <a:noFill/>
        </p:spPr>
        <p:txBody>
          <a:bodyPr wrap="none" rtlCol="0">
            <a:spAutoFit/>
          </a:bodyPr>
          <a:lstStyle/>
          <a:p>
            <a:pPr algn="ctr"/>
            <a:r>
              <a:rPr lang="en-US" sz="32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315066" y="5384799"/>
            <a:ext cx="2343911" cy="461665"/>
          </a:xfrm>
          <a:prstGeom prst="rect">
            <a:avLst/>
          </a:prstGeom>
          <a:noFill/>
        </p:spPr>
        <p:txBody>
          <a:bodyPr wrap="none" rtlCol="0" anchor="ctr">
            <a:spAutoFit/>
          </a:bodyPr>
          <a:lstStyle/>
          <a:p>
            <a:pPr algn="ctr"/>
            <a:r>
              <a:rPr lang="en-US" sz="24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381318" y="5305044"/>
            <a:ext cx="748923" cy="584775"/>
          </a:xfrm>
          <a:prstGeom prst="rect">
            <a:avLst/>
          </a:prstGeom>
          <a:noFill/>
        </p:spPr>
        <p:txBody>
          <a:bodyPr wrap="none" rtlCol="0">
            <a:spAutoFit/>
          </a:bodyPr>
          <a:lstStyle/>
          <a:p>
            <a:r>
              <a:rPr lang="en-US" sz="32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2822048" y="5345936"/>
            <a:ext cx="748923" cy="584775"/>
          </a:xfrm>
          <a:prstGeom prst="rect">
            <a:avLst/>
          </a:prstGeom>
          <a:noFill/>
        </p:spPr>
        <p:txBody>
          <a:bodyPr wrap="none" rtlCol="0">
            <a:spAutoFit/>
          </a:bodyPr>
          <a:lstStyle/>
          <a:p>
            <a:pPr algn="r"/>
            <a:r>
              <a:rPr lang="en-US" sz="32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019287" y="5263718"/>
            <a:ext cx="748923" cy="584775"/>
          </a:xfrm>
          <a:prstGeom prst="rect">
            <a:avLst/>
          </a:prstGeom>
          <a:noFill/>
        </p:spPr>
        <p:txBody>
          <a:bodyPr wrap="none" rtlCol="0">
            <a:spAutoFit/>
          </a:bodyPr>
          <a:lstStyle/>
          <a:p>
            <a:r>
              <a:rPr lang="en-US" sz="32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460017" y="5304610"/>
            <a:ext cx="748923" cy="584775"/>
          </a:xfrm>
          <a:prstGeom prst="rect">
            <a:avLst/>
          </a:prstGeom>
          <a:noFill/>
        </p:spPr>
        <p:txBody>
          <a:bodyPr wrap="none" rtlCol="0">
            <a:spAutoFit/>
          </a:bodyPr>
          <a:lstStyle/>
          <a:p>
            <a:pPr algn="r"/>
            <a:r>
              <a:rPr lang="en-US" sz="32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157847" y="5304610"/>
            <a:ext cx="748923" cy="584775"/>
          </a:xfrm>
          <a:prstGeom prst="rect">
            <a:avLst/>
          </a:prstGeom>
          <a:noFill/>
        </p:spPr>
        <p:txBody>
          <a:bodyPr wrap="none" rtlCol="0">
            <a:spAutoFit/>
          </a:bodyPr>
          <a:lstStyle/>
          <a:p>
            <a:pPr algn="ctr"/>
            <a:r>
              <a:rPr lang="en-US" sz="3200" noProof="0" dirty="0"/>
              <a:t>❌</a:t>
            </a:r>
          </a:p>
        </p:txBody>
      </p:sp>
      <p:pic>
        <p:nvPicPr>
          <p:cNvPr id="10" name="Picture 9">
            <a:extLst>
              <a:ext uri="{FF2B5EF4-FFF2-40B4-BE49-F238E27FC236}">
                <a16:creationId xmlns:a16="http://schemas.microsoft.com/office/drawing/2014/main" id="{AE319CAF-7C0E-5364-9A49-389D32D6639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27860" y="1663124"/>
            <a:ext cx="1490558" cy="1073202"/>
          </a:xfrm>
          <a:prstGeom prst="rect">
            <a:avLst/>
          </a:prstGeom>
          <a:ln>
            <a:solidFill>
              <a:schemeClr val="tx1"/>
            </a:solidFill>
          </a:ln>
        </p:spPr>
      </p:pic>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pPr algn="ctr"/>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078136" y="1390039"/>
            <a:ext cx="1789272" cy="523220"/>
          </a:xfrm>
          <a:prstGeom prst="rect">
            <a:avLst/>
          </a:prstGeom>
          <a:noFill/>
        </p:spPr>
        <p:txBody>
          <a:bodyPr wrap="none" rtlCol="0" anchor="b">
            <a:spAutoFit/>
          </a:bodyPr>
          <a:lstStyle/>
          <a:p>
            <a:pPr algn="ctr"/>
            <a:r>
              <a:rPr lang="en-US" sz="2800"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261146" y="1971431"/>
            <a:ext cx="2135521" cy="523220"/>
          </a:xfrm>
          <a:prstGeom prst="rect">
            <a:avLst/>
          </a:prstGeom>
          <a:noFill/>
        </p:spPr>
        <p:txBody>
          <a:bodyPr wrap="none" rtlCol="0" anchor="b">
            <a:spAutoFit/>
          </a:bodyPr>
          <a:lstStyle/>
          <a:p>
            <a:pPr algn="ctr"/>
            <a:r>
              <a:rPr lang="en-US" sz="2800"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521915" y="2091797"/>
            <a:ext cx="5419726" cy="3940140"/>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350972" y="2037561"/>
            <a:ext cx="5494327" cy="3994376"/>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164017" y="1568577"/>
            <a:ext cx="2135521" cy="523220"/>
          </a:xfrm>
          <a:prstGeom prst="rect">
            <a:avLst/>
          </a:prstGeom>
          <a:noFill/>
        </p:spPr>
        <p:txBody>
          <a:bodyPr wrap="none" rtlCol="0" anchor="b">
            <a:spAutoFit/>
          </a:bodyPr>
          <a:lstStyle/>
          <a:p>
            <a:pPr algn="ctr"/>
            <a:r>
              <a:rPr lang="en-US" sz="2800"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7892464" y="1568577"/>
            <a:ext cx="3371436" cy="523220"/>
          </a:xfrm>
          <a:prstGeom prst="rect">
            <a:avLst/>
          </a:prstGeom>
          <a:noFill/>
        </p:spPr>
        <p:txBody>
          <a:bodyPr wrap="none" rtlCol="0" anchor="b">
            <a:spAutoFit/>
          </a:bodyPr>
          <a:lstStyle/>
          <a:p>
            <a:pPr algn="ctr"/>
            <a:r>
              <a:rPr lang="en-US" sz="2800"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8" name="Straight Connector 37">
            <a:extLst>
              <a:ext uri="{FF2B5EF4-FFF2-40B4-BE49-F238E27FC236}">
                <a16:creationId xmlns:a16="http://schemas.microsoft.com/office/drawing/2014/main" id="{89876299-1652-9960-0CF0-FAE18BAA3D39}"/>
              </a:ext>
            </a:extLst>
          </p:cNvPr>
          <p:cNvCxnSpPr>
            <a:cxnSpLocks/>
            <a:stCxn id="14" idx="0"/>
            <a:endCxn id="6" idx="2"/>
          </p:cNvCxnSpPr>
          <p:nvPr/>
        </p:nvCxnSpPr>
        <p:spPr>
          <a:xfrm flipV="1">
            <a:off x="1910839" y="3369312"/>
            <a:ext cx="1779679" cy="242474"/>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a:endCxn id="24" idx="0"/>
          </p:cNvCxnSpPr>
          <p:nvPr/>
        </p:nvCxnSpPr>
        <p:spPr>
          <a:xfrm>
            <a:off x="3690518" y="3369312"/>
            <a:ext cx="1143970" cy="242998"/>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stCxn id="16" idx="0"/>
            <a:endCxn id="7" idx="2"/>
          </p:cNvCxnSpPr>
          <p:nvPr/>
        </p:nvCxnSpPr>
        <p:spPr>
          <a:xfrm flipV="1">
            <a:off x="7621023" y="3291961"/>
            <a:ext cx="1261619" cy="327230"/>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stCxn id="28" idx="0"/>
            <a:endCxn id="7" idx="2"/>
          </p:cNvCxnSpPr>
          <p:nvPr/>
        </p:nvCxnSpPr>
        <p:spPr>
          <a:xfrm flipH="1" flipV="1">
            <a:off x="8882642" y="3291961"/>
            <a:ext cx="1613721" cy="323659"/>
          </a:xfrm>
          <a:prstGeom prst="line">
            <a:avLst/>
          </a:prstGeom>
          <a:ln w="28575">
            <a:solidFill>
              <a:srgbClr val="0D1717"/>
            </a:solidFill>
            <a:prstDash val="sysDot"/>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7936706" y="2251168"/>
            <a:ext cx="945936" cy="461911"/>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690518" y="2251168"/>
            <a:ext cx="851867" cy="539262"/>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6" name="TextBox 5">
            <a:extLst>
              <a:ext uri="{FF2B5EF4-FFF2-40B4-BE49-F238E27FC236}">
                <a16:creationId xmlns:a16="http://schemas.microsoft.com/office/drawing/2014/main" id="{19E4B8FB-55FB-804F-D918-87CA02061244}"/>
              </a:ext>
            </a:extLst>
          </p:cNvPr>
          <p:cNvSpPr txBox="1"/>
          <p:nvPr/>
        </p:nvSpPr>
        <p:spPr>
          <a:xfrm>
            <a:off x="2598019" y="2790430"/>
            <a:ext cx="2184998"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45540" y="2713079"/>
            <a:ext cx="1474203"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800" noProof="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2758743" y="1672286"/>
            <a:ext cx="6851556" cy="578882"/>
          </a:xfrm>
          <a:prstGeom prst="roundRect">
            <a:avLst/>
          </a:prstGeom>
          <a:gradFill>
            <a:gsLst>
              <a:gs pos="0">
                <a:srgbClr val="AFD8F7"/>
              </a:gs>
              <a:gs pos="50000">
                <a:srgbClr val="A2CDEE"/>
              </a:gs>
              <a:gs pos="100000">
                <a:srgbClr val="8CC8F0"/>
              </a:gs>
            </a:gsLst>
          </a:gradFill>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800" noProof="0" dirty="0"/>
              <a:t>Simplifying algorithm design &amp; optimization</a:t>
            </a:r>
          </a:p>
        </p:txBody>
      </p:sp>
      <p:sp>
        <p:nvSpPr>
          <p:cNvPr id="14" name="TextBox 13">
            <a:extLst>
              <a:ext uri="{FF2B5EF4-FFF2-40B4-BE49-F238E27FC236}">
                <a16:creationId xmlns:a16="http://schemas.microsoft.com/office/drawing/2014/main" id="{FBC68EF8-2BD7-3EAB-EBBD-E77F253B6551}"/>
              </a:ext>
            </a:extLst>
          </p:cNvPr>
          <p:cNvSpPr txBox="1"/>
          <p:nvPr/>
        </p:nvSpPr>
        <p:spPr>
          <a:xfrm>
            <a:off x="792196" y="3611786"/>
            <a:ext cx="2237285"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6906565" y="3619191"/>
            <a:ext cx="1428916"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256462" y="4333988"/>
            <a:ext cx="2626180"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748894" y="4331346"/>
            <a:ext cx="2323888" cy="578882"/>
          </a:xfrm>
          <a:prstGeom prst="roundRect">
            <a:avLst/>
          </a:prstGeom>
          <a:gradFill>
            <a:gsLst>
              <a:gs pos="0">
                <a:srgbClr val="B5DCAE"/>
              </a:gs>
              <a:gs pos="50000">
                <a:srgbClr val="A8D1A1"/>
              </a:gs>
              <a:gs pos="100000">
                <a:srgbClr val="97CC8C"/>
              </a:gs>
            </a:gsLst>
          </a:gradFill>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800" noProof="0" dirty="0"/>
              <a:t>Deterministic</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585124" y="3612310"/>
            <a:ext cx="2498727"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781206" y="4331346"/>
            <a:ext cx="2003622"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800" noProof="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549708" y="3615620"/>
            <a:ext cx="1893310"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81148" y="4333988"/>
            <a:ext cx="2727489" cy="578882"/>
          </a:xfrm>
          <a:prstGeom prst="roundRect">
            <a:avLst/>
          </a:prstGeom>
          <a:gradFill>
            <a:gsLst>
              <a:gs pos="0">
                <a:srgbClr val="E1A3A3"/>
              </a:gs>
              <a:gs pos="50000">
                <a:srgbClr val="D69696"/>
              </a:gs>
              <a:gs pos="100000">
                <a:srgbClr val="DC9696"/>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800" noProof="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4510" y="898475"/>
            <a:ext cx="162980" cy="8496300"/>
          </a:xfrm>
          <a:prstGeom prst="rightBrace">
            <a:avLst/>
          </a:prstGeom>
          <a:ln w="19050">
            <a:solidFill>
              <a:srgbClr val="0D1717"/>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36" name="TextBox 35">
            <a:extLst>
              <a:ext uri="{FF2B5EF4-FFF2-40B4-BE49-F238E27FC236}">
                <a16:creationId xmlns:a16="http://schemas.microsoft.com/office/drawing/2014/main" id="{2389E2B3-4BCB-989F-B436-E7DF27AF788B}"/>
              </a:ext>
            </a:extLst>
          </p:cNvPr>
          <p:cNvSpPr txBox="1"/>
          <p:nvPr/>
        </p:nvSpPr>
        <p:spPr>
          <a:xfrm>
            <a:off x="3673702" y="5222758"/>
            <a:ext cx="4844596" cy="954107"/>
          </a:xfrm>
          <a:prstGeom prst="rect">
            <a:avLst/>
          </a:prstGeom>
          <a:noFill/>
        </p:spPr>
        <p:txBody>
          <a:bodyPr wrap="none" rtlCol="0">
            <a:spAutoFit/>
          </a:bodyPr>
          <a:lstStyle/>
          <a:p>
            <a:pPr algn="ctr"/>
            <a:r>
              <a:rPr lang="en-US" sz="2800" noProof="0" dirty="0"/>
              <a:t>Would abstractions help LLMs</a:t>
            </a:r>
            <a:br>
              <a:rPr lang="en-US" sz="2800" noProof="0" dirty="0"/>
            </a:br>
            <a:r>
              <a:rPr lang="en-US" sz="2800" noProof="0" dirty="0"/>
              <a:t>generate better code?</a:t>
            </a:r>
          </a:p>
        </p:txBody>
      </p: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147523" y="2205523"/>
            <a:ext cx="11896954" cy="3659422"/>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cxnSp>
        <p:nvCxnSpPr>
          <p:cNvPr id="13" name="Straight Arrow Connector 12">
            <a:extLst>
              <a:ext uri="{FF2B5EF4-FFF2-40B4-BE49-F238E27FC236}">
                <a16:creationId xmlns:a16="http://schemas.microsoft.com/office/drawing/2014/main" id="{0AC0D334-1CA1-478B-E2DF-FDBB97BA6ED4}"/>
              </a:ext>
            </a:extLst>
          </p:cNvPr>
          <p:cNvCxnSpPr>
            <a:cxnSpLocks/>
            <a:stCxn id="7" idx="2"/>
          </p:cNvCxnSpPr>
          <p:nvPr/>
        </p:nvCxnSpPr>
        <p:spPr>
          <a:xfrm>
            <a:off x="2585951" y="2006531"/>
            <a:ext cx="0" cy="992163"/>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92B3DD40-0E3D-BE7E-C1A9-7FE95248193E}"/>
              </a:ext>
            </a:extLst>
          </p:cNvPr>
          <p:cNvCxnSpPr>
            <a:cxnSpLocks/>
            <a:stCxn id="11" idx="2"/>
          </p:cNvCxnSpPr>
          <p:nvPr/>
        </p:nvCxnSpPr>
        <p:spPr>
          <a:xfrm>
            <a:off x="8499278" y="1928644"/>
            <a:ext cx="0" cy="1461390"/>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BDA1AECA-B818-9D85-2746-62B9AE88EC04}"/>
              </a:ext>
            </a:extLst>
          </p:cNvPr>
          <p:cNvSpPr txBox="1"/>
          <p:nvPr/>
        </p:nvSpPr>
        <p:spPr>
          <a:xfrm>
            <a:off x="81118" y="1928644"/>
            <a:ext cx="1905330" cy="461665"/>
          </a:xfrm>
          <a:prstGeom prst="rect">
            <a:avLst/>
          </a:prstGeom>
          <a:noFill/>
        </p:spPr>
        <p:txBody>
          <a:bodyPr wrap="none" rtlCol="0" anchor="b">
            <a:spAutoFit/>
          </a:bodyPr>
          <a:lstStyle/>
          <a:p>
            <a:pPr algn="ctr"/>
            <a:r>
              <a:rPr lang="en-US" sz="2400" dirty="0" err="1"/>
              <a:t>PolyBench</a:t>
            </a:r>
            <a:r>
              <a:rPr lang="en-US" sz="2400" dirty="0"/>
              <a:t>/C</a:t>
            </a:r>
          </a:p>
        </p:txBody>
      </p:sp>
      <p:pic>
        <p:nvPicPr>
          <p:cNvPr id="7" name="Picture 6">
            <a:extLst>
              <a:ext uri="{FF2B5EF4-FFF2-40B4-BE49-F238E27FC236}">
                <a16:creationId xmlns:a16="http://schemas.microsoft.com/office/drawing/2014/main" id="{B2DD5B8E-4E3D-5FCE-6E08-4D6F0F157642}"/>
              </a:ext>
            </a:extLst>
          </p:cNvPr>
          <p:cNvPicPr>
            <a:picLocks noChangeAspect="1"/>
          </p:cNvPicPr>
          <p:nvPr/>
        </p:nvPicPr>
        <p:blipFill>
          <a:blip r:embed="rId4"/>
          <a:srcRect l="12577" t="17864" r="12520" b="16352"/>
          <a:stretch>
            <a:fillRect/>
          </a:stretch>
        </p:blipFill>
        <p:spPr>
          <a:xfrm>
            <a:off x="2252997" y="1421705"/>
            <a:ext cx="665908" cy="584826"/>
          </a:xfrm>
          <a:prstGeom prst="rect">
            <a:avLst/>
          </a:prstGeom>
        </p:spPr>
      </p:pic>
      <p:pic>
        <p:nvPicPr>
          <p:cNvPr id="11" name="Picture 10">
            <a:extLst>
              <a:ext uri="{FF2B5EF4-FFF2-40B4-BE49-F238E27FC236}">
                <a16:creationId xmlns:a16="http://schemas.microsoft.com/office/drawing/2014/main" id="{59AD9D03-998D-F121-27FE-56A7D3065215}"/>
              </a:ext>
            </a:extLst>
          </p:cNvPr>
          <p:cNvPicPr>
            <a:picLocks noChangeAspect="1"/>
          </p:cNvPicPr>
          <p:nvPr/>
        </p:nvPicPr>
        <p:blipFill>
          <a:blip r:embed="rId4"/>
          <a:srcRect l="12577" t="17864" r="12520" b="16352"/>
          <a:stretch>
            <a:fillRect/>
          </a:stretch>
        </p:blipFill>
        <p:spPr>
          <a:xfrm>
            <a:off x="8166324" y="1343818"/>
            <a:ext cx="665908" cy="584826"/>
          </a:xfrm>
          <a:prstGeom prst="rect">
            <a:avLst/>
          </a:prstGeom>
        </p:spPr>
      </p:pic>
      <p:cxnSp>
        <p:nvCxnSpPr>
          <p:cNvPr id="14" name="Straight Arrow Connector 13">
            <a:extLst>
              <a:ext uri="{FF2B5EF4-FFF2-40B4-BE49-F238E27FC236}">
                <a16:creationId xmlns:a16="http://schemas.microsoft.com/office/drawing/2014/main" id="{BD834972-E809-4BF9-BFD2-EB6411C5399D}"/>
              </a:ext>
            </a:extLst>
          </p:cNvPr>
          <p:cNvCxnSpPr>
            <a:cxnSpLocks/>
            <a:stCxn id="5" idx="2"/>
          </p:cNvCxnSpPr>
          <p:nvPr/>
        </p:nvCxnSpPr>
        <p:spPr>
          <a:xfrm>
            <a:off x="1033783" y="2390309"/>
            <a:ext cx="0" cy="726747"/>
          </a:xfrm>
          <a:prstGeom prst="straightConnector1">
            <a:avLst/>
          </a:prstGeom>
          <a:ln w="28575">
            <a:solidFill>
              <a:srgbClr val="0D1717"/>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043DA17-E138-247B-4A07-447B5A24647A}"/>
              </a:ext>
            </a:extLst>
          </p:cNvPr>
          <p:cNvPicPr>
            <a:picLocks noChangeAspect="1"/>
          </p:cNvPicPr>
          <p:nvPr/>
        </p:nvPicPr>
        <p:blipFill>
          <a:blip r:embed="rId3"/>
          <a:stretch>
            <a:fillRect/>
          </a:stretch>
        </p:blipFill>
        <p:spPr>
          <a:xfrm>
            <a:off x="371719" y="952391"/>
            <a:ext cx="11607430" cy="5594782"/>
          </a:xfrm>
          <a:prstGeom prst="rect">
            <a:avLst/>
          </a:prstGeom>
        </p:spPr>
      </p:pic>
      <p:sp>
        <p:nvSpPr>
          <p:cNvPr id="6" name="Title 5">
            <a:extLst>
              <a:ext uri="{FF2B5EF4-FFF2-40B4-BE49-F238E27FC236}">
                <a16:creationId xmlns:a16="http://schemas.microsoft.com/office/drawing/2014/main" id="{7951329F-EFE3-A4A4-5416-4AA800AB8042}"/>
              </a:ext>
            </a:extLst>
          </p:cNvPr>
          <p:cNvSpPr>
            <a:spLocks noGrp="1"/>
          </p:cNvSpPr>
          <p:nvPr>
            <p:ph type="title"/>
          </p:nvPr>
        </p:nvSpPr>
        <p:spPr/>
        <p:txBody>
          <a:bodyPr/>
          <a:lstStyle/>
          <a:p>
            <a:r>
              <a:rPr lang="en-US" dirty="0"/>
              <a:t>Performance results</a:t>
            </a:r>
          </a:p>
        </p:txBody>
      </p:sp>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224053" y="1613934"/>
            <a:ext cx="590330" cy="652813"/>
          </a:xfrm>
          <a:prstGeom prst="straightConnector1">
            <a:avLst/>
          </a:prstGeom>
          <a:ln>
            <a:solidFill>
              <a:srgbClr val="1F77B4"/>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0" y="1213824"/>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3" name="Straight Connector 42">
            <a:extLst>
              <a:ext uri="{FF2B5EF4-FFF2-40B4-BE49-F238E27FC236}">
                <a16:creationId xmlns:a16="http://schemas.microsoft.com/office/drawing/2014/main" id="{695E5EAD-8C5F-44D5-24B6-62E7988C0C83}"/>
              </a:ext>
            </a:extLst>
          </p:cNvPr>
          <p:cNvCxnSpPr/>
          <p:nvPr/>
        </p:nvCxnSpPr>
        <p:spPr>
          <a:xfrm flipH="1" flipV="1">
            <a:off x="5424075" y="4413726"/>
            <a:ext cx="3247447" cy="49085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V="1">
            <a:off x="1566991" y="1566577"/>
            <a:ext cx="709304" cy="302248"/>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1566991" y="2379603"/>
            <a:ext cx="472321" cy="479916"/>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a:off x="2039312" y="3370297"/>
            <a:ext cx="682628" cy="126472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flipH="1">
            <a:off x="1384604" y="3370297"/>
            <a:ext cx="654708" cy="46726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cxnSpLocks/>
            <a:stCxn id="20" idx="2"/>
            <a:endCxn id="24" idx="0"/>
          </p:cNvCxnSpPr>
          <p:nvPr/>
        </p:nvCxnSpPr>
        <p:spPr>
          <a:xfrm>
            <a:off x="8833425" y="1036814"/>
            <a:ext cx="1087664" cy="1083627"/>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2"/>
            <a:endCxn id="27" idx="0"/>
          </p:cNvCxnSpPr>
          <p:nvPr/>
        </p:nvCxnSpPr>
        <p:spPr>
          <a:xfrm flipH="1">
            <a:off x="6489089" y="1036814"/>
            <a:ext cx="2344336" cy="66246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p:cNvCxnSpPr>
          <p:nvPr/>
        </p:nvCxnSpPr>
        <p:spPr>
          <a:xfrm flipH="1" flipV="1">
            <a:off x="8671522" y="5366250"/>
            <a:ext cx="1913135" cy="394489"/>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cxnSpLocks/>
            <a:stCxn id="9" idx="0"/>
            <a:endCxn id="14" idx="2"/>
          </p:cNvCxnSpPr>
          <p:nvPr/>
        </p:nvCxnSpPr>
        <p:spPr>
          <a:xfrm flipV="1">
            <a:off x="4017096" y="5962338"/>
            <a:ext cx="729418" cy="354187"/>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cxnSpLocks/>
            <a:stCxn id="14" idx="0"/>
          </p:cNvCxnSpPr>
          <p:nvPr/>
        </p:nvCxnSpPr>
        <p:spPr>
          <a:xfrm rot="5400000" flipH="1" flipV="1">
            <a:off x="5727936" y="4153996"/>
            <a:ext cx="306100" cy="2268944"/>
          </a:xfrm>
          <a:prstGeom prst="curvedConnector2">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p:cNvCxnSpPr>
          <p:nvPr/>
        </p:nvCxnSpPr>
        <p:spPr>
          <a:xfrm rot="5400000">
            <a:off x="8166220" y="3149715"/>
            <a:ext cx="2260177" cy="1249563"/>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1"/>
          </p:cNvCxnSpPr>
          <p:nvPr/>
        </p:nvCxnSpPr>
        <p:spPr>
          <a:xfrm rot="5400000" flipH="1" flipV="1">
            <a:off x="3239916" y="760661"/>
            <a:ext cx="898255" cy="3299462"/>
          </a:xfrm>
          <a:prstGeom prst="curvedConnector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6376588" y="2223248"/>
            <a:ext cx="112501" cy="645246"/>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0"/>
          </p:cNvCxnSpPr>
          <p:nvPr/>
        </p:nvCxnSpPr>
        <p:spPr>
          <a:xfrm flipH="1">
            <a:off x="6376588" y="2382425"/>
            <a:ext cx="1793571" cy="48606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p:cNvCxnSpPr>
          <p:nvPr/>
        </p:nvCxnSpPr>
        <p:spPr>
          <a:xfrm>
            <a:off x="2817222" y="3114908"/>
            <a:ext cx="2606853" cy="78804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0C2203B1-0F93-3F92-FADF-DA1FA387F65C}"/>
              </a:ext>
            </a:extLst>
          </p:cNvPr>
          <p:cNvSpPr txBox="1"/>
          <p:nvPr/>
        </p:nvSpPr>
        <p:spPr>
          <a:xfrm>
            <a:off x="1863204" y="4635026"/>
            <a:ext cx="1717472"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927858" y="1868825"/>
            <a:ext cx="1278266"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1261402" y="2859519"/>
            <a:ext cx="1555820"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541538" y="3837560"/>
            <a:ext cx="1686131" cy="510778"/>
          </a:xfrm>
          <a:prstGeom prst="roundRect">
            <a:avLst/>
          </a:prstGeom>
          <a:gradFill flip="none" rotWithShape="1">
            <a:gsLst>
              <a:gs pos="0">
                <a:schemeClr val="accent6">
                  <a:lumMod val="67000"/>
                </a:schemeClr>
              </a:gs>
              <a:gs pos="48000">
                <a:schemeClr val="accent6">
                  <a:lumMod val="97000"/>
                  <a:lumOff val="3000"/>
                </a:schemeClr>
              </a:gs>
              <a:gs pos="100000">
                <a:srgbClr val="74D054"/>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7111622" y="513594"/>
            <a:ext cx="3443606" cy="52322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oAutofit/>
          </a:bodyPr>
          <a:lstStyle>
            <a:defPPr>
              <a:defRPr lang="en-US"/>
            </a:defPPr>
            <a:lvl1pPr algn="ctr">
              <a:defRPr sz="2400"/>
            </a:lvl1pPr>
          </a:lstStyle>
          <a:p>
            <a:r>
              <a:rPr lang="en-US" sz="2800" noProof="0" dirty="0"/>
              <a:t>Stencil computation</a:t>
            </a:r>
          </a:p>
        </p:txBody>
      </p:sp>
      <p:sp>
        <p:nvSpPr>
          <p:cNvPr id="24" name="TextBox 23">
            <a:extLst>
              <a:ext uri="{FF2B5EF4-FFF2-40B4-BE49-F238E27FC236}">
                <a16:creationId xmlns:a16="http://schemas.microsoft.com/office/drawing/2014/main" id="{F05BE16C-7358-765B-9F41-391F715E3540}"/>
              </a:ext>
            </a:extLst>
          </p:cNvPr>
          <p:cNvSpPr txBox="1"/>
          <p:nvPr/>
        </p:nvSpPr>
        <p:spPr>
          <a:xfrm>
            <a:off x="8170159" y="2120441"/>
            <a:ext cx="3501860" cy="523967"/>
          </a:xfrm>
          <a:prstGeom prst="roundRect">
            <a:avLst>
              <a:gd name="adj" fmla="val 20345"/>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Bitwise encoding of </a:t>
            </a:r>
            <a:r>
              <a:rPr lang="en-US" sz="2400" noProof="0" dirty="0" err="1"/>
              <a:t>GoL</a:t>
            </a:r>
            <a:endParaRPr lang="en-US" sz="2400"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5338774" y="1699280"/>
            <a:ext cx="2300630" cy="523968"/>
          </a:xfrm>
          <a:prstGeom prst="roundRect">
            <a:avLst>
              <a:gd name="adj" fmla="val 20286"/>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7015459" y="4904585"/>
            <a:ext cx="3312125" cy="490859"/>
          </a:xfrm>
          <a:prstGeom prst="roundRect">
            <a:avLst/>
          </a:prstGeom>
          <a:gradFill flip="none" rotWithShape="1">
            <a:gsLst>
              <a:gs pos="0">
                <a:schemeClr val="accent2">
                  <a:lumMod val="67000"/>
                </a:schemeClr>
              </a:gs>
              <a:gs pos="48000">
                <a:schemeClr val="accent2">
                  <a:lumMod val="97000"/>
                  <a:lumOff val="3000"/>
                </a:schemeClr>
              </a:gs>
              <a:gs pos="100000">
                <a:srgbClr val="EB7E41"/>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Tutoring LLMs for CUDA</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795" y="1043357"/>
            <a:ext cx="3933000" cy="52322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oAutofit/>
          </a:bodyPr>
          <a:lstStyle/>
          <a:p>
            <a:pPr algn="ctr"/>
            <a:r>
              <a:rPr lang="en-US" sz="2800" noProof="0" dirty="0"/>
              <a:t>General HPC computing</a:t>
            </a:r>
          </a:p>
        </p:txBody>
      </p:sp>
      <p:sp>
        <p:nvSpPr>
          <p:cNvPr id="7" name="TextBox 6">
            <a:extLst>
              <a:ext uri="{FF2B5EF4-FFF2-40B4-BE49-F238E27FC236}">
                <a16:creationId xmlns:a16="http://schemas.microsoft.com/office/drawing/2014/main" id="{F178AC6C-FC18-4019-D6D7-374777F1BAEC}"/>
              </a:ext>
            </a:extLst>
          </p:cNvPr>
          <p:cNvSpPr txBox="1"/>
          <p:nvPr/>
        </p:nvSpPr>
        <p:spPr>
          <a:xfrm>
            <a:off x="9116787" y="5760739"/>
            <a:ext cx="2935740" cy="518764"/>
          </a:xfrm>
          <a:prstGeom prst="rect">
            <a:avLst/>
          </a:prstGeom>
          <a:gradFill>
            <a:gsLst>
              <a:gs pos="0">
                <a:srgbClr val="E9642F"/>
              </a:gs>
              <a:gs pos="50000">
                <a:schemeClr val="accent2">
                  <a:satMod val="110000"/>
                  <a:lumMod val="100000"/>
                  <a:shade val="100000"/>
                </a:schemeClr>
              </a:gs>
              <a:gs pos="100000">
                <a:schemeClr val="accent2">
                  <a:lumMod val="99000"/>
                  <a:satMod val="120000"/>
                  <a:shade val="78000"/>
                </a:schemeClr>
              </a:gs>
            </a:gsLst>
          </a:gradFill>
        </p:spPr>
        <p:style>
          <a:lnRef idx="0">
            <a:schemeClr val="accent2"/>
          </a:lnRef>
          <a:fillRef idx="3">
            <a:schemeClr val="accent2"/>
          </a:fillRef>
          <a:effectRef idx="3">
            <a:schemeClr val="accent2"/>
          </a:effectRef>
          <a:fontRef idx="minor">
            <a:schemeClr val="lt1"/>
          </a:fontRef>
        </p:style>
        <p:txBody>
          <a:bodyPr wrap="none" rtlCol="0" anchor="ctr">
            <a:noAutofit/>
          </a:bodyPr>
          <a:lstStyle/>
          <a:p>
            <a:pPr algn="ctr"/>
            <a:r>
              <a:rPr lang="en-US" sz="2400"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2331057" y="6316525"/>
            <a:ext cx="3372077" cy="523220"/>
          </a:xfrm>
          <a:prstGeom prst="rect">
            <a:avLst/>
          </a:prstGeom>
        </p:spPr>
        <p:style>
          <a:lnRef idx="0">
            <a:schemeClr val="accent1"/>
          </a:lnRef>
          <a:fillRef idx="3">
            <a:schemeClr val="accent1"/>
          </a:fillRef>
          <a:effectRef idx="3">
            <a:schemeClr val="accent1"/>
          </a:effectRef>
          <a:fontRef idx="minor">
            <a:schemeClr val="lt1"/>
          </a:fontRef>
        </p:style>
        <p:txBody>
          <a:bodyPr wrap="none" rtlCol="0" anchor="ctr">
            <a:noAutofit/>
          </a:bodyPr>
          <a:lstStyle/>
          <a:p>
            <a:pPr algn="ctr"/>
            <a:r>
              <a:rPr lang="en-US" sz="2800" noProof="0" dirty="0"/>
              <a:t>k-Nearest Neighbors</a:t>
            </a:r>
          </a:p>
        </p:txBody>
      </p:sp>
      <p:sp>
        <p:nvSpPr>
          <p:cNvPr id="14" name="TextBox 13">
            <a:extLst>
              <a:ext uri="{FF2B5EF4-FFF2-40B4-BE49-F238E27FC236}">
                <a16:creationId xmlns:a16="http://schemas.microsoft.com/office/drawing/2014/main" id="{694A14F9-37A7-558D-DCD1-B6BA288136A3}"/>
              </a:ext>
            </a:extLst>
          </p:cNvPr>
          <p:cNvSpPr txBox="1"/>
          <p:nvPr/>
        </p:nvSpPr>
        <p:spPr>
          <a:xfrm>
            <a:off x="3193480" y="5441518"/>
            <a:ext cx="3106068" cy="520820"/>
          </a:xfrm>
          <a:prstGeom prst="roundRect">
            <a:avLst>
              <a:gd name="adj" fmla="val 14270"/>
            </a:avLst>
          </a:prstGeom>
          <a:gradFill flip="none" rotWithShape="1">
            <a:gsLst>
              <a:gs pos="0">
                <a:schemeClr val="accent1">
                  <a:lumMod val="67000"/>
                </a:schemeClr>
              </a:gs>
              <a:gs pos="48000">
                <a:schemeClr val="accent1">
                  <a:lumMod val="97000"/>
                  <a:lumOff val="3000"/>
                </a:schemeClr>
              </a:gs>
              <a:gs pos="100000">
                <a:srgbClr val="24A3DC"/>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err="1"/>
              <a:t>kNN</a:t>
            </a:r>
            <a:r>
              <a:rPr lang="en-US" sz="2400" noProof="0" dirty="0"/>
              <a:t> with </a:t>
            </a:r>
            <a:r>
              <a:rPr lang="en-US" sz="2400" noProof="0" dirty="0" err="1"/>
              <a:t>bitonic</a:t>
            </a:r>
            <a:r>
              <a:rPr lang="en-US" sz="2400" noProof="0" dirty="0"/>
              <a:t> sort</a:t>
            </a:r>
          </a:p>
        </p:txBody>
      </p:sp>
      <p:sp>
        <p:nvSpPr>
          <p:cNvPr id="83" name="TextBox 82">
            <a:extLst>
              <a:ext uri="{FF2B5EF4-FFF2-40B4-BE49-F238E27FC236}">
                <a16:creationId xmlns:a16="http://schemas.microsoft.com/office/drawing/2014/main" id="{B8340993-B06E-A311-6876-6E4CE72B0A74}"/>
              </a:ext>
            </a:extLst>
          </p:cNvPr>
          <p:cNvSpPr txBox="1"/>
          <p:nvPr/>
        </p:nvSpPr>
        <p:spPr>
          <a:xfrm>
            <a:off x="4321131" y="2868494"/>
            <a:ext cx="4110914" cy="543595"/>
          </a:xfrm>
          <a:prstGeom prst="roundRect">
            <a:avLst>
              <a:gd name="adj" fmla="val 21669"/>
            </a:avLst>
          </a:prstGeom>
          <a:gradFill flip="none" rotWithShape="1">
            <a:gsLst>
              <a:gs pos="0">
                <a:schemeClr val="accent5">
                  <a:lumMod val="67000"/>
                </a:schemeClr>
              </a:gs>
              <a:gs pos="48000">
                <a:schemeClr val="accent5">
                  <a:lumMod val="97000"/>
                  <a:lumOff val="3000"/>
                </a:schemeClr>
              </a:gs>
              <a:gs pos="100000">
                <a:srgbClr val="D04EC1"/>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nchor="ctr">
            <a:noAutofit/>
          </a:bodyPr>
          <a:lstStyle/>
          <a:p>
            <a:pPr algn="ctr"/>
            <a:r>
              <a:rPr lang="en-US" sz="2400" noProof="0" dirty="0"/>
              <a:t>Bit-Planes for CA abstraction</a:t>
            </a:r>
          </a:p>
        </p:txBody>
      </p:sp>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
        <p:nvSpPr>
          <p:cNvPr id="30" name="TextBox 29">
            <a:extLst>
              <a:ext uri="{FF2B5EF4-FFF2-40B4-BE49-F238E27FC236}">
                <a16:creationId xmlns:a16="http://schemas.microsoft.com/office/drawing/2014/main" id="{4AD7395F-5DE8-A141-7F54-EB10905B989D}"/>
              </a:ext>
            </a:extLst>
          </p:cNvPr>
          <p:cNvSpPr txBox="1"/>
          <p:nvPr/>
        </p:nvSpPr>
        <p:spPr>
          <a:xfrm>
            <a:off x="3818225" y="3902948"/>
            <a:ext cx="3211699" cy="510778"/>
          </a:xfrm>
          <a:prstGeom prst="roundRect">
            <a:avLst/>
          </a:prstGeom>
          <a:gradFill flip="none" rotWithShape="1">
            <a:gsLst>
              <a:gs pos="0">
                <a:schemeClr val="accent2">
                  <a:lumMod val="67000"/>
                </a:schemeClr>
              </a:gs>
              <a:gs pos="50000">
                <a:srgbClr val="8C7B14"/>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nchor="ctr">
            <a:spAutoFit/>
          </a:bodyPr>
          <a:lstStyle/>
          <a:p>
            <a:pPr algn="ctr"/>
            <a:r>
              <a:rPr lang="en-US" sz="2400" noProof="0" dirty="0"/>
              <a:t>LLMs and abstractions</a:t>
            </a:r>
          </a:p>
        </p:txBody>
      </p:sp>
      <p:sp>
        <p:nvSpPr>
          <p:cNvPr id="105" name="TextBox 104">
            <a:extLst>
              <a:ext uri="{FF2B5EF4-FFF2-40B4-BE49-F238E27FC236}">
                <a16:creationId xmlns:a16="http://schemas.microsoft.com/office/drawing/2014/main" id="{34EEE70E-66B1-DBA0-D563-ADA02418E73F}"/>
              </a:ext>
            </a:extLst>
          </p:cNvPr>
          <p:cNvSpPr txBox="1"/>
          <p:nvPr/>
        </p:nvSpPr>
        <p:spPr>
          <a:xfrm rot="21191511">
            <a:off x="2323825" y="1656128"/>
            <a:ext cx="2731838" cy="461665"/>
          </a:xfrm>
          <a:prstGeom prst="rect">
            <a:avLst/>
          </a:prstGeom>
          <a:noFill/>
        </p:spPr>
        <p:txBody>
          <a:bodyPr wrap="none" rtlCol="0">
            <a:noAutofit/>
          </a:bodyPr>
          <a:lstStyle/>
          <a:p>
            <a:r>
              <a:rPr lang="en-US" sz="2400"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9545" y="1724594"/>
            <a:ext cx="692126" cy="692126"/>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2168" y="2754124"/>
            <a:ext cx="692126" cy="692126"/>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665" y="3804149"/>
            <a:ext cx="684040" cy="684040"/>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67745" y="4557585"/>
            <a:ext cx="688481" cy="688481"/>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30988" y="2845627"/>
            <a:ext cx="684040" cy="684040"/>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35326" y="1614868"/>
            <a:ext cx="688481" cy="688481"/>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577153" y="2104335"/>
            <a:ext cx="688481" cy="688481"/>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2637" y="4803784"/>
            <a:ext cx="684040" cy="684040"/>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26770" y="5370763"/>
            <a:ext cx="684040" cy="684040"/>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77217" y="3816317"/>
            <a:ext cx="684040" cy="68404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739057" y="5535157"/>
            <a:ext cx="372564" cy="372564"/>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910745" y="3001049"/>
            <a:ext cx="372564" cy="372564"/>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2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6"/>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05"/>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0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64"/>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2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87"/>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3"/>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18"/>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2" grpId="0" animBg="1"/>
      <p:bldP spid="16" grpId="0" animBg="1"/>
      <p:bldP spid="24" grpId="0" animBg="1"/>
      <p:bldP spid="27" grpId="0" animBg="1"/>
      <p:bldP spid="28" grpId="0" animBg="1"/>
      <p:bldP spid="14" grpId="0" animBg="1"/>
      <p:bldP spid="83" grpId="0" animBg="1"/>
      <p:bldP spid="30" grpId="0" animBg="1"/>
      <p:bldP spid="10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dirty="0"/>
              <a:t>Contribution s</a:t>
            </a:r>
            <a:r>
              <a:rPr lang="en-US" noProof="0" dirty="0" err="1"/>
              <a:t>ummary</a:t>
            </a:r>
            <a:endParaRPr lang="en-US" noProof="0" dirty="0"/>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9/4/2026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
        <p:nvSpPr>
          <p:cNvPr id="5" name="TextBox 4">
            <a:extLst>
              <a:ext uri="{FF2B5EF4-FFF2-40B4-BE49-F238E27FC236}">
                <a16:creationId xmlns:a16="http://schemas.microsoft.com/office/drawing/2014/main" id="{07460CFD-1ADD-C377-3592-F33BC4F867B6}"/>
              </a:ext>
            </a:extLst>
          </p:cNvPr>
          <p:cNvSpPr txBox="1"/>
          <p:nvPr/>
        </p:nvSpPr>
        <p:spPr>
          <a:xfrm>
            <a:off x="2426878" y="1800983"/>
            <a:ext cx="1230658" cy="430887"/>
          </a:xfrm>
          <a:prstGeom prst="rect">
            <a:avLst/>
          </a:prstGeom>
          <a:noFill/>
        </p:spPr>
        <p:txBody>
          <a:bodyPr wrap="square" rtlCol="0">
            <a:spAutoFit/>
          </a:bodyPr>
          <a:lstStyle/>
          <a:p>
            <a:pPr algn="r"/>
            <a:r>
              <a:rPr lang="en-US" sz="2200" noProof="0"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252985" y="2116499"/>
            <a:ext cx="1404551" cy="430887"/>
          </a:xfrm>
          <a:prstGeom prst="rect">
            <a:avLst/>
          </a:prstGeom>
          <a:noFill/>
        </p:spPr>
        <p:txBody>
          <a:bodyPr wrap="none" rtlCol="0">
            <a:spAutoFit/>
          </a:bodyPr>
          <a:lstStyle/>
          <a:p>
            <a:pPr algn="r"/>
            <a:r>
              <a:rPr lang="en-US" sz="2200" noProof="0"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061971" y="2399717"/>
            <a:ext cx="1595565" cy="430887"/>
          </a:xfrm>
          <a:prstGeom prst="rect">
            <a:avLst/>
          </a:prstGeom>
          <a:noFill/>
        </p:spPr>
        <p:txBody>
          <a:bodyPr wrap="none" rtlCol="0">
            <a:spAutoFit/>
          </a:bodyPr>
          <a:lstStyle/>
          <a:p>
            <a:pPr algn="r"/>
            <a:r>
              <a:rPr lang="en-US" sz="2200" b="1" noProof="0"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111920" y="2695114"/>
            <a:ext cx="1545616" cy="430887"/>
          </a:xfrm>
          <a:prstGeom prst="rect">
            <a:avLst/>
          </a:prstGeom>
          <a:noFill/>
        </p:spPr>
        <p:txBody>
          <a:bodyPr wrap="none" rtlCol="0">
            <a:spAutoFit/>
          </a:bodyPr>
          <a:lstStyle/>
          <a:p>
            <a:pPr algn="r"/>
            <a:r>
              <a:rPr lang="en-US" sz="2200" noProof="0"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570426" y="2961166"/>
            <a:ext cx="2087110" cy="430887"/>
          </a:xfrm>
          <a:prstGeom prst="rect">
            <a:avLst/>
          </a:prstGeom>
          <a:noFill/>
        </p:spPr>
        <p:txBody>
          <a:bodyPr wrap="none" rtlCol="0">
            <a:spAutoFit/>
          </a:bodyPr>
          <a:lstStyle/>
          <a:p>
            <a:pPr algn="r"/>
            <a:r>
              <a:rPr lang="en-US" sz="2200" b="1" noProof="0"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603495" y="3232729"/>
            <a:ext cx="3054041" cy="430887"/>
          </a:xfrm>
          <a:prstGeom prst="rect">
            <a:avLst/>
          </a:prstGeom>
          <a:noFill/>
        </p:spPr>
        <p:txBody>
          <a:bodyPr wrap="none" rtlCol="0">
            <a:spAutoFit/>
          </a:bodyPr>
          <a:lstStyle/>
          <a:p>
            <a:pPr algn="r"/>
            <a:r>
              <a:rPr lang="en-US" sz="2200" noProof="0"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723721" y="3541885"/>
            <a:ext cx="2933815" cy="430887"/>
          </a:xfrm>
          <a:prstGeom prst="rect">
            <a:avLst/>
          </a:prstGeom>
          <a:noFill/>
        </p:spPr>
        <p:txBody>
          <a:bodyPr wrap="none" rtlCol="0">
            <a:spAutoFit/>
          </a:bodyPr>
          <a:lstStyle/>
          <a:p>
            <a:pPr algn="r"/>
            <a:r>
              <a:rPr lang="en-US" sz="2200" noProof="0"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404996" y="4431055"/>
            <a:ext cx="2252540" cy="430887"/>
          </a:xfrm>
          <a:prstGeom prst="rect">
            <a:avLst/>
          </a:prstGeom>
          <a:noFill/>
        </p:spPr>
        <p:txBody>
          <a:bodyPr wrap="none" rtlCol="0">
            <a:spAutoFit/>
          </a:bodyPr>
          <a:lstStyle/>
          <a:p>
            <a:pPr algn="r"/>
            <a:r>
              <a:rPr lang="en-US" sz="2200" noProof="0" dirty="0"/>
              <a:t>GPU </a:t>
            </a:r>
            <a:r>
              <a:rPr lang="en-US" sz="2200" noProof="0" dirty="0" err="1"/>
              <a:t>EmbedSOM</a:t>
            </a:r>
            <a:endParaRPr lang="en-US" sz="2200" noProof="0"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550596" y="4716295"/>
            <a:ext cx="3106940" cy="430887"/>
          </a:xfrm>
          <a:prstGeom prst="rect">
            <a:avLst/>
          </a:prstGeom>
          <a:noFill/>
        </p:spPr>
        <p:txBody>
          <a:bodyPr wrap="none" rtlCol="0">
            <a:spAutoFit/>
          </a:bodyPr>
          <a:lstStyle/>
          <a:p>
            <a:pPr algn="r"/>
            <a:r>
              <a:rPr lang="en-US" sz="2200" noProof="0" dirty="0"/>
              <a:t>Bitwise encoding of </a:t>
            </a:r>
            <a:r>
              <a:rPr lang="en-US" sz="2200" noProof="0" dirty="0" err="1"/>
              <a:t>GoL</a:t>
            </a:r>
            <a:endParaRPr lang="en-US" sz="2200" noProof="0"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778223" y="5026689"/>
            <a:ext cx="2879313" cy="430887"/>
          </a:xfrm>
          <a:prstGeom prst="rect">
            <a:avLst/>
          </a:prstGeom>
          <a:noFill/>
        </p:spPr>
        <p:txBody>
          <a:bodyPr wrap="none" rtlCol="0">
            <a:spAutoFit/>
          </a:bodyPr>
          <a:lstStyle/>
          <a:p>
            <a:pPr algn="r"/>
            <a:r>
              <a:rPr lang="en-US" sz="2200" b="1" noProof="0" dirty="0" err="1"/>
              <a:t>kNN</a:t>
            </a:r>
            <a:r>
              <a:rPr lang="en-US" sz="2200" b="1" noProof="0" dirty="0"/>
              <a:t> with </a:t>
            </a:r>
            <a:r>
              <a:rPr lang="en-US" sz="2200" b="1" noProof="0" dirty="0" err="1"/>
              <a:t>bitonic</a:t>
            </a:r>
            <a:r>
              <a:rPr lang="en-US" sz="2200" b="1" noProof="0"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743853" y="5292203"/>
            <a:ext cx="2913683" cy="430887"/>
          </a:xfrm>
          <a:prstGeom prst="rect">
            <a:avLst/>
          </a:prstGeom>
          <a:noFill/>
        </p:spPr>
        <p:txBody>
          <a:bodyPr wrap="none" rtlCol="0">
            <a:spAutoFit/>
          </a:bodyPr>
          <a:lstStyle/>
          <a:p>
            <a:pPr algn="r"/>
            <a:r>
              <a:rPr lang="en-US" sz="2200" b="1" noProof="0" dirty="0"/>
              <a:t>Bit-Planes – CA </a:t>
            </a:r>
            <a:r>
              <a:rPr lang="en-US" sz="2200" b="1" noProof="0" dirty="0" err="1"/>
              <a:t>abstr</a:t>
            </a:r>
            <a:r>
              <a:rPr lang="en-US" sz="2200" b="1" noProof="0" dirty="0"/>
              <a:t>.</a:t>
            </a:r>
          </a:p>
        </p:txBody>
      </p:sp>
      <p:sp>
        <p:nvSpPr>
          <p:cNvPr id="7" name="Left Brace 6">
            <a:extLst>
              <a:ext uri="{FF2B5EF4-FFF2-40B4-BE49-F238E27FC236}">
                <a16:creationId xmlns:a16="http://schemas.microsoft.com/office/drawing/2014/main" id="{70FB1660-D075-7B01-57E6-A7BE0BF087E2}"/>
              </a:ext>
            </a:extLst>
          </p:cNvPr>
          <p:cNvSpPr/>
          <p:nvPr/>
        </p:nvSpPr>
        <p:spPr>
          <a:xfrm>
            <a:off x="1958742" y="1903362"/>
            <a:ext cx="183607" cy="1113856"/>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9" name="TextBox 8">
            <a:extLst>
              <a:ext uri="{FF2B5EF4-FFF2-40B4-BE49-F238E27FC236}">
                <a16:creationId xmlns:a16="http://schemas.microsoft.com/office/drawing/2014/main" id="{074A760B-F774-39E3-E0AC-9B2DEC8AF4DE}"/>
              </a:ext>
            </a:extLst>
          </p:cNvPr>
          <p:cNvSpPr txBox="1"/>
          <p:nvPr/>
        </p:nvSpPr>
        <p:spPr>
          <a:xfrm>
            <a:off x="1079975" y="2221582"/>
            <a:ext cx="878767" cy="430887"/>
          </a:xfrm>
          <a:prstGeom prst="rect">
            <a:avLst/>
          </a:prstGeom>
          <a:noFill/>
        </p:spPr>
        <p:txBody>
          <a:bodyPr wrap="none" rtlCol="0">
            <a:spAutoFit/>
          </a:bodyPr>
          <a:lstStyle/>
          <a:p>
            <a:r>
              <a:rPr lang="en-US" sz="2200" noProof="0" dirty="0"/>
              <a:t>Noarr</a:t>
            </a:r>
          </a:p>
        </p:txBody>
      </p:sp>
      <p:sp>
        <p:nvSpPr>
          <p:cNvPr id="13" name="Left Brace 12">
            <a:extLst>
              <a:ext uri="{FF2B5EF4-FFF2-40B4-BE49-F238E27FC236}">
                <a16:creationId xmlns:a16="http://schemas.microsoft.com/office/drawing/2014/main" id="{6258EB1D-0B46-9D04-4739-FBEC2EF2265A}"/>
              </a:ext>
            </a:extLst>
          </p:cNvPr>
          <p:cNvSpPr/>
          <p:nvPr/>
        </p:nvSpPr>
        <p:spPr>
          <a:xfrm>
            <a:off x="1469940" y="3017218"/>
            <a:ext cx="183607" cy="286541"/>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2200" noProof="0" dirty="0"/>
          </a:p>
        </p:txBody>
      </p:sp>
      <p:sp>
        <p:nvSpPr>
          <p:cNvPr id="17" name="TextBox 16">
            <a:extLst>
              <a:ext uri="{FF2B5EF4-FFF2-40B4-BE49-F238E27FC236}">
                <a16:creationId xmlns:a16="http://schemas.microsoft.com/office/drawing/2014/main" id="{FD7B44A4-A32D-E3BD-91BE-CB60C63F0094}"/>
              </a:ext>
            </a:extLst>
          </p:cNvPr>
          <p:cNvSpPr txBox="1"/>
          <p:nvPr/>
        </p:nvSpPr>
        <p:spPr>
          <a:xfrm>
            <a:off x="408380" y="2941387"/>
            <a:ext cx="1066318" cy="430887"/>
          </a:xfrm>
          <a:prstGeom prst="rect">
            <a:avLst/>
          </a:prstGeom>
          <a:noFill/>
        </p:spPr>
        <p:txBody>
          <a:bodyPr wrap="none" rtlCol="0">
            <a:spAutoFit/>
          </a:bodyPr>
          <a:lstStyle/>
          <a:p>
            <a:pPr algn="r"/>
            <a:r>
              <a:rPr lang="en-US" sz="2200" noProof="0" dirty="0"/>
              <a:t>Cellato</a:t>
            </a:r>
          </a:p>
        </p:txBody>
      </p:sp>
      <p:pic>
        <p:nvPicPr>
          <p:cNvPr id="19" name="Picture 18">
            <a:extLst>
              <a:ext uri="{FF2B5EF4-FFF2-40B4-BE49-F238E27FC236}">
                <a16:creationId xmlns:a16="http://schemas.microsoft.com/office/drawing/2014/main" id="{7BBFF5E8-6F34-AD91-483A-BF96ED8BB2E9}"/>
              </a:ext>
            </a:extLst>
          </p:cNvPr>
          <p:cNvPicPr>
            <a:picLocks noChangeAspect="1"/>
          </p:cNvPicPr>
          <p:nvPr/>
        </p:nvPicPr>
        <p:blipFill>
          <a:blip r:embed="rId2"/>
          <a:srcRect l="8227"/>
          <a:stretch>
            <a:fillRect/>
          </a:stretch>
        </p:blipFill>
        <p:spPr>
          <a:xfrm>
            <a:off x="3690596" y="1422499"/>
            <a:ext cx="8501404" cy="4274301"/>
          </a:xfrm>
          <a:prstGeom prst="rect">
            <a:avLst/>
          </a:prstGeom>
        </p:spPr>
      </p:pic>
      <p:cxnSp>
        <p:nvCxnSpPr>
          <p:cNvPr id="37" name="Connector: Curved 36">
            <a:extLst>
              <a:ext uri="{FF2B5EF4-FFF2-40B4-BE49-F238E27FC236}">
                <a16:creationId xmlns:a16="http://schemas.microsoft.com/office/drawing/2014/main" id="{2240D803-50FC-D08D-43CC-A9BA0D55AD8B}"/>
              </a:ext>
            </a:extLst>
          </p:cNvPr>
          <p:cNvCxnSpPr>
            <a:cxnSpLocks/>
            <a:stCxn id="25" idx="1"/>
            <a:endCxn id="17" idx="1"/>
          </p:cNvCxnSpPr>
          <p:nvPr/>
        </p:nvCxnSpPr>
        <p:spPr>
          <a:xfrm rot="10800000">
            <a:off x="408381" y="3156831"/>
            <a:ext cx="335473" cy="2350816"/>
          </a:xfrm>
          <a:prstGeom prst="curvedConnector3">
            <a:avLst>
              <a:gd name="adj1" fmla="val 168143"/>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6" name="Cloud 5">
            <a:extLst>
              <a:ext uri="{FF2B5EF4-FFF2-40B4-BE49-F238E27FC236}">
                <a16:creationId xmlns:a16="http://schemas.microsoft.com/office/drawing/2014/main" id="{649FBB15-DDE7-53A8-F2E8-FA8A59181102}"/>
              </a:ext>
            </a:extLst>
          </p:cNvPr>
          <p:cNvSpPr/>
          <p:nvPr/>
        </p:nvSpPr>
        <p:spPr>
          <a:xfrm>
            <a:off x="3610240" y="3574537"/>
            <a:ext cx="1718505" cy="390086"/>
          </a:xfrm>
          <a:prstGeom prst="cloud">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r"/>
            <a:r>
              <a:rPr lang="en-US" dirty="0">
                <a:solidFill>
                  <a:schemeClr val="tx1"/>
                </a:solidFill>
              </a:rPr>
              <a:t>ICA3PP         </a:t>
            </a:r>
          </a:p>
        </p:txBody>
      </p:sp>
    </p:spTree>
    <p:extLst>
      <p:ext uri="{BB962C8B-B14F-4D97-AF65-F5344CB8AC3E}">
        <p14:creationId xmlns:p14="http://schemas.microsoft.com/office/powerpoint/2010/main" val="20253718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noProof="0"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33</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DA3A68D-BA44-145A-8266-F48BAE5922B6}"/>
              </a:ext>
            </a:extLst>
          </p:cNvPr>
          <p:cNvSpPr>
            <a:spLocks noGrp="1"/>
          </p:cNvSpPr>
          <p:nvPr>
            <p:ph type="title"/>
          </p:nvPr>
        </p:nvSpPr>
        <p:spPr/>
        <p:txBody>
          <a:bodyPr>
            <a:normAutofit/>
          </a:bodyPr>
          <a:lstStyle/>
          <a:p>
            <a:r>
              <a:rPr lang="en-US" noProof="0" dirty="0"/>
              <a:t>Why is Cellato separate from Noarr?</a:t>
            </a:r>
          </a:p>
        </p:txBody>
      </p:sp>
      <p:sp>
        <p:nvSpPr>
          <p:cNvPr id="7" name="Content Placeholder 6">
            <a:extLst>
              <a:ext uri="{FF2B5EF4-FFF2-40B4-BE49-F238E27FC236}">
                <a16:creationId xmlns:a16="http://schemas.microsoft.com/office/drawing/2014/main" id="{78E4B909-7FF2-6BA5-88FD-CADA9D5BE98F}"/>
              </a:ext>
            </a:extLst>
          </p:cNvPr>
          <p:cNvSpPr>
            <a:spLocks noGrp="1"/>
          </p:cNvSpPr>
          <p:nvPr>
            <p:ph idx="1"/>
          </p:nvPr>
        </p:nvSpPr>
        <p:spPr/>
        <p:txBody>
          <a:bodyPr anchor="ctr"/>
          <a:lstStyle/>
          <a:p>
            <a:r>
              <a:rPr lang="en-US" noProof="0" dirty="0"/>
              <a:t>Optimization tied to bit-level encoding and bitwise evaluation</a:t>
            </a:r>
          </a:p>
          <a:p>
            <a:r>
              <a:rPr lang="en-US" noProof="0" dirty="0"/>
              <a:t>Noarr doesn’t yet inspect statements/expressions</a:t>
            </a:r>
          </a:p>
        </p:txBody>
      </p:sp>
      <p:sp>
        <p:nvSpPr>
          <p:cNvPr id="4" name="Date Placeholder 3">
            <a:extLst>
              <a:ext uri="{FF2B5EF4-FFF2-40B4-BE49-F238E27FC236}">
                <a16:creationId xmlns:a16="http://schemas.microsoft.com/office/drawing/2014/main" id="{165FE8C8-E861-092A-DD67-F97F8685CC22}"/>
              </a:ext>
            </a:extLst>
          </p:cNvPr>
          <p:cNvSpPr>
            <a:spLocks noGrp="1"/>
          </p:cNvSpPr>
          <p:nvPr>
            <p:ph type="dt" sz="half" idx="10"/>
          </p:nvPr>
        </p:nvSpPr>
        <p:spPr/>
        <p:txBody>
          <a:bodyPr/>
          <a:lstStyle/>
          <a:p>
            <a:fld id="{34463B7D-19AB-44BF-8DCC-FDF87A48CBC2}"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63AF3829-2535-EDEB-0FC1-2B5DC2FB518B}"/>
              </a:ext>
            </a:extLst>
          </p:cNvPr>
          <p:cNvSpPr>
            <a:spLocks noGrp="1"/>
          </p:cNvSpPr>
          <p:nvPr>
            <p:ph type="sldNum" sz="quarter" idx="12"/>
          </p:nvPr>
        </p:nvSpPr>
        <p:spPr/>
        <p:txBody>
          <a:bodyPr/>
          <a:lstStyle/>
          <a:p>
            <a:fld id="{DA0BB241-1B5F-4309-9407-9EEA04D9598D}" type="slidenum">
              <a:rPr lang="en-US" noProof="0" smtClean="0"/>
              <a:t>34</a:t>
            </a:fld>
            <a:endParaRPr lang="en-US" noProof="0" dirty="0"/>
          </a:p>
        </p:txBody>
      </p:sp>
    </p:spTree>
    <p:extLst>
      <p:ext uri="{BB962C8B-B14F-4D97-AF65-F5344CB8AC3E}">
        <p14:creationId xmlns:p14="http://schemas.microsoft.com/office/powerpoint/2010/main" val="37053176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F595D-F97E-73E9-84DA-0FC353335568}"/>
              </a:ext>
            </a:extLst>
          </p:cNvPr>
          <p:cNvSpPr>
            <a:spLocks noGrp="1"/>
          </p:cNvSpPr>
          <p:nvPr>
            <p:ph type="title"/>
          </p:nvPr>
        </p:nvSpPr>
        <p:spPr/>
        <p:txBody>
          <a:bodyPr/>
          <a:lstStyle/>
          <a:p>
            <a:r>
              <a:rPr lang="en-US" noProof="0" dirty="0"/>
              <a:t>What do you think an abstraction designed specifically for an LLM should look like?</a:t>
            </a:r>
          </a:p>
        </p:txBody>
      </p:sp>
      <p:sp>
        <p:nvSpPr>
          <p:cNvPr id="3" name="Content Placeholder 2">
            <a:extLst>
              <a:ext uri="{FF2B5EF4-FFF2-40B4-BE49-F238E27FC236}">
                <a16:creationId xmlns:a16="http://schemas.microsoft.com/office/drawing/2014/main" id="{6F21508F-6DB1-BCB4-96D9-949E58869DE2}"/>
              </a:ext>
            </a:extLst>
          </p:cNvPr>
          <p:cNvSpPr>
            <a:spLocks noGrp="1"/>
          </p:cNvSpPr>
          <p:nvPr>
            <p:ph idx="1"/>
          </p:nvPr>
        </p:nvSpPr>
        <p:spPr/>
        <p:txBody>
          <a:bodyPr anchor="ctr"/>
          <a:lstStyle/>
          <a:p>
            <a:r>
              <a:rPr lang="en-US" noProof="0" dirty="0"/>
              <a:t>A good answer would require a specific study</a:t>
            </a:r>
          </a:p>
          <a:p>
            <a:r>
              <a:rPr lang="en-US" noProof="0" dirty="0"/>
              <a:t>I have identified (at the time of experiments) that C++ syntax was quite challenging to the LLM (particularly angle brackets)</a:t>
            </a:r>
          </a:p>
          <a:p>
            <a:r>
              <a:rPr lang="en-US" noProof="0" dirty="0"/>
              <a:t>Python-based Exo performed best out of the studied abstractions</a:t>
            </a:r>
          </a:p>
          <a:p>
            <a:r>
              <a:rPr lang="en-US" noProof="0" dirty="0"/>
              <a:t>Good performance on abstraction-less C suggests more explicit representation might perform better</a:t>
            </a:r>
          </a:p>
          <a:p>
            <a:endParaRPr lang="en-US" noProof="0" dirty="0"/>
          </a:p>
          <a:p>
            <a:r>
              <a:rPr lang="en-US" noProof="0" dirty="0"/>
              <a:t>Agentic LLMs might benefit from extensive compiler feedback and runtime metrics</a:t>
            </a:r>
          </a:p>
        </p:txBody>
      </p:sp>
      <p:sp>
        <p:nvSpPr>
          <p:cNvPr id="4" name="Date Placeholder 3">
            <a:extLst>
              <a:ext uri="{FF2B5EF4-FFF2-40B4-BE49-F238E27FC236}">
                <a16:creationId xmlns:a16="http://schemas.microsoft.com/office/drawing/2014/main" id="{4D600627-2EB4-B0E4-6C58-9D40BFDA6DD6}"/>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EDCA47EB-C20E-1A0D-DA75-7B7C311F0375}"/>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4269704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231CC-E8C4-0B21-8037-B59EAE91DFC2}"/>
              </a:ext>
            </a:extLst>
          </p:cNvPr>
          <p:cNvSpPr>
            <a:spLocks noGrp="1"/>
          </p:cNvSpPr>
          <p:nvPr>
            <p:ph type="title"/>
          </p:nvPr>
        </p:nvSpPr>
        <p:spPr/>
        <p:txBody>
          <a:bodyPr/>
          <a:lstStyle/>
          <a:p>
            <a:r>
              <a:rPr lang="en-US" noProof="0" dirty="0"/>
              <a:t> Is </a:t>
            </a:r>
            <a:r>
              <a:rPr lang="en-US" noProof="0" dirty="0" err="1"/>
              <a:t>hvector</a:t>
            </a:r>
            <a:r>
              <a:rPr lang="en-US" noProof="0" dirty="0"/>
              <a:t> necessary? vector more convenient?</a:t>
            </a:r>
          </a:p>
        </p:txBody>
      </p:sp>
      <p:sp>
        <p:nvSpPr>
          <p:cNvPr id="3" name="Content Placeholder 2">
            <a:extLst>
              <a:ext uri="{FF2B5EF4-FFF2-40B4-BE49-F238E27FC236}">
                <a16:creationId xmlns:a16="http://schemas.microsoft.com/office/drawing/2014/main" id="{671A00C2-D819-CE9A-6EA6-9695C2780324}"/>
              </a:ext>
            </a:extLst>
          </p:cNvPr>
          <p:cNvSpPr>
            <a:spLocks noGrp="1"/>
          </p:cNvSpPr>
          <p:nvPr>
            <p:ph idx="1"/>
          </p:nvPr>
        </p:nvSpPr>
        <p:spPr/>
        <p:txBody>
          <a:bodyPr anchor="ctr"/>
          <a:lstStyle/>
          <a:p>
            <a:r>
              <a:rPr lang="en-US" noProof="0" dirty="0"/>
              <a:t>For a multidimensional structure, </a:t>
            </a:r>
            <a:r>
              <a:rPr lang="en-US" noProof="0" dirty="0" err="1"/>
              <a:t>hvector</a:t>
            </a:r>
            <a:r>
              <a:rPr lang="en-US" noProof="0" dirty="0"/>
              <a:t> is more convenient</a:t>
            </a:r>
          </a:p>
          <a:p>
            <a:pPr lvl="1"/>
            <a:r>
              <a:rPr lang="en-US" noProof="0" dirty="0"/>
              <a:t>For the first iteration, vector seems like the right choice</a:t>
            </a:r>
          </a:p>
          <a:p>
            <a:pPr lvl="1"/>
            <a:r>
              <a:rPr lang="en-US" noProof="0" dirty="0"/>
              <a:t>For later iterations, the underlying datatype is the previous iteration</a:t>
            </a:r>
          </a:p>
          <a:p>
            <a:pPr lvl="2"/>
            <a:r>
              <a:rPr lang="en-US" noProof="0" dirty="0"/>
              <a:t>Then works conveniently only for contiguous-like encodings</a:t>
            </a:r>
          </a:p>
          <a:p>
            <a:pPr lvl="2"/>
            <a:r>
              <a:rPr lang="en-US" noProof="0" dirty="0"/>
              <a:t>Not for the following:</a:t>
            </a:r>
          </a:p>
        </p:txBody>
      </p:sp>
      <p:sp>
        <p:nvSpPr>
          <p:cNvPr id="4" name="Date Placeholder 3">
            <a:extLst>
              <a:ext uri="{FF2B5EF4-FFF2-40B4-BE49-F238E27FC236}">
                <a16:creationId xmlns:a16="http://schemas.microsoft.com/office/drawing/2014/main" id="{74CE120E-B666-59CF-BAF9-35F39BFC89E6}"/>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18EED586-2A74-4D32-AAE4-9ED352AB10CB}"/>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
        <p:nvSpPr>
          <p:cNvPr id="6" name="TextBox 5">
            <a:extLst>
              <a:ext uri="{FF2B5EF4-FFF2-40B4-BE49-F238E27FC236}">
                <a16:creationId xmlns:a16="http://schemas.microsoft.com/office/drawing/2014/main" id="{E4446F09-51B2-65D1-B5C7-B33B2B727078}"/>
              </a:ext>
            </a:extLst>
          </p:cNvPr>
          <p:cNvSpPr txBox="1"/>
          <p:nvPr/>
        </p:nvSpPr>
        <p:spPr>
          <a:xfrm>
            <a:off x="1694793" y="5123793"/>
            <a:ext cx="373820" cy="369332"/>
          </a:xfrm>
          <a:prstGeom prst="rect">
            <a:avLst/>
          </a:prstGeom>
          <a:noFill/>
        </p:spPr>
        <p:txBody>
          <a:bodyPr wrap="none" rtlCol="0">
            <a:spAutoFit/>
          </a:bodyPr>
          <a:lstStyle/>
          <a:p>
            <a:r>
              <a:rPr lang="en-US" noProof="0" dirty="0"/>
              <a:t>1.</a:t>
            </a:r>
          </a:p>
        </p:txBody>
      </p:sp>
      <p:sp>
        <p:nvSpPr>
          <p:cNvPr id="7" name="Rectangle 6">
            <a:extLst>
              <a:ext uri="{FF2B5EF4-FFF2-40B4-BE49-F238E27FC236}">
                <a16:creationId xmlns:a16="http://schemas.microsoft.com/office/drawing/2014/main" id="{ED173626-BF0E-DC66-AF9C-49C4425418EF}"/>
              </a:ext>
            </a:extLst>
          </p:cNvPr>
          <p:cNvSpPr/>
          <p:nvPr/>
        </p:nvSpPr>
        <p:spPr>
          <a:xfrm>
            <a:off x="2199290" y="5123793"/>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Rectangle 8">
            <a:extLst>
              <a:ext uri="{FF2B5EF4-FFF2-40B4-BE49-F238E27FC236}">
                <a16:creationId xmlns:a16="http://schemas.microsoft.com/office/drawing/2014/main" id="{72FE75E6-20CA-0C32-444D-F5E72974B166}"/>
              </a:ext>
            </a:extLst>
          </p:cNvPr>
          <p:cNvSpPr/>
          <p:nvPr/>
        </p:nvSpPr>
        <p:spPr>
          <a:xfrm>
            <a:off x="3334406" y="5123788"/>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Rectangle 10">
            <a:extLst>
              <a:ext uri="{FF2B5EF4-FFF2-40B4-BE49-F238E27FC236}">
                <a16:creationId xmlns:a16="http://schemas.microsoft.com/office/drawing/2014/main" id="{AACFBA8D-FE38-38D4-9ED4-818152959C8D}"/>
              </a:ext>
            </a:extLst>
          </p:cNvPr>
          <p:cNvSpPr/>
          <p:nvPr/>
        </p:nvSpPr>
        <p:spPr>
          <a:xfrm>
            <a:off x="4477560"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Rectangle 12">
            <a:extLst>
              <a:ext uri="{FF2B5EF4-FFF2-40B4-BE49-F238E27FC236}">
                <a16:creationId xmlns:a16="http://schemas.microsoft.com/office/drawing/2014/main" id="{D81B5FB8-3E80-148D-A1CF-7D8097D394FC}"/>
              </a:ext>
            </a:extLst>
          </p:cNvPr>
          <p:cNvSpPr/>
          <p:nvPr/>
        </p:nvSpPr>
        <p:spPr>
          <a:xfrm>
            <a:off x="5623035" y="5123785"/>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C63AD2B4-D9EF-D3CE-FC20-5695D2C82C8E}"/>
              </a:ext>
            </a:extLst>
          </p:cNvPr>
          <p:cNvSpPr txBox="1"/>
          <p:nvPr/>
        </p:nvSpPr>
        <p:spPr>
          <a:xfrm>
            <a:off x="1694793" y="5615152"/>
            <a:ext cx="373820" cy="369332"/>
          </a:xfrm>
          <a:prstGeom prst="rect">
            <a:avLst/>
          </a:prstGeom>
          <a:noFill/>
        </p:spPr>
        <p:txBody>
          <a:bodyPr wrap="none" rtlCol="0">
            <a:spAutoFit/>
          </a:bodyPr>
          <a:lstStyle/>
          <a:p>
            <a:r>
              <a:rPr lang="en-US" noProof="0" dirty="0"/>
              <a:t>2.</a:t>
            </a:r>
          </a:p>
        </p:txBody>
      </p:sp>
      <p:sp>
        <p:nvSpPr>
          <p:cNvPr id="17" name="Rectangle 16">
            <a:extLst>
              <a:ext uri="{FF2B5EF4-FFF2-40B4-BE49-F238E27FC236}">
                <a16:creationId xmlns:a16="http://schemas.microsoft.com/office/drawing/2014/main" id="{BE996E37-8BAE-6155-A295-145A6CCF4B82}"/>
              </a:ext>
            </a:extLst>
          </p:cNvPr>
          <p:cNvSpPr/>
          <p:nvPr/>
        </p:nvSpPr>
        <p:spPr>
          <a:xfrm>
            <a:off x="2199290" y="5615152"/>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C77AC894-FDFC-15D2-D531-72EF1A4246F3}"/>
              </a:ext>
            </a:extLst>
          </p:cNvPr>
          <p:cNvSpPr/>
          <p:nvPr/>
        </p:nvSpPr>
        <p:spPr>
          <a:xfrm>
            <a:off x="3334406" y="5615147"/>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Rectangle 20">
            <a:extLst>
              <a:ext uri="{FF2B5EF4-FFF2-40B4-BE49-F238E27FC236}">
                <a16:creationId xmlns:a16="http://schemas.microsoft.com/office/drawing/2014/main" id="{AAD899D7-8DF9-519A-B48F-0662D93D854D}"/>
              </a:ext>
            </a:extLst>
          </p:cNvPr>
          <p:cNvSpPr/>
          <p:nvPr/>
        </p:nvSpPr>
        <p:spPr>
          <a:xfrm>
            <a:off x="4477560"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tangle 22">
            <a:extLst>
              <a:ext uri="{FF2B5EF4-FFF2-40B4-BE49-F238E27FC236}">
                <a16:creationId xmlns:a16="http://schemas.microsoft.com/office/drawing/2014/main" id="{1E53DBD4-FED9-7F10-40C8-168760C29B11}"/>
              </a:ext>
            </a:extLst>
          </p:cNvPr>
          <p:cNvSpPr/>
          <p:nvPr/>
        </p:nvSpPr>
        <p:spPr>
          <a:xfrm>
            <a:off x="5623035" y="5615144"/>
            <a:ext cx="378372" cy="36512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Rectangle 24">
            <a:extLst>
              <a:ext uri="{FF2B5EF4-FFF2-40B4-BE49-F238E27FC236}">
                <a16:creationId xmlns:a16="http://schemas.microsoft.com/office/drawing/2014/main" id="{C071E504-7CC1-B356-FAE6-A5DBFF0C87C7}"/>
              </a:ext>
            </a:extLst>
          </p:cNvPr>
          <p:cNvSpPr/>
          <p:nvPr/>
        </p:nvSpPr>
        <p:spPr>
          <a:xfrm>
            <a:off x="2577662" y="5615151"/>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7" name="Rectangle 26">
            <a:extLst>
              <a:ext uri="{FF2B5EF4-FFF2-40B4-BE49-F238E27FC236}">
                <a16:creationId xmlns:a16="http://schemas.microsoft.com/office/drawing/2014/main" id="{F6CB748B-0E70-E5A5-F020-DA07D9CB2730}"/>
              </a:ext>
            </a:extLst>
          </p:cNvPr>
          <p:cNvSpPr/>
          <p:nvPr/>
        </p:nvSpPr>
        <p:spPr>
          <a:xfrm>
            <a:off x="3712778" y="5615146"/>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29" name="Rectangle 28">
            <a:extLst>
              <a:ext uri="{FF2B5EF4-FFF2-40B4-BE49-F238E27FC236}">
                <a16:creationId xmlns:a16="http://schemas.microsoft.com/office/drawing/2014/main" id="{D8CFBA8D-EA0C-ED86-7BBC-6F8DB3D90524}"/>
              </a:ext>
            </a:extLst>
          </p:cNvPr>
          <p:cNvSpPr/>
          <p:nvPr/>
        </p:nvSpPr>
        <p:spPr>
          <a:xfrm>
            <a:off x="4855932"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1" name="Rectangle 30">
            <a:extLst>
              <a:ext uri="{FF2B5EF4-FFF2-40B4-BE49-F238E27FC236}">
                <a16:creationId xmlns:a16="http://schemas.microsoft.com/office/drawing/2014/main" id="{FFC0ADC7-CBA2-EB31-FD31-8FAB768F3C96}"/>
              </a:ext>
            </a:extLst>
          </p:cNvPr>
          <p:cNvSpPr/>
          <p:nvPr/>
        </p:nvSpPr>
        <p:spPr>
          <a:xfrm>
            <a:off x="6001407" y="5615143"/>
            <a:ext cx="378372" cy="36512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noProof="0" dirty="0"/>
          </a:p>
        </p:txBody>
      </p:sp>
      <p:sp>
        <p:nvSpPr>
          <p:cNvPr id="33" name="Rectangle 32">
            <a:extLst>
              <a:ext uri="{FF2B5EF4-FFF2-40B4-BE49-F238E27FC236}">
                <a16:creationId xmlns:a16="http://schemas.microsoft.com/office/drawing/2014/main" id="{0BB49EF2-834B-00B9-CCAF-6035659289E3}"/>
              </a:ext>
            </a:extLst>
          </p:cNvPr>
          <p:cNvSpPr/>
          <p:nvPr/>
        </p:nvSpPr>
        <p:spPr>
          <a:xfrm>
            <a:off x="2956034" y="5615149"/>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03556D99-5A2D-184E-D039-451132AD5FE0}"/>
              </a:ext>
            </a:extLst>
          </p:cNvPr>
          <p:cNvSpPr/>
          <p:nvPr/>
        </p:nvSpPr>
        <p:spPr>
          <a:xfrm>
            <a:off x="4091150" y="5615144"/>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7" name="Rectangle 36">
            <a:extLst>
              <a:ext uri="{FF2B5EF4-FFF2-40B4-BE49-F238E27FC236}">
                <a16:creationId xmlns:a16="http://schemas.microsoft.com/office/drawing/2014/main" id="{D658752F-1256-ECD3-4378-261ADA797F54}"/>
              </a:ext>
            </a:extLst>
          </p:cNvPr>
          <p:cNvSpPr/>
          <p:nvPr/>
        </p:nvSpPr>
        <p:spPr>
          <a:xfrm>
            <a:off x="5234304"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39" name="Rectangle 38">
            <a:extLst>
              <a:ext uri="{FF2B5EF4-FFF2-40B4-BE49-F238E27FC236}">
                <a16:creationId xmlns:a16="http://schemas.microsoft.com/office/drawing/2014/main" id="{4812BFAD-5F87-4E46-3C3B-8B136D168949}"/>
              </a:ext>
            </a:extLst>
          </p:cNvPr>
          <p:cNvSpPr/>
          <p:nvPr/>
        </p:nvSpPr>
        <p:spPr>
          <a:xfrm>
            <a:off x="6379779" y="5615141"/>
            <a:ext cx="378372" cy="36512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noProof="0" dirty="0"/>
          </a:p>
        </p:txBody>
      </p:sp>
      <p:sp>
        <p:nvSpPr>
          <p:cNvPr id="40" name="TextBox 39">
            <a:extLst>
              <a:ext uri="{FF2B5EF4-FFF2-40B4-BE49-F238E27FC236}">
                <a16:creationId xmlns:a16="http://schemas.microsoft.com/office/drawing/2014/main" id="{3B057709-2131-BEA4-A760-B569B0EC1EFB}"/>
              </a:ext>
            </a:extLst>
          </p:cNvPr>
          <p:cNvSpPr txBox="1"/>
          <p:nvPr/>
        </p:nvSpPr>
        <p:spPr>
          <a:xfrm>
            <a:off x="328993" y="1734207"/>
            <a:ext cx="10966465" cy="523220"/>
          </a:xfrm>
          <a:prstGeom prst="rect">
            <a:avLst/>
          </a:prstGeom>
          <a:noFill/>
        </p:spPr>
        <p:txBody>
          <a:bodyPr wrap="none" rtlCol="0">
            <a:spAutoFit/>
          </a:bodyPr>
          <a:lstStyle/>
          <a:p>
            <a:pPr algn="ctr"/>
            <a:r>
              <a:rPr lang="en-US" sz="2800" dirty="0"/>
              <a:t>(context: </a:t>
            </a:r>
            <a:r>
              <a:rPr lang="en-US" sz="2800" dirty="0" err="1"/>
              <a:t>type_vector</a:t>
            </a:r>
            <a:r>
              <a:rPr lang="en-US" sz="2800" dirty="0"/>
              <a:t> uses extent of the underlying type for offset calc.)</a:t>
            </a:r>
          </a:p>
        </p:txBody>
      </p:sp>
      <p:sp>
        <p:nvSpPr>
          <p:cNvPr id="8" name="Right Brace 7">
            <a:extLst>
              <a:ext uri="{FF2B5EF4-FFF2-40B4-BE49-F238E27FC236}">
                <a16:creationId xmlns:a16="http://schemas.microsoft.com/office/drawing/2014/main" id="{A97C4AB7-8F17-4C92-1028-4CC06934D205}"/>
              </a:ext>
            </a:extLst>
          </p:cNvPr>
          <p:cNvSpPr/>
          <p:nvPr/>
        </p:nvSpPr>
        <p:spPr>
          <a:xfrm rot="16200000">
            <a:off x="4038843" y="3156803"/>
            <a:ext cx="104615" cy="380211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3489165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A79577-4141-543D-D922-3370CFEB625E}"/>
              </a:ext>
            </a:extLst>
          </p:cNvPr>
          <p:cNvSpPr>
            <a:spLocks noGrp="1"/>
          </p:cNvSpPr>
          <p:nvPr>
            <p:ph type="title"/>
          </p:nvPr>
        </p:nvSpPr>
        <p:spPr/>
        <p:txBody>
          <a:bodyPr/>
          <a:lstStyle/>
          <a:p>
            <a:r>
              <a:rPr lang="en-US" noProof="0" dirty="0"/>
              <a:t>Is Noarr used outside the department?/Why not?</a:t>
            </a:r>
          </a:p>
        </p:txBody>
      </p:sp>
      <p:sp>
        <p:nvSpPr>
          <p:cNvPr id="3" name="Content Placeholder 2">
            <a:extLst>
              <a:ext uri="{FF2B5EF4-FFF2-40B4-BE49-F238E27FC236}">
                <a16:creationId xmlns:a16="http://schemas.microsoft.com/office/drawing/2014/main" id="{31E821CD-BE7F-B010-9DB1-510E4FCFFBDE}"/>
              </a:ext>
            </a:extLst>
          </p:cNvPr>
          <p:cNvSpPr>
            <a:spLocks noGrp="1"/>
          </p:cNvSpPr>
          <p:nvPr>
            <p:ph idx="1"/>
          </p:nvPr>
        </p:nvSpPr>
        <p:spPr/>
        <p:txBody>
          <a:bodyPr anchor="ctr"/>
          <a:lstStyle/>
          <a:p>
            <a:r>
              <a:rPr lang="en-US" noProof="0" dirty="0"/>
              <a:t>Some little use</a:t>
            </a:r>
          </a:p>
          <a:p>
            <a:pPr lvl="1"/>
            <a:r>
              <a:rPr lang="en-US" noProof="0" dirty="0"/>
              <a:t>Adam </a:t>
            </a:r>
            <a:r>
              <a:rPr lang="en-US" noProof="0" dirty="0" err="1"/>
              <a:t>Šmelko</a:t>
            </a:r>
            <a:r>
              <a:rPr lang="en-US" noProof="0" dirty="0"/>
              <a:t> (past member of the department)</a:t>
            </a:r>
          </a:p>
          <a:p>
            <a:pPr lvl="1"/>
            <a:r>
              <a:rPr lang="en-US" noProof="0" dirty="0"/>
              <a:t>Marek </a:t>
            </a:r>
            <a:r>
              <a:rPr lang="en-US" noProof="0" dirty="0" err="1"/>
              <a:t>Čupr</a:t>
            </a:r>
            <a:r>
              <a:rPr lang="en-US" noProof="0" dirty="0"/>
              <a:t> (BUT student)</a:t>
            </a:r>
          </a:p>
          <a:p>
            <a:r>
              <a:rPr lang="en-US" noProof="0" dirty="0"/>
              <a:t>Noarr is mostly an experimental tool</a:t>
            </a:r>
          </a:p>
          <a:p>
            <a:r>
              <a:rPr lang="en-US" noProof="0" dirty="0"/>
              <a:t>Development tied to research</a:t>
            </a:r>
          </a:p>
          <a:p>
            <a:endParaRPr lang="en-US" noProof="0" dirty="0"/>
          </a:p>
        </p:txBody>
      </p:sp>
      <p:sp>
        <p:nvSpPr>
          <p:cNvPr id="4" name="Date Placeholder 3">
            <a:extLst>
              <a:ext uri="{FF2B5EF4-FFF2-40B4-BE49-F238E27FC236}">
                <a16:creationId xmlns:a16="http://schemas.microsoft.com/office/drawing/2014/main" id="{24530F84-F1D1-A8AF-C539-37F86DA2DC81}"/>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02BCFBEF-2181-071A-E2A2-850955C7B133}"/>
              </a:ext>
            </a:extLst>
          </p:cNvPr>
          <p:cNvSpPr>
            <a:spLocks noGrp="1"/>
          </p:cNvSpPr>
          <p:nvPr>
            <p:ph type="sldNum" sz="quarter" idx="12"/>
          </p:nvPr>
        </p:nvSpPr>
        <p:spPr/>
        <p:txBody>
          <a:bodyPr/>
          <a:lstStyle/>
          <a:p>
            <a:fld id="{DA0BB241-1B5F-4309-9407-9EEA04D9598D}" type="slidenum">
              <a:rPr lang="en-US" noProof="0" smtClean="0"/>
              <a:t>37</a:t>
            </a:fld>
            <a:endParaRPr lang="en-US" noProof="0" dirty="0"/>
          </a:p>
        </p:txBody>
      </p:sp>
    </p:spTree>
    <p:extLst>
      <p:ext uri="{BB962C8B-B14F-4D97-AF65-F5344CB8AC3E}">
        <p14:creationId xmlns:p14="http://schemas.microsoft.com/office/powerpoint/2010/main" val="17507385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13DB4-56B7-B5F6-DADB-224E92331A19}"/>
              </a:ext>
            </a:extLst>
          </p:cNvPr>
          <p:cNvSpPr>
            <a:spLocks noGrp="1"/>
          </p:cNvSpPr>
          <p:nvPr>
            <p:ph type="title"/>
          </p:nvPr>
        </p:nvSpPr>
        <p:spPr/>
        <p:txBody>
          <a:bodyPr>
            <a:normAutofit/>
          </a:bodyPr>
          <a:lstStyle/>
          <a:p>
            <a:r>
              <a:rPr lang="en-US" noProof="0" dirty="0"/>
              <a:t>Can Noarr naturally incorporate</a:t>
            </a:r>
            <a:br>
              <a:rPr lang="en-US" noProof="0" dirty="0"/>
            </a:br>
            <a:r>
              <a:rPr lang="en-US" noProof="0" dirty="0"/>
              <a:t>#pragma </a:t>
            </a:r>
            <a:r>
              <a:rPr lang="en-US" noProof="0" dirty="0" err="1"/>
              <a:t>omp</a:t>
            </a:r>
            <a:r>
              <a:rPr lang="en-US" noProof="0" dirty="0"/>
              <a:t> </a:t>
            </a:r>
            <a:r>
              <a:rPr lang="en-US" noProof="0" dirty="0" err="1"/>
              <a:t>simd</a:t>
            </a:r>
            <a:r>
              <a:rPr lang="en-US" noProof="0" dirty="0"/>
              <a:t> or SIMD-aware traversers</a:t>
            </a:r>
          </a:p>
        </p:txBody>
      </p:sp>
      <p:sp>
        <p:nvSpPr>
          <p:cNvPr id="3" name="Content Placeholder 2">
            <a:extLst>
              <a:ext uri="{FF2B5EF4-FFF2-40B4-BE49-F238E27FC236}">
                <a16:creationId xmlns:a16="http://schemas.microsoft.com/office/drawing/2014/main" id="{BC42B871-DAA1-BBF1-B375-5D0537118BC2}"/>
              </a:ext>
            </a:extLst>
          </p:cNvPr>
          <p:cNvSpPr>
            <a:spLocks noGrp="1"/>
          </p:cNvSpPr>
          <p:nvPr>
            <p:ph idx="1"/>
          </p:nvPr>
        </p:nvSpPr>
        <p:spPr/>
        <p:txBody>
          <a:bodyPr anchor="ctr"/>
          <a:lstStyle/>
          <a:p>
            <a:r>
              <a:rPr lang="en-US" noProof="0" dirty="0"/>
              <a:t>More extensive OpenMP pragma support challenging</a:t>
            </a:r>
          </a:p>
          <a:p>
            <a:pPr lvl="1"/>
            <a:r>
              <a:rPr lang="en-US" noProof="0" dirty="0"/>
              <a:t>Would require SIMD-specific for_each</a:t>
            </a:r>
          </a:p>
          <a:p>
            <a:r>
              <a:rPr lang="en-US" noProof="0" dirty="0"/>
              <a:t>SIMD-aware traversers: possible with computation-aware abstractions</a:t>
            </a:r>
          </a:p>
          <a:p>
            <a:pPr lvl="1"/>
            <a:r>
              <a:rPr lang="en-US" noProof="0" dirty="0"/>
              <a:t>Noarr already implements “planners” </a:t>
            </a:r>
            <a:r>
              <a:rPr lang="en-US" noProof="0" dirty="0">
                <a:sym typeface="Wingdings" panose="05000000000000000000" pitchFamily="2" charset="2"/>
              </a:rPr>
              <a:t> traversers that store the computation and enable more expressive transformations</a:t>
            </a:r>
            <a:endParaRPr lang="en-US" noProof="0" dirty="0"/>
          </a:p>
        </p:txBody>
      </p:sp>
      <p:sp>
        <p:nvSpPr>
          <p:cNvPr id="4" name="Date Placeholder 3">
            <a:extLst>
              <a:ext uri="{FF2B5EF4-FFF2-40B4-BE49-F238E27FC236}">
                <a16:creationId xmlns:a16="http://schemas.microsoft.com/office/drawing/2014/main" id="{1892527F-86FC-931B-BB6D-A846949E1C75}"/>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8311E580-80EB-54AE-90EB-F7D45DA0B45E}"/>
              </a:ext>
            </a:extLst>
          </p:cNvPr>
          <p:cNvSpPr>
            <a:spLocks noGrp="1"/>
          </p:cNvSpPr>
          <p:nvPr>
            <p:ph type="sldNum" sz="quarter" idx="12"/>
          </p:nvPr>
        </p:nvSpPr>
        <p:spPr/>
        <p:txBody>
          <a:bodyPr/>
          <a:lstStyle/>
          <a:p>
            <a:fld id="{DA0BB241-1B5F-4309-9407-9EEA04D9598D}" type="slidenum">
              <a:rPr lang="en-US" noProof="0" smtClean="0"/>
              <a:t>38</a:t>
            </a:fld>
            <a:endParaRPr lang="en-US" noProof="0" dirty="0"/>
          </a:p>
        </p:txBody>
      </p:sp>
    </p:spTree>
    <p:extLst>
      <p:ext uri="{BB962C8B-B14F-4D97-AF65-F5344CB8AC3E}">
        <p14:creationId xmlns:p14="http://schemas.microsoft.com/office/powerpoint/2010/main" val="20295816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noProof="0"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noProof="0" dirty="0"/>
              <a:t>We do not claim to invent these two concepts as new paradigms</a:t>
            </a:r>
          </a:p>
          <a:p>
            <a:pPr lvl="1"/>
            <a:r>
              <a:rPr lang="en-US" noProof="0" dirty="0"/>
              <a:t>The thesis explicitly studies the two concepts</a:t>
            </a:r>
          </a:p>
          <a:p>
            <a:pPr lvl="2"/>
            <a:r>
              <a:rPr lang="en-US" noProof="0" dirty="0"/>
              <a:t>introducing them as two identified underexplored principles</a:t>
            </a:r>
          </a:p>
          <a:p>
            <a:pPr lvl="1"/>
            <a:r>
              <a:rPr lang="en-US" noProof="0" dirty="0"/>
              <a:t>Not targeted by prior research or design in HPC algorithms</a:t>
            </a:r>
          </a:p>
          <a:p>
            <a:r>
              <a:rPr lang="en-US" noProof="0" dirty="0"/>
              <a:t>Main novelty</a:t>
            </a:r>
          </a:p>
          <a:p>
            <a:pPr lvl="1"/>
            <a:r>
              <a:rPr lang="en-US" noProof="0" dirty="0"/>
              <a:t>Unified approach for layout &amp; traversal-agnostic algorithm design</a:t>
            </a:r>
          </a:p>
          <a:p>
            <a:pPr lvl="1"/>
            <a:r>
              <a:rPr lang="en-US" noProof="0" dirty="0"/>
              <a:t>Named dimensions and compositional approach</a:t>
            </a:r>
          </a:p>
          <a:p>
            <a:pPr lvl="1"/>
            <a:r>
              <a:rPr lang="en-US" noProof="0" dirty="0"/>
              <a:t>Support for heterogeneous layouts</a:t>
            </a:r>
          </a:p>
          <a:p>
            <a:pPr lvl="1"/>
            <a:r>
              <a:rPr lang="en-US" noProof="0" dirty="0"/>
              <a:t>Abstracting evaluation strategy and encoding for Cellular Automata</a:t>
            </a:r>
          </a:p>
          <a:p>
            <a:endParaRPr lang="en-US" noProof="0"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noProof="0" smtClean="0"/>
              <a:t>39</a:t>
            </a:fld>
            <a:endParaRPr lang="en-US" noProof="0" dirty="0"/>
          </a:p>
        </p:txBody>
      </p:sp>
    </p:spTree>
    <p:extLst>
      <p:ext uri="{BB962C8B-B14F-4D97-AF65-F5344CB8AC3E}">
        <p14:creationId xmlns:p14="http://schemas.microsoft.com/office/powerpoint/2010/main" val="17565713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a:bodyPr>
          <a:lstStyle/>
          <a:p>
            <a:r>
              <a:rPr lang="en-US" noProof="0"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noProof="0" dirty="0"/>
              <a:t>(reaction to layout- and traversal-agnostic design)</a:t>
            </a:r>
          </a:p>
          <a:p>
            <a:endParaRPr lang="en-US" noProof="0" dirty="0"/>
          </a:p>
          <a:p>
            <a:r>
              <a:rPr lang="en-US" noProof="0" dirty="0"/>
              <a:t>Kokkos Views (and </a:t>
            </a:r>
            <a:r>
              <a:rPr lang="en-US" noProof="0" dirty="0" err="1"/>
              <a:t>mdspans</a:t>
            </a:r>
            <a:r>
              <a:rPr lang="en-US" noProof="0" dirty="0"/>
              <a:t>) abstract physical memory layout</a:t>
            </a:r>
          </a:p>
          <a:p>
            <a:pPr lvl="1"/>
            <a:r>
              <a:rPr lang="en-US" noProof="0" dirty="0"/>
              <a:t>Limited to multidimensional arrays</a:t>
            </a:r>
          </a:p>
          <a:p>
            <a:pPr lvl="1"/>
            <a:r>
              <a:rPr lang="en-US" noProof="0" dirty="0"/>
              <a:t>Mostly focus row-major vs column-major (and custom strides)</a:t>
            </a:r>
          </a:p>
          <a:p>
            <a:pPr lvl="1"/>
            <a:r>
              <a:rPr lang="en-US" noProof="0" dirty="0" err="1"/>
              <a:t>Subview</a:t>
            </a:r>
            <a:r>
              <a:rPr lang="en-US" noProof="0" dirty="0"/>
              <a:t> </a:t>
            </a:r>
            <a:r>
              <a:rPr lang="en-US" noProof="0" dirty="0">
                <a:sym typeface="Wingdings" panose="05000000000000000000" pitchFamily="2" charset="2"/>
              </a:rPr>
              <a:t> the only supported transformation</a:t>
            </a:r>
          </a:p>
          <a:p>
            <a:pPr lvl="1"/>
            <a:r>
              <a:rPr lang="en-US" noProof="0" dirty="0" err="1">
                <a:sym typeface="Wingdings" panose="05000000000000000000" pitchFamily="2" charset="2"/>
              </a:rPr>
              <a:t>CUTe</a:t>
            </a:r>
            <a:r>
              <a:rPr lang="en-US" noProof="0" dirty="0">
                <a:sym typeface="Wingdings" panose="05000000000000000000" pitchFamily="2" charset="2"/>
              </a:rPr>
              <a:t> supports more general layout algebra</a:t>
            </a:r>
          </a:p>
          <a:p>
            <a:r>
              <a:rPr lang="en-US" noProof="0" dirty="0">
                <a:sym typeface="Wingdings" panose="05000000000000000000" pitchFamily="2" charset="2"/>
              </a:rPr>
              <a:t>OpenMP (6.0)  some powerful loop transformation directives</a:t>
            </a:r>
          </a:p>
          <a:p>
            <a:pPr lvl="1"/>
            <a:r>
              <a:rPr lang="en-US" noProof="0" dirty="0"/>
              <a:t>Not exactly traversal-agnostic design; good alternative in many use cases</a:t>
            </a:r>
          </a:p>
          <a:p>
            <a:r>
              <a:rPr lang="en-US" noProof="0" dirty="0"/>
              <a:t>Some traversal-agnostic capabilities in </a:t>
            </a:r>
            <a:r>
              <a:rPr lang="en-US" noProof="0" dirty="0" err="1"/>
              <a:t>GridTools</a:t>
            </a:r>
            <a:r>
              <a:rPr lang="en-US" noProof="0"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noProof="0" smtClean="0"/>
              <a:t>40</a:t>
            </a:fld>
            <a:endParaRPr lang="en-US" noProof="0" dirty="0"/>
          </a:p>
        </p:txBody>
      </p:sp>
    </p:spTree>
    <p:extLst>
      <p:ext uri="{BB962C8B-B14F-4D97-AF65-F5344CB8AC3E}">
        <p14:creationId xmlns:p14="http://schemas.microsoft.com/office/powerpoint/2010/main" val="3901880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noProof="0"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noProof="0" dirty="0"/>
              <a:t>Mdspan, Kokkos, Raja, CuTe, </a:t>
            </a:r>
            <a:r>
              <a:rPr lang="en-US" noProof="0" dirty="0" err="1"/>
              <a:t>GridTools</a:t>
            </a:r>
            <a:r>
              <a:rPr lang="en-US" noProof="0" dirty="0"/>
              <a:t>, OpenMP loops, Noarr Cellato</a:t>
            </a:r>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noProof="0" smtClean="0"/>
              <a:t>41</a:t>
            </a:fld>
            <a:endParaRPr lang="en-US" noProof="0" dirty="0"/>
          </a:p>
        </p:txBody>
      </p:sp>
    </p:spTree>
    <p:extLst>
      <p:ext uri="{BB962C8B-B14F-4D97-AF65-F5344CB8AC3E}">
        <p14:creationId xmlns:p14="http://schemas.microsoft.com/office/powerpoint/2010/main" val="14137525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42</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noProof="0"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noProof="0" smtClean="0"/>
              <a:t>9/4/2026</a:t>
            </a:fld>
            <a:endParaRPr lang="en-US" noProof="0" dirty="0"/>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noProof="0" smtClean="0"/>
              <a:t>43</a:t>
            </a:fld>
            <a:endParaRPr lang="en-US" noProof="0" dirty="0"/>
          </a:p>
        </p:txBody>
      </p:sp>
    </p:spTree>
    <p:extLst>
      <p:ext uri="{BB962C8B-B14F-4D97-AF65-F5344CB8AC3E}">
        <p14:creationId xmlns:p14="http://schemas.microsoft.com/office/powerpoint/2010/main" val="41139591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635615"/>
            <a:ext cx="10848474" cy="4541348"/>
          </a:xfrm>
        </p:spPr>
        <p:txBody>
          <a:bodyPr>
            <a:noAutofit/>
          </a:bodyPr>
          <a:lstStyle/>
          <a:p>
            <a:r>
              <a:rPr lang="en-US" noProof="0" dirty="0"/>
              <a:t>Prompting specificity ✅</a:t>
            </a:r>
          </a:p>
          <a:p>
            <a:r>
              <a:rPr lang="en-US" noProof="0" dirty="0"/>
              <a:t>Contemporary abstractions ❌</a:t>
            </a:r>
          </a:p>
          <a:p>
            <a:endParaRPr lang="en-US" noProof="0" dirty="0"/>
          </a:p>
          <a:p>
            <a:r>
              <a:rPr lang="en-US" noProof="0" dirty="0"/>
              <a:t>Possible future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9/4/2026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44</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688871"/>
            <a:ext cx="2125390" cy="461665"/>
          </a:xfrm>
          <a:prstGeom prst="rect">
            <a:avLst/>
          </a:prstGeom>
          <a:noFill/>
        </p:spPr>
        <p:txBody>
          <a:bodyPr wrap="none" rtlCol="0">
            <a:spAutoFit/>
          </a:bodyPr>
          <a:lstStyle/>
          <a:p>
            <a:pPr algn="ctr"/>
            <a:r>
              <a:rPr lang="en-US" sz="2400" noProof="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397074"/>
            <a:ext cx="1884948" cy="461665"/>
          </a:xfrm>
          <a:prstGeom prst="rect">
            <a:avLst/>
          </a:prstGeom>
          <a:noFill/>
        </p:spPr>
        <p:txBody>
          <a:bodyPr wrap="square">
            <a:spAutoFit/>
          </a:bodyPr>
          <a:lstStyle/>
          <a:p>
            <a:pPr algn="ctr"/>
            <a:r>
              <a:rPr lang="en-US" sz="2400" noProof="0" dirty="0"/>
              <a:t>determinism</a:t>
            </a:r>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tags/tag1.xml><?xml version="1.0" encoding="utf-8"?>
<p:tagLst xmlns:a="http://schemas.openxmlformats.org/drawingml/2006/main" xmlns:r="http://schemas.openxmlformats.org/officeDocument/2006/relationships" xmlns:p="http://schemas.openxmlformats.org/presentationml/2006/main">
  <p:tag name="TIMING" val="|7.9|11.1|5|8.8|10.1|10.9"/>
</p:tagLst>
</file>

<file path=ppt/tags/tag2.xml><?xml version="1.0" encoding="utf-8"?>
<p:tagLst xmlns:a="http://schemas.openxmlformats.org/drawingml/2006/main" xmlns:r="http://schemas.openxmlformats.org/officeDocument/2006/relationships" xmlns:p="http://schemas.openxmlformats.org/presentationml/2006/main">
  <p:tag name="TIMING" val="|33.7|26.9"/>
</p:tagLst>
</file>

<file path=ppt/tags/tag3.xml><?xml version="1.0" encoding="utf-8"?>
<p:tagLst xmlns:a="http://schemas.openxmlformats.org/drawingml/2006/main" xmlns:r="http://schemas.openxmlformats.org/officeDocument/2006/relationships" xmlns:p="http://schemas.openxmlformats.org/presentationml/2006/main">
  <p:tag name="TIMING" val="|19.8|4.8|7.2|11.1"/>
</p:tagLst>
</file>

<file path=ppt/tags/tag4.xml><?xml version="1.0" encoding="utf-8"?>
<p:tagLst xmlns:a="http://schemas.openxmlformats.org/drawingml/2006/main" xmlns:r="http://schemas.openxmlformats.org/officeDocument/2006/relationships" xmlns:p="http://schemas.openxmlformats.org/presentationml/2006/main">
  <p:tag name="TIMING" val="|18.2|40.5|7.7|6.6|24.4|29.2"/>
</p:tagLst>
</file>

<file path=ppt/tags/tag5.xml><?xml version="1.0" encoding="utf-8"?>
<p:tagLst xmlns:a="http://schemas.openxmlformats.org/drawingml/2006/main" xmlns:r="http://schemas.openxmlformats.org/officeDocument/2006/relationships" xmlns:p="http://schemas.openxmlformats.org/presentationml/2006/main">
  <p:tag name="TIMING" val="|47.9|45.9"/>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7788</TotalTime>
  <Words>5399</Words>
  <Application>Microsoft Office PowerPoint</Application>
  <PresentationFormat>Widescreen</PresentationFormat>
  <Paragraphs>850</Paragraphs>
  <Slides>44</Slides>
  <Notes>35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44</vt:i4>
      </vt:variant>
    </vt:vector>
  </HeadingPairs>
  <TitlesOfParts>
    <vt:vector size="51" baseType="lpstr">
      <vt:lpstr>Aptos</vt:lpstr>
      <vt:lpstr>Aptos Display</vt:lpstr>
      <vt:lpstr>Arial</vt:lpstr>
      <vt:lpstr>Cambria Math</vt:lpstr>
      <vt:lpstr>Fira Code</vt:lpstr>
      <vt:lpstr>Wingdings</vt:lpstr>
      <vt:lpstr>Office Theme</vt:lpstr>
      <vt:lpstr>Optimizing Memory Layouts and Traversal Orders in HPC</vt:lpstr>
      <vt:lpstr>Motivation</vt:lpstr>
      <vt:lpstr>Why layouts matter</vt:lpstr>
      <vt:lpstr>Layout-agnostic design</vt:lpstr>
      <vt:lpstr>Layout abstractions (Noarr)</vt:lpstr>
      <vt:lpstr>Traversal abstractions</vt:lpstr>
      <vt:lpstr>Structures with different index spaces</vt:lpstr>
      <vt:lpstr>Traversal transformations</vt:lpstr>
      <vt:lpstr>Traversal parallelization</vt:lpstr>
      <vt:lpstr>Autotuning</vt:lpstr>
      <vt:lpstr>Autotuning</vt:lpstr>
      <vt:lpstr>Performance</vt:lpstr>
      <vt:lpstr>Performance</vt:lpstr>
      <vt:lpstr>Code metrics</vt:lpstr>
      <vt:lpstr>Distributed initialization using MPI</vt:lpstr>
      <vt:lpstr>Automatic transformation in communication</vt:lpstr>
      <vt:lpstr>Support for layout-agnostic data distribution</vt:lpstr>
      <vt:lpstr>Performance comparison</vt:lpstr>
      <vt:lpstr>Stencil computation abstractions</vt:lpstr>
      <vt:lpstr>Discrete stencils – Cellular  automata</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Performance results</vt:lpstr>
      <vt:lpstr>Contribution map</vt:lpstr>
      <vt:lpstr>Contribution summary</vt:lpstr>
      <vt:lpstr>Review comments and questions</vt:lpstr>
      <vt:lpstr>Why is Cellato separate from Noarr?</vt:lpstr>
      <vt:lpstr>What do you think an abstraction designed specifically for an LLM should look like?</vt:lpstr>
      <vt:lpstr> Is hvector necessary? vector more convenient?</vt:lpstr>
      <vt:lpstr>Is Noarr used outside the department?/Why not?</vt:lpstr>
      <vt:lpstr>Can Noarr naturally incorporate #pragma omp simd or SIMD-aware traversers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lpstr>LLM-guided optimization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554</cp:revision>
  <dcterms:created xsi:type="dcterms:W3CDTF">2026-08-08T18:10:38Z</dcterms:created>
  <dcterms:modified xsi:type="dcterms:W3CDTF">2026-09-04T21:58:07Z</dcterms:modified>
</cp:coreProperties>
</file>