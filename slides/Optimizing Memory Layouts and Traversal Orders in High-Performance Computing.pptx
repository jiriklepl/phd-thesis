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22" r:id="rId3"/>
    <p:sldId id="277" r:id="rId4"/>
    <p:sldId id="296" r:id="rId5"/>
    <p:sldId id="297" r:id="rId6"/>
    <p:sldId id="283" r:id="rId7"/>
    <p:sldId id="314" r:id="rId8"/>
    <p:sldId id="326" r:id="rId9"/>
    <p:sldId id="284" r:id="rId10"/>
    <p:sldId id="285" r:id="rId11"/>
    <p:sldId id="323" r:id="rId12"/>
    <p:sldId id="278" r:id="rId13"/>
    <p:sldId id="325" r:id="rId14"/>
    <p:sldId id="300" r:id="rId15"/>
    <p:sldId id="286" r:id="rId16"/>
    <p:sldId id="290" r:id="rId17"/>
    <p:sldId id="279" r:id="rId18"/>
    <p:sldId id="324" r:id="rId19"/>
    <p:sldId id="287" r:id="rId20"/>
    <p:sldId id="316" r:id="rId21"/>
    <p:sldId id="302" r:id="rId22"/>
    <p:sldId id="280" r:id="rId23"/>
    <p:sldId id="310" r:id="rId24"/>
    <p:sldId id="288" r:id="rId25"/>
    <p:sldId id="305" r:id="rId26"/>
    <p:sldId id="291" r:id="rId27"/>
    <p:sldId id="306" r:id="rId28"/>
    <p:sldId id="315" r:id="rId29"/>
    <p:sldId id="308" r:id="rId30"/>
    <p:sldId id="309" r:id="rId31"/>
    <p:sldId id="266" r:id="rId32"/>
    <p:sldId id="312" r:id="rId33"/>
    <p:sldId id="262" r:id="rId34"/>
    <p:sldId id="327" r:id="rId35"/>
    <p:sldId id="328" r:id="rId36"/>
    <p:sldId id="331" r:id="rId37"/>
    <p:sldId id="329" r:id="rId38"/>
    <p:sldId id="330" r:id="rId39"/>
    <p:sldId id="320" r:id="rId40"/>
    <p:sldId id="318" r:id="rId41"/>
    <p:sldId id="332" r:id="rId42"/>
    <p:sldId id="319" r:id="rId43"/>
    <p:sldId id="333" r:id="rId44"/>
    <p:sldId id="317" r:id="rId45"/>
    <p:sldId id="321" r:id="rId46"/>
    <p:sldId id="31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3DA01B-4D9B-48A0-906B-75ADFA7BB1A7}">
          <p14:sldIdLst>
            <p14:sldId id="256"/>
            <p14:sldId id="322"/>
            <p14:sldId id="277"/>
          </p14:sldIdLst>
        </p14:section>
        <p14:section name="algorithms" id="{7894E90A-E282-4867-82A4-369CDB973E4E}">
          <p14:sldIdLst>
            <p14:sldId id="296"/>
            <p14:sldId id="297"/>
            <p14:sldId id="283"/>
            <p14:sldId id="314"/>
            <p14:sldId id="326"/>
            <p14:sldId id="284"/>
            <p14:sldId id="285"/>
            <p14:sldId id="323"/>
            <p14:sldId id="278"/>
            <p14:sldId id="325"/>
            <p14:sldId id="300"/>
            <p14:sldId id="286"/>
            <p14:sldId id="290"/>
            <p14:sldId id="279"/>
            <p14:sldId id="324"/>
            <p14:sldId id="287"/>
            <p14:sldId id="316"/>
            <p14:sldId id="302"/>
            <p14:sldId id="280"/>
            <p14:sldId id="310"/>
          </p14:sldIdLst>
        </p14:section>
        <p14:section name="llms" id="{2FE3CF17-CBFB-48E9-A3BF-DD99B7D2F01E}">
          <p14:sldIdLst>
            <p14:sldId id="288"/>
            <p14:sldId id="305"/>
            <p14:sldId id="291"/>
            <p14:sldId id="306"/>
            <p14:sldId id="315"/>
            <p14:sldId id="308"/>
            <p14:sldId id="309"/>
          </p14:sldIdLst>
        </p14:section>
        <p14:section name="summary" id="{D3BAAF83-51D3-4EFD-B7CC-7BA6DAC4A838}">
          <p14:sldIdLst>
            <p14:sldId id="266"/>
            <p14:sldId id="312"/>
          </p14:sldIdLst>
        </p14:section>
        <p14:section name="Review comments and questions" id="{40190F67-0659-405D-810E-4AC194B72FA5}">
          <p14:sldIdLst>
            <p14:sldId id="262"/>
            <p14:sldId id="327"/>
            <p14:sldId id="328"/>
            <p14:sldId id="331"/>
            <p14:sldId id="329"/>
            <p14:sldId id="330"/>
            <p14:sldId id="320"/>
            <p14:sldId id="318"/>
            <p14:sldId id="332"/>
            <p14:sldId id="319"/>
            <p14:sldId id="333"/>
            <p14:sldId id="317"/>
            <p14:sldId id="321"/>
          </p14:sldIdLst>
        </p14:section>
        <p14:section name="supplementary" id="{5D95F6E9-DF15-476C-BE69-BBEF48AA8B86}">
          <p14:sldIdLst>
            <p14:sldId id="31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5450"/>
    <a:srgbClr val="FFFFFF"/>
    <a:srgbClr val="82B366"/>
    <a:srgbClr val="6C8EBF"/>
    <a:srgbClr val="DDDDDD"/>
    <a:srgbClr val="FBA9ED"/>
    <a:srgbClr val="BED6FA"/>
    <a:srgbClr val="B4D0FA"/>
    <a:srgbClr val="FEC842"/>
    <a:srgbClr val="FEC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44" autoAdjust="0"/>
    <p:restoredTop sz="75845" autoAdjust="0"/>
  </p:normalViewPr>
  <p:slideViewPr>
    <p:cSldViewPr snapToGrid="0">
      <p:cViewPr>
        <p:scale>
          <a:sx n="100" d="100"/>
          <a:sy n="100" d="100"/>
        </p:scale>
        <p:origin x="4092" y="72"/>
      </p:cViewPr>
      <p:guideLst>
        <p:guide orient="horz" pos="2160"/>
        <p:guide pos="3840"/>
      </p:guideLst>
    </p:cSldViewPr>
  </p:slideViewPr>
  <p:outlineViewPr>
    <p:cViewPr>
      <p:scale>
        <a:sx n="33" d="100"/>
        <a:sy n="33" d="100"/>
      </p:scale>
      <p:origin x="0" y="-4716"/>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21" d="100"/>
          <a:sy n="121" d="100"/>
        </p:scale>
        <p:origin x="680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5C982-A1C5-4AC2-B4BF-466515DA1494}"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FD632-245B-410D-BCC4-8BF8D37AB67F}" type="slidenum">
              <a:rPr lang="en-US" smtClean="0"/>
              <a:t>‹#›</a:t>
            </a:fld>
            <a:endParaRPr lang="en-US"/>
          </a:p>
        </p:txBody>
      </p:sp>
    </p:spTree>
    <p:extLst>
      <p:ext uri="{BB962C8B-B14F-4D97-AF65-F5344CB8AC3E}">
        <p14:creationId xmlns:p14="http://schemas.microsoft.com/office/powerpoint/2010/main" val="361035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Good morning,</a:t>
            </a:r>
          </a:p>
          <a:p>
            <a:r>
              <a:rPr lang="en-US" sz="1200" b="0" kern="1200" dirty="0">
                <a:solidFill>
                  <a:schemeClr val="tx1"/>
                </a:solidFill>
                <a:effectLst/>
                <a:latin typeface="+mn-lt"/>
                <a:ea typeface="+mn-ea"/>
                <a:cs typeface="+mn-cs"/>
              </a:rPr>
              <a:t>Esteemed members of the committee, I’d like to present you my research.</a:t>
            </a:r>
          </a:p>
        </p:txBody>
      </p:sp>
      <p:sp>
        <p:nvSpPr>
          <p:cNvPr id="4" name="Slide Number Placeholder 3"/>
          <p:cNvSpPr>
            <a:spLocks noGrp="1"/>
          </p:cNvSpPr>
          <p:nvPr>
            <p:ph type="sldNum" sz="quarter" idx="5"/>
          </p:nvPr>
        </p:nvSpPr>
        <p:spPr/>
        <p:txBody>
          <a:bodyPr/>
          <a:lstStyle/>
          <a:p>
            <a:fld id="{FA8FD632-245B-410D-BCC4-8BF8D37AB67F}" type="slidenum">
              <a:rPr lang="en-US" smtClean="0"/>
              <a:t>1</a:t>
            </a:fld>
            <a:endParaRPr lang="en-US" dirty="0"/>
          </a:p>
        </p:txBody>
      </p:sp>
    </p:spTree>
    <p:extLst>
      <p:ext uri="{BB962C8B-B14F-4D97-AF65-F5344CB8AC3E}">
        <p14:creationId xmlns:p14="http://schemas.microsoft.com/office/powerpoint/2010/main" val="1093630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2</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3</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4</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5</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6</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7</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8</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9</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10</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11</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the abstractions pose no runtime overhead)</a:t>
            </a:r>
          </a:p>
          <a:p>
            <a:endParaRPr lang="en-US" dirty="0"/>
          </a:p>
          <a:p>
            <a:r>
              <a:rPr lang="en-US" dirty="0"/>
              <a:t>We have evaluated the abstractions on </a:t>
            </a:r>
            <a:r>
              <a:rPr lang="en-US" dirty="0" err="1"/>
              <a:t>PolyBench</a:t>
            </a:r>
            <a:r>
              <a:rPr lang="en-US" dirty="0"/>
              <a:t>/C, a standard HPC benchmark suite with algorithms from different areas, reimplementing each algorithm using Noarr and comparing them to the C baselines.</a:t>
            </a:r>
          </a:p>
          <a:p>
            <a:endParaRPr lang="en-US" dirty="0"/>
          </a:p>
          <a:p>
            <a:r>
              <a:rPr lang="en-US" dirty="0"/>
              <a:t>The plot shows the relative speedup, highlighting the difference in performance; most implementations perform on par, showing the abstraction does not introduce measurable runtime overhead.</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12</a:t>
            </a:fld>
            <a:endParaRPr lang="en-US"/>
          </a:p>
        </p:txBody>
      </p:sp>
    </p:spTree>
    <p:extLst>
      <p:ext uri="{BB962C8B-B14F-4D97-AF65-F5344CB8AC3E}">
        <p14:creationId xmlns:p14="http://schemas.microsoft.com/office/powerpoint/2010/main" val="2770268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231C-99AF-A37D-3B97-99027AEC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6B43E-916F-F0E8-143C-150E2EA8DA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34A780-56D1-B3D7-FD6B-22EBBB772E35}"/>
              </a:ext>
            </a:extLst>
          </p:cNvPr>
          <p:cNvSpPr>
            <a:spLocks noGrp="1"/>
          </p:cNvSpPr>
          <p:nvPr>
            <p:ph type="body" idx="1"/>
          </p:nvPr>
        </p:nvSpPr>
        <p:spPr/>
        <p:txBody>
          <a:bodyPr/>
          <a:lstStyle/>
          <a:p>
            <a:r>
              <a:rPr lang="en-US" dirty="0"/>
              <a:t>(key idea: the abstractions pose no runtime overhead)</a:t>
            </a:r>
          </a:p>
          <a:p>
            <a:endParaRPr lang="en-US" dirty="0"/>
          </a:p>
          <a:p>
            <a:r>
              <a:rPr lang="en-US" dirty="0"/>
              <a:t>(…)</a:t>
            </a:r>
          </a:p>
          <a:p>
            <a:endParaRPr lang="en-US" dirty="0"/>
          </a:p>
          <a:p>
            <a:r>
              <a:rPr lang="en-US" dirty="0"/>
              <a:t>For parallelization, we reimplemented OpenMP- and TBB-parallelized modifications of some algorithms, as well as the </a:t>
            </a:r>
            <a:r>
              <a:rPr lang="en-US" dirty="0" err="1"/>
              <a:t>PolyBench</a:t>
            </a:r>
            <a:r>
              <a:rPr lang="en-US" dirty="0"/>
              <a:t>/GPU suite, and obtained similar results.</a:t>
            </a:r>
          </a:p>
        </p:txBody>
      </p:sp>
      <p:sp>
        <p:nvSpPr>
          <p:cNvPr id="4" name="Slide Number Placeholder 3">
            <a:extLst>
              <a:ext uri="{FF2B5EF4-FFF2-40B4-BE49-F238E27FC236}">
                <a16:creationId xmlns:a16="http://schemas.microsoft.com/office/drawing/2014/main" id="{9CDDD263-2623-C8A3-A72C-EAD1D38E6FD1}"/>
              </a:ext>
            </a:extLst>
          </p:cNvPr>
          <p:cNvSpPr>
            <a:spLocks noGrp="1"/>
          </p:cNvSpPr>
          <p:nvPr>
            <p:ph type="sldNum" sz="quarter" idx="5"/>
          </p:nvPr>
        </p:nvSpPr>
        <p:spPr/>
        <p:txBody>
          <a:bodyPr/>
          <a:lstStyle/>
          <a:p>
            <a:fld id="{FA8FD632-245B-410D-BCC4-8BF8D37AB67F}" type="slidenum">
              <a:rPr lang="en-US" smtClean="0"/>
              <a:t>13</a:t>
            </a:fld>
            <a:endParaRPr lang="en-US"/>
          </a:p>
        </p:txBody>
      </p:sp>
    </p:spTree>
    <p:extLst>
      <p:ext uri="{BB962C8B-B14F-4D97-AF65-F5344CB8AC3E}">
        <p14:creationId xmlns:p14="http://schemas.microsoft.com/office/powerpoint/2010/main" val="1142521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14</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15</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16</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it is very great)</a:t>
            </a:r>
          </a:p>
          <a:p>
            <a:endParaRPr lang="en-US" dirty="0"/>
          </a:p>
          <a:p>
            <a:r>
              <a:rPr lang="en-US" dirty="0"/>
              <a:t>We have compared our approach with various state-of-the-art C++ MPI bindings in terms of how they support layout-agnostic data distribution. For that, we have identified 6 main characteristics.</a:t>
            </a:r>
          </a:p>
          <a:p>
            <a:endParaRPr lang="en-US" dirty="0"/>
          </a:p>
          <a:p>
            <a:r>
              <a:rPr lang="en-US" dirty="0"/>
              <a:t>Our approach is the only one that automatically handles differing physical layouts of multidimensional data on opposite endpoints of communication,</a:t>
            </a:r>
          </a:p>
          <a:p>
            <a:r>
              <a:rPr lang="en-US" dirty="0"/>
              <a:t>checks type safety and supports collective operations such as scatter and gather.</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17</a:t>
            </a:fld>
            <a:endParaRPr lang="en-US"/>
          </a:p>
        </p:txBody>
      </p:sp>
    </p:spTree>
    <p:extLst>
      <p:ext uri="{BB962C8B-B14F-4D97-AF65-F5344CB8AC3E}">
        <p14:creationId xmlns:p14="http://schemas.microsoft.com/office/powerpoint/2010/main" val="2799059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83BFA-8783-1636-904D-607405B47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AAE5-A878-F56E-4C09-318E4AB2F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B76B8-E708-FD49-531B-1B09985ABB4E}"/>
              </a:ext>
            </a:extLst>
          </p:cNvPr>
          <p:cNvSpPr>
            <a:spLocks noGrp="1"/>
          </p:cNvSpPr>
          <p:nvPr>
            <p:ph type="body" idx="1"/>
          </p:nvPr>
        </p:nvSpPr>
        <p:spPr/>
        <p:txBody>
          <a:bodyPr/>
          <a:lstStyle/>
          <a:p>
            <a:r>
              <a:rPr lang="en-US" dirty="0"/>
              <a:t>(key idea: it is very great)</a:t>
            </a:r>
          </a:p>
          <a:p>
            <a:endParaRPr lang="en-US" dirty="0"/>
          </a:p>
          <a:p>
            <a:r>
              <a:rPr lang="en-US" dirty="0"/>
              <a:t>(…)</a:t>
            </a:r>
          </a:p>
          <a:p>
            <a:endParaRPr lang="en-US" dirty="0"/>
          </a:p>
          <a:p>
            <a:r>
              <a:rPr lang="en-US" dirty="0"/>
              <a:t>In terms of performance, our approach does not add a significant overhead compared to a hand-written native MPI distributed computation.</a:t>
            </a:r>
          </a:p>
          <a:p>
            <a:endParaRPr lang="en-US" dirty="0"/>
          </a:p>
          <a:p>
            <a:r>
              <a:rPr lang="en-US" dirty="0"/>
              <a:t>Here we show the runtime of an application using various bindings; lower is better.</a:t>
            </a:r>
          </a:p>
          <a:p>
            <a:endParaRPr lang="en-US" dirty="0"/>
          </a:p>
          <a:p>
            <a:r>
              <a:rPr lang="en-US" dirty="0"/>
              <a:t>The plot on the left shows the computation on small data of various layouts, highlighting the possible performance overhead introduced by the MPI bindings,</a:t>
            </a:r>
            <a:br>
              <a:rPr lang="en-US" dirty="0"/>
            </a:br>
            <a:r>
              <a:rPr lang="en-US" dirty="0"/>
              <a:t>while the one on the right highlights possible performance differences between different choices of layouts.</a:t>
            </a:r>
          </a:p>
          <a:p>
            <a:endParaRPr lang="en-US" dirty="0"/>
          </a:p>
          <a:p>
            <a:r>
              <a:rPr lang="en-US" dirty="0"/>
              <a:t>In both plots, our approach performs on par with the hand-written implementation.</a:t>
            </a:r>
          </a:p>
        </p:txBody>
      </p:sp>
      <p:sp>
        <p:nvSpPr>
          <p:cNvPr id="4" name="Slide Number Placeholder 3">
            <a:extLst>
              <a:ext uri="{FF2B5EF4-FFF2-40B4-BE49-F238E27FC236}">
                <a16:creationId xmlns:a16="http://schemas.microsoft.com/office/drawing/2014/main" id="{ECDBFCA8-23DF-8800-D1EA-B5EF55065B8A}"/>
              </a:ext>
            </a:extLst>
          </p:cNvPr>
          <p:cNvSpPr>
            <a:spLocks noGrp="1"/>
          </p:cNvSpPr>
          <p:nvPr>
            <p:ph type="sldNum" sz="quarter" idx="5"/>
          </p:nvPr>
        </p:nvSpPr>
        <p:spPr/>
        <p:txBody>
          <a:bodyPr/>
          <a:lstStyle/>
          <a:p>
            <a:fld id="{FA8FD632-245B-410D-BCC4-8BF8D37AB67F}" type="slidenum">
              <a:rPr lang="en-US" smtClean="0"/>
              <a:t>18</a:t>
            </a:fld>
            <a:endParaRPr lang="en-US"/>
          </a:p>
        </p:txBody>
      </p:sp>
    </p:spTree>
    <p:extLst>
      <p:ext uri="{BB962C8B-B14F-4D97-AF65-F5344CB8AC3E}">
        <p14:creationId xmlns:p14="http://schemas.microsoft.com/office/powerpoint/2010/main" val="1100732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19</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20</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there is some template metaprogramming magic that enables cool stuff)</a:t>
            </a:r>
          </a:p>
          <a:p>
            <a:endParaRPr lang="en-US" dirty="0"/>
          </a:p>
          <a:p>
            <a:r>
              <a:rPr lang="en-US" dirty="0"/>
              <a:t>This type-level expression can then be evaluated by applying specific templated components via metaprogramming; they specify</a:t>
            </a:r>
          </a:p>
          <a:p>
            <a:pPr marL="171450" indent="-171450">
              <a:buFontTx/>
              <a:buChar char="-"/>
            </a:pPr>
            <a:r>
              <a:rPr lang="en-US" dirty="0"/>
              <a:t>How the grid and the cells are encoded</a:t>
            </a:r>
          </a:p>
          <a:p>
            <a:pPr marL="171450" indent="-171450">
              <a:buFontTx/>
              <a:buChar char="-"/>
            </a:pPr>
            <a:r>
              <a:rPr lang="en-US" dirty="0"/>
              <a:t>How the update rules should be computed</a:t>
            </a:r>
          </a:p>
          <a:p>
            <a:pPr marL="171450" indent="-171450">
              <a:buFontTx/>
              <a:buChar char="-"/>
            </a:pPr>
            <a:r>
              <a:rPr lang="en-US" dirty="0"/>
              <a:t>Order of computation as well as the parallelization</a:t>
            </a:r>
          </a:p>
          <a:p>
            <a:pPr marL="171450" indent="-171450">
              <a:buFontTx/>
              <a:buChar char="-"/>
            </a:pPr>
            <a:endParaRPr lang="en-US" dirty="0"/>
          </a:p>
          <a:p>
            <a:pPr marL="0" indent="0">
              <a:buFontTx/>
              <a:buNone/>
            </a:pPr>
            <a:r>
              <a:rPr lang="en-US" dirty="0"/>
              <a:t>This enables faster development and prototyping of the automata and simplifies experimental exploration of different optimization techniques.</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21</a:t>
            </a:fld>
            <a:endParaRPr lang="en-US"/>
          </a:p>
        </p:txBody>
      </p:sp>
    </p:spTree>
    <p:extLst>
      <p:ext uri="{BB962C8B-B14F-4D97-AF65-F5344CB8AC3E}">
        <p14:creationId xmlns:p14="http://schemas.microsoft.com/office/powerpoint/2010/main" val="45410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it can be fast)</a:t>
            </a:r>
          </a:p>
          <a:p>
            <a:endParaRPr lang="en-US" dirty="0"/>
          </a:p>
          <a:p>
            <a:r>
              <a:rPr lang="en-US" dirty="0"/>
              <a:t>Here, we visualize possible speedup gains enabled by the applicable optimization strategies on multiple cellular automata.</a:t>
            </a:r>
          </a:p>
          <a:p>
            <a:r>
              <a:rPr lang="en-US" dirty="0"/>
              <a:t>The plot shows that for most of the automata, the right choice of (automatically applied) optimizations may lead to between one and two orders of magnitude over already GPU-parallelized solutions.</a:t>
            </a:r>
          </a:p>
        </p:txBody>
      </p:sp>
      <p:sp>
        <p:nvSpPr>
          <p:cNvPr id="4" name="Slide Number Placeholder 3"/>
          <p:cNvSpPr>
            <a:spLocks noGrp="1"/>
          </p:cNvSpPr>
          <p:nvPr>
            <p:ph type="sldNum" sz="quarter" idx="5"/>
          </p:nvPr>
        </p:nvSpPr>
        <p:spPr/>
        <p:txBody>
          <a:bodyPr/>
          <a:lstStyle/>
          <a:p>
            <a:fld id="{FA8FD632-245B-410D-BCC4-8BF8D37AB67F}" type="slidenum">
              <a:rPr lang="en-US" smtClean="0"/>
              <a:t>22</a:t>
            </a:fld>
            <a:endParaRPr lang="en-US"/>
          </a:p>
        </p:txBody>
      </p:sp>
    </p:spTree>
    <p:extLst>
      <p:ext uri="{BB962C8B-B14F-4D97-AF65-F5344CB8AC3E}">
        <p14:creationId xmlns:p14="http://schemas.microsoft.com/office/powerpoint/2010/main" val="1504701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23</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24</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25</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9621-2A59-0C97-52C0-C33469B00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D564E-A314-C164-F46B-625533C8E4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9CA489-8F89-177F-1849-D0ED6E03E381}"/>
              </a:ext>
            </a:extLst>
          </p:cNvPr>
          <p:cNvSpPr>
            <a:spLocks noGrp="1"/>
          </p:cNvSpPr>
          <p:nvPr>
            <p:ph type="body" idx="1"/>
          </p:nvPr>
        </p:nvSpPr>
        <p:spPr/>
        <p:txBody>
          <a:bodyPr/>
          <a:lstStyle/>
          <a:p>
            <a:r>
              <a:rPr lang="en-US" dirty="0"/>
              <a:t>(key idea: the performance progression matches the assumption)</a:t>
            </a:r>
          </a:p>
          <a:p>
            <a:endParaRPr lang="en-US" dirty="0"/>
          </a:p>
          <a:p>
            <a:r>
              <a:rPr lang="en-US" dirty="0"/>
              <a:t>Here, we can see the plots for the runtime measurements of the generated code for the Histogram and Game of Life algorithms. (lower is better)</a:t>
            </a:r>
          </a:p>
          <a:p>
            <a:endParaRPr lang="en-US" dirty="0"/>
          </a:p>
          <a:p>
            <a:r>
              <a:rPr lang="en-US" dirty="0"/>
              <a:t>The x-axis of both indicates increasingly specific prompts, and the horizontal lines mark various reference implementations.</a:t>
            </a:r>
          </a:p>
          <a:p>
            <a:endParaRPr lang="en-US" dirty="0"/>
          </a:p>
          <a:p>
            <a:r>
              <a:rPr lang="en-US" dirty="0"/>
              <a:t>The performance improves with more specific prompts, which is slightly noticeable for the Histogram algorithm, and more so for the Game of Life algorithm.</a:t>
            </a:r>
          </a:p>
        </p:txBody>
      </p:sp>
      <p:sp>
        <p:nvSpPr>
          <p:cNvPr id="4" name="Slide Number Placeholder 3">
            <a:extLst>
              <a:ext uri="{FF2B5EF4-FFF2-40B4-BE49-F238E27FC236}">
                <a16:creationId xmlns:a16="http://schemas.microsoft.com/office/drawing/2014/main" id="{EDF542DA-3928-5CE4-0AD1-F0FEC77A5027}"/>
              </a:ext>
            </a:extLst>
          </p:cNvPr>
          <p:cNvSpPr>
            <a:spLocks noGrp="1"/>
          </p:cNvSpPr>
          <p:nvPr>
            <p:ph type="sldNum" sz="quarter" idx="5"/>
          </p:nvPr>
        </p:nvSpPr>
        <p:spPr/>
        <p:txBody>
          <a:bodyPr/>
          <a:lstStyle/>
          <a:p>
            <a:fld id="{FA8FD632-245B-410D-BCC4-8BF8D37AB67F}" type="slidenum">
              <a:rPr lang="en-US" smtClean="0"/>
              <a:t>26</a:t>
            </a:fld>
            <a:endParaRPr lang="en-US"/>
          </a:p>
        </p:txBody>
      </p:sp>
    </p:spTree>
    <p:extLst>
      <p:ext uri="{BB962C8B-B14F-4D97-AF65-F5344CB8AC3E}">
        <p14:creationId xmlns:p14="http://schemas.microsoft.com/office/powerpoint/2010/main" val="1253381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F462-4618-DB58-BD2C-D66FAB5C1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319C-5AB9-E042-F397-3CA5072113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9EDBE9-BF48-3D37-0D9B-16FC8FC0CFEB}"/>
              </a:ext>
            </a:extLst>
          </p:cNvPr>
          <p:cNvSpPr>
            <a:spLocks noGrp="1"/>
          </p:cNvSpPr>
          <p:nvPr>
            <p:ph type="body" idx="1"/>
          </p:nvPr>
        </p:nvSpPr>
        <p:spPr/>
        <p:txBody>
          <a:bodyPr/>
          <a:lstStyle/>
          <a:p>
            <a:r>
              <a:rPr lang="en-US" dirty="0"/>
              <a:t>(key idea: LLMs improve over time, the complexity threshold shifts)</a:t>
            </a:r>
          </a:p>
          <a:p>
            <a:endParaRPr lang="en-US" dirty="0"/>
          </a:p>
          <a:p>
            <a:r>
              <a:rPr lang="en-US" dirty="0"/>
              <a:t>When we presented our results at the EuroPar conference, the LLM state of the art had already shifted.</a:t>
            </a:r>
          </a:p>
          <a:p>
            <a:r>
              <a:rPr lang="en-US" dirty="0"/>
              <a:t>The then-current GPT-5 provided expert-level performance on the Game of Life algorithm for all prompts except the naïve one, and it successfully benefited from tutoring for the k-Nearest Neighbor algorithm.</a:t>
            </a:r>
          </a:p>
        </p:txBody>
      </p:sp>
      <p:sp>
        <p:nvSpPr>
          <p:cNvPr id="4" name="Slide Number Placeholder 3">
            <a:extLst>
              <a:ext uri="{FF2B5EF4-FFF2-40B4-BE49-F238E27FC236}">
                <a16:creationId xmlns:a16="http://schemas.microsoft.com/office/drawing/2014/main" id="{81EBB06B-5F9F-67CB-9987-DDB9DCE896EA}"/>
              </a:ext>
            </a:extLst>
          </p:cNvPr>
          <p:cNvSpPr>
            <a:spLocks noGrp="1"/>
          </p:cNvSpPr>
          <p:nvPr>
            <p:ph type="sldNum" sz="quarter" idx="5"/>
          </p:nvPr>
        </p:nvSpPr>
        <p:spPr/>
        <p:txBody>
          <a:bodyPr/>
          <a:lstStyle/>
          <a:p>
            <a:fld id="{FA8FD632-245B-410D-BCC4-8BF8D37AB67F}" type="slidenum">
              <a:rPr lang="en-US" smtClean="0"/>
              <a:t>27</a:t>
            </a:fld>
            <a:endParaRPr lang="en-US"/>
          </a:p>
        </p:txBody>
      </p:sp>
    </p:spTree>
    <p:extLst>
      <p:ext uri="{BB962C8B-B14F-4D97-AF65-F5344CB8AC3E}">
        <p14:creationId xmlns:p14="http://schemas.microsoft.com/office/powerpoint/2010/main" val="2367210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28</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29</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we show the expected speedup and validity for the different abstractions and C. (in both cases, upper is better)</a:t>
            </a:r>
          </a:p>
          <a:p>
            <a:r>
              <a:rPr lang="en-US" dirty="0"/>
              <a:t>The x-axis shows the number of attempts; more attempts generally lead to a higher chance of finding a successful optimization.</a:t>
            </a:r>
          </a:p>
          <a:p>
            <a:r>
              <a:rPr lang="en-US" dirty="0"/>
              <a:t>Different columns show different prompting strategies.</a:t>
            </a:r>
            <a:br>
              <a:rPr lang="en-US" dirty="0"/>
            </a:br>
            <a:br>
              <a:rPr lang="en-US" dirty="0"/>
            </a:br>
            <a:r>
              <a:rPr lang="en-US" dirty="0"/>
              <a:t>We observed that the tested abstractions worsened both performance and correctness of the generated code, as generating C code yielded the best performance and correctness overall.</a:t>
            </a:r>
          </a:p>
          <a:p>
            <a:r>
              <a:rPr lang="en-US" dirty="0"/>
              <a:t>Furthermore, the choice of prompting strategy had a greater effect than the choice of representation.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30</a:t>
            </a:fld>
            <a:endParaRPr lang="en-US"/>
          </a:p>
        </p:txBody>
      </p:sp>
    </p:spTree>
    <p:extLst>
      <p:ext uri="{BB962C8B-B14F-4D97-AF65-F5344CB8AC3E}">
        <p14:creationId xmlns:p14="http://schemas.microsoft.com/office/powerpoint/2010/main" val="20157668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31</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33</a:t>
            </a:fld>
            <a:endParaRPr lang="en-US"/>
          </a:p>
        </p:txBody>
      </p:sp>
    </p:spTree>
    <p:extLst>
      <p:ext uri="{BB962C8B-B14F-4D97-AF65-F5344CB8AC3E}">
        <p14:creationId xmlns:p14="http://schemas.microsoft.com/office/powerpoint/2010/main" val="3029645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36</a:t>
            </a:fld>
            <a:endParaRPr lang="en-US"/>
          </a:p>
        </p:txBody>
      </p:sp>
    </p:spTree>
    <p:extLst>
      <p:ext uri="{BB962C8B-B14F-4D97-AF65-F5344CB8AC3E}">
        <p14:creationId xmlns:p14="http://schemas.microsoft.com/office/powerpoint/2010/main" val="494376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r>
              <a:rPr lang="en-US" dirty="0"/>
              <a:t>On the other hand, the text suffers from overstated novelty. The text is written in a way that risks giving the impression that the candidate invented the two </a:t>
            </a:r>
            <a:r>
              <a:rPr lang="en-US" dirty="0" err="1"/>
              <a:t>optimisation</a:t>
            </a:r>
            <a:r>
              <a:rPr lang="en-US" dirty="0"/>
              <a:t> paradigms (layout-agnostic and traversal-agnostic design) outright. This is misleading and, notably, does not serve the candidate's own case well: the candidate's contribution here is best </a:t>
            </a:r>
            <a:r>
              <a:rPr lang="en-US" dirty="0" err="1"/>
              <a:t>characterised</a:t>
            </a:r>
            <a:r>
              <a:rPr lang="en-US" dirty="0"/>
              <a:t> as a minor, incremental one within an existing landscape of </a:t>
            </a:r>
            <a:r>
              <a:rPr lang="en-US" dirty="0" err="1"/>
              <a:t>optimisations</a:t>
            </a:r>
            <a:r>
              <a:rPr lang="en-US" dirty="0"/>
              <a:t>. Which of these ideas can also be found in software like Kokkos or OpenMP's loop transformations?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My intention was to introduce the two “paradigms” as explicitly named design directions for improving user-directed optimization of algorithms in HPC. I agree that the wording could have been more careful.</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Kokkos views and their related </a:t>
            </a:r>
            <a:r>
              <a:rPr lang="en-US" dirty="0" err="1"/>
              <a:t>mdspans</a:t>
            </a:r>
            <a:r>
              <a:rPr lang="en-US" dirty="0"/>
              <a:t> from the standard C++ library support some level of layout agnosticism; namely, they enable defining general interfaces for multidimensional arrays as well as their (rectangular) sub-arrays, which might be useful, for example, for divide-and-conquer strategies in layout-agnostic algorithms.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This, even by itself, is very useful, and CuTe even provides a particularly powerful layout algebra for tensor computation on GPUs, but does not provide the same unified generalization to traversals, autotuning support, and MPI integration.</a:t>
            </a:r>
            <a:br>
              <a:rPr lang="en-US" baseline="0" dirty="0"/>
            </a:br>
            <a:br>
              <a:rPr lang="en-US" baseline="0" dirty="0"/>
            </a:br>
            <a:r>
              <a:rPr lang="en-US" baseline="0" dirty="0"/>
              <a:t>New standards of OpenMP support powerful loop transformations, which might be used to optimize algorithms. While this doesn’t enable traversal-agnostic design of algorithms, it offers a good alternative with similar benefits in many use cases, especially for algorithms that have a natural loop nest representation that allows for such transformations.</a:t>
            </a:r>
          </a:p>
          <a:p>
            <a:pPr marL="0" indent="0">
              <a:buFont typeface="Wingdings" panose="05000000000000000000" pitchFamily="2" charset="2"/>
              <a:buNone/>
            </a:pPr>
            <a:endParaRPr lang="en-US" baseline="0" dirty="0"/>
          </a:p>
          <a:p>
            <a:pPr marL="0" indent="0">
              <a:buFont typeface="Wingdings" panose="05000000000000000000" pitchFamily="2" charset="2"/>
              <a:buNone/>
            </a:pPr>
            <a:r>
              <a:rPr lang="en-US" baseline="0" dirty="0"/>
              <a:t>In the thesis (section 2.3.3), we lightly discuss some traversal-agnostic features of </a:t>
            </a:r>
            <a:r>
              <a:rPr lang="en-US" baseline="0" dirty="0" err="1"/>
              <a:t>GridTools</a:t>
            </a:r>
            <a:r>
              <a:rPr lang="en-US" baseline="0" dirty="0"/>
              <a:t> and RAJA.</a:t>
            </a:r>
          </a:p>
        </p:txBody>
      </p:sp>
      <p:sp>
        <p:nvSpPr>
          <p:cNvPr id="4" name="Slide Number Placeholder 3"/>
          <p:cNvSpPr>
            <a:spLocks noGrp="1"/>
          </p:cNvSpPr>
          <p:nvPr>
            <p:ph type="sldNum" sz="quarter" idx="5"/>
          </p:nvPr>
        </p:nvSpPr>
        <p:spPr/>
        <p:txBody>
          <a:bodyPr/>
          <a:lstStyle/>
          <a:p>
            <a:fld id="{FA8FD632-245B-410D-BCC4-8BF8D37AB67F}" type="slidenum">
              <a:rPr lang="en-US" smtClean="0"/>
              <a:t>40</a:t>
            </a:fld>
            <a:endParaRPr lang="en-US"/>
          </a:p>
        </p:txBody>
      </p:sp>
    </p:spTree>
    <p:extLst>
      <p:ext uri="{BB962C8B-B14F-4D97-AF65-F5344CB8AC3E}">
        <p14:creationId xmlns:p14="http://schemas.microsoft.com/office/powerpoint/2010/main" val="36406980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currently struggle with interpreting the reviewer’s concern, will return to that.</a:t>
            </a:r>
          </a:p>
        </p:txBody>
      </p:sp>
      <p:sp>
        <p:nvSpPr>
          <p:cNvPr id="4" name="Slide Number Placeholder 3"/>
          <p:cNvSpPr>
            <a:spLocks noGrp="1"/>
          </p:cNvSpPr>
          <p:nvPr>
            <p:ph type="sldNum" sz="quarter" idx="5"/>
          </p:nvPr>
        </p:nvSpPr>
        <p:spPr/>
        <p:txBody>
          <a:bodyPr/>
          <a:lstStyle/>
          <a:p>
            <a:fld id="{FA8FD632-245B-410D-BCC4-8BF8D37AB67F}" type="slidenum">
              <a:rPr lang="en-US" smtClean="0"/>
              <a:t>44</a:t>
            </a:fld>
            <a:endParaRPr lang="en-US"/>
          </a:p>
        </p:txBody>
      </p:sp>
    </p:spTree>
    <p:extLst>
      <p:ext uri="{BB962C8B-B14F-4D97-AF65-F5344CB8AC3E}">
        <p14:creationId xmlns:p14="http://schemas.microsoft.com/office/powerpoint/2010/main" val="41791213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46</a:t>
            </a:fld>
            <a:endParaRPr lang="en-US"/>
          </a:p>
        </p:txBody>
      </p:sp>
    </p:spTree>
    <p:extLst>
      <p:ext uri="{BB962C8B-B14F-4D97-AF65-F5344CB8AC3E}">
        <p14:creationId xmlns:p14="http://schemas.microsoft.com/office/powerpoint/2010/main" val="366550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24E6A-D33D-8110-940D-8ADB53871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35A9C-A9D7-B34C-B1DD-7CD1BC961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521E3191-FE7C-22CF-B0B1-2C7DE460DFB3}"/>
              </a:ext>
            </a:extLst>
          </p:cNvPr>
          <p:cNvSpPr>
            <a:spLocks noGrp="1"/>
          </p:cNvSpPr>
          <p:nvPr>
            <p:ph type="dt" sz="half" idx="10"/>
          </p:nvPr>
        </p:nvSpPr>
        <p:spPr/>
        <p:txBody>
          <a:bodyPr/>
          <a:lstStyle/>
          <a:p>
            <a:fld id="{B82E97BC-A89E-4CE1-A4AA-4F62BE5183B8}" type="datetime1">
              <a:rPr lang="en-US" smtClean="0"/>
              <a:pPr/>
              <a:t>9/5/2026</a:t>
            </a:fld>
            <a:endParaRPr lang="en-US" dirty="0"/>
          </a:p>
        </p:txBody>
      </p:sp>
      <p:sp>
        <p:nvSpPr>
          <p:cNvPr id="8" name="Footer Placeholder 7">
            <a:extLst>
              <a:ext uri="{FF2B5EF4-FFF2-40B4-BE49-F238E27FC236}">
                <a16:creationId xmlns:a16="http://schemas.microsoft.com/office/drawing/2014/main" id="{4B11BDA9-B9ED-F0FB-CD9D-75B45C3CDA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9FBE2F-862E-0C3E-750A-B4D2A209F361}"/>
              </a:ext>
            </a:extLst>
          </p:cNvPr>
          <p:cNvSpPr>
            <a:spLocks noGrp="1"/>
          </p:cNvSpPr>
          <p:nvPr>
            <p:ph type="sldNum" sz="quarter" idx="12"/>
          </p:nvPr>
        </p:nvSpPr>
        <p:spPr/>
        <p:txBody>
          <a:bodyPr/>
          <a:lstStyle/>
          <a:p>
            <a:fld id="{DA0BB241-1B5F-4309-9407-9EEA04D9598D}" type="slidenum">
              <a:rPr lang="en-US" smtClean="0"/>
              <a:pPr/>
              <a:t>‹#›</a:t>
            </a:fld>
            <a:endParaRPr lang="en-US" dirty="0"/>
          </a:p>
        </p:txBody>
      </p:sp>
    </p:spTree>
    <p:extLst>
      <p:ext uri="{BB962C8B-B14F-4D97-AF65-F5344CB8AC3E}">
        <p14:creationId xmlns:p14="http://schemas.microsoft.com/office/powerpoint/2010/main" val="352128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9736-03C4-0888-E0C9-B6C6EFC002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924EDB-8F0A-A7EA-BE9D-63855B5D4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AEB4C-D570-B20A-A37B-380D40727ECF}"/>
              </a:ext>
            </a:extLst>
          </p:cNvPr>
          <p:cNvSpPr>
            <a:spLocks noGrp="1"/>
          </p:cNvSpPr>
          <p:nvPr>
            <p:ph type="dt" sz="half" idx="10"/>
          </p:nvPr>
        </p:nvSpPr>
        <p:spPr/>
        <p:txBody>
          <a:bodyPr/>
          <a:lstStyle/>
          <a:p>
            <a:fld id="{358C28A6-2969-482E-9A3B-5E13FCD8DD03}" type="datetime1">
              <a:rPr lang="en-US" smtClean="0"/>
              <a:t>9/5/2026</a:t>
            </a:fld>
            <a:endParaRPr lang="en-US"/>
          </a:p>
        </p:txBody>
      </p:sp>
      <p:sp>
        <p:nvSpPr>
          <p:cNvPr id="5" name="Footer Placeholder 4">
            <a:extLst>
              <a:ext uri="{FF2B5EF4-FFF2-40B4-BE49-F238E27FC236}">
                <a16:creationId xmlns:a16="http://schemas.microsoft.com/office/drawing/2014/main" id="{7AF79E2F-597B-96EF-11C9-247263E6D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1C646-CE53-F04F-042E-92713E7C98E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19865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3B0-6E5E-27A0-8786-FF5AE46CE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12A8A-694B-7C92-789C-B57BB8DE0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50D77-986E-91D4-2F3C-6C8CB253EC32}"/>
              </a:ext>
            </a:extLst>
          </p:cNvPr>
          <p:cNvSpPr>
            <a:spLocks noGrp="1"/>
          </p:cNvSpPr>
          <p:nvPr>
            <p:ph type="dt" sz="half" idx="10"/>
          </p:nvPr>
        </p:nvSpPr>
        <p:spPr/>
        <p:txBody>
          <a:bodyPr/>
          <a:lstStyle/>
          <a:p>
            <a:fld id="{34463B7D-19AB-44BF-8DCC-FDF87A48CBC2}" type="datetime1">
              <a:rPr lang="en-US" smtClean="0"/>
              <a:t>9/5/2026</a:t>
            </a:fld>
            <a:endParaRPr lang="en-US"/>
          </a:p>
        </p:txBody>
      </p:sp>
      <p:sp>
        <p:nvSpPr>
          <p:cNvPr id="5" name="Footer Placeholder 4">
            <a:extLst>
              <a:ext uri="{FF2B5EF4-FFF2-40B4-BE49-F238E27FC236}">
                <a16:creationId xmlns:a16="http://schemas.microsoft.com/office/drawing/2014/main" id="{8D3C4CF3-8611-69CD-8CAA-743B79FCB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AB618-6ADA-3D47-19A0-0B17DA3E859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1426601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F19E-9477-ABC3-DE67-B3FE3FD537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9AAE2-3733-5697-3768-F61A390DF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CC2537-3C2D-37C4-2000-C59419B57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1EE3ED-7136-8E71-4128-67037156258F}"/>
              </a:ext>
            </a:extLst>
          </p:cNvPr>
          <p:cNvSpPr>
            <a:spLocks noGrp="1"/>
          </p:cNvSpPr>
          <p:nvPr>
            <p:ph type="dt" sz="half" idx="10"/>
          </p:nvPr>
        </p:nvSpPr>
        <p:spPr/>
        <p:txBody>
          <a:bodyPr/>
          <a:lstStyle/>
          <a:p>
            <a:fld id="{149987F8-7DF8-4BA7-9208-8F32E5310AB4}" type="datetime1">
              <a:rPr lang="en-US" smtClean="0"/>
              <a:t>9/5/2026</a:t>
            </a:fld>
            <a:endParaRPr lang="en-US"/>
          </a:p>
        </p:txBody>
      </p:sp>
      <p:sp>
        <p:nvSpPr>
          <p:cNvPr id="6" name="Footer Placeholder 5">
            <a:extLst>
              <a:ext uri="{FF2B5EF4-FFF2-40B4-BE49-F238E27FC236}">
                <a16:creationId xmlns:a16="http://schemas.microsoft.com/office/drawing/2014/main" id="{1DC87F66-93B5-7C98-7C4D-C77DF36D6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92242-6F18-B2F8-D3B6-CA96CF07AD3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931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16E4-EA83-568A-BD1D-97FF900D32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86F84-DF28-2E19-BA71-6C71F5C69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A76E13-935D-A461-39CB-9D91E0AD09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7AA7A5-CE10-08CF-A9AA-B0EFD3AE0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31AE9-8865-4C87-15FF-F85F79BDE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FCD46F-370C-F6C9-8756-1AA52353BCB0}"/>
              </a:ext>
            </a:extLst>
          </p:cNvPr>
          <p:cNvSpPr>
            <a:spLocks noGrp="1"/>
          </p:cNvSpPr>
          <p:nvPr>
            <p:ph type="dt" sz="half" idx="10"/>
          </p:nvPr>
        </p:nvSpPr>
        <p:spPr/>
        <p:txBody>
          <a:bodyPr/>
          <a:lstStyle/>
          <a:p>
            <a:fld id="{D64A8A3C-441E-40C3-8DCE-8F1C2EB0BADE}" type="datetime1">
              <a:rPr lang="en-US" smtClean="0"/>
              <a:t>9/5/2026</a:t>
            </a:fld>
            <a:endParaRPr lang="en-US"/>
          </a:p>
        </p:txBody>
      </p:sp>
      <p:sp>
        <p:nvSpPr>
          <p:cNvPr id="8" name="Footer Placeholder 7">
            <a:extLst>
              <a:ext uri="{FF2B5EF4-FFF2-40B4-BE49-F238E27FC236}">
                <a16:creationId xmlns:a16="http://schemas.microsoft.com/office/drawing/2014/main" id="{A65DE77E-D1BD-6C4E-A351-50C02A7CAB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FDFF7-A273-AFCC-8687-0039D14EFDA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9687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D40-2BC9-24C5-22AC-D7BE6AB905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EA9A8-BE9F-AE49-CCCC-A6BFD7DC290F}"/>
              </a:ext>
            </a:extLst>
          </p:cNvPr>
          <p:cNvSpPr>
            <a:spLocks noGrp="1"/>
          </p:cNvSpPr>
          <p:nvPr>
            <p:ph type="dt" sz="half" idx="10"/>
          </p:nvPr>
        </p:nvSpPr>
        <p:spPr/>
        <p:txBody>
          <a:bodyPr/>
          <a:lstStyle/>
          <a:p>
            <a:fld id="{1AB26190-46ED-4A0C-A5E8-CDBCA5C2D5C3}" type="datetime1">
              <a:rPr lang="en-US" smtClean="0"/>
              <a:t>9/5/2026</a:t>
            </a:fld>
            <a:endParaRPr lang="en-US" dirty="0"/>
          </a:p>
        </p:txBody>
      </p:sp>
      <p:sp>
        <p:nvSpPr>
          <p:cNvPr id="4" name="Footer Placeholder 3">
            <a:extLst>
              <a:ext uri="{FF2B5EF4-FFF2-40B4-BE49-F238E27FC236}">
                <a16:creationId xmlns:a16="http://schemas.microsoft.com/office/drawing/2014/main" id="{3F3555CB-E870-615F-B8C7-30BC20AFF6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5F43D1-4FC1-76B7-2DC0-8B1655EE81F0}"/>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80570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DC56D-B067-54DC-982C-DE19DBDEA882}"/>
              </a:ext>
            </a:extLst>
          </p:cNvPr>
          <p:cNvSpPr>
            <a:spLocks noGrp="1"/>
          </p:cNvSpPr>
          <p:nvPr>
            <p:ph type="dt" sz="half" idx="10"/>
          </p:nvPr>
        </p:nvSpPr>
        <p:spPr/>
        <p:txBody>
          <a:bodyPr/>
          <a:lstStyle/>
          <a:p>
            <a:fld id="{2E4D20BF-4C0E-41E5-B4FC-9D48FCD3AF33}" type="datetime1">
              <a:rPr lang="en-US" smtClean="0"/>
              <a:t>9/5/2026</a:t>
            </a:fld>
            <a:endParaRPr lang="en-US"/>
          </a:p>
        </p:txBody>
      </p:sp>
      <p:sp>
        <p:nvSpPr>
          <p:cNvPr id="3" name="Footer Placeholder 2">
            <a:extLst>
              <a:ext uri="{FF2B5EF4-FFF2-40B4-BE49-F238E27FC236}">
                <a16:creationId xmlns:a16="http://schemas.microsoft.com/office/drawing/2014/main" id="{D8AA151F-F6E0-3ECD-123C-D099281001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A3AE01-68A1-DD4C-C934-7A8AC50A20D2}"/>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27055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2EFCA-330E-F9B4-E57C-E7E46227B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EF94D5-9F84-5439-E16B-B83DFBCB3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3FB607-1564-B05D-3D77-AB5C96794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60C3B-07A0-E067-0C8C-AE46543D1DF4}"/>
              </a:ext>
            </a:extLst>
          </p:cNvPr>
          <p:cNvSpPr>
            <a:spLocks noGrp="1"/>
          </p:cNvSpPr>
          <p:nvPr>
            <p:ph type="dt" sz="half" idx="10"/>
          </p:nvPr>
        </p:nvSpPr>
        <p:spPr/>
        <p:txBody>
          <a:bodyPr/>
          <a:lstStyle/>
          <a:p>
            <a:fld id="{BEACC2DC-9E3A-44FF-B316-55456058A0CC}" type="datetime1">
              <a:rPr lang="en-US" smtClean="0"/>
              <a:t>9/5/2026</a:t>
            </a:fld>
            <a:endParaRPr lang="en-US"/>
          </a:p>
        </p:txBody>
      </p:sp>
      <p:sp>
        <p:nvSpPr>
          <p:cNvPr id="6" name="Footer Placeholder 5">
            <a:extLst>
              <a:ext uri="{FF2B5EF4-FFF2-40B4-BE49-F238E27FC236}">
                <a16:creationId xmlns:a16="http://schemas.microsoft.com/office/drawing/2014/main" id="{00672EA1-1498-5D77-A116-5A0229027B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419BD-8F55-0DB5-E7A4-B2D65F3D4DC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06018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A6B6-838D-F8ED-BDA3-2A162DF6C0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ABD07F-0AEC-095A-51B1-BCBAF78FF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0C15C3-DA68-E56D-39FE-12682CE84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427CC-7335-E85B-F994-ECED937697DB}"/>
              </a:ext>
            </a:extLst>
          </p:cNvPr>
          <p:cNvSpPr>
            <a:spLocks noGrp="1"/>
          </p:cNvSpPr>
          <p:nvPr>
            <p:ph type="dt" sz="half" idx="10"/>
          </p:nvPr>
        </p:nvSpPr>
        <p:spPr/>
        <p:txBody>
          <a:bodyPr/>
          <a:lstStyle/>
          <a:p>
            <a:fld id="{A4FE5055-4E7B-4EEB-A9E4-14CB598FDB7C}" type="datetime1">
              <a:rPr lang="en-US" smtClean="0"/>
              <a:t>9/5/2026</a:t>
            </a:fld>
            <a:endParaRPr lang="en-US"/>
          </a:p>
        </p:txBody>
      </p:sp>
      <p:sp>
        <p:nvSpPr>
          <p:cNvPr id="6" name="Footer Placeholder 5">
            <a:extLst>
              <a:ext uri="{FF2B5EF4-FFF2-40B4-BE49-F238E27FC236}">
                <a16:creationId xmlns:a16="http://schemas.microsoft.com/office/drawing/2014/main" id="{C265D5C9-7347-6515-DE00-D89BEB8E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21FEE5-DCD3-D8BE-62C7-D756A7F33ECB}"/>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30891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43D8-02AC-2914-9FED-616D6AB422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AB5568-29BC-DFED-ABFE-8CB9972CD8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ACC50-EA82-80A5-543B-E10B8CB99A2D}"/>
              </a:ext>
            </a:extLst>
          </p:cNvPr>
          <p:cNvSpPr>
            <a:spLocks noGrp="1"/>
          </p:cNvSpPr>
          <p:nvPr>
            <p:ph type="dt" sz="half" idx="10"/>
          </p:nvPr>
        </p:nvSpPr>
        <p:spPr/>
        <p:txBody>
          <a:bodyPr/>
          <a:lstStyle/>
          <a:p>
            <a:fld id="{6653D07F-EA1B-48C7-9BD0-6BED24C9ED67}" type="datetime1">
              <a:rPr lang="en-US" smtClean="0"/>
              <a:t>9/5/2026</a:t>
            </a:fld>
            <a:endParaRPr lang="en-US"/>
          </a:p>
        </p:txBody>
      </p:sp>
      <p:sp>
        <p:nvSpPr>
          <p:cNvPr id="5" name="Footer Placeholder 4">
            <a:extLst>
              <a:ext uri="{FF2B5EF4-FFF2-40B4-BE49-F238E27FC236}">
                <a16:creationId xmlns:a16="http://schemas.microsoft.com/office/drawing/2014/main" id="{93496697-F033-841A-79EF-51DC7E046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A364F-BF8C-D383-E70E-5C199E40246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8061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EFD78-33C7-A6E2-827C-308D24411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174DE-9768-CB18-7AE9-11A18E818A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0FA62-F86E-B4BB-30E3-DEB6FC314D3B}"/>
              </a:ext>
            </a:extLst>
          </p:cNvPr>
          <p:cNvSpPr>
            <a:spLocks noGrp="1"/>
          </p:cNvSpPr>
          <p:nvPr>
            <p:ph type="dt" sz="half" idx="10"/>
          </p:nvPr>
        </p:nvSpPr>
        <p:spPr/>
        <p:txBody>
          <a:bodyPr/>
          <a:lstStyle/>
          <a:p>
            <a:fld id="{FDA4DF48-C056-4522-9BC2-031A9D197A93}" type="datetime1">
              <a:rPr lang="en-US" smtClean="0"/>
              <a:t>9/5/2026</a:t>
            </a:fld>
            <a:endParaRPr lang="en-US"/>
          </a:p>
        </p:txBody>
      </p:sp>
      <p:sp>
        <p:nvSpPr>
          <p:cNvPr id="5" name="Footer Placeholder 4">
            <a:extLst>
              <a:ext uri="{FF2B5EF4-FFF2-40B4-BE49-F238E27FC236}">
                <a16:creationId xmlns:a16="http://schemas.microsoft.com/office/drawing/2014/main" id="{A387A909-05FF-1D16-6D0B-DCA5B2C17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6DEDF-AF23-D167-C1D4-F648EF1CD4C7}"/>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7105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05DFF-00C9-BEC9-4FC3-920066B1226C}"/>
              </a:ext>
            </a:extLst>
          </p:cNvPr>
          <p:cNvSpPr>
            <a:spLocks noGrp="1"/>
          </p:cNvSpPr>
          <p:nvPr>
            <p:ph type="title"/>
          </p:nvPr>
        </p:nvSpPr>
        <p:spPr>
          <a:xfrm>
            <a:off x="488578" y="18255"/>
            <a:ext cx="1121484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ABA2AF-CC90-3FC4-EEF7-E1A8D525A323}"/>
              </a:ext>
            </a:extLst>
          </p:cNvPr>
          <p:cNvSpPr>
            <a:spLocks noGrp="1"/>
          </p:cNvSpPr>
          <p:nvPr>
            <p:ph type="body" idx="1"/>
          </p:nvPr>
        </p:nvSpPr>
        <p:spPr>
          <a:xfrm>
            <a:off x="488578" y="1343818"/>
            <a:ext cx="11214844" cy="53149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9049E-4FCE-FF74-9683-28A5B1FA9845}"/>
              </a:ext>
            </a:extLst>
          </p:cNvPr>
          <p:cNvSpPr>
            <a:spLocks noGrp="1"/>
          </p:cNvSpPr>
          <p:nvPr>
            <p:ph type="dt" sz="half" idx="2"/>
          </p:nvPr>
        </p:nvSpPr>
        <p:spPr>
          <a:xfrm>
            <a:off x="488578" y="6356350"/>
            <a:ext cx="2743200" cy="365125"/>
          </a:xfrm>
          <a:prstGeom prst="rect">
            <a:avLst/>
          </a:prstGeom>
        </p:spPr>
        <p:txBody>
          <a:bodyPr vert="horz" lIns="91440" tIns="45720" rIns="91440" bIns="45720" rtlCol="0" anchor="ctr"/>
          <a:lstStyle>
            <a:lvl1pPr algn="l">
              <a:defRPr sz="2000">
                <a:solidFill>
                  <a:schemeClr val="tx1">
                    <a:tint val="82000"/>
                  </a:schemeClr>
                </a:solidFill>
              </a:defRPr>
            </a:lvl1pPr>
          </a:lstStyle>
          <a:p>
            <a:fld id="{FDEB8912-975C-4DE8-9A59-8B9C133AEEC5}" type="datetime1">
              <a:rPr lang="en-US" smtClean="0"/>
              <a:pPr/>
              <a:t>9/5/2026</a:t>
            </a:fld>
            <a:endParaRPr lang="en-US"/>
          </a:p>
        </p:txBody>
      </p:sp>
      <p:sp>
        <p:nvSpPr>
          <p:cNvPr id="5" name="Footer Placeholder 4">
            <a:extLst>
              <a:ext uri="{FF2B5EF4-FFF2-40B4-BE49-F238E27FC236}">
                <a16:creationId xmlns:a16="http://schemas.microsoft.com/office/drawing/2014/main" id="{14567B93-70A1-78F2-3159-EEE138DB5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426FB6-9E0D-15E5-E967-0981DEBDF9AC}"/>
              </a:ext>
            </a:extLst>
          </p:cNvPr>
          <p:cNvSpPr>
            <a:spLocks noGrp="1"/>
          </p:cNvSpPr>
          <p:nvPr>
            <p:ph type="sldNum" sz="quarter" idx="4"/>
          </p:nvPr>
        </p:nvSpPr>
        <p:spPr>
          <a:xfrm>
            <a:off x="9148482" y="6356349"/>
            <a:ext cx="2743200" cy="365125"/>
          </a:xfrm>
          <a:prstGeom prst="rect">
            <a:avLst/>
          </a:prstGeom>
        </p:spPr>
        <p:txBody>
          <a:bodyPr vert="horz" lIns="91440" tIns="45720" rIns="91440" bIns="45720" rtlCol="0" anchor="ctr"/>
          <a:lstStyle>
            <a:lvl1pPr algn="r">
              <a:defRPr sz="2000">
                <a:solidFill>
                  <a:schemeClr val="tx1">
                    <a:tint val="82000"/>
                  </a:schemeClr>
                </a:solidFill>
              </a:defRPr>
            </a:lvl1pPr>
          </a:lstStyle>
          <a:p>
            <a:fld id="{DA0BB241-1B5F-4309-9407-9EEA04D9598D}" type="slidenum">
              <a:rPr lang="en-US" smtClean="0"/>
              <a:pPr/>
              <a:t>‹#›</a:t>
            </a:fld>
            <a:endParaRPr lang="en-US"/>
          </a:p>
        </p:txBody>
      </p:sp>
      <p:pic>
        <p:nvPicPr>
          <p:cNvPr id="10" name="Picture 9">
            <a:extLst>
              <a:ext uri="{FF2B5EF4-FFF2-40B4-BE49-F238E27FC236}">
                <a16:creationId xmlns:a16="http://schemas.microsoft.com/office/drawing/2014/main" id="{75577D58-7A11-E289-9D1F-308CA3E6101F}"/>
              </a:ext>
            </a:extLst>
          </p:cNvPr>
          <p:cNvPicPr>
            <a:picLocks noChangeAspect="1" noChangeArrowheads="1"/>
          </p:cNvPicPr>
          <p:nvPr userDrawn="1"/>
        </p:nvPicPr>
        <p:blipFill>
          <a:blip r:embed="rId13">
            <a:alphaModFix amt="90000"/>
            <a:extLst>
              <a:ext uri="{28A0092B-C50C-407E-A947-70E740481C1C}">
                <a14:useLocalDpi xmlns:a14="http://schemas.microsoft.com/office/drawing/2010/main" val="0"/>
              </a:ext>
            </a:extLst>
          </a:blip>
          <a:srcRect/>
          <a:stretch>
            <a:fillRect/>
          </a:stretch>
        </p:blipFill>
        <p:spPr bwMode="auto">
          <a:xfrm>
            <a:off x="10719386" y="382029"/>
            <a:ext cx="1172296" cy="59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036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90.png"/></Relationships>
</file>

<file path=ppt/slides/_rels/slide4.xml.rels><?xml version="1.0" encoding="UTF-8" standalone="yes"?>
<Relationships xmlns="http://schemas.openxmlformats.org/package/2006/relationships"><Relationship Id="rId18" Type="http://schemas.openxmlformats.org/officeDocument/2006/relationships/image" Target="../media/image23.png"/><Relationship Id="rId3" Type="http://schemas.openxmlformats.org/officeDocument/2006/relationships/notesSlide" Target="../notesSlides/notesSlide4.xml"/><Relationship Id="rId17" Type="http://schemas.openxmlformats.org/officeDocument/2006/relationships/image" Target="../media/image22.png"/><Relationship Id="rId2" Type="http://schemas.openxmlformats.org/officeDocument/2006/relationships/slideLayout" Target="../slideLayouts/slideLayout6.xml"/><Relationship Id="rId20" Type="http://schemas.openxmlformats.org/officeDocument/2006/relationships/image" Target="../media/image25.png"/><Relationship Id="rId1" Type="http://schemas.openxmlformats.org/officeDocument/2006/relationships/tags" Target="../tags/tag3.xml"/><Relationship Id="rId19" Type="http://schemas.openxmlformats.org/officeDocument/2006/relationships/image" Target="../media/image2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0.png"/><Relationship Id="rId7" Type="http://schemas.openxmlformats.org/officeDocument/2006/relationships/image" Target="../media/image32.png"/><Relationship Id="rId12"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47.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11.pn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4.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15.png"/><Relationship Id="rId9" Type="http://schemas.openxmlformats.org/officeDocument/2006/relationships/image" Target="../media/image4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6.svg"/><Relationship Id="rId7" Type="http://schemas.openxmlformats.org/officeDocument/2006/relationships/image" Target="../media/image30.sv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8.svg"/><Relationship Id="rId4" Type="http://schemas.openxmlformats.org/officeDocument/2006/relationships/image" Target="../media/image29.svg"/><Relationship Id="rId9" Type="http://schemas.openxmlformats.org/officeDocument/2006/relationships/image" Target="../media/image6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47.sv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62.svg"/><Relationship Id="rId5" Type="http://schemas.openxmlformats.org/officeDocument/2006/relationships/image" Target="../media/image61.svg"/><Relationship Id="rId4" Type="http://schemas.openxmlformats.org/officeDocument/2006/relationships/image" Target="../media/image60.svg"/></Relationships>
</file>

<file path=ppt/slides/_rels/slide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F1-FAE5-377F-D044-781D68E17053}"/>
              </a:ext>
            </a:extLst>
          </p:cNvPr>
          <p:cNvSpPr>
            <a:spLocks noGrp="1"/>
          </p:cNvSpPr>
          <p:nvPr>
            <p:ph type="ctrTitle"/>
          </p:nvPr>
        </p:nvSpPr>
        <p:spPr/>
        <p:txBody>
          <a:bodyPr>
            <a:normAutofit fontScale="90000"/>
          </a:bodyPr>
          <a:lstStyle/>
          <a:p>
            <a:r>
              <a:rPr lang="en-US" b="1" noProof="0" dirty="0"/>
              <a:t>Optimizing Memory Layouts and Traversal Orders in HPC</a:t>
            </a:r>
            <a:endParaRPr lang="en-US" noProof="0" dirty="0"/>
          </a:p>
        </p:txBody>
      </p:sp>
      <p:sp>
        <p:nvSpPr>
          <p:cNvPr id="3" name="Subtitle 2">
            <a:extLst>
              <a:ext uri="{FF2B5EF4-FFF2-40B4-BE49-F238E27FC236}">
                <a16:creationId xmlns:a16="http://schemas.microsoft.com/office/drawing/2014/main" id="{27F78056-B306-9784-24C5-9BBCFE1E0197}"/>
              </a:ext>
            </a:extLst>
          </p:cNvPr>
          <p:cNvSpPr>
            <a:spLocks noGrp="1"/>
          </p:cNvSpPr>
          <p:nvPr>
            <p:ph type="subTitle" idx="1"/>
          </p:nvPr>
        </p:nvSpPr>
        <p:spPr/>
        <p:txBody>
          <a:bodyPr/>
          <a:lstStyle/>
          <a:p>
            <a:r>
              <a:rPr lang="en-US" b="1" noProof="0" dirty="0"/>
              <a:t>Jiří Klepl</a:t>
            </a:r>
          </a:p>
          <a:p>
            <a:r>
              <a:rPr lang="en-US" noProof="0" dirty="0"/>
              <a:t>Department of Distributed and Dependable Systems</a:t>
            </a:r>
          </a:p>
        </p:txBody>
      </p:sp>
      <p:sp>
        <p:nvSpPr>
          <p:cNvPr id="6" name="Date Placeholder 5">
            <a:extLst>
              <a:ext uri="{FF2B5EF4-FFF2-40B4-BE49-F238E27FC236}">
                <a16:creationId xmlns:a16="http://schemas.microsoft.com/office/drawing/2014/main" id="{A7AB794C-C02E-1A01-6047-C41EAA0E85A7}"/>
              </a:ext>
            </a:extLst>
          </p:cNvPr>
          <p:cNvSpPr>
            <a:spLocks noGrp="1"/>
          </p:cNvSpPr>
          <p:nvPr>
            <p:ph type="dt" sz="half" idx="10"/>
          </p:nvPr>
        </p:nvSpPr>
        <p:spPr/>
        <p:txBody>
          <a:bodyPr/>
          <a:lstStyle/>
          <a:p>
            <a:fld id="{A606699D-645B-483D-AF03-42C342BFDBA5}" type="datetime1">
              <a:rPr lang="en-US" noProof="0" smtClean="0"/>
              <a:t>9/5/2026</a:t>
            </a:fld>
            <a:endParaRPr lang="en-US" noProof="0" dirty="0"/>
          </a:p>
        </p:txBody>
      </p:sp>
      <p:sp>
        <p:nvSpPr>
          <p:cNvPr id="7" name="Slide Number Placeholder 6">
            <a:extLst>
              <a:ext uri="{FF2B5EF4-FFF2-40B4-BE49-F238E27FC236}">
                <a16:creationId xmlns:a16="http://schemas.microsoft.com/office/drawing/2014/main" id="{071CD298-A702-19E2-4EB3-83A149EA7CEC}"/>
              </a:ext>
            </a:extLst>
          </p:cNvPr>
          <p:cNvSpPr>
            <a:spLocks noGrp="1"/>
          </p:cNvSpPr>
          <p:nvPr>
            <p:ph type="sldNum" sz="quarter" idx="12"/>
          </p:nvPr>
        </p:nvSpPr>
        <p:spPr/>
        <p:txBody>
          <a:bodyPr/>
          <a:lstStyle/>
          <a:p>
            <a:fld id="{DA0BB241-1B5F-4309-9407-9EEA04D9598D}" type="slidenum">
              <a:rPr lang="en-US" noProof="0" smtClean="0"/>
              <a:t>1</a:t>
            </a:fld>
            <a:endParaRPr lang="en-US" noProof="0" dirty="0"/>
          </a:p>
        </p:txBody>
      </p:sp>
    </p:spTree>
    <p:extLst>
      <p:ext uri="{BB962C8B-B14F-4D97-AF65-F5344CB8AC3E}">
        <p14:creationId xmlns:p14="http://schemas.microsoft.com/office/powerpoint/2010/main" val="414741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r>
              <a:rPr lang="en-US" dirty="0"/>
              <a:t>Using large language models (LLMs) in algorithm optimizations</a:t>
            </a:r>
            <a:endParaRPr lang="en-US" noProof="0" dirty="0"/>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nvPr>
        </p:nvSpPr>
        <p:spPr/>
        <p:txBody>
          <a:bodyPr/>
          <a:lstStyle/>
          <a:p>
            <a:fld id="{0DAFEF2F-EB87-44F5-8698-5E050EDDA902}"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nvPr>
        </p:nvSpPr>
        <p:spPr/>
        <p:txBody>
          <a:bodyPr/>
          <a:lstStyle/>
          <a:p>
            <a:fld id="{DA0BB241-1B5F-4309-9407-9EEA04D9598D}" type="slidenum">
              <a:rPr lang="en-US" noProof="0" smtClean="0"/>
              <a:t>2</a:t>
            </a:fld>
            <a:endParaRPr lang="en-US" noProof="0" dirty="0"/>
          </a:p>
        </p:txBody>
      </p:sp>
      <p:pic>
        <p:nvPicPr>
          <p:cNvPr id="6" name="Picture 5">
            <a:extLst>
              <a:ext uri="{FF2B5EF4-FFF2-40B4-BE49-F238E27FC236}">
                <a16:creationId xmlns:a16="http://schemas.microsoft.com/office/drawing/2014/main" id="{AF27B56C-87EE-EA2A-36EA-6FC1F10704CE}"/>
              </a:ext>
            </a:extLst>
          </p:cNvPr>
          <p:cNvPicPr>
            <a:picLocks noChangeAspect="1"/>
          </p:cNvPicPr>
          <p:nvPr/>
        </p:nvPicPr>
        <p:blipFill>
          <a:blip r:embed="rId4"/>
          <a:srcRect l="12577" t="17864" r="12520" b="16352"/>
          <a:stretch>
            <a:fillRect/>
          </a:stretch>
        </p:blipFill>
        <p:spPr>
          <a:xfrm>
            <a:off x="10520082" y="5816113"/>
            <a:ext cx="663457" cy="582673"/>
          </a:xfrm>
          <a:prstGeom prst="rect">
            <a:avLst/>
          </a:prstGeom>
        </p:spPr>
      </p:pic>
      <p:pic>
        <p:nvPicPr>
          <p:cNvPr id="8" name="Graphic 7">
            <a:extLst>
              <a:ext uri="{FF2B5EF4-FFF2-40B4-BE49-F238E27FC236}">
                <a16:creationId xmlns:a16="http://schemas.microsoft.com/office/drawing/2014/main" id="{277BD5EA-6D3A-F65A-6F3E-A1A5A3279D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nvSpPr>
            <p:spPr>
              <a:xfrm>
                <a:off x="5585476" y="3770460"/>
                <a:ext cx="51052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nvSpPr>
            <p:spPr>
              <a:xfrm>
                <a:off x="6467780" y="4384464"/>
                <a:ext cx="428771" cy="461665"/>
              </a:xfrm>
              <a:prstGeom prst="rect">
                <a:avLst/>
              </a:prstGeom>
              <a:blipFill>
                <a:blip r:embed="rId7"/>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93182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nvPicPr>
        <p:blipFill>
          <a:blip r:embed="rId4"/>
          <a:stretch>
            <a:fillRect/>
          </a:stretch>
        </p:blipFill>
        <p:spPr>
          <a:xfrm>
            <a:off x="2914089" y="4145062"/>
            <a:ext cx="1785102" cy="1774049"/>
          </a:xfrm>
          <a:prstGeom prst="rect">
            <a:avLst/>
          </a:prstGeom>
        </p:spPr>
      </p:pic>
      <p:pic>
        <p:nvPicPr>
          <p:cNvPr id="5" name="Picture 4">
            <a:extLst>
              <a:ext uri="{FF2B5EF4-FFF2-40B4-BE49-F238E27FC236}">
                <a16:creationId xmlns:a16="http://schemas.microsoft.com/office/drawing/2014/main" id="{019A6B8E-0CD6-2553-0520-DF9244FCFB78}"/>
              </a:ext>
            </a:extLst>
          </p:cNvPr>
          <p:cNvPicPr>
            <a:picLocks noChangeAspect="1"/>
          </p:cNvPicPr>
          <p:nvPr/>
        </p:nvPicPr>
        <p:blipFill>
          <a:blip r:embed="rId4"/>
          <a:stretch>
            <a:fillRect/>
          </a:stretch>
        </p:blipFill>
        <p:spPr>
          <a:xfrm rot="16200000" flipH="1">
            <a:off x="7285278" y="4127242"/>
            <a:ext cx="1796224" cy="1785102"/>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8584B60-09B2-9CFA-E5B6-2949310DA2AF}"/>
                  </a:ext>
                </a:extLst>
              </p:cNvPr>
              <p:cNvSpPr txBox="1"/>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xmlns="">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nvSpPr>
            <p:spPr>
              <a:xfrm>
                <a:off x="3816318" y="1610496"/>
                <a:ext cx="3557256" cy="461665"/>
              </a:xfrm>
              <a:prstGeom prst="rect">
                <a:avLst/>
              </a:prstGeom>
              <a:blipFill>
                <a:blip r:embed="rId5"/>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nvPr>
        </p:nvSpPr>
        <p:spPr/>
        <p:txBody>
          <a:bodyPr/>
          <a:lstStyle/>
          <a:p>
            <a:fld id="{4A613F15-5634-45C6-B470-EBFC7B0054B0}" type="datetime1">
              <a:rPr lang="en-US" noProof="0" smtClean="0"/>
              <a:t>9/5/2026</a:t>
            </a:fld>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nvPr>
        </p:nvSpPr>
        <p:spPr/>
        <p:txBody>
          <a:bodyPr/>
          <a:lstStyle/>
          <a:p>
            <a:fld id="{DA0BB241-1B5F-4309-9407-9EEA04D9598D}" type="slidenum">
              <a:rPr lang="en-US" noProof="0" smtClean="0"/>
              <a:t>3</a:t>
            </a:fld>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7" name="TextBox 16">
            <a:extLst>
              <a:ext uri="{FF2B5EF4-FFF2-40B4-BE49-F238E27FC236}">
                <a16:creationId xmlns:a16="http://schemas.microsoft.com/office/drawing/2014/main" id="{8AF8D4C1-EF6C-17E0-8CD6-7A1A3F4F9FD6}"/>
              </a:ext>
            </a:extLst>
          </p:cNvPr>
          <p:cNvSpPr txBox="1"/>
          <p:nvPr/>
        </p:nvSpPr>
        <p:spPr>
          <a:xfrm>
            <a:off x="7019373" y="5951066"/>
            <a:ext cx="2129109" cy="461665"/>
          </a:xfrm>
          <a:prstGeom prst="rect">
            <a:avLst/>
          </a:prstGeom>
          <a:noFill/>
        </p:spPr>
        <p:txBody>
          <a:bodyPr wrap="none" rtlCol="0">
            <a:spAutoFit/>
          </a:bodyPr>
          <a:lstStyle/>
          <a:p>
            <a:pPr algn="ctr"/>
            <a:r>
              <a:rPr lang="en-US" sz="2400" noProof="0" dirty="0"/>
              <a:t>Column-major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nvSpPr>
        <p:spPr>
          <a:xfrm>
            <a:off x="2320137" y="5939902"/>
            <a:ext cx="678392" cy="523220"/>
          </a:xfrm>
          <a:prstGeom prst="rect">
            <a:avLst/>
          </a:prstGeom>
          <a:noFill/>
        </p:spPr>
        <p:txBody>
          <a:bodyPr wrap="none" rtlCol="0">
            <a:spAutoFit/>
          </a:bodyPr>
          <a:lstStyle/>
          <a:p>
            <a:pPr algn="ctr"/>
            <a:r>
              <a:rPr lang="en-US" sz="2800" noProof="0" dirty="0"/>
              <a:t>🚀</a:t>
            </a:r>
          </a:p>
        </p:txBody>
      </p:sp>
      <p:sp>
        <p:nvSpPr>
          <p:cNvPr id="22" name="TextBox 21">
            <a:extLst>
              <a:ext uri="{FF2B5EF4-FFF2-40B4-BE49-F238E27FC236}">
                <a16:creationId xmlns:a16="http://schemas.microsoft.com/office/drawing/2014/main" id="{C67B8E21-985F-A8B8-8A89-3F3138337D40}"/>
              </a:ext>
            </a:extLst>
          </p:cNvPr>
          <p:cNvSpPr txBox="1"/>
          <p:nvPr/>
        </p:nvSpPr>
        <p:spPr>
          <a:xfrm>
            <a:off x="9075941" y="5917905"/>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8FA95F-2675-1FD6-BC91-3590519E9D21}"/>
                  </a:ext>
                </a:extLst>
              </p:cNvPr>
              <p:cNvSpPr txBox="1"/>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nvSpPr>
            <p:spPr>
              <a:xfrm>
                <a:off x="2469117" y="4801253"/>
                <a:ext cx="51052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99167C-04A4-F722-8AAD-E9C93817DE28}"/>
                  </a:ext>
                </a:extLst>
              </p:cNvPr>
              <p:cNvSpPr txBox="1"/>
              <p:nvPr/>
            </p:nvSpPr>
            <p:spPr>
              <a:xfrm>
                <a:off x="7947754" y="3627378"/>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13" name="TextBox 12">
                <a:extLst>
                  <a:ext uri="{FF2B5EF4-FFF2-40B4-BE49-F238E27FC236}">
                    <a16:creationId xmlns:a16="http://schemas.microsoft.com/office/drawing/2014/main" id="{5D99167C-04A4-F722-8AAD-E9C93817DE28}"/>
                  </a:ext>
                </a:extLst>
              </p:cNvPr>
              <p:cNvSpPr txBox="1">
                <a:spLocks noRot="1" noChangeAspect="1" noMove="1" noResize="1" noEditPoints="1" noAdjustHandles="1" noChangeArrowheads="1" noChangeShapeType="1" noTextEdit="1"/>
              </p:cNvSpPr>
              <p:nvPr/>
            </p:nvSpPr>
            <p:spPr>
              <a:xfrm>
                <a:off x="7947754" y="3627378"/>
                <a:ext cx="428771"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8A7279-5F01-C120-7112-C7DEE7206658}"/>
                  </a:ext>
                </a:extLst>
              </p:cNvPr>
              <p:cNvSpPr txBox="1"/>
              <p:nvPr/>
            </p:nvSpPr>
            <p:spPr>
              <a:xfrm>
                <a:off x="6842324" y="47889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9" name="TextBox 18">
                <a:extLst>
                  <a:ext uri="{FF2B5EF4-FFF2-40B4-BE49-F238E27FC236}">
                    <a16:creationId xmlns:a16="http://schemas.microsoft.com/office/drawing/2014/main" id="{078A7279-5F01-C120-7112-C7DEE7206658}"/>
                  </a:ext>
                </a:extLst>
              </p:cNvPr>
              <p:cNvSpPr txBox="1">
                <a:spLocks noRot="1" noChangeAspect="1" noMove="1" noResize="1" noEditPoints="1" noAdjustHandles="1" noChangeArrowheads="1" noChangeShapeType="1" noTextEdit="1"/>
              </p:cNvSpPr>
              <p:nvPr/>
            </p:nvSpPr>
            <p:spPr>
              <a:xfrm>
                <a:off x="6842324" y="4788960"/>
                <a:ext cx="510524"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385C36A-8F48-E47B-7C6E-E9CE50E27705}"/>
                  </a:ext>
                </a:extLst>
              </p:cNvPr>
              <p:cNvSpPr txBox="1"/>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nvSpPr>
            <p:spPr>
              <a:xfrm>
                <a:off x="3585324" y="3674263"/>
                <a:ext cx="428771" cy="461665"/>
              </a:xfrm>
              <a:prstGeom prst="rect">
                <a:avLst/>
              </a:prstGeom>
              <a:blipFill>
                <a:blip r:embed="rId9"/>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263651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18" grpId="0"/>
      <p:bldP spid="22" grpId="0"/>
      <p:bldP spid="10" grpId="0"/>
      <p:bldP spid="13" grpId="0"/>
      <p:bldP spid="19"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sp>
        <p:nvSpPr>
          <p:cNvPr id="11" name="TextBox 10">
            <a:extLst>
              <a:ext uri="{FF2B5EF4-FFF2-40B4-BE49-F238E27FC236}">
                <a16:creationId xmlns:a16="http://schemas.microsoft.com/office/drawing/2014/main" id="{D636AEBD-D49B-6BE3-BEEA-278110BAE03F}"/>
              </a:ext>
            </a:extLst>
          </p:cNvPr>
          <p:cNvSpPr txBox="1"/>
          <p:nvPr/>
        </p:nvSpPr>
        <p:spPr>
          <a:xfrm flipH="1">
            <a:off x="2672069" y="5490216"/>
            <a:ext cx="5550828" cy="461665"/>
          </a:xfrm>
          <a:prstGeom prst="rect">
            <a:avLst/>
          </a:prstGeom>
          <a:noFill/>
        </p:spPr>
        <p:txBody>
          <a:bodyPr wrap="square" rtlCol="0">
            <a:spAutoFit/>
          </a:bodyPr>
          <a:lstStyle/>
          <a:p>
            <a:pPr algn="ctr"/>
            <a:r>
              <a:rPr lang="en-US" sz="2400" noProof="0" dirty="0"/>
              <a:t>Layout abstraction of a data structure</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nvPicPr>
        <p:blipFill>
          <a:blip r:embed="rId4"/>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nvPr>
        </p:nvSpPr>
        <p:spPr/>
        <p:txBody>
          <a:bodyPr/>
          <a:lstStyle/>
          <a:p>
            <a:fld id="{938C8B4D-7ED9-4C51-A12C-8A3FEA1E5194}" type="datetime1">
              <a:rPr lang="en-US" noProof="0" smtClean="0"/>
              <a:t>9/5/2026</a:t>
            </a:fld>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nvPr>
        </p:nvSpPr>
        <p:spPr/>
        <p:txBody>
          <a:bodyPr/>
          <a:lstStyle/>
          <a:p>
            <a:fld id="{DA0BB241-1B5F-4309-9407-9EEA04D9598D}" type="slidenum">
              <a:rPr lang="en-US" noProof="0" smtClean="0"/>
              <a:t>4</a:t>
            </a:fld>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nvPicPr>
        <p:blipFill>
          <a:blip r:embed="rId4"/>
          <a:stretch>
            <a:fillRect/>
          </a:stretch>
        </p:blipFill>
        <p:spPr>
          <a:xfrm rot="16200000" flipH="1">
            <a:off x="9725738" y="4664580"/>
            <a:ext cx="1249070" cy="1241336"/>
          </a:xfrm>
          <a:prstGeom prst="rect">
            <a:avLst/>
          </a:prstGeom>
        </p:spPr>
      </p:pic>
      <p:sp>
        <p:nvSpPr>
          <p:cNvPr id="33" name="Right Brace 32">
            <a:extLst>
              <a:ext uri="{FF2B5EF4-FFF2-40B4-BE49-F238E27FC236}">
                <a16:creationId xmlns:a16="http://schemas.microsoft.com/office/drawing/2014/main" id="{54CB22A7-6DC6-B51D-4313-0DD19D0F2AFC}"/>
              </a:ext>
            </a:extLst>
          </p:cNvPr>
          <p:cNvSpPr/>
          <p:nvPr/>
        </p:nvSpPr>
        <p:spPr>
          <a:xfrm rot="5400000">
            <a:off x="5350008" y="1359843"/>
            <a:ext cx="194951" cy="804576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ACE273B-1B57-639E-B0C9-72426A3D7B4A}"/>
                  </a:ext>
                </a:extLst>
              </p:cNvPr>
              <p:cNvSpPr txBox="1"/>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xmlns="">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nvSpPr>
            <p:spPr>
              <a:xfrm>
                <a:off x="3401890" y="3389098"/>
                <a:ext cx="1111137" cy="400110"/>
              </a:xfrm>
              <a:prstGeom prst="rect">
                <a:avLst/>
              </a:prstGeom>
              <a:blipFill>
                <a:blip r:embed="rId17"/>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F09D1C-16BB-AE1B-D40F-E19B4A196D17}"/>
                  </a:ext>
                </a:extLst>
              </p:cNvPr>
              <p:cNvSpPr txBox="1"/>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xmlns="">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nvSpPr>
            <p:spPr>
              <a:xfrm>
                <a:off x="3224937" y="4675622"/>
                <a:ext cx="1141595" cy="400110"/>
              </a:xfrm>
              <a:prstGeom prst="rect">
                <a:avLst/>
              </a:prstGeom>
              <a:blipFill>
                <a:blip r:embed="rId18"/>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A227FF2-E7C3-F0D8-1548-3FDE957F05DA}"/>
                  </a:ext>
                </a:extLst>
              </p:cNvPr>
              <p:cNvSpPr txBox="1"/>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nvSpPr>
            <p:spPr>
              <a:xfrm>
                <a:off x="965434" y="4009497"/>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77E5549-724E-7BCC-503A-172F89C27024}"/>
                  </a:ext>
                </a:extLst>
              </p:cNvPr>
              <p:cNvSpPr txBox="1"/>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nvSpPr>
            <p:spPr>
              <a:xfrm>
                <a:off x="1991030" y="4782590"/>
                <a:ext cx="428771" cy="461665"/>
              </a:xfrm>
              <a:prstGeom prst="rect">
                <a:avLst/>
              </a:prstGeom>
              <a:blipFill>
                <a:blip r:embed="rId20"/>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396974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2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2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3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3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3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4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4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38" grpId="0" animBg="1"/>
      <p:bldP spid="41" grpId="0" animBg="1"/>
      <p:bldP spid="44" grpId="0" animBg="1"/>
      <p:bldP spid="47" grpId="0" animBg="1"/>
      <p:bldP spid="50" grpId="0" animBg="1"/>
      <p:bldP spid="53" grpId="0" animBg="1"/>
      <p:bldP spid="56" grpId="0" animBg="1"/>
      <p:bldP spid="59" grpId="0" animBg="1"/>
      <p:bldP spid="62" grpId="0" animBg="1"/>
      <p:bldP spid="65" grpId="0" animBg="1"/>
      <p:bldP spid="68" grpId="0" animBg="1"/>
      <p:bldP spid="71" grpId="0" animBg="1"/>
      <p:bldP spid="74" grpId="0" animBg="1"/>
      <p:bldP spid="77" grpId="0" animBg="1"/>
      <p:bldP spid="80" grpId="0" animBg="1"/>
      <p:bldP spid="83" grpId="0" animBg="1"/>
      <p:bldP spid="86" grpId="0" animBg="1"/>
      <p:bldP spid="89" grpId="0" animBg="1"/>
      <p:bldP spid="92" grpId="0" animBg="1"/>
      <p:bldP spid="95" grpId="0" animBg="1"/>
      <p:bldP spid="98" grpId="0" animBg="1"/>
      <p:bldP spid="101" grpId="0" animBg="1"/>
      <p:bldP spid="104" grpId="0" animBg="1"/>
      <p:bldP spid="107" grpId="0" animBg="1"/>
      <p:bldP spid="110" grpId="0" animBg="1"/>
      <p:bldP spid="113" grpId="0" animBg="1"/>
      <p:bldP spid="116" grpId="0" animBg="1"/>
      <p:bldP spid="119" grpId="0" animBg="1"/>
      <p:bldP spid="122" grpId="0" animBg="1"/>
      <p:bldP spid="125" grpId="0" animBg="1"/>
      <p:bldP spid="128" grpId="0" animBg="1"/>
      <p:bldP spid="131" grpId="0" animBg="1"/>
      <p:bldP spid="134" grpId="0" animBg="1"/>
      <p:bldP spid="137" grpId="0" animBg="1"/>
      <p:bldP spid="140" grpId="0" animBg="1"/>
      <p:bldP spid="143" grpId="0" animBg="1"/>
      <p:bldP spid="33" grpId="0" animBg="1"/>
      <p:bldP spid="3" grpId="0"/>
      <p:bldP spid="5" grpId="0"/>
      <p:bldP spid="4" grpId="0"/>
      <p:bldP spid="12" grpId="0"/>
      <p:bldP spid="18" grpId="0"/>
      <p:bldP spid="22" grpId="0"/>
      <p:bldP spid="1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8" name="TextBox 27">
            <a:extLst>
              <a:ext uri="{FF2B5EF4-FFF2-40B4-BE49-F238E27FC236}">
                <a16:creationId xmlns:a16="http://schemas.microsoft.com/office/drawing/2014/main" id="{15DF814E-5685-475F-2990-B570D542C55C}"/>
              </a:ext>
            </a:extLst>
          </p:cNvPr>
          <p:cNvSpPr txBox="1"/>
          <p:nvPr/>
        </p:nvSpPr>
        <p:spPr>
          <a:xfrm>
            <a:off x="4870763" y="5666800"/>
            <a:ext cx="6459562"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matrix_view</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myBuffer</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nvPr>
        </p:nvSpPr>
        <p:spPr/>
        <p:txBody>
          <a:bodyPr/>
          <a:lstStyle/>
          <a:p>
            <a:fld id="{2A57731D-07D7-4C44-A482-993035AAE3B2}" type="datetime1">
              <a:rPr lang="en-US" noProof="0" smtClean="0"/>
              <a:t>9/5/2026</a:t>
            </a:fld>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nvPr>
        </p:nvSpPr>
        <p:spPr/>
        <p:txBody>
          <a:bodyPr/>
          <a:lstStyle/>
          <a:p>
            <a:fld id="{DA0BB241-1B5F-4309-9407-9EEA04D9598D}" type="slidenum">
              <a:rPr lang="en-US" noProof="0" smtClean="0"/>
              <a:t>5</a:t>
            </a:fld>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nvPicPr>
        <p:blipFill>
          <a:blip r:embed="rId4"/>
          <a:stretch>
            <a:fillRect/>
          </a:stretch>
        </p:blipFill>
        <p:spPr>
          <a:xfrm>
            <a:off x="1598974" y="2851618"/>
            <a:ext cx="1249070" cy="1241336"/>
          </a:xfrm>
          <a:prstGeom prst="rect">
            <a:avLst/>
          </a:prstGeom>
        </p:spPr>
      </p:pic>
      <p:sp>
        <p:nvSpPr>
          <p:cNvPr id="4" name="TextBox 3">
            <a:extLst>
              <a:ext uri="{FF2B5EF4-FFF2-40B4-BE49-F238E27FC236}">
                <a16:creationId xmlns:a16="http://schemas.microsoft.com/office/drawing/2014/main" id="{E49BE013-F209-8403-8D5B-F71D68CF5E02}"/>
              </a:ext>
            </a:extLst>
          </p:cNvPr>
          <p:cNvSpPr txBox="1"/>
          <p:nvPr/>
        </p:nvSpPr>
        <p:spPr>
          <a:xfrm>
            <a:off x="7845692" y="5063908"/>
            <a:ext cx="1425509" cy="442674"/>
          </a:xfrm>
          <a:prstGeom prst="roundRect">
            <a:avLst/>
          </a:prstGeom>
          <a:gradFill>
            <a:gsLst>
              <a:gs pos="0">
                <a:srgbClr val="AFD8F7"/>
              </a:gs>
              <a:gs pos="50000">
                <a:srgbClr val="A2CDEE"/>
              </a:gs>
              <a:gs pos="100000">
                <a:srgbClr val="9ED0F2"/>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pPr algn="ctr"/>
            <a:r>
              <a:rPr lang="en-US" sz="2000" noProof="0" dirty="0"/>
              <a:t>GPU mem.</a:t>
            </a:r>
          </a:p>
        </p:txBody>
      </p:sp>
      <p:sp>
        <p:nvSpPr>
          <p:cNvPr id="13" name="TextBox 12">
            <a:extLst>
              <a:ext uri="{FF2B5EF4-FFF2-40B4-BE49-F238E27FC236}">
                <a16:creationId xmlns:a16="http://schemas.microsoft.com/office/drawing/2014/main" id="{E43C382B-2568-3BB2-FF89-3DD00349CEA9}"/>
              </a:ext>
            </a:extLst>
          </p:cNvPr>
          <p:cNvSpPr txBox="1"/>
          <p:nvPr/>
        </p:nvSpPr>
        <p:spPr>
          <a:xfrm>
            <a:off x="9630151" y="5063908"/>
            <a:ext cx="1511785" cy="442674"/>
          </a:xfrm>
          <a:prstGeom prst="roundRect">
            <a:avLst/>
          </a:prstGeom>
          <a:gradFill>
            <a:gsLst>
              <a:gs pos="0">
                <a:srgbClr val="B5DCAE"/>
              </a:gs>
              <a:gs pos="50000">
                <a:srgbClr val="A8D1A1"/>
              </a:gs>
              <a:gs pos="100000">
                <a:srgbClr val="A3D29A"/>
              </a:gs>
            </a:gsLst>
          </a:gradFill>
        </p:spPr>
        <p:style>
          <a:lnRef idx="1">
            <a:schemeClr val="accent6"/>
          </a:lnRef>
          <a:fillRef idx="2">
            <a:schemeClr val="accent6"/>
          </a:fillRef>
          <a:effectRef idx="1">
            <a:schemeClr val="accent6"/>
          </a:effectRef>
          <a:fontRef idx="minor">
            <a:schemeClr val="dk1"/>
          </a:fontRef>
        </p:style>
        <p:txBody>
          <a:bodyPr wrap="none" rtlCol="0" anchor="b">
            <a:spAutoFit/>
          </a:bodyPr>
          <a:lstStyle/>
          <a:p>
            <a:pPr algn="ctr"/>
            <a:r>
              <a:rPr lang="en-US" sz="2000" noProof="0" dirty="0"/>
              <a:t>Mapped file</a:t>
            </a:r>
          </a:p>
        </p:txBody>
      </p:sp>
      <p:sp>
        <p:nvSpPr>
          <p:cNvPr id="32" name="TextBox 31">
            <a:extLst>
              <a:ext uri="{FF2B5EF4-FFF2-40B4-BE49-F238E27FC236}">
                <a16:creationId xmlns:a16="http://schemas.microsoft.com/office/drawing/2014/main" id="{F423100F-27E7-78C5-29B0-1E9E9CA71CCB}"/>
              </a:ext>
            </a:extLst>
          </p:cNvPr>
          <p:cNvSpPr txBox="1"/>
          <p:nvPr/>
        </p:nvSpPr>
        <p:spPr>
          <a:xfrm>
            <a:off x="11503683" y="5048027"/>
            <a:ext cx="381836" cy="369332"/>
          </a:xfrm>
          <a:prstGeom prst="rect">
            <a:avLst/>
          </a:prstGeom>
          <a:noFill/>
        </p:spPr>
        <p:txBody>
          <a:bodyPr wrap="none" rtlCol="0">
            <a:spAutoFit/>
          </a:bodyPr>
          <a:lstStyle/>
          <a:p>
            <a:r>
              <a:rPr lang="en-US" noProof="0" dirty="0"/>
              <a:t>…</a:t>
            </a:r>
          </a:p>
        </p:txBody>
      </p:sp>
      <p:sp>
        <p:nvSpPr>
          <p:cNvPr id="33" name="Right Brace 32">
            <a:extLst>
              <a:ext uri="{FF2B5EF4-FFF2-40B4-BE49-F238E27FC236}">
                <a16:creationId xmlns:a16="http://schemas.microsoft.com/office/drawing/2014/main" id="{D5BD3CDE-9058-0797-77E8-0CD52F9C3687}"/>
              </a:ext>
            </a:extLst>
          </p:cNvPr>
          <p:cNvSpPr/>
          <p:nvPr/>
        </p:nvSpPr>
        <p:spPr>
          <a:xfrm rot="5400000">
            <a:off x="9777883" y="3338823"/>
            <a:ext cx="159029" cy="44264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nvPicPr>
        <p:blipFill>
          <a:blip r:embed="rId4"/>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nvPicPr>
        <p:blipFill>
          <a:blip r:embed="rId4"/>
          <a:srcRect r="86029" b="86573"/>
          <a:stretch>
            <a:fillRect/>
          </a:stretch>
        </p:blipFill>
        <p:spPr>
          <a:xfrm>
            <a:off x="1598974" y="2851546"/>
            <a:ext cx="174508" cy="166674"/>
          </a:xfrm>
          <a:prstGeom prst="rect">
            <a:avLst/>
          </a:prstGeom>
        </p:spPr>
      </p:pic>
      <p:sp>
        <p:nvSpPr>
          <p:cNvPr id="27" name="Rectangle 26">
            <a:extLst>
              <a:ext uri="{FF2B5EF4-FFF2-40B4-BE49-F238E27FC236}">
                <a16:creationId xmlns:a16="http://schemas.microsoft.com/office/drawing/2014/main" id="{84FCD751-75D4-06F6-E90B-B10F04037199}"/>
              </a:ext>
            </a:extLst>
          </p:cNvPr>
          <p:cNvSpPr/>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TextBox 16">
            <a:extLst>
              <a:ext uri="{FF2B5EF4-FFF2-40B4-BE49-F238E27FC236}">
                <a16:creationId xmlns:a16="http://schemas.microsoft.com/office/drawing/2014/main" id="{14AB64E0-7A98-B19A-964F-1077043B0728}"/>
              </a:ext>
            </a:extLst>
          </p:cNvPr>
          <p:cNvSpPr txBox="1"/>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C39785-C6A5-6402-E99D-0A38D0D1251F}"/>
                  </a:ext>
                </a:extLst>
              </p:cNvPr>
              <p:cNvSpPr txBox="1"/>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nvSpPr>
            <p:spPr>
              <a:xfrm>
                <a:off x="1101183" y="3193698"/>
                <a:ext cx="510524"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C284C3B-1E96-7EDB-FF3B-2FFD924CFC76}"/>
                  </a:ext>
                </a:extLst>
              </p:cNvPr>
              <p:cNvSpPr txBox="1"/>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nvSpPr>
            <p:spPr>
              <a:xfrm>
                <a:off x="2009123" y="2422355"/>
                <a:ext cx="428771" cy="461665"/>
              </a:xfrm>
              <a:prstGeom prst="rect">
                <a:avLst/>
              </a:prstGeom>
              <a:blipFill>
                <a:blip r:embed="rId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112930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3" grpId="0" animBg="1"/>
      <p:bldP spid="37" grpId="0" animBg="1"/>
      <p:bldP spid="14" grpId="0"/>
      <p:bldP spid="18" grpId="0" animBg="1"/>
      <p:bldP spid="19" grpId="0"/>
      <p:bldP spid="21" grpId="0" animBg="1"/>
      <p:bldP spid="28" grpId="0" animBg="1"/>
      <p:bldP spid="4" grpId="0" animBg="1"/>
      <p:bldP spid="13" grpId="0" animBg="1"/>
      <p:bldP spid="32" grpId="0"/>
      <p:bldP spid="33" grpId="0" animBg="1"/>
      <p:bldP spid="27" grpId="0" animBg="1"/>
      <p:bldP spid="31" grpId="0" animBg="1"/>
      <p:bldP spid="17" grpId="0"/>
      <p:bldP spid="15"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16" name="TextBox 15">
            <a:extLst>
              <a:ext uri="{FF2B5EF4-FFF2-40B4-BE49-F238E27FC236}">
                <a16:creationId xmlns:a16="http://schemas.microsoft.com/office/drawing/2014/main" id="{B9C4F588-E815-2009-D7D4-CEEBC4F6F689}"/>
              </a:ext>
            </a:extLst>
          </p:cNvPr>
          <p:cNvSpPr txBox="1"/>
          <p:nvPr/>
        </p:nvSpPr>
        <p:spPr>
          <a:xfrm>
            <a:off x="1411173" y="5027079"/>
            <a:ext cx="9207632"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nvPr>
        </p:nvSpPr>
        <p:spPr/>
        <p:txBody>
          <a:bodyPr/>
          <a:lstStyle/>
          <a:p>
            <a:fld id="{EDBD1638-F548-41E6-A67D-BF07DFBF4593}" type="datetime1">
              <a:rPr lang="en-US" noProof="0" smtClean="0"/>
              <a:t>9/5/2026</a:t>
            </a:fld>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nvPr>
        </p:nvSpPr>
        <p:spPr/>
        <p:txBody>
          <a:bodyPr/>
          <a:lstStyle/>
          <a:p>
            <a:fld id="{DA0BB241-1B5F-4309-9407-9EEA04D9598D}" type="slidenum">
              <a:rPr lang="en-US" noProof="0" smtClean="0"/>
              <a:t>6</a:t>
            </a:fld>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15" name="TextBox 14">
            <a:extLst>
              <a:ext uri="{FF2B5EF4-FFF2-40B4-BE49-F238E27FC236}">
                <a16:creationId xmlns:a16="http://schemas.microsoft.com/office/drawing/2014/main" id="{5AC42510-7505-8080-DACA-010297680AE7}"/>
              </a:ext>
            </a:extLst>
          </p:cNvPr>
          <p:cNvSpPr txBox="1"/>
          <p:nvPr/>
        </p:nvSpPr>
        <p:spPr>
          <a:xfrm>
            <a:off x="2322938" y="6089892"/>
            <a:ext cx="6795450" cy="461665"/>
          </a:xfrm>
          <a:prstGeom prst="rect">
            <a:avLst/>
          </a:prstGeom>
          <a:noFill/>
        </p:spPr>
        <p:txBody>
          <a:bodyPr wrap="none" rtlCol="0">
            <a:spAutoFit/>
          </a:bodyPr>
          <a:lstStyle/>
          <a:p>
            <a:pPr algn="ctr"/>
            <a:r>
              <a:rPr lang="en-US" sz="2400" b="1" noProof="0" dirty="0"/>
              <a:t>Copy</a:t>
            </a:r>
            <a:r>
              <a:rPr lang="en-US" sz="2400" noProof="0" dirty="0"/>
              <a:t> to another matrix with the same index space</a:t>
            </a:r>
          </a:p>
        </p:txBody>
      </p:sp>
      <p:sp>
        <p:nvSpPr>
          <p:cNvPr id="5" name="TextBox 4">
            <a:extLst>
              <a:ext uri="{FF2B5EF4-FFF2-40B4-BE49-F238E27FC236}">
                <a16:creationId xmlns:a16="http://schemas.microsoft.com/office/drawing/2014/main" id="{102F209B-F6E7-05CC-AF4B-64FCAFC0D5D7}"/>
              </a:ext>
            </a:extLst>
          </p:cNvPr>
          <p:cNvSpPr txBox="1"/>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191244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5" grpId="0"/>
      <p:bldP spid="5" grpId="0"/>
      <p:bldP spid="2"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nvPr>
        </p:nvSpPr>
        <p:spPr/>
        <p:txBody>
          <a:bodyPr/>
          <a:lstStyle/>
          <a:p>
            <a:fld id="{EDBD1638-F548-41E6-A67D-BF07DFBF4593}" type="datetime1">
              <a:rPr lang="en-US" noProof="0" smtClean="0"/>
              <a:t>9/5/2026</a:t>
            </a:fld>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nvPr>
        </p:nvSpPr>
        <p:spPr/>
        <p:txBody>
          <a:bodyPr/>
          <a:lstStyle/>
          <a:p>
            <a:fld id="{DA0BB241-1B5F-4309-9407-9EEA04D9598D}" type="slidenum">
              <a:rPr lang="en-US" noProof="0" smtClean="0"/>
              <a:t>7</a:t>
            </a:fld>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4"/>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xmlns="">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xmlns="">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0"/>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F67E973-44FE-CE64-80EC-471D1B6AA36F}"/>
                  </a:ext>
                </a:extLst>
              </p:cNvPr>
              <p:cNvSpPr txBox="1"/>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xmlns="">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nvSpPr>
            <p:spPr>
              <a:xfrm>
                <a:off x="4485795" y="5232699"/>
                <a:ext cx="1587166" cy="1384995"/>
              </a:xfrm>
              <a:prstGeom prst="rect">
                <a:avLst/>
              </a:prstGeom>
              <a:blipFill>
                <a:blip r:embed="rId11"/>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ight Brace 30">
            <a:extLst>
              <a:ext uri="{FF2B5EF4-FFF2-40B4-BE49-F238E27FC236}">
                <a16:creationId xmlns:a16="http://schemas.microsoft.com/office/drawing/2014/main" id="{BB183800-4A8F-401C-ADB9-A0312F9AA178}"/>
              </a:ext>
            </a:extLst>
          </p:cNvPr>
          <p:cNvSpPr/>
          <p:nvPr/>
        </p:nvSpPr>
        <p:spPr>
          <a:xfrm rot="5400000">
            <a:off x="5617910" y="2118998"/>
            <a:ext cx="140703" cy="48218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087AE82-F462-C9EB-EA1F-F959C9A7C955}"/>
              </a:ext>
            </a:extLst>
          </p:cNvPr>
          <p:cNvSpPr txBox="1"/>
          <p:nvPr/>
        </p:nvSpPr>
        <p:spPr>
          <a:xfrm>
            <a:off x="3531516" y="4596963"/>
            <a:ext cx="4313489" cy="400110"/>
          </a:xfrm>
          <a:prstGeom prst="rect">
            <a:avLst/>
          </a:prstGeom>
          <a:solidFill>
            <a:schemeClr val="bg1"/>
          </a:solidFill>
        </p:spPr>
        <p:txBody>
          <a:bodyPr wrap="none" rtlCol="0">
            <a:spAutoFit/>
          </a:bodyPr>
          <a:lstStyle/>
          <a:p>
            <a:pPr algn="ctr"/>
            <a:r>
              <a:rPr lang="en-US" sz="2000" dirty="0"/>
              <a:t>Correct indices passed automatically</a:t>
            </a:r>
          </a:p>
        </p:txBody>
      </p:sp>
      <p:sp>
        <p:nvSpPr>
          <p:cNvPr id="14" name="Oval 13">
            <a:extLst>
              <a:ext uri="{FF2B5EF4-FFF2-40B4-BE49-F238E27FC236}">
                <a16:creationId xmlns:a16="http://schemas.microsoft.com/office/drawing/2014/main" id="{F0835908-CF21-76B9-3CF4-B5B20E755A64}"/>
              </a:ext>
            </a:extLst>
          </p:cNvPr>
          <p:cNvSpPr/>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06A7DF1-6410-6B50-C5B4-1D19F94CC66E}"/>
                  </a:ext>
                </a:extLst>
              </p:cNvPr>
              <p:cNvSpPr txBox="1"/>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xmlns="">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nvSpPr>
            <p:spPr>
              <a:xfrm>
                <a:off x="6248302" y="5682419"/>
                <a:ext cx="1820178" cy="523220"/>
              </a:xfrm>
              <a:prstGeom prst="rect">
                <a:avLst/>
              </a:prstGeom>
              <a:blipFill>
                <a:blip r:embed="rId12"/>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491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19" grpId="0" animBg="1"/>
      <p:bldP spid="13" grpId="0" animBg="1"/>
      <p:bldP spid="11" grpId="0" animBg="1"/>
      <p:bldP spid="8" grpId="0" animBg="1"/>
      <p:bldP spid="44" grpId="0"/>
      <p:bldP spid="49" grpId="0" animBg="1"/>
      <p:bldP spid="51" grpId="0" animBg="1"/>
      <p:bldP spid="53" grpId="0" animBg="1"/>
      <p:bldP spid="31" grpId="0" animBg="1"/>
      <p:bldP spid="32" grpId="0" animBg="1"/>
      <p:bldP spid="14" grpId="0" animBg="1"/>
      <p:bldP spid="15" grpId="0" animBg="1"/>
      <p:bldP spid="16" grpId="0" animBg="1"/>
      <p:bldP spid="20" grpId="0" animBg="1"/>
      <p:bldP spid="23" grpId="0"/>
      <p:bldP spid="25" grpId="0" animBg="1"/>
      <p:bldP spid="26" grpId="0" animBg="1"/>
      <p:bldP spid="27" grpId="0" animBg="1"/>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4"/>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xmlns="">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xmlns="">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10"/>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nvPr>
        </p:nvSpPr>
        <p:spPr/>
        <p:txBody>
          <a:bodyPr/>
          <a:lstStyle/>
          <a:p>
            <a:fld id="{8BB690F1-35CC-4B34-B898-A35702C2DAD5}" type="datetime1">
              <a:rPr lang="en-US" noProof="0" smtClean="0"/>
              <a:t>9/5/2026</a:t>
            </a:fld>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nvPr>
        </p:nvSpPr>
        <p:spPr/>
        <p:txBody>
          <a:bodyPr/>
          <a:lstStyle/>
          <a:p>
            <a:fld id="{DA0BB241-1B5F-4309-9407-9EEA04D9598D}" type="slidenum">
              <a:rPr lang="en-US" noProof="0" smtClean="0"/>
              <a:t>8</a:t>
            </a:fld>
            <a:endParaRPr lang="en-US" noProof="0" dirty="0"/>
          </a:p>
        </p:txBody>
      </p:sp>
      <p:sp>
        <p:nvSpPr>
          <p:cNvPr id="6" name="Rectangle 5">
            <a:extLst>
              <a:ext uri="{FF2B5EF4-FFF2-40B4-BE49-F238E27FC236}">
                <a16:creationId xmlns:a16="http://schemas.microsoft.com/office/drawing/2014/main" id="{94315874-4365-BD7E-38E9-6E300532D1B0}"/>
              </a:ext>
            </a:extLst>
          </p:cNvPr>
          <p:cNvSpPr/>
          <p:nvPr/>
        </p:nvSpPr>
        <p:spPr>
          <a:xfrm>
            <a:off x="6914245" y="1534018"/>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0" name="Rectangle 9">
            <a:extLst>
              <a:ext uri="{FF2B5EF4-FFF2-40B4-BE49-F238E27FC236}">
                <a16:creationId xmlns:a16="http://schemas.microsoft.com/office/drawing/2014/main" id="{FD7BF336-2D6B-75E5-35D1-BB6F556A8522}"/>
              </a:ext>
            </a:extLst>
          </p:cNvPr>
          <p:cNvSpPr/>
          <p:nvPr/>
        </p:nvSpPr>
        <p:spPr>
          <a:xfrm>
            <a:off x="6914245" y="1878964"/>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2" name="Rectangle 11">
            <a:extLst>
              <a:ext uri="{FF2B5EF4-FFF2-40B4-BE49-F238E27FC236}">
                <a16:creationId xmlns:a16="http://schemas.microsoft.com/office/drawing/2014/main" id="{6B5E3D72-639F-DBE8-60C5-E7360CC97F9F}"/>
              </a:ext>
            </a:extLst>
          </p:cNvPr>
          <p:cNvSpPr/>
          <p:nvPr/>
        </p:nvSpPr>
        <p:spPr>
          <a:xfrm>
            <a:off x="6007392" y="2222371"/>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8" name="TextBox 7">
            <a:extLst>
              <a:ext uri="{FF2B5EF4-FFF2-40B4-BE49-F238E27FC236}">
                <a16:creationId xmlns:a16="http://schemas.microsoft.com/office/drawing/2014/main" id="{D8CA8669-3DF0-4485-E218-6A9F90B6F725}"/>
              </a:ext>
            </a:extLst>
          </p:cNvPr>
          <p:cNvSpPr txBox="1"/>
          <p:nvPr/>
        </p:nvSpPr>
        <p:spPr>
          <a:xfrm>
            <a:off x="2667000" y="1431917"/>
            <a:ext cx="6858000"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795E26"/>
                </a:solidFill>
                <a:effectLst/>
                <a:latin typeface="Fira Code" panose="020B0809050000020004" pitchFamily="49" charset="0"/>
              </a:rPr>
              <a:t>hoist</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a:t>
            </a:r>
            <a:r>
              <a:rPr lang="en-US" sz="2000" b="0" noProof="0" dirty="0">
                <a:solidFill>
                  <a:srgbClr val="A31515"/>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0FCBA717-9CCC-E582-9AD5-0BD4B28E0F5A}"/>
              </a:ext>
            </a:extLst>
          </p:cNvPr>
          <p:cNvSpPr txBox="1"/>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cxnSp>
        <p:nvCxnSpPr>
          <p:cNvPr id="7" name="Straight Arrow Connector 6">
            <a:extLst>
              <a:ext uri="{FF2B5EF4-FFF2-40B4-BE49-F238E27FC236}">
                <a16:creationId xmlns:a16="http://schemas.microsoft.com/office/drawing/2014/main" id="{DF00CA29-CB8D-E775-A70D-52850554C362}"/>
              </a:ext>
            </a:extLst>
          </p:cNvPr>
          <p:cNvCxnSpPr>
            <a:cxnSpLocks/>
            <a:stCxn id="8" idx="2"/>
            <a:endCxn id="3" idx="0"/>
          </p:cNvCxnSpPr>
          <p:nvPr/>
        </p:nvCxnSpPr>
        <p:spPr>
          <a:xfrm>
            <a:off x="6096000" y="2556199"/>
            <a:ext cx="0" cy="6202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F77E6586-7CA7-0470-44A7-FA4B38EA596E}"/>
              </a:ext>
            </a:extLst>
          </p:cNvPr>
          <p:cNvSpPr txBox="1"/>
          <p:nvPr/>
        </p:nvSpPr>
        <p:spPr>
          <a:xfrm>
            <a:off x="1498604" y="3176471"/>
            <a:ext cx="9194791" cy="1124282"/>
          </a:xfrm>
          <a:prstGeom prst="rect">
            <a:avLst/>
          </a:prstGeom>
          <a:solidFill>
            <a:schemeClr val="bg1"/>
          </a:solidFill>
          <a:ln>
            <a:solidFill>
              <a:schemeClr val="tx1"/>
            </a:solidFill>
          </a:ln>
        </p:spPr>
        <p:txBody>
          <a:bodyPr wrap="squar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83" name="TextBox 82">
            <a:extLst>
              <a:ext uri="{FF2B5EF4-FFF2-40B4-BE49-F238E27FC236}">
                <a16:creationId xmlns:a16="http://schemas.microsoft.com/office/drawing/2014/main" id="{1195DDFC-51FA-D6DB-4B8E-E4B9CB728047}"/>
              </a:ext>
            </a:extLst>
          </p:cNvPr>
          <p:cNvSpPr txBox="1"/>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extLst>
      <p:ext uri="{BB962C8B-B14F-4D97-AF65-F5344CB8AC3E}">
        <p14:creationId xmlns:p14="http://schemas.microsoft.com/office/powerpoint/2010/main" val="38277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8"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2EF9E071-1389-EE9C-0095-6F47C9FA3FA8}"/>
              </a:ext>
            </a:extLst>
          </p:cNvPr>
          <p:cNvSpPr/>
          <p:nvPr/>
        </p:nvSpPr>
        <p:spPr>
          <a:xfrm>
            <a:off x="6365700" y="4813730"/>
            <a:ext cx="1636420" cy="326688"/>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4" name="Title 3">
            <a:extLst>
              <a:ext uri="{FF2B5EF4-FFF2-40B4-BE49-F238E27FC236}">
                <a16:creationId xmlns:a16="http://schemas.microsoft.com/office/drawing/2014/main" id="{1DD9D588-D364-AF9C-5071-96FEC8DBE285}"/>
              </a:ext>
            </a:extLst>
          </p:cNvPr>
          <p:cNvSpPr>
            <a:spLocks noGrp="1"/>
          </p:cNvSpPr>
          <p:nvPr>
            <p:ph type="title"/>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r>
              <a:rPr lang="en-US" noProof="0" dirty="0"/>
              <a:t>GPU</a:t>
            </a:r>
          </a:p>
          <a:p>
            <a:pPr marL="457200" lvl="1" indent="0">
              <a:buNone/>
            </a:pPr>
            <a:r>
              <a:rPr lang="en-US" noProof="0" dirty="0" err="1">
                <a:solidFill>
                  <a:srgbClr val="001080"/>
                </a:solidFill>
                <a:latin typeface="Fira Code" panose="020B0809050000020004" pitchFamily="49" charset="0"/>
              </a:rPr>
              <a:t>cuda_traverser</a:t>
            </a:r>
            <a:r>
              <a:rPr lang="en-US" noProof="0" dirty="0">
                <a:latin typeface="Fira Code" panose="020B0809050000020004" pitchFamily="49" charset="0"/>
              </a:rPr>
              <a:t> = </a:t>
            </a:r>
            <a:r>
              <a:rPr lang="en-US" noProof="0" dirty="0" err="1">
                <a:solidFill>
                  <a:srgbClr val="795E26"/>
                </a:solidFill>
                <a:latin typeface="Fira Code" panose="020B0809050000020004" pitchFamily="49" charset="0"/>
              </a:rPr>
              <a:t>cuda_threads</a:t>
            </a:r>
            <a:r>
              <a:rPr lang="en-US" sz="400" noProof="0" dirty="0">
                <a:solidFill>
                  <a:srgbClr val="795E26"/>
                </a:solidFill>
                <a:latin typeface="Fira Code" panose="020B0809050000020004" pitchFamily="49" charset="0"/>
              </a:rPr>
              <a:t> </a:t>
            </a:r>
            <a:r>
              <a:rPr lang="en-US" noProof="0" dirty="0">
                <a:latin typeface="Fira Code" panose="020B0809050000020004" pitchFamily="49" charset="0"/>
              </a:rPr>
              <a:t>&lt;</a:t>
            </a:r>
            <a:r>
              <a:rPr lang="en-US" noProof="0" dirty="0">
                <a:solidFill>
                  <a:srgbClr val="FF0000"/>
                </a:solidFill>
                <a:latin typeface="Fira Code" panose="020B0809050000020004" pitchFamily="49" charset="0"/>
              </a:rPr>
              <a:t>'</a:t>
            </a:r>
            <a:r>
              <a:rPr lang="en-US" noProof="0" dirty="0" err="1">
                <a:solidFill>
                  <a:srgbClr val="FF0000"/>
                </a:solidFill>
                <a:latin typeface="Fira Code" panose="020B0809050000020004" pitchFamily="49" charset="0"/>
              </a:rPr>
              <a:t>t'</a:t>
            </a:r>
            <a:r>
              <a:rPr lang="en-US" noProof="0" dirty="0" err="1">
                <a:latin typeface="Fira Code" panose="020B0809050000020004" pitchFamily="49" charset="0"/>
              </a:rPr>
              <a:t>,</a:t>
            </a:r>
            <a:r>
              <a:rPr lang="en-US" noProof="0" dirty="0" err="1">
                <a:solidFill>
                  <a:srgbClr val="FF0000"/>
                </a:solidFill>
                <a:latin typeface="Fira Code" panose="020B0809050000020004" pitchFamily="49" charset="0"/>
              </a:rPr>
              <a:t>'b</a:t>
            </a:r>
            <a:r>
              <a:rPr lang="en-US" noProof="0" dirty="0">
                <a:solidFill>
                  <a:srgbClr val="FF0000"/>
                </a:solidFill>
                <a:latin typeface="Fira Code" panose="020B0809050000020004" pitchFamily="49" charset="0"/>
              </a:rPr>
              <a:t>'</a:t>
            </a:r>
            <a:r>
              <a:rPr lang="en-US" noProof="0" dirty="0">
                <a:latin typeface="Fira Code" panose="020B0809050000020004" pitchFamily="49" charset="0"/>
              </a:rPr>
              <a:t>&gt;</a:t>
            </a:r>
            <a:r>
              <a:rPr lang="en-US" sz="400" noProof="0" dirty="0">
                <a:latin typeface="Fira Code" panose="020B0809050000020004" pitchFamily="49" charset="0"/>
              </a:rPr>
              <a:t> </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a:t>
            </a:r>
          </a:p>
          <a:p>
            <a:pPr marL="457200" lvl="1" indent="0">
              <a:buNone/>
            </a:pPr>
            <a:r>
              <a:rPr lang="en-US" noProof="0" dirty="0" err="1">
                <a:solidFill>
                  <a:srgbClr val="001080"/>
                </a:solidFill>
                <a:latin typeface="Fira Code" panose="020B0809050000020004" pitchFamily="49" charset="0"/>
              </a:rPr>
              <a:t>cuda_traverser</a:t>
            </a:r>
            <a:r>
              <a:rPr lang="en-US" noProof="0" dirty="0" err="1">
                <a:latin typeface="Fira Code" panose="020B0809050000020004" pitchFamily="49" charset="0"/>
              </a:rPr>
              <a:t>.</a:t>
            </a:r>
            <a:r>
              <a:rPr lang="en-US" noProof="0" dirty="0" err="1">
                <a:solidFill>
                  <a:srgbClr val="795E26"/>
                </a:solidFill>
                <a:latin typeface="Fira Code" panose="020B0809050000020004" pitchFamily="49" charset="0"/>
              </a:rPr>
              <a:t>simple_run</a:t>
            </a:r>
            <a:r>
              <a:rPr lang="en-US" noProof="0" dirty="0">
                <a:latin typeface="Fira Code" panose="020B0809050000020004" pitchFamily="49" charset="0"/>
              </a:rPr>
              <a:t>(…)</a:t>
            </a:r>
            <a:endParaRPr lang="en-US" noProof="0" dirty="0">
              <a:solidFill>
                <a:srgbClr val="001080"/>
              </a:solidFill>
              <a:latin typeface="Fira Code" panose="020B0809050000020004" pitchFamily="49" charset="0"/>
            </a:endParaRP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nvPr>
        </p:nvSpPr>
        <p:spPr/>
        <p:txBody>
          <a:bodyPr/>
          <a:lstStyle/>
          <a:p>
            <a:fld id="{8BB690F1-35CC-4B34-B898-A35702C2DAD5}" type="datetime1">
              <a:rPr lang="en-US" noProof="0" smtClean="0"/>
              <a:t>9/5/2026</a:t>
            </a:fld>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nvPr>
        </p:nvSpPr>
        <p:spPr/>
        <p:txBody>
          <a:bodyPr/>
          <a:lstStyle/>
          <a:p>
            <a:fld id="{DA0BB241-1B5F-4309-9407-9EEA04D9598D}" type="slidenum">
              <a:rPr lang="en-US" noProof="0" smtClean="0"/>
              <a:t>9</a:t>
            </a:fld>
            <a:endParaRPr lang="en-US" noProof="0" dirty="0"/>
          </a:p>
        </p:txBody>
      </p:sp>
    </p:spTree>
    <p:extLst>
      <p:ext uri="{BB962C8B-B14F-4D97-AF65-F5344CB8AC3E}">
        <p14:creationId xmlns:p14="http://schemas.microsoft.com/office/powerpoint/2010/main" val="111761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nvPr>
        </p:nvSpPr>
        <p:spPr/>
        <p:txBody>
          <a:bodyPr/>
          <a:lstStyle/>
          <a:p>
            <a:fld id="{B7D82220-9CE2-4BC9-B6C9-7A7531EEF273}"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nvPr>
        </p:nvSpPr>
        <p:spPr/>
        <p:txBody>
          <a:bodyPr/>
          <a:lstStyle/>
          <a:p>
            <a:fld id="{DA0BB241-1B5F-4309-9407-9EEA04D9598D}" type="slidenum">
              <a:rPr lang="en-US" noProof="0" smtClean="0"/>
              <a:t>10</a:t>
            </a:fld>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1" name="Right Brace 10">
            <a:extLst>
              <a:ext uri="{FF2B5EF4-FFF2-40B4-BE49-F238E27FC236}">
                <a16:creationId xmlns:a16="http://schemas.microsoft.com/office/drawing/2014/main" id="{0E210CDB-EAA6-0C9F-CAB9-B16CAFD1D4A6}"/>
              </a:ext>
            </a:extLst>
          </p:cNvPr>
          <p:cNvSpPr/>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3" name="TextBox 12">
            <a:extLst>
              <a:ext uri="{FF2B5EF4-FFF2-40B4-BE49-F238E27FC236}">
                <a16:creationId xmlns:a16="http://schemas.microsoft.com/office/drawing/2014/main" id="{41D587DC-555E-F024-2296-A3954C42F0E6}"/>
              </a:ext>
            </a:extLst>
          </p:cNvPr>
          <p:cNvSpPr txBox="1"/>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18933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 grpId="0" animBg="1"/>
      <p:bldP spid="6" grpId="0" animBg="1"/>
      <p:bldP spid="8" grpId="0" animBg="1"/>
      <p:bldP spid="11" grpId="0" animBg="1"/>
      <p:bldP spid="13" grpId="0"/>
      <p:bldP spid="10" grpId="0" animBg="1"/>
      <p:bldP spid="14" grpId="0" animBg="1"/>
      <p:bldP spid="40" grpId="0" animBg="1"/>
      <p:bldP spid="12"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nvPicPr>
        <p:blipFill>
          <a:blip r:embed="rId3">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pic>
        <p:nvPicPr>
          <p:cNvPr id="17" name="Picture 16" descr="OpenTuner - An extensible framework for program autotuning">
            <a:extLst>
              <a:ext uri="{FF2B5EF4-FFF2-40B4-BE49-F238E27FC236}">
                <a16:creationId xmlns:a16="http://schemas.microsoft.com/office/drawing/2014/main" id="{FE3C7D25-A0C7-30BA-2165-6EA2D87D81BB}"/>
              </a:ext>
            </a:extLst>
          </p:cNvPr>
          <p:cNvPicPr>
            <a:picLocks noChangeAspect="1"/>
          </p:cNvPicPr>
          <p:nvPr/>
        </p:nvPicPr>
        <p:blipFill>
          <a:blip r:embed="rId4"/>
          <a:stretch>
            <a:fillRect/>
          </a:stretch>
        </p:blipFill>
        <p:spPr>
          <a:xfrm>
            <a:off x="9640027" y="5107245"/>
            <a:ext cx="2455817" cy="842437"/>
          </a:xfrm>
          <a:prstGeom prst="rect">
            <a:avLst/>
          </a:prstGeom>
        </p:spPr>
      </p:pic>
      <p:pic>
        <p:nvPicPr>
          <p:cNvPr id="18" name="Picture 17" descr="Optuna: A hyperparameter optimization framework — Optuna 4.9.0 documentation">
            <a:extLst>
              <a:ext uri="{FF2B5EF4-FFF2-40B4-BE49-F238E27FC236}">
                <a16:creationId xmlns:a16="http://schemas.microsoft.com/office/drawing/2014/main" id="{276F9629-B02B-A507-E094-FF65209AF28B}"/>
              </a:ext>
            </a:extLst>
          </p:cNvPr>
          <p:cNvPicPr>
            <a:picLocks noChangeAspect="1"/>
          </p:cNvPicPr>
          <p:nvPr/>
        </p:nvPicPr>
        <p:blipFill>
          <a:blip r:embed="rId5"/>
          <a:stretch>
            <a:fillRect/>
          </a:stretch>
        </p:blipFill>
        <p:spPr>
          <a:xfrm>
            <a:off x="9640027" y="4293832"/>
            <a:ext cx="2455817" cy="515722"/>
          </a:xfrm>
          <a:prstGeom prst="rect">
            <a:avLst/>
          </a:prstGeom>
        </p:spPr>
      </p:pic>
      <p:pic>
        <p:nvPicPr>
          <p:cNvPr id="19" name="Picture 18" descr="Auto-Tuning Framework (ATF) · GitHub">
            <a:extLst>
              <a:ext uri="{FF2B5EF4-FFF2-40B4-BE49-F238E27FC236}">
                <a16:creationId xmlns:a16="http://schemas.microsoft.com/office/drawing/2014/main" id="{C5F993FA-C874-B590-DD09-C0C58ACA9323}"/>
              </a:ext>
            </a:extLst>
          </p:cNvPr>
          <p:cNvPicPr>
            <a:picLocks noChangeAspect="1"/>
          </p:cNvPicPr>
          <p:nvPr/>
        </p:nvPicPr>
        <p:blipFill>
          <a:blip r:embed="rId6"/>
          <a:srcRect/>
          <a:stretch>
            <a:fillRect/>
          </a:stretch>
        </p:blipFill>
        <p:spPr>
          <a:xfrm>
            <a:off x="10048422" y="2962990"/>
            <a:ext cx="1099238" cy="1099238"/>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nvPr>
        </p:nvSpPr>
        <p:spPr/>
        <p:txBody>
          <a:bodyPr/>
          <a:lstStyle/>
          <a:p>
            <a:fld id="{B7D82220-9CE2-4BC9-B6C9-7A7531EEF273}"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nvPr>
        </p:nvSpPr>
        <p:spPr/>
        <p:txBody>
          <a:bodyPr/>
          <a:lstStyle/>
          <a:p>
            <a:fld id="{DA0BB241-1B5F-4309-9407-9EEA04D9598D}" type="slidenum">
              <a:rPr lang="en-US" noProof="0" smtClean="0"/>
              <a:t>11</a:t>
            </a:fld>
            <a:endParaRPr lang="en-US" noProof="0" dirty="0"/>
          </a:p>
        </p:txBody>
      </p:sp>
      <p:cxnSp>
        <p:nvCxnSpPr>
          <p:cNvPr id="21" name="Straight Arrow Connector 20">
            <a:extLst>
              <a:ext uri="{FF2B5EF4-FFF2-40B4-BE49-F238E27FC236}">
                <a16:creationId xmlns:a16="http://schemas.microsoft.com/office/drawing/2014/main" id="{080E3B3C-6DC3-23E1-F613-5CB890D9FCC4}"/>
              </a:ext>
            </a:extLst>
          </p:cNvPr>
          <p:cNvCxnSpPr>
            <a:cxnSpLocks/>
            <a:endCxn id="19" idx="1"/>
          </p:cNvCxnSpPr>
          <p:nvPr/>
        </p:nvCxnSpPr>
        <p:spPr>
          <a:xfrm flipV="1">
            <a:off x="8831481" y="3512609"/>
            <a:ext cx="1216941" cy="9935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A3FB999-0F83-3972-3202-236033B9D716}"/>
              </a:ext>
            </a:extLst>
          </p:cNvPr>
          <p:cNvCxnSpPr>
            <a:cxnSpLocks/>
            <a:endCxn id="18" idx="1"/>
          </p:cNvCxnSpPr>
          <p:nvPr/>
        </p:nvCxnSpPr>
        <p:spPr>
          <a:xfrm>
            <a:off x="8831481" y="4534677"/>
            <a:ext cx="808546" cy="170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AB5D227-F743-8DE9-B931-2D340212DED2}"/>
              </a:ext>
            </a:extLst>
          </p:cNvPr>
          <p:cNvCxnSpPr>
            <a:cxnSpLocks/>
            <a:endCxn id="17" idx="1"/>
          </p:cNvCxnSpPr>
          <p:nvPr/>
        </p:nvCxnSpPr>
        <p:spPr>
          <a:xfrm>
            <a:off x="8831481" y="4551693"/>
            <a:ext cx="808546" cy="9767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Arrow: Down 14">
            <a:extLst>
              <a:ext uri="{FF2B5EF4-FFF2-40B4-BE49-F238E27FC236}">
                <a16:creationId xmlns:a16="http://schemas.microsoft.com/office/drawing/2014/main" id="{71F4EF2F-6E0C-390A-B96B-78A98DF8198D}"/>
              </a:ext>
            </a:extLst>
          </p:cNvPr>
          <p:cNvSpPr/>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extLst>
      <p:ext uri="{BB962C8B-B14F-4D97-AF65-F5344CB8AC3E}">
        <p14:creationId xmlns:p14="http://schemas.microsoft.com/office/powerpoint/2010/main" val="83488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91B7BB-BC4C-DBA7-B522-2D603B3BF5B1}"/>
              </a:ext>
            </a:extLst>
          </p:cNvPr>
          <p:cNvPicPr>
            <a:picLocks noChangeAspect="1"/>
          </p:cNvPicPr>
          <p:nvPr/>
        </p:nvPicPr>
        <p:blipFill>
          <a:blip r:embed="rId3"/>
          <a:stretch>
            <a:fillRect/>
          </a:stretch>
        </p:blipFill>
        <p:spPr>
          <a:xfrm>
            <a:off x="1984828" y="1291017"/>
            <a:ext cx="8222343" cy="5138960"/>
          </a:xfrm>
          <a:prstGeom prst="rect">
            <a:avLst/>
          </a:prstGeom>
        </p:spPr>
      </p:pic>
      <p:sp>
        <p:nvSpPr>
          <p:cNvPr id="2" name="Title 1">
            <a:extLst>
              <a:ext uri="{FF2B5EF4-FFF2-40B4-BE49-F238E27FC236}">
                <a16:creationId xmlns:a16="http://schemas.microsoft.com/office/drawing/2014/main" id="{19C5CD64-6486-850E-0A2A-48532AE26434}"/>
              </a:ext>
            </a:extLst>
          </p:cNvPr>
          <p:cNvSpPr>
            <a:spLocks noGrp="1"/>
          </p:cNvSpPr>
          <p:nvPr>
            <p:ph type="title"/>
          </p:nvPr>
        </p:nvSpPr>
        <p:spPr/>
        <p:txBody>
          <a:bodyPr/>
          <a:lstStyle/>
          <a:p>
            <a:r>
              <a:rPr lang="en-US" noProof="0" dirty="0"/>
              <a:t>No measurable runtime overhead</a:t>
            </a:r>
          </a:p>
        </p:txBody>
      </p:sp>
      <p:sp>
        <p:nvSpPr>
          <p:cNvPr id="3" name="Date Placeholder 2">
            <a:extLst>
              <a:ext uri="{FF2B5EF4-FFF2-40B4-BE49-F238E27FC236}">
                <a16:creationId xmlns:a16="http://schemas.microsoft.com/office/drawing/2014/main" id="{D4D7C34B-EFD9-4F73-1FB8-ECD089B16A5C}"/>
              </a:ext>
            </a:extLst>
          </p:cNvPr>
          <p:cNvSpPr>
            <a:spLocks noGrp="1"/>
          </p:cNvSpPr>
          <p:nvPr>
            <p:ph type="dt" sz="half" idx="10"/>
          </p:nvPr>
        </p:nvSpPr>
        <p:spPr/>
        <p:txBody>
          <a:bodyPr/>
          <a:lstStyle/>
          <a:p>
            <a:fld id="{1A21DD6E-5048-4D3D-823A-657D259BCC38}"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C7F7263E-02F8-A021-8D87-59864096B5E6}"/>
              </a:ext>
            </a:extLst>
          </p:cNvPr>
          <p:cNvSpPr>
            <a:spLocks noGrp="1"/>
          </p:cNvSpPr>
          <p:nvPr>
            <p:ph type="sldNum" sz="quarter" idx="12"/>
          </p:nvPr>
        </p:nvSpPr>
        <p:spPr/>
        <p:txBody>
          <a:bodyPr/>
          <a:lstStyle/>
          <a:p>
            <a:fld id="{DA0BB241-1B5F-4309-9407-9EEA04D9598D}" type="slidenum">
              <a:rPr lang="en-US" noProof="0" smtClean="0"/>
              <a:t>12</a:t>
            </a:fld>
            <a:endParaRPr lang="en-US" noProof="0" dirty="0"/>
          </a:p>
        </p:txBody>
      </p:sp>
      <p:sp>
        <p:nvSpPr>
          <p:cNvPr id="6" name="TextBox 5">
            <a:extLst>
              <a:ext uri="{FF2B5EF4-FFF2-40B4-BE49-F238E27FC236}">
                <a16:creationId xmlns:a16="http://schemas.microsoft.com/office/drawing/2014/main" id="{C48EE12D-A54F-6CFD-63D4-ED8425AA5254}"/>
              </a:ext>
            </a:extLst>
          </p:cNvPr>
          <p:cNvSpPr txBox="1"/>
          <p:nvPr/>
        </p:nvSpPr>
        <p:spPr>
          <a:xfrm>
            <a:off x="5072321" y="6378080"/>
            <a:ext cx="2047355" cy="461665"/>
          </a:xfrm>
          <a:prstGeom prst="rect">
            <a:avLst/>
          </a:prstGeom>
          <a:noFill/>
        </p:spPr>
        <p:txBody>
          <a:bodyPr wrap="none" rtlCol="0">
            <a:spAutoFit/>
          </a:bodyPr>
          <a:lstStyle/>
          <a:p>
            <a:pPr algn="ctr"/>
            <a:r>
              <a:rPr lang="en-US" sz="2400" noProof="0" dirty="0"/>
              <a:t>Serial runtime</a:t>
            </a:r>
          </a:p>
        </p:txBody>
      </p:sp>
      <p:sp>
        <p:nvSpPr>
          <p:cNvPr id="10" name="TextBox 9">
            <a:extLst>
              <a:ext uri="{FF2B5EF4-FFF2-40B4-BE49-F238E27FC236}">
                <a16:creationId xmlns:a16="http://schemas.microsoft.com/office/drawing/2014/main" id="{5C94ADD4-4CFC-E812-3B36-B6402C655DF5}"/>
              </a:ext>
            </a:extLst>
          </p:cNvPr>
          <p:cNvSpPr txBox="1"/>
          <p:nvPr/>
        </p:nvSpPr>
        <p:spPr>
          <a:xfrm>
            <a:off x="5072321" y="965353"/>
            <a:ext cx="2302302"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Tree>
    <p:extLst>
      <p:ext uri="{BB962C8B-B14F-4D97-AF65-F5344CB8AC3E}">
        <p14:creationId xmlns:p14="http://schemas.microsoft.com/office/powerpoint/2010/main" val="52204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4B52-9DD9-A429-012A-A49C5D8E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04940-8761-D376-5D89-223EF87A2B46}"/>
              </a:ext>
            </a:extLst>
          </p:cNvPr>
          <p:cNvSpPr>
            <a:spLocks noGrp="1"/>
          </p:cNvSpPr>
          <p:nvPr>
            <p:ph type="title"/>
          </p:nvPr>
        </p:nvSpPr>
        <p:spPr/>
        <p:txBody>
          <a:bodyPr/>
          <a:lstStyle/>
          <a:p>
            <a:r>
              <a:rPr lang="en-US" noProof="0" dirty="0"/>
              <a:t>Parallel computation</a:t>
            </a:r>
          </a:p>
        </p:txBody>
      </p:sp>
      <p:sp>
        <p:nvSpPr>
          <p:cNvPr id="3" name="Date Placeholder 2">
            <a:extLst>
              <a:ext uri="{FF2B5EF4-FFF2-40B4-BE49-F238E27FC236}">
                <a16:creationId xmlns:a16="http://schemas.microsoft.com/office/drawing/2014/main" id="{4FFBC0BB-6204-6A99-7FFA-79E9F93FE637}"/>
              </a:ext>
            </a:extLst>
          </p:cNvPr>
          <p:cNvSpPr>
            <a:spLocks noGrp="1"/>
          </p:cNvSpPr>
          <p:nvPr>
            <p:ph type="dt" sz="half" idx="10"/>
          </p:nvPr>
        </p:nvSpPr>
        <p:spPr/>
        <p:txBody>
          <a:bodyPr/>
          <a:lstStyle/>
          <a:p>
            <a:fld id="{1A21DD6E-5048-4D3D-823A-657D259BCC38}"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B837290D-EEA3-A479-2D49-8B742B58976D}"/>
              </a:ext>
            </a:extLst>
          </p:cNvPr>
          <p:cNvSpPr>
            <a:spLocks noGrp="1"/>
          </p:cNvSpPr>
          <p:nvPr>
            <p:ph type="sldNum" sz="quarter" idx="12"/>
          </p:nvPr>
        </p:nvSpPr>
        <p:spPr/>
        <p:txBody>
          <a:bodyPr/>
          <a:lstStyle/>
          <a:p>
            <a:fld id="{DA0BB241-1B5F-4309-9407-9EEA04D9598D}" type="slidenum">
              <a:rPr lang="en-US" noProof="0" smtClean="0"/>
              <a:t>13</a:t>
            </a:fld>
            <a:endParaRPr lang="en-US" noProof="0" dirty="0"/>
          </a:p>
        </p:txBody>
      </p:sp>
      <p:sp>
        <p:nvSpPr>
          <p:cNvPr id="10" name="TextBox 9">
            <a:extLst>
              <a:ext uri="{FF2B5EF4-FFF2-40B4-BE49-F238E27FC236}">
                <a16:creationId xmlns:a16="http://schemas.microsoft.com/office/drawing/2014/main" id="{8F4ACCF0-5C1C-5E73-7132-0B2A17F92827}"/>
              </a:ext>
            </a:extLst>
          </p:cNvPr>
          <p:cNvSpPr txBox="1"/>
          <p:nvPr/>
        </p:nvSpPr>
        <p:spPr>
          <a:xfrm>
            <a:off x="3695213" y="1134007"/>
            <a:ext cx="2127171"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
        <p:nvSpPr>
          <p:cNvPr id="11" name="Right Brace 10">
            <a:extLst>
              <a:ext uri="{FF2B5EF4-FFF2-40B4-BE49-F238E27FC236}">
                <a16:creationId xmlns:a16="http://schemas.microsoft.com/office/drawing/2014/main" id="{A39CFA25-A759-FD09-8613-F03A145A7D85}"/>
              </a:ext>
            </a:extLst>
          </p:cNvPr>
          <p:cNvSpPr/>
          <p:nvPr/>
        </p:nvSpPr>
        <p:spPr>
          <a:xfrm rot="16200000">
            <a:off x="4663077" y="-1118335"/>
            <a:ext cx="191445" cy="554068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9" name="Picture 8">
            <a:extLst>
              <a:ext uri="{FF2B5EF4-FFF2-40B4-BE49-F238E27FC236}">
                <a16:creationId xmlns:a16="http://schemas.microsoft.com/office/drawing/2014/main" id="{D61DA4FA-2AF0-0F8F-FB51-4B45F895D17D}"/>
              </a:ext>
            </a:extLst>
          </p:cNvPr>
          <p:cNvPicPr>
            <a:picLocks noChangeAspect="1"/>
          </p:cNvPicPr>
          <p:nvPr/>
        </p:nvPicPr>
        <p:blipFill>
          <a:blip r:embed="rId3"/>
          <a:stretch>
            <a:fillRect/>
          </a:stretch>
        </p:blipFill>
        <p:spPr>
          <a:xfrm>
            <a:off x="1377582" y="1747731"/>
            <a:ext cx="2599332" cy="4417175"/>
          </a:xfrm>
          <a:prstGeom prst="rect">
            <a:avLst/>
          </a:prstGeom>
        </p:spPr>
      </p:pic>
      <p:pic>
        <p:nvPicPr>
          <p:cNvPr id="12" name="Picture 11">
            <a:extLst>
              <a:ext uri="{FF2B5EF4-FFF2-40B4-BE49-F238E27FC236}">
                <a16:creationId xmlns:a16="http://schemas.microsoft.com/office/drawing/2014/main" id="{D6CEF4D3-5BA9-BD97-BEB4-6E66A3F6E546}"/>
              </a:ext>
            </a:extLst>
          </p:cNvPr>
          <p:cNvPicPr>
            <a:picLocks noChangeAspect="1"/>
          </p:cNvPicPr>
          <p:nvPr/>
        </p:nvPicPr>
        <p:blipFill>
          <a:blip r:embed="rId4"/>
          <a:stretch>
            <a:fillRect/>
          </a:stretch>
        </p:blipFill>
        <p:spPr>
          <a:xfrm>
            <a:off x="4929810" y="1747731"/>
            <a:ext cx="2599332" cy="4417173"/>
          </a:xfrm>
          <a:prstGeom prst="rect">
            <a:avLst/>
          </a:prstGeom>
        </p:spPr>
      </p:pic>
      <p:pic>
        <p:nvPicPr>
          <p:cNvPr id="13" name="Picture 12">
            <a:extLst>
              <a:ext uri="{FF2B5EF4-FFF2-40B4-BE49-F238E27FC236}">
                <a16:creationId xmlns:a16="http://schemas.microsoft.com/office/drawing/2014/main" id="{1929BE2B-B750-862E-E7F8-E5055850943F}"/>
              </a:ext>
            </a:extLst>
          </p:cNvPr>
          <p:cNvPicPr>
            <a:picLocks noChangeAspect="1"/>
          </p:cNvPicPr>
          <p:nvPr/>
        </p:nvPicPr>
        <p:blipFill>
          <a:blip r:embed="rId5"/>
          <a:stretch>
            <a:fillRect/>
          </a:stretch>
        </p:blipFill>
        <p:spPr>
          <a:xfrm>
            <a:off x="8215088" y="1751360"/>
            <a:ext cx="2599330" cy="4417170"/>
          </a:xfrm>
          <a:prstGeom prst="rect">
            <a:avLst/>
          </a:prstGeom>
        </p:spPr>
      </p:pic>
      <p:sp>
        <p:nvSpPr>
          <p:cNvPr id="14" name="TextBox 13">
            <a:extLst>
              <a:ext uri="{FF2B5EF4-FFF2-40B4-BE49-F238E27FC236}">
                <a16:creationId xmlns:a16="http://schemas.microsoft.com/office/drawing/2014/main" id="{F6688653-755E-3CE2-5C89-C6F464C4D86D}"/>
              </a:ext>
            </a:extLst>
          </p:cNvPr>
          <p:cNvSpPr txBox="1"/>
          <p:nvPr/>
        </p:nvSpPr>
        <p:spPr>
          <a:xfrm>
            <a:off x="2314048" y="6125517"/>
            <a:ext cx="1337226" cy="461665"/>
          </a:xfrm>
          <a:prstGeom prst="rect">
            <a:avLst/>
          </a:prstGeom>
          <a:noFill/>
        </p:spPr>
        <p:txBody>
          <a:bodyPr wrap="none" rtlCol="0">
            <a:spAutoFit/>
          </a:bodyPr>
          <a:lstStyle/>
          <a:p>
            <a:pPr algn="ctr"/>
            <a:r>
              <a:rPr lang="en-US" sz="2400" noProof="0" dirty="0"/>
              <a:t>OpenMP</a:t>
            </a:r>
          </a:p>
        </p:txBody>
      </p:sp>
      <p:sp>
        <p:nvSpPr>
          <p:cNvPr id="17" name="TextBox 16">
            <a:extLst>
              <a:ext uri="{FF2B5EF4-FFF2-40B4-BE49-F238E27FC236}">
                <a16:creationId xmlns:a16="http://schemas.microsoft.com/office/drawing/2014/main" id="{667B5F2B-0CBE-6E78-3B10-333B35B0B297}"/>
              </a:ext>
            </a:extLst>
          </p:cNvPr>
          <p:cNvSpPr txBox="1"/>
          <p:nvPr/>
        </p:nvSpPr>
        <p:spPr>
          <a:xfrm>
            <a:off x="6216107" y="6077247"/>
            <a:ext cx="704039" cy="461665"/>
          </a:xfrm>
          <a:prstGeom prst="rect">
            <a:avLst/>
          </a:prstGeom>
          <a:noFill/>
        </p:spPr>
        <p:txBody>
          <a:bodyPr wrap="none" rtlCol="0">
            <a:spAutoFit/>
          </a:bodyPr>
          <a:lstStyle/>
          <a:p>
            <a:pPr algn="ctr"/>
            <a:r>
              <a:rPr lang="en-US" sz="2400" noProof="0" dirty="0"/>
              <a:t>TBB</a:t>
            </a:r>
          </a:p>
        </p:txBody>
      </p:sp>
      <p:sp>
        <p:nvSpPr>
          <p:cNvPr id="19" name="TextBox 18">
            <a:extLst>
              <a:ext uri="{FF2B5EF4-FFF2-40B4-BE49-F238E27FC236}">
                <a16:creationId xmlns:a16="http://schemas.microsoft.com/office/drawing/2014/main" id="{20442BAB-9C7C-A7E7-E003-E192B24A9990}"/>
              </a:ext>
            </a:extLst>
          </p:cNvPr>
          <p:cNvSpPr txBox="1"/>
          <p:nvPr/>
        </p:nvSpPr>
        <p:spPr>
          <a:xfrm>
            <a:off x="9484980" y="6125516"/>
            <a:ext cx="994439" cy="461665"/>
          </a:xfrm>
          <a:prstGeom prst="rect">
            <a:avLst/>
          </a:prstGeom>
          <a:noFill/>
        </p:spPr>
        <p:txBody>
          <a:bodyPr wrap="none" rtlCol="0">
            <a:spAutoFit/>
          </a:bodyPr>
          <a:lstStyle/>
          <a:p>
            <a:pPr algn="ctr"/>
            <a:r>
              <a:rPr lang="en-US" sz="2400" noProof="0" dirty="0"/>
              <a:t>CUDA</a:t>
            </a:r>
          </a:p>
        </p:txBody>
      </p:sp>
      <p:sp>
        <p:nvSpPr>
          <p:cNvPr id="15" name="TextBox 14">
            <a:extLst>
              <a:ext uri="{FF2B5EF4-FFF2-40B4-BE49-F238E27FC236}">
                <a16:creationId xmlns:a16="http://schemas.microsoft.com/office/drawing/2014/main" id="{2E799F0C-B061-4025-3DCB-D375FEAC5ADD}"/>
              </a:ext>
            </a:extLst>
          </p:cNvPr>
          <p:cNvSpPr txBox="1"/>
          <p:nvPr/>
        </p:nvSpPr>
        <p:spPr>
          <a:xfrm>
            <a:off x="8365923" y="1092101"/>
            <a:ext cx="2721384" cy="461665"/>
          </a:xfrm>
          <a:prstGeom prst="rect">
            <a:avLst/>
          </a:prstGeom>
          <a:noFill/>
        </p:spPr>
        <p:txBody>
          <a:bodyPr wrap="square" rtlCol="0" anchor="b">
            <a:spAutoFit/>
          </a:bodyPr>
          <a:lstStyle/>
          <a:p>
            <a:pPr algn="ctr"/>
            <a:r>
              <a:rPr lang="en-US" sz="2400" noProof="0" dirty="0" err="1"/>
              <a:t>PolyBench</a:t>
            </a:r>
            <a:r>
              <a:rPr lang="en-US" sz="2400" noProof="0" dirty="0"/>
              <a:t>/GPU</a:t>
            </a:r>
          </a:p>
        </p:txBody>
      </p:sp>
    </p:spTree>
    <p:extLst>
      <p:ext uri="{BB962C8B-B14F-4D97-AF65-F5344CB8AC3E}">
        <p14:creationId xmlns:p14="http://schemas.microsoft.com/office/powerpoint/2010/main" val="471930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nvPicPr>
        <p:blipFill>
          <a:blip r:embed="rId3"/>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nvPr>
        </p:nvSpPr>
        <p:spPr/>
        <p:txBody>
          <a:bodyPr/>
          <a:lstStyle/>
          <a:p>
            <a:fld id="{426C01F6-8E80-4F75-81D6-E35CABA351AD}"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nvPr>
        </p:nvSpPr>
        <p:spPr/>
        <p:txBody>
          <a:bodyPr/>
          <a:lstStyle/>
          <a:p>
            <a:fld id="{DA0BB241-1B5F-4309-9407-9EEA04D9598D}" type="slidenum">
              <a:rPr lang="en-US" noProof="0" smtClean="0"/>
              <a:t>14</a:t>
            </a:fld>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
        <p:nvSpPr>
          <p:cNvPr id="31" name="TextBox 30">
            <a:extLst>
              <a:ext uri="{FF2B5EF4-FFF2-40B4-BE49-F238E27FC236}">
                <a16:creationId xmlns:a16="http://schemas.microsoft.com/office/drawing/2014/main" id="{CF6AD224-7830-5869-6729-C63C5D8E0FFF}"/>
              </a:ext>
            </a:extLst>
          </p:cNvPr>
          <p:cNvSpPr txBox="1"/>
          <p:nvPr/>
        </p:nvSpPr>
        <p:spPr>
          <a:xfrm>
            <a:off x="3784386" y="6214865"/>
            <a:ext cx="2104438"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800" dirty="0"/>
              <a:t>+ Flexibility</a:t>
            </a:r>
          </a:p>
        </p:txBody>
      </p:sp>
      <p:sp>
        <p:nvSpPr>
          <p:cNvPr id="32" name="TextBox 31">
            <a:extLst>
              <a:ext uri="{FF2B5EF4-FFF2-40B4-BE49-F238E27FC236}">
                <a16:creationId xmlns:a16="http://schemas.microsoft.com/office/drawing/2014/main" id="{77520BB6-B4CA-E0DE-29CF-16475D0921A2}"/>
              </a:ext>
            </a:extLst>
          </p:cNvPr>
          <p:cNvSpPr txBox="1"/>
          <p:nvPr/>
        </p:nvSpPr>
        <p:spPr>
          <a:xfrm>
            <a:off x="6303178" y="6221520"/>
            <a:ext cx="221114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 Type safety</a:t>
            </a:r>
          </a:p>
        </p:txBody>
      </p:sp>
      <p:cxnSp>
        <p:nvCxnSpPr>
          <p:cNvPr id="47" name="Straight Connector 46">
            <a:extLst>
              <a:ext uri="{FF2B5EF4-FFF2-40B4-BE49-F238E27FC236}">
                <a16:creationId xmlns:a16="http://schemas.microsoft.com/office/drawing/2014/main" id="{C1EB5605-1755-DC29-A293-2C533F0575EC}"/>
              </a:ext>
            </a:extLst>
          </p:cNvPr>
          <p:cNvCxnSpPr/>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18546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7" grpId="0" animBg="1"/>
      <p:bldP spid="18" grpId="0" animBg="1"/>
      <p:bldP spid="23" grpId="0" animBg="1"/>
      <p:bldP spid="31"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nvPr>
        </p:nvSpPr>
        <p:spPr/>
        <p:txBody>
          <a:bodyPr/>
          <a:lstStyle/>
          <a:p>
            <a:fld id="{6D8553D1-8D82-4D70-AAA7-91480DF3CCDB}"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nvPr>
        </p:nvSpPr>
        <p:spPr/>
        <p:txBody>
          <a:bodyPr/>
          <a:lstStyle/>
          <a:p>
            <a:fld id="{DA0BB241-1B5F-4309-9407-9EEA04D9598D}" type="slidenum">
              <a:rPr lang="en-US" noProof="0" smtClean="0"/>
              <a:t>15</a:t>
            </a:fld>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pPr>
            <a:r>
              <a:rPr lang="en-US" sz="2000" dirty="0">
                <a:solidFill>
                  <a:srgbClr val="795E26"/>
                </a:solidFill>
                <a:latin typeface="Fira Code" panose="020B0809050000020004" pitchFamily="49" charset="0"/>
              </a:rPr>
              <a:t>gather</a:t>
            </a:r>
            <a:r>
              <a:rPr lang="en-US" sz="2000" dirty="0">
                <a:solidFill>
                  <a:srgbClr val="000000"/>
                </a:solidFill>
                <a:latin typeface="Fira Code" panose="020B0809050000020004" pitchFamily="49" charset="0"/>
              </a:rPr>
              <a:t>(</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Data</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root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MPItrav</a:t>
            </a:r>
            <a:r>
              <a:rPr lang="en-US" sz="2000" dirty="0">
                <a:solidFill>
                  <a:srgbClr val="000000"/>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412156" y="5407427"/>
            <a:ext cx="521160" cy="521160"/>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E10E03B-CD42-27DC-6DF5-CB9596382EE5}"/>
                  </a:ext>
                </a:extLst>
              </p:cNvPr>
              <p:cNvSpPr txBox="1"/>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xmlns="">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nvSpPr>
            <p:spPr>
              <a:xfrm>
                <a:off x="2848591" y="4397966"/>
                <a:ext cx="1567391" cy="369332"/>
              </a:xfrm>
              <a:prstGeom prst="rect">
                <a:avLst/>
              </a:prstGeom>
              <a:blipFill>
                <a:blip r:embed="rId8"/>
                <a:stretch>
                  <a:fillRect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30D2A10-C3C9-5980-4B7C-1920E7A6499E}"/>
                  </a:ext>
                </a:extLst>
              </p:cNvPr>
              <p:cNvSpPr txBox="1"/>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xmlns="">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nvSpPr>
            <p:spPr>
              <a:xfrm>
                <a:off x="1033705" y="2614207"/>
                <a:ext cx="1567391" cy="369332"/>
              </a:xfrm>
              <a:prstGeom prst="rect">
                <a:avLst/>
              </a:prstGeom>
              <a:blipFill>
                <a:blip r:embed="rId9"/>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9902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43" grpId="0"/>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nvPr>
        </p:nvSpPr>
        <p:spPr/>
        <p:txBody>
          <a:bodyPr/>
          <a:lstStyle/>
          <a:p>
            <a:fld id="{2B64091F-5E68-4514-9CCC-EC8E47A52419}" type="datetime1">
              <a:rPr lang="en-US" noProof="0" smtClean="0"/>
              <a:t>9/5/2026</a:t>
            </a:fld>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nvPr>
        </p:nvSpPr>
        <p:spPr/>
        <p:txBody>
          <a:bodyPr/>
          <a:lstStyle/>
          <a:p>
            <a:fld id="{DA0BB241-1B5F-4309-9407-9EEA04D9598D}" type="slidenum">
              <a:rPr lang="en-US" noProof="0" smtClean="0"/>
              <a:t>16</a:t>
            </a:fld>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12" name="Group 11">
            <a:extLst>
              <a:ext uri="{FF2B5EF4-FFF2-40B4-BE49-F238E27FC236}">
                <a16:creationId xmlns:a16="http://schemas.microsoft.com/office/drawing/2014/main" id="{91C5C1F7-6962-E74A-2AAE-EC3FFFDE66D5}"/>
              </a:ext>
            </a:extLst>
          </p:cNvPr>
          <p:cNvGrpSpPr/>
          <p:nvPr/>
        </p:nvGrpSpPr>
        <p:grpSpPr>
          <a:xfrm>
            <a:off x="8023316" y="1515849"/>
            <a:ext cx="2743200" cy="912635"/>
            <a:chOff x="8661401" y="1810235"/>
            <a:chExt cx="2743200" cy="912635"/>
          </a:xfrm>
        </p:grpSpPr>
        <p:sp>
          <p:nvSpPr>
            <p:cNvPr id="5" name="Speech Bubble: Rectangle with Corners Rounded 4">
              <a:extLst>
                <a:ext uri="{FF2B5EF4-FFF2-40B4-BE49-F238E27FC236}">
                  <a16:creationId xmlns:a16="http://schemas.microsoft.com/office/drawing/2014/main" id="{3B3954D8-6618-8968-9344-B52E3B2C2D66}"/>
                </a:ext>
              </a:extLst>
            </p:cNvPr>
            <p:cNvSpPr/>
            <p:nvPr/>
          </p:nvSpPr>
          <p:spPr>
            <a:xfrm>
              <a:off x="8934595" y="1810235"/>
              <a:ext cx="2470005" cy="898064"/>
            </a:xfrm>
            <a:prstGeom prst="wedgeRoundRectCallout">
              <a:avLst>
                <a:gd name="adj1" fmla="val 26744"/>
                <a:gd name="adj2" fmla="val 179316"/>
                <a:gd name="adj3" fmla="val 16667"/>
              </a:avLst>
            </a:prstGeom>
            <a:solidFill>
              <a:srgbClr val="8EC8F0"/>
            </a:soli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sp>
          <p:nvSpPr>
            <p:cNvPr id="10" name="Speech Bubble: Rectangle with Corners Rounded 9">
              <a:extLst>
                <a:ext uri="{FF2B5EF4-FFF2-40B4-BE49-F238E27FC236}">
                  <a16:creationId xmlns:a16="http://schemas.microsoft.com/office/drawing/2014/main" id="{A64B26CC-455A-7502-D576-5F3D0CEC1479}"/>
                </a:ext>
              </a:extLst>
            </p:cNvPr>
            <p:cNvSpPr/>
            <p:nvPr/>
          </p:nvSpPr>
          <p:spPr>
            <a:xfrm>
              <a:off x="8661401" y="1812471"/>
              <a:ext cx="2743200" cy="898064"/>
            </a:xfrm>
            <a:prstGeom prst="wedgeRoundRectCallout">
              <a:avLst>
                <a:gd name="adj1" fmla="val -59905"/>
                <a:gd name="adj2" fmla="val -45335"/>
                <a:gd name="adj3" fmla="val 16667"/>
              </a:avLst>
            </a:prstGeom>
            <a:gradFill>
              <a:gsLst>
                <a:gs pos="0">
                  <a:srgbClr val="AFD8F7"/>
                </a:gs>
                <a:gs pos="50000">
                  <a:srgbClr val="A2CDEE"/>
                </a:gs>
                <a:gs pos="100000">
                  <a:srgbClr val="8CC8F0"/>
                </a:gs>
              </a:gsLst>
            </a:gra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noProof="0" dirty="0"/>
                <a:t>Same for </a:t>
              </a:r>
              <a:r>
                <a:rPr lang="en-US" sz="2000" noProof="0" dirty="0" err="1">
                  <a:solidFill>
                    <a:srgbClr val="795E26"/>
                  </a:solidFill>
                  <a:latin typeface="Fira Code" panose="020B0809050000020004" pitchFamily="49" charset="0"/>
                </a:rPr>
                <a:t>bcast</a:t>
              </a:r>
              <a:r>
                <a:rPr lang="en-US" sz="2000" noProof="0" dirty="0"/>
                <a:t>, </a:t>
              </a:r>
              <a:r>
                <a:rPr lang="en-US" sz="2000" noProof="0" dirty="0">
                  <a:solidFill>
                    <a:srgbClr val="795E26"/>
                  </a:solidFill>
                  <a:latin typeface="Fira Code" panose="020B0809050000020004" pitchFamily="49" charset="0"/>
                </a:rPr>
                <a:t>scatter</a:t>
              </a:r>
              <a:r>
                <a:rPr lang="en-US" sz="2000" noProof="0" dirty="0"/>
                <a:t>, </a:t>
              </a:r>
              <a:r>
                <a:rPr lang="en-US" sz="2000" noProof="0" dirty="0">
                  <a:solidFill>
                    <a:srgbClr val="795E26"/>
                  </a:solidFill>
                  <a:latin typeface="Fira Code" panose="020B0809050000020004" pitchFamily="49" charset="0"/>
                </a:rPr>
                <a:t>gather</a:t>
              </a:r>
              <a:r>
                <a:rPr lang="en-US" sz="2000" noProof="0" dirty="0"/>
                <a:t>, …</a:t>
              </a:r>
            </a:p>
          </p:txBody>
        </p:sp>
        <p:sp>
          <p:nvSpPr>
            <p:cNvPr id="11" name="Rectangle: Rounded Corners 10">
              <a:extLst>
                <a:ext uri="{FF2B5EF4-FFF2-40B4-BE49-F238E27FC236}">
                  <a16:creationId xmlns:a16="http://schemas.microsoft.com/office/drawing/2014/main" id="{F41680C2-ADEE-FD1D-982B-41B9FF5E4258}"/>
                </a:ext>
              </a:extLst>
            </p:cNvPr>
            <p:cNvSpPr/>
            <p:nvPr/>
          </p:nvSpPr>
          <p:spPr>
            <a:xfrm>
              <a:off x="10358748" y="2621961"/>
              <a:ext cx="653208" cy="100909"/>
            </a:xfrm>
            <a:prstGeom prst="roundRect">
              <a:avLst>
                <a:gd name="adj" fmla="val 50000"/>
              </a:avLst>
            </a:prstGeom>
            <a:solidFill>
              <a:srgbClr val="8EC8F0"/>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grpSp>
      <p:grpSp>
        <p:nvGrpSpPr>
          <p:cNvPr id="247" name="Group 246">
            <a:extLst>
              <a:ext uri="{FF2B5EF4-FFF2-40B4-BE49-F238E27FC236}">
                <a16:creationId xmlns:a16="http://schemas.microsoft.com/office/drawing/2014/main" id="{39546144-54F9-8B96-CF33-3E5BF0E44AE0}"/>
              </a:ext>
            </a:extLst>
          </p:cNvPr>
          <p:cNvGrpSpPr/>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extLst>
      <p:ext uri="{BB962C8B-B14F-4D97-AF65-F5344CB8AC3E}">
        <p14:creationId xmlns:p14="http://schemas.microsoft.com/office/powerpoint/2010/main" val="148415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9E796-E8D3-B4A5-DE7B-322F63386F74}"/>
              </a:ext>
            </a:extLst>
          </p:cNvPr>
          <p:cNvSpPr>
            <a:spLocks noGrp="1"/>
          </p:cNvSpPr>
          <p:nvPr>
            <p:ph type="title"/>
          </p:nvPr>
        </p:nvSpPr>
        <p:spPr/>
        <p:txBody>
          <a:bodyPr/>
          <a:lstStyle/>
          <a:p>
            <a:r>
              <a:rPr lang="en-US" noProof="0" dirty="0"/>
              <a:t>Support for layout-agnostic data distribution</a:t>
            </a:r>
          </a:p>
        </p:txBody>
      </p:sp>
      <p:sp>
        <p:nvSpPr>
          <p:cNvPr id="3" name="Date Placeholder 2">
            <a:extLst>
              <a:ext uri="{FF2B5EF4-FFF2-40B4-BE49-F238E27FC236}">
                <a16:creationId xmlns:a16="http://schemas.microsoft.com/office/drawing/2014/main" id="{E10A9B0C-32AC-B4DC-D921-8746913B5E36}"/>
              </a:ext>
            </a:extLst>
          </p:cNvPr>
          <p:cNvSpPr>
            <a:spLocks noGrp="1"/>
          </p:cNvSpPr>
          <p:nvPr>
            <p:ph type="dt" sz="half" idx="10"/>
          </p:nvPr>
        </p:nvSpPr>
        <p:spPr/>
        <p:txBody>
          <a:bodyPr/>
          <a:lstStyle/>
          <a:p>
            <a:fld id="{D2B8A75C-05AF-4892-8E0E-22A5D3C1A1D7}"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AB163094-AC61-E3F3-BAF8-AC409B2B6F0A}"/>
              </a:ext>
            </a:extLst>
          </p:cNvPr>
          <p:cNvSpPr>
            <a:spLocks noGrp="1"/>
          </p:cNvSpPr>
          <p:nvPr>
            <p:ph type="sldNum" sz="quarter" idx="12"/>
          </p:nvPr>
        </p:nvSpPr>
        <p:spPr/>
        <p:txBody>
          <a:bodyPr/>
          <a:lstStyle/>
          <a:p>
            <a:fld id="{DA0BB241-1B5F-4309-9407-9EEA04D9598D}" type="slidenum">
              <a:rPr lang="en-US" noProof="0" smtClean="0"/>
              <a:t>17</a:t>
            </a:fld>
            <a:endParaRPr lang="en-US" noProof="0" dirty="0"/>
          </a:p>
        </p:txBody>
      </p:sp>
      <p:pic>
        <p:nvPicPr>
          <p:cNvPr id="8" name="Picture 7">
            <a:extLst>
              <a:ext uri="{FF2B5EF4-FFF2-40B4-BE49-F238E27FC236}">
                <a16:creationId xmlns:a16="http://schemas.microsoft.com/office/drawing/2014/main" id="{E0FCA7EC-7437-CC15-6D3A-990AAB3DDAFA}"/>
              </a:ext>
            </a:extLst>
          </p:cNvPr>
          <p:cNvPicPr>
            <a:picLocks noChangeAspect="1"/>
          </p:cNvPicPr>
          <p:nvPr/>
        </p:nvPicPr>
        <p:blipFill>
          <a:blip r:embed="rId3"/>
          <a:stretch>
            <a:fillRect/>
          </a:stretch>
        </p:blipFill>
        <p:spPr>
          <a:xfrm>
            <a:off x="152400" y="1690849"/>
            <a:ext cx="11887200" cy="3476302"/>
          </a:xfrm>
          <a:prstGeom prst="rect">
            <a:avLst/>
          </a:prstGeom>
        </p:spPr>
      </p:pic>
    </p:spTree>
    <p:extLst>
      <p:ext uri="{BB962C8B-B14F-4D97-AF65-F5344CB8AC3E}">
        <p14:creationId xmlns:p14="http://schemas.microsoft.com/office/powerpoint/2010/main" val="202421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AE25-E132-6DBD-F16F-E9598EA6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BB0C-3BD1-5355-89AC-1EFD3483308F}"/>
              </a:ext>
            </a:extLst>
          </p:cNvPr>
          <p:cNvSpPr>
            <a:spLocks noGrp="1"/>
          </p:cNvSpPr>
          <p:nvPr>
            <p:ph type="title"/>
          </p:nvPr>
        </p:nvSpPr>
        <p:spPr/>
        <p:txBody>
          <a:bodyPr/>
          <a:lstStyle/>
          <a:p>
            <a:r>
              <a:rPr lang="en-US" noProof="0" dirty="0"/>
              <a:t>Performance comparison</a:t>
            </a:r>
          </a:p>
        </p:txBody>
      </p:sp>
      <p:sp>
        <p:nvSpPr>
          <p:cNvPr id="3" name="Date Placeholder 2">
            <a:extLst>
              <a:ext uri="{FF2B5EF4-FFF2-40B4-BE49-F238E27FC236}">
                <a16:creationId xmlns:a16="http://schemas.microsoft.com/office/drawing/2014/main" id="{28BB4D7E-1AFC-CDF0-9265-FE90CABB0DF6}"/>
              </a:ext>
            </a:extLst>
          </p:cNvPr>
          <p:cNvSpPr>
            <a:spLocks noGrp="1"/>
          </p:cNvSpPr>
          <p:nvPr>
            <p:ph type="dt" sz="half" idx="10"/>
          </p:nvPr>
        </p:nvSpPr>
        <p:spPr/>
        <p:txBody>
          <a:bodyPr/>
          <a:lstStyle/>
          <a:p>
            <a:fld id="{D2B8A75C-05AF-4892-8E0E-22A5D3C1A1D7}"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5F5A869E-F9A0-1579-FBDB-E8F79B3DF8D9}"/>
              </a:ext>
            </a:extLst>
          </p:cNvPr>
          <p:cNvSpPr>
            <a:spLocks noGrp="1"/>
          </p:cNvSpPr>
          <p:nvPr>
            <p:ph type="sldNum" sz="quarter" idx="12"/>
          </p:nvPr>
        </p:nvSpPr>
        <p:spPr/>
        <p:txBody>
          <a:bodyPr/>
          <a:lstStyle/>
          <a:p>
            <a:fld id="{DA0BB241-1B5F-4309-9407-9EEA04D9598D}" type="slidenum">
              <a:rPr lang="en-US" noProof="0" smtClean="0"/>
              <a:t>18</a:t>
            </a:fld>
            <a:endParaRPr lang="en-US" noProof="0" dirty="0"/>
          </a:p>
        </p:txBody>
      </p:sp>
      <p:pic>
        <p:nvPicPr>
          <p:cNvPr id="8" name="Picture 7">
            <a:extLst>
              <a:ext uri="{FF2B5EF4-FFF2-40B4-BE49-F238E27FC236}">
                <a16:creationId xmlns:a16="http://schemas.microsoft.com/office/drawing/2014/main" id="{9B147978-2CA9-0505-C6D4-60F25215B78C}"/>
              </a:ext>
            </a:extLst>
          </p:cNvPr>
          <p:cNvPicPr>
            <a:picLocks noChangeAspect="1"/>
          </p:cNvPicPr>
          <p:nvPr/>
        </p:nvPicPr>
        <p:blipFill>
          <a:blip r:embed="rId3"/>
          <a:stretch>
            <a:fillRect/>
          </a:stretch>
        </p:blipFill>
        <p:spPr>
          <a:xfrm>
            <a:off x="2628" y="1466512"/>
            <a:ext cx="12189372" cy="3924976"/>
          </a:xfrm>
          <a:prstGeom prst="rect">
            <a:avLst/>
          </a:prstGeom>
        </p:spPr>
      </p:pic>
    </p:spTree>
    <p:extLst>
      <p:ext uri="{BB962C8B-B14F-4D97-AF65-F5344CB8AC3E}">
        <p14:creationId xmlns:p14="http://schemas.microsoft.com/office/powerpoint/2010/main" val="397270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nvPr>
        </p:nvSpPr>
        <p:spPr/>
        <p:txBody>
          <a:bodyPr/>
          <a:lstStyle/>
          <a:p>
            <a:fld id="{3282519B-8553-4EB5-804E-C162E89AEEEB}"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nvPr>
        </p:nvSpPr>
        <p:spPr/>
        <p:txBody>
          <a:bodyPr/>
          <a:lstStyle/>
          <a:p>
            <a:fld id="{DA0BB241-1B5F-4309-9407-9EEA04D9598D}" type="slidenum">
              <a:rPr lang="en-US" noProof="0" smtClean="0"/>
              <a:t>19</a:t>
            </a:fld>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grpSp>
        <p:nvGrpSpPr>
          <p:cNvPr id="8" name="Group 7">
            <a:extLst>
              <a:ext uri="{FF2B5EF4-FFF2-40B4-BE49-F238E27FC236}">
                <a16:creationId xmlns:a16="http://schemas.microsoft.com/office/drawing/2014/main" id="{8EAFD399-C8B3-F2C8-A168-313A709B17A8}"/>
              </a:ext>
            </a:extLst>
          </p:cNvPr>
          <p:cNvGrpSpPr/>
          <p:nvPr/>
        </p:nvGrpSpPr>
        <p:grpSpPr>
          <a:xfrm>
            <a:off x="7556282" y="2210069"/>
            <a:ext cx="4627188" cy="2320646"/>
            <a:chOff x="4042550" y="4991122"/>
            <a:chExt cx="4627188" cy="2320646"/>
          </a:xfrm>
        </p:grpSpPr>
        <p:pic>
          <p:nvPicPr>
            <p:cNvPr id="5" name="Picture 4">
              <a:extLst>
                <a:ext uri="{FF2B5EF4-FFF2-40B4-BE49-F238E27FC236}">
                  <a16:creationId xmlns:a16="http://schemas.microsoft.com/office/drawing/2014/main" id="{DBDA9C2C-E1CC-A951-8389-185C7CDBEF85}"/>
                </a:ext>
              </a:extLst>
            </p:cNvPr>
            <p:cNvPicPr>
              <a:picLocks noChangeAspect="1"/>
            </p:cNvPicPr>
            <p:nvPr/>
          </p:nvPicPr>
          <p:blipFill>
            <a:blip r:embed="rId4"/>
            <a:stretch>
              <a:fillRect/>
            </a:stretch>
          </p:blipFill>
          <p:spPr>
            <a:xfrm>
              <a:off x="6970149" y="5560830"/>
              <a:ext cx="1112954" cy="1298446"/>
            </a:xfrm>
            <a:prstGeom prst="rect">
              <a:avLst/>
            </a:prstGeom>
          </p:spPr>
        </p:pic>
        <p:sp>
          <p:nvSpPr>
            <p:cNvPr id="20" name="TextBox 19">
              <a:extLst>
                <a:ext uri="{FF2B5EF4-FFF2-40B4-BE49-F238E27FC236}">
                  <a16:creationId xmlns:a16="http://schemas.microsoft.com/office/drawing/2014/main" id="{00085155-9776-5628-AC7C-0E24C456238E}"/>
                </a:ext>
              </a:extLst>
            </p:cNvPr>
            <p:cNvSpPr txBox="1"/>
            <p:nvPr/>
          </p:nvSpPr>
          <p:spPr>
            <a:xfrm>
              <a:off x="4042550" y="4991122"/>
              <a:ext cx="3785232" cy="578882"/>
            </a:xfrm>
            <a:prstGeom prst="wedgeRoundRectCallout">
              <a:avLst>
                <a:gd name="adj1" fmla="val 32918"/>
                <a:gd name="adj2" fmla="val 128777"/>
                <a:gd name="adj3" fmla="val 16667"/>
              </a:avLst>
            </a:prstGeom>
            <a:gradFill>
              <a:gsLst>
                <a:gs pos="0">
                  <a:srgbClr val="ADD7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r>
                <a:rPr lang="en-US" sz="2800" noProof="0" dirty="0"/>
                <a:t>Can we abstract more?</a:t>
              </a:r>
            </a:p>
          </p:txBody>
        </p:sp>
        <p:sp>
          <p:nvSpPr>
            <p:cNvPr id="6" name="TextBox 5">
              <a:extLst>
                <a:ext uri="{FF2B5EF4-FFF2-40B4-BE49-F238E27FC236}">
                  <a16:creationId xmlns:a16="http://schemas.microsoft.com/office/drawing/2014/main" id="{A3ED9BA9-7D7E-319D-6BB0-E797117EB5EA}"/>
                </a:ext>
              </a:extLst>
            </p:cNvPr>
            <p:cNvSpPr txBox="1"/>
            <p:nvPr/>
          </p:nvSpPr>
          <p:spPr>
            <a:xfrm>
              <a:off x="6294921" y="6850103"/>
              <a:ext cx="2374817" cy="461665"/>
            </a:xfrm>
            <a:prstGeom prst="rect">
              <a:avLst/>
            </a:prstGeom>
            <a:noFill/>
          </p:spPr>
          <p:txBody>
            <a:bodyPr wrap="none" rtlCol="0">
              <a:spAutoFit/>
            </a:bodyPr>
            <a:lstStyle/>
            <a:p>
              <a:pPr algn="ctr"/>
              <a:r>
                <a:rPr lang="en-US" sz="2400" noProof="0" dirty="0" err="1"/>
                <a:t>Collegue</a:t>
              </a:r>
              <a:r>
                <a:rPr lang="en-US" sz="2400" noProof="0" dirty="0"/>
                <a:t> Brabec</a:t>
              </a:r>
            </a:p>
          </p:txBody>
        </p:sp>
      </p:grpSp>
      <p:sp>
        <p:nvSpPr>
          <p:cNvPr id="19" name="Rectangle 18">
            <a:extLst>
              <a:ext uri="{FF2B5EF4-FFF2-40B4-BE49-F238E27FC236}">
                <a16:creationId xmlns:a16="http://schemas.microsoft.com/office/drawing/2014/main" id="{6E59B725-5B8D-D594-A1C6-5596E71C41D8}"/>
              </a:ext>
            </a:extLst>
          </p:cNvPr>
          <p:cNvSpPr/>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74132" y="1313599"/>
              <a:ext cx="732656" cy="732656"/>
            </a:xfrm>
            <a:prstGeom prst="rect">
              <a:avLst/>
            </a:prstGeom>
          </p:spPr>
        </p:pic>
      </p:grpSp>
    </p:spTree>
    <p:extLst>
      <p:ext uri="{BB962C8B-B14F-4D97-AF65-F5344CB8AC3E}">
        <p14:creationId xmlns:p14="http://schemas.microsoft.com/office/powerpoint/2010/main" val="263053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nvPr>
        </p:nvSpPr>
        <p:spPr/>
        <p:txBody>
          <a:bodyPr/>
          <a:lstStyle/>
          <a:p>
            <a:fld id="{3282519B-8553-4EB5-804E-C162E89AEEEB}"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nvPr>
        </p:nvSpPr>
        <p:spPr/>
        <p:txBody>
          <a:bodyPr/>
          <a:lstStyle/>
          <a:p>
            <a:fld id="{DA0BB241-1B5F-4309-9407-9EEA04D9598D}" type="slidenum">
              <a:rPr lang="en-US" noProof="0" smtClean="0"/>
              <a:t>20</a:t>
            </a:fld>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grpSp>
        <p:nvGrpSpPr>
          <p:cNvPr id="12" name="Group 11">
            <a:extLst>
              <a:ext uri="{FF2B5EF4-FFF2-40B4-BE49-F238E27FC236}">
                <a16:creationId xmlns:a16="http://schemas.microsoft.com/office/drawing/2014/main" id="{0E365D69-516D-0808-8085-F8A462F03D96}"/>
              </a:ext>
            </a:extLst>
          </p:cNvPr>
          <p:cNvGrpSpPr/>
          <p:nvPr/>
        </p:nvGrpSpPr>
        <p:grpSpPr>
          <a:xfrm>
            <a:off x="5426127" y="3607154"/>
            <a:ext cx="6706530" cy="2225552"/>
            <a:chOff x="5703901" y="3724517"/>
            <a:chExt cx="6369437" cy="2225552"/>
          </a:xfrm>
        </p:grpSpPr>
        <p:sp>
          <p:nvSpPr>
            <p:cNvPr id="46" name="TextBox 45">
              <a:extLst>
                <a:ext uri="{FF2B5EF4-FFF2-40B4-BE49-F238E27FC236}">
                  <a16:creationId xmlns:a16="http://schemas.microsoft.com/office/drawing/2014/main" id="{0F7A28B7-7C76-0D69-D0F9-D698CC5C32FC}"/>
                </a:ext>
              </a:extLst>
            </p:cNvPr>
            <p:cNvSpPr txBox="1"/>
            <p:nvPr/>
          </p:nvSpPr>
          <p:spPr>
            <a:xfrm>
              <a:off x="5703901" y="4130212"/>
              <a:ext cx="6369437" cy="1819857"/>
            </a:xfrm>
            <a:prstGeom prst="rect">
              <a:avLst/>
            </a:prstGeom>
            <a:noFill/>
            <a:ln>
              <a:solidFill>
                <a:schemeClr val="tx1"/>
              </a:solidFill>
            </a:ln>
          </p:spPr>
          <p:txBody>
            <a:bodyPr wrap="none">
              <a:spAutoFit/>
            </a:bodyPr>
            <a:lstStyle/>
            <a:p>
              <a:pPr>
                <a:lnSpc>
                  <a:spcPct val="113095"/>
                </a:lnSpc>
                <a:buNone/>
              </a:pP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err="1">
                  <a:solidFill>
                    <a:srgbClr val="001080"/>
                  </a:solidFill>
                  <a:latin typeface="Fira Code" panose="020B0809050000020004" pitchFamily="49" charset="0"/>
                  <a:ea typeface="Fira Code" panose="020B0809050000020004" pitchFamily="49" charset="0"/>
                  <a:cs typeface="Fira Code" panose="020B0809050000020004" pitchFamily="49" charset="0"/>
                </a:rPr>
                <a:t>is_alive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has3_or_2</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endParaRPr lang="en-US" sz="2000" noProof="0" dirty="0">
                <a:solidFill>
                  <a:srgbClr val="000000"/>
                </a:solidFill>
                <a:latin typeface="Fira Code" panose="020B0809050000020004" pitchFamily="49" charset="0"/>
                <a:ea typeface="Fira Code" panose="020B0809050000020004" pitchFamily="49" charset="0"/>
                <a:cs typeface="Fira Code" panose="020B0809050000020004" pitchFamily="49" charset="0"/>
              </a:endParaRP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p:txBody>
        </p:sp>
        <p:sp>
          <p:nvSpPr>
            <p:cNvPr id="50" name="TextBox 49">
              <a:extLst>
                <a:ext uri="{FF2B5EF4-FFF2-40B4-BE49-F238E27FC236}">
                  <a16:creationId xmlns:a16="http://schemas.microsoft.com/office/drawing/2014/main" id="{B0BF9745-75CB-C855-CD93-BB61357ED979}"/>
                </a:ext>
              </a:extLst>
            </p:cNvPr>
            <p:cNvSpPr txBox="1"/>
            <p:nvPr/>
          </p:nvSpPr>
          <p:spPr>
            <a:xfrm>
              <a:off x="6891475" y="3724517"/>
              <a:ext cx="4579776" cy="461665"/>
            </a:xfrm>
            <a:prstGeom prst="rect">
              <a:avLst/>
            </a:prstGeom>
            <a:noFill/>
          </p:spPr>
          <p:txBody>
            <a:bodyPr wrap="none" rtlCol="0" anchor="b">
              <a:spAutoFit/>
            </a:bodyPr>
            <a:lstStyle/>
            <a:p>
              <a:pPr algn="ctr"/>
              <a:r>
                <a:rPr lang="en-US" sz="2400" noProof="0" dirty="0">
                  <a:ea typeface="Fira Code" panose="020B0809050000020004" pitchFamily="49" charset="0"/>
                  <a:cs typeface="Fira Code" panose="020B0809050000020004" pitchFamily="49" charset="0"/>
                </a:rPr>
                <a:t>Type-level expression (Cellato DSL)</a:t>
              </a:r>
            </a:p>
          </p:txBody>
        </p:sp>
      </p:grpSp>
      <p:sp>
        <p:nvSpPr>
          <p:cNvPr id="10" name="TextBox 9">
            <a:extLst>
              <a:ext uri="{FF2B5EF4-FFF2-40B4-BE49-F238E27FC236}">
                <a16:creationId xmlns:a16="http://schemas.microsoft.com/office/drawing/2014/main" id="{F87652A6-37F0-2CC7-1FD2-E46D9878EE9E}"/>
              </a:ext>
            </a:extLst>
          </p:cNvPr>
          <p:cNvSpPr txBox="1"/>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extLst>
      <p:ext uri="{BB962C8B-B14F-4D97-AF65-F5344CB8AC3E}">
        <p14:creationId xmlns:p14="http://schemas.microsoft.com/office/powerpoint/2010/main" val="166418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4367950-8D7A-8F93-A9DA-64D5AC81F27E}"/>
              </a:ext>
            </a:extLst>
          </p:cNvPr>
          <p:cNvSpPr txBox="1"/>
          <p:nvPr/>
        </p:nvSpPr>
        <p:spPr>
          <a:xfrm>
            <a:off x="2787245" y="609035"/>
            <a:ext cx="6737742" cy="1819857"/>
          </a:xfrm>
          <a:prstGeom prst="rect">
            <a:avLst/>
          </a:prstGeom>
          <a:noFill/>
          <a:ln>
            <a:solidFill>
              <a:schemeClr val="tx1"/>
            </a:solidFill>
          </a:ln>
        </p:spPr>
        <p:txBody>
          <a:bodyPr wrap="none">
            <a:spAutoFit/>
          </a:bodyPr>
          <a:lstStyle/>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err="1">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is_alive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has3_or_2</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p:txBody>
      </p:sp>
      <p:sp>
        <p:nvSpPr>
          <p:cNvPr id="3" name="Date Placeholder 2">
            <a:extLst>
              <a:ext uri="{FF2B5EF4-FFF2-40B4-BE49-F238E27FC236}">
                <a16:creationId xmlns:a16="http://schemas.microsoft.com/office/drawing/2014/main" id="{B3684863-8FF8-82FF-0851-73946F133EDC}"/>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35D5ED14-BD2B-929B-4FDF-EB4408FEAFEC}"/>
              </a:ext>
            </a:extLst>
          </p:cNvPr>
          <p:cNvSpPr>
            <a:spLocks noGrp="1"/>
          </p:cNvSpPr>
          <p:nvPr>
            <p:ph type="sldNum" sz="quarter" idx="12"/>
          </p:nvPr>
        </p:nvSpPr>
        <p:spPr/>
        <p:txBody>
          <a:bodyPr/>
          <a:lstStyle/>
          <a:p>
            <a:fld id="{DA0BB241-1B5F-4309-9407-9EEA04D9598D}" type="slidenum">
              <a:rPr lang="en-US" noProof="0" smtClean="0"/>
              <a:t>21</a:t>
            </a:fld>
            <a:endParaRPr lang="en-US" noProof="0" dirty="0"/>
          </a:p>
        </p:txBody>
      </p:sp>
      <p:pic>
        <p:nvPicPr>
          <p:cNvPr id="6" name="Picture 5">
            <a:extLst>
              <a:ext uri="{FF2B5EF4-FFF2-40B4-BE49-F238E27FC236}">
                <a16:creationId xmlns:a16="http://schemas.microsoft.com/office/drawing/2014/main" id="{A443639C-7B66-77F3-B03F-A4476642A9B9}"/>
              </a:ext>
            </a:extLst>
          </p:cNvPr>
          <p:cNvPicPr>
            <a:picLocks noChangeAspect="1"/>
          </p:cNvPicPr>
          <p:nvPr/>
        </p:nvPicPr>
        <p:blipFill>
          <a:blip r:embed="rId3"/>
          <a:stretch>
            <a:fillRect/>
          </a:stretch>
        </p:blipFill>
        <p:spPr>
          <a:xfrm>
            <a:off x="1047003" y="2824126"/>
            <a:ext cx="10286254" cy="3636772"/>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90207B99-7626-B9B7-5B84-847CAB7644E6}"/>
              </a:ext>
            </a:extLst>
          </p:cNvPr>
          <p:cNvCxnSpPr>
            <a:cxnSpLocks/>
          </p:cNvCxnSpPr>
          <p:nvPr/>
        </p:nvCxnSpPr>
        <p:spPr>
          <a:xfrm>
            <a:off x="8647386" y="2428892"/>
            <a:ext cx="930166" cy="944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9F90E6E-4EBE-508F-0BBE-D1A1083C436D}"/>
              </a:ext>
            </a:extLst>
          </p:cNvPr>
          <p:cNvSpPr txBox="1"/>
          <p:nvPr/>
        </p:nvSpPr>
        <p:spPr>
          <a:xfrm>
            <a:off x="3680915" y="166269"/>
            <a:ext cx="4830168" cy="461665"/>
          </a:xfrm>
          <a:prstGeom prst="rect">
            <a:avLst/>
          </a:prstGeom>
          <a:noFill/>
        </p:spPr>
        <p:txBody>
          <a:bodyPr wrap="none" rtlCol="0">
            <a:spAutoFit/>
          </a:bodyPr>
          <a:lstStyle/>
          <a:p>
            <a:pPr algn="ctr"/>
            <a:r>
              <a:rPr lang="en-US" sz="2400" noProof="0" dirty="0"/>
              <a:t>Type-level expression (Cellato DSL)</a:t>
            </a:r>
          </a:p>
        </p:txBody>
      </p:sp>
      <p:sp>
        <p:nvSpPr>
          <p:cNvPr id="11" name="TextBox 10">
            <a:extLst>
              <a:ext uri="{FF2B5EF4-FFF2-40B4-BE49-F238E27FC236}">
                <a16:creationId xmlns:a16="http://schemas.microsoft.com/office/drawing/2014/main" id="{04678AD1-9DFB-3AD1-C85E-E08FEAB31F7D}"/>
              </a:ext>
            </a:extLst>
          </p:cNvPr>
          <p:cNvSpPr txBox="1"/>
          <p:nvPr/>
        </p:nvSpPr>
        <p:spPr>
          <a:xfrm>
            <a:off x="1563128" y="4776952"/>
            <a:ext cx="2448234" cy="830997"/>
          </a:xfrm>
          <a:prstGeom prst="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ctr">
            <a:spAutoFit/>
          </a:bodyPr>
          <a:lstStyle/>
          <a:p>
            <a:pPr algn="ctr"/>
            <a:r>
              <a:rPr lang="en-US" sz="2400" noProof="0" dirty="0"/>
              <a:t>Already prepared</a:t>
            </a:r>
            <a:br>
              <a:rPr lang="en-US" sz="2400" noProof="0" dirty="0"/>
            </a:br>
            <a:r>
              <a:rPr lang="en-US" sz="2400" noProof="0" dirty="0"/>
              <a:t>in the library</a:t>
            </a:r>
          </a:p>
        </p:txBody>
      </p:sp>
      <p:cxnSp>
        <p:nvCxnSpPr>
          <p:cNvPr id="14" name="Straight Arrow Connector 13">
            <a:extLst>
              <a:ext uri="{FF2B5EF4-FFF2-40B4-BE49-F238E27FC236}">
                <a16:creationId xmlns:a16="http://schemas.microsoft.com/office/drawing/2014/main" id="{66F763AA-62BB-1A9E-B067-864136F9DBD9}"/>
              </a:ext>
            </a:extLst>
          </p:cNvPr>
          <p:cNvCxnSpPr>
            <a:stCxn id="11" idx="0"/>
          </p:cNvCxnSpPr>
          <p:nvPr/>
        </p:nvCxnSpPr>
        <p:spPr>
          <a:xfrm flipH="1" flipV="1">
            <a:off x="2388476" y="4099034"/>
            <a:ext cx="398769" cy="677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2EA30E8-0AB2-E770-D08E-8C4BF7B98448}"/>
              </a:ext>
            </a:extLst>
          </p:cNvPr>
          <p:cNvCxnSpPr>
            <a:stCxn id="11" idx="3"/>
          </p:cNvCxnSpPr>
          <p:nvPr/>
        </p:nvCxnSpPr>
        <p:spPr>
          <a:xfrm>
            <a:off x="4011362" y="5192451"/>
            <a:ext cx="1341031" cy="3333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A2D40E2-56FA-1456-C944-4EAED82B478E}"/>
              </a:ext>
            </a:extLst>
          </p:cNvPr>
          <p:cNvCxnSpPr/>
          <p:nvPr/>
        </p:nvCxnSpPr>
        <p:spPr>
          <a:xfrm flipV="1">
            <a:off x="4011362" y="4035972"/>
            <a:ext cx="1199141" cy="740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3544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07A5E-8CD8-50D6-0F99-3C19D813CE41}"/>
              </a:ext>
            </a:extLst>
          </p:cNvPr>
          <p:cNvPicPr>
            <a:picLocks noChangeAspect="1"/>
          </p:cNvPicPr>
          <p:nvPr/>
        </p:nvPicPr>
        <p:blipFill>
          <a:blip r:embed="rId3"/>
          <a:stretch>
            <a:fillRect/>
          </a:stretch>
        </p:blipFill>
        <p:spPr>
          <a:xfrm>
            <a:off x="0" y="1486810"/>
            <a:ext cx="12192000" cy="4511038"/>
          </a:xfrm>
          <a:prstGeom prst="rect">
            <a:avLst/>
          </a:prstGeom>
        </p:spPr>
      </p:pic>
      <p:sp>
        <p:nvSpPr>
          <p:cNvPr id="2" name="Title 1">
            <a:extLst>
              <a:ext uri="{FF2B5EF4-FFF2-40B4-BE49-F238E27FC236}">
                <a16:creationId xmlns:a16="http://schemas.microsoft.com/office/drawing/2014/main" id="{04F59CE6-2253-EE24-67C6-8EB494EB84BC}"/>
              </a:ext>
            </a:extLst>
          </p:cNvPr>
          <p:cNvSpPr>
            <a:spLocks noGrp="1"/>
          </p:cNvSpPr>
          <p:nvPr>
            <p:ph type="title"/>
          </p:nvPr>
        </p:nvSpPr>
        <p:spPr/>
        <p:txBody>
          <a:bodyPr/>
          <a:lstStyle/>
          <a:p>
            <a:r>
              <a:rPr lang="en-US" noProof="0" dirty="0"/>
              <a:t>What the design allows us to gain</a:t>
            </a:r>
          </a:p>
        </p:txBody>
      </p:sp>
      <p:sp>
        <p:nvSpPr>
          <p:cNvPr id="3" name="Date Placeholder 2">
            <a:extLst>
              <a:ext uri="{FF2B5EF4-FFF2-40B4-BE49-F238E27FC236}">
                <a16:creationId xmlns:a16="http://schemas.microsoft.com/office/drawing/2014/main" id="{A10CD936-56E6-AA18-96C2-8D61C51D1859}"/>
              </a:ext>
            </a:extLst>
          </p:cNvPr>
          <p:cNvSpPr>
            <a:spLocks noGrp="1"/>
          </p:cNvSpPr>
          <p:nvPr>
            <p:ph type="dt" sz="half" idx="10"/>
          </p:nvPr>
        </p:nvSpPr>
        <p:spPr/>
        <p:txBody>
          <a:bodyPr/>
          <a:lstStyle/>
          <a:p>
            <a:fld id="{78C2F5E9-57E3-4F5E-A80F-B6C9DE65874A}"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10D20B34-8FD2-D44C-9B00-2701B9B94787}"/>
              </a:ext>
            </a:extLst>
          </p:cNvPr>
          <p:cNvSpPr>
            <a:spLocks noGrp="1"/>
          </p:cNvSpPr>
          <p:nvPr>
            <p:ph type="sldNum" sz="quarter" idx="12"/>
          </p:nvPr>
        </p:nvSpPr>
        <p:spPr/>
        <p:txBody>
          <a:bodyPr/>
          <a:lstStyle/>
          <a:p>
            <a:fld id="{DA0BB241-1B5F-4309-9407-9EEA04D9598D}" type="slidenum">
              <a:rPr lang="en-US" noProof="0" smtClean="0"/>
              <a:t>22</a:t>
            </a:fld>
            <a:endParaRPr lang="en-US" noProof="0" dirty="0"/>
          </a:p>
        </p:txBody>
      </p:sp>
      <p:sp>
        <p:nvSpPr>
          <p:cNvPr id="6" name="TextBox 5">
            <a:extLst>
              <a:ext uri="{FF2B5EF4-FFF2-40B4-BE49-F238E27FC236}">
                <a16:creationId xmlns:a16="http://schemas.microsoft.com/office/drawing/2014/main" id="{358DA207-69B2-929A-62C9-4DE6DBD7195D}"/>
              </a:ext>
            </a:extLst>
          </p:cNvPr>
          <p:cNvSpPr txBox="1"/>
          <p:nvPr/>
        </p:nvSpPr>
        <p:spPr>
          <a:xfrm>
            <a:off x="1493490" y="5997848"/>
            <a:ext cx="9205020" cy="430887"/>
          </a:xfrm>
          <a:prstGeom prst="rect">
            <a:avLst/>
          </a:prstGeom>
          <a:noFill/>
        </p:spPr>
        <p:txBody>
          <a:bodyPr wrap="none" rtlCol="0">
            <a:spAutoFit/>
          </a:bodyPr>
          <a:lstStyle/>
          <a:p>
            <a:pPr algn="ctr"/>
            <a:r>
              <a:rPr lang="en-US" sz="2200" noProof="0" dirty="0"/>
              <a:t>Comparison of GPU-parallelized computation of various cellular automata</a:t>
            </a:r>
            <a:endParaRPr lang="en-US" sz="2200" i="1" noProof="0" dirty="0"/>
          </a:p>
        </p:txBody>
      </p:sp>
    </p:spTree>
    <p:extLst>
      <p:ext uri="{BB962C8B-B14F-4D97-AF65-F5344CB8AC3E}">
        <p14:creationId xmlns:p14="http://schemas.microsoft.com/office/powerpoint/2010/main" val="1310412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8984CF-F135-422A-BC96-9BDB08D720D4}"/>
              </a:ext>
            </a:extLst>
          </p:cNvPr>
          <p:cNvPicPr>
            <a:picLocks noChangeAspect="1"/>
          </p:cNvPicPr>
          <p:nvPr/>
        </p:nvPicPr>
        <p:blipFill>
          <a:blip r:embed="rId3"/>
          <a:srcRect l="12883" t="17084" r="11844" b="16205"/>
          <a:stretch>
            <a:fillRect/>
          </a:stretch>
        </p:blipFill>
        <p:spPr>
          <a:xfrm>
            <a:off x="5740045" y="4200417"/>
            <a:ext cx="1507332" cy="1335881"/>
          </a:xfrm>
          <a:prstGeom prst="rect">
            <a:avLst/>
          </a:prstGeom>
        </p:spPr>
      </p:pic>
      <p:sp>
        <p:nvSpPr>
          <p:cNvPr id="2" name="Title 1">
            <a:extLst>
              <a:ext uri="{FF2B5EF4-FFF2-40B4-BE49-F238E27FC236}">
                <a16:creationId xmlns:a16="http://schemas.microsoft.com/office/drawing/2014/main" id="{CA4F0FD2-3D3D-E4D8-0BE2-C6EA0F656E4D}"/>
              </a:ext>
            </a:extLst>
          </p:cNvPr>
          <p:cNvSpPr>
            <a:spLocks noGrp="1"/>
          </p:cNvSpPr>
          <p:nvPr>
            <p:ph type="title"/>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nvPr>
        </p:nvSpPr>
        <p:spPr/>
        <p:txBody>
          <a:bodyPr/>
          <a:lstStyle/>
          <a:p>
            <a:fld id="{DA0BB241-1B5F-4309-9407-9EEA04D9598D}" type="slidenum">
              <a:rPr lang="en-US" noProof="0" smtClean="0"/>
              <a:t>23</a:t>
            </a:fld>
            <a:endParaRPr lang="en-US" noProof="0" dirty="0"/>
          </a:p>
        </p:txBody>
      </p:sp>
      <p:sp>
        <p:nvSpPr>
          <p:cNvPr id="6" name="Right Brace 5">
            <a:extLst>
              <a:ext uri="{FF2B5EF4-FFF2-40B4-BE49-F238E27FC236}">
                <a16:creationId xmlns:a16="http://schemas.microsoft.com/office/drawing/2014/main" id="{78CF35CC-A730-C361-5E7C-62A784D86C38}"/>
              </a:ext>
            </a:extLst>
          </p:cNvPr>
          <p:cNvSpPr/>
          <p:nvPr/>
        </p:nvSpPr>
        <p:spPr>
          <a:xfrm>
            <a:off x="3388659" y="3805519"/>
            <a:ext cx="296553" cy="1268296"/>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cxnSp>
        <p:nvCxnSpPr>
          <p:cNvPr id="10" name="Straight Connector 9">
            <a:extLst>
              <a:ext uri="{FF2B5EF4-FFF2-40B4-BE49-F238E27FC236}">
                <a16:creationId xmlns:a16="http://schemas.microsoft.com/office/drawing/2014/main" id="{6A7A7546-AB4B-B0AA-3591-AB55403B6F68}"/>
              </a:ext>
            </a:extLst>
          </p:cNvPr>
          <p:cNvCxnSpPr>
            <a:cxnSpLocks/>
            <a:stCxn id="6" idx="1"/>
            <a:endCxn id="9" idx="1"/>
          </p:cNvCxnSpPr>
          <p:nvPr/>
        </p:nvCxnSpPr>
        <p:spPr>
          <a:xfrm>
            <a:off x="3685212" y="4439667"/>
            <a:ext cx="2054833" cy="42869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EEA29218-CBAB-5518-9C50-26809DEFD9F4}"/>
              </a:ext>
            </a:extLst>
          </p:cNvPr>
          <p:cNvSpPr/>
          <p:nvPr/>
        </p:nvSpPr>
        <p:spPr>
          <a:xfrm>
            <a:off x="6938950" y="3429000"/>
            <a:ext cx="4109740" cy="896259"/>
          </a:xfrm>
          <a:prstGeom prst="wedgeRoundRectCallout">
            <a:avLst>
              <a:gd name="adj1" fmla="val -46931"/>
              <a:gd name="adj2" fmla="val 78756"/>
              <a:gd name="adj3" fmla="val 16667"/>
            </a:avLst>
          </a:prstGeom>
          <a:gradFill>
            <a:gsLst>
              <a:gs pos="0">
                <a:srgbClr val="D7ADD0"/>
              </a:gs>
              <a:gs pos="50000">
                <a:srgbClr val="CD9FC6"/>
              </a:gs>
              <a:gs pos="100000">
                <a:srgbClr val="CE9AC5"/>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I, an LLM, can redesign algorithms</a:t>
            </a:r>
          </a:p>
        </p:txBody>
      </p:sp>
    </p:spTree>
    <p:extLst>
      <p:ext uri="{BB962C8B-B14F-4D97-AF65-F5344CB8AC3E}">
        <p14:creationId xmlns:p14="http://schemas.microsoft.com/office/powerpoint/2010/main" val="325976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nvPr>
        </p:nvSpPr>
        <p:spPr/>
        <p:txBody>
          <a:bodyPr/>
          <a:lstStyle/>
          <a:p>
            <a:fld id="{472E5813-EC9F-4C36-A7F2-49C469A5F96E}"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nvPr>
        </p:nvSpPr>
        <p:spPr/>
        <p:txBody>
          <a:bodyPr/>
          <a:lstStyle/>
          <a:p>
            <a:fld id="{DA0BB241-1B5F-4309-9407-9EEA04D9598D}" type="slidenum">
              <a:rPr lang="en-US" noProof="0" smtClean="0"/>
              <a:t>24</a:t>
            </a:fld>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FAD4EE1-A685-999A-4B14-45D9D5B9DB08}"/>
              </a:ext>
            </a:extLst>
          </p:cNvPr>
          <p:cNvSpPr txBox="1"/>
          <p:nvPr/>
        </p:nvSpPr>
        <p:spPr>
          <a:xfrm>
            <a:off x="4616552" y="1450268"/>
            <a:ext cx="3549984"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 Here are</a:t>
            </a:r>
            <a:br>
              <a:rPr lang="en-US" sz="3200" noProof="0" dirty="0"/>
            </a:br>
            <a:r>
              <a:rPr lang="en-US" sz="3200" noProof="0" dirty="0"/>
              <a:t>some hints</a:t>
            </a:r>
          </a:p>
        </p:txBody>
      </p:sp>
      <p:cxnSp>
        <p:nvCxnSpPr>
          <p:cNvPr id="31" name="Straight Arrow Connector 30">
            <a:extLst>
              <a:ext uri="{FF2B5EF4-FFF2-40B4-BE49-F238E27FC236}">
                <a16:creationId xmlns:a16="http://schemas.microsoft.com/office/drawing/2014/main" id="{182A4212-A4DA-F723-BE49-8CBB358B83EE}"/>
              </a:ext>
            </a:extLst>
          </p:cNvPr>
          <p:cNvCxnSpPr>
            <a:cxnSpLocks/>
            <a:stCxn id="30" idx="4"/>
            <a:endCxn id="45" idx="0"/>
          </p:cNvCxnSpPr>
          <p:nvPr/>
        </p:nvCxnSpPr>
        <p:spPr>
          <a:xfrm>
            <a:off x="6391544" y="3174432"/>
            <a:ext cx="0" cy="67769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E91551C-845A-9444-C470-26D5FFE36AB4}"/>
              </a:ext>
            </a:extLst>
          </p:cNvPr>
          <p:cNvSpPr/>
          <p:nvPr/>
        </p:nvSpPr>
        <p:spPr>
          <a:xfrm>
            <a:off x="4768213" y="5440720"/>
            <a:ext cx="3246662"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Better code</a:t>
            </a:r>
          </a:p>
        </p:txBody>
      </p:sp>
      <p:cxnSp>
        <p:nvCxnSpPr>
          <p:cNvPr id="33" name="Straight Arrow Connector 32">
            <a:extLst>
              <a:ext uri="{FF2B5EF4-FFF2-40B4-BE49-F238E27FC236}">
                <a16:creationId xmlns:a16="http://schemas.microsoft.com/office/drawing/2014/main" id="{0AC963EE-C48C-9FB8-06B7-25587D005F38}"/>
              </a:ext>
            </a:extLst>
          </p:cNvPr>
          <p:cNvCxnSpPr>
            <a:cxnSpLocks/>
            <a:stCxn id="45" idx="2"/>
            <a:endCxn id="32" idx="0"/>
          </p:cNvCxnSpPr>
          <p:nvPr/>
        </p:nvCxnSpPr>
        <p:spPr>
          <a:xfrm>
            <a:off x="6391544"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D29855-3079-7844-981D-E8EB78A92E21}"/>
              </a:ext>
            </a:extLst>
          </p:cNvPr>
          <p:cNvSpPr txBox="1"/>
          <p:nvPr/>
        </p:nvSpPr>
        <p:spPr>
          <a:xfrm>
            <a:off x="8319290" y="1515440"/>
            <a:ext cx="3615756" cy="162600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Follow this</a:t>
            </a:r>
            <a:br>
              <a:rPr lang="en-US" sz="3200" noProof="0" dirty="0"/>
            </a:br>
            <a:r>
              <a:rPr lang="en-US" sz="3200" noProof="0" dirty="0"/>
              <a:t>design</a:t>
            </a:r>
          </a:p>
        </p:txBody>
      </p:sp>
      <p:sp>
        <p:nvSpPr>
          <p:cNvPr id="61" name="Rectangle 60">
            <a:extLst>
              <a:ext uri="{FF2B5EF4-FFF2-40B4-BE49-F238E27FC236}">
                <a16:creationId xmlns:a16="http://schemas.microsoft.com/office/drawing/2014/main" id="{560AD894-F06B-81D0-4862-B5F5392198BC}"/>
              </a:ext>
            </a:extLst>
          </p:cNvPr>
          <p:cNvSpPr/>
          <p:nvPr/>
        </p:nvSpPr>
        <p:spPr>
          <a:xfrm>
            <a:off x="8473761" y="5440720"/>
            <a:ext cx="330681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Efficient code?</a:t>
            </a:r>
          </a:p>
        </p:txBody>
      </p:sp>
      <p:cxnSp>
        <p:nvCxnSpPr>
          <p:cNvPr id="65" name="Straight Arrow Connector 64">
            <a:extLst>
              <a:ext uri="{FF2B5EF4-FFF2-40B4-BE49-F238E27FC236}">
                <a16:creationId xmlns:a16="http://schemas.microsoft.com/office/drawing/2014/main" id="{1B02E96B-466B-BBC3-B8FB-DB7A29A2BB81}"/>
              </a:ext>
            </a:extLst>
          </p:cNvPr>
          <p:cNvCxnSpPr>
            <a:cxnSpLocks/>
            <a:stCxn id="47" idx="4"/>
            <a:endCxn id="46" idx="0"/>
          </p:cNvCxnSpPr>
          <p:nvPr/>
        </p:nvCxnSpPr>
        <p:spPr>
          <a:xfrm>
            <a:off x="10127168" y="3141444"/>
            <a:ext cx="0" cy="70564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4C375B0-66D1-4094-A4CE-A46305DDB331}"/>
              </a:ext>
            </a:extLst>
          </p:cNvPr>
          <p:cNvCxnSpPr>
            <a:cxnSpLocks/>
            <a:stCxn id="46" idx="2"/>
            <a:endCxn id="61" idx="0"/>
          </p:cNvCxnSpPr>
          <p:nvPr/>
        </p:nvCxnSpPr>
        <p:spPr>
          <a:xfrm>
            <a:off x="10127168" y="4654328"/>
            <a:ext cx="0" cy="7863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45CEB7EB-9DDD-0346-0151-E8B9C95212BD}"/>
              </a:ext>
            </a:extLst>
          </p:cNvPr>
          <p:cNvSpPr txBox="1"/>
          <p:nvPr/>
        </p:nvSpPr>
        <p:spPr>
          <a:xfrm>
            <a:off x="4017106" y="4076450"/>
            <a:ext cx="381836" cy="369332"/>
          </a:xfrm>
          <a:prstGeom prst="rect">
            <a:avLst/>
          </a:prstGeom>
          <a:noFill/>
        </p:spPr>
        <p:txBody>
          <a:bodyPr wrap="none" rtlCol="0">
            <a:spAutoFit/>
          </a:bodyPr>
          <a:lstStyle/>
          <a:p>
            <a:r>
              <a:rPr lang="en-US" noProof="0" dirty="0"/>
              <a:t>…</a:t>
            </a:r>
          </a:p>
        </p:txBody>
      </p:sp>
      <p:sp>
        <p:nvSpPr>
          <p:cNvPr id="70" name="TextBox 69">
            <a:extLst>
              <a:ext uri="{FF2B5EF4-FFF2-40B4-BE49-F238E27FC236}">
                <a16:creationId xmlns:a16="http://schemas.microsoft.com/office/drawing/2014/main" id="{9F6F3DBF-1BFB-DB5C-2306-CC6096186851}"/>
              </a:ext>
            </a:extLst>
          </p:cNvPr>
          <p:cNvSpPr txBox="1"/>
          <p:nvPr/>
        </p:nvSpPr>
        <p:spPr>
          <a:xfrm>
            <a:off x="8091925" y="4148175"/>
            <a:ext cx="381836" cy="369332"/>
          </a:xfrm>
          <a:prstGeom prst="rect">
            <a:avLst/>
          </a:prstGeom>
          <a:noFill/>
        </p:spPr>
        <p:txBody>
          <a:bodyPr wrap="none" rtlCol="0">
            <a:spAutoFit/>
          </a:bodyPr>
          <a:lstStyle/>
          <a:p>
            <a:r>
              <a:rPr lang="en-US" noProof="0" dirty="0"/>
              <a:t>…</a:t>
            </a:r>
          </a:p>
        </p:txBody>
      </p:sp>
      <p:pic>
        <p:nvPicPr>
          <p:cNvPr id="42" name="Picture 41">
            <a:extLst>
              <a:ext uri="{FF2B5EF4-FFF2-40B4-BE49-F238E27FC236}">
                <a16:creationId xmlns:a16="http://schemas.microsoft.com/office/drawing/2014/main" id="{316BF04B-178F-112C-0FA1-1E930ED0B64B}"/>
              </a:ext>
            </a:extLst>
          </p:cNvPr>
          <p:cNvPicPr>
            <a:picLocks noChangeAspect="1"/>
          </p:cNvPicPr>
          <p:nvPr/>
        </p:nvPicPr>
        <p:blipFill>
          <a:blip r:embed="rId3"/>
          <a:srcRect l="12577" t="17864" r="12520" b="16352"/>
          <a:stretch>
            <a:fillRect/>
          </a:stretch>
        </p:blipFill>
        <p:spPr>
          <a:xfrm>
            <a:off x="1792626" y="3852129"/>
            <a:ext cx="919163" cy="807244"/>
          </a:xfrm>
          <a:prstGeom prst="rect">
            <a:avLst/>
          </a:prstGeom>
        </p:spPr>
      </p:pic>
      <p:pic>
        <p:nvPicPr>
          <p:cNvPr id="45" name="Picture 44">
            <a:extLst>
              <a:ext uri="{FF2B5EF4-FFF2-40B4-BE49-F238E27FC236}">
                <a16:creationId xmlns:a16="http://schemas.microsoft.com/office/drawing/2014/main" id="{D98B62BA-C0CE-0DD2-0B2E-7832065054EA}"/>
              </a:ext>
            </a:extLst>
          </p:cNvPr>
          <p:cNvPicPr>
            <a:picLocks noChangeAspect="1"/>
          </p:cNvPicPr>
          <p:nvPr/>
        </p:nvPicPr>
        <p:blipFill>
          <a:blip r:embed="rId3"/>
          <a:srcRect l="12577" t="17864" r="12520" b="16352"/>
          <a:stretch>
            <a:fillRect/>
          </a:stretch>
        </p:blipFill>
        <p:spPr>
          <a:xfrm>
            <a:off x="5931962" y="3852129"/>
            <a:ext cx="919163" cy="807244"/>
          </a:xfrm>
          <a:prstGeom prst="rect">
            <a:avLst/>
          </a:prstGeom>
        </p:spPr>
      </p:pic>
      <p:pic>
        <p:nvPicPr>
          <p:cNvPr id="46" name="Picture 45">
            <a:extLst>
              <a:ext uri="{FF2B5EF4-FFF2-40B4-BE49-F238E27FC236}">
                <a16:creationId xmlns:a16="http://schemas.microsoft.com/office/drawing/2014/main" id="{AC2085E0-A83D-2E90-B6F6-59D17C0E4A65}"/>
              </a:ext>
            </a:extLst>
          </p:cNvPr>
          <p:cNvPicPr>
            <a:picLocks noChangeAspect="1"/>
          </p:cNvPicPr>
          <p:nvPr/>
        </p:nvPicPr>
        <p:blipFill>
          <a:blip r:embed="rId3"/>
          <a:srcRect l="12577" t="17864" r="12520" b="16352"/>
          <a:stretch>
            <a:fillRect/>
          </a:stretch>
        </p:blipFill>
        <p:spPr>
          <a:xfrm>
            <a:off x="9667586" y="3847084"/>
            <a:ext cx="919163" cy="807244"/>
          </a:xfrm>
          <a:prstGeom prst="rect">
            <a:avLst/>
          </a:prstGeom>
        </p:spPr>
      </p:pic>
    </p:spTree>
    <p:extLst>
      <p:ext uri="{BB962C8B-B14F-4D97-AF65-F5344CB8AC3E}">
        <p14:creationId xmlns:p14="http://schemas.microsoft.com/office/powerpoint/2010/main" val="224525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47" grpId="0" animBg="1"/>
      <p:bldP spid="61" grpId="0" animBg="1"/>
      <p:bldP spid="68" grpId="0"/>
      <p:bldP spid="7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nvPr>
        </p:nvSpPr>
        <p:spPr/>
        <p:txBody>
          <a:bodyPr/>
          <a:lstStyle/>
          <a:p>
            <a:fld id="{472E5813-EC9F-4C36-A7F2-49C469A5F96E}"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nvPr>
        </p:nvSpPr>
        <p:spPr/>
        <p:txBody>
          <a:bodyPr/>
          <a:lstStyle/>
          <a:p>
            <a:fld id="{DA0BB241-1B5F-4309-9407-9EEA04D9598D}" type="slidenum">
              <a:rPr lang="en-US" noProof="0" smtClean="0"/>
              <a:t>25</a:t>
            </a:fld>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nvPicPr>
        <p:blipFill>
          <a:blip r:embed="rId3"/>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nvPicPr>
        <p:blipFill>
          <a:blip r:embed="rId4"/>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7" name="TextBox 36">
            <a:extLst>
              <a:ext uri="{FF2B5EF4-FFF2-40B4-BE49-F238E27FC236}">
                <a16:creationId xmlns:a16="http://schemas.microsoft.com/office/drawing/2014/main" id="{6F047493-C970-CEB3-77AE-369B5263B184}"/>
              </a:ext>
            </a:extLst>
          </p:cNvPr>
          <p:cNvSpPr txBox="1"/>
          <p:nvPr/>
        </p:nvSpPr>
        <p:spPr>
          <a:xfrm>
            <a:off x="9880866"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nvSpPr>
        <p:spPr>
          <a:xfrm>
            <a:off x="6988894" y="4105182"/>
            <a:ext cx="748923" cy="584775"/>
          </a:xfrm>
          <a:prstGeom prst="rect">
            <a:avLst/>
          </a:prstGeom>
          <a:noFill/>
        </p:spPr>
        <p:txBody>
          <a:bodyPr wrap="none" rtlCol="0">
            <a:spAutoFit/>
          </a:bodyPr>
          <a:lstStyle/>
          <a:p>
            <a:r>
              <a:rPr lang="en-US" sz="3200" noProof="0" dirty="0"/>
              <a:t>🐌</a:t>
            </a:r>
          </a:p>
        </p:txBody>
      </p:sp>
      <p:sp>
        <p:nvSpPr>
          <p:cNvPr id="43" name="TextBox 42">
            <a:extLst>
              <a:ext uri="{FF2B5EF4-FFF2-40B4-BE49-F238E27FC236}">
                <a16:creationId xmlns:a16="http://schemas.microsoft.com/office/drawing/2014/main" id="{54AC2113-CF34-9C42-B33D-D4AC898FA2ED}"/>
              </a:ext>
            </a:extLst>
          </p:cNvPr>
          <p:cNvSpPr txBox="1"/>
          <p:nvPr/>
        </p:nvSpPr>
        <p:spPr>
          <a:xfrm>
            <a:off x="10409168"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3" name="TextBox 52">
            <a:extLst>
              <a:ext uri="{FF2B5EF4-FFF2-40B4-BE49-F238E27FC236}">
                <a16:creationId xmlns:a16="http://schemas.microsoft.com/office/drawing/2014/main" id="{6E5838EE-B8C5-9F68-CADA-001435EE4B34}"/>
              </a:ext>
            </a:extLst>
          </p:cNvPr>
          <p:cNvSpPr txBox="1"/>
          <p:nvPr/>
        </p:nvSpPr>
        <p:spPr>
          <a:xfrm>
            <a:off x="10157847" y="4731767"/>
            <a:ext cx="748923" cy="584775"/>
          </a:xfrm>
          <a:prstGeom prst="rect">
            <a:avLst/>
          </a:prstGeom>
          <a:noFill/>
        </p:spPr>
        <p:txBody>
          <a:bodyPr wrap="none" rtlCol="0">
            <a:spAutoFit/>
          </a:bodyPr>
          <a:lstStyle/>
          <a:p>
            <a:pPr algn="ct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nvSpPr>
        <p:spPr>
          <a:xfrm>
            <a:off x="6460017" y="5304610"/>
            <a:ext cx="748923" cy="584775"/>
          </a:xfrm>
          <a:prstGeom prst="rect">
            <a:avLst/>
          </a:prstGeom>
          <a:noFill/>
        </p:spPr>
        <p:txBody>
          <a:bodyPr wrap="none" rtlCol="0">
            <a:spAutoFit/>
          </a:bodyPr>
          <a:lstStyle/>
          <a:p>
            <a:pPr algn="r"/>
            <a:r>
              <a:rPr lang="en-US" sz="3200" noProof="0" dirty="0"/>
              <a:t>⚠️</a:t>
            </a:r>
          </a:p>
        </p:txBody>
      </p:sp>
      <p:sp>
        <p:nvSpPr>
          <p:cNvPr id="69" name="TextBox 68">
            <a:extLst>
              <a:ext uri="{FF2B5EF4-FFF2-40B4-BE49-F238E27FC236}">
                <a16:creationId xmlns:a16="http://schemas.microsoft.com/office/drawing/2014/main" id="{296BAB42-31A3-D342-F6EC-828DF204BB89}"/>
              </a:ext>
            </a:extLst>
          </p:cNvPr>
          <p:cNvSpPr txBox="1"/>
          <p:nvPr/>
        </p:nvSpPr>
        <p:spPr>
          <a:xfrm>
            <a:off x="10157847" y="5304610"/>
            <a:ext cx="748923" cy="584775"/>
          </a:xfrm>
          <a:prstGeom prst="rect">
            <a:avLst/>
          </a:prstGeom>
          <a:noFill/>
        </p:spPr>
        <p:txBody>
          <a:bodyPr wrap="none" rtlCol="0">
            <a:spAutoFit/>
          </a:bodyPr>
          <a:lstStyle/>
          <a:p>
            <a:pPr algn="ct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extLst>
      <p:ext uri="{BB962C8B-B14F-4D97-AF65-F5344CB8AC3E}">
        <p14:creationId xmlns:p14="http://schemas.microsoft.com/office/powerpoint/2010/main" val="186770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1" grpId="0"/>
      <p:bldP spid="25" grpId="0"/>
      <p:bldP spid="27" grpId="0"/>
      <p:bldP spid="35" grpId="0"/>
      <p:bldP spid="37" grpId="0"/>
      <p:bldP spid="38" grpId="0"/>
      <p:bldP spid="39" grpId="0"/>
      <p:bldP spid="41" grpId="0"/>
      <p:bldP spid="43" grpId="0"/>
      <p:bldP spid="44" grpId="0"/>
      <p:bldP spid="46" grpId="0"/>
      <p:bldP spid="49" grpId="0"/>
      <p:bldP spid="51" grpId="0"/>
      <p:bldP spid="53" grpId="0"/>
      <p:bldP spid="54" grpId="0"/>
      <p:bldP spid="56" grpId="0"/>
      <p:bldP spid="58" grpId="0"/>
      <p:bldP spid="60" grpId="0"/>
      <p:bldP spid="64" grpId="0"/>
      <p:bldP spid="6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E109-C468-9CAD-7328-CB565CAB08E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D1A2F12-E0B1-E78D-1174-3E84B38E55D2}"/>
              </a:ext>
            </a:extLst>
          </p:cNvPr>
          <p:cNvPicPr>
            <a:picLocks noChangeAspect="1"/>
          </p:cNvPicPr>
          <p:nvPr/>
        </p:nvPicPr>
        <p:blipFill>
          <a:blip r:embed="rId3"/>
          <a:srcRect r="758"/>
          <a:stretch>
            <a:fillRect/>
          </a:stretch>
        </p:blipFill>
        <p:spPr>
          <a:xfrm>
            <a:off x="5725239" y="2414515"/>
            <a:ext cx="6428662" cy="3400819"/>
          </a:xfrm>
          <a:prstGeom prst="rect">
            <a:avLst/>
          </a:prstGeom>
        </p:spPr>
      </p:pic>
      <p:sp>
        <p:nvSpPr>
          <p:cNvPr id="2" name="Title 1">
            <a:extLst>
              <a:ext uri="{FF2B5EF4-FFF2-40B4-BE49-F238E27FC236}">
                <a16:creationId xmlns:a16="http://schemas.microsoft.com/office/drawing/2014/main" id="{15F9A852-DFA7-BB45-D52F-5ADF7BD5F985}"/>
              </a:ext>
            </a:extLst>
          </p:cNvPr>
          <p:cNvSpPr>
            <a:spLocks noGrp="1"/>
          </p:cNvSpPr>
          <p:nvPr>
            <p:ph type="title"/>
          </p:nvPr>
        </p:nvSpPr>
        <p:spPr/>
        <p:txBody>
          <a:bodyPr/>
          <a:lstStyle/>
          <a:p>
            <a:r>
              <a:rPr lang="en-US" noProof="0" dirty="0"/>
              <a:t>Tutoring LLMs for CUDA – submission</a:t>
            </a:r>
            <a:br>
              <a:rPr lang="en-US" noProof="0" dirty="0"/>
            </a:br>
            <a:r>
              <a:rPr lang="en-US" sz="2400" i="1" noProof="0" dirty="0"/>
              <a:t>OpenAI o3-mini</a:t>
            </a:r>
            <a:endParaRPr lang="en-US" sz="2400" noProof="0" dirty="0"/>
          </a:p>
        </p:txBody>
      </p:sp>
      <p:sp>
        <p:nvSpPr>
          <p:cNvPr id="3" name="Date Placeholder 2">
            <a:extLst>
              <a:ext uri="{FF2B5EF4-FFF2-40B4-BE49-F238E27FC236}">
                <a16:creationId xmlns:a16="http://schemas.microsoft.com/office/drawing/2014/main" id="{193E9B5A-3051-3FC5-830E-F33DF82F4788}"/>
              </a:ext>
            </a:extLst>
          </p:cNvPr>
          <p:cNvSpPr>
            <a:spLocks noGrp="1"/>
          </p:cNvSpPr>
          <p:nvPr>
            <p:ph type="dt" sz="half" idx="10"/>
          </p:nvPr>
        </p:nvSpPr>
        <p:spPr/>
        <p:txBody>
          <a:bodyPr/>
          <a:lstStyle/>
          <a:p>
            <a:fld id="{15A7FB29-F852-41FB-A0DF-F798C9C0E438}"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F170B554-C7EC-EA4A-7377-16FE1E7F2197}"/>
              </a:ext>
            </a:extLst>
          </p:cNvPr>
          <p:cNvSpPr>
            <a:spLocks noGrp="1"/>
          </p:cNvSpPr>
          <p:nvPr>
            <p:ph type="sldNum" sz="quarter" idx="12"/>
          </p:nvPr>
        </p:nvSpPr>
        <p:spPr/>
        <p:txBody>
          <a:bodyPr/>
          <a:lstStyle/>
          <a:p>
            <a:fld id="{DA0BB241-1B5F-4309-9407-9EEA04D9598D}" type="slidenum">
              <a:rPr lang="en-US" noProof="0" smtClean="0"/>
              <a:t>26</a:t>
            </a:fld>
            <a:endParaRPr lang="en-US" noProof="0" dirty="0"/>
          </a:p>
        </p:txBody>
      </p:sp>
      <p:sp>
        <p:nvSpPr>
          <p:cNvPr id="9" name="TextBox 8">
            <a:extLst>
              <a:ext uri="{FF2B5EF4-FFF2-40B4-BE49-F238E27FC236}">
                <a16:creationId xmlns:a16="http://schemas.microsoft.com/office/drawing/2014/main" id="{5F4D55C3-3077-8567-A06E-0244BA5AA6CA}"/>
              </a:ext>
            </a:extLst>
          </p:cNvPr>
          <p:cNvSpPr txBox="1"/>
          <p:nvPr/>
        </p:nvSpPr>
        <p:spPr>
          <a:xfrm>
            <a:off x="304855" y="5753021"/>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11" name="TextBox 10">
            <a:extLst>
              <a:ext uri="{FF2B5EF4-FFF2-40B4-BE49-F238E27FC236}">
                <a16:creationId xmlns:a16="http://schemas.microsoft.com/office/drawing/2014/main" id="{BEFC1A91-D2F9-8087-5FD2-A346BE6173B0}"/>
              </a:ext>
            </a:extLst>
          </p:cNvPr>
          <p:cNvSpPr txBox="1"/>
          <p:nvPr/>
        </p:nvSpPr>
        <p:spPr>
          <a:xfrm>
            <a:off x="6189752" y="5756063"/>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pic>
        <p:nvPicPr>
          <p:cNvPr id="12" name="Picture 11">
            <a:extLst>
              <a:ext uri="{FF2B5EF4-FFF2-40B4-BE49-F238E27FC236}">
                <a16:creationId xmlns:a16="http://schemas.microsoft.com/office/drawing/2014/main" id="{F37C588F-446D-B5A9-2747-7A8074A7E755}"/>
              </a:ext>
            </a:extLst>
          </p:cNvPr>
          <p:cNvPicPr>
            <a:picLocks noChangeAspect="1"/>
          </p:cNvPicPr>
          <p:nvPr/>
        </p:nvPicPr>
        <p:blipFill>
          <a:blip r:embed="rId4"/>
          <a:stretch>
            <a:fillRect/>
          </a:stretch>
        </p:blipFill>
        <p:spPr>
          <a:xfrm>
            <a:off x="38099" y="1813041"/>
            <a:ext cx="5505218" cy="4002293"/>
          </a:xfrm>
          <a:prstGeom prst="rect">
            <a:avLst/>
          </a:prstGeom>
        </p:spPr>
      </p:pic>
      <p:sp>
        <p:nvSpPr>
          <p:cNvPr id="6" name="TextBox 5">
            <a:extLst>
              <a:ext uri="{FF2B5EF4-FFF2-40B4-BE49-F238E27FC236}">
                <a16:creationId xmlns:a16="http://schemas.microsoft.com/office/drawing/2014/main" id="{72D4F460-314F-F2C1-B648-8D4D93BCB4E5}"/>
              </a:ext>
            </a:extLst>
          </p:cNvPr>
          <p:cNvSpPr txBox="1"/>
          <p:nvPr/>
        </p:nvSpPr>
        <p:spPr>
          <a:xfrm>
            <a:off x="2078136" y="1390039"/>
            <a:ext cx="1789272" cy="523220"/>
          </a:xfrm>
          <a:prstGeom prst="rect">
            <a:avLst/>
          </a:prstGeom>
          <a:noFill/>
        </p:spPr>
        <p:txBody>
          <a:bodyPr wrap="none" rtlCol="0" anchor="b">
            <a:spAutoFit/>
          </a:bodyPr>
          <a:lstStyle/>
          <a:p>
            <a:pPr algn="ctr"/>
            <a:r>
              <a:rPr lang="en-US" sz="2800" noProof="0" dirty="0"/>
              <a:t>Histogram</a:t>
            </a:r>
          </a:p>
        </p:txBody>
      </p:sp>
      <p:sp>
        <p:nvSpPr>
          <p:cNvPr id="8" name="TextBox 7">
            <a:extLst>
              <a:ext uri="{FF2B5EF4-FFF2-40B4-BE49-F238E27FC236}">
                <a16:creationId xmlns:a16="http://schemas.microsoft.com/office/drawing/2014/main" id="{95B23757-4EAA-DF6D-49E2-44BDA612747C}"/>
              </a:ext>
            </a:extLst>
          </p:cNvPr>
          <p:cNvSpPr txBox="1"/>
          <p:nvPr/>
        </p:nvSpPr>
        <p:spPr>
          <a:xfrm>
            <a:off x="8261146" y="1971431"/>
            <a:ext cx="2135521" cy="523220"/>
          </a:xfrm>
          <a:prstGeom prst="rect">
            <a:avLst/>
          </a:prstGeom>
          <a:noFill/>
        </p:spPr>
        <p:txBody>
          <a:bodyPr wrap="none" rtlCol="0" anchor="b">
            <a:spAutoFit/>
          </a:bodyPr>
          <a:lstStyle/>
          <a:p>
            <a:pPr algn="ctr"/>
            <a:r>
              <a:rPr lang="en-US" sz="2800" noProof="0" dirty="0"/>
              <a:t>Game of Life</a:t>
            </a:r>
          </a:p>
        </p:txBody>
      </p:sp>
    </p:spTree>
    <p:extLst>
      <p:ext uri="{BB962C8B-B14F-4D97-AF65-F5344CB8AC3E}">
        <p14:creationId xmlns:p14="http://schemas.microsoft.com/office/powerpoint/2010/main" val="2307166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78C7-4C18-1E14-E39F-1667DC67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D726E-1126-5E1F-5D98-D610109CCB14}"/>
              </a:ext>
            </a:extLst>
          </p:cNvPr>
          <p:cNvSpPr>
            <a:spLocks noGrp="1"/>
          </p:cNvSpPr>
          <p:nvPr>
            <p:ph type="title"/>
          </p:nvPr>
        </p:nvSpPr>
        <p:spPr/>
        <p:txBody>
          <a:bodyPr/>
          <a:lstStyle/>
          <a:p>
            <a:r>
              <a:rPr lang="en-US" noProof="0" dirty="0"/>
              <a:t>Tutoring LLMs for CUDA – at conference</a:t>
            </a:r>
            <a:br>
              <a:rPr lang="en-US" noProof="0" dirty="0"/>
            </a:br>
            <a:r>
              <a:rPr lang="en-US" sz="2400" i="1" noProof="0" dirty="0"/>
              <a:t>OpenAI GPT-5</a:t>
            </a:r>
            <a:endParaRPr lang="en-US" sz="2400" noProof="0" dirty="0"/>
          </a:p>
        </p:txBody>
      </p:sp>
      <p:pic>
        <p:nvPicPr>
          <p:cNvPr id="14" name="Picture 13">
            <a:extLst>
              <a:ext uri="{FF2B5EF4-FFF2-40B4-BE49-F238E27FC236}">
                <a16:creationId xmlns:a16="http://schemas.microsoft.com/office/drawing/2014/main" id="{9A37D793-DB98-C60F-2025-13AB50A6AFD7}"/>
              </a:ext>
            </a:extLst>
          </p:cNvPr>
          <p:cNvPicPr>
            <a:picLocks noChangeAspect="1"/>
          </p:cNvPicPr>
          <p:nvPr/>
        </p:nvPicPr>
        <p:blipFill>
          <a:blip r:embed="rId3"/>
          <a:stretch>
            <a:fillRect/>
          </a:stretch>
        </p:blipFill>
        <p:spPr>
          <a:xfrm>
            <a:off x="521915" y="2091797"/>
            <a:ext cx="5419726" cy="3940140"/>
          </a:xfrm>
          <a:prstGeom prst="rect">
            <a:avLst/>
          </a:prstGeom>
        </p:spPr>
      </p:pic>
      <p:pic>
        <p:nvPicPr>
          <p:cNvPr id="17" name="Picture 16">
            <a:extLst>
              <a:ext uri="{FF2B5EF4-FFF2-40B4-BE49-F238E27FC236}">
                <a16:creationId xmlns:a16="http://schemas.microsoft.com/office/drawing/2014/main" id="{43D8561C-C389-8CD1-355F-3F17053E9681}"/>
              </a:ext>
            </a:extLst>
          </p:cNvPr>
          <p:cNvPicPr>
            <a:picLocks noChangeAspect="1"/>
          </p:cNvPicPr>
          <p:nvPr/>
        </p:nvPicPr>
        <p:blipFill>
          <a:blip r:embed="rId4"/>
          <a:stretch>
            <a:fillRect/>
          </a:stretch>
        </p:blipFill>
        <p:spPr>
          <a:xfrm>
            <a:off x="6350972" y="2037561"/>
            <a:ext cx="5494327" cy="3994376"/>
          </a:xfrm>
          <a:prstGeom prst="rect">
            <a:avLst/>
          </a:prstGeom>
        </p:spPr>
      </p:pic>
      <p:sp>
        <p:nvSpPr>
          <p:cNvPr id="3" name="Date Placeholder 2">
            <a:extLst>
              <a:ext uri="{FF2B5EF4-FFF2-40B4-BE49-F238E27FC236}">
                <a16:creationId xmlns:a16="http://schemas.microsoft.com/office/drawing/2014/main" id="{B6E2F9E9-446F-AB04-F509-E2224D7D2122}"/>
              </a:ext>
            </a:extLst>
          </p:cNvPr>
          <p:cNvSpPr>
            <a:spLocks noGrp="1"/>
          </p:cNvSpPr>
          <p:nvPr>
            <p:ph type="dt" sz="half" idx="10"/>
          </p:nvPr>
        </p:nvSpPr>
        <p:spPr/>
        <p:txBody>
          <a:bodyPr/>
          <a:lstStyle/>
          <a:p>
            <a:fld id="{15A7FB29-F852-41FB-A0DF-F798C9C0E438}"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C8E7E7C3-3B23-4ED6-C275-8801DBA6025D}"/>
              </a:ext>
            </a:extLst>
          </p:cNvPr>
          <p:cNvSpPr>
            <a:spLocks noGrp="1"/>
          </p:cNvSpPr>
          <p:nvPr>
            <p:ph type="sldNum" sz="quarter" idx="12"/>
          </p:nvPr>
        </p:nvSpPr>
        <p:spPr/>
        <p:txBody>
          <a:bodyPr/>
          <a:lstStyle/>
          <a:p>
            <a:fld id="{DA0BB241-1B5F-4309-9407-9EEA04D9598D}" type="slidenum">
              <a:rPr lang="en-US" noProof="0" smtClean="0"/>
              <a:t>27</a:t>
            </a:fld>
            <a:endParaRPr lang="en-US" noProof="0" dirty="0"/>
          </a:p>
        </p:txBody>
      </p:sp>
      <p:sp>
        <p:nvSpPr>
          <p:cNvPr id="10" name="TextBox 9">
            <a:extLst>
              <a:ext uri="{FF2B5EF4-FFF2-40B4-BE49-F238E27FC236}">
                <a16:creationId xmlns:a16="http://schemas.microsoft.com/office/drawing/2014/main" id="{EFE45328-838A-47CE-23A0-47149F269933}"/>
              </a:ext>
            </a:extLst>
          </p:cNvPr>
          <p:cNvSpPr txBox="1"/>
          <p:nvPr/>
        </p:nvSpPr>
        <p:spPr>
          <a:xfrm>
            <a:off x="2164017" y="1568577"/>
            <a:ext cx="2135521" cy="523220"/>
          </a:xfrm>
          <a:prstGeom prst="rect">
            <a:avLst/>
          </a:prstGeom>
          <a:noFill/>
        </p:spPr>
        <p:txBody>
          <a:bodyPr wrap="none" rtlCol="0" anchor="b">
            <a:spAutoFit/>
          </a:bodyPr>
          <a:lstStyle/>
          <a:p>
            <a:pPr algn="ctr"/>
            <a:r>
              <a:rPr lang="en-US" sz="2800" noProof="0" dirty="0"/>
              <a:t>Game of Life</a:t>
            </a:r>
          </a:p>
        </p:txBody>
      </p:sp>
      <p:sp>
        <p:nvSpPr>
          <p:cNvPr id="13" name="TextBox 12">
            <a:extLst>
              <a:ext uri="{FF2B5EF4-FFF2-40B4-BE49-F238E27FC236}">
                <a16:creationId xmlns:a16="http://schemas.microsoft.com/office/drawing/2014/main" id="{925974EF-A245-0905-3B10-966BC4F2328D}"/>
              </a:ext>
            </a:extLst>
          </p:cNvPr>
          <p:cNvSpPr txBox="1"/>
          <p:nvPr/>
        </p:nvSpPr>
        <p:spPr>
          <a:xfrm>
            <a:off x="7892464" y="1568577"/>
            <a:ext cx="3371436" cy="523220"/>
          </a:xfrm>
          <a:prstGeom prst="rect">
            <a:avLst/>
          </a:prstGeom>
          <a:noFill/>
        </p:spPr>
        <p:txBody>
          <a:bodyPr wrap="none" rtlCol="0" anchor="b">
            <a:spAutoFit/>
          </a:bodyPr>
          <a:lstStyle/>
          <a:p>
            <a:pPr algn="ctr"/>
            <a:r>
              <a:rPr lang="en-US" sz="2800" noProof="0" dirty="0"/>
              <a:t>k-Nearest Neighbors</a:t>
            </a:r>
          </a:p>
        </p:txBody>
      </p:sp>
      <p:sp>
        <p:nvSpPr>
          <p:cNvPr id="16" name="TextBox 15">
            <a:extLst>
              <a:ext uri="{FF2B5EF4-FFF2-40B4-BE49-F238E27FC236}">
                <a16:creationId xmlns:a16="http://schemas.microsoft.com/office/drawing/2014/main" id="{4CA870EA-9FA0-3527-D9FC-4D14AAF90D3C}"/>
              </a:ext>
            </a:extLst>
          </p:cNvPr>
          <p:cNvSpPr txBox="1"/>
          <p:nvPr/>
        </p:nvSpPr>
        <p:spPr>
          <a:xfrm>
            <a:off x="299642" y="6013676"/>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21" name="TextBox 20">
            <a:extLst>
              <a:ext uri="{FF2B5EF4-FFF2-40B4-BE49-F238E27FC236}">
                <a16:creationId xmlns:a16="http://schemas.microsoft.com/office/drawing/2014/main" id="{EBEA3F10-024D-07D5-20F8-E8C233912E18}"/>
              </a:ext>
            </a:extLst>
          </p:cNvPr>
          <p:cNvSpPr txBox="1"/>
          <p:nvPr/>
        </p:nvSpPr>
        <p:spPr>
          <a:xfrm>
            <a:off x="6350972" y="5987018"/>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Tree>
    <p:extLst>
      <p:ext uri="{BB962C8B-B14F-4D97-AF65-F5344CB8AC3E}">
        <p14:creationId xmlns:p14="http://schemas.microsoft.com/office/powerpoint/2010/main" val="2128573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nvPr>
        </p:nvSpPr>
        <p:spPr/>
        <p:txBody>
          <a:bodyPr/>
          <a:lstStyle/>
          <a:p>
            <a:fld id="{DA0BB241-1B5F-4309-9407-9EEA04D9598D}" type="slidenum">
              <a:rPr lang="en-US" noProof="0" smtClean="0"/>
              <a:t>28</a:t>
            </a:fld>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
        <p:nvSpPr>
          <p:cNvPr id="35" name="Right Brace 34">
            <a:extLst>
              <a:ext uri="{FF2B5EF4-FFF2-40B4-BE49-F238E27FC236}">
                <a16:creationId xmlns:a16="http://schemas.microsoft.com/office/drawing/2014/main" id="{9F09A8EB-ABF6-B6C8-D0BA-80FB857DE93D}"/>
              </a:ext>
            </a:extLst>
          </p:cNvPr>
          <p:cNvSpPr/>
          <p:nvPr/>
        </p:nvSpPr>
        <p:spPr>
          <a:xfrm rot="5400000">
            <a:off x="6014510" y="898475"/>
            <a:ext cx="162980" cy="8496300"/>
          </a:xfrm>
          <a:prstGeom prst="rightBrace">
            <a:avLst/>
          </a:prstGeom>
          <a:ln w="19050">
            <a:solidFill>
              <a:srgbClr val="0D17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2389E2B3-4BCB-989F-B436-E7DF27AF788B}"/>
              </a:ext>
            </a:extLst>
          </p:cNvPr>
          <p:cNvSpPr txBox="1"/>
          <p:nvPr/>
        </p:nvSpPr>
        <p:spPr>
          <a:xfrm>
            <a:off x="3673702" y="5222758"/>
            <a:ext cx="4844596" cy="954107"/>
          </a:xfrm>
          <a:prstGeom prst="rect">
            <a:avLst/>
          </a:prstGeom>
          <a:noFill/>
        </p:spPr>
        <p:txBody>
          <a:bodyPr wrap="none" rtlCol="0">
            <a:spAutoFit/>
          </a:bodyPr>
          <a:lstStyle/>
          <a:p>
            <a:pPr algn="ctr"/>
            <a:r>
              <a:rPr lang="en-US" sz="2800" noProof="0" dirty="0"/>
              <a:t>Would abstractions help LLMs</a:t>
            </a:r>
            <a:br>
              <a:rPr lang="en-US" sz="2800" noProof="0" dirty="0"/>
            </a:br>
            <a:r>
              <a:rPr lang="en-US" sz="2800" noProof="0" dirty="0"/>
              <a:t>generate better code?</a:t>
            </a:r>
          </a:p>
        </p:txBody>
      </p:sp>
    </p:spTree>
    <p:extLst>
      <p:ext uri="{BB962C8B-B14F-4D97-AF65-F5344CB8AC3E}">
        <p14:creationId xmlns:p14="http://schemas.microsoft.com/office/powerpoint/2010/main" val="341810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20" grpId="0" animBg="1"/>
      <p:bldP spid="22" grpId="0" animBg="1"/>
      <p:bldP spid="24" grpId="0" animBg="1"/>
      <p:bldP spid="26" grpId="0" animBg="1"/>
      <p:bldP spid="28" grpId="0" animBg="1"/>
      <p:bldP spid="30" grpId="0" animBg="1"/>
      <p:bldP spid="35" grpId="0" animBg="1"/>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nvPicPr>
        <p:blipFill>
          <a:blip r:embed="rId3"/>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nvPr>
        </p:nvSpPr>
        <p:spPr/>
        <p:txBody>
          <a:bodyPr/>
          <a:lstStyle/>
          <a:p>
            <a:fld id="{DA0BB241-1B5F-4309-9407-9EEA04D9598D}" type="slidenum">
              <a:rPr lang="en-US" noProof="0" smtClean="0"/>
              <a:t>29</a:t>
            </a:fld>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DA1AECA-B818-9D85-2746-62B9AE88EC04}"/>
              </a:ext>
            </a:extLst>
          </p:cNvPr>
          <p:cNvSpPr txBox="1"/>
          <p:nvPr/>
        </p:nvSpPr>
        <p:spPr>
          <a:xfrm>
            <a:off x="81118" y="1928644"/>
            <a:ext cx="1905330" cy="461665"/>
          </a:xfrm>
          <a:prstGeom prst="rect">
            <a:avLst/>
          </a:prstGeom>
          <a:noFill/>
        </p:spPr>
        <p:txBody>
          <a:bodyPr wrap="none" rtlCol="0" anchor="b">
            <a:spAutoFit/>
          </a:bodyPr>
          <a:lstStyle/>
          <a:p>
            <a:pPr algn="ctr"/>
            <a:r>
              <a:rPr lang="en-US" sz="2400" dirty="0" err="1"/>
              <a:t>PolyBench</a:t>
            </a:r>
            <a:r>
              <a:rPr lang="en-US" sz="2400" dirty="0"/>
              <a:t>/C</a:t>
            </a:r>
          </a:p>
        </p:txBody>
      </p:sp>
      <p:pic>
        <p:nvPicPr>
          <p:cNvPr id="7" name="Picture 6">
            <a:extLst>
              <a:ext uri="{FF2B5EF4-FFF2-40B4-BE49-F238E27FC236}">
                <a16:creationId xmlns:a16="http://schemas.microsoft.com/office/drawing/2014/main" id="{B2DD5B8E-4E3D-5FCE-6E08-4D6F0F157642}"/>
              </a:ext>
            </a:extLst>
          </p:cNvPr>
          <p:cNvPicPr>
            <a:picLocks noChangeAspect="1"/>
          </p:cNvPicPr>
          <p:nvPr/>
        </p:nvPicPr>
        <p:blipFill>
          <a:blip r:embed="rId4"/>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nvPicPr>
        <p:blipFill>
          <a:blip r:embed="rId4"/>
          <a:srcRect l="12577" t="17864" r="12520" b="16352"/>
          <a:stretch>
            <a:fillRect/>
          </a:stretch>
        </p:blipFill>
        <p:spPr>
          <a:xfrm>
            <a:off x="8166324" y="1343818"/>
            <a:ext cx="665908" cy="584826"/>
          </a:xfrm>
          <a:prstGeom prst="rect">
            <a:avLst/>
          </a:prstGeom>
        </p:spPr>
      </p:pic>
      <p:cxnSp>
        <p:nvCxnSpPr>
          <p:cNvPr id="14" name="Straight Arrow Connector 13">
            <a:extLst>
              <a:ext uri="{FF2B5EF4-FFF2-40B4-BE49-F238E27FC236}">
                <a16:creationId xmlns:a16="http://schemas.microsoft.com/office/drawing/2014/main" id="{BD834972-E809-4BF9-BFD2-EB6411C5399D}"/>
              </a:ext>
            </a:extLst>
          </p:cNvPr>
          <p:cNvCxnSpPr>
            <a:cxnSpLocks/>
            <a:stCxn id="5" idx="2"/>
          </p:cNvCxnSpPr>
          <p:nvPr/>
        </p:nvCxnSpPr>
        <p:spPr>
          <a:xfrm>
            <a:off x="1033783" y="2390309"/>
            <a:ext cx="0" cy="726747"/>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028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43DA17-E138-247B-4A07-447B5A24647A}"/>
              </a:ext>
            </a:extLst>
          </p:cNvPr>
          <p:cNvPicPr>
            <a:picLocks noChangeAspect="1"/>
          </p:cNvPicPr>
          <p:nvPr/>
        </p:nvPicPr>
        <p:blipFill>
          <a:blip r:embed="rId3"/>
          <a:stretch>
            <a:fillRect/>
          </a:stretch>
        </p:blipFill>
        <p:spPr>
          <a:xfrm>
            <a:off x="371719" y="952391"/>
            <a:ext cx="11607430" cy="5594782"/>
          </a:xfrm>
          <a:prstGeom prst="rect">
            <a:avLst/>
          </a:prstGeom>
        </p:spPr>
      </p:pic>
      <p:sp>
        <p:nvSpPr>
          <p:cNvPr id="6" name="Title 5">
            <a:extLst>
              <a:ext uri="{FF2B5EF4-FFF2-40B4-BE49-F238E27FC236}">
                <a16:creationId xmlns:a16="http://schemas.microsoft.com/office/drawing/2014/main" id="{7951329F-EFE3-A4A4-5416-4AA800AB8042}"/>
              </a:ext>
            </a:extLst>
          </p:cNvPr>
          <p:cNvSpPr>
            <a:spLocks noGrp="1"/>
          </p:cNvSpPr>
          <p:nvPr>
            <p:ph type="title"/>
          </p:nvPr>
        </p:nvSpPr>
        <p:spPr/>
        <p:txBody>
          <a:bodyPr/>
          <a:lstStyle/>
          <a:p>
            <a:r>
              <a:rPr lang="en-US" dirty="0"/>
              <a:t>Performance results</a:t>
            </a:r>
          </a:p>
        </p:txBody>
      </p:sp>
      <p:sp>
        <p:nvSpPr>
          <p:cNvPr id="3" name="Date Placeholder 2">
            <a:extLst>
              <a:ext uri="{FF2B5EF4-FFF2-40B4-BE49-F238E27FC236}">
                <a16:creationId xmlns:a16="http://schemas.microsoft.com/office/drawing/2014/main" id="{2CD49F71-7448-E212-BBEF-8893E6B1C5F2}"/>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B6276319-0BF2-515F-5739-FB698D92221B}"/>
              </a:ext>
            </a:extLst>
          </p:cNvPr>
          <p:cNvSpPr>
            <a:spLocks noGrp="1"/>
          </p:cNvSpPr>
          <p:nvPr>
            <p:ph type="sldNum" sz="quarter" idx="12"/>
          </p:nvPr>
        </p:nvSpPr>
        <p:spPr/>
        <p:txBody>
          <a:bodyPr/>
          <a:lstStyle/>
          <a:p>
            <a:fld id="{DA0BB241-1B5F-4309-9407-9EEA04D9598D}" type="slidenum">
              <a:rPr lang="en-US" noProof="0" smtClean="0"/>
              <a:t>30</a:t>
            </a:fld>
            <a:endParaRPr lang="en-US" noProof="0" dirty="0"/>
          </a:p>
        </p:txBody>
      </p:sp>
      <p:cxnSp>
        <p:nvCxnSpPr>
          <p:cNvPr id="8" name="Straight Arrow Connector 7">
            <a:extLst>
              <a:ext uri="{FF2B5EF4-FFF2-40B4-BE49-F238E27FC236}">
                <a16:creationId xmlns:a16="http://schemas.microsoft.com/office/drawing/2014/main" id="{C8052565-253C-E35C-2150-0BF281B9248A}"/>
              </a:ext>
            </a:extLst>
          </p:cNvPr>
          <p:cNvCxnSpPr>
            <a:cxnSpLocks/>
            <a:stCxn id="10" idx="2"/>
          </p:cNvCxnSpPr>
          <p:nvPr/>
        </p:nvCxnSpPr>
        <p:spPr>
          <a:xfrm>
            <a:off x="1224053" y="1613934"/>
            <a:ext cx="590330" cy="652813"/>
          </a:xfrm>
          <a:prstGeom prst="straightConnector1">
            <a:avLst/>
          </a:prstGeom>
          <a:ln>
            <a:solidFill>
              <a:srgbClr val="1F77B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4510F7E-BEF2-4291-2C14-78CF368B4E8A}"/>
              </a:ext>
            </a:extLst>
          </p:cNvPr>
          <p:cNvSpPr txBox="1"/>
          <p:nvPr/>
        </p:nvSpPr>
        <p:spPr>
          <a:xfrm>
            <a:off x="0" y="1213824"/>
            <a:ext cx="2448106" cy="400110"/>
          </a:xfrm>
          <a:prstGeom prst="rect">
            <a:avLst/>
          </a:prstGeom>
          <a:noFill/>
        </p:spPr>
        <p:txBody>
          <a:bodyPr wrap="none" rtlCol="0">
            <a:spAutoFit/>
          </a:bodyPr>
          <a:lstStyle/>
          <a:p>
            <a:pPr algn="ctr"/>
            <a:r>
              <a:rPr lang="en-US" noProof="0" dirty="0"/>
              <a:t>Best </a:t>
            </a:r>
            <a:r>
              <a:rPr lang="en-US" sz="2000" noProof="0" dirty="0"/>
              <a:t>performance</a:t>
            </a:r>
            <a:r>
              <a:rPr lang="en-US" noProof="0" dirty="0"/>
              <a:t> (C)</a:t>
            </a:r>
          </a:p>
        </p:txBody>
      </p:sp>
    </p:spTree>
    <p:extLst>
      <p:ext uri="{BB962C8B-B14F-4D97-AF65-F5344CB8AC3E}">
        <p14:creationId xmlns:p14="http://schemas.microsoft.com/office/powerpoint/2010/main" val="1341665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33C5503-8ADB-3112-D468-A9D46C7291F9}"/>
              </a:ext>
            </a:extLst>
          </p:cNvPr>
          <p:cNvCxnSpPr>
            <a:cxnSpLocks/>
            <a:stCxn id="83" idx="0"/>
            <a:endCxn id="27" idx="2"/>
          </p:cNvCxnSpPr>
          <p:nvPr/>
        </p:nvCxnSpPr>
        <p:spPr>
          <a:xfrm flipV="1">
            <a:off x="6376588" y="2223248"/>
            <a:ext cx="112501" cy="64524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EDBBB33-4558-F22F-1F22-F472582CA31D}"/>
              </a:ext>
            </a:extLst>
          </p:cNvPr>
          <p:cNvCxnSpPr>
            <a:cxnSpLocks/>
            <a:stCxn id="24" idx="1"/>
            <a:endCxn id="83" idx="0"/>
          </p:cNvCxnSpPr>
          <p:nvPr/>
        </p:nvCxnSpPr>
        <p:spPr>
          <a:xfrm flipH="1">
            <a:off x="6376588" y="2382425"/>
            <a:ext cx="1793571" cy="486069"/>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83" name="TextBox 82">
            <a:extLst>
              <a:ext uri="{FF2B5EF4-FFF2-40B4-BE49-F238E27FC236}">
                <a16:creationId xmlns:a16="http://schemas.microsoft.com/office/drawing/2014/main" id="{B8340993-B06E-A311-6876-6E4CE72B0A74}"/>
              </a:ext>
            </a:extLst>
          </p:cNvPr>
          <p:cNvSpPr txBox="1"/>
          <p:nvPr/>
        </p:nvSpPr>
        <p:spPr>
          <a:xfrm>
            <a:off x="4321131" y="2868494"/>
            <a:ext cx="4110914" cy="543595"/>
          </a:xfrm>
          <a:prstGeom prst="roundRect">
            <a:avLst>
              <a:gd name="adj" fmla="val 21669"/>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Bit-Planes for CA abstraction</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nvPr>
        </p:nvSpPr>
        <p:spPr/>
        <p:txBody>
          <a:bodyPr/>
          <a:lstStyle/>
          <a:p>
            <a:fld id="{6DAC1E11-C476-4762-AFFB-C3D6ECD7A44E}"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nvPr>
        </p:nvSpPr>
        <p:spPr/>
        <p:txBody>
          <a:bodyPr/>
          <a:lstStyle/>
          <a:p>
            <a:fld id="{DA0BB241-1B5F-4309-9407-9EEA04D9598D}" type="slidenum">
              <a:rPr lang="en-US" noProof="0" smtClean="0"/>
              <a:t>31</a:t>
            </a:fld>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7745" y="4557585"/>
            <a:ext cx="688481" cy="688481"/>
          </a:xfrm>
          <a:prstGeom prst="rect">
            <a:avLst/>
          </a:prstGeom>
        </p:spPr>
      </p:pic>
      <p:pic>
        <p:nvPicPr>
          <p:cNvPr id="118" name="Graphic 117" descr="Document with solid fill">
            <a:extLst>
              <a:ext uri="{FF2B5EF4-FFF2-40B4-BE49-F238E27FC236}">
                <a16:creationId xmlns:a16="http://schemas.microsoft.com/office/drawing/2014/main" id="{2272B4AB-7D5F-AB8E-81F9-35DCF3C22C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0988" y="2845627"/>
            <a:ext cx="684040" cy="684040"/>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39057" y="5535157"/>
            <a:ext cx="372564" cy="372564"/>
          </a:xfrm>
          <a:prstGeom prst="rect">
            <a:avLst/>
          </a:prstGeom>
        </p:spPr>
      </p:pic>
      <p:pic>
        <p:nvPicPr>
          <p:cNvPr id="134" name="Graphic 133" descr="Hourglass 90% with solid fill">
            <a:extLst>
              <a:ext uri="{FF2B5EF4-FFF2-40B4-BE49-F238E27FC236}">
                <a16:creationId xmlns:a16="http://schemas.microsoft.com/office/drawing/2014/main" id="{3A28964A-C8E0-7C8E-551D-E262DC957E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10745" y="3001049"/>
            <a:ext cx="372564" cy="372564"/>
          </a:xfrm>
          <a:prstGeom prst="rect">
            <a:avLst/>
          </a:prstGeom>
        </p:spPr>
      </p:pic>
    </p:spTree>
    <p:extLst>
      <p:ext uri="{BB962C8B-B14F-4D97-AF65-F5344CB8AC3E}">
        <p14:creationId xmlns:p14="http://schemas.microsoft.com/office/powerpoint/2010/main" val="174548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6" grpId="0" animBg="1"/>
      <p:bldP spid="24" grpId="0" animBg="1"/>
      <p:bldP spid="27" grpId="0" animBg="1"/>
      <p:bldP spid="28" grpId="0" animBg="1"/>
      <p:bldP spid="14" grpId="0" animBg="1"/>
      <p:bldP spid="83" grpId="0" animBg="1"/>
      <p:bldP spid="30" grpId="0" animBg="1"/>
      <p:bldP spid="10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E2FB-C33B-F5A6-39E3-F8E23A8324D1}"/>
              </a:ext>
            </a:extLst>
          </p:cNvPr>
          <p:cNvSpPr>
            <a:spLocks noGrp="1"/>
          </p:cNvSpPr>
          <p:nvPr>
            <p:ph type="title"/>
          </p:nvPr>
        </p:nvSpPr>
        <p:spPr/>
        <p:txBody>
          <a:bodyPr/>
          <a:lstStyle/>
          <a:p>
            <a:r>
              <a:rPr lang="en-US" dirty="0"/>
              <a:t>Contribution s</a:t>
            </a:r>
            <a:r>
              <a:rPr lang="en-US" noProof="0" dirty="0" err="1"/>
              <a:t>ummary</a:t>
            </a:r>
            <a:endParaRPr lang="en-US" noProof="0" dirty="0"/>
          </a:p>
        </p:txBody>
      </p:sp>
      <p:sp>
        <p:nvSpPr>
          <p:cNvPr id="3" name="Date Placeholder 2">
            <a:extLst>
              <a:ext uri="{FF2B5EF4-FFF2-40B4-BE49-F238E27FC236}">
                <a16:creationId xmlns:a16="http://schemas.microsoft.com/office/drawing/2014/main" id="{619F2EFF-764E-D77C-839A-710FB5E7FAC9}"/>
              </a:ext>
            </a:extLst>
          </p:cNvPr>
          <p:cNvSpPr>
            <a:spLocks noGrp="1"/>
          </p:cNvSpPr>
          <p:nvPr>
            <p:ph type="dt" sz="half" idx="10"/>
          </p:nvPr>
        </p:nvSpPr>
        <p:spPr/>
        <p:txBody>
          <a:bodyPr/>
          <a:lstStyle/>
          <a:p>
            <a:fld id="{1AB26190-46ED-4A0C-A5E8-CDBCA5C2D5C3}" type="datetime1">
              <a:rPr lang="en-US" noProof="0" smtClean="0"/>
              <a:t>9/5/2026</a:t>
            </a:fld>
            <a:endParaRPr lang="en-US" noProof="0" dirty="0"/>
          </a:p>
        </p:txBody>
      </p:sp>
      <p:sp>
        <p:nvSpPr>
          <p:cNvPr id="4" name="Slide Number Placeholder 3">
            <a:extLst>
              <a:ext uri="{FF2B5EF4-FFF2-40B4-BE49-F238E27FC236}">
                <a16:creationId xmlns:a16="http://schemas.microsoft.com/office/drawing/2014/main" id="{63653686-DDC4-AE26-E80F-25922CD6EA22}"/>
              </a:ext>
            </a:extLst>
          </p:cNvPr>
          <p:cNvSpPr>
            <a:spLocks noGrp="1"/>
          </p:cNvSpPr>
          <p:nvPr>
            <p:ph type="sldNum" sz="quarter" idx="12"/>
          </p:nvPr>
        </p:nvSpPr>
        <p:spPr/>
        <p:txBody>
          <a:bodyPr/>
          <a:lstStyle/>
          <a:p>
            <a:fld id="{DA0BB241-1B5F-4309-9407-9EEA04D9598D}" type="slidenum">
              <a:rPr lang="en-US" noProof="0" smtClean="0"/>
              <a:t>32</a:t>
            </a:fld>
            <a:endParaRPr lang="en-US" noProof="0" dirty="0"/>
          </a:p>
        </p:txBody>
      </p:sp>
      <p:sp>
        <p:nvSpPr>
          <p:cNvPr id="5" name="TextBox 4">
            <a:extLst>
              <a:ext uri="{FF2B5EF4-FFF2-40B4-BE49-F238E27FC236}">
                <a16:creationId xmlns:a16="http://schemas.microsoft.com/office/drawing/2014/main" id="{07460CFD-1ADD-C377-3592-F33BC4F867B6}"/>
              </a:ext>
            </a:extLst>
          </p:cNvPr>
          <p:cNvSpPr txBox="1"/>
          <p:nvPr/>
        </p:nvSpPr>
        <p:spPr>
          <a:xfrm>
            <a:off x="2426878" y="1800983"/>
            <a:ext cx="1230658" cy="430887"/>
          </a:xfrm>
          <a:prstGeom prst="rect">
            <a:avLst/>
          </a:prstGeom>
          <a:noFill/>
        </p:spPr>
        <p:txBody>
          <a:bodyPr wrap="square" rtlCol="0">
            <a:spAutoFit/>
          </a:bodyPr>
          <a:lstStyle/>
          <a:p>
            <a:pPr algn="r"/>
            <a:r>
              <a:rPr lang="en-US" sz="2200" noProof="0" dirty="0"/>
              <a:t>Layouts</a:t>
            </a:r>
          </a:p>
        </p:txBody>
      </p:sp>
      <p:sp>
        <p:nvSpPr>
          <p:cNvPr id="8" name="TextBox 7">
            <a:extLst>
              <a:ext uri="{FF2B5EF4-FFF2-40B4-BE49-F238E27FC236}">
                <a16:creationId xmlns:a16="http://schemas.microsoft.com/office/drawing/2014/main" id="{8A890452-B9A2-74CC-8DAA-A01425E62FD3}"/>
              </a:ext>
            </a:extLst>
          </p:cNvPr>
          <p:cNvSpPr txBox="1"/>
          <p:nvPr/>
        </p:nvSpPr>
        <p:spPr>
          <a:xfrm>
            <a:off x="2252985" y="2116499"/>
            <a:ext cx="1404551" cy="430887"/>
          </a:xfrm>
          <a:prstGeom prst="rect">
            <a:avLst/>
          </a:prstGeom>
          <a:noFill/>
        </p:spPr>
        <p:txBody>
          <a:bodyPr wrap="none" rtlCol="0">
            <a:spAutoFit/>
          </a:bodyPr>
          <a:lstStyle/>
          <a:p>
            <a:pPr algn="r"/>
            <a:r>
              <a:rPr lang="en-US" sz="2200" noProof="0" dirty="0"/>
              <a:t>Traversals</a:t>
            </a:r>
          </a:p>
        </p:txBody>
      </p:sp>
      <p:sp>
        <p:nvSpPr>
          <p:cNvPr id="10" name="TextBox 9">
            <a:extLst>
              <a:ext uri="{FF2B5EF4-FFF2-40B4-BE49-F238E27FC236}">
                <a16:creationId xmlns:a16="http://schemas.microsoft.com/office/drawing/2014/main" id="{BD8A1E1A-6D5A-56E5-F8EC-DE0EA51B3C0D}"/>
              </a:ext>
            </a:extLst>
          </p:cNvPr>
          <p:cNvSpPr txBox="1"/>
          <p:nvPr/>
        </p:nvSpPr>
        <p:spPr>
          <a:xfrm>
            <a:off x="2061971" y="2399717"/>
            <a:ext cx="1595565" cy="430887"/>
          </a:xfrm>
          <a:prstGeom prst="rect">
            <a:avLst/>
          </a:prstGeom>
          <a:noFill/>
        </p:spPr>
        <p:txBody>
          <a:bodyPr wrap="none" rtlCol="0">
            <a:spAutoFit/>
          </a:bodyPr>
          <a:lstStyle/>
          <a:p>
            <a:pPr algn="r"/>
            <a:r>
              <a:rPr lang="en-US" sz="2200" b="1" noProof="0" dirty="0"/>
              <a:t>Autotuning</a:t>
            </a:r>
          </a:p>
        </p:txBody>
      </p:sp>
      <p:sp>
        <p:nvSpPr>
          <p:cNvPr id="12" name="TextBox 11">
            <a:extLst>
              <a:ext uri="{FF2B5EF4-FFF2-40B4-BE49-F238E27FC236}">
                <a16:creationId xmlns:a16="http://schemas.microsoft.com/office/drawing/2014/main" id="{F9277F25-EB33-FBD0-50C1-C49A0970F767}"/>
              </a:ext>
            </a:extLst>
          </p:cNvPr>
          <p:cNvSpPr txBox="1"/>
          <p:nvPr/>
        </p:nvSpPr>
        <p:spPr>
          <a:xfrm>
            <a:off x="2111920" y="2695114"/>
            <a:ext cx="1545616" cy="430887"/>
          </a:xfrm>
          <a:prstGeom prst="rect">
            <a:avLst/>
          </a:prstGeom>
          <a:noFill/>
        </p:spPr>
        <p:txBody>
          <a:bodyPr wrap="none" rtlCol="0">
            <a:spAutoFit/>
          </a:bodyPr>
          <a:lstStyle/>
          <a:p>
            <a:pPr algn="r"/>
            <a:r>
              <a:rPr lang="en-US" sz="2200" noProof="0" dirty="0"/>
              <a:t>Distributed</a:t>
            </a:r>
          </a:p>
        </p:txBody>
      </p:sp>
      <p:sp>
        <p:nvSpPr>
          <p:cNvPr id="14" name="TextBox 13">
            <a:extLst>
              <a:ext uri="{FF2B5EF4-FFF2-40B4-BE49-F238E27FC236}">
                <a16:creationId xmlns:a16="http://schemas.microsoft.com/office/drawing/2014/main" id="{CE8F7A3C-A424-8253-CB99-0B73DC4FE674}"/>
              </a:ext>
            </a:extLst>
          </p:cNvPr>
          <p:cNvSpPr txBox="1"/>
          <p:nvPr/>
        </p:nvSpPr>
        <p:spPr>
          <a:xfrm>
            <a:off x="1570426" y="2961166"/>
            <a:ext cx="2087110" cy="430887"/>
          </a:xfrm>
          <a:prstGeom prst="rect">
            <a:avLst/>
          </a:prstGeom>
          <a:noFill/>
        </p:spPr>
        <p:txBody>
          <a:bodyPr wrap="none" rtlCol="0">
            <a:spAutoFit/>
          </a:bodyPr>
          <a:lstStyle/>
          <a:p>
            <a:pPr algn="r"/>
            <a:r>
              <a:rPr lang="en-US" sz="2200" b="1" noProof="0" dirty="0"/>
              <a:t>CA abstraction</a:t>
            </a:r>
          </a:p>
        </p:txBody>
      </p:sp>
      <p:sp>
        <p:nvSpPr>
          <p:cNvPr id="16" name="TextBox 15">
            <a:extLst>
              <a:ext uri="{FF2B5EF4-FFF2-40B4-BE49-F238E27FC236}">
                <a16:creationId xmlns:a16="http://schemas.microsoft.com/office/drawing/2014/main" id="{92124A68-C53E-11BD-CAF9-0273F97C47FA}"/>
              </a:ext>
            </a:extLst>
          </p:cNvPr>
          <p:cNvSpPr txBox="1"/>
          <p:nvPr/>
        </p:nvSpPr>
        <p:spPr>
          <a:xfrm>
            <a:off x="603495" y="3232729"/>
            <a:ext cx="3054041" cy="430887"/>
          </a:xfrm>
          <a:prstGeom prst="rect">
            <a:avLst/>
          </a:prstGeom>
          <a:noFill/>
        </p:spPr>
        <p:txBody>
          <a:bodyPr wrap="none" rtlCol="0">
            <a:spAutoFit/>
          </a:bodyPr>
          <a:lstStyle/>
          <a:p>
            <a:pPr algn="r"/>
            <a:r>
              <a:rPr lang="en-US" sz="2200" noProof="0" dirty="0"/>
              <a:t>Tutoring LLMs for CUDA</a:t>
            </a:r>
          </a:p>
        </p:txBody>
      </p:sp>
      <p:sp>
        <p:nvSpPr>
          <p:cNvPr id="18" name="TextBox 17">
            <a:extLst>
              <a:ext uri="{FF2B5EF4-FFF2-40B4-BE49-F238E27FC236}">
                <a16:creationId xmlns:a16="http://schemas.microsoft.com/office/drawing/2014/main" id="{DD278D3E-9071-30B3-5084-67810955D802}"/>
              </a:ext>
            </a:extLst>
          </p:cNvPr>
          <p:cNvSpPr txBox="1"/>
          <p:nvPr/>
        </p:nvSpPr>
        <p:spPr>
          <a:xfrm>
            <a:off x="723721" y="3541885"/>
            <a:ext cx="2933815" cy="430887"/>
          </a:xfrm>
          <a:prstGeom prst="rect">
            <a:avLst/>
          </a:prstGeom>
          <a:noFill/>
        </p:spPr>
        <p:txBody>
          <a:bodyPr wrap="none" rtlCol="0">
            <a:spAutoFit/>
          </a:bodyPr>
          <a:lstStyle/>
          <a:p>
            <a:pPr algn="r"/>
            <a:r>
              <a:rPr lang="en-US" sz="2200" noProof="0" dirty="0"/>
              <a:t>LLMs and abstractions</a:t>
            </a:r>
          </a:p>
        </p:txBody>
      </p:sp>
      <p:sp>
        <p:nvSpPr>
          <p:cNvPr id="20" name="TextBox 19">
            <a:extLst>
              <a:ext uri="{FF2B5EF4-FFF2-40B4-BE49-F238E27FC236}">
                <a16:creationId xmlns:a16="http://schemas.microsoft.com/office/drawing/2014/main" id="{2EEB6927-BD1C-C0F1-C38D-1A40C72A2497}"/>
              </a:ext>
            </a:extLst>
          </p:cNvPr>
          <p:cNvSpPr txBox="1"/>
          <p:nvPr/>
        </p:nvSpPr>
        <p:spPr>
          <a:xfrm>
            <a:off x="1404996" y="4431055"/>
            <a:ext cx="2252540" cy="430887"/>
          </a:xfrm>
          <a:prstGeom prst="rect">
            <a:avLst/>
          </a:prstGeom>
          <a:noFill/>
        </p:spPr>
        <p:txBody>
          <a:bodyPr wrap="none" rtlCol="0">
            <a:spAutoFit/>
          </a:bodyPr>
          <a:lstStyle/>
          <a:p>
            <a:pPr algn="r"/>
            <a:r>
              <a:rPr lang="en-US" sz="2200" noProof="0" dirty="0"/>
              <a:t>GPU </a:t>
            </a:r>
            <a:r>
              <a:rPr lang="en-US" sz="2200" noProof="0" dirty="0" err="1"/>
              <a:t>EmbedSOM</a:t>
            </a:r>
            <a:endParaRPr lang="en-US" sz="2200" noProof="0" dirty="0"/>
          </a:p>
        </p:txBody>
      </p:sp>
      <p:sp>
        <p:nvSpPr>
          <p:cNvPr id="22" name="TextBox 21">
            <a:extLst>
              <a:ext uri="{FF2B5EF4-FFF2-40B4-BE49-F238E27FC236}">
                <a16:creationId xmlns:a16="http://schemas.microsoft.com/office/drawing/2014/main" id="{35C78A90-FEC1-2DB8-B891-AC8BDA35A2A4}"/>
              </a:ext>
            </a:extLst>
          </p:cNvPr>
          <p:cNvSpPr txBox="1"/>
          <p:nvPr/>
        </p:nvSpPr>
        <p:spPr>
          <a:xfrm>
            <a:off x="550596" y="4716295"/>
            <a:ext cx="3106940" cy="430887"/>
          </a:xfrm>
          <a:prstGeom prst="rect">
            <a:avLst/>
          </a:prstGeom>
          <a:noFill/>
        </p:spPr>
        <p:txBody>
          <a:bodyPr wrap="none" rtlCol="0">
            <a:spAutoFit/>
          </a:bodyPr>
          <a:lstStyle/>
          <a:p>
            <a:pPr algn="r"/>
            <a:r>
              <a:rPr lang="en-US" sz="2200" noProof="0" dirty="0"/>
              <a:t>Bitwise encoding of </a:t>
            </a:r>
            <a:r>
              <a:rPr lang="en-US" sz="2200" noProof="0" dirty="0" err="1"/>
              <a:t>GoL</a:t>
            </a:r>
            <a:endParaRPr lang="en-US" sz="2200" noProof="0" dirty="0"/>
          </a:p>
        </p:txBody>
      </p:sp>
      <p:sp>
        <p:nvSpPr>
          <p:cNvPr id="24" name="TextBox 23">
            <a:extLst>
              <a:ext uri="{FF2B5EF4-FFF2-40B4-BE49-F238E27FC236}">
                <a16:creationId xmlns:a16="http://schemas.microsoft.com/office/drawing/2014/main" id="{1A9FF1FA-5071-1EAC-9BA2-D4E5B82F1A7A}"/>
              </a:ext>
            </a:extLst>
          </p:cNvPr>
          <p:cNvSpPr txBox="1"/>
          <p:nvPr/>
        </p:nvSpPr>
        <p:spPr>
          <a:xfrm>
            <a:off x="778223" y="5026689"/>
            <a:ext cx="2879313" cy="430887"/>
          </a:xfrm>
          <a:prstGeom prst="rect">
            <a:avLst/>
          </a:prstGeom>
          <a:noFill/>
        </p:spPr>
        <p:txBody>
          <a:bodyPr wrap="none" rtlCol="0">
            <a:spAutoFit/>
          </a:bodyPr>
          <a:lstStyle/>
          <a:p>
            <a:pPr algn="r"/>
            <a:r>
              <a:rPr lang="en-US" sz="2200" b="1" noProof="0" dirty="0" err="1"/>
              <a:t>kNN</a:t>
            </a:r>
            <a:r>
              <a:rPr lang="en-US" sz="2200" b="1" noProof="0" dirty="0"/>
              <a:t> with </a:t>
            </a:r>
            <a:r>
              <a:rPr lang="en-US" sz="2200" b="1" noProof="0" dirty="0" err="1"/>
              <a:t>bitonic</a:t>
            </a:r>
            <a:r>
              <a:rPr lang="en-US" sz="2200" b="1" noProof="0" dirty="0"/>
              <a:t> sort</a:t>
            </a:r>
          </a:p>
        </p:txBody>
      </p:sp>
      <p:sp>
        <p:nvSpPr>
          <p:cNvPr id="25" name="TextBox 24">
            <a:extLst>
              <a:ext uri="{FF2B5EF4-FFF2-40B4-BE49-F238E27FC236}">
                <a16:creationId xmlns:a16="http://schemas.microsoft.com/office/drawing/2014/main" id="{1814196E-42A9-2357-683E-D9B1852BAD1C}"/>
              </a:ext>
            </a:extLst>
          </p:cNvPr>
          <p:cNvSpPr txBox="1"/>
          <p:nvPr/>
        </p:nvSpPr>
        <p:spPr>
          <a:xfrm>
            <a:off x="743853" y="5292203"/>
            <a:ext cx="2913683" cy="430887"/>
          </a:xfrm>
          <a:prstGeom prst="rect">
            <a:avLst/>
          </a:prstGeom>
          <a:noFill/>
        </p:spPr>
        <p:txBody>
          <a:bodyPr wrap="none" rtlCol="0">
            <a:spAutoFit/>
          </a:bodyPr>
          <a:lstStyle/>
          <a:p>
            <a:pPr algn="r"/>
            <a:r>
              <a:rPr lang="en-US" sz="2200" b="1" noProof="0" dirty="0"/>
              <a:t>Bit-Planes – CA </a:t>
            </a:r>
            <a:r>
              <a:rPr lang="en-US" sz="2200" b="1" noProof="0" dirty="0" err="1"/>
              <a:t>abstr</a:t>
            </a:r>
            <a:r>
              <a:rPr lang="en-US" sz="2200" b="1" noProof="0" dirty="0"/>
              <a:t>.</a:t>
            </a:r>
          </a:p>
        </p:txBody>
      </p:sp>
      <p:sp>
        <p:nvSpPr>
          <p:cNvPr id="7" name="Left Brace 6">
            <a:extLst>
              <a:ext uri="{FF2B5EF4-FFF2-40B4-BE49-F238E27FC236}">
                <a16:creationId xmlns:a16="http://schemas.microsoft.com/office/drawing/2014/main" id="{70FB1660-D075-7B01-57E6-A7BE0BF087E2}"/>
              </a:ext>
            </a:extLst>
          </p:cNvPr>
          <p:cNvSpPr/>
          <p:nvPr/>
        </p:nvSpPr>
        <p:spPr>
          <a:xfrm>
            <a:off x="1958742" y="1903362"/>
            <a:ext cx="183607" cy="1113856"/>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9" name="TextBox 8">
            <a:extLst>
              <a:ext uri="{FF2B5EF4-FFF2-40B4-BE49-F238E27FC236}">
                <a16:creationId xmlns:a16="http://schemas.microsoft.com/office/drawing/2014/main" id="{074A760B-F774-39E3-E0AC-9B2DEC8AF4DE}"/>
              </a:ext>
            </a:extLst>
          </p:cNvPr>
          <p:cNvSpPr txBox="1"/>
          <p:nvPr/>
        </p:nvSpPr>
        <p:spPr>
          <a:xfrm>
            <a:off x="1079975" y="2221582"/>
            <a:ext cx="878767" cy="430887"/>
          </a:xfrm>
          <a:prstGeom prst="rect">
            <a:avLst/>
          </a:prstGeom>
          <a:noFill/>
        </p:spPr>
        <p:txBody>
          <a:bodyPr wrap="none" rtlCol="0">
            <a:spAutoFit/>
          </a:bodyPr>
          <a:lstStyle/>
          <a:p>
            <a:r>
              <a:rPr lang="en-US" sz="2200" noProof="0" dirty="0"/>
              <a:t>Noarr</a:t>
            </a:r>
          </a:p>
        </p:txBody>
      </p:sp>
      <p:sp>
        <p:nvSpPr>
          <p:cNvPr id="13" name="Left Brace 12">
            <a:extLst>
              <a:ext uri="{FF2B5EF4-FFF2-40B4-BE49-F238E27FC236}">
                <a16:creationId xmlns:a16="http://schemas.microsoft.com/office/drawing/2014/main" id="{6258EB1D-0B46-9D04-4739-FBEC2EF2265A}"/>
              </a:ext>
            </a:extLst>
          </p:cNvPr>
          <p:cNvSpPr/>
          <p:nvPr/>
        </p:nvSpPr>
        <p:spPr>
          <a:xfrm>
            <a:off x="1469940" y="3017218"/>
            <a:ext cx="183607" cy="286541"/>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17" name="TextBox 16">
            <a:extLst>
              <a:ext uri="{FF2B5EF4-FFF2-40B4-BE49-F238E27FC236}">
                <a16:creationId xmlns:a16="http://schemas.microsoft.com/office/drawing/2014/main" id="{FD7B44A4-A32D-E3BD-91BE-CB60C63F0094}"/>
              </a:ext>
            </a:extLst>
          </p:cNvPr>
          <p:cNvSpPr txBox="1"/>
          <p:nvPr/>
        </p:nvSpPr>
        <p:spPr>
          <a:xfrm>
            <a:off x="408380" y="2941387"/>
            <a:ext cx="1066318" cy="430887"/>
          </a:xfrm>
          <a:prstGeom prst="rect">
            <a:avLst/>
          </a:prstGeom>
          <a:noFill/>
        </p:spPr>
        <p:txBody>
          <a:bodyPr wrap="none" rtlCol="0">
            <a:spAutoFit/>
          </a:bodyPr>
          <a:lstStyle/>
          <a:p>
            <a:pPr algn="r"/>
            <a:r>
              <a:rPr lang="en-US" sz="2200" noProof="0" dirty="0"/>
              <a:t>Cellato</a:t>
            </a:r>
          </a:p>
        </p:txBody>
      </p:sp>
      <p:pic>
        <p:nvPicPr>
          <p:cNvPr id="19" name="Picture 18">
            <a:extLst>
              <a:ext uri="{FF2B5EF4-FFF2-40B4-BE49-F238E27FC236}">
                <a16:creationId xmlns:a16="http://schemas.microsoft.com/office/drawing/2014/main" id="{7BBFF5E8-6F34-AD91-483A-BF96ED8BB2E9}"/>
              </a:ext>
            </a:extLst>
          </p:cNvPr>
          <p:cNvPicPr>
            <a:picLocks noChangeAspect="1"/>
          </p:cNvPicPr>
          <p:nvPr/>
        </p:nvPicPr>
        <p:blipFill>
          <a:blip r:embed="rId2"/>
          <a:srcRect l="8227"/>
          <a:stretch>
            <a:fillRect/>
          </a:stretch>
        </p:blipFill>
        <p:spPr>
          <a:xfrm>
            <a:off x="3690596" y="1422499"/>
            <a:ext cx="8501404" cy="4274301"/>
          </a:xfrm>
          <a:prstGeom prst="rect">
            <a:avLst/>
          </a:prstGeom>
        </p:spPr>
      </p:pic>
      <p:cxnSp>
        <p:nvCxnSpPr>
          <p:cNvPr id="37" name="Connector: Curved 36">
            <a:extLst>
              <a:ext uri="{FF2B5EF4-FFF2-40B4-BE49-F238E27FC236}">
                <a16:creationId xmlns:a16="http://schemas.microsoft.com/office/drawing/2014/main" id="{2240D803-50FC-D08D-43CC-A9BA0D55AD8B}"/>
              </a:ext>
            </a:extLst>
          </p:cNvPr>
          <p:cNvCxnSpPr>
            <a:cxnSpLocks/>
            <a:stCxn id="25" idx="1"/>
            <a:endCxn id="17" idx="1"/>
          </p:cNvCxnSpPr>
          <p:nvPr/>
        </p:nvCxnSpPr>
        <p:spPr>
          <a:xfrm rot="10800000">
            <a:off x="408381" y="3156831"/>
            <a:ext cx="335473" cy="2350816"/>
          </a:xfrm>
          <a:prstGeom prst="curvedConnector3">
            <a:avLst>
              <a:gd name="adj1" fmla="val 16814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Cloud 5">
            <a:extLst>
              <a:ext uri="{FF2B5EF4-FFF2-40B4-BE49-F238E27FC236}">
                <a16:creationId xmlns:a16="http://schemas.microsoft.com/office/drawing/2014/main" id="{649FBB15-DDE7-53A8-F2E8-FA8A59181102}"/>
              </a:ext>
            </a:extLst>
          </p:cNvPr>
          <p:cNvSpPr/>
          <p:nvPr/>
        </p:nvSpPr>
        <p:spPr>
          <a:xfrm>
            <a:off x="3610240" y="3574537"/>
            <a:ext cx="1718505" cy="390086"/>
          </a:xfrm>
          <a:prstGeom prst="cloud">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r"/>
            <a:r>
              <a:rPr lang="en-US" dirty="0">
                <a:solidFill>
                  <a:schemeClr val="tx1"/>
                </a:solidFill>
              </a:rPr>
              <a:t>ICA3PP         </a:t>
            </a:r>
          </a:p>
        </p:txBody>
      </p:sp>
    </p:spTree>
    <p:extLst>
      <p:ext uri="{BB962C8B-B14F-4D97-AF65-F5344CB8AC3E}">
        <p14:creationId xmlns:p14="http://schemas.microsoft.com/office/powerpoint/2010/main" val="2025371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14D937-1CAE-414B-A7D5-018C68698F98}"/>
              </a:ext>
            </a:extLst>
          </p:cNvPr>
          <p:cNvSpPr>
            <a:spLocks noGrp="1"/>
          </p:cNvSpPr>
          <p:nvPr>
            <p:ph type="title"/>
          </p:nvPr>
        </p:nvSpPr>
        <p:spPr/>
        <p:txBody>
          <a:bodyPr/>
          <a:lstStyle/>
          <a:p>
            <a:r>
              <a:rPr lang="en-US" noProof="0" dirty="0"/>
              <a:t>Review comments and questions</a:t>
            </a:r>
          </a:p>
        </p:txBody>
      </p:sp>
      <p:sp>
        <p:nvSpPr>
          <p:cNvPr id="7" name="Text Placeholder 6">
            <a:extLst>
              <a:ext uri="{FF2B5EF4-FFF2-40B4-BE49-F238E27FC236}">
                <a16:creationId xmlns:a16="http://schemas.microsoft.com/office/drawing/2014/main" id="{5130AF46-445A-EA10-5B0A-764E1CA13B08}"/>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1384B596-5AF7-51AF-3EE6-313BDA5CC3C0}"/>
              </a:ext>
            </a:extLst>
          </p:cNvPr>
          <p:cNvSpPr>
            <a:spLocks noGrp="1"/>
          </p:cNvSpPr>
          <p:nvPr>
            <p:ph type="dt" sz="half" idx="10"/>
          </p:nvPr>
        </p:nvSpPr>
        <p:spPr/>
        <p:txBody>
          <a:bodyPr/>
          <a:lstStyle/>
          <a:p>
            <a:fld id="{0601A530-81CA-410E-A053-EF7BD11F8EF0}"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3BD45EBF-BF5B-CB1B-7863-61BA3DD3C837}"/>
              </a:ext>
            </a:extLst>
          </p:cNvPr>
          <p:cNvSpPr>
            <a:spLocks noGrp="1"/>
          </p:cNvSpPr>
          <p:nvPr>
            <p:ph type="sldNum" sz="quarter" idx="12"/>
          </p:nvPr>
        </p:nvSpPr>
        <p:spPr/>
        <p:txBody>
          <a:bodyPr/>
          <a:lstStyle/>
          <a:p>
            <a:fld id="{DA0BB241-1B5F-4309-9407-9EEA04D9598D}" type="slidenum">
              <a:rPr lang="en-US" noProof="0" smtClean="0"/>
              <a:t>33</a:t>
            </a:fld>
            <a:endParaRPr lang="en-US" noProof="0" dirty="0"/>
          </a:p>
        </p:txBody>
      </p:sp>
    </p:spTree>
    <p:extLst>
      <p:ext uri="{BB962C8B-B14F-4D97-AF65-F5344CB8AC3E}">
        <p14:creationId xmlns:p14="http://schemas.microsoft.com/office/powerpoint/2010/main" val="2595384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A3A68D-BA44-145A-8266-F48BAE5922B6}"/>
              </a:ext>
            </a:extLst>
          </p:cNvPr>
          <p:cNvSpPr>
            <a:spLocks noGrp="1"/>
          </p:cNvSpPr>
          <p:nvPr>
            <p:ph type="title"/>
          </p:nvPr>
        </p:nvSpPr>
        <p:spPr/>
        <p:txBody>
          <a:bodyPr>
            <a:normAutofit/>
          </a:bodyPr>
          <a:lstStyle/>
          <a:p>
            <a:r>
              <a:rPr lang="en-US" noProof="0" dirty="0"/>
              <a:t>Why is Cellato separate from Noarr?</a:t>
            </a:r>
          </a:p>
        </p:txBody>
      </p:sp>
      <p:sp>
        <p:nvSpPr>
          <p:cNvPr id="7" name="Content Placeholder 6">
            <a:extLst>
              <a:ext uri="{FF2B5EF4-FFF2-40B4-BE49-F238E27FC236}">
                <a16:creationId xmlns:a16="http://schemas.microsoft.com/office/drawing/2014/main" id="{78E4B909-7FF2-6BA5-88FD-CADA9D5BE98F}"/>
              </a:ext>
            </a:extLst>
          </p:cNvPr>
          <p:cNvSpPr>
            <a:spLocks noGrp="1"/>
          </p:cNvSpPr>
          <p:nvPr>
            <p:ph idx="1"/>
          </p:nvPr>
        </p:nvSpPr>
        <p:spPr/>
        <p:txBody>
          <a:bodyPr anchor="ctr"/>
          <a:lstStyle/>
          <a:p>
            <a:r>
              <a:rPr lang="en-US" noProof="0" dirty="0"/>
              <a:t>Optimization tied to bit-level encoding and bitwise evaluation</a:t>
            </a:r>
          </a:p>
          <a:p>
            <a:r>
              <a:rPr lang="en-US" noProof="0" dirty="0"/>
              <a:t>Noarr doesn’t inspect or abstract statements/expressions</a:t>
            </a:r>
          </a:p>
          <a:p>
            <a:r>
              <a:rPr lang="en-US" dirty="0"/>
              <a:t>Cellato adopts layout &amp; traversal agnosticism and the template metaprogramming implementation; the goals are more specific</a:t>
            </a:r>
          </a:p>
          <a:p>
            <a:endParaRPr lang="en-US" noProof="0" dirty="0"/>
          </a:p>
        </p:txBody>
      </p:sp>
      <p:sp>
        <p:nvSpPr>
          <p:cNvPr id="4" name="Date Placeholder 3">
            <a:extLst>
              <a:ext uri="{FF2B5EF4-FFF2-40B4-BE49-F238E27FC236}">
                <a16:creationId xmlns:a16="http://schemas.microsoft.com/office/drawing/2014/main" id="{165FE8C8-E861-092A-DD67-F97F8685CC22}"/>
              </a:ext>
            </a:extLst>
          </p:cNvPr>
          <p:cNvSpPr>
            <a:spLocks noGrp="1"/>
          </p:cNvSpPr>
          <p:nvPr>
            <p:ph type="dt" sz="half" idx="10"/>
          </p:nvPr>
        </p:nvSpPr>
        <p:spPr/>
        <p:txBody>
          <a:bodyPr/>
          <a:lstStyle/>
          <a:p>
            <a:fld id="{34463B7D-19AB-44BF-8DCC-FDF87A48CBC2}"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63AF3829-2535-EDEB-0FC1-2B5DC2FB518B}"/>
              </a:ext>
            </a:extLst>
          </p:cNvPr>
          <p:cNvSpPr>
            <a:spLocks noGrp="1"/>
          </p:cNvSpPr>
          <p:nvPr>
            <p:ph type="sldNum" sz="quarter" idx="12"/>
          </p:nvPr>
        </p:nvSpPr>
        <p:spPr/>
        <p:txBody>
          <a:bodyPr/>
          <a:lstStyle/>
          <a:p>
            <a:fld id="{DA0BB241-1B5F-4309-9407-9EEA04D9598D}" type="slidenum">
              <a:rPr lang="en-US" noProof="0" smtClean="0"/>
              <a:t>34</a:t>
            </a:fld>
            <a:endParaRPr lang="en-US" noProof="0" dirty="0"/>
          </a:p>
        </p:txBody>
      </p:sp>
    </p:spTree>
    <p:extLst>
      <p:ext uri="{BB962C8B-B14F-4D97-AF65-F5344CB8AC3E}">
        <p14:creationId xmlns:p14="http://schemas.microsoft.com/office/powerpoint/2010/main" val="3705317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595D-F97E-73E9-84DA-0FC353335568}"/>
              </a:ext>
            </a:extLst>
          </p:cNvPr>
          <p:cNvSpPr>
            <a:spLocks noGrp="1"/>
          </p:cNvSpPr>
          <p:nvPr>
            <p:ph type="title"/>
          </p:nvPr>
        </p:nvSpPr>
        <p:spPr/>
        <p:txBody>
          <a:bodyPr/>
          <a:lstStyle/>
          <a:p>
            <a:r>
              <a:rPr lang="en-US" noProof="0" dirty="0"/>
              <a:t>What do you think an abstraction designed specifically for an LLM should look like?</a:t>
            </a:r>
          </a:p>
        </p:txBody>
      </p:sp>
      <p:sp>
        <p:nvSpPr>
          <p:cNvPr id="3" name="Content Placeholder 2">
            <a:extLst>
              <a:ext uri="{FF2B5EF4-FFF2-40B4-BE49-F238E27FC236}">
                <a16:creationId xmlns:a16="http://schemas.microsoft.com/office/drawing/2014/main" id="{6F21508F-6DB1-BCB4-96D9-949E58869DE2}"/>
              </a:ext>
            </a:extLst>
          </p:cNvPr>
          <p:cNvSpPr>
            <a:spLocks noGrp="1"/>
          </p:cNvSpPr>
          <p:nvPr>
            <p:ph idx="1"/>
          </p:nvPr>
        </p:nvSpPr>
        <p:spPr/>
        <p:txBody>
          <a:bodyPr anchor="ctr"/>
          <a:lstStyle/>
          <a:p>
            <a:r>
              <a:rPr lang="en-US" noProof="0" dirty="0"/>
              <a:t>A good answer would require a specific study</a:t>
            </a:r>
          </a:p>
          <a:p>
            <a:r>
              <a:rPr lang="en-US" noProof="0" dirty="0"/>
              <a:t>I have identified (at the time of experiments) that C++ syntax was quite challenging to the LLM (particularly angle brackets)</a:t>
            </a:r>
          </a:p>
          <a:p>
            <a:r>
              <a:rPr lang="en-US" noProof="0" dirty="0"/>
              <a:t>Python-based Exo performed best out of the studied abstractions</a:t>
            </a:r>
          </a:p>
          <a:p>
            <a:r>
              <a:rPr lang="en-US" noProof="0" dirty="0"/>
              <a:t>Good performance on abstraction-less C suggests more explicit representation might perform better</a:t>
            </a:r>
          </a:p>
          <a:p>
            <a:endParaRPr lang="en-US" noProof="0" dirty="0"/>
          </a:p>
          <a:p>
            <a:r>
              <a:rPr lang="en-US" noProof="0" dirty="0"/>
              <a:t>Agentic LLMs might benefit from extensive compiler feedback and runtime metrics</a:t>
            </a:r>
          </a:p>
          <a:p>
            <a:r>
              <a:rPr lang="en-US" noProof="0" dirty="0"/>
              <a:t>Inspiration by ComPilot: structured back-and-forth communication</a:t>
            </a:r>
          </a:p>
        </p:txBody>
      </p:sp>
      <p:sp>
        <p:nvSpPr>
          <p:cNvPr id="4" name="Date Placeholder 3">
            <a:extLst>
              <a:ext uri="{FF2B5EF4-FFF2-40B4-BE49-F238E27FC236}">
                <a16:creationId xmlns:a16="http://schemas.microsoft.com/office/drawing/2014/main" id="{4D600627-2EB4-B0E4-6C58-9D40BFDA6DD6}"/>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EDCA47EB-C20E-1A0D-DA75-7B7C311F0375}"/>
              </a:ext>
            </a:extLst>
          </p:cNvPr>
          <p:cNvSpPr>
            <a:spLocks noGrp="1"/>
          </p:cNvSpPr>
          <p:nvPr>
            <p:ph type="sldNum" sz="quarter" idx="12"/>
          </p:nvPr>
        </p:nvSpPr>
        <p:spPr/>
        <p:txBody>
          <a:bodyPr/>
          <a:lstStyle/>
          <a:p>
            <a:fld id="{DA0BB241-1B5F-4309-9407-9EEA04D9598D}" type="slidenum">
              <a:rPr lang="en-US" noProof="0" smtClean="0"/>
              <a:t>35</a:t>
            </a:fld>
            <a:endParaRPr lang="en-US" noProof="0" dirty="0"/>
          </a:p>
        </p:txBody>
      </p:sp>
    </p:spTree>
    <p:extLst>
      <p:ext uri="{BB962C8B-B14F-4D97-AF65-F5344CB8AC3E}">
        <p14:creationId xmlns:p14="http://schemas.microsoft.com/office/powerpoint/2010/main" val="4269704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1CC-E8C4-0B21-8037-B59EAE91DFC2}"/>
              </a:ext>
            </a:extLst>
          </p:cNvPr>
          <p:cNvSpPr>
            <a:spLocks noGrp="1"/>
          </p:cNvSpPr>
          <p:nvPr>
            <p:ph type="title"/>
          </p:nvPr>
        </p:nvSpPr>
        <p:spPr/>
        <p:txBody>
          <a:bodyPr/>
          <a:lstStyle/>
          <a:p>
            <a:r>
              <a:rPr lang="en-US" noProof="0" dirty="0"/>
              <a:t> Is </a:t>
            </a:r>
            <a:r>
              <a:rPr lang="en-US" noProof="0" dirty="0" err="1"/>
              <a:t>hvector</a:t>
            </a:r>
            <a:r>
              <a:rPr lang="en-US" noProof="0" dirty="0"/>
              <a:t> necessary?</a:t>
            </a:r>
            <a:br>
              <a:rPr lang="en-US" noProof="0" dirty="0"/>
            </a:br>
            <a:r>
              <a:rPr lang="en-US" noProof="0" dirty="0"/>
              <a:t>vector more convenient?</a:t>
            </a:r>
          </a:p>
        </p:txBody>
      </p:sp>
      <p:sp>
        <p:nvSpPr>
          <p:cNvPr id="3" name="Content Placeholder 2">
            <a:extLst>
              <a:ext uri="{FF2B5EF4-FFF2-40B4-BE49-F238E27FC236}">
                <a16:creationId xmlns:a16="http://schemas.microsoft.com/office/drawing/2014/main" id="{671A00C2-D819-CE9A-6EA6-9695C2780324}"/>
              </a:ext>
            </a:extLst>
          </p:cNvPr>
          <p:cNvSpPr>
            <a:spLocks noGrp="1"/>
          </p:cNvSpPr>
          <p:nvPr>
            <p:ph idx="1"/>
          </p:nvPr>
        </p:nvSpPr>
        <p:spPr/>
        <p:txBody>
          <a:bodyPr anchor="ctr"/>
          <a:lstStyle/>
          <a:p>
            <a:r>
              <a:rPr lang="en-US" noProof="0" dirty="0"/>
              <a:t>For a general multidimensional structure, </a:t>
            </a:r>
            <a:r>
              <a:rPr lang="en-US" noProof="0" dirty="0" err="1"/>
              <a:t>hvector</a:t>
            </a:r>
            <a:r>
              <a:rPr lang="en-US" noProof="0" dirty="0"/>
              <a:t> is more convenient</a:t>
            </a:r>
          </a:p>
          <a:p>
            <a:pPr lvl="1"/>
            <a:r>
              <a:rPr lang="en-US" noProof="0" dirty="0"/>
              <a:t>For the first iteration, vector seems like the right choice</a:t>
            </a:r>
          </a:p>
          <a:p>
            <a:pPr lvl="1"/>
            <a:r>
              <a:rPr lang="en-US" noProof="0" dirty="0"/>
              <a:t>For later iterations, the underlying datatype is the previous iteration</a:t>
            </a:r>
          </a:p>
          <a:p>
            <a:pPr lvl="2"/>
            <a:r>
              <a:rPr lang="en-US" noProof="0" dirty="0"/>
              <a:t>Then works conveniently only for contiguous-like encodings</a:t>
            </a:r>
          </a:p>
          <a:p>
            <a:pPr lvl="2"/>
            <a:r>
              <a:rPr lang="en-US" noProof="0" dirty="0"/>
              <a:t>Not for the following: the extent of sub-layout does not divide the stride of the result layout</a:t>
            </a:r>
            <a:br>
              <a:rPr lang="en-US" noProof="0" dirty="0"/>
            </a:br>
            <a:r>
              <a:rPr lang="en-US" noProof="0" dirty="0"/>
              <a:t>(see Slide 4 for better visualization of the two communicated layouts)</a:t>
            </a:r>
          </a:p>
        </p:txBody>
      </p:sp>
      <p:sp>
        <p:nvSpPr>
          <p:cNvPr id="4" name="Date Placeholder 3">
            <a:extLst>
              <a:ext uri="{FF2B5EF4-FFF2-40B4-BE49-F238E27FC236}">
                <a16:creationId xmlns:a16="http://schemas.microsoft.com/office/drawing/2014/main" id="{74CE120E-B666-59CF-BAF9-35F39BFC89E6}"/>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18EED586-2A74-4D32-AAE4-9ED352AB10CB}"/>
              </a:ext>
            </a:extLst>
          </p:cNvPr>
          <p:cNvSpPr>
            <a:spLocks noGrp="1"/>
          </p:cNvSpPr>
          <p:nvPr>
            <p:ph type="sldNum" sz="quarter" idx="12"/>
          </p:nvPr>
        </p:nvSpPr>
        <p:spPr/>
        <p:txBody>
          <a:bodyPr/>
          <a:lstStyle/>
          <a:p>
            <a:fld id="{DA0BB241-1B5F-4309-9407-9EEA04D9598D}" type="slidenum">
              <a:rPr lang="en-US" noProof="0" smtClean="0"/>
              <a:t>36</a:t>
            </a:fld>
            <a:endParaRPr lang="en-US" noProof="0" dirty="0"/>
          </a:p>
        </p:txBody>
      </p:sp>
      <p:sp>
        <p:nvSpPr>
          <p:cNvPr id="6" name="TextBox 5">
            <a:extLst>
              <a:ext uri="{FF2B5EF4-FFF2-40B4-BE49-F238E27FC236}">
                <a16:creationId xmlns:a16="http://schemas.microsoft.com/office/drawing/2014/main" id="{E4446F09-51B2-65D1-B5C7-B33B2B727078}"/>
              </a:ext>
            </a:extLst>
          </p:cNvPr>
          <p:cNvSpPr txBox="1"/>
          <p:nvPr/>
        </p:nvSpPr>
        <p:spPr>
          <a:xfrm>
            <a:off x="4267201" y="5495658"/>
            <a:ext cx="373820" cy="369332"/>
          </a:xfrm>
          <a:prstGeom prst="rect">
            <a:avLst/>
          </a:prstGeom>
          <a:noFill/>
        </p:spPr>
        <p:txBody>
          <a:bodyPr wrap="none" rtlCol="0">
            <a:spAutoFit/>
          </a:bodyPr>
          <a:lstStyle/>
          <a:p>
            <a:r>
              <a:rPr lang="en-US" noProof="0" dirty="0"/>
              <a:t>1.</a:t>
            </a:r>
          </a:p>
        </p:txBody>
      </p:sp>
      <p:sp>
        <p:nvSpPr>
          <p:cNvPr id="7" name="Rectangle 6">
            <a:extLst>
              <a:ext uri="{FF2B5EF4-FFF2-40B4-BE49-F238E27FC236}">
                <a16:creationId xmlns:a16="http://schemas.microsoft.com/office/drawing/2014/main" id="{ED173626-BF0E-DC66-AF9C-49C4425418EF}"/>
              </a:ext>
            </a:extLst>
          </p:cNvPr>
          <p:cNvSpPr/>
          <p:nvPr/>
        </p:nvSpPr>
        <p:spPr>
          <a:xfrm>
            <a:off x="4771698" y="5495658"/>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2FE75E6-20CA-0C32-444D-F5E72974B166}"/>
              </a:ext>
            </a:extLst>
          </p:cNvPr>
          <p:cNvSpPr/>
          <p:nvPr/>
        </p:nvSpPr>
        <p:spPr>
          <a:xfrm>
            <a:off x="5906814" y="5495653"/>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ACFBA8D-FE38-38D4-9ED4-818152959C8D}"/>
              </a:ext>
            </a:extLst>
          </p:cNvPr>
          <p:cNvSpPr/>
          <p:nvPr/>
        </p:nvSpPr>
        <p:spPr>
          <a:xfrm>
            <a:off x="7049968"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D81B5FB8-3E80-148D-A1CF-7D8097D394FC}"/>
              </a:ext>
            </a:extLst>
          </p:cNvPr>
          <p:cNvSpPr/>
          <p:nvPr/>
        </p:nvSpPr>
        <p:spPr>
          <a:xfrm>
            <a:off x="8195443"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C63AD2B4-D9EF-D3CE-FC20-5695D2C82C8E}"/>
              </a:ext>
            </a:extLst>
          </p:cNvPr>
          <p:cNvSpPr txBox="1"/>
          <p:nvPr/>
        </p:nvSpPr>
        <p:spPr>
          <a:xfrm>
            <a:off x="4267201" y="5987017"/>
            <a:ext cx="373820" cy="369332"/>
          </a:xfrm>
          <a:prstGeom prst="rect">
            <a:avLst/>
          </a:prstGeom>
          <a:noFill/>
        </p:spPr>
        <p:txBody>
          <a:bodyPr wrap="none" rtlCol="0">
            <a:spAutoFit/>
          </a:bodyPr>
          <a:lstStyle/>
          <a:p>
            <a:r>
              <a:rPr lang="en-US" noProof="0" dirty="0"/>
              <a:t>2.</a:t>
            </a:r>
          </a:p>
        </p:txBody>
      </p:sp>
      <p:sp>
        <p:nvSpPr>
          <p:cNvPr id="17" name="Rectangle 16">
            <a:extLst>
              <a:ext uri="{FF2B5EF4-FFF2-40B4-BE49-F238E27FC236}">
                <a16:creationId xmlns:a16="http://schemas.microsoft.com/office/drawing/2014/main" id="{BE996E37-8BAE-6155-A295-145A6CCF4B82}"/>
              </a:ext>
            </a:extLst>
          </p:cNvPr>
          <p:cNvSpPr/>
          <p:nvPr/>
        </p:nvSpPr>
        <p:spPr>
          <a:xfrm>
            <a:off x="4771698" y="5987017"/>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C77AC894-FDFC-15D2-D531-72EF1A4246F3}"/>
              </a:ext>
            </a:extLst>
          </p:cNvPr>
          <p:cNvSpPr/>
          <p:nvPr/>
        </p:nvSpPr>
        <p:spPr>
          <a:xfrm>
            <a:off x="5906814" y="5987012"/>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AAD899D7-8DF9-519A-B48F-0662D93D854D}"/>
              </a:ext>
            </a:extLst>
          </p:cNvPr>
          <p:cNvSpPr/>
          <p:nvPr/>
        </p:nvSpPr>
        <p:spPr>
          <a:xfrm>
            <a:off x="7049968"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1E53DBD4-FED9-7F10-40C8-168760C29B11}"/>
              </a:ext>
            </a:extLst>
          </p:cNvPr>
          <p:cNvSpPr/>
          <p:nvPr/>
        </p:nvSpPr>
        <p:spPr>
          <a:xfrm>
            <a:off x="8195443"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24">
            <a:extLst>
              <a:ext uri="{FF2B5EF4-FFF2-40B4-BE49-F238E27FC236}">
                <a16:creationId xmlns:a16="http://schemas.microsoft.com/office/drawing/2014/main" id="{C071E504-7CC1-B356-FAE6-A5DBFF0C87C7}"/>
              </a:ext>
            </a:extLst>
          </p:cNvPr>
          <p:cNvSpPr/>
          <p:nvPr/>
        </p:nvSpPr>
        <p:spPr>
          <a:xfrm>
            <a:off x="5150070" y="5987016"/>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F6CB748B-0E70-E5A5-F020-DA07D9CB2730}"/>
              </a:ext>
            </a:extLst>
          </p:cNvPr>
          <p:cNvSpPr/>
          <p:nvPr/>
        </p:nvSpPr>
        <p:spPr>
          <a:xfrm>
            <a:off x="6285186" y="5987011"/>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D8CFBA8D-EA0C-ED86-7BBC-6F8DB3D90524}"/>
              </a:ext>
            </a:extLst>
          </p:cNvPr>
          <p:cNvSpPr/>
          <p:nvPr/>
        </p:nvSpPr>
        <p:spPr>
          <a:xfrm>
            <a:off x="7428340"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FFC0ADC7-CBA2-EB31-FD31-8FAB768F3C96}"/>
              </a:ext>
            </a:extLst>
          </p:cNvPr>
          <p:cNvSpPr/>
          <p:nvPr/>
        </p:nvSpPr>
        <p:spPr>
          <a:xfrm>
            <a:off x="8573815"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3" name="Rectangle 32">
            <a:extLst>
              <a:ext uri="{FF2B5EF4-FFF2-40B4-BE49-F238E27FC236}">
                <a16:creationId xmlns:a16="http://schemas.microsoft.com/office/drawing/2014/main" id="{0BB49EF2-834B-00B9-CCAF-6035659289E3}"/>
              </a:ext>
            </a:extLst>
          </p:cNvPr>
          <p:cNvSpPr/>
          <p:nvPr/>
        </p:nvSpPr>
        <p:spPr>
          <a:xfrm>
            <a:off x="5528442" y="5987014"/>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03556D99-5A2D-184E-D039-451132AD5FE0}"/>
              </a:ext>
            </a:extLst>
          </p:cNvPr>
          <p:cNvSpPr/>
          <p:nvPr/>
        </p:nvSpPr>
        <p:spPr>
          <a:xfrm>
            <a:off x="6663558" y="5987009"/>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D658752F-1256-ECD3-4378-261ADA797F54}"/>
              </a:ext>
            </a:extLst>
          </p:cNvPr>
          <p:cNvSpPr/>
          <p:nvPr/>
        </p:nvSpPr>
        <p:spPr>
          <a:xfrm>
            <a:off x="7806712"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4812BFAD-5F87-4E46-3C3B-8B136D168949}"/>
              </a:ext>
            </a:extLst>
          </p:cNvPr>
          <p:cNvSpPr/>
          <p:nvPr/>
        </p:nvSpPr>
        <p:spPr>
          <a:xfrm>
            <a:off x="8952187"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40" name="TextBox 39">
            <a:extLst>
              <a:ext uri="{FF2B5EF4-FFF2-40B4-BE49-F238E27FC236}">
                <a16:creationId xmlns:a16="http://schemas.microsoft.com/office/drawing/2014/main" id="{3B057709-2131-BEA4-A760-B569B0EC1EFB}"/>
              </a:ext>
            </a:extLst>
          </p:cNvPr>
          <p:cNvSpPr txBox="1"/>
          <p:nvPr/>
        </p:nvSpPr>
        <p:spPr>
          <a:xfrm>
            <a:off x="328993" y="1734207"/>
            <a:ext cx="10966465" cy="523220"/>
          </a:xfrm>
          <a:prstGeom prst="rect">
            <a:avLst/>
          </a:prstGeom>
          <a:noFill/>
        </p:spPr>
        <p:txBody>
          <a:bodyPr wrap="none" rtlCol="0">
            <a:spAutoFit/>
          </a:bodyPr>
          <a:lstStyle/>
          <a:p>
            <a:pPr algn="ctr"/>
            <a:r>
              <a:rPr lang="en-US" sz="2800" dirty="0"/>
              <a:t>(context: </a:t>
            </a:r>
            <a:r>
              <a:rPr lang="en-US" sz="2800" dirty="0" err="1"/>
              <a:t>type_vector</a:t>
            </a:r>
            <a:r>
              <a:rPr lang="en-US" sz="2800" dirty="0"/>
              <a:t> uses extent of the underlying type for offset calc.)</a:t>
            </a:r>
          </a:p>
        </p:txBody>
      </p:sp>
      <p:sp>
        <p:nvSpPr>
          <p:cNvPr id="8" name="Right Brace 7">
            <a:extLst>
              <a:ext uri="{FF2B5EF4-FFF2-40B4-BE49-F238E27FC236}">
                <a16:creationId xmlns:a16="http://schemas.microsoft.com/office/drawing/2014/main" id="{A97C4AB7-8F17-4C92-1028-4CC06934D205}"/>
              </a:ext>
            </a:extLst>
          </p:cNvPr>
          <p:cNvSpPr/>
          <p:nvPr/>
        </p:nvSpPr>
        <p:spPr>
          <a:xfrm rot="16200000">
            <a:off x="6611251" y="3528668"/>
            <a:ext cx="104615" cy="38021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A02E8D5-F21B-9668-E4EF-AB0E1DD30169}"/>
              </a:ext>
            </a:extLst>
          </p:cNvPr>
          <p:cNvSpPr txBox="1"/>
          <p:nvPr/>
        </p:nvSpPr>
        <p:spPr>
          <a:xfrm>
            <a:off x="6228375" y="5026152"/>
            <a:ext cx="870367" cy="400110"/>
          </a:xfrm>
          <a:prstGeom prst="rect">
            <a:avLst/>
          </a:prstGeom>
          <a:noFill/>
        </p:spPr>
        <p:txBody>
          <a:bodyPr wrap="none" rtlCol="0" anchor="b">
            <a:spAutoFit/>
          </a:bodyPr>
          <a:lstStyle/>
          <a:p>
            <a:pPr algn="ctr"/>
            <a:r>
              <a:rPr lang="en-US" sz="2000" dirty="0"/>
              <a:t>extent</a:t>
            </a:r>
          </a:p>
        </p:txBody>
      </p:sp>
      <p:sp>
        <p:nvSpPr>
          <p:cNvPr id="14" name="Right Brace 13">
            <a:extLst>
              <a:ext uri="{FF2B5EF4-FFF2-40B4-BE49-F238E27FC236}">
                <a16:creationId xmlns:a16="http://schemas.microsoft.com/office/drawing/2014/main" id="{A67D3EE3-3CE5-18DC-C41F-978BC4DB7EEF}"/>
              </a:ext>
            </a:extLst>
          </p:cNvPr>
          <p:cNvSpPr/>
          <p:nvPr/>
        </p:nvSpPr>
        <p:spPr>
          <a:xfrm rot="5400000">
            <a:off x="5120513" y="6223859"/>
            <a:ext cx="59115" cy="37837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8F4901-DE99-509C-6FD1-48F638F093B4}"/>
              </a:ext>
            </a:extLst>
          </p:cNvPr>
          <p:cNvSpPr txBox="1"/>
          <p:nvPr/>
        </p:nvSpPr>
        <p:spPr>
          <a:xfrm>
            <a:off x="4749560" y="6410087"/>
            <a:ext cx="817853" cy="400110"/>
          </a:xfrm>
          <a:prstGeom prst="rect">
            <a:avLst/>
          </a:prstGeom>
          <a:noFill/>
        </p:spPr>
        <p:txBody>
          <a:bodyPr wrap="none" rtlCol="0" anchor="t">
            <a:spAutoFit/>
          </a:bodyPr>
          <a:lstStyle/>
          <a:p>
            <a:pPr algn="ctr"/>
            <a:r>
              <a:rPr lang="en-US" sz="2000" dirty="0"/>
              <a:t>stride</a:t>
            </a:r>
          </a:p>
        </p:txBody>
      </p:sp>
    </p:spTree>
    <p:extLst>
      <p:ext uri="{BB962C8B-B14F-4D97-AF65-F5344CB8AC3E}">
        <p14:creationId xmlns:p14="http://schemas.microsoft.com/office/powerpoint/2010/main" val="134891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9577-4141-543D-D922-3370CFEB625E}"/>
              </a:ext>
            </a:extLst>
          </p:cNvPr>
          <p:cNvSpPr>
            <a:spLocks noGrp="1"/>
          </p:cNvSpPr>
          <p:nvPr>
            <p:ph type="title"/>
          </p:nvPr>
        </p:nvSpPr>
        <p:spPr/>
        <p:txBody>
          <a:bodyPr/>
          <a:lstStyle/>
          <a:p>
            <a:r>
              <a:rPr lang="en-US" noProof="0" dirty="0"/>
              <a:t>Is Noarr used outside the department?</a:t>
            </a:r>
            <a:br>
              <a:rPr lang="en-US" noProof="0" dirty="0"/>
            </a:br>
            <a:r>
              <a:rPr lang="en-US" noProof="0" dirty="0"/>
              <a:t>If not, why?</a:t>
            </a:r>
          </a:p>
        </p:txBody>
      </p:sp>
      <p:sp>
        <p:nvSpPr>
          <p:cNvPr id="3" name="Content Placeholder 2">
            <a:extLst>
              <a:ext uri="{FF2B5EF4-FFF2-40B4-BE49-F238E27FC236}">
                <a16:creationId xmlns:a16="http://schemas.microsoft.com/office/drawing/2014/main" id="{31E821CD-BE7F-B010-9DB1-510E4FCFFBDE}"/>
              </a:ext>
            </a:extLst>
          </p:cNvPr>
          <p:cNvSpPr>
            <a:spLocks noGrp="1"/>
          </p:cNvSpPr>
          <p:nvPr>
            <p:ph idx="1"/>
          </p:nvPr>
        </p:nvSpPr>
        <p:spPr/>
        <p:txBody>
          <a:bodyPr anchor="ctr"/>
          <a:lstStyle/>
          <a:p>
            <a:r>
              <a:rPr lang="en-US" noProof="0" dirty="0"/>
              <a:t>Some little use</a:t>
            </a:r>
          </a:p>
          <a:p>
            <a:pPr lvl="1"/>
            <a:r>
              <a:rPr lang="en-US" noProof="0" dirty="0"/>
              <a:t>Adam </a:t>
            </a:r>
            <a:r>
              <a:rPr lang="en-US" noProof="0" dirty="0" err="1"/>
              <a:t>Šmelko</a:t>
            </a:r>
            <a:r>
              <a:rPr lang="en-US" noProof="0" dirty="0"/>
              <a:t> (past member of the department)</a:t>
            </a:r>
          </a:p>
          <a:p>
            <a:pPr lvl="1"/>
            <a:r>
              <a:rPr lang="en-US" noProof="0" dirty="0"/>
              <a:t>Marek </a:t>
            </a:r>
            <a:r>
              <a:rPr lang="en-US" noProof="0" dirty="0" err="1"/>
              <a:t>Čupr</a:t>
            </a:r>
            <a:r>
              <a:rPr lang="en-US" noProof="0" dirty="0"/>
              <a:t> (BUT student)</a:t>
            </a:r>
          </a:p>
          <a:p>
            <a:r>
              <a:rPr lang="en-US" noProof="0" dirty="0"/>
              <a:t>Noarr is mostly an experimental tool</a:t>
            </a:r>
          </a:p>
          <a:p>
            <a:r>
              <a:rPr lang="en-US" noProof="0" dirty="0"/>
              <a:t>Development tied to research</a:t>
            </a:r>
          </a:p>
          <a:p>
            <a:endParaRPr lang="en-US" noProof="0" dirty="0"/>
          </a:p>
        </p:txBody>
      </p:sp>
      <p:sp>
        <p:nvSpPr>
          <p:cNvPr id="4" name="Date Placeholder 3">
            <a:extLst>
              <a:ext uri="{FF2B5EF4-FFF2-40B4-BE49-F238E27FC236}">
                <a16:creationId xmlns:a16="http://schemas.microsoft.com/office/drawing/2014/main" id="{24530F84-F1D1-A8AF-C539-37F86DA2DC81}"/>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02BCFBEF-2181-071A-E2A2-850955C7B133}"/>
              </a:ext>
            </a:extLst>
          </p:cNvPr>
          <p:cNvSpPr>
            <a:spLocks noGrp="1"/>
          </p:cNvSpPr>
          <p:nvPr>
            <p:ph type="sldNum" sz="quarter" idx="12"/>
          </p:nvPr>
        </p:nvSpPr>
        <p:spPr/>
        <p:txBody>
          <a:bodyPr/>
          <a:lstStyle/>
          <a:p>
            <a:fld id="{DA0BB241-1B5F-4309-9407-9EEA04D9598D}" type="slidenum">
              <a:rPr lang="en-US" noProof="0" smtClean="0"/>
              <a:t>37</a:t>
            </a:fld>
            <a:endParaRPr lang="en-US" noProof="0" dirty="0"/>
          </a:p>
        </p:txBody>
      </p:sp>
    </p:spTree>
    <p:extLst>
      <p:ext uri="{BB962C8B-B14F-4D97-AF65-F5344CB8AC3E}">
        <p14:creationId xmlns:p14="http://schemas.microsoft.com/office/powerpoint/2010/main" val="1750738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3DB4-56B7-B5F6-DADB-224E92331A19}"/>
              </a:ext>
            </a:extLst>
          </p:cNvPr>
          <p:cNvSpPr>
            <a:spLocks noGrp="1"/>
          </p:cNvSpPr>
          <p:nvPr>
            <p:ph type="title"/>
          </p:nvPr>
        </p:nvSpPr>
        <p:spPr/>
        <p:txBody>
          <a:bodyPr>
            <a:normAutofit/>
          </a:bodyPr>
          <a:lstStyle/>
          <a:p>
            <a:r>
              <a:rPr lang="en-US" noProof="0" dirty="0"/>
              <a:t>Can Noarr naturally incorporate</a:t>
            </a:r>
            <a:br>
              <a:rPr lang="en-US" noProof="0" dirty="0"/>
            </a:br>
            <a:r>
              <a:rPr lang="en-US" noProof="0" dirty="0"/>
              <a:t>#pragma </a:t>
            </a:r>
            <a:r>
              <a:rPr lang="en-US" noProof="0" dirty="0" err="1"/>
              <a:t>omp</a:t>
            </a:r>
            <a:r>
              <a:rPr lang="en-US" noProof="0" dirty="0"/>
              <a:t> </a:t>
            </a:r>
            <a:r>
              <a:rPr lang="en-US" noProof="0" dirty="0" err="1"/>
              <a:t>simd</a:t>
            </a:r>
            <a:r>
              <a:rPr lang="en-US" noProof="0" dirty="0"/>
              <a:t> or SIMD-aware traversers</a:t>
            </a:r>
          </a:p>
        </p:txBody>
      </p:sp>
      <p:sp>
        <p:nvSpPr>
          <p:cNvPr id="3" name="Content Placeholder 2">
            <a:extLst>
              <a:ext uri="{FF2B5EF4-FFF2-40B4-BE49-F238E27FC236}">
                <a16:creationId xmlns:a16="http://schemas.microsoft.com/office/drawing/2014/main" id="{BC42B871-DAA1-BBF1-B375-5D0537118BC2}"/>
              </a:ext>
            </a:extLst>
          </p:cNvPr>
          <p:cNvSpPr>
            <a:spLocks noGrp="1"/>
          </p:cNvSpPr>
          <p:nvPr>
            <p:ph idx="1"/>
          </p:nvPr>
        </p:nvSpPr>
        <p:spPr/>
        <p:txBody>
          <a:bodyPr anchor="ctr"/>
          <a:lstStyle/>
          <a:p>
            <a:r>
              <a:rPr lang="en-US" noProof="0" dirty="0"/>
              <a:t>OpenMP SIMD explicitly rejects class-based iteration (e.g., range-based for)</a:t>
            </a:r>
          </a:p>
          <a:p>
            <a:pPr lvl="1"/>
            <a:r>
              <a:rPr lang="en-US" noProof="0" dirty="0">
                <a:latin typeface="Fira Code" panose="020B0809050000020004" pitchFamily="49" charset="0"/>
                <a:ea typeface="Fira Code" panose="020B0809050000020004" pitchFamily="49" charset="0"/>
                <a:cs typeface="Fira Code" panose="020B0809050000020004" pitchFamily="49" charset="0"/>
              </a:rPr>
              <a:t>#pragma </a:t>
            </a:r>
            <a:r>
              <a:rPr lang="en-US" noProof="0" dirty="0" err="1">
                <a:latin typeface="Fira Code" panose="020B0809050000020004" pitchFamily="49" charset="0"/>
                <a:ea typeface="Fira Code" panose="020B0809050000020004" pitchFamily="49" charset="0"/>
                <a:cs typeface="Fira Code" panose="020B0809050000020004" pitchFamily="49" charset="0"/>
              </a:rPr>
              <a:t>omp</a:t>
            </a:r>
            <a:r>
              <a:rPr lang="en-US"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err="1">
                <a:latin typeface="Fira Code" panose="020B0809050000020004" pitchFamily="49" charset="0"/>
                <a:ea typeface="Fira Code" panose="020B0809050000020004" pitchFamily="49" charset="0"/>
                <a:cs typeface="Fira Code" panose="020B0809050000020004" pitchFamily="49" charset="0"/>
              </a:rPr>
              <a:t>simd</a:t>
            </a:r>
            <a:r>
              <a:rPr lang="en-US" noProof="0" dirty="0"/>
              <a:t> specifically may be in explicit SIMD-enabled for_each</a:t>
            </a:r>
          </a:p>
          <a:p>
            <a:pPr marL="914400" lvl="2" indent="0">
              <a:buNone/>
            </a:pPr>
            <a:r>
              <a:rPr lang="en-US" dirty="0" err="1">
                <a:solidFill>
                  <a:srgbClr val="001080"/>
                </a:solidFill>
                <a:latin typeface="Fira Code" panose="020B0809050000020004" pitchFamily="49" charset="0"/>
              </a:rPr>
              <a:t>traverser</a:t>
            </a:r>
            <a:r>
              <a:rPr lang="en-US" dirty="0" err="1">
                <a:latin typeface="Fira Code" panose="020B0809050000020004" pitchFamily="49" charset="0"/>
                <a:ea typeface="Fira Code" panose="020B0809050000020004" pitchFamily="49" charset="0"/>
                <a:cs typeface="Fira Code" panose="020B0809050000020004" pitchFamily="49" charset="0"/>
              </a:rPr>
              <a:t>.</a:t>
            </a:r>
            <a:r>
              <a:rPr lang="en-US" dirty="0" err="1">
                <a:solidFill>
                  <a:srgbClr val="795E26"/>
                </a:solidFill>
                <a:latin typeface="Fira Code" panose="020B0809050000020004" pitchFamily="49" charset="0"/>
                <a:ea typeface="Fira Code" panose="020B0809050000020004" pitchFamily="49" charset="0"/>
                <a:cs typeface="Fira Code" panose="020B0809050000020004" pitchFamily="49" charset="0"/>
              </a:rPr>
              <a:t>omp_simd_for_each</a:t>
            </a:r>
            <a:r>
              <a:rPr lang="en-US" noProof="0" dirty="0">
                <a:latin typeface="Fira Code" panose="020B0809050000020004" pitchFamily="49" charset="0"/>
                <a:ea typeface="Fira Code" panose="020B0809050000020004" pitchFamily="49" charset="0"/>
                <a:cs typeface="Fira Code" panose="020B0809050000020004" pitchFamily="49" charset="0"/>
              </a:rPr>
              <a:t>(…)</a:t>
            </a:r>
          </a:p>
          <a:p>
            <a:r>
              <a:rPr lang="en-US" noProof="0" dirty="0"/>
              <a:t>More extensive OpenMP pragma support challenging</a:t>
            </a:r>
          </a:p>
          <a:p>
            <a:r>
              <a:rPr lang="en-US" noProof="0" dirty="0"/>
              <a:t>Future SIMD-aware traversers</a:t>
            </a:r>
          </a:p>
          <a:p>
            <a:pPr lvl="1"/>
            <a:r>
              <a:rPr lang="en-US" noProof="0" dirty="0"/>
              <a:t>Possible with computation-aware abstractions</a:t>
            </a:r>
          </a:p>
          <a:p>
            <a:pPr lvl="1"/>
            <a:r>
              <a:rPr lang="en-US" noProof="0" dirty="0"/>
              <a:t>Noarr already implements “planners” </a:t>
            </a:r>
            <a:r>
              <a:rPr lang="en-US" noProof="0" dirty="0">
                <a:sym typeface="Wingdings" panose="05000000000000000000" pitchFamily="2" charset="2"/>
              </a:rPr>
              <a:t> traversers that store the computation and enable more expressive transformations</a:t>
            </a:r>
            <a:endParaRPr lang="en-US" noProof="0" dirty="0"/>
          </a:p>
        </p:txBody>
      </p:sp>
      <p:sp>
        <p:nvSpPr>
          <p:cNvPr id="4" name="Date Placeholder 3">
            <a:extLst>
              <a:ext uri="{FF2B5EF4-FFF2-40B4-BE49-F238E27FC236}">
                <a16:creationId xmlns:a16="http://schemas.microsoft.com/office/drawing/2014/main" id="{1892527F-86FC-931B-BB6D-A846949E1C75}"/>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8311E580-80EB-54AE-90EB-F7D45DA0B45E}"/>
              </a:ext>
            </a:extLst>
          </p:cNvPr>
          <p:cNvSpPr>
            <a:spLocks noGrp="1"/>
          </p:cNvSpPr>
          <p:nvPr>
            <p:ph type="sldNum" sz="quarter" idx="12"/>
          </p:nvPr>
        </p:nvSpPr>
        <p:spPr/>
        <p:txBody>
          <a:bodyPr/>
          <a:lstStyle/>
          <a:p>
            <a:fld id="{DA0BB241-1B5F-4309-9407-9EEA04D9598D}" type="slidenum">
              <a:rPr lang="en-US" noProof="0" smtClean="0"/>
              <a:t>38</a:t>
            </a:fld>
            <a:endParaRPr lang="en-US" noProof="0" dirty="0"/>
          </a:p>
        </p:txBody>
      </p:sp>
    </p:spTree>
    <p:extLst>
      <p:ext uri="{BB962C8B-B14F-4D97-AF65-F5344CB8AC3E}">
        <p14:creationId xmlns:p14="http://schemas.microsoft.com/office/powerpoint/2010/main" val="2029581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DEE5-750D-2E34-780B-7B30703452C0}"/>
              </a:ext>
            </a:extLst>
          </p:cNvPr>
          <p:cNvSpPr>
            <a:spLocks noGrp="1"/>
          </p:cNvSpPr>
          <p:nvPr>
            <p:ph type="title"/>
          </p:nvPr>
        </p:nvSpPr>
        <p:spPr/>
        <p:txBody>
          <a:bodyPr/>
          <a:lstStyle/>
          <a:p>
            <a:r>
              <a:rPr lang="en-US" noProof="0" dirty="0"/>
              <a:t>Novelty in layout- and traversal-agnosticism</a:t>
            </a:r>
          </a:p>
        </p:txBody>
      </p:sp>
      <p:sp>
        <p:nvSpPr>
          <p:cNvPr id="3" name="Content Placeholder 2">
            <a:extLst>
              <a:ext uri="{FF2B5EF4-FFF2-40B4-BE49-F238E27FC236}">
                <a16:creationId xmlns:a16="http://schemas.microsoft.com/office/drawing/2014/main" id="{7A4C7CE7-A5CF-9AB9-4808-73A235F6B8CE}"/>
              </a:ext>
            </a:extLst>
          </p:cNvPr>
          <p:cNvSpPr>
            <a:spLocks noGrp="1"/>
          </p:cNvSpPr>
          <p:nvPr>
            <p:ph idx="1"/>
          </p:nvPr>
        </p:nvSpPr>
        <p:spPr/>
        <p:txBody>
          <a:bodyPr anchor="ctr"/>
          <a:lstStyle/>
          <a:p>
            <a:r>
              <a:rPr lang="en-US" noProof="0" dirty="0"/>
              <a:t>We do not claim to invent these two concepts as new paradigms</a:t>
            </a:r>
          </a:p>
          <a:p>
            <a:pPr lvl="1"/>
            <a:r>
              <a:rPr lang="en-US" noProof="0" dirty="0"/>
              <a:t>The thesis explicitly studies the two concepts</a:t>
            </a:r>
          </a:p>
          <a:p>
            <a:pPr lvl="2"/>
            <a:r>
              <a:rPr lang="en-US" noProof="0" dirty="0"/>
              <a:t>introducing them as two identified underexplored principles</a:t>
            </a:r>
          </a:p>
          <a:p>
            <a:r>
              <a:rPr lang="en-US" noProof="0" dirty="0"/>
              <a:t>Main novelty</a:t>
            </a:r>
          </a:p>
          <a:p>
            <a:pPr lvl="1"/>
            <a:r>
              <a:rPr lang="en-US" noProof="0" dirty="0"/>
              <a:t>Unified approach for layout &amp; traversal-agnostic algorithm design</a:t>
            </a:r>
          </a:p>
          <a:p>
            <a:pPr lvl="1"/>
            <a:r>
              <a:rPr lang="en-US" noProof="0" dirty="0"/>
              <a:t>Named dimensions and compositional approach</a:t>
            </a:r>
          </a:p>
          <a:p>
            <a:pPr lvl="1"/>
            <a:r>
              <a:rPr lang="en-US" noProof="0" dirty="0"/>
              <a:t>Abstracting evaluation strategy and encoding for Cellular Automata</a:t>
            </a:r>
          </a:p>
        </p:txBody>
      </p:sp>
      <p:sp>
        <p:nvSpPr>
          <p:cNvPr id="4" name="Date Placeholder 3">
            <a:extLst>
              <a:ext uri="{FF2B5EF4-FFF2-40B4-BE49-F238E27FC236}">
                <a16:creationId xmlns:a16="http://schemas.microsoft.com/office/drawing/2014/main" id="{948C54E1-6E6D-2E32-65E2-74ED092C4452}"/>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4F0AAC9A-8584-05EF-C97F-9A8A4DE36F9D}"/>
              </a:ext>
            </a:extLst>
          </p:cNvPr>
          <p:cNvSpPr>
            <a:spLocks noGrp="1"/>
          </p:cNvSpPr>
          <p:nvPr>
            <p:ph type="sldNum" sz="quarter" idx="12"/>
          </p:nvPr>
        </p:nvSpPr>
        <p:spPr/>
        <p:txBody>
          <a:bodyPr/>
          <a:lstStyle/>
          <a:p>
            <a:fld id="{DA0BB241-1B5F-4309-9407-9EEA04D9598D}" type="slidenum">
              <a:rPr lang="en-US" noProof="0" smtClean="0"/>
              <a:t>39</a:t>
            </a:fld>
            <a:endParaRPr lang="en-US" noProof="0" dirty="0"/>
          </a:p>
        </p:txBody>
      </p:sp>
    </p:spTree>
    <p:extLst>
      <p:ext uri="{BB962C8B-B14F-4D97-AF65-F5344CB8AC3E}">
        <p14:creationId xmlns:p14="http://schemas.microsoft.com/office/powerpoint/2010/main" val="1756571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B94CF-19F9-112D-5812-9019906C4F6E}"/>
              </a:ext>
            </a:extLst>
          </p:cNvPr>
          <p:cNvSpPr>
            <a:spLocks noGrp="1"/>
          </p:cNvSpPr>
          <p:nvPr>
            <p:ph type="title"/>
          </p:nvPr>
        </p:nvSpPr>
        <p:spPr/>
        <p:txBody>
          <a:bodyPr>
            <a:normAutofit/>
          </a:bodyPr>
          <a:lstStyle/>
          <a:p>
            <a:r>
              <a:rPr lang="en-US" noProof="0" dirty="0"/>
              <a:t>Which of these ideas can be found in software like Kokkos or OpenMP's loop transformations?</a:t>
            </a:r>
          </a:p>
        </p:txBody>
      </p:sp>
      <p:sp>
        <p:nvSpPr>
          <p:cNvPr id="3" name="Content Placeholder 2">
            <a:extLst>
              <a:ext uri="{FF2B5EF4-FFF2-40B4-BE49-F238E27FC236}">
                <a16:creationId xmlns:a16="http://schemas.microsoft.com/office/drawing/2014/main" id="{5E30BABB-A5A5-A95D-8DB1-6B93F86A91B6}"/>
              </a:ext>
            </a:extLst>
          </p:cNvPr>
          <p:cNvSpPr>
            <a:spLocks noGrp="1"/>
          </p:cNvSpPr>
          <p:nvPr>
            <p:ph idx="1"/>
          </p:nvPr>
        </p:nvSpPr>
        <p:spPr/>
        <p:txBody>
          <a:bodyPr>
            <a:noAutofit/>
          </a:bodyPr>
          <a:lstStyle/>
          <a:p>
            <a:pPr marL="0" indent="0">
              <a:buNone/>
            </a:pPr>
            <a:r>
              <a:rPr lang="en-US" noProof="0" dirty="0"/>
              <a:t>(reaction to layout- and traversal-agnostic design)</a:t>
            </a:r>
          </a:p>
          <a:p>
            <a:endParaRPr lang="en-US" noProof="0" dirty="0"/>
          </a:p>
          <a:p>
            <a:r>
              <a:rPr lang="en-US" noProof="0" dirty="0"/>
              <a:t>Kokkos Views (and </a:t>
            </a:r>
            <a:r>
              <a:rPr lang="en-US" noProof="0" dirty="0" err="1"/>
              <a:t>mdspans</a:t>
            </a:r>
            <a:r>
              <a:rPr lang="en-US" noProof="0" dirty="0"/>
              <a:t>) abstract physical memory layout</a:t>
            </a:r>
          </a:p>
          <a:p>
            <a:pPr lvl="1"/>
            <a:r>
              <a:rPr lang="en-US" noProof="0" dirty="0"/>
              <a:t>Limited to multidimensional arrays</a:t>
            </a:r>
          </a:p>
          <a:p>
            <a:pPr lvl="1"/>
            <a:r>
              <a:rPr lang="en-US" noProof="0" dirty="0"/>
              <a:t>Mostly focus row-major vs column-major (and custom strides)</a:t>
            </a:r>
          </a:p>
          <a:p>
            <a:pPr lvl="1"/>
            <a:r>
              <a:rPr lang="en-US" noProof="0" dirty="0" err="1"/>
              <a:t>Subviews</a:t>
            </a:r>
            <a:endParaRPr lang="en-US" noProof="0" dirty="0"/>
          </a:p>
          <a:p>
            <a:pPr lvl="1"/>
            <a:r>
              <a:rPr lang="en-US" noProof="0" dirty="0">
                <a:sym typeface="Wingdings" panose="05000000000000000000" pitchFamily="2" charset="2"/>
              </a:rPr>
              <a:t>CuTe supports more general layout algebra</a:t>
            </a:r>
          </a:p>
          <a:p>
            <a:r>
              <a:rPr lang="en-US" noProof="0" dirty="0">
                <a:sym typeface="Wingdings" panose="05000000000000000000" pitchFamily="2" charset="2"/>
              </a:rPr>
              <a:t>OpenMP (6.0)  some powerful loop transformation directives</a:t>
            </a:r>
          </a:p>
          <a:p>
            <a:pPr lvl="1"/>
            <a:r>
              <a:rPr lang="en-US" noProof="0" dirty="0"/>
              <a:t>Not exactly traversal-agnostic design; good alternative in many use cases</a:t>
            </a:r>
          </a:p>
        </p:txBody>
      </p:sp>
      <p:sp>
        <p:nvSpPr>
          <p:cNvPr id="4" name="Date Placeholder 3">
            <a:extLst>
              <a:ext uri="{FF2B5EF4-FFF2-40B4-BE49-F238E27FC236}">
                <a16:creationId xmlns:a16="http://schemas.microsoft.com/office/drawing/2014/main" id="{1D30CB14-538F-D9BD-31BC-4BF79D148A24}"/>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6CB55591-70A5-4366-E73A-F1A5B371B2E3}"/>
              </a:ext>
            </a:extLst>
          </p:cNvPr>
          <p:cNvSpPr>
            <a:spLocks noGrp="1"/>
          </p:cNvSpPr>
          <p:nvPr>
            <p:ph type="sldNum" sz="quarter" idx="12"/>
          </p:nvPr>
        </p:nvSpPr>
        <p:spPr/>
        <p:txBody>
          <a:bodyPr/>
          <a:lstStyle/>
          <a:p>
            <a:fld id="{DA0BB241-1B5F-4309-9407-9EEA04D9598D}" type="slidenum">
              <a:rPr lang="en-US" noProof="0" smtClean="0"/>
              <a:t>40</a:t>
            </a:fld>
            <a:endParaRPr lang="en-US" noProof="0" dirty="0"/>
          </a:p>
        </p:txBody>
      </p:sp>
    </p:spTree>
    <p:extLst>
      <p:ext uri="{BB962C8B-B14F-4D97-AF65-F5344CB8AC3E}">
        <p14:creationId xmlns:p14="http://schemas.microsoft.com/office/powerpoint/2010/main" val="390188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6747-FA1D-0A89-B23F-652400CDBDA3}"/>
              </a:ext>
            </a:extLst>
          </p:cNvPr>
          <p:cNvSpPr>
            <a:spLocks noGrp="1"/>
          </p:cNvSpPr>
          <p:nvPr>
            <p:ph type="title"/>
          </p:nvPr>
        </p:nvSpPr>
        <p:spPr/>
        <p:txBody>
          <a:bodyPr/>
          <a:lstStyle/>
          <a:p>
            <a:r>
              <a:rPr lang="en-US" dirty="0"/>
              <a:t>State of the art summary and our novelty</a:t>
            </a:r>
          </a:p>
        </p:txBody>
      </p:sp>
      <p:sp>
        <p:nvSpPr>
          <p:cNvPr id="3" name="Content Placeholder 2">
            <a:extLst>
              <a:ext uri="{FF2B5EF4-FFF2-40B4-BE49-F238E27FC236}">
                <a16:creationId xmlns:a16="http://schemas.microsoft.com/office/drawing/2014/main" id="{8AC28D19-3293-E69A-8D0A-95CD64D09AD4}"/>
              </a:ext>
            </a:extLst>
          </p:cNvPr>
          <p:cNvSpPr>
            <a:spLocks noGrp="1"/>
          </p:cNvSpPr>
          <p:nvPr>
            <p:ph idx="1"/>
          </p:nvPr>
        </p:nvSpPr>
        <p:spPr/>
        <p:txBody>
          <a:bodyPr/>
          <a:lstStyle/>
          <a:p>
            <a:r>
              <a:rPr lang="en-US" dirty="0"/>
              <a:t>Layout abstractions</a:t>
            </a:r>
          </a:p>
          <a:p>
            <a:pPr lvl="1"/>
            <a:r>
              <a:rPr lang="en-US" dirty="0"/>
              <a:t>Kokkos Views for general use, </a:t>
            </a:r>
            <a:r>
              <a:rPr lang="en-US" dirty="0" err="1"/>
              <a:t>GridTools</a:t>
            </a:r>
            <a:r>
              <a:rPr lang="en-US" dirty="0"/>
              <a:t> for stencils</a:t>
            </a:r>
          </a:p>
          <a:p>
            <a:pPr lvl="1"/>
            <a:r>
              <a:rPr lang="en-US" dirty="0"/>
              <a:t>Both target CPU &amp; GPU</a:t>
            </a:r>
          </a:p>
          <a:p>
            <a:pPr lvl="1"/>
            <a:r>
              <a:rPr lang="en-US" dirty="0"/>
              <a:t>Both implement facilities for automatic parallelization, tiling (, halo exchange)</a:t>
            </a:r>
          </a:p>
          <a:p>
            <a:r>
              <a:rPr lang="en-US" dirty="0"/>
              <a:t>Alternative layout and traversal transformation, parallelization</a:t>
            </a:r>
          </a:p>
          <a:p>
            <a:pPr lvl="1"/>
            <a:r>
              <a:rPr lang="en-US" dirty="0"/>
              <a:t>Algorithm + schedule model: Halide, Tiramisu, Exo, OpenMP, …</a:t>
            </a:r>
          </a:p>
          <a:p>
            <a:pPr lvl="2"/>
            <a:r>
              <a:rPr lang="en-US" dirty="0"/>
              <a:t>Tools/frameworks that rely on (custom) compilation pipelines</a:t>
            </a:r>
          </a:p>
          <a:p>
            <a:pPr lvl="1"/>
            <a:r>
              <a:rPr lang="en-US" dirty="0"/>
              <a:t>Policy-based execution model: Kokkos, standard C++ algorithms</a:t>
            </a:r>
          </a:p>
          <a:p>
            <a:r>
              <a:rPr lang="en-US" dirty="0"/>
              <a:t>Novelty</a:t>
            </a:r>
          </a:p>
          <a:p>
            <a:pPr lvl="1"/>
            <a:r>
              <a:rPr lang="en-US" dirty="0"/>
              <a:t>Native C++ compositional approach with named dimensions (Noarr)</a:t>
            </a:r>
          </a:p>
          <a:p>
            <a:pPr lvl="1"/>
            <a:r>
              <a:rPr lang="en-US" dirty="0"/>
              <a:t>Sub-byte encoding and bitwise evaluation strategies (Cellato)</a:t>
            </a:r>
          </a:p>
        </p:txBody>
      </p:sp>
      <p:sp>
        <p:nvSpPr>
          <p:cNvPr id="4" name="Date Placeholder 3">
            <a:extLst>
              <a:ext uri="{FF2B5EF4-FFF2-40B4-BE49-F238E27FC236}">
                <a16:creationId xmlns:a16="http://schemas.microsoft.com/office/drawing/2014/main" id="{5C5A991F-3D47-EA5C-A204-1DEF76D41D0A}"/>
              </a:ext>
            </a:extLst>
          </p:cNvPr>
          <p:cNvSpPr>
            <a:spLocks noGrp="1"/>
          </p:cNvSpPr>
          <p:nvPr>
            <p:ph type="dt" sz="half" idx="10"/>
          </p:nvPr>
        </p:nvSpPr>
        <p:spPr/>
        <p:txBody>
          <a:bodyPr/>
          <a:lstStyle/>
          <a:p>
            <a:fld id="{358C28A6-2969-482E-9A3B-5E13FCD8DD03}" type="datetime1">
              <a:rPr lang="en-US" smtClean="0"/>
              <a:t>9/5/2026</a:t>
            </a:fld>
            <a:endParaRPr lang="en-US"/>
          </a:p>
        </p:txBody>
      </p:sp>
      <p:sp>
        <p:nvSpPr>
          <p:cNvPr id="5" name="Slide Number Placeholder 4">
            <a:extLst>
              <a:ext uri="{FF2B5EF4-FFF2-40B4-BE49-F238E27FC236}">
                <a16:creationId xmlns:a16="http://schemas.microsoft.com/office/drawing/2014/main" id="{38353882-5ADB-9DD8-85F7-D28B47129FA0}"/>
              </a:ext>
            </a:extLst>
          </p:cNvPr>
          <p:cNvSpPr>
            <a:spLocks noGrp="1"/>
          </p:cNvSpPr>
          <p:nvPr>
            <p:ph type="sldNum" sz="quarter" idx="12"/>
          </p:nvPr>
        </p:nvSpPr>
        <p:spPr/>
        <p:txBody>
          <a:bodyPr/>
          <a:lstStyle/>
          <a:p>
            <a:fld id="{DA0BB241-1B5F-4309-9407-9EEA04D9598D}" type="slidenum">
              <a:rPr lang="en-US" smtClean="0"/>
              <a:t>41</a:t>
            </a:fld>
            <a:endParaRPr lang="en-US"/>
          </a:p>
        </p:txBody>
      </p:sp>
    </p:spTree>
    <p:extLst>
      <p:ext uri="{BB962C8B-B14F-4D97-AF65-F5344CB8AC3E}">
        <p14:creationId xmlns:p14="http://schemas.microsoft.com/office/powerpoint/2010/main" val="3395290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5C75-72D4-F8D1-AAB2-87E7B5F2197D}"/>
              </a:ext>
            </a:extLst>
          </p:cNvPr>
          <p:cNvSpPr>
            <a:spLocks noGrp="1"/>
          </p:cNvSpPr>
          <p:nvPr>
            <p:ph type="title"/>
          </p:nvPr>
        </p:nvSpPr>
        <p:spPr/>
        <p:txBody>
          <a:bodyPr/>
          <a:lstStyle/>
          <a:p>
            <a:r>
              <a:rPr lang="en-US" noProof="0" dirty="0"/>
              <a:t>Comparison table</a:t>
            </a:r>
          </a:p>
        </p:txBody>
      </p:sp>
      <p:sp>
        <p:nvSpPr>
          <p:cNvPr id="4" name="Date Placeholder 3">
            <a:extLst>
              <a:ext uri="{FF2B5EF4-FFF2-40B4-BE49-F238E27FC236}">
                <a16:creationId xmlns:a16="http://schemas.microsoft.com/office/drawing/2014/main" id="{AC63D3EB-3E46-0420-084C-0ABC25889B18}"/>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69B0E3B4-2FE9-EF9E-DBB8-AFE3DD090B8B}"/>
              </a:ext>
            </a:extLst>
          </p:cNvPr>
          <p:cNvSpPr>
            <a:spLocks noGrp="1"/>
          </p:cNvSpPr>
          <p:nvPr>
            <p:ph type="sldNum" sz="quarter" idx="12"/>
          </p:nvPr>
        </p:nvSpPr>
        <p:spPr/>
        <p:txBody>
          <a:bodyPr/>
          <a:lstStyle/>
          <a:p>
            <a:fld id="{DA0BB241-1B5F-4309-9407-9EEA04D9598D}" type="slidenum">
              <a:rPr lang="en-US" noProof="0" smtClean="0"/>
              <a:t>42</a:t>
            </a:fld>
            <a:endParaRPr lang="en-US" noProof="0" dirty="0"/>
          </a:p>
        </p:txBody>
      </p:sp>
      <p:pic>
        <p:nvPicPr>
          <p:cNvPr id="7" name="Picture 6">
            <a:extLst>
              <a:ext uri="{FF2B5EF4-FFF2-40B4-BE49-F238E27FC236}">
                <a16:creationId xmlns:a16="http://schemas.microsoft.com/office/drawing/2014/main" id="{1C400F22-D6D2-9A75-14E4-C50B839EF947}"/>
              </a:ext>
            </a:extLst>
          </p:cNvPr>
          <p:cNvPicPr>
            <a:picLocks noChangeAspect="1"/>
          </p:cNvPicPr>
          <p:nvPr/>
        </p:nvPicPr>
        <p:blipFill>
          <a:blip r:embed="rId2"/>
          <a:stretch>
            <a:fillRect/>
          </a:stretch>
        </p:blipFill>
        <p:spPr>
          <a:xfrm>
            <a:off x="0" y="1529444"/>
            <a:ext cx="12192000" cy="3799111"/>
          </a:xfrm>
          <a:prstGeom prst="rect">
            <a:avLst/>
          </a:prstGeom>
        </p:spPr>
      </p:pic>
    </p:spTree>
    <p:extLst>
      <p:ext uri="{BB962C8B-B14F-4D97-AF65-F5344CB8AC3E}">
        <p14:creationId xmlns:p14="http://schemas.microsoft.com/office/powerpoint/2010/main" val="1413752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8C31-21B3-4C00-B5D8-7F093ABFEC3C}"/>
              </a:ext>
            </a:extLst>
          </p:cNvPr>
          <p:cNvSpPr>
            <a:spLocks noGrp="1"/>
          </p:cNvSpPr>
          <p:nvPr>
            <p:ph type="title"/>
          </p:nvPr>
        </p:nvSpPr>
        <p:spPr/>
        <p:txBody>
          <a:bodyPr/>
          <a:lstStyle/>
          <a:p>
            <a:r>
              <a:rPr lang="en-US" dirty="0"/>
              <a:t>Genuine limitations of Noarr and Cellato</a:t>
            </a:r>
          </a:p>
        </p:txBody>
      </p:sp>
      <p:sp>
        <p:nvSpPr>
          <p:cNvPr id="5" name="Content Placeholder 4">
            <a:extLst>
              <a:ext uri="{FF2B5EF4-FFF2-40B4-BE49-F238E27FC236}">
                <a16:creationId xmlns:a16="http://schemas.microsoft.com/office/drawing/2014/main" id="{8A184959-C556-48E5-BDD9-ED0CC2A4736A}"/>
              </a:ext>
            </a:extLst>
          </p:cNvPr>
          <p:cNvSpPr>
            <a:spLocks noGrp="1"/>
          </p:cNvSpPr>
          <p:nvPr>
            <p:ph idx="1"/>
          </p:nvPr>
        </p:nvSpPr>
        <p:spPr/>
        <p:txBody>
          <a:bodyPr anchor="ctr"/>
          <a:lstStyle/>
          <a:p>
            <a:r>
              <a:rPr lang="en-US" dirty="0"/>
              <a:t>Not paired with formal verification</a:t>
            </a:r>
          </a:p>
          <a:p>
            <a:r>
              <a:rPr lang="en-US" dirty="0"/>
              <a:t>Compilation time overhead</a:t>
            </a:r>
          </a:p>
          <a:p>
            <a:r>
              <a:rPr lang="en-US" dirty="0"/>
              <a:t>Template metaprogramming imposes some limitations</a:t>
            </a:r>
          </a:p>
          <a:p>
            <a:pPr lvl="1"/>
            <a:r>
              <a:rPr lang="en-US" dirty="0"/>
              <a:t>The syntax of the resulting DSLs may be awkward</a:t>
            </a:r>
          </a:p>
          <a:p>
            <a:pPr lvl="1"/>
            <a:r>
              <a:rPr lang="en-US" dirty="0"/>
              <a:t>Makes online tuning more costly compared to alternatives such as </a:t>
            </a:r>
            <a:r>
              <a:rPr lang="en-US" dirty="0" err="1"/>
              <a:t>mdspans</a:t>
            </a:r>
            <a:r>
              <a:rPr lang="en-US" dirty="0"/>
              <a:t> or Kokkos Views (recompilation)</a:t>
            </a:r>
          </a:p>
          <a:p>
            <a:r>
              <a:rPr lang="en-US" dirty="0"/>
              <a:t>Usability not supported by user studies</a:t>
            </a:r>
          </a:p>
        </p:txBody>
      </p:sp>
      <p:sp>
        <p:nvSpPr>
          <p:cNvPr id="3" name="Date Placeholder 2">
            <a:extLst>
              <a:ext uri="{FF2B5EF4-FFF2-40B4-BE49-F238E27FC236}">
                <a16:creationId xmlns:a16="http://schemas.microsoft.com/office/drawing/2014/main" id="{D76BAA40-3587-0EAB-97D0-C6C555DE4F28}"/>
              </a:ext>
            </a:extLst>
          </p:cNvPr>
          <p:cNvSpPr>
            <a:spLocks noGrp="1"/>
          </p:cNvSpPr>
          <p:nvPr>
            <p:ph type="dt" sz="half" idx="10"/>
          </p:nvPr>
        </p:nvSpPr>
        <p:spPr/>
        <p:txBody>
          <a:bodyPr/>
          <a:lstStyle/>
          <a:p>
            <a:fld id="{1AB26190-46ED-4A0C-A5E8-CDBCA5C2D5C3}" type="datetime1">
              <a:rPr lang="en-US" smtClean="0"/>
              <a:t>9/5/2026</a:t>
            </a:fld>
            <a:endParaRPr lang="en-US" dirty="0"/>
          </a:p>
        </p:txBody>
      </p:sp>
      <p:sp>
        <p:nvSpPr>
          <p:cNvPr id="4" name="Slide Number Placeholder 3">
            <a:extLst>
              <a:ext uri="{FF2B5EF4-FFF2-40B4-BE49-F238E27FC236}">
                <a16:creationId xmlns:a16="http://schemas.microsoft.com/office/drawing/2014/main" id="{FA0D4A39-443E-0EE9-F71D-F4A2060B2526}"/>
              </a:ext>
            </a:extLst>
          </p:cNvPr>
          <p:cNvSpPr>
            <a:spLocks noGrp="1"/>
          </p:cNvSpPr>
          <p:nvPr>
            <p:ph type="sldNum" sz="quarter" idx="12"/>
          </p:nvPr>
        </p:nvSpPr>
        <p:spPr/>
        <p:txBody>
          <a:bodyPr/>
          <a:lstStyle/>
          <a:p>
            <a:fld id="{DA0BB241-1B5F-4309-9407-9EEA04D9598D}" type="slidenum">
              <a:rPr lang="en-US" smtClean="0"/>
              <a:t>43</a:t>
            </a:fld>
            <a:endParaRPr lang="en-US"/>
          </a:p>
        </p:txBody>
      </p:sp>
    </p:spTree>
    <p:extLst>
      <p:ext uri="{BB962C8B-B14F-4D97-AF65-F5344CB8AC3E}">
        <p14:creationId xmlns:p14="http://schemas.microsoft.com/office/powerpoint/2010/main" val="7078600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0497-CBB6-D2E1-4D1A-ED2AA0BB7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ECE5F-2C1C-357D-AE8A-7FA4DA556E91}"/>
              </a:ext>
            </a:extLst>
          </p:cNvPr>
          <p:cNvSpPr>
            <a:spLocks noGrp="1"/>
          </p:cNvSpPr>
          <p:nvPr>
            <p:ph type="title"/>
          </p:nvPr>
        </p:nvSpPr>
        <p:spPr/>
        <p:txBody>
          <a:bodyPr/>
          <a:lstStyle/>
          <a:p>
            <a:r>
              <a:rPr lang="en-US" noProof="0" dirty="0"/>
              <a:t>Template-exclusive statements</a:t>
            </a:r>
          </a:p>
        </p:txBody>
      </p:sp>
      <p:sp>
        <p:nvSpPr>
          <p:cNvPr id="3" name="Content Placeholder 2">
            <a:extLst>
              <a:ext uri="{FF2B5EF4-FFF2-40B4-BE49-F238E27FC236}">
                <a16:creationId xmlns:a16="http://schemas.microsoft.com/office/drawing/2014/main" id="{8FF9516C-E8E3-08CD-1240-AB67A5640919}"/>
              </a:ext>
            </a:extLst>
          </p:cNvPr>
          <p:cNvSpPr>
            <a:spLocks noGrp="1"/>
          </p:cNvSpPr>
          <p:nvPr>
            <p:ph idx="1"/>
          </p:nvPr>
        </p:nvSpPr>
        <p:spPr/>
        <p:txBody>
          <a:bodyPr anchor="ctr"/>
          <a:lstStyle/>
          <a:p>
            <a:r>
              <a:rPr lang="en-US" noProof="0" dirty="0"/>
              <a:t>I do not </a:t>
            </a:r>
            <a:r>
              <a:rPr lang="en-US" noProof="0" dirty="0" err="1"/>
              <a:t>clai</a:t>
            </a:r>
            <a:r>
              <a:rPr lang="en-US" dirty="0"/>
              <a:t>m that templates are the only solution</a:t>
            </a:r>
          </a:p>
          <a:p>
            <a:r>
              <a:rPr lang="en-US" noProof="0" dirty="0"/>
              <a:t>We do not consider compilation pipeline extensions (e.g., compiler extensions) due to:</a:t>
            </a:r>
          </a:p>
          <a:p>
            <a:pPr lvl="1"/>
            <a:r>
              <a:rPr lang="en-US" noProof="0" dirty="0"/>
              <a:t>Such solutions hindering portability; reliance on external tools</a:t>
            </a:r>
          </a:p>
          <a:p>
            <a:pPr lvl="1"/>
            <a:r>
              <a:rPr lang="en-US" dirty="0"/>
              <a:t>Core research group focus and expertise</a:t>
            </a:r>
          </a:p>
          <a:p>
            <a:pPr lvl="1"/>
            <a:r>
              <a:rPr lang="en-US" noProof="0" dirty="0"/>
              <a:t>Research scope closely tied to algorithm design</a:t>
            </a:r>
          </a:p>
        </p:txBody>
      </p:sp>
      <p:sp>
        <p:nvSpPr>
          <p:cNvPr id="4" name="Date Placeholder 3">
            <a:extLst>
              <a:ext uri="{FF2B5EF4-FFF2-40B4-BE49-F238E27FC236}">
                <a16:creationId xmlns:a16="http://schemas.microsoft.com/office/drawing/2014/main" id="{201D6062-9A3A-0AD5-574A-E26659D7FBAC}"/>
              </a:ext>
            </a:extLst>
          </p:cNvPr>
          <p:cNvSpPr>
            <a:spLocks noGrp="1"/>
          </p:cNvSpPr>
          <p:nvPr>
            <p:ph type="dt" sz="half" idx="10"/>
          </p:nvPr>
        </p:nvSpPr>
        <p:spPr/>
        <p:txBody>
          <a:bodyPr/>
          <a:lstStyle/>
          <a:p>
            <a:fld id="{0601A530-81CA-410E-A053-EF7BD11F8EF0}"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86B73E9E-8DA4-6D98-F073-7AF2BF2083AC}"/>
              </a:ext>
            </a:extLst>
          </p:cNvPr>
          <p:cNvSpPr>
            <a:spLocks noGrp="1"/>
          </p:cNvSpPr>
          <p:nvPr>
            <p:ph type="sldNum" sz="quarter" idx="12"/>
          </p:nvPr>
        </p:nvSpPr>
        <p:spPr/>
        <p:txBody>
          <a:bodyPr/>
          <a:lstStyle/>
          <a:p>
            <a:fld id="{DA0BB241-1B5F-4309-9407-9EEA04D9598D}" type="slidenum">
              <a:rPr lang="en-US" noProof="0" smtClean="0"/>
              <a:t>44</a:t>
            </a:fld>
            <a:endParaRPr lang="en-US" noProof="0" dirty="0"/>
          </a:p>
        </p:txBody>
      </p:sp>
    </p:spTree>
    <p:extLst>
      <p:ext uri="{BB962C8B-B14F-4D97-AF65-F5344CB8AC3E}">
        <p14:creationId xmlns:p14="http://schemas.microsoft.com/office/powerpoint/2010/main" val="3444521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181A-2F41-81F5-2007-5244DC687F1D}"/>
              </a:ext>
            </a:extLst>
          </p:cNvPr>
          <p:cNvSpPr>
            <a:spLocks noGrp="1"/>
          </p:cNvSpPr>
          <p:nvPr>
            <p:ph type="title"/>
          </p:nvPr>
        </p:nvSpPr>
        <p:spPr/>
        <p:txBody>
          <a:bodyPr/>
          <a:lstStyle/>
          <a:p>
            <a:r>
              <a:rPr lang="en-US" noProof="0" dirty="0"/>
              <a:t>Why did the abstractions hinder the LLM</a:t>
            </a:r>
          </a:p>
        </p:txBody>
      </p:sp>
      <p:sp>
        <p:nvSpPr>
          <p:cNvPr id="3" name="Content Placeholder 2">
            <a:extLst>
              <a:ext uri="{FF2B5EF4-FFF2-40B4-BE49-F238E27FC236}">
                <a16:creationId xmlns:a16="http://schemas.microsoft.com/office/drawing/2014/main" id="{BFE9388A-2481-EE41-E355-566C2612FC2B}"/>
              </a:ext>
            </a:extLst>
          </p:cNvPr>
          <p:cNvSpPr>
            <a:spLocks noGrp="1"/>
          </p:cNvSpPr>
          <p:nvPr>
            <p:ph idx="1"/>
          </p:nvPr>
        </p:nvSpPr>
        <p:spPr/>
        <p:txBody>
          <a:bodyPr anchor="ctr"/>
          <a:lstStyle/>
          <a:p>
            <a:r>
              <a:rPr lang="en-US" dirty="0"/>
              <a:t>Some generated Noarr layouts preserve syntactic order of dimensions rather than the semantic one (unintended layout transformations)</a:t>
            </a:r>
          </a:p>
          <a:p>
            <a:r>
              <a:rPr lang="en-US" noProof="0" dirty="0"/>
              <a:t>Halide was an awkward representation </a:t>
            </a:r>
            <a:r>
              <a:rPr lang="en-US" dirty="0"/>
              <a:t>for many algorithms</a:t>
            </a:r>
          </a:p>
          <a:p>
            <a:r>
              <a:rPr lang="en-US" noProof="0" dirty="0"/>
              <a:t>Hallucinated API</a:t>
            </a:r>
          </a:p>
          <a:p>
            <a:pPr lvl="1"/>
            <a:r>
              <a:rPr lang="en-US" noProof="0" dirty="0"/>
              <a:t>(mostly for Halide), the LLM considered more general function overloads</a:t>
            </a:r>
          </a:p>
          <a:p>
            <a:pPr lvl="1"/>
            <a:r>
              <a:rPr lang="en-US" dirty="0"/>
              <a:t>(mostly for Exo), the LLM failed to preserve expected invariants</a:t>
            </a:r>
          </a:p>
          <a:p>
            <a:pPr lvl="1"/>
            <a:r>
              <a:rPr lang="en-US" noProof="0" dirty="0"/>
              <a:t>(mostly for Noarr), the LLM made gen</a:t>
            </a:r>
            <a:r>
              <a:rPr lang="en-US" dirty="0" err="1"/>
              <a:t>uine</a:t>
            </a:r>
            <a:r>
              <a:rPr lang="en-US" dirty="0"/>
              <a:t> mistakes (e.g., replaced angle brackets with square brackets)</a:t>
            </a:r>
          </a:p>
          <a:p>
            <a:endParaRPr lang="en-US" noProof="0" dirty="0"/>
          </a:p>
        </p:txBody>
      </p:sp>
      <p:sp>
        <p:nvSpPr>
          <p:cNvPr id="4" name="Date Placeholder 3">
            <a:extLst>
              <a:ext uri="{FF2B5EF4-FFF2-40B4-BE49-F238E27FC236}">
                <a16:creationId xmlns:a16="http://schemas.microsoft.com/office/drawing/2014/main" id="{38A398BB-7A0C-F187-3DAA-0CA6E59EF3D1}"/>
              </a:ext>
            </a:extLst>
          </p:cNvPr>
          <p:cNvSpPr>
            <a:spLocks noGrp="1"/>
          </p:cNvSpPr>
          <p:nvPr>
            <p:ph type="dt" sz="half" idx="10"/>
          </p:nvPr>
        </p:nvSpPr>
        <p:spPr/>
        <p:txBody>
          <a:bodyPr/>
          <a:lstStyle/>
          <a:p>
            <a:fld id="{358C28A6-2969-482E-9A3B-5E13FCD8DD03}" type="datetime1">
              <a:rPr lang="en-US" noProof="0" smtClean="0"/>
              <a:t>9/5/2026</a:t>
            </a:fld>
            <a:endParaRPr lang="en-US" noProof="0" dirty="0"/>
          </a:p>
        </p:txBody>
      </p:sp>
      <p:sp>
        <p:nvSpPr>
          <p:cNvPr id="5" name="Slide Number Placeholder 4">
            <a:extLst>
              <a:ext uri="{FF2B5EF4-FFF2-40B4-BE49-F238E27FC236}">
                <a16:creationId xmlns:a16="http://schemas.microsoft.com/office/drawing/2014/main" id="{A236833A-9918-E7AE-C3D5-650A1C45B68A}"/>
              </a:ext>
            </a:extLst>
          </p:cNvPr>
          <p:cNvSpPr>
            <a:spLocks noGrp="1"/>
          </p:cNvSpPr>
          <p:nvPr>
            <p:ph type="sldNum" sz="quarter" idx="12"/>
          </p:nvPr>
        </p:nvSpPr>
        <p:spPr/>
        <p:txBody>
          <a:bodyPr/>
          <a:lstStyle/>
          <a:p>
            <a:fld id="{DA0BB241-1B5F-4309-9407-9EEA04D9598D}" type="slidenum">
              <a:rPr lang="en-US" noProof="0" smtClean="0"/>
              <a:t>45</a:t>
            </a:fld>
            <a:endParaRPr lang="en-US" noProof="0" dirty="0"/>
          </a:p>
        </p:txBody>
      </p:sp>
    </p:spTree>
    <p:extLst>
      <p:ext uri="{BB962C8B-B14F-4D97-AF65-F5344CB8AC3E}">
        <p14:creationId xmlns:p14="http://schemas.microsoft.com/office/powerpoint/2010/main" val="4113959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r>
              <a:rPr lang="en-US" noProof="0" dirty="0"/>
              <a:t>LLMs still do not replace abstractions (</a:t>
            </a:r>
            <a:r>
              <a:rPr lang="en-US" sz="2400" noProof="0" dirty="0"/>
              <a:t>⬆️flexibility</a:t>
            </a:r>
            <a:r>
              <a:rPr lang="en-US" noProof="0" dirty="0"/>
              <a:t>, </a:t>
            </a:r>
            <a:r>
              <a:rPr lang="en-US" sz="2400" noProof="0" dirty="0"/>
              <a:t>⬇️                                </a:t>
            </a:r>
            <a:r>
              <a:rPr lang="en-US" noProof="0" dirty="0"/>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nvPr>
        </p:nvSpPr>
        <p:spPr/>
        <p:txBody>
          <a:bodyPr/>
          <a:lstStyle/>
          <a:p>
            <a:fld id="{2E4D20BF-4C0E-41E5-B4FC-9D48FCD3AF33}" type="datetime1">
              <a:rPr lang="en-US" noProof="0" smtClean="0"/>
              <a:t>9/5/2026</a:t>
            </a:fld>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nvPr>
        </p:nvSpPr>
        <p:spPr/>
        <p:txBody>
          <a:bodyPr/>
          <a:lstStyle/>
          <a:p>
            <a:fld id="{DA0BB241-1B5F-4309-9407-9EEA04D9598D}" type="slidenum">
              <a:rPr lang="en-US" noProof="0" smtClean="0"/>
              <a:t>46</a:t>
            </a:fld>
            <a:endParaRPr lang="en-US" noProof="0" dirty="0"/>
          </a:p>
        </p:txBody>
      </p:sp>
      <p:sp>
        <p:nvSpPr>
          <p:cNvPr id="4" name="TextBox 3">
            <a:extLst>
              <a:ext uri="{FF2B5EF4-FFF2-40B4-BE49-F238E27FC236}">
                <a16:creationId xmlns:a16="http://schemas.microsoft.com/office/drawing/2014/main" id="{B965D0A2-488C-6AE6-55B4-95CCADB0A059}"/>
              </a:ext>
            </a:extLst>
          </p:cNvPr>
          <p:cNvSpPr txBox="1"/>
          <p:nvPr/>
        </p:nvSpPr>
        <p:spPr>
          <a:xfrm>
            <a:off x="9138232" y="5688871"/>
            <a:ext cx="2125390" cy="461665"/>
          </a:xfrm>
          <a:prstGeom prst="rect">
            <a:avLst/>
          </a:prstGeom>
          <a:noFill/>
        </p:spPr>
        <p:txBody>
          <a:bodyPr wrap="none" rtlCol="0">
            <a:spAutoFit/>
          </a:bodyPr>
          <a:lstStyle/>
          <a:p>
            <a:pPr algn="ctr"/>
            <a:r>
              <a:rPr lang="en-US" sz="2400" noProof="0" dirty="0"/>
              <a:t>interpretability</a:t>
            </a:r>
          </a:p>
        </p:txBody>
      </p:sp>
      <p:sp>
        <p:nvSpPr>
          <p:cNvPr id="8" name="TextBox 7">
            <a:extLst>
              <a:ext uri="{FF2B5EF4-FFF2-40B4-BE49-F238E27FC236}">
                <a16:creationId xmlns:a16="http://schemas.microsoft.com/office/drawing/2014/main" id="{DFEF80E3-6A55-EBC0-500C-3DC766A1C247}"/>
              </a:ext>
            </a:extLst>
          </p:cNvPr>
          <p:cNvSpPr txBox="1"/>
          <p:nvPr/>
        </p:nvSpPr>
        <p:spPr>
          <a:xfrm>
            <a:off x="9258453" y="5397074"/>
            <a:ext cx="1884948" cy="461665"/>
          </a:xfrm>
          <a:prstGeom prst="rect">
            <a:avLst/>
          </a:prstGeom>
          <a:noFill/>
        </p:spPr>
        <p:txBody>
          <a:bodyPr wrap="square">
            <a:spAutoFit/>
          </a:bodyPr>
          <a:lstStyle/>
          <a:p>
            <a:pPr algn="ctr"/>
            <a:r>
              <a:rPr lang="en-US" sz="2400" noProof="0" dirty="0"/>
              <a:t>determinism</a:t>
            </a:r>
            <a:endParaRPr lang="en-US" noProof="0" dirty="0"/>
          </a:p>
        </p:txBody>
      </p:sp>
    </p:spTree>
    <p:extLst>
      <p:ext uri="{BB962C8B-B14F-4D97-AF65-F5344CB8AC3E}">
        <p14:creationId xmlns:p14="http://schemas.microsoft.com/office/powerpoint/2010/main" val="270994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7.9|11.1|5|8.8|10.1|10.9"/>
</p:tagLst>
</file>

<file path=ppt/tags/tag2.xml><?xml version="1.0" encoding="utf-8"?>
<p:tagLst xmlns:a="http://schemas.openxmlformats.org/drawingml/2006/main" xmlns:r="http://schemas.openxmlformats.org/officeDocument/2006/relationships" xmlns:p="http://schemas.openxmlformats.org/presentationml/2006/main">
  <p:tag name="TIMING" val="|33.7|26.9"/>
</p:tagLst>
</file>

<file path=ppt/tags/tag3.xml><?xml version="1.0" encoding="utf-8"?>
<p:tagLst xmlns:a="http://schemas.openxmlformats.org/drawingml/2006/main" xmlns:r="http://schemas.openxmlformats.org/officeDocument/2006/relationships" xmlns:p="http://schemas.openxmlformats.org/presentationml/2006/main">
  <p:tag name="TIMING" val="|19.8|4.8|7.2|11.1"/>
</p:tagLst>
</file>

<file path=ppt/tags/tag4.xml><?xml version="1.0" encoding="utf-8"?>
<p:tagLst xmlns:a="http://schemas.openxmlformats.org/drawingml/2006/main" xmlns:r="http://schemas.openxmlformats.org/officeDocument/2006/relationships" xmlns:p="http://schemas.openxmlformats.org/presentationml/2006/main">
  <p:tag name="TIMING" val="|18.2|40.5|7.7|6.6|24.4|29.2"/>
</p:tagLst>
</file>

<file path=ppt/tags/tag5.xml><?xml version="1.0" encoding="utf-8"?>
<p:tagLst xmlns:a="http://schemas.openxmlformats.org/drawingml/2006/main" xmlns:r="http://schemas.openxmlformats.org/officeDocument/2006/relationships" xmlns:p="http://schemas.openxmlformats.org/presentationml/2006/main">
  <p:tag name="TIMING" val="|47.9|45.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8132</TotalTime>
  <Words>5855</Words>
  <Application>Microsoft Office PowerPoint</Application>
  <PresentationFormat>Widescreen</PresentationFormat>
  <Paragraphs>897</Paragraphs>
  <Slides>46</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vt:lpstr>
      <vt:lpstr>Aptos Display</vt:lpstr>
      <vt:lpstr>Arial</vt:lpstr>
      <vt:lpstr>Cambria Math</vt:lpstr>
      <vt:lpstr>Fira Code</vt:lpstr>
      <vt:lpstr>Wingdings</vt:lpstr>
      <vt:lpstr>Office Theme</vt:lpstr>
      <vt:lpstr>Optimizing Memory Layouts and Traversal Orders in HPC</vt:lpstr>
      <vt:lpstr>Motivation</vt:lpstr>
      <vt:lpstr>Why layouts matter</vt:lpstr>
      <vt:lpstr>Layout-agnostic design</vt:lpstr>
      <vt:lpstr>Layout abstractions (Noarr)</vt:lpstr>
      <vt:lpstr>Traversal abstractions</vt:lpstr>
      <vt:lpstr>Structures with different index spaces</vt:lpstr>
      <vt:lpstr>Traversal transformations</vt:lpstr>
      <vt:lpstr>Traversal parallelization</vt:lpstr>
      <vt:lpstr>Autotuning</vt:lpstr>
      <vt:lpstr>Autotuning</vt:lpstr>
      <vt:lpstr>No measurable runtime overhead</vt:lpstr>
      <vt:lpstr>Parallel computation</vt:lpstr>
      <vt:lpstr>Code metrics</vt:lpstr>
      <vt:lpstr>Distributed initialization using MPI</vt:lpstr>
      <vt:lpstr>Automatic transformation in communication</vt:lpstr>
      <vt:lpstr>Support for layout-agnostic data distribution</vt:lpstr>
      <vt:lpstr>Performance comparison</vt:lpstr>
      <vt:lpstr>Stencil computation abstractions</vt:lpstr>
      <vt:lpstr>Discrete stencils – Cellular  automata</vt:lpstr>
      <vt:lpstr>PowerPoint Presentation</vt:lpstr>
      <vt:lpstr>What the design allows us to gain</vt:lpstr>
      <vt:lpstr>Abstractions summary</vt:lpstr>
      <vt:lpstr>Tutoring LLMs for CUDA</vt:lpstr>
      <vt:lpstr>Tutoring LLMs for CUDA OpenAI o3-mini</vt:lpstr>
      <vt:lpstr>Tutoring LLMs for CUDA – submission OpenAI o3-mini</vt:lpstr>
      <vt:lpstr>Tutoring LLMs for CUDA – at conference OpenAI GPT-5</vt:lpstr>
      <vt:lpstr>LLMs and abstractions</vt:lpstr>
      <vt:lpstr>LLMs and abstractions</vt:lpstr>
      <vt:lpstr>Performance results</vt:lpstr>
      <vt:lpstr>Contribution map</vt:lpstr>
      <vt:lpstr>Contribution summary</vt:lpstr>
      <vt:lpstr>Review comments and questions</vt:lpstr>
      <vt:lpstr>Why is Cellato separate from Noarr?</vt:lpstr>
      <vt:lpstr>What do you think an abstraction designed specifically for an LLM should look like?</vt:lpstr>
      <vt:lpstr> Is hvector necessary? vector more convenient?</vt:lpstr>
      <vt:lpstr>Is Noarr used outside the department? If not, why?</vt:lpstr>
      <vt:lpstr>Can Noarr naturally incorporate #pragma omp simd or SIMD-aware traversers</vt:lpstr>
      <vt:lpstr>Novelty in layout- and traversal-agnosticism</vt:lpstr>
      <vt:lpstr>Which of these ideas can be found in software like Kokkos or OpenMP's loop transformations?</vt:lpstr>
      <vt:lpstr>State of the art summary and our novelty</vt:lpstr>
      <vt:lpstr>Comparison table</vt:lpstr>
      <vt:lpstr>Genuine limitations of Noarr and Cellato</vt:lpstr>
      <vt:lpstr>Template-exclusive statements</vt:lpstr>
      <vt:lpstr>Why did the abstractions hinder the LLM</vt:lpstr>
      <vt:lpstr>LLM-guided optimization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Jiří Klepl</dc:creator>
  <cp:lastModifiedBy>Jiří Klepl</cp:lastModifiedBy>
  <cp:revision>594</cp:revision>
  <dcterms:created xsi:type="dcterms:W3CDTF">2026-08-08T18:10:38Z</dcterms:created>
  <dcterms:modified xsi:type="dcterms:W3CDTF">2026-09-05T19:38:18Z</dcterms:modified>
</cp:coreProperties>
</file>