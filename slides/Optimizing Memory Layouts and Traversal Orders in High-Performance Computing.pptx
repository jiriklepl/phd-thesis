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sldIdLst>
    <p:sldId id="256" r:id="rId2"/>
    <p:sldId id="293" r:id="rId3"/>
    <p:sldId id="277" r:id="rId4"/>
    <p:sldId id="296" r:id="rId5"/>
    <p:sldId id="297" r:id="rId6"/>
    <p:sldId id="298" r:id="rId7"/>
    <p:sldId id="283" r:id="rId8"/>
    <p:sldId id="284" r:id="rId9"/>
    <p:sldId id="285" r:id="rId10"/>
    <p:sldId id="278" r:id="rId11"/>
    <p:sldId id="300" r:id="rId12"/>
    <p:sldId id="286" r:id="rId13"/>
    <p:sldId id="290" r:id="rId14"/>
    <p:sldId id="279" r:id="rId15"/>
    <p:sldId id="287" r:id="rId16"/>
    <p:sldId id="302" r:id="rId17"/>
    <p:sldId id="280" r:id="rId18"/>
    <p:sldId id="310" r:id="rId19"/>
    <p:sldId id="295" r:id="rId20"/>
    <p:sldId id="288" r:id="rId21"/>
    <p:sldId id="305" r:id="rId22"/>
    <p:sldId id="291" r:id="rId23"/>
    <p:sldId id="306" r:id="rId24"/>
    <p:sldId id="307" r:id="rId25"/>
    <p:sldId id="308" r:id="rId26"/>
    <p:sldId id="309" r:id="rId27"/>
    <p:sldId id="311" r:id="rId28"/>
    <p:sldId id="266" r:id="rId29"/>
    <p:sldId id="262" r:id="rId30"/>
    <p:sldId id="299" r:id="rId31"/>
    <p:sldId id="276" r:id="rId32"/>
    <p:sldId id="292" r:id="rId33"/>
    <p:sldId id="304" r:id="rId34"/>
    <p:sldId id="303" r:id="rId35"/>
    <p:sldId id="301" r:id="rId36"/>
    <p:sldId id="268" r:id="rId37"/>
    <p:sldId id="269" r:id="rId38"/>
    <p:sldId id="270" r:id="rId39"/>
    <p:sldId id="281" r:id="rId40"/>
    <p:sldId id="282" r:id="rId41"/>
    <p:sldId id="263" r:id="rId42"/>
    <p:sldId id="271" r:id="rId43"/>
    <p:sldId id="294" r:id="rId44"/>
    <p:sldId id="272" r:id="rId45"/>
    <p:sldId id="273" r:id="rId46"/>
    <p:sldId id="274" r:id="rId47"/>
    <p:sldId id="261"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93"/>
            <p14:sldId id="277"/>
          </p14:sldIdLst>
        </p14:section>
        <p14:section name="algorithms" id="{7894E90A-E282-4867-82A4-369CDB973E4E}">
          <p14:sldIdLst>
            <p14:sldId id="296"/>
            <p14:sldId id="297"/>
            <p14:sldId id="298"/>
            <p14:sldId id="283"/>
            <p14:sldId id="284"/>
            <p14:sldId id="285"/>
            <p14:sldId id="278"/>
            <p14:sldId id="300"/>
            <p14:sldId id="286"/>
            <p14:sldId id="290"/>
            <p14:sldId id="279"/>
            <p14:sldId id="287"/>
            <p14:sldId id="302"/>
            <p14:sldId id="280"/>
            <p14:sldId id="310"/>
          </p14:sldIdLst>
        </p14:section>
        <p14:section name="llms" id="{2FE3CF17-CBFB-48E9-A3BF-DD99B7D2F01E}">
          <p14:sldIdLst>
            <p14:sldId id="295"/>
            <p14:sldId id="288"/>
            <p14:sldId id="305"/>
            <p14:sldId id="291"/>
            <p14:sldId id="306"/>
            <p14:sldId id="307"/>
            <p14:sldId id="308"/>
            <p14:sldId id="309"/>
            <p14:sldId id="311"/>
          </p14:sldIdLst>
        </p14:section>
        <p14:section name="summary" id="{D3BAAF83-51D3-4EFD-B7CC-7BA6DAC4A838}">
          <p14:sldIdLst>
            <p14:sldId id="266"/>
          </p14:sldIdLst>
        </p14:section>
        <p14:section name="Reviewers' comments" id="{40190F67-0659-405D-810E-4AC194B72FA5}">
          <p14:sldIdLst>
            <p14:sldId id="262"/>
          </p14:sldIdLst>
        </p14:section>
        <p14:section name="supplementary" id="{5D95F6E9-DF15-476C-BE69-BBEF48AA8B86}">
          <p14:sldIdLst>
            <p14:sldId id="299"/>
          </p14:sldIdLst>
        </p14:section>
        <p14:section name="trash" id="{9E73F699-6D69-4F72-99C9-E6CBFA9D1A36}">
          <p14:sldIdLst>
            <p14:sldId id="276"/>
            <p14:sldId id="292"/>
            <p14:sldId id="304"/>
            <p14:sldId id="303"/>
            <p14:sldId id="301"/>
            <p14:sldId id="268"/>
            <p14:sldId id="269"/>
            <p14:sldId id="270"/>
            <p14:sldId id="281"/>
            <p14:sldId id="282"/>
            <p14:sldId id="263"/>
            <p14:sldId id="271"/>
            <p14:sldId id="294"/>
            <p14:sldId id="272"/>
            <p14:sldId id="273"/>
            <p14:sldId id="274"/>
            <p14:sldId id="26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86509" autoAdjust="0"/>
  </p:normalViewPr>
  <p:slideViewPr>
    <p:cSldViewPr snapToGrid="0">
      <p:cViewPr varScale="1">
        <p:scale>
          <a:sx n="137" d="100"/>
          <a:sy n="137" d="100"/>
        </p:scale>
        <p:origin x="2496" y="13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very boring, completely off-topic and uninformative start)</a:t>
            </a:r>
            <a:br>
              <a:rPr lang="en-US" dirty="0"/>
            </a:br>
            <a:br>
              <a:rPr lang="en-US" dirty="0"/>
            </a:br>
            <a:r>
              <a:rPr lang="en-US" dirty="0"/>
              <a:t>Our research is in the area of High-Performance Computing (HPC), focusing on exploring and implementing methods for easier and faster development of efficient scientific algorithms.</a:t>
            </a:r>
          </a:p>
          <a:p>
            <a:endParaRPr lang="en-US" dirty="0"/>
          </a:p>
          <a:p>
            <a:r>
              <a:rPr lang="en-US" dirty="0"/>
              <a:t>These algorithms often contain multidimensional structures and computation in regular loops</a:t>
            </a:r>
          </a:p>
          <a:p>
            <a:endParaRPr lang="en-US" dirty="0"/>
          </a:p>
          <a:p>
            <a:r>
              <a:rPr lang="en-US" dirty="0"/>
              <a:t>One of the core problems when optimizing such algorithms for a particular computing system is that their complexity increases with every specific design decision made.</a:t>
            </a:r>
          </a:p>
          <a:p>
            <a:r>
              <a:rPr lang="en-US" dirty="0"/>
              <a:t>These design decisions range from choosing specific algorithm to smaller decisions such as how data structures such as matrices are stored in memory or in what order a computation is performed.</a:t>
            </a:r>
          </a:p>
          <a:p>
            <a:endParaRPr lang="en-US" dirty="0"/>
          </a:p>
          <a:p>
            <a:r>
              <a:rPr lang="en-US" dirty="0"/>
              <a:t>Even simple data structures such as matrices can be stored in many different ways, such as:</a:t>
            </a:r>
          </a:p>
          <a:p>
            <a:pPr marL="171450" indent="-171450">
              <a:buFontTx/>
              <a:buChar char="-"/>
            </a:pPr>
            <a:r>
              <a:rPr lang="en-US" dirty="0"/>
              <a:t>row-major, which stores the rows of elements sequentially</a:t>
            </a:r>
          </a:p>
          <a:p>
            <a:pPr marL="171450" indent="-171450">
              <a:buFontTx/>
              <a:buChar char="-"/>
            </a:pPr>
            <a:r>
              <a:rPr lang="en-US" dirty="0"/>
              <a:t>Column-major, which stores the columns sequentially</a:t>
            </a:r>
          </a:p>
          <a:p>
            <a:pPr marL="0" indent="0">
              <a:buFontTx/>
              <a:buNone/>
            </a:pPr>
            <a:endParaRPr lang="en-US" dirty="0"/>
          </a:p>
          <a:p>
            <a:pPr marL="0" indent="0">
              <a:buFontTx/>
              <a:buNone/>
            </a:pPr>
            <a:r>
              <a:rPr lang="en-US" dirty="0"/>
              <a:t>It is important to choose the right *memory layout* to achieve the best possible performance (due to various hardware-specific effects such as caching or performance of memory operations); but the right choice is usually not obvious, and it often differs between different hardware architectures.</a:t>
            </a:r>
          </a:p>
          <a:p>
            <a:pPr marL="0" indent="0">
              <a:buFontTx/>
              <a:buNone/>
            </a:pPr>
            <a:endParaRPr lang="en-US" dirty="0"/>
          </a:p>
          <a:p>
            <a:pPr marL="0" indent="0">
              <a:buFontTx/>
              <a:buNone/>
            </a:pPr>
            <a:r>
              <a:rPr lang="en-US" dirty="0"/>
              <a:t>Furthermore, if these choices are hard-coded in the algorithm, the algorithm becomes unreadable and more difficult to port to other hardware.</a:t>
            </a:r>
          </a:p>
        </p:txBody>
      </p:sp>
      <p:sp>
        <p:nvSpPr>
          <p:cNvPr id="4" name="Slide Number Placeholder 3"/>
          <p:cNvSpPr>
            <a:spLocks noGrp="1"/>
          </p:cNvSpPr>
          <p:nvPr>
            <p:ph type="sldNum" sz="quarter" idx="5"/>
          </p:nvPr>
        </p:nvSpPr>
        <p:spPr/>
        <p:txBody>
          <a:bodyPr/>
          <a:lstStyle/>
          <a:p>
            <a:fld id="{FA8FD632-245B-410D-BCC4-8BF8D37AB67F}" type="slidenum">
              <a:rPr lang="en-US" smtClean="0"/>
              <a:t>2</a:t>
            </a:fld>
            <a:endParaRPr lang="en-US"/>
          </a:p>
        </p:txBody>
      </p:sp>
    </p:spTree>
    <p:extLst>
      <p:ext uri="{BB962C8B-B14F-4D97-AF65-F5344CB8AC3E}">
        <p14:creationId xmlns:p14="http://schemas.microsoft.com/office/powerpoint/2010/main" val="372358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 the algorithm tends to access elements that are close together (as the faster-iterating inner loop generates row indices),</a:t>
            </a:r>
            <a:br>
              <a:rPr lang="en-US" dirty="0"/>
            </a:br>
            <a:r>
              <a:rPr lang="en-US" dirty="0"/>
              <a:t>whereas in the other, *column-major layout*, the successive accesses are spread out further.</a:t>
            </a:r>
            <a:br>
              <a:rPr lang="en-US" dirty="0"/>
            </a:br>
            <a:r>
              <a:rPr lang="en-US" dirty="0"/>
              <a:t>This has effect on hardware mechanisms such as caching. which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We call a *layout abstraction* a mapping between these two concepts. It defines the indexation of a data structure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In this case, 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 with a special literal value, with no other modifications.</a:t>
            </a:r>
            <a:br>
              <a:rPr lang="en-US" dirty="0"/>
            </a:br>
            <a:r>
              <a:rPr lang="en-US" dirty="0"/>
              <a:t>This makes the value be directly propagated as a compiler constant instead of being stored in the object representing the layout;</a:t>
            </a:r>
            <a:br>
              <a:rPr lang="en-US" dirty="0"/>
            </a:br>
            <a:r>
              <a:rPr lang="en-US" dirty="0"/>
              <a:t>this might also enable more aggressive compiler optimizations. (</a:t>
            </a:r>
            <a:r>
              <a:rPr lang="en-US" dirty="0" err="1"/>
              <a:t>na</a:t>
            </a:r>
            <a:r>
              <a:rPr lang="en-US" dirty="0"/>
              <a:t> to </a:t>
            </a:r>
            <a:r>
              <a:rPr lang="en-US" dirty="0" err="1"/>
              <a:t>mame</a:t>
            </a:r>
            <a:r>
              <a:rPr lang="en-US" dirty="0"/>
              <a:t> </a:t>
            </a:r>
            <a:r>
              <a:rPr lang="en-US" dirty="0" err="1"/>
              <a:t>grafy</a:t>
            </a:r>
            <a:r>
              <a:rPr lang="en-US" dirty="0"/>
              <a:t> od </a:t>
            </a:r>
            <a:r>
              <a:rPr lang="en-US" dirty="0" err="1"/>
              <a:t>adama</a:t>
            </a:r>
            <a:r>
              <a:rPr lang="en-US" dirty="0"/>
              <a:t>)</a:t>
            </a:r>
          </a:p>
          <a:p>
            <a:endParaRPr lang="en-US" dirty="0"/>
          </a:p>
          <a:p>
            <a:r>
              <a:rPr lang="en-US" dirty="0"/>
              <a:t>---</a:t>
            </a:r>
          </a:p>
          <a:p>
            <a:endParaRPr lang="en-US" dirty="0"/>
          </a:p>
          <a:p>
            <a:r>
              <a:rPr lang="en-US" dirty="0"/>
              <a:t>An important quality of our approach is that the memory layouts are a separate concept from data structures.</a:t>
            </a:r>
            <a:br>
              <a:rPr lang="en-US" dirty="0"/>
            </a:br>
            <a:br>
              <a:rPr lang="en-US" dirty="0"/>
            </a:br>
            <a:r>
              <a:rPr lang="en-US" dirty="0"/>
              <a:t>A data structure can be constructed from a given layout using a simple “bag” constructor. In its simplest use, the constructor creates a data structure that automatically manages an appropriate</a:t>
            </a:r>
            <a:br>
              <a:rPr lang="en-US" dirty="0"/>
            </a:br>
            <a:r>
              <a:rPr lang="en-US" dirty="0"/>
              <a:t>memory buffer.</a:t>
            </a:r>
            <a:br>
              <a:rPr lang="en-US" dirty="0"/>
            </a:br>
            <a:br>
              <a:rPr lang="en-US" dirty="0"/>
            </a:br>
            <a:r>
              <a:rPr lang="en-US" dirty="0"/>
              <a:t>If, instead, we require the memory buffer to reside in a specific memory region or point to an already existing structure, we can supply it ourselves; the constructor then creates a view to the pointed data.</a:t>
            </a:r>
          </a:p>
          <a:p>
            <a:r>
              <a:rPr lang="en-US" dirty="0"/>
              <a:t>Here, for example, we requested the byte-wise size of the layout to allocate it ourselves in GPU device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cool things that can help explain some MPI stuff etc. later on; but they are cool on their own too)</a:t>
            </a:r>
          </a:p>
          <a:p>
            <a:endParaRPr lang="en-US" dirty="0"/>
          </a:p>
          <a:p>
            <a:r>
              <a:rPr lang="en-US" dirty="0"/>
              <a:t>The design of the layout abstractions allows us to easily compose simple transformations into more complicated ones and then apply them to some base structure. This is possible due to the full associativity of the composition.</a:t>
            </a:r>
          </a:p>
          <a:p>
            <a:endParaRPr lang="en-US" dirty="0"/>
          </a:p>
          <a:p>
            <a:r>
              <a:rPr lang="en-US" dirty="0"/>
              <a:t>We can also leave out specific sizes of the transformations and thus define abstract layouts that can be later instantiated with specific sizes.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4013070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thus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these two stages have provided the groundwork for enabling seamless and automatable code optimization in C++ that is fully transparent and directable by the user.</a:t>
            </a:r>
          </a:p>
          <a:p>
            <a:endParaRPr lang="en-US" dirty="0"/>
          </a:p>
          <a:p>
            <a:r>
              <a:rPr lang="en-US" dirty="0"/>
              <a:t>We have finalized this effort by implementing an autotuning interface that allows for specifying the tuned parameters in the same code as the algorithm.</a:t>
            </a:r>
          </a:p>
          <a:p>
            <a:r>
              <a:rPr lang="en-US" dirty="0"/>
              <a:t>This interface was designed to pair well with the abstractions.</a:t>
            </a:r>
          </a:p>
          <a:p>
            <a:endParaRPr lang="en-US" dirty="0"/>
          </a:p>
          <a:p>
            <a:r>
              <a:rPr lang="en-US" dirty="0"/>
              <a:t>(Oh god I don’t know how to continue </a:t>
            </a:r>
            <a:r>
              <a:rPr lang="en-US" dirty="0" err="1"/>
              <a:t>rn</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a:t>
            </a:r>
            <a:r>
              <a:rPr lang="en-US" dirty="0" err="1"/>
              <a:t>PolyBench</a:t>
            </a:r>
            <a:r>
              <a:rPr lang="en-US" dirty="0"/>
              <a:t>/C suite, reimplementing each algorithm using </a:t>
            </a:r>
            <a:r>
              <a:rPr lang="en-US" dirty="0" err="1"/>
              <a:t>Noarr</a:t>
            </a:r>
            <a:r>
              <a:rPr lang="en-US" dirty="0"/>
              <a:t> to confirm they do not pose any runtime overhead.</a:t>
            </a:r>
          </a:p>
          <a:p>
            <a:endParaRPr lang="en-US" dirty="0"/>
          </a:p>
          <a:p>
            <a:r>
              <a:rPr lang="en-US" dirty="0"/>
              <a:t>The plot shows speedups of the </a:t>
            </a:r>
            <a:r>
              <a:rPr lang="en-US" dirty="0" err="1"/>
              <a:t>Noarr</a:t>
            </a:r>
            <a:r>
              <a:rPr lang="en-US" dirty="0"/>
              <a:t> </a:t>
            </a:r>
            <a:r>
              <a:rPr lang="en-US" dirty="0" err="1"/>
              <a:t>reimplementations</a:t>
            </a:r>
            <a:r>
              <a:rPr lang="en-US" dirty="0"/>
              <a:t> compared to the C baselines, most implementations perform exactly the same, showing no runtime overhead;</a:t>
            </a:r>
            <a:br>
              <a:rPr lang="en-US" dirty="0"/>
            </a:br>
            <a:r>
              <a:rPr lang="en-US" dirty="0"/>
              <a:t>there are few minor outliers introduced by differences in compiler optimizations.</a:t>
            </a:r>
          </a:p>
          <a:p>
            <a:endParaRPr lang="en-US" dirty="0"/>
          </a:p>
          <a:p>
            <a:endParaRPr lang="en-US" dirty="0"/>
          </a:p>
          <a:p>
            <a:r>
              <a:rPr lang="en-US" dirty="0"/>
              <a:t>For parallelization, we have reimplemented OpenMP/TBB parallel modifications of some algorithms as well as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The programming complexity in practical algorithms is kept low enough;</a:t>
            </a:r>
            <a:br>
              <a:rPr lang="en-US" dirty="0"/>
            </a:br>
            <a:r>
              <a:rPr lang="en-US" dirty="0"/>
              <a:t>the code is more verbose, as the abstraction encodes more information overall (such as names of dimensions), but contains slightly less complex control flow, and significantly simpler indexation.</a:t>
            </a:r>
          </a:p>
          <a:p>
            <a:endParaRPr lang="en-US" dirty="0"/>
          </a:p>
          <a:p>
            <a:r>
              <a:rPr lang="en-US" dirty="0"/>
              <a:t>On top of these metrics, the resulting code is more flexible in changing different layouts or traversals,</a:t>
            </a:r>
            <a:br>
              <a:rPr lang="en-US" dirty="0"/>
            </a:br>
            <a:r>
              <a:rPr lang="en-US" dirty="0"/>
              <a:t>and the approach improves type safety of the expressions by checking correctly paired dimensions.</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using MPI; initializing each tile of the data on a separate compute node</a:t>
            </a:r>
            <a:br>
              <a:rPr lang="en-US" dirty="0"/>
            </a:br>
            <a:r>
              <a:rPr lang="en-US" dirty="0"/>
              <a:t>and then gathering the tiles into fully initialized data.</a:t>
            </a:r>
          </a:p>
          <a:p>
            <a:endParaRPr lang="en-US" dirty="0"/>
          </a:p>
          <a:p>
            <a:r>
              <a:rPr lang="en-US" dirty="0"/>
              <a:t>This requires two core pieces:</a:t>
            </a:r>
          </a:p>
          <a:p>
            <a:pPr marL="228600" indent="-228600">
              <a:buAutoNum type="arabicPeriod"/>
            </a:pPr>
            <a:r>
              <a:rPr lang="en-US" dirty="0"/>
              <a:t>Binding </a:t>
            </a:r>
            <a:r>
              <a:rPr lang="en-US" dirty="0" err="1"/>
              <a:t>Noarr</a:t>
            </a:r>
            <a:r>
              <a:rPr lang="en-US" dirty="0"/>
              <a:t> dimensions to MPI communicators that describe the abstract topology of different computation nodes.</a:t>
            </a:r>
          </a:p>
          <a:p>
            <a:pPr marL="228600" indent="-228600">
              <a:buAutoNum type="arabicPeriod"/>
            </a:pPr>
            <a:r>
              <a:rPr lang="en-US" dirty="0"/>
              <a:t>Translating </a:t>
            </a:r>
            <a:r>
              <a:rPr lang="en-US" dirty="0" err="1"/>
              <a:t>Noarr</a:t>
            </a:r>
            <a:r>
              <a:rPr lang="en-US" dirty="0"/>
              <a:t> layouts into appropriate MPI datatypes.</a:t>
            </a:r>
          </a:p>
          <a:p>
            <a:endParaRPr lang="en-US" dirty="0"/>
          </a:p>
          <a:p>
            <a:r>
              <a:rPr lang="en-US" dirty="0"/>
              <a:t>This allows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(perhaps due to optimization).</a:t>
            </a:r>
          </a:p>
          <a:p>
            <a:r>
              <a:rPr lang="en-US" dirty="0"/>
              <a:t>If this was done naively. the MPI backend would corrupt the data by preserving the physical layout and not the logical structure.</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compared the state of the art C++ bindings for MPI in how they manage to seamlessly enable layout-agnostic communication of data over MPI</a:t>
            </a:r>
          </a:p>
          <a:p>
            <a:endParaRPr lang="en-US" dirty="0"/>
          </a:p>
          <a:p>
            <a:r>
              <a:rPr lang="en-US" dirty="0"/>
              <a:t>This requires that the framework encodes the layout correctly so it is automatically transformed between the two end-points</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knowledge transfer to cellular automata simulation; what is going on)</a:t>
            </a:r>
          </a:p>
          <a:p>
            <a:endParaRPr lang="en-US" dirty="0"/>
          </a:p>
          <a:p>
            <a:r>
              <a:rPr lang="en-US" dirty="0"/>
              <a:t>Covering all major aspects of general-purpose HPC programming, we studied application of the principles to more specific domains.</a:t>
            </a:r>
          </a:p>
          <a:p>
            <a:endParaRPr lang="en-US" dirty="0"/>
          </a:p>
          <a:p>
            <a:r>
              <a:rPr lang="en-US" dirty="0"/>
              <a:t>One domain from our past research that could adapt the abstractions was cellular automata simulation.</a:t>
            </a:r>
          </a:p>
          <a:p>
            <a:r>
              <a:rPr lang="en-US" dirty="0"/>
              <a:t>It is used for modelling various systems such as fluid dynamics or material sciences.</a:t>
            </a:r>
          </a:p>
          <a:p>
            <a:endParaRPr lang="en-US" dirty="0"/>
          </a:p>
          <a:p>
            <a:r>
              <a:rPr lang="en-US" dirty="0"/>
              <a:t>They are computed on regular grids where each cell has one of a limited number of possible states;</a:t>
            </a:r>
          </a:p>
          <a:p>
            <a:r>
              <a:rPr lang="en-US" dirty="0"/>
              <a:t>The grid is updated in discrete time steps by applying a neighborhood-based rule to each cell.</a:t>
            </a:r>
          </a:p>
          <a:p>
            <a:endParaRPr lang="en-US" dirty="0"/>
          </a:p>
          <a:p>
            <a:r>
              <a:rPr lang="en-US" dirty="0"/>
              <a:t>The rule can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a:t>
            </a:r>
          </a:p>
          <a:p>
            <a:pPr marL="171450" indent="-171450">
              <a:buFontTx/>
              <a:buChar char="-"/>
            </a:pPr>
            <a:r>
              <a:rPr lang="en-US" dirty="0"/>
              <a:t>Memory Layouts that specify how the grid and the single cells are encoded</a:t>
            </a:r>
          </a:p>
          <a:p>
            <a:pPr marL="171450" indent="-171450">
              <a:buFontTx/>
              <a:buChar char="-"/>
            </a:pPr>
            <a:r>
              <a:rPr lang="en-US" dirty="0"/>
              <a:t>Evaluators that specify how the update rules should be computed on the specific Memory Layouts</a:t>
            </a:r>
          </a:p>
          <a:p>
            <a:pPr marL="171450" indent="-171450">
              <a:buFontTx/>
              <a:buChar char="-"/>
            </a:pPr>
            <a:r>
              <a:rPr lang="en-US" dirty="0"/>
              <a:t>And Traversers that specify the evaluation order as well as parallelization of the computation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 can be </a:t>
            </a:r>
            <a:r>
              <a:rPr lang="en-US" dirty="0" err="1"/>
              <a:t>faaaast</a:t>
            </a:r>
            <a:r>
              <a:rPr lang="en-US" dirty="0"/>
              <a:t>)</a:t>
            </a:r>
          </a:p>
          <a:p>
            <a:endParaRPr lang="en-US" dirty="0"/>
          </a:p>
          <a:p>
            <a:r>
              <a:rPr lang="en-US" dirty="0"/>
              <a:t>If the rule specification is paired with these efficient components, the computation may improve over even already GPU-parallelized baseline performance in one or two decadic orders.</a:t>
            </a:r>
          </a:p>
          <a:p>
            <a:endParaRPr lang="en-US" dirty="0"/>
          </a:p>
          <a:p>
            <a:r>
              <a:rPr lang="en-US" dirty="0"/>
              <a:t>This plot shows possible improvements using different optimization techniques available in our prototype framework on different cellular automata.</a:t>
            </a:r>
          </a:p>
          <a:p>
            <a:endParaRPr lang="en-US" dirty="0"/>
          </a:p>
          <a:p>
            <a:r>
              <a:rPr lang="en-US" dirty="0"/>
              <a:t>(We can see that simple bit-packing is not enough for achieving highly efficient computation; and it is necessary to compute the cells in bit-vectorized manner, which is implemented by Bit Planes and Temporal, which implements temporal blocking on top of these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we’ve left abstractions to help LLMs generate better para code)</a:t>
            </a:r>
          </a:p>
          <a:p>
            <a:endParaRPr lang="en-US" dirty="0"/>
          </a:p>
          <a:p>
            <a:r>
              <a:rPr lang="en-US" dirty="0"/>
              <a:t>After extending our earlier work to cover distributed computing as well and adapting it for a specific domain,</a:t>
            </a:r>
          </a:p>
          <a:p>
            <a:r>
              <a:rPr lang="en-US" dirty="0"/>
              <a:t>We have started to do research in a different approach for simplifying HPC algorithm design.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work reacts to the recent introduction of LLM models to the area of software design.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the time of the beginning of our research in this area, LLM models were capable of implementing simple algorithms (like data visualization, simple scripting, </a:t>
            </a:r>
            <a:r>
              <a:rPr lang="en-US" dirty="0" err="1"/>
              <a:t>etc</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not yet that competent at making more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3512362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tutoring; what is it?)</a:t>
            </a:r>
          </a:p>
          <a:p>
            <a:endParaRPr lang="en-US" dirty="0"/>
          </a:p>
          <a:p>
            <a:r>
              <a:rPr lang="en-US" dirty="0"/>
              <a:t>In our first work in this area, we focused on CUDA code generation, which was one of the challenging areas for the contemporary LLMs; more specifically,</a:t>
            </a:r>
            <a:br>
              <a:rPr lang="en-US" dirty="0"/>
            </a:br>
            <a:r>
              <a:rPr lang="en-US" dirty="0"/>
              <a:t>we studied whether adding increasingly more detailed high-level design hints or outright dictating some design decisions significantly helps LLMs generate better code</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the LLM generated progressively better code,</a:t>
            </a:r>
            <a:br>
              <a:rPr lang="en-US" dirty="0"/>
            </a:br>
            <a:r>
              <a:rPr lang="en-US" dirty="0"/>
              <a:t>but for the k-</a:t>
            </a:r>
            <a:r>
              <a:rPr lang="en-US" dirty="0" err="1"/>
              <a:t>Nearnearest</a:t>
            </a:r>
            <a:r>
              <a:rPr lang="en-US" dirty="0"/>
              <a:t> Neighbors search, it managed to implement only the naïve implementation,</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(TODO)</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(TODO)</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combining the two branches)</a:t>
            </a:r>
          </a:p>
          <a:p>
            <a:endParaRPr lang="en-US" dirty="0"/>
          </a:p>
          <a:p>
            <a:r>
              <a:rPr lang="en-US" dirty="0"/>
              <a:t>Then, we have studied whether the earlier studied abstractions enabling layout- and traversal-agnostic design significantly improve the correctness and efficiency of the generated parallel code during optimization tasks.</a:t>
            </a:r>
          </a:p>
          <a:p>
            <a:endParaRPr lang="en-US" dirty="0"/>
          </a:p>
          <a:p>
            <a:r>
              <a:rPr lang="en-US" dirty="0"/>
              <a:t>For that, we have compared 3 abstractions (Halide, Exo and </a:t>
            </a:r>
            <a:r>
              <a:rPr lang="en-US" dirty="0" err="1"/>
              <a:t>Noarr</a:t>
            </a:r>
            <a:r>
              <a:rPr lang="en-US" dirty="0"/>
              <a:t>) with different designs and principles as well as outputting pure C on the 30 algorithms from the </a:t>
            </a:r>
            <a:r>
              <a:rPr lang="en-US" dirty="0" err="1"/>
              <a:t>PolyBench</a:t>
            </a:r>
            <a:r>
              <a:rPr lang="en-US" dirty="0"/>
              <a:t>/C benchmark suite.</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43619010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we have used a multithreaded datacenter-grade computer, and to avoid many mistakes,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 improving the overall correctness rate.</a:t>
            </a:r>
          </a:p>
          <a:p>
            <a:pPr marL="0" indent="0">
              <a:buFontTx/>
              <a:buNone/>
            </a:pPr>
            <a:endParaRPr lang="en-US" dirty="0"/>
          </a:p>
          <a:p>
            <a:pPr marL="0" indent="0">
              <a:buFontTx/>
              <a:buNone/>
            </a:pPr>
            <a:r>
              <a:rPr lang="en-US" dirty="0"/>
              <a:t>In both generation steps, the prompts were accompanied by official developer guides and custom abstraction-specific hints for the given abstractions</a:t>
            </a:r>
            <a:br>
              <a:rPr lang="en-US" dirty="0"/>
            </a:br>
            <a:r>
              <a:rPr lang="en-US" dirty="0"/>
              <a:t>to give the LLM a good understanding how to use them, and the translation tasks were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endParaRPr lang="en-US" dirty="0"/>
          </a:p>
          <a:p>
            <a:pPr marL="0" indent="0">
              <a:buFontTx/>
              <a:buNone/>
            </a:pPr>
            <a:r>
              <a:rPr lang="en-US" dirty="0"/>
              <a:t>With the 30 </a:t>
            </a:r>
            <a:r>
              <a:rPr lang="en-US" dirty="0" err="1"/>
              <a:t>polybench</a:t>
            </a:r>
            <a:r>
              <a:rPr lang="en-US" dirty="0"/>
              <a:t> algorithms, 4 different abstraction choices, and 4 prompting strategies, this gives almost 500 optimization experiments.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with increasing number of optimization attempts from 1to5 to account for LLM generation stochasticity,</a:t>
            </a:r>
            <a:br>
              <a:rPr lang="en-US" dirty="0"/>
            </a:br>
            <a:br>
              <a:rPr lang="en-US" dirty="0"/>
            </a:br>
            <a:r>
              <a:rPr lang="en-US" dirty="0"/>
              <a:t>we observed that contemporary abstractions do not improve the performance nor the correctness of the generated code,</a:t>
            </a:r>
            <a:br>
              <a:rPr lang="en-US" dirty="0"/>
            </a:br>
            <a:r>
              <a:rPr lang="en-US" dirty="0"/>
              <a:t>as generating C code yielded both the best performance and correctness overall.</a:t>
            </a:r>
          </a:p>
          <a:p>
            <a:endParaRPr lang="en-US" dirty="0"/>
          </a:p>
          <a:p>
            <a:r>
              <a:rPr lang="en-US" dirty="0"/>
              <a:t>We didn’t study just the specificity of the hints, but also their </a:t>
            </a:r>
            <a:r>
              <a:rPr lang="en-US" dirty="0" err="1"/>
              <a:t>aggresiveness</a:t>
            </a:r>
            <a:r>
              <a:rPr lang="en-US" dirty="0"/>
              <a:t> (more assertive hints yielding slightly better performance),</a:t>
            </a:r>
          </a:p>
          <a:p>
            <a:r>
              <a:rPr lang="en-US" dirty="0"/>
              <a:t>and an alternative approach that separated the optimization task into two steps, which didn’t improve correctness and significantly limited the performance.</a:t>
            </a:r>
          </a:p>
          <a:p>
            <a:endParaRPr lang="en-US" dirty="0"/>
          </a:p>
          <a:p>
            <a:r>
              <a:rPr lang="en-US" dirty="0"/>
              <a:t>The conclusion of this work is that correct prompting strategy yields better results than using the abstractions for user-directed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haven’t done this one </a:t>
            </a:r>
            <a:r>
              <a:rPr lang="en-US" dirty="0">
                <a:sym typeface="Wingdings" panose="05000000000000000000" pitchFamily="2" charset="2"/>
              </a:rPr>
              <a:t></a:t>
            </a:r>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do not forget to copy from upward)---</a:t>
            </a:r>
            <a:br>
              <a:rPr lang="en-US" dirty="0"/>
            </a:br>
            <a:br>
              <a:rPr lang="en-US" dirty="0"/>
            </a:br>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53962248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150312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08B9B-DA7C-CEF0-D2F2-45B10F331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A7740-2DAD-1370-B2CB-228DA08826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4B22E-1818-E5A6-0350-5F174A750D46}"/>
              </a:ext>
            </a:extLst>
          </p:cNvPr>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and language-specific documentation and hints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a:extLst>
              <a:ext uri="{FF2B5EF4-FFF2-40B4-BE49-F238E27FC236}">
                <a16:creationId xmlns:a16="http://schemas.microsoft.com/office/drawing/2014/main" id="{EC9A10B2-2AAB-DC98-721D-F9B66A801B35}"/>
              </a:ext>
            </a:extLst>
          </p:cNvPr>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36085554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7F3B2-C0BA-B51C-5F65-FC97C70D10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7F5B3-54C8-B364-0A4B-751F99A6F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88A7D1-473A-1E94-89A2-9ACDE994B24D}"/>
              </a:ext>
            </a:extLst>
          </p:cNvPr>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even with very vague instructions.</a:t>
            </a:r>
          </a:p>
        </p:txBody>
      </p:sp>
      <p:sp>
        <p:nvSpPr>
          <p:cNvPr id="4" name="Slide Number Placeholder 3">
            <a:extLst>
              <a:ext uri="{FF2B5EF4-FFF2-40B4-BE49-F238E27FC236}">
                <a16:creationId xmlns:a16="http://schemas.microsoft.com/office/drawing/2014/main" id="{DF52FF92-2640-B0CB-A128-127996A7EFCD}"/>
              </a:ext>
            </a:extLst>
          </p:cNvPr>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25426395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57641-FE9C-3D6C-D5F5-91017F617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AA7B2E-A4E0-6E25-FBA8-01CDD4101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5A7019-B96B-BE1F-AE0F-2ED099339F4F}"/>
              </a:ext>
            </a:extLst>
          </p:cNvPr>
          <p:cNvSpPr>
            <a:spLocks noGrp="1"/>
          </p:cNvSpPr>
          <p:nvPr>
            <p:ph type="body" idx="1"/>
          </p:nvPr>
        </p:nvSpPr>
        <p:spPr/>
        <p:txBody>
          <a:bodyPr/>
          <a:lstStyle/>
          <a:p>
            <a:r>
              <a:rPr lang="en-US" dirty="0"/>
              <a:t>Still haven’t done this one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69C488B9-61C0-2702-9A75-5A42AC4F98D1}"/>
              </a:ext>
            </a:extLst>
          </p:cNvPr>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24596632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C8EC8-C761-6316-9007-65774C0EF9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D4C2F-ECB5-B564-853A-3799BCE82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6ABE99-5BBC-6BD4-946D-2A3F2D9A892F}"/>
              </a:ext>
            </a:extLst>
          </p:cNvPr>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(In our earlier work on Cellular automata, we have improved on </a:t>
            </a:r>
            <a:r>
              <a:rPr lang="en-US" dirty="0" err="1"/>
              <a:t>sota</a:t>
            </a:r>
            <a:r>
              <a:rPr lang="en-US" dirty="0"/>
              <a:t> using bit-level encoding of the states and bitwise evaluation)</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a:extLst>
              <a:ext uri="{FF2B5EF4-FFF2-40B4-BE49-F238E27FC236}">
                <a16:creationId xmlns:a16="http://schemas.microsoft.com/office/drawing/2014/main" id="{81D4FAE5-6724-7186-6EBE-71006EA2D593}"/>
              </a:ext>
            </a:extLst>
          </p:cNvPr>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14531557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37</a:t>
            </a:fld>
            <a:endParaRPr lang="en-US"/>
          </a:p>
        </p:txBody>
      </p:sp>
    </p:spTree>
    <p:extLst>
      <p:ext uri="{BB962C8B-B14F-4D97-AF65-F5344CB8AC3E}">
        <p14:creationId xmlns:p14="http://schemas.microsoft.com/office/powerpoint/2010/main" val="381046909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10673656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t>
            </a:r>
            <a:r>
              <a:rPr lang="en-US" dirty="0" err="1"/>
              <a:t>Noarr</a:t>
            </a:r>
            <a:r>
              <a:rPr lang="en-US" dirty="0"/>
              <a:t> Structures; or abstractions for layout-agnostic design)</a:t>
            </a:r>
            <a:br>
              <a:rPr lang="en-US" dirty="0"/>
            </a:br>
            <a:br>
              <a:rPr lang="en-US" dirty="0"/>
            </a:br>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[without runtime overhead]</a:t>
            </a:r>
            <a:br>
              <a:rPr lang="en-US" dirty="0"/>
            </a:br>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39</a:t>
            </a:fld>
            <a:endParaRPr lang="en-US"/>
          </a:p>
        </p:txBody>
      </p:sp>
    </p:spTree>
    <p:extLst>
      <p:ext uri="{BB962C8B-B14F-4D97-AF65-F5344CB8AC3E}">
        <p14:creationId xmlns:p14="http://schemas.microsoft.com/office/powerpoint/2010/main" val="35776137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(offsets). Our research is not the only effort on this, as nowadays, 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a:t>
            </a:r>
            <a:r>
              <a:rPr lang="en-US" dirty="0" err="1"/>
              <a:t>animace</a:t>
            </a:r>
            <a:r>
              <a:rPr lang="en-US" dirty="0"/>
              <a:t>)</a:t>
            </a:r>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(buffer)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device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59057898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2156031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8/28/2026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8/28/2026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8/28/2026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8/28/2026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8/28/2026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8/28/2026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8/28/2026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8/28/2026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8/28/2026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8/28/2026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8/28/2026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image" Target="../media/image24.gif"/></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6.xml"/><Relationship Id="rId5" Type="http://schemas.openxmlformats.org/officeDocument/2006/relationships/image" Target="../media/image36.png"/><Relationship Id="rId4"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smtClean="0"/>
              <a:t>8/28/2026</a:t>
            </a:fld>
            <a:endParaRPr lang="en-US"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smtClean="0"/>
              <a:t>1</a:t>
            </a:fld>
            <a:endParaRPr lang="en-US"/>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2B0F3-07AF-DDF2-75A9-BE53A93E33B4}"/>
              </a:ext>
            </a:extLst>
          </p:cNvPr>
          <p:cNvSpPr>
            <a:spLocks noGrp="1"/>
          </p:cNvSpPr>
          <p:nvPr>
            <p:ph type="title"/>
          </p:nvPr>
        </p:nvSpPr>
        <p:spPr/>
        <p:txBody>
          <a:bodyPr/>
          <a:lstStyle/>
          <a:p>
            <a:r>
              <a:rPr lang="en-US" dirty="0"/>
              <a:t>Motivation for memory layouts</a:t>
            </a:r>
          </a:p>
        </p:txBody>
      </p:sp>
      <p:sp>
        <p:nvSpPr>
          <p:cNvPr id="3" name="Content Placeholder 2">
            <a:extLst>
              <a:ext uri="{FF2B5EF4-FFF2-40B4-BE49-F238E27FC236}">
                <a16:creationId xmlns:a16="http://schemas.microsoft.com/office/drawing/2014/main" id="{9CCFAC94-5637-4468-27F3-D65EF4095823}"/>
              </a:ext>
            </a:extLst>
          </p:cNvPr>
          <p:cNvSpPr>
            <a:spLocks noGrp="1"/>
          </p:cNvSpPr>
          <p:nvPr>
            <p:ph idx="1"/>
          </p:nvPr>
        </p:nvSpPr>
        <p:spPr/>
        <p:txBody>
          <a:bodyPr/>
          <a:lstStyle/>
          <a:p>
            <a:r>
              <a:rPr lang="en-US" dirty="0"/>
              <a:t>Development of algorithms for scientific computing</a:t>
            </a:r>
          </a:p>
          <a:p>
            <a:pPr lvl="1"/>
            <a:r>
              <a:rPr lang="en-US" dirty="0"/>
              <a:t>Multidimensional data structures</a:t>
            </a:r>
          </a:p>
          <a:p>
            <a:pPr lvl="1"/>
            <a:r>
              <a:rPr lang="en-US" dirty="0"/>
              <a:t>Regular loops</a:t>
            </a:r>
          </a:p>
          <a:p>
            <a:r>
              <a:rPr lang="en-US" dirty="0"/>
              <a:t>Complexity rises with every design decision</a:t>
            </a:r>
          </a:p>
          <a:p>
            <a:pPr lvl="1"/>
            <a:r>
              <a:rPr lang="en-US" dirty="0"/>
              <a:t>How to store the data</a:t>
            </a:r>
          </a:p>
          <a:p>
            <a:pPr lvl="1"/>
            <a:r>
              <a:rPr lang="en-US" dirty="0"/>
              <a:t>In what order do the computations</a:t>
            </a:r>
          </a:p>
          <a:p>
            <a:endParaRPr lang="en-US" dirty="0"/>
          </a:p>
          <a:p>
            <a:r>
              <a:rPr lang="en-US" dirty="0"/>
              <a:t>Performance very difficult to predict</a:t>
            </a:r>
          </a:p>
          <a:p>
            <a:endParaRPr lang="en-US" dirty="0"/>
          </a:p>
        </p:txBody>
      </p:sp>
      <p:sp>
        <p:nvSpPr>
          <p:cNvPr id="4" name="Date Placeholder 3">
            <a:extLst>
              <a:ext uri="{FF2B5EF4-FFF2-40B4-BE49-F238E27FC236}">
                <a16:creationId xmlns:a16="http://schemas.microsoft.com/office/drawing/2014/main" id="{C879A157-F47D-07F8-BBBF-9D9647E138A7}"/>
              </a:ext>
            </a:extLst>
          </p:cNvPr>
          <p:cNvSpPr>
            <a:spLocks noGrp="1"/>
          </p:cNvSpPr>
          <p:nvPr>
            <p:ph type="dt" sz="half" idx="10"/>
          </p:nvPr>
        </p:nvSpPr>
        <p:spPr/>
        <p:txBody>
          <a:bodyPr/>
          <a:lstStyle/>
          <a:p>
            <a:fld id="{0DAFEF2F-EB87-44F5-8698-5E050EDDA902}" type="datetime1">
              <a:rPr lang="en-US" smtClean="0"/>
              <a:t>8/28/2026</a:t>
            </a:fld>
            <a:endParaRPr lang="en-US" dirty="0"/>
          </a:p>
        </p:txBody>
      </p:sp>
      <p:sp>
        <p:nvSpPr>
          <p:cNvPr id="5" name="Slide Number Placeholder 4">
            <a:extLst>
              <a:ext uri="{FF2B5EF4-FFF2-40B4-BE49-F238E27FC236}">
                <a16:creationId xmlns:a16="http://schemas.microsoft.com/office/drawing/2014/main" id="{1674A618-B628-9F85-14EF-1E83AA91CA35}"/>
              </a:ext>
            </a:extLst>
          </p:cNvPr>
          <p:cNvSpPr>
            <a:spLocks noGrp="1"/>
          </p:cNvSpPr>
          <p:nvPr>
            <p:ph type="sldNum" sz="quarter" idx="12"/>
          </p:nvPr>
        </p:nvSpPr>
        <p:spPr/>
        <p:txBody>
          <a:bodyPr/>
          <a:lstStyle/>
          <a:p>
            <a:fld id="{DA0BB241-1B5F-4309-9407-9EEA04D9598D}" type="slidenum">
              <a:rPr lang="en-US" smtClean="0"/>
              <a:t>2</a:t>
            </a:fld>
            <a:endParaRPr lang="en-US"/>
          </a:p>
        </p:txBody>
      </p:sp>
      <p:grpSp>
        <p:nvGrpSpPr>
          <p:cNvPr id="20" name="Group 19">
            <a:extLst>
              <a:ext uri="{FF2B5EF4-FFF2-40B4-BE49-F238E27FC236}">
                <a16:creationId xmlns:a16="http://schemas.microsoft.com/office/drawing/2014/main" id="{D31BF4A6-7253-D11D-84B7-D42F1AD2EF67}"/>
              </a:ext>
            </a:extLst>
          </p:cNvPr>
          <p:cNvGrpSpPr/>
          <p:nvPr/>
        </p:nvGrpSpPr>
        <p:grpSpPr>
          <a:xfrm>
            <a:off x="7917292" y="4385692"/>
            <a:ext cx="1392432" cy="1551380"/>
            <a:chOff x="7917292" y="4385692"/>
            <a:chExt cx="1392432" cy="1551380"/>
          </a:xfrm>
        </p:grpSpPr>
        <p:pic>
          <p:nvPicPr>
            <p:cNvPr id="7" name="Graphic 6">
              <a:extLst>
                <a:ext uri="{FF2B5EF4-FFF2-40B4-BE49-F238E27FC236}">
                  <a16:creationId xmlns:a16="http://schemas.microsoft.com/office/drawing/2014/main" id="{20834440-26BB-F283-4FB8-38CBF311FAB3}"/>
                </a:ext>
              </a:extLst>
            </p:cNvPr>
            <p:cNvPicPr>
              <a:picLocks noChangeAspect="1"/>
            </p:cNvPicPr>
            <p:nvPr/>
          </p:nvPicPr>
          <p:blipFill>
            <a:blip>
              <a:extLst>
                <a:ext uri="{96DAC541-7B7A-43D3-8B79-37D633B846F1}">
                  <asvg:svgBlip xmlns:asvg="http://schemas.microsoft.com/office/drawing/2016/SVG/main" r:embed="rId3"/>
                </a:ext>
              </a:extLst>
            </a:blip>
            <a:srcRect l="11516" t="5324" r="66027" b="77812"/>
            <a:stretch>
              <a:fillRect/>
            </a:stretch>
          </p:blipFill>
          <p:spPr>
            <a:xfrm>
              <a:off x="8069057" y="4385692"/>
              <a:ext cx="1088904" cy="1156549"/>
            </a:xfrm>
            <a:prstGeom prst="rect">
              <a:avLst/>
            </a:prstGeom>
          </p:spPr>
        </p:pic>
        <p:sp>
          <p:nvSpPr>
            <p:cNvPr id="12" name="TextBox 11">
              <a:extLst>
                <a:ext uri="{FF2B5EF4-FFF2-40B4-BE49-F238E27FC236}">
                  <a16:creationId xmlns:a16="http://schemas.microsoft.com/office/drawing/2014/main" id="{B3674D75-42D7-D92A-C7F7-F9D2FF083A67}"/>
                </a:ext>
              </a:extLst>
            </p:cNvPr>
            <p:cNvSpPr txBox="1"/>
            <p:nvPr/>
          </p:nvSpPr>
          <p:spPr>
            <a:xfrm>
              <a:off x="7917292" y="5536962"/>
              <a:ext cx="1392432" cy="400110"/>
            </a:xfrm>
            <a:prstGeom prst="rect">
              <a:avLst/>
            </a:prstGeom>
            <a:noFill/>
          </p:spPr>
          <p:txBody>
            <a:bodyPr wrap="none" rtlCol="0">
              <a:spAutoFit/>
            </a:bodyPr>
            <a:lstStyle/>
            <a:p>
              <a:pPr algn="ctr"/>
              <a:r>
                <a:rPr lang="en-US" sz="2000" dirty="0"/>
                <a:t>Row-major</a:t>
              </a:r>
              <a:endParaRPr lang="en-US" dirty="0"/>
            </a:p>
          </p:txBody>
        </p:sp>
      </p:grpSp>
      <p:grpSp>
        <p:nvGrpSpPr>
          <p:cNvPr id="21" name="Group 20">
            <a:extLst>
              <a:ext uri="{FF2B5EF4-FFF2-40B4-BE49-F238E27FC236}">
                <a16:creationId xmlns:a16="http://schemas.microsoft.com/office/drawing/2014/main" id="{4BD46A3F-D0F6-ECEE-6E08-8C4902E89C78}"/>
              </a:ext>
            </a:extLst>
          </p:cNvPr>
          <p:cNvGrpSpPr/>
          <p:nvPr/>
        </p:nvGrpSpPr>
        <p:grpSpPr>
          <a:xfrm>
            <a:off x="9400882" y="4385692"/>
            <a:ext cx="1802096" cy="1551380"/>
            <a:chOff x="9685588" y="4410422"/>
            <a:chExt cx="1802096" cy="1551380"/>
          </a:xfrm>
        </p:grpSpPr>
        <p:pic>
          <p:nvPicPr>
            <p:cNvPr id="9" name="Graphic 8">
              <a:extLst>
                <a:ext uri="{FF2B5EF4-FFF2-40B4-BE49-F238E27FC236}">
                  <a16:creationId xmlns:a16="http://schemas.microsoft.com/office/drawing/2014/main" id="{F717ED1E-4878-0E07-7465-3F66C082FD59}"/>
                </a:ext>
              </a:extLst>
            </p:cNvPr>
            <p:cNvPicPr>
              <a:picLocks noChangeAspect="1"/>
            </p:cNvPicPr>
            <p:nvPr/>
          </p:nvPicPr>
          <p:blipFill>
            <a:blip>
              <a:extLst>
                <a:ext uri="{96DAC541-7B7A-43D3-8B79-37D633B846F1}">
                  <asvg:svgBlip xmlns:asvg="http://schemas.microsoft.com/office/drawing/2016/SVG/main" r:embed="rId4"/>
                </a:ext>
              </a:extLst>
            </a:blip>
            <a:srcRect l="11494" t="5314" r="66092" b="77854"/>
            <a:stretch>
              <a:fillRect/>
            </a:stretch>
          </p:blipFill>
          <p:spPr>
            <a:xfrm>
              <a:off x="10042184" y="4410422"/>
              <a:ext cx="1088904" cy="1156549"/>
            </a:xfrm>
            <a:prstGeom prst="rect">
              <a:avLst/>
            </a:prstGeom>
          </p:spPr>
        </p:pic>
        <p:sp>
          <p:nvSpPr>
            <p:cNvPr id="14" name="TextBox 13">
              <a:extLst>
                <a:ext uri="{FF2B5EF4-FFF2-40B4-BE49-F238E27FC236}">
                  <a16:creationId xmlns:a16="http://schemas.microsoft.com/office/drawing/2014/main" id="{2793AF0B-9B42-D6E4-4BC9-0BDA37B37DE2}"/>
                </a:ext>
              </a:extLst>
            </p:cNvPr>
            <p:cNvSpPr txBox="1"/>
            <p:nvPr/>
          </p:nvSpPr>
          <p:spPr>
            <a:xfrm>
              <a:off x="9685588" y="5561692"/>
              <a:ext cx="1802096" cy="400110"/>
            </a:xfrm>
            <a:prstGeom prst="rect">
              <a:avLst/>
            </a:prstGeom>
            <a:noFill/>
          </p:spPr>
          <p:txBody>
            <a:bodyPr wrap="none" rtlCol="0">
              <a:spAutoFit/>
            </a:bodyPr>
            <a:lstStyle/>
            <a:p>
              <a:pPr algn="ctr"/>
              <a:r>
                <a:rPr lang="en-US" sz="2000" dirty="0"/>
                <a:t>Column-major</a:t>
              </a:r>
              <a:endParaRPr lang="en-US" dirty="0"/>
            </a:p>
          </p:txBody>
        </p:sp>
      </p:grpSp>
      <p:sp>
        <p:nvSpPr>
          <p:cNvPr id="17" name="Right Brace 16">
            <a:extLst>
              <a:ext uri="{FF2B5EF4-FFF2-40B4-BE49-F238E27FC236}">
                <a16:creationId xmlns:a16="http://schemas.microsoft.com/office/drawing/2014/main" id="{816700F3-DB4A-EE30-E277-3B57DB485047}"/>
              </a:ext>
            </a:extLst>
          </p:cNvPr>
          <p:cNvSpPr/>
          <p:nvPr/>
        </p:nvSpPr>
        <p:spPr>
          <a:xfrm rot="16200000">
            <a:off x="9944493" y="2400051"/>
            <a:ext cx="199900" cy="395076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0EB5D9BA-3BCE-1552-AA92-B473A6CD520E}"/>
              </a:ext>
            </a:extLst>
          </p:cNvPr>
          <p:cNvSpPr txBox="1"/>
          <p:nvPr/>
        </p:nvSpPr>
        <p:spPr>
          <a:xfrm>
            <a:off x="8444966" y="3813819"/>
            <a:ext cx="3198954" cy="461665"/>
          </a:xfrm>
          <a:prstGeom prst="rect">
            <a:avLst/>
          </a:prstGeom>
          <a:noFill/>
        </p:spPr>
        <p:txBody>
          <a:bodyPr wrap="none" rtlCol="0">
            <a:spAutoFit/>
          </a:bodyPr>
          <a:lstStyle/>
          <a:p>
            <a:pPr algn="ctr"/>
            <a:r>
              <a:rPr lang="en-US" sz="2400" dirty="0"/>
              <a:t>Matrix memory layouts</a:t>
            </a:r>
          </a:p>
        </p:txBody>
      </p:sp>
      <p:sp>
        <p:nvSpPr>
          <p:cNvPr id="19" name="TextBox 18">
            <a:extLst>
              <a:ext uri="{FF2B5EF4-FFF2-40B4-BE49-F238E27FC236}">
                <a16:creationId xmlns:a16="http://schemas.microsoft.com/office/drawing/2014/main" id="{F316CE26-0320-4A8D-A1BC-6DFC9282AE6F}"/>
              </a:ext>
            </a:extLst>
          </p:cNvPr>
          <p:cNvSpPr txBox="1"/>
          <p:nvPr/>
        </p:nvSpPr>
        <p:spPr>
          <a:xfrm>
            <a:off x="11571481" y="4779300"/>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87481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smtClean="0"/>
              <a:t>8/28/2026</a:t>
            </a:fld>
            <a:endParaRPr lang="en-US"/>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smtClean="0"/>
              <a:t>3</a:t>
            </a:fld>
            <a:endParaRPr lang="en-US"/>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dirty="0"/>
              <a:t>Row-major</a:t>
            </a:r>
            <a:endParaRPr lang="en-US"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dirty="0"/>
              <a:t>Column-major</a:t>
            </a:r>
            <a:endParaRPr lang="en-US"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9" y="3424149"/>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dirty="0"/>
              <a:t>Layout abstraction of a d</a:t>
            </a:r>
            <a:r>
              <a:rPr lang="en-US" noProof="0" dirty="0" err="1"/>
              <a:t>ata</a:t>
            </a:r>
            <a:r>
              <a:rPr lang="en-US" noProof="0" dirty="0"/>
              <a:t>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smtClean="0"/>
              <a:t>8/28/2026</a:t>
            </a:fld>
            <a:endParaRPr lang="en-US"/>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smtClean="0"/>
              <a:t>4</a:t>
            </a:fld>
            <a:endParaRPr lang="en-US"/>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969746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endParaRPr lang="en-US"/>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70C1"/>
                </a:solidFill>
                <a:latin typeface="Fira Code" panose="020B0809050000020004" pitchFamily="49" charset="0"/>
              </a:rPr>
              <a:t>idx</a:t>
            </a:r>
            <a:r>
              <a:rPr lang="en-US" sz="1600" dirty="0">
                <a:solidFill>
                  <a:srgbClr val="000000"/>
                </a:solidFill>
                <a:latin typeface="Fira Code" panose="020B0809050000020004" pitchFamily="49" charset="0"/>
              </a:rPr>
              <a:t>&lt;</a:t>
            </a:r>
            <a:r>
              <a:rPr lang="en-US" sz="1600" dirty="0">
                <a:solidFill>
                  <a:srgbClr val="A31515"/>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a:solidFill>
                  <a:srgbClr val="A31515"/>
                </a:solidFill>
                <a:latin typeface="Fira Code" panose="020B0809050000020004" pitchFamily="49" charset="0"/>
              </a:rPr>
              <a:t>'n'</a:t>
            </a:r>
            <a:r>
              <a:rPr lang="en-US" sz="1600" dirty="0">
                <a:solidFill>
                  <a:srgbClr val="000000"/>
                </a:solidFill>
                <a:latin typeface="Fira Code" panose="020B0809050000020004" pitchFamily="49" charset="0"/>
              </a:rPr>
              <a:t>&gt;(</a:t>
            </a:r>
            <a:r>
              <a:rPr lang="en-US" sz="1600" dirty="0">
                <a:solidFill>
                  <a:srgbClr val="0070C1"/>
                </a:solidFill>
                <a:latin typeface="Fira Code" panose="020B0809050000020004" pitchFamily="49" charset="0"/>
              </a:rPr>
              <a:t>4</a:t>
            </a:r>
            <a:r>
              <a:rPr lang="en-US" sz="1600" dirty="0">
                <a:solidFill>
                  <a:srgbClr val="000000"/>
                </a:solidFill>
                <a:latin typeface="Fira Code" panose="020B0809050000020004" pitchFamily="49" charset="0"/>
              </a:rPr>
              <a:t>, </a:t>
            </a:r>
            <a:r>
              <a:rPr lang="en-US" sz="1600" dirty="0">
                <a:solidFill>
                  <a:srgbClr val="0070C1"/>
                </a:solidFill>
                <a:latin typeface="Fira Code" panose="020B0809050000020004" pitchFamily="49" charset="0"/>
              </a:rPr>
              <a:t>2</a:t>
            </a:r>
            <a:r>
              <a:rPr lang="en-US" sz="1600" dirty="0">
                <a:solidFill>
                  <a:srgbClr val="000000"/>
                </a:solidFill>
                <a:latin typeface="Fira Code" panose="020B0809050000020004" pitchFamily="49" charset="0"/>
              </a:rPr>
              <a:t>)]</a:t>
            </a:r>
            <a:endParaRPr lang="en-US" sz="200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none" rtlCol="0">
            <a:spAutoFit/>
          </a:bodyPr>
          <a:lstStyle/>
          <a:p>
            <a:r>
              <a:rPr lang="en-US" dirty="0"/>
              <a:t>access</a:t>
            </a:r>
          </a:p>
        </p:txBody>
      </p:sp>
      <p:grpSp>
        <p:nvGrpSpPr>
          <p:cNvPr id="3" name="Group 2">
            <a:extLst>
              <a:ext uri="{FF2B5EF4-FFF2-40B4-BE49-F238E27FC236}">
                <a16:creationId xmlns:a16="http://schemas.microsoft.com/office/drawing/2014/main" id="{EEAADB24-4B4C-362D-862F-891719F80794}"/>
              </a:ext>
            </a:extLst>
          </p:cNvPr>
          <p:cNvGrpSpPr/>
          <p:nvPr/>
        </p:nvGrpSpPr>
        <p:grpSpPr>
          <a:xfrm>
            <a:off x="4146506" y="2952604"/>
            <a:ext cx="4300406" cy="2570126"/>
            <a:chOff x="4543100" y="2952604"/>
            <a:chExt cx="3903812" cy="2570126"/>
          </a:xfrm>
        </p:grpSpPr>
        <p:sp>
          <p:nvSpPr>
            <p:cNvPr id="6" name="TextBox 5">
              <a:extLst>
                <a:ext uri="{FF2B5EF4-FFF2-40B4-BE49-F238E27FC236}">
                  <a16:creationId xmlns:a16="http://schemas.microsoft.com/office/drawing/2014/main" id="{A28F9A7A-4E68-17F0-FD80-992DB87E748C}"/>
                </a:ext>
              </a:extLst>
            </p:cNvPr>
            <p:cNvSpPr txBox="1"/>
            <p:nvPr/>
          </p:nvSpPr>
          <p:spPr>
            <a:xfrm>
              <a:off x="4543100" y="3030894"/>
              <a:ext cx="3903812" cy="2491836"/>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8" name="Rectangle 7">
              <a:extLst>
                <a:ext uri="{FF2B5EF4-FFF2-40B4-BE49-F238E27FC236}">
                  <a16:creationId xmlns:a16="http://schemas.microsoft.com/office/drawing/2014/main" id="{FA23D42A-BB3F-3EFA-4CCB-5A700F8F468C}"/>
                </a:ext>
              </a:extLst>
            </p:cNvPr>
            <p:cNvSpPr/>
            <p:nvPr/>
          </p:nvSpPr>
          <p:spPr>
            <a:xfrm>
              <a:off x="6157798" y="314000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99D5C1C8-80D9-8C99-35CE-890BA17FBF13}"/>
                </a:ext>
              </a:extLst>
            </p:cNvPr>
            <p:cNvSpPr/>
            <p:nvPr/>
          </p:nvSpPr>
          <p:spPr>
            <a:xfrm>
              <a:off x="6157798" y="3631744"/>
              <a:ext cx="15781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BC8AC22D-D974-2FFF-B64D-6B0E1C0C6D26}"/>
                </a:ext>
              </a:extLst>
            </p:cNvPr>
            <p:cNvSpPr/>
            <p:nvPr/>
          </p:nvSpPr>
          <p:spPr>
            <a:xfrm>
              <a:off x="6157798" y="4111106"/>
              <a:ext cx="15781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7072582" y="2672301"/>
              <a:ext cx="275785" cy="83639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453670" y="5426698"/>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cxnSp>
        <p:nvCxnSpPr>
          <p:cNvPr id="23" name="Straight Arrow Connector 22">
            <a:extLst>
              <a:ext uri="{FF2B5EF4-FFF2-40B4-BE49-F238E27FC236}">
                <a16:creationId xmlns:a16="http://schemas.microsoft.com/office/drawing/2014/main" id="{5143A34A-C925-60C5-12C5-823EF15D1727}"/>
              </a:ext>
            </a:extLst>
          </p:cNvPr>
          <p:cNvCxnSpPr>
            <a:cxnSpLocks/>
          </p:cNvCxnSpPr>
          <p:nvPr/>
        </p:nvCxnSpPr>
        <p:spPr>
          <a:xfrm flipH="1" flipV="1">
            <a:off x="7545544" y="4396831"/>
            <a:ext cx="1470102" cy="7065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B532C9E-1658-59EF-E455-A13798945924}"/>
              </a:ext>
            </a:extLst>
          </p:cNvPr>
          <p:cNvSpPr txBox="1"/>
          <p:nvPr/>
        </p:nvSpPr>
        <p:spPr>
          <a:xfrm>
            <a:off x="8977859" y="4912371"/>
            <a:ext cx="1158202" cy="369332"/>
          </a:xfrm>
          <a:prstGeom prst="rect">
            <a:avLst/>
          </a:prstGeom>
          <a:noFill/>
        </p:spPr>
        <p:txBody>
          <a:bodyPr wrap="square">
            <a:spAutoFit/>
          </a:bodyPr>
          <a:lstStyle/>
          <a:p>
            <a:r>
              <a:rPr lang="en-US" dirty="0">
                <a:solidFill>
                  <a:srgbClr val="0070C1"/>
                </a:solidFill>
                <a:latin typeface="Fira Code" panose="020B0809050000020004" pitchFamily="49" charset="0"/>
              </a:rPr>
              <a:t>lit</a:t>
            </a:r>
            <a:r>
              <a:rPr lang="en-US" dirty="0">
                <a:solidFill>
                  <a:srgbClr val="000000"/>
                </a:solidFill>
                <a:latin typeface="Fira Code" panose="020B0809050000020004" pitchFamily="49" charset="0"/>
              </a:rPr>
              <a:t>&lt;</a:t>
            </a:r>
            <a:r>
              <a:rPr lang="en-US" b="0" noProof="0" dirty="0">
                <a:solidFill>
                  <a:srgbClr val="0070C1"/>
                </a:solidFill>
                <a:effectLst/>
                <a:latin typeface="Fira Code" panose="020B0809050000020004" pitchFamily="49" charset="0"/>
              </a:rPr>
              <a:t>N</a:t>
            </a:r>
            <a:r>
              <a:rPr lang="en-US" b="0" noProof="0" dirty="0">
                <a:solidFill>
                  <a:srgbClr val="000000"/>
                </a:solidFill>
                <a:effectLst/>
                <a:latin typeface="Fira Code" panose="020B0809050000020004" pitchFamily="49" charset="0"/>
              </a:rPr>
              <a:t>&gt;</a:t>
            </a:r>
            <a:endParaRPr lang="en-US" sz="3600" dirty="0"/>
          </a:p>
        </p:txBody>
      </p:sp>
      <p:sp>
        <p:nvSpPr>
          <p:cNvPr id="26" name="TextBox 25">
            <a:extLst>
              <a:ext uri="{FF2B5EF4-FFF2-40B4-BE49-F238E27FC236}">
                <a16:creationId xmlns:a16="http://schemas.microsoft.com/office/drawing/2014/main" id="{6320A0BC-2EC8-4B11-CD62-23DDBADCEF4D}"/>
              </a:ext>
            </a:extLst>
          </p:cNvPr>
          <p:cNvSpPr txBox="1"/>
          <p:nvPr/>
        </p:nvSpPr>
        <p:spPr>
          <a:xfrm>
            <a:off x="8182635" y="4396831"/>
            <a:ext cx="1137469" cy="369332"/>
          </a:xfrm>
          <a:prstGeom prst="rect">
            <a:avLst/>
          </a:prstGeom>
          <a:noFill/>
        </p:spPr>
        <p:txBody>
          <a:bodyPr wrap="square" rtlCol="0">
            <a:spAutoFit/>
          </a:bodyPr>
          <a:lstStyle/>
          <a:p>
            <a:r>
              <a:rPr lang="en-US" dirty="0"/>
              <a:t>replace</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726948" y="5426698"/>
            <a:ext cx="5603818" cy="639662"/>
          </a:xfrm>
          <a:prstGeom prst="rect">
            <a:avLst/>
          </a:prstGeom>
          <a:noFill/>
          <a:ln>
            <a:solidFill>
              <a:schemeClr val="tx1"/>
            </a:solidFill>
          </a:ln>
        </p:spPr>
        <p:txBody>
          <a:bodyPr wrap="square">
            <a:spAutoFit/>
          </a:bodyPr>
          <a:lstStyle/>
          <a:p>
            <a:pPr>
              <a:lnSpc>
                <a:spcPct val="113095"/>
              </a:lnSpc>
              <a:buNone/>
            </a:pPr>
            <a:r>
              <a:rPr lang="en-US" sz="1600" b="0" noProof="0" dirty="0" err="1">
                <a:solidFill>
                  <a:srgbClr val="795E26"/>
                </a:solidFill>
                <a:effectLst/>
                <a:latin typeface="Fira Code" panose="020B0809050000020004" pitchFamily="49" charset="0"/>
              </a:rPr>
              <a:t>cudaMalloc</a:t>
            </a:r>
            <a:r>
              <a:rPr lang="en-US" sz="1600" b="0" noProof="0" dirty="0">
                <a:solidFill>
                  <a:srgbClr val="000000"/>
                </a:solidFill>
                <a:effectLst/>
                <a:latin typeface="Fira Code" panose="020B0809050000020004" pitchFamily="49" charset="0"/>
              </a:rPr>
              <a:t>(&amp;</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 </a:t>
            </a: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get_size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smtClean="0"/>
              <a:t>8/28/2026</a:t>
            </a:fld>
            <a:endParaRPr lang="en-US"/>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smtClean="0"/>
              <a:t>5</a:t>
            </a:fld>
            <a:endParaRPr lang="en-US"/>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cxnSp>
        <p:nvCxnSpPr>
          <p:cNvPr id="15" name="Straight Arrow Connector 14">
            <a:extLst>
              <a:ext uri="{FF2B5EF4-FFF2-40B4-BE49-F238E27FC236}">
                <a16:creationId xmlns:a16="http://schemas.microsoft.com/office/drawing/2014/main" id="{1BF3510A-7AA6-1D61-17F1-1FC3E8CDC948}"/>
              </a:ext>
            </a:extLst>
          </p:cNvPr>
          <p:cNvCxnSpPr>
            <a:cxnSpLocks/>
            <a:stCxn id="7" idx="3"/>
          </p:cNvCxnSpPr>
          <p:nvPr/>
        </p:nvCxnSpPr>
        <p:spPr>
          <a:xfrm flipV="1">
            <a:off x="2874938" y="3428927"/>
            <a:ext cx="1312546" cy="3436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293004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2BA87-ADA6-CE21-2F9F-65EB68B210BE}"/>
              </a:ext>
            </a:extLst>
          </p:cNvPr>
          <p:cNvSpPr>
            <a:spLocks noGrp="1"/>
          </p:cNvSpPr>
          <p:nvPr>
            <p:ph type="title"/>
          </p:nvPr>
        </p:nvSpPr>
        <p:spPr/>
        <p:txBody>
          <a:bodyPr/>
          <a:lstStyle/>
          <a:p>
            <a:endParaRPr lang="en-US"/>
          </a:p>
        </p:txBody>
      </p:sp>
      <p:sp>
        <p:nvSpPr>
          <p:cNvPr id="4" name="TextBox 3">
            <a:extLst>
              <a:ext uri="{FF2B5EF4-FFF2-40B4-BE49-F238E27FC236}">
                <a16:creationId xmlns:a16="http://schemas.microsoft.com/office/drawing/2014/main" id="{6BEBBAE8-9564-BF75-198B-BAF5152BFACC}"/>
              </a:ext>
            </a:extLst>
          </p:cNvPr>
          <p:cNvSpPr txBox="1"/>
          <p:nvPr/>
        </p:nvSpPr>
        <p:spPr>
          <a:xfrm>
            <a:off x="733939" y="2010220"/>
            <a:ext cx="7454097" cy="1472070"/>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2000" dirty="0">
                <a:solidFill>
                  <a:srgbClr val="0070C1"/>
                </a:solidFill>
                <a:latin typeface="Fira Code" panose="020B0809050000020004" pitchFamily="49" charset="0"/>
              </a:rPr>
              <a:t>lit</a:t>
            </a:r>
            <a:r>
              <a:rPr lang="en-US" sz="2000" dirty="0">
                <a:solidFill>
                  <a:srgbClr val="000000"/>
                </a:solidFill>
                <a:latin typeface="Fira Code" panose="020B0809050000020004" pitchFamily="49" charset="0"/>
              </a:rPr>
              <a:t>&lt;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p>
          <a:p>
            <a:pPr>
              <a:lnSpc>
                <a:spcPct val="113095"/>
              </a:lnSpc>
              <a:buNone/>
            </a:pPr>
            <a:br>
              <a:rPr lang="en-US" sz="2000" b="0" noProof="0" dirty="0">
                <a:solidFill>
                  <a:srgbClr val="000000"/>
                </a:solidFill>
                <a:effectLst/>
                <a:latin typeface="Fira Code" panose="020B0809050000020004" pitchFamily="49" charset="0"/>
              </a:rPr>
            </a:b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 ^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a:t>
            </a:r>
          </a:p>
        </p:txBody>
      </p:sp>
      <p:sp>
        <p:nvSpPr>
          <p:cNvPr id="6" name="TextBox 5">
            <a:extLst>
              <a:ext uri="{FF2B5EF4-FFF2-40B4-BE49-F238E27FC236}">
                <a16:creationId xmlns:a16="http://schemas.microsoft.com/office/drawing/2014/main" id="{11576DD8-80C2-D612-5FC4-AC07F00ECAF2}"/>
              </a:ext>
            </a:extLst>
          </p:cNvPr>
          <p:cNvSpPr txBox="1"/>
          <p:nvPr/>
        </p:nvSpPr>
        <p:spPr>
          <a:xfrm>
            <a:off x="6339643" y="4041543"/>
            <a:ext cx="5280634" cy="2308965"/>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a:p>
            <a:pPr>
              <a:lnSpc>
                <a:spcPct val="113095"/>
              </a:lnSpc>
              <a:buNone/>
            </a:pPr>
            <a:br>
              <a:rPr lang="en-US" sz="1600" b="0" noProof="0" dirty="0">
                <a:solidFill>
                  <a:srgbClr val="000000"/>
                </a:solidFill>
                <a:effectLst/>
                <a:latin typeface="Fira Code" panose="020B0809050000020004" pitchFamily="49" charset="0"/>
              </a:rPr>
            </a:b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matrix</a:t>
            </a:r>
            <a:r>
              <a:rPr lang="en-US" sz="1600" b="0" noProof="0" dirty="0">
                <a:solidFill>
                  <a:srgbClr val="000000"/>
                </a:solidFill>
                <a:effectLst/>
                <a:latin typeface="Fira Code" panose="020B0809050000020004" pitchFamily="49" charset="0"/>
              </a:rPr>
              <a:t> =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7" name="Date Placeholder 6">
            <a:extLst>
              <a:ext uri="{FF2B5EF4-FFF2-40B4-BE49-F238E27FC236}">
                <a16:creationId xmlns:a16="http://schemas.microsoft.com/office/drawing/2014/main" id="{8167C2A3-A6EB-E986-BB56-227E7CC44045}"/>
              </a:ext>
            </a:extLst>
          </p:cNvPr>
          <p:cNvSpPr>
            <a:spLocks noGrp="1"/>
          </p:cNvSpPr>
          <p:nvPr>
            <p:ph type="dt" sz="half" idx="10"/>
          </p:nvPr>
        </p:nvSpPr>
        <p:spPr/>
        <p:txBody>
          <a:bodyPr/>
          <a:lstStyle/>
          <a:p>
            <a:fld id="{60762CC1-CEC8-4962-8ADE-D01B91546622}" type="datetime1">
              <a:rPr lang="en-US" smtClean="0"/>
              <a:t>8/28/2026</a:t>
            </a:fld>
            <a:endParaRPr lang="en-US"/>
          </a:p>
        </p:txBody>
      </p:sp>
      <p:sp>
        <p:nvSpPr>
          <p:cNvPr id="8" name="Slide Number Placeholder 7">
            <a:extLst>
              <a:ext uri="{FF2B5EF4-FFF2-40B4-BE49-F238E27FC236}">
                <a16:creationId xmlns:a16="http://schemas.microsoft.com/office/drawing/2014/main" id="{1A5672EE-876F-7378-AD5C-9D8F3F5CF486}"/>
              </a:ext>
            </a:extLst>
          </p:cNvPr>
          <p:cNvSpPr>
            <a:spLocks noGrp="1"/>
          </p:cNvSpPr>
          <p:nvPr>
            <p:ph type="sldNum" sz="quarter" idx="12"/>
          </p:nvPr>
        </p:nvSpPr>
        <p:spPr/>
        <p:txBody>
          <a:bodyPr/>
          <a:lstStyle/>
          <a:p>
            <a:fld id="{DA0BB241-1B5F-4309-9407-9EEA04D9598D}" type="slidenum">
              <a:rPr lang="en-US" smtClean="0"/>
              <a:t>6</a:t>
            </a:fld>
            <a:endParaRPr lang="en-US" dirty="0"/>
          </a:p>
        </p:txBody>
      </p:sp>
    </p:spTree>
    <p:extLst>
      <p:ext uri="{BB962C8B-B14F-4D97-AF65-F5344CB8AC3E}">
        <p14:creationId xmlns:p14="http://schemas.microsoft.com/office/powerpoint/2010/main" val="1604844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endParaRPr lang="en-US" noProof="0" dirty="0"/>
          </a:p>
        </p:txBody>
      </p:sp>
      <p:sp>
        <p:nvSpPr>
          <p:cNvPr id="8" name="TextBox 7">
            <a:extLst>
              <a:ext uri="{FF2B5EF4-FFF2-40B4-BE49-F238E27FC236}">
                <a16:creationId xmlns:a16="http://schemas.microsoft.com/office/drawing/2014/main" id="{26810423-91C4-985C-7F32-62943219F93C}"/>
              </a:ext>
            </a:extLst>
          </p:cNvPr>
          <p:cNvSpPr txBox="1"/>
          <p:nvPr/>
        </p:nvSpPr>
        <p:spPr>
          <a:xfrm>
            <a:off x="4274320" y="4746531"/>
            <a:ext cx="6181949" cy="2032031"/>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A31515"/>
                </a:solidFill>
                <a:effectLst/>
                <a:latin typeface="Fira Code" panose="020B0809050000020004" pitchFamily="49" charset="0"/>
              </a:rPr>
              <a:t>'n</a:t>
            </a:r>
            <a:r>
              <a:rPr lang="en-US" sz="1400" dirty="0">
                <a:solidFill>
                  <a:srgbClr val="A31515"/>
                </a:solidFill>
                <a:latin typeface="Fira Code" panose="020B0809050000020004" pitchFamily="49" charset="0"/>
              </a:rPr>
              <a:t>'</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a:p>
            <a:pPr>
              <a:lnSpc>
                <a:spcPct val="113095"/>
              </a:lnSpc>
            </a:pPr>
            <a:r>
              <a:rPr lang="en-US" sz="1400" dirty="0">
                <a:solidFill>
                  <a:srgbClr val="267F99"/>
                </a:solidFill>
                <a:latin typeface="Fira Code" panose="020B0809050000020004" pitchFamily="49" charset="0"/>
              </a:rPr>
              <a:t>auto</a:t>
            </a:r>
            <a:r>
              <a:rPr lang="en-US" sz="1400" dirty="0">
                <a:solidFill>
                  <a:srgbClr val="000000"/>
                </a:solidFill>
                <a:latin typeface="Fira Code" panose="020B0809050000020004" pitchFamily="49" charset="0"/>
              </a:rPr>
              <a:t> </a:t>
            </a:r>
            <a:r>
              <a:rPr lang="en-US" sz="1400" dirty="0">
                <a:solidFill>
                  <a:srgbClr val="001080"/>
                </a:solidFill>
                <a:latin typeface="Fira Code" panose="020B0809050000020004" pitchFamily="49" charset="0"/>
              </a:rPr>
              <a:t>C</a:t>
            </a:r>
            <a:r>
              <a:rPr lang="en-US" sz="1400" dirty="0">
                <a:solidFill>
                  <a:srgbClr val="000000"/>
                </a:solidFill>
                <a:latin typeface="Fira Code" panose="020B0809050000020004" pitchFamily="49" charset="0"/>
              </a:rPr>
              <a:t> = </a:t>
            </a:r>
            <a:r>
              <a:rPr lang="en-US" sz="1400" dirty="0">
                <a:solidFill>
                  <a:srgbClr val="795E26"/>
                </a:solidFill>
                <a:latin typeface="Fira Code" panose="020B0809050000020004" pitchFamily="49" charset="0"/>
              </a:rPr>
              <a:t>bag</a:t>
            </a:r>
            <a:r>
              <a:rPr lang="en-US" sz="1400" dirty="0">
                <a:solidFill>
                  <a:srgbClr val="000000"/>
                </a:solidFill>
                <a:latin typeface="Fira Code" panose="020B0809050000020004" pitchFamily="49" charset="0"/>
              </a:rPr>
              <a:t>(</a:t>
            </a:r>
            <a:r>
              <a:rPr lang="en-US" sz="1400" dirty="0">
                <a:solidFill>
                  <a:srgbClr val="267F99"/>
                </a:solidFill>
                <a:latin typeface="Fira Code" panose="020B0809050000020004" pitchFamily="49" charset="0"/>
              </a:rPr>
              <a:t>scalar</a:t>
            </a:r>
            <a:r>
              <a:rPr lang="en-US" sz="1400" dirty="0">
                <a:solidFill>
                  <a:srgbClr val="000000"/>
                </a:solidFill>
                <a:latin typeface="Fira Code" panose="020B0809050000020004" pitchFamily="49" charset="0"/>
              </a:rPr>
              <a:t>&lt;</a:t>
            </a:r>
            <a:r>
              <a:rPr lang="en-US" sz="1400" dirty="0">
                <a:solidFill>
                  <a:srgbClr val="0000FF"/>
                </a:solidFill>
                <a:latin typeface="Fira Code" panose="020B0809050000020004" pitchFamily="49" charset="0"/>
              </a:rPr>
              <a:t>float</a:t>
            </a:r>
            <a:r>
              <a:rPr lang="en-US" sz="1400" dirty="0">
                <a:solidFill>
                  <a:srgbClr val="000000"/>
                </a:solidFill>
                <a:latin typeface="Fira Code" panose="020B0809050000020004" pitchFamily="49" charset="0"/>
              </a:rPr>
              <a:t>&gt;() ^ </a:t>
            </a:r>
            <a:r>
              <a:rPr lang="en-US" sz="1400" dirty="0">
                <a:solidFill>
                  <a:srgbClr val="795E26"/>
                </a:solidFill>
                <a:latin typeface="Fira Code" panose="020B0809050000020004" pitchFamily="49" charset="0"/>
              </a:rPr>
              <a:t>vectors</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N</a:t>
            </a:r>
            <a:r>
              <a:rPr lang="en-US" sz="1400" dirty="0">
                <a:solidFill>
                  <a:srgbClr val="000000"/>
                </a:solidFill>
                <a:latin typeface="Fira Code" panose="020B0809050000020004" pitchFamily="49" charset="0"/>
              </a:rPr>
              <a:t>));</a:t>
            </a:r>
          </a:p>
          <a:p>
            <a:pPr>
              <a:lnSpc>
                <a:spcPct val="113095"/>
              </a:lnSpc>
              <a:buNone/>
            </a:pPr>
            <a:br>
              <a:rPr lang="en-US" sz="1400" b="0" noProof="0" dirty="0">
                <a:solidFill>
                  <a:srgbClr val="000000"/>
                </a:solidFill>
                <a:effectLst/>
                <a:latin typeface="Fira Code" panose="020B0809050000020004" pitchFamily="49" charset="0"/>
              </a:rPr>
            </a:br>
            <a:endParaRPr lang="en-US" sz="1400" b="0" noProof="0" dirty="0">
              <a:solidFill>
                <a:srgbClr val="000000"/>
              </a:solidFill>
              <a:effectLst/>
              <a:latin typeface="Fira Code" panose="020B0809050000020004" pitchFamily="49" charset="0"/>
            </a:endParaRPr>
          </a:p>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2" name="TextBox 11">
            <a:extLst>
              <a:ext uri="{FF2B5EF4-FFF2-40B4-BE49-F238E27FC236}">
                <a16:creationId xmlns:a16="http://schemas.microsoft.com/office/drawing/2014/main" id="{771F4919-C499-3F7D-4116-17B83C53ED34}"/>
              </a:ext>
            </a:extLst>
          </p:cNvPr>
          <p:cNvSpPr txBox="1"/>
          <p:nvPr/>
        </p:nvSpPr>
        <p:spPr>
          <a:xfrm>
            <a:off x="188464" y="3356717"/>
            <a:ext cx="5397050"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dirty="0" err="1">
                <a:solidFill>
                  <a:srgbClr val="795E26"/>
                </a:solidFill>
                <a:latin typeface="Fira Code" panose="020B0809050000020004" pitchFamily="49" charset="0"/>
              </a:rPr>
              <a:t>init</a:t>
            </a:r>
            <a:r>
              <a:rPr lang="en-US" dirty="0">
                <a:solidFill>
                  <a:srgbClr val="000000"/>
                </a:solidFill>
                <a:latin typeface="Fira Code" panose="020B0809050000020004" pitchFamily="49" charset="0"/>
              </a:rPr>
              <a:t>(</a:t>
            </a:r>
            <a:r>
              <a:rPr lang="en-US" dirty="0">
                <a:solidFill>
                  <a:srgbClr val="001080"/>
                </a:solidFill>
                <a:latin typeface="Fira Code" panose="020B0809050000020004" pitchFamily="49" charset="0"/>
              </a:rPr>
              <a:t>index</a:t>
            </a:r>
            <a:r>
              <a:rPr lang="en-US"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6455828" y="3384113"/>
            <a:ext cx="6052605"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from</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to</a:t>
            </a:r>
            <a:r>
              <a:rPr lang="en-US" b="0" noProof="0" dirty="0">
                <a:solidFill>
                  <a:srgbClr val="000000"/>
                </a:solidFill>
                <a:effectLst/>
                <a:latin typeface="Fira Code" panose="020B0809050000020004" pitchFamily="49" charset="0"/>
              </a:rPr>
              <a:t>) | [&amp;](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to</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from</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867590" y="2026812"/>
            <a:ext cx="4979939"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dirty="0">
                <a:solidFill>
                  <a:srgbClr val="098658"/>
                </a:solidFill>
                <a:latin typeface="Fira Code" panose="020B0809050000020004" pitchFamily="49" charset="0"/>
              </a:rPr>
              <a:t>m</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dirty="0">
                <a:solidFill>
                  <a:srgbClr val="098658"/>
                </a:solidFill>
                <a:latin typeface="Fira Code" panose="020B0809050000020004" pitchFamily="49" charset="0"/>
              </a:rPr>
              <a:t>n</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dirty="0">
                <a:solidFill>
                  <a:srgbClr val="001080"/>
                </a:solidFill>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 </a:t>
            </a:r>
            <a:r>
              <a:rPr lang="en-US" dirty="0" err="1">
                <a:solidFill>
                  <a:srgbClr val="795E26"/>
                </a:solidFill>
                <a:latin typeface="Fira Code" panose="020B0809050000020004" pitchFamily="49" charset="0"/>
              </a:rPr>
              <a:t>init</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1"/>
          </p:cNvCxnSpPr>
          <p:nvPr/>
        </p:nvCxnSpPr>
        <p:spPr>
          <a:xfrm rot="10800000" flipV="1">
            <a:off x="1612416" y="2537401"/>
            <a:ext cx="255175" cy="819316"/>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8540D793-376A-F83F-C9D7-12E23E131CE5}"/>
              </a:ext>
            </a:extLst>
          </p:cNvPr>
          <p:cNvPicPr>
            <a:picLocks noChangeAspect="1"/>
          </p:cNvPicPr>
          <p:nvPr/>
        </p:nvPicPr>
        <p:blipFill>
          <a:blip r:embed="rId3"/>
          <a:stretch>
            <a:fillRect/>
          </a:stretch>
        </p:blipFill>
        <p:spPr>
          <a:xfrm>
            <a:off x="1810250" y="4922429"/>
            <a:ext cx="2381250" cy="1352550"/>
          </a:xfrm>
          <a:prstGeom prst="rect">
            <a:avLst/>
          </a:prstGeom>
        </p:spPr>
      </p:pic>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smtClean="0"/>
              <a:t>8/28/2026</a:t>
            </a:fld>
            <a:endParaRPr lang="en-US"/>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smtClean="0"/>
              <a:t>7</a:t>
            </a:fld>
            <a:endParaRPr lang="en-US"/>
          </a:p>
        </p:txBody>
      </p:sp>
      <p:sp>
        <p:nvSpPr>
          <p:cNvPr id="11" name="Rectangle 10">
            <a:extLst>
              <a:ext uri="{FF2B5EF4-FFF2-40B4-BE49-F238E27FC236}">
                <a16:creationId xmlns:a16="http://schemas.microsoft.com/office/drawing/2014/main" id="{430E17CC-3182-0DFD-4C83-E3654869F0F4}"/>
              </a:ext>
            </a:extLst>
          </p:cNvPr>
          <p:cNvSpPr/>
          <p:nvPr/>
        </p:nvSpPr>
        <p:spPr>
          <a:xfrm>
            <a:off x="5276997" y="4610085"/>
            <a:ext cx="5104754" cy="920271"/>
          </a:xfrm>
          <a:prstGeom prst="rect">
            <a:avLst/>
          </a:prstGeom>
          <a:solidFill>
            <a:srgbClr val="FFFFFF">
              <a:alpha val="3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A9A86E85-8E7C-683C-C244-2344EE805A9E}"/>
              </a:ext>
            </a:extLst>
          </p:cNvPr>
          <p:cNvSpPr txBox="1"/>
          <p:nvPr/>
        </p:nvSpPr>
        <p:spPr>
          <a:xfrm>
            <a:off x="3524638" y="1674084"/>
            <a:ext cx="1665841" cy="369332"/>
          </a:xfrm>
          <a:prstGeom prst="rect">
            <a:avLst/>
          </a:prstGeom>
          <a:noFill/>
        </p:spPr>
        <p:txBody>
          <a:bodyPr wrap="none" rtlCol="0">
            <a:spAutoFit/>
          </a:bodyPr>
          <a:lstStyle/>
          <a:p>
            <a:r>
              <a:rPr lang="en-US" dirty="0"/>
              <a:t>Matrix initialize</a:t>
            </a:r>
          </a:p>
        </p:txBody>
      </p:sp>
      <p:sp>
        <p:nvSpPr>
          <p:cNvPr id="15" name="TextBox 14">
            <a:extLst>
              <a:ext uri="{FF2B5EF4-FFF2-40B4-BE49-F238E27FC236}">
                <a16:creationId xmlns:a16="http://schemas.microsoft.com/office/drawing/2014/main" id="{5AC42510-7505-8080-DACA-010297680AE7}"/>
              </a:ext>
            </a:extLst>
          </p:cNvPr>
          <p:cNvSpPr txBox="1"/>
          <p:nvPr/>
        </p:nvSpPr>
        <p:spPr>
          <a:xfrm>
            <a:off x="9130431" y="3022048"/>
            <a:ext cx="703398" cy="369332"/>
          </a:xfrm>
          <a:prstGeom prst="rect">
            <a:avLst/>
          </a:prstGeom>
          <a:noFill/>
        </p:spPr>
        <p:txBody>
          <a:bodyPr wrap="none" rtlCol="0">
            <a:spAutoFit/>
          </a:bodyPr>
          <a:lstStyle/>
          <a:p>
            <a:r>
              <a:rPr lang="en-US" dirty="0"/>
              <a:t>Copy</a:t>
            </a:r>
          </a:p>
        </p:txBody>
      </p:sp>
      <p:sp>
        <p:nvSpPr>
          <p:cNvPr id="18" name="TextBox 17">
            <a:extLst>
              <a:ext uri="{FF2B5EF4-FFF2-40B4-BE49-F238E27FC236}">
                <a16:creationId xmlns:a16="http://schemas.microsoft.com/office/drawing/2014/main" id="{6C2D8186-5554-A5E9-260E-01CC6F7A914B}"/>
              </a:ext>
            </a:extLst>
          </p:cNvPr>
          <p:cNvSpPr txBox="1"/>
          <p:nvPr/>
        </p:nvSpPr>
        <p:spPr>
          <a:xfrm>
            <a:off x="6539590" y="4425419"/>
            <a:ext cx="1651414" cy="369332"/>
          </a:xfrm>
          <a:prstGeom prst="rect">
            <a:avLst/>
          </a:prstGeom>
          <a:noFill/>
        </p:spPr>
        <p:txBody>
          <a:bodyPr wrap="none" rtlCol="0">
            <a:spAutoFit/>
          </a:bodyPr>
          <a:lstStyle/>
          <a:p>
            <a:pPr algn="ctr"/>
            <a:r>
              <a:rPr lang="en-US" dirty="0"/>
              <a:t>Matrix multiply</a:t>
            </a:r>
          </a:p>
        </p:txBody>
      </p:sp>
    </p:spTree>
    <p:extLst>
      <p:ext uri="{BB962C8B-B14F-4D97-AF65-F5344CB8AC3E}">
        <p14:creationId xmlns:p14="http://schemas.microsoft.com/office/powerpoint/2010/main" val="1912447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endParaRPr lang="en-US" noProof="0" dirty="0"/>
          </a:p>
        </p:txBody>
      </p:sp>
      <p:sp>
        <p:nvSpPr>
          <p:cNvPr id="8" name="TextBox 7">
            <a:extLst>
              <a:ext uri="{FF2B5EF4-FFF2-40B4-BE49-F238E27FC236}">
                <a16:creationId xmlns:a16="http://schemas.microsoft.com/office/drawing/2014/main" id="{B17E6F97-71C0-E7B6-3913-C7F1E0B84654}"/>
              </a:ext>
            </a:extLst>
          </p:cNvPr>
          <p:cNvSpPr txBox="1"/>
          <p:nvPr/>
        </p:nvSpPr>
        <p:spPr>
          <a:xfrm>
            <a:off x="376823" y="2082114"/>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p:txBody>
      </p:sp>
      <p:sp>
        <p:nvSpPr>
          <p:cNvPr id="3" name="TextBox 2">
            <a:extLst>
              <a:ext uri="{FF2B5EF4-FFF2-40B4-BE49-F238E27FC236}">
                <a16:creationId xmlns:a16="http://schemas.microsoft.com/office/drawing/2014/main" id="{D494DC07-12F0-E28A-EFF4-4CF7F2299BE3}"/>
              </a:ext>
            </a:extLst>
          </p:cNvPr>
          <p:cNvSpPr txBox="1"/>
          <p:nvPr/>
        </p:nvSpPr>
        <p:spPr>
          <a:xfrm>
            <a:off x="22168" y="3395316"/>
            <a:ext cx="6174234"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1"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a:off x="3109285" y="2999994"/>
            <a:ext cx="0" cy="395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CC491D5F-87A9-86A7-7FCA-6D057EBD3917}"/>
              </a:ext>
            </a:extLst>
          </p:cNvPr>
          <p:cNvSpPr txBox="1"/>
          <p:nvPr/>
        </p:nvSpPr>
        <p:spPr>
          <a:xfrm>
            <a:off x="6779116" y="2080889"/>
            <a:ext cx="4707604" cy="814710"/>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cxnSp>
        <p:nvCxnSpPr>
          <p:cNvPr id="19" name="Straight Arrow Connector 18">
            <a:extLst>
              <a:ext uri="{FF2B5EF4-FFF2-40B4-BE49-F238E27FC236}">
                <a16:creationId xmlns:a16="http://schemas.microsoft.com/office/drawing/2014/main" id="{4DA75F1C-EAFF-E762-3C05-5DE016DCE536}"/>
              </a:ext>
            </a:extLst>
          </p:cNvPr>
          <p:cNvCxnSpPr>
            <a:cxnSpLocks/>
            <a:stCxn id="17" idx="2"/>
            <a:endCxn id="20" idx="0"/>
          </p:cNvCxnSpPr>
          <p:nvPr/>
        </p:nvCxnSpPr>
        <p:spPr>
          <a:xfrm>
            <a:off x="9132918" y="2895599"/>
            <a:ext cx="0" cy="4997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4915A9C6-A6D8-702B-6337-4504A626F924}"/>
              </a:ext>
            </a:extLst>
          </p:cNvPr>
          <p:cNvGrpSpPr/>
          <p:nvPr/>
        </p:nvGrpSpPr>
        <p:grpSpPr>
          <a:xfrm>
            <a:off x="6303127" y="3395316"/>
            <a:ext cx="5659582" cy="2460566"/>
            <a:chOff x="7021150" y="3108961"/>
            <a:chExt cx="4244962" cy="2460566"/>
          </a:xfrm>
        </p:grpSpPr>
        <p:sp>
          <p:nvSpPr>
            <p:cNvPr id="13" name="TextBox 12">
              <a:extLst>
                <a:ext uri="{FF2B5EF4-FFF2-40B4-BE49-F238E27FC236}">
                  <a16:creationId xmlns:a16="http://schemas.microsoft.com/office/drawing/2014/main" id="{F1D88C1D-F06F-5ACA-392E-B0B03F940713}"/>
                </a:ext>
              </a:extLst>
            </p:cNvPr>
            <p:cNvSpPr txBox="1"/>
            <p:nvPr/>
          </p:nvSpPr>
          <p:spPr>
            <a:xfrm>
              <a:off x="7079772" y="3214970"/>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omp_for_each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FC04F895-4DAA-A566-47D4-C9E4F4C00E4B}"/>
                </a:ext>
              </a:extLst>
            </p:cNvPr>
            <p:cNvSpPr txBox="1"/>
            <p:nvPr/>
          </p:nvSpPr>
          <p:spPr>
            <a:xfrm>
              <a:off x="7079772" y="4182753"/>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tbb_for_each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20" name="Rectangle 19">
              <a:extLst>
                <a:ext uri="{FF2B5EF4-FFF2-40B4-BE49-F238E27FC236}">
                  <a16:creationId xmlns:a16="http://schemas.microsoft.com/office/drawing/2014/main" id="{E2DC5447-092D-F842-C746-A6D6C5FE1A74}"/>
                </a:ext>
              </a:extLst>
            </p:cNvPr>
            <p:cNvSpPr/>
            <p:nvPr/>
          </p:nvSpPr>
          <p:spPr>
            <a:xfrm>
              <a:off x="7021150" y="3108961"/>
              <a:ext cx="4244962" cy="2460566"/>
            </a:xfrm>
            <a:prstGeom prst="rect">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gr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smtClean="0"/>
              <a:t>8/28/2026</a:t>
            </a:fld>
            <a:endParaRPr lang="en-US"/>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smtClean="0"/>
              <a:t>8</a:t>
            </a:fld>
            <a:endParaRPr lang="en-US"/>
          </a:p>
        </p:txBody>
      </p:sp>
    </p:spTree>
    <p:extLst>
      <p:ext uri="{BB962C8B-B14F-4D97-AF65-F5344CB8AC3E}">
        <p14:creationId xmlns:p14="http://schemas.microsoft.com/office/powerpoint/2010/main" val="1117610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endParaRPr lang="en-US" noProof="0" dirty="0"/>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3648473" y="3573561"/>
            <a:ext cx="4208444" cy="1949986"/>
          </a:xfrm>
          <a:prstGeom prst="rect">
            <a:avLst/>
          </a:prstGeom>
        </p:spPr>
      </p:pic>
      <p:sp>
        <p:nvSpPr>
          <p:cNvPr id="10" name="Rectangle 9">
            <a:extLst>
              <a:ext uri="{FF2B5EF4-FFF2-40B4-BE49-F238E27FC236}">
                <a16:creationId xmlns:a16="http://schemas.microsoft.com/office/drawing/2014/main" id="{156176CF-A5A8-202F-6D91-07F22B4C343A}"/>
              </a:ext>
            </a:extLst>
          </p:cNvPr>
          <p:cNvSpPr/>
          <p:nvPr/>
        </p:nvSpPr>
        <p:spPr>
          <a:xfrm>
            <a:off x="838200" y="2467778"/>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Tuning parameters</a:t>
            </a:r>
          </a:p>
        </p:txBody>
      </p:sp>
      <p:sp>
        <p:nvSpPr>
          <p:cNvPr id="12" name="Rectangle 11">
            <a:extLst>
              <a:ext uri="{FF2B5EF4-FFF2-40B4-BE49-F238E27FC236}">
                <a16:creationId xmlns:a16="http://schemas.microsoft.com/office/drawing/2014/main" id="{EF842F52-719B-B662-4BF8-29ED15AC61DB}"/>
              </a:ext>
            </a:extLst>
          </p:cNvPr>
          <p:cNvSpPr/>
          <p:nvPr/>
        </p:nvSpPr>
        <p:spPr>
          <a:xfrm>
            <a:off x="838200" y="4763226"/>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code</a:t>
            </a:r>
          </a:p>
        </p:txBody>
      </p:sp>
      <p:cxnSp>
        <p:nvCxnSpPr>
          <p:cNvPr id="14" name="Straight Arrow Connector 13">
            <a:extLst>
              <a:ext uri="{FF2B5EF4-FFF2-40B4-BE49-F238E27FC236}">
                <a16:creationId xmlns:a16="http://schemas.microsoft.com/office/drawing/2014/main" id="{B602A479-F122-7128-33EA-B0468E099110}"/>
              </a:ext>
            </a:extLst>
          </p:cNvPr>
          <p:cNvCxnSpPr/>
          <p:nvPr/>
        </p:nvCxnSpPr>
        <p:spPr>
          <a:xfrm>
            <a:off x="8020594" y="4484914"/>
            <a:ext cx="12975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C357A183-7240-A9A1-5A5E-E5F000C6DC05}"/>
              </a:ext>
            </a:extLst>
          </p:cNvPr>
          <p:cNvSpPr/>
          <p:nvPr/>
        </p:nvSpPr>
        <p:spPr>
          <a:xfrm>
            <a:off x="9394372" y="3683729"/>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Optimized application</a:t>
            </a:r>
          </a:p>
        </p:txBody>
      </p:sp>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4324489" y="5513019"/>
            <a:ext cx="2856411" cy="979856"/>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7707086" y="5750350"/>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10474420" y="5500211"/>
            <a:ext cx="1099238" cy="1099238"/>
          </a:xfrm>
          <a:prstGeom prst="rect">
            <a:avLst/>
          </a:prstGeom>
        </p:spPr>
      </p:pic>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smtClean="0"/>
              <a:t>8/28/2026</a:t>
            </a:fld>
            <a:endParaRPr lang="en-US"/>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smtClean="0"/>
              <a:t>9</a:t>
            </a:fld>
            <a:endParaRPr lang="en-US"/>
          </a:p>
        </p:txBody>
      </p:sp>
    </p:spTree>
    <p:extLst>
      <p:ext uri="{BB962C8B-B14F-4D97-AF65-F5344CB8AC3E}">
        <p14:creationId xmlns:p14="http://schemas.microsoft.com/office/powerpoint/2010/main" val="189335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9DEA8950-CA38-AB92-B8E8-AA6307D5641D}"/>
              </a:ext>
            </a:extLst>
          </p:cNvPr>
          <p:cNvPicPr>
            <a:picLocks noChangeAspect="1"/>
          </p:cNvPicPr>
          <p:nvPr/>
        </p:nvPicPr>
        <p:blipFill>
          <a:blip r:embed="rId3"/>
          <a:stretch>
            <a:fillRect/>
          </a:stretch>
        </p:blipFill>
        <p:spPr>
          <a:xfrm>
            <a:off x="412017" y="2181326"/>
            <a:ext cx="4875384" cy="3176386"/>
          </a:xfrm>
          <a:prstGeom prst="rect">
            <a:avLst/>
          </a:prstGeom>
        </p:spPr>
      </p:pic>
      <p:pic>
        <p:nvPicPr>
          <p:cNvPr id="7" name="Picture 6">
            <a:extLst>
              <a:ext uri="{FF2B5EF4-FFF2-40B4-BE49-F238E27FC236}">
                <a16:creationId xmlns:a16="http://schemas.microsoft.com/office/drawing/2014/main" id="{99441161-F869-E92F-AAEA-DABA0E43A58C}"/>
              </a:ext>
            </a:extLst>
          </p:cNvPr>
          <p:cNvPicPr>
            <a:picLocks noChangeAspect="1"/>
          </p:cNvPicPr>
          <p:nvPr/>
        </p:nvPicPr>
        <p:blipFill>
          <a:blip r:embed="rId4"/>
          <a:stretch>
            <a:fillRect/>
          </a:stretch>
        </p:blipFill>
        <p:spPr>
          <a:xfrm>
            <a:off x="5362217" y="2626979"/>
            <a:ext cx="6675976" cy="2668386"/>
          </a:xfrm>
          <a:prstGeom prst="rect">
            <a:avLst/>
          </a:prstGeom>
        </p:spPr>
      </p:pic>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smtClean="0"/>
              <a:t>8/28/2026</a:t>
            </a:fld>
            <a:endParaRPr lang="en-US"/>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smtClean="0"/>
              <a:t>10</a:t>
            </a:fld>
            <a:endParaRPr lang="en-US"/>
          </a:p>
        </p:txBody>
      </p:sp>
      <p:sp>
        <p:nvSpPr>
          <p:cNvPr id="6" name="TextBox 5">
            <a:extLst>
              <a:ext uri="{FF2B5EF4-FFF2-40B4-BE49-F238E27FC236}">
                <a16:creationId xmlns:a16="http://schemas.microsoft.com/office/drawing/2014/main" id="{C48EE12D-A54F-6CFD-63D4-ED8425AA5254}"/>
              </a:ext>
            </a:extLst>
          </p:cNvPr>
          <p:cNvSpPr txBox="1"/>
          <p:nvPr/>
        </p:nvSpPr>
        <p:spPr>
          <a:xfrm>
            <a:off x="2209800" y="1913901"/>
            <a:ext cx="1472775" cy="369332"/>
          </a:xfrm>
          <a:prstGeom prst="rect">
            <a:avLst/>
          </a:prstGeom>
          <a:noFill/>
        </p:spPr>
        <p:txBody>
          <a:bodyPr wrap="none" rtlCol="0">
            <a:spAutoFit/>
          </a:bodyPr>
          <a:lstStyle/>
          <a:p>
            <a:r>
              <a:rPr lang="en-US" dirty="0" err="1"/>
              <a:t>PolyBench</a:t>
            </a:r>
            <a:r>
              <a:rPr lang="en-US" dirty="0"/>
              <a:t>/C</a:t>
            </a:r>
          </a:p>
        </p:txBody>
      </p:sp>
      <p:sp>
        <p:nvSpPr>
          <p:cNvPr id="10" name="TextBox 9">
            <a:extLst>
              <a:ext uri="{FF2B5EF4-FFF2-40B4-BE49-F238E27FC236}">
                <a16:creationId xmlns:a16="http://schemas.microsoft.com/office/drawing/2014/main" id="{5C94ADD4-4CFC-E812-3B36-B6402C655DF5}"/>
              </a:ext>
            </a:extLst>
          </p:cNvPr>
          <p:cNvSpPr txBox="1"/>
          <p:nvPr/>
        </p:nvSpPr>
        <p:spPr>
          <a:xfrm>
            <a:off x="6561938" y="1920380"/>
            <a:ext cx="1626098" cy="646331"/>
          </a:xfrm>
          <a:prstGeom prst="rect">
            <a:avLst/>
          </a:prstGeom>
          <a:noFill/>
        </p:spPr>
        <p:txBody>
          <a:bodyPr wrap="square" rtlCol="0">
            <a:spAutoFit/>
          </a:bodyPr>
          <a:lstStyle/>
          <a:p>
            <a:pPr algn="ctr"/>
            <a:r>
              <a:rPr lang="en-US" dirty="0" err="1"/>
              <a:t>PolyBench</a:t>
            </a:r>
            <a:r>
              <a:rPr lang="en-US" dirty="0"/>
              <a:t>/C</a:t>
            </a:r>
            <a:br>
              <a:rPr lang="en-US" dirty="0"/>
            </a:br>
            <a:r>
              <a:rPr lang="en-US" dirty="0"/>
              <a:t>subset</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7182452" y="686211"/>
            <a:ext cx="241068" cy="388153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073698DB-93D9-A5F0-02CC-BCBD40643F77}"/>
              </a:ext>
            </a:extLst>
          </p:cNvPr>
          <p:cNvSpPr txBox="1"/>
          <p:nvPr/>
        </p:nvSpPr>
        <p:spPr>
          <a:xfrm>
            <a:off x="10402276" y="2080020"/>
            <a:ext cx="1903048" cy="646331"/>
          </a:xfrm>
          <a:prstGeom prst="rect">
            <a:avLst/>
          </a:prstGeom>
          <a:noFill/>
        </p:spPr>
        <p:txBody>
          <a:bodyPr wrap="square" rtlCol="0">
            <a:spAutoFit/>
          </a:bodyPr>
          <a:lstStyle/>
          <a:p>
            <a:pPr algn="ctr"/>
            <a:r>
              <a:rPr lang="en-US" dirty="0" err="1"/>
              <a:t>PolyBench</a:t>
            </a:r>
            <a:r>
              <a:rPr lang="en-US" dirty="0"/>
              <a:t>/GPU</a:t>
            </a:r>
            <a:br>
              <a:rPr lang="en-US" dirty="0"/>
            </a:br>
            <a:r>
              <a:rPr lang="en-US" dirty="0"/>
              <a:t>subset</a:t>
            </a:r>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dirty="0">
                <a:solidFill>
                  <a:srgbClr val="C00000"/>
                </a:solidFill>
              </a:rPr>
              <a:t>Slightly more verbose</a:t>
            </a:r>
          </a:p>
          <a:p>
            <a:r>
              <a:rPr lang="en-US" dirty="0">
                <a:solidFill>
                  <a:schemeClr val="accent6"/>
                </a:solidFill>
              </a:rPr>
              <a:t>Less complex control flow</a:t>
            </a:r>
          </a:p>
          <a:p>
            <a:r>
              <a:rPr lang="en-US" dirty="0">
                <a:solidFill>
                  <a:srgbClr val="0070C0"/>
                </a:solidFill>
              </a:rPr>
              <a:t>Easier indexation</a:t>
            </a:r>
          </a:p>
          <a:p>
            <a:endParaRPr lang="en-US" dirty="0">
              <a:solidFill>
                <a:srgbClr val="0070C0"/>
              </a:solidFill>
            </a:endParaRPr>
          </a:p>
          <a:p>
            <a:pPr>
              <a:buFont typeface="Aptos" panose="020B0004020202020204" pitchFamily="34" charset="0"/>
              <a:buChar char="+"/>
            </a:pPr>
            <a:r>
              <a:rPr lang="en-US" dirty="0"/>
              <a:t>Higher flexibility</a:t>
            </a:r>
          </a:p>
          <a:p>
            <a:pPr>
              <a:buFont typeface="Aptos" panose="020B0004020202020204" pitchFamily="34" charset="0"/>
              <a:buChar char="+"/>
            </a:pPr>
            <a:r>
              <a:rPr lang="en-US"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smtClean="0"/>
              <a:t>8/28/2026</a:t>
            </a:fld>
            <a:endParaRPr lang="en-US"/>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smtClean="0"/>
              <a:t>11</a:t>
            </a:fld>
            <a:endParaRPr lang="en-US"/>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85466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a:t>
            </a:r>
            <a:br>
              <a:rPr lang="en-US" noProof="0" dirty="0"/>
            </a:br>
            <a:r>
              <a:rPr lang="en-US" noProof="0" dirty="0"/>
              <a:t>initialization</a:t>
            </a:r>
          </a:p>
        </p:txBody>
      </p:sp>
      <p:sp>
        <p:nvSpPr>
          <p:cNvPr id="20" name="Rectangle 19">
            <a:extLst>
              <a:ext uri="{FF2B5EF4-FFF2-40B4-BE49-F238E27FC236}">
                <a16:creationId xmlns:a16="http://schemas.microsoft.com/office/drawing/2014/main" id="{68DE49E3-54DC-3782-623E-9216D46CB5CE}"/>
              </a:ext>
            </a:extLst>
          </p:cNvPr>
          <p:cNvSpPr/>
          <p:nvPr/>
        </p:nvSpPr>
        <p:spPr>
          <a:xfrm>
            <a:off x="1075129" y="2865120"/>
            <a:ext cx="3457303" cy="29319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6" name="Straight Connector 25">
            <a:extLst>
              <a:ext uri="{FF2B5EF4-FFF2-40B4-BE49-F238E27FC236}">
                <a16:creationId xmlns:a16="http://schemas.microsoft.com/office/drawing/2014/main" id="{373B90C4-3CC0-EAED-05A7-6CA4FBF81952}"/>
              </a:ext>
            </a:extLst>
          </p:cNvPr>
          <p:cNvCxnSpPr>
            <a:cxnSpLocks/>
            <a:stCxn id="20" idx="0"/>
            <a:endCxn id="20" idx="2"/>
          </p:cNvCxnSpPr>
          <p:nvPr/>
        </p:nvCxnSpPr>
        <p:spPr>
          <a:xfrm>
            <a:off x="2803781" y="2865120"/>
            <a:ext cx="0" cy="293192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154316A-36DD-6CAD-BA3D-6B14B9D4FF2C}"/>
              </a:ext>
            </a:extLst>
          </p:cNvPr>
          <p:cNvCxnSpPr>
            <a:cxnSpLocks/>
          </p:cNvCxnSpPr>
          <p:nvPr/>
        </p:nvCxnSpPr>
        <p:spPr>
          <a:xfrm>
            <a:off x="1075128" y="3838224"/>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769E367-8977-3525-B957-1C2C939268D0}"/>
              </a:ext>
            </a:extLst>
          </p:cNvPr>
          <p:cNvCxnSpPr>
            <a:cxnSpLocks/>
          </p:cNvCxnSpPr>
          <p:nvPr/>
        </p:nvCxnSpPr>
        <p:spPr>
          <a:xfrm flipH="1" flipV="1">
            <a:off x="838200" y="2485505"/>
            <a:ext cx="938349" cy="113726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3E6A879-F94D-8BAD-DAE3-09369A5F6D70}"/>
              </a:ext>
            </a:extLst>
          </p:cNvPr>
          <p:cNvCxnSpPr>
            <a:cxnSpLocks/>
          </p:cNvCxnSpPr>
          <p:nvPr/>
        </p:nvCxnSpPr>
        <p:spPr>
          <a:xfrm flipV="1">
            <a:off x="3587931" y="2394065"/>
            <a:ext cx="228202" cy="12287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55C2E09E-5B58-FA16-4041-C9FA139933D6}"/>
              </a:ext>
            </a:extLst>
          </p:cNvPr>
          <p:cNvCxnSpPr>
            <a:cxnSpLocks/>
          </p:cNvCxnSpPr>
          <p:nvPr/>
        </p:nvCxnSpPr>
        <p:spPr>
          <a:xfrm flipH="1">
            <a:off x="981516" y="4417583"/>
            <a:ext cx="728828" cy="426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C95CC93-9CA9-7209-C22C-7D083498E953}"/>
              </a:ext>
            </a:extLst>
          </p:cNvPr>
          <p:cNvSpPr txBox="1"/>
          <p:nvPr/>
        </p:nvSpPr>
        <p:spPr>
          <a:xfrm>
            <a:off x="6776428" y="71613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smtClean="0"/>
              <a:t>8/28/2026</a:t>
            </a:fld>
            <a:endParaRPr lang="en-US"/>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smtClean="0"/>
              <a:t>12</a:t>
            </a:fld>
            <a:endParaRPr lang="en-US"/>
          </a:p>
        </p:txBody>
      </p:sp>
      <p:cxnSp>
        <p:nvCxnSpPr>
          <p:cNvPr id="8" name="Straight Connector 7">
            <a:extLst>
              <a:ext uri="{FF2B5EF4-FFF2-40B4-BE49-F238E27FC236}">
                <a16:creationId xmlns:a16="http://schemas.microsoft.com/office/drawing/2014/main" id="{ED003267-ED43-03B4-278E-5280E26920E3}"/>
              </a:ext>
            </a:extLst>
          </p:cNvPr>
          <p:cNvCxnSpPr>
            <a:cxnSpLocks/>
          </p:cNvCxnSpPr>
          <p:nvPr/>
        </p:nvCxnSpPr>
        <p:spPr>
          <a:xfrm>
            <a:off x="3546388" y="4401480"/>
            <a:ext cx="1020023" cy="6562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5296D5F-A05B-5F58-38B3-8D1590117EB3}"/>
              </a:ext>
            </a:extLst>
          </p:cNvPr>
          <p:cNvSpPr txBox="1"/>
          <p:nvPr/>
        </p:nvSpPr>
        <p:spPr>
          <a:xfrm>
            <a:off x="460852" y="2024733"/>
            <a:ext cx="1253869" cy="369332"/>
          </a:xfrm>
          <a:prstGeom prst="rect">
            <a:avLst/>
          </a:prstGeom>
          <a:noFill/>
        </p:spPr>
        <p:txBody>
          <a:bodyPr wrap="none" rtlCol="0">
            <a:spAutoFit/>
          </a:bodyPr>
          <a:lstStyle/>
          <a:p>
            <a:r>
              <a:rPr lang="en-US" dirty="0"/>
              <a:t>Node 0 tile</a:t>
            </a:r>
          </a:p>
        </p:txBody>
      </p:sp>
      <p:sp>
        <p:nvSpPr>
          <p:cNvPr id="13" name="TextBox 12">
            <a:extLst>
              <a:ext uri="{FF2B5EF4-FFF2-40B4-BE49-F238E27FC236}">
                <a16:creationId xmlns:a16="http://schemas.microsoft.com/office/drawing/2014/main" id="{E01F05D8-0601-7358-07BD-D86E1609A0BD}"/>
              </a:ext>
            </a:extLst>
          </p:cNvPr>
          <p:cNvSpPr txBox="1"/>
          <p:nvPr/>
        </p:nvSpPr>
        <p:spPr>
          <a:xfrm>
            <a:off x="3567424" y="2055580"/>
            <a:ext cx="1253869" cy="369332"/>
          </a:xfrm>
          <a:prstGeom prst="rect">
            <a:avLst/>
          </a:prstGeom>
          <a:noFill/>
        </p:spPr>
        <p:txBody>
          <a:bodyPr wrap="none" rtlCol="0">
            <a:spAutoFit/>
          </a:bodyPr>
          <a:lstStyle/>
          <a:p>
            <a:r>
              <a:rPr lang="en-US" dirty="0"/>
              <a:t>Node 1 tile</a:t>
            </a:r>
          </a:p>
        </p:txBody>
      </p:sp>
      <p:sp>
        <p:nvSpPr>
          <p:cNvPr id="15" name="TextBox 14">
            <a:extLst>
              <a:ext uri="{FF2B5EF4-FFF2-40B4-BE49-F238E27FC236}">
                <a16:creationId xmlns:a16="http://schemas.microsoft.com/office/drawing/2014/main" id="{9F061358-0F0F-A077-E956-FC8F9870197C}"/>
              </a:ext>
            </a:extLst>
          </p:cNvPr>
          <p:cNvSpPr txBox="1"/>
          <p:nvPr/>
        </p:nvSpPr>
        <p:spPr>
          <a:xfrm>
            <a:off x="-76502" y="4166154"/>
            <a:ext cx="1253869" cy="369332"/>
          </a:xfrm>
          <a:prstGeom prst="rect">
            <a:avLst/>
          </a:prstGeom>
          <a:noFill/>
        </p:spPr>
        <p:txBody>
          <a:bodyPr wrap="none" rtlCol="0">
            <a:spAutoFit/>
          </a:bodyPr>
          <a:lstStyle/>
          <a:p>
            <a:r>
              <a:rPr lang="en-US" dirty="0"/>
              <a:t>Node 2 tile</a:t>
            </a:r>
          </a:p>
        </p:txBody>
      </p:sp>
      <p:sp>
        <p:nvSpPr>
          <p:cNvPr id="17" name="TextBox 16">
            <a:extLst>
              <a:ext uri="{FF2B5EF4-FFF2-40B4-BE49-F238E27FC236}">
                <a16:creationId xmlns:a16="http://schemas.microsoft.com/office/drawing/2014/main" id="{C63BF661-92F9-FB3E-6644-A624F3682A41}"/>
              </a:ext>
            </a:extLst>
          </p:cNvPr>
          <p:cNvSpPr txBox="1"/>
          <p:nvPr/>
        </p:nvSpPr>
        <p:spPr>
          <a:xfrm>
            <a:off x="4566411" y="4319175"/>
            <a:ext cx="1253869" cy="369332"/>
          </a:xfrm>
          <a:prstGeom prst="rect">
            <a:avLst/>
          </a:prstGeom>
          <a:noFill/>
        </p:spPr>
        <p:txBody>
          <a:bodyPr wrap="none" rtlCol="0">
            <a:spAutoFit/>
          </a:bodyPr>
          <a:lstStyle/>
          <a:p>
            <a:r>
              <a:rPr lang="en-US" dirty="0"/>
              <a:t>Node 3 tile</a:t>
            </a:r>
          </a:p>
        </p:txBody>
      </p:sp>
      <p:sp>
        <p:nvSpPr>
          <p:cNvPr id="21" name="TextBox 20">
            <a:extLst>
              <a:ext uri="{FF2B5EF4-FFF2-40B4-BE49-F238E27FC236}">
                <a16:creationId xmlns:a16="http://schemas.microsoft.com/office/drawing/2014/main" id="{E9081B18-2097-F218-444D-8457FDAFE687}"/>
              </a:ext>
            </a:extLst>
          </p:cNvPr>
          <p:cNvSpPr txBox="1"/>
          <p:nvPr/>
        </p:nvSpPr>
        <p:spPr>
          <a:xfrm>
            <a:off x="6776428" y="47738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807390" y="1085464"/>
            <a:ext cx="7708119" cy="3212418"/>
          </a:xfrm>
          <a:prstGeom prst="rect">
            <a:avLst/>
          </a:prstGeom>
          <a:noFill/>
          <a:ln>
            <a:solidFill>
              <a:schemeClr val="tx1"/>
            </a:solidFill>
          </a:ln>
        </p:spPr>
        <p:txBody>
          <a:bodyPr wrap="square">
            <a:spAutoFit/>
          </a:bodyPr>
          <a:lstStyle/>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 </a:t>
            </a:r>
            <a:r>
              <a:rPr lang="en-US" b="0" dirty="0">
                <a:solidFill>
                  <a:srgbClr val="795E26"/>
                </a:solidFill>
                <a:effectLst/>
                <a:latin typeface="Fira Code" panose="020B0809050000020004" pitchFamily="49" charset="0"/>
              </a:rPr>
              <a:t>traverser</a:t>
            </a:r>
            <a:r>
              <a:rPr lang="en-US" b="0" dirty="0">
                <a:solidFill>
                  <a:srgbClr val="000000"/>
                </a:solidFill>
                <a:effectLst/>
                <a:latin typeface="Fira Code" panose="020B0809050000020004" pitchFamily="49" charset="0"/>
              </a:rPr>
              <a:t>(</a:t>
            </a:r>
            <a:r>
              <a:rPr lang="en-US" b="0" dirty="0">
                <a:solidFill>
                  <a:srgbClr val="0070C1"/>
                </a:solidFill>
                <a:effectLst/>
                <a:latin typeface="Fira Code" panose="020B0809050000020004" pitchFamily="49" charset="0"/>
              </a:rPr>
              <a:t>Data</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set_length</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&gt;(</a:t>
            </a:r>
            <a:r>
              <a:rPr lang="en-US" b="0" dirty="0">
                <a:solidFill>
                  <a:srgbClr val="0070C1"/>
                </a:solidFill>
                <a:effectLst/>
                <a:latin typeface="Fira Code" panose="020B0809050000020004" pitchFamily="49" charset="0"/>
              </a:rPr>
              <a:t>2</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merge_blocks</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'J'</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p>
          <a:p>
            <a:pPr>
              <a:lnSpc>
                <a:spcPct val="113095"/>
              </a:lnSpc>
              <a:buNone/>
            </a:pPr>
            <a:endParaRPr lang="en-US" b="0" dirty="0">
              <a:solidFill>
                <a:srgbClr val="000000"/>
              </a:solidFill>
              <a:effectLst/>
              <a:latin typeface="Fira Code" panose="020B0809050000020004" pitchFamily="49" charset="0"/>
            </a:endParaRPr>
          </a:p>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MPItrav</a:t>
            </a: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mpi_traverser</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a:t>
            </a:r>
            <a:r>
              <a:rPr lang="en-US" b="0" dirty="0">
                <a:solidFill>
                  <a:srgbClr val="0000FF"/>
                </a:solidFill>
                <a:effectLst/>
                <a:latin typeface="Fira Code" panose="020B0809050000020004" pitchFamily="49" charset="0"/>
              </a:rPr>
              <a:t>COMM_WORLD</a:t>
            </a:r>
            <a:r>
              <a:rPr lang="en-US" b="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r>
              <a:rPr lang="en-US" sz="1800" b="0" dirty="0" err="1">
                <a:solidFill>
                  <a:srgbClr val="001080"/>
                </a:solidFill>
                <a:effectLst/>
                <a:latin typeface="Fira Code" panose="020B0809050000020004" pitchFamily="49" charset="0"/>
              </a:rPr>
              <a:t>MPItrav</a:t>
            </a:r>
            <a:r>
              <a:rPr lang="en-US" sz="1800" b="0" dirty="0">
                <a:solidFill>
                  <a:srgbClr val="000000"/>
                </a:solidFill>
                <a:effectLst/>
                <a:latin typeface="Fira Code" panose="020B0809050000020004" pitchFamily="49" charset="0"/>
              </a:rPr>
              <a:t> | [&amp;](</a:t>
            </a:r>
            <a:r>
              <a:rPr lang="en-US" sz="1800" b="0" dirty="0">
                <a:solidFill>
                  <a:srgbClr val="267F99"/>
                </a:solidFill>
                <a:effectLst/>
                <a:latin typeface="Fira Code" panose="020B0809050000020004" pitchFamily="49" charset="0"/>
              </a:rPr>
              <a:t>auto</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70C1"/>
                </a:solidFill>
                <a:effectLst/>
                <a:latin typeface="Fira Code" panose="020B0809050000020004" pitchFamily="49" charset="0"/>
              </a:rPr>
              <a:t>Tile</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a:t>
            </a:r>
          </a:p>
        </p:txBody>
      </p:sp>
      <p:sp>
        <p:nvSpPr>
          <p:cNvPr id="27" name="Right Brace 26">
            <a:extLst>
              <a:ext uri="{FF2B5EF4-FFF2-40B4-BE49-F238E27FC236}">
                <a16:creationId xmlns:a16="http://schemas.microsoft.com/office/drawing/2014/main" id="{5FFAABDD-4201-74E7-5C87-B5FE95CC8D61}"/>
              </a:ext>
            </a:extLst>
          </p:cNvPr>
          <p:cNvSpPr/>
          <p:nvPr/>
        </p:nvSpPr>
        <p:spPr>
          <a:xfrm>
            <a:off x="10553111" y="1176246"/>
            <a:ext cx="324197" cy="95403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0" name="TextBox 29">
            <a:extLst>
              <a:ext uri="{FF2B5EF4-FFF2-40B4-BE49-F238E27FC236}">
                <a16:creationId xmlns:a16="http://schemas.microsoft.com/office/drawing/2014/main" id="{F1C7236A-2A5F-5DB5-FFC2-747FA4DCCD3C}"/>
              </a:ext>
            </a:extLst>
          </p:cNvPr>
          <p:cNvSpPr txBox="1"/>
          <p:nvPr/>
        </p:nvSpPr>
        <p:spPr>
          <a:xfrm>
            <a:off x="10857636" y="1284214"/>
            <a:ext cx="1104790" cy="646331"/>
          </a:xfrm>
          <a:prstGeom prst="rect">
            <a:avLst/>
          </a:prstGeom>
          <a:noFill/>
        </p:spPr>
        <p:txBody>
          <a:bodyPr wrap="none" rtlCol="0">
            <a:spAutoFit/>
          </a:bodyPr>
          <a:lstStyle/>
          <a:p>
            <a:r>
              <a:rPr lang="en-US" noProof="0" dirty="0"/>
              <a:t>Encoding</a:t>
            </a:r>
            <a:br>
              <a:rPr lang="en-US" noProof="0" dirty="0"/>
            </a:br>
            <a:r>
              <a:rPr lang="en-US" noProof="0" dirty="0"/>
              <a:t>topology</a:t>
            </a:r>
          </a:p>
        </p:txBody>
      </p:sp>
      <p:sp>
        <p:nvSpPr>
          <p:cNvPr id="38" name="Oval 37">
            <a:extLst>
              <a:ext uri="{FF2B5EF4-FFF2-40B4-BE49-F238E27FC236}">
                <a16:creationId xmlns:a16="http://schemas.microsoft.com/office/drawing/2014/main" id="{865CC931-F0E1-737A-536F-453E24B23690}"/>
              </a:ext>
            </a:extLst>
          </p:cNvPr>
          <p:cNvSpPr/>
          <p:nvPr/>
        </p:nvSpPr>
        <p:spPr>
          <a:xfrm>
            <a:off x="4626043" y="2128305"/>
            <a:ext cx="7554186" cy="85130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835AFA3F-B4AF-ABF4-9BB4-CE1EE90FCB8C}"/>
              </a:ext>
            </a:extLst>
          </p:cNvPr>
          <p:cNvSpPr txBox="1"/>
          <p:nvPr/>
        </p:nvSpPr>
        <p:spPr>
          <a:xfrm>
            <a:off x="6795126" y="5143169"/>
            <a:ext cx="4839852" cy="395108"/>
          </a:xfrm>
          <a:prstGeom prst="rect">
            <a:avLst/>
          </a:prstGeom>
          <a:noFill/>
        </p:spPr>
        <p:txBody>
          <a:bodyPr wrap="square">
            <a:spAutoFit/>
          </a:bodyPr>
          <a:lstStyle/>
          <a:p>
            <a:pPr>
              <a:lnSpc>
                <a:spcPct val="113095"/>
              </a:lnSpc>
              <a:buNone/>
            </a:pPr>
            <a:r>
              <a:rPr lang="en-US" b="0" dirty="0">
                <a:solidFill>
                  <a:srgbClr val="795E26"/>
                </a:solidFill>
                <a:effectLst/>
                <a:latin typeface="Fira Code" panose="020B0809050000020004" pitchFamily="49" charset="0"/>
              </a:rPr>
              <a:t>gather</a:t>
            </a:r>
            <a:r>
              <a:rPr lang="en-US" b="0" dirty="0">
                <a:solidFill>
                  <a:srgbClr val="000000"/>
                </a:solidFill>
                <a:effectLst/>
                <a:latin typeface="Fira Code" panose="020B0809050000020004" pitchFamily="49" charset="0"/>
              </a:rPr>
              <a:t>(</a:t>
            </a:r>
            <a:r>
              <a:rPr lang="en-US" dirty="0">
                <a:solidFill>
                  <a:srgbClr val="0070C1"/>
                </a:solidFill>
                <a:latin typeface="Fira Code" panose="020B0809050000020004" pitchFamily="49" charset="0"/>
              </a:rPr>
              <a:t>Tile</a:t>
            </a:r>
            <a:r>
              <a:rPr lang="en-US" dirty="0">
                <a:solidFill>
                  <a:srgbClr val="000000"/>
                </a:solidFill>
                <a:latin typeface="Fira Code" panose="020B0809050000020004" pitchFamily="49" charset="0"/>
              </a:rPr>
              <a:t>, </a:t>
            </a:r>
            <a:r>
              <a:rPr lang="en-US" dirty="0">
                <a:solidFill>
                  <a:srgbClr val="0070C1"/>
                </a:solidFill>
                <a:latin typeface="Fira Code" panose="020B0809050000020004" pitchFamily="49" charset="0"/>
              </a:rPr>
              <a:t>Data</a:t>
            </a:r>
            <a:r>
              <a:rPr lang="en-US" dirty="0">
                <a:solidFill>
                  <a:srgbClr val="000000"/>
                </a:solidFill>
                <a:latin typeface="Fira Code" panose="020B0809050000020004" pitchFamily="49" charset="0"/>
              </a:rPr>
              <a:t>, </a:t>
            </a:r>
            <a:r>
              <a:rPr lang="en-US" b="0" dirty="0">
                <a:solidFill>
                  <a:srgbClr val="0070C1"/>
                </a:solidFill>
                <a:effectLst/>
                <a:latin typeface="Fira Code" panose="020B0809050000020004" pitchFamily="49" charset="0"/>
              </a:rPr>
              <a:t>root</a:t>
            </a:r>
            <a:r>
              <a:rPr lang="en-US" b="0" dirty="0">
                <a:solidFill>
                  <a:srgbClr val="000000"/>
                </a:solidFill>
                <a:effectLst/>
                <a:latin typeface="Fira Code" panose="020B0809050000020004" pitchFamily="49" charset="0"/>
              </a:rPr>
              <a:t>, </a:t>
            </a:r>
            <a:r>
              <a:rPr lang="en-US" dirty="0" err="1">
                <a:solidFill>
                  <a:srgbClr val="001080"/>
                </a:solidFill>
                <a:latin typeface="Fira Code" panose="020B0809050000020004" pitchFamily="49" charset="0"/>
              </a:rPr>
              <a:t>MPItrav</a:t>
            </a:r>
            <a:r>
              <a:rPr lang="en-US" b="0" dirty="0">
                <a:solidFill>
                  <a:srgbClr val="000000"/>
                </a:solidFill>
                <a:effectLst/>
                <a:latin typeface="Fira Code" panose="020B0809050000020004" pitchFamily="49" charset="0"/>
              </a:rPr>
              <a:t>);</a:t>
            </a:r>
          </a:p>
        </p:txBody>
      </p:sp>
      <p:sp>
        <p:nvSpPr>
          <p:cNvPr id="49" name="Right Brace 48">
            <a:extLst>
              <a:ext uri="{FF2B5EF4-FFF2-40B4-BE49-F238E27FC236}">
                <a16:creationId xmlns:a16="http://schemas.microsoft.com/office/drawing/2014/main" id="{329DFC7F-1CD7-D907-ACE7-DF5BC3131277}"/>
              </a:ext>
            </a:extLst>
          </p:cNvPr>
          <p:cNvSpPr/>
          <p:nvPr/>
        </p:nvSpPr>
        <p:spPr>
          <a:xfrm>
            <a:off x="9001402" y="3348945"/>
            <a:ext cx="324197" cy="9135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2" name="TextBox 51">
            <a:extLst>
              <a:ext uri="{FF2B5EF4-FFF2-40B4-BE49-F238E27FC236}">
                <a16:creationId xmlns:a16="http://schemas.microsoft.com/office/drawing/2014/main" id="{BDF331C8-C8ED-B5C4-3373-8B0D250696A0}"/>
              </a:ext>
            </a:extLst>
          </p:cNvPr>
          <p:cNvSpPr txBox="1"/>
          <p:nvPr/>
        </p:nvSpPr>
        <p:spPr>
          <a:xfrm>
            <a:off x="9325599" y="3622766"/>
            <a:ext cx="2392941" cy="369332"/>
          </a:xfrm>
          <a:prstGeom prst="rect">
            <a:avLst/>
          </a:prstGeom>
          <a:noFill/>
        </p:spPr>
        <p:txBody>
          <a:bodyPr wrap="square" rtlCol="0">
            <a:spAutoFit/>
          </a:bodyPr>
          <a:lstStyle/>
          <a:p>
            <a:r>
              <a:rPr lang="en-US" noProof="0" dirty="0"/>
              <a:t>Writes to the local tile </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9132420" y="3281535"/>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FA4348FA-14AF-AE42-2449-6C4790D0706A}"/>
              </a:ext>
            </a:extLst>
          </p:cNvPr>
          <p:cNvSpPr txBox="1"/>
          <p:nvPr/>
        </p:nvSpPr>
        <p:spPr>
          <a:xfrm>
            <a:off x="7481162" y="5745321"/>
            <a:ext cx="3467779" cy="369332"/>
          </a:xfrm>
          <a:prstGeom prst="rect">
            <a:avLst/>
          </a:prstGeom>
          <a:noFill/>
        </p:spPr>
        <p:txBody>
          <a:bodyPr wrap="square" rtlCol="0">
            <a:spAutoFit/>
          </a:bodyPr>
          <a:lstStyle/>
          <a:p>
            <a:pPr algn="ctr"/>
            <a:r>
              <a:rPr lang="en-US" noProof="0" dirty="0"/>
              <a:t>Gathers the tiles into the result</a:t>
            </a:r>
          </a:p>
        </p:txBody>
      </p:sp>
      <p:sp>
        <p:nvSpPr>
          <p:cNvPr id="58" name="TextBox 57">
            <a:extLst>
              <a:ext uri="{FF2B5EF4-FFF2-40B4-BE49-F238E27FC236}">
                <a16:creationId xmlns:a16="http://schemas.microsoft.com/office/drawing/2014/main" id="{896E893B-6C24-AD2E-1DF6-311727C79C3C}"/>
              </a:ext>
            </a:extLst>
          </p:cNvPr>
          <p:cNvSpPr txBox="1"/>
          <p:nvPr/>
        </p:nvSpPr>
        <p:spPr>
          <a:xfrm>
            <a:off x="2354911" y="2376056"/>
            <a:ext cx="897740" cy="369332"/>
          </a:xfrm>
          <a:prstGeom prst="rect">
            <a:avLst/>
          </a:prstGeom>
          <a:noFill/>
        </p:spPr>
        <p:txBody>
          <a:bodyPr wrap="square">
            <a:spAutoFit/>
          </a:bodyPr>
          <a:lstStyle/>
          <a:p>
            <a:r>
              <a:rPr lang="en-US" sz="1800" b="0" dirty="0">
                <a:solidFill>
                  <a:srgbClr val="0070C1"/>
                </a:solidFill>
                <a:effectLst/>
                <a:latin typeface="Fira Code" panose="020B0809050000020004" pitchFamily="49" charset="0"/>
              </a:rPr>
              <a:t>Data</a:t>
            </a:r>
            <a:endParaRPr lang="en-US" dirty="0"/>
          </a:p>
        </p:txBody>
      </p:sp>
      <p:cxnSp>
        <p:nvCxnSpPr>
          <p:cNvPr id="59" name="Straight Connector 58">
            <a:extLst>
              <a:ext uri="{FF2B5EF4-FFF2-40B4-BE49-F238E27FC236}">
                <a16:creationId xmlns:a16="http://schemas.microsoft.com/office/drawing/2014/main" id="{8AA48A78-4D0D-D4CE-F1D8-AB2AB7880A21}"/>
              </a:ext>
            </a:extLst>
          </p:cNvPr>
          <p:cNvCxnSpPr>
            <a:cxnSpLocks/>
          </p:cNvCxnSpPr>
          <p:nvPr/>
        </p:nvCxnSpPr>
        <p:spPr>
          <a:xfrm>
            <a:off x="1075127" y="4835623"/>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011014B-915E-8EB8-9EEA-F373326AF674}"/>
              </a:ext>
            </a:extLst>
          </p:cNvPr>
          <p:cNvCxnSpPr>
            <a:cxnSpLocks/>
          </p:cNvCxnSpPr>
          <p:nvPr/>
        </p:nvCxnSpPr>
        <p:spPr>
          <a:xfrm flipH="1">
            <a:off x="1109108" y="5562873"/>
            <a:ext cx="747410" cy="42062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67" name="TextBox 66">
            <a:extLst>
              <a:ext uri="{FF2B5EF4-FFF2-40B4-BE49-F238E27FC236}">
                <a16:creationId xmlns:a16="http://schemas.microsoft.com/office/drawing/2014/main" id="{F428AF86-07EC-BFD9-FDA1-8725D8AC3848}"/>
              </a:ext>
            </a:extLst>
          </p:cNvPr>
          <p:cNvSpPr txBox="1"/>
          <p:nvPr/>
        </p:nvSpPr>
        <p:spPr>
          <a:xfrm>
            <a:off x="205541" y="5990975"/>
            <a:ext cx="1253869" cy="369332"/>
          </a:xfrm>
          <a:prstGeom prst="rect">
            <a:avLst/>
          </a:prstGeom>
          <a:noFill/>
        </p:spPr>
        <p:txBody>
          <a:bodyPr wrap="none" rtlCol="0">
            <a:spAutoFit/>
          </a:bodyPr>
          <a:lstStyle/>
          <a:p>
            <a:r>
              <a:rPr lang="en-US" dirty="0"/>
              <a:t>Node 4 tile</a:t>
            </a:r>
          </a:p>
        </p:txBody>
      </p:sp>
      <p:sp>
        <p:nvSpPr>
          <p:cNvPr id="70" name="TextBox 69">
            <a:extLst>
              <a:ext uri="{FF2B5EF4-FFF2-40B4-BE49-F238E27FC236}">
                <a16:creationId xmlns:a16="http://schemas.microsoft.com/office/drawing/2014/main" id="{6E3CBF0D-5F3F-C340-AD1E-3E9E4A50D783}"/>
              </a:ext>
            </a:extLst>
          </p:cNvPr>
          <p:cNvSpPr txBox="1"/>
          <p:nvPr/>
        </p:nvSpPr>
        <p:spPr>
          <a:xfrm>
            <a:off x="4125994" y="5938255"/>
            <a:ext cx="1253869" cy="369332"/>
          </a:xfrm>
          <a:prstGeom prst="rect">
            <a:avLst/>
          </a:prstGeom>
          <a:noFill/>
        </p:spPr>
        <p:txBody>
          <a:bodyPr wrap="none" rtlCol="0">
            <a:spAutoFit/>
          </a:bodyPr>
          <a:lstStyle/>
          <a:p>
            <a:r>
              <a:rPr lang="en-US" dirty="0"/>
              <a:t>Node 5 tile</a:t>
            </a:r>
          </a:p>
        </p:txBody>
      </p:sp>
      <p:cxnSp>
        <p:nvCxnSpPr>
          <p:cNvPr id="72" name="Straight Connector 71">
            <a:extLst>
              <a:ext uri="{FF2B5EF4-FFF2-40B4-BE49-F238E27FC236}">
                <a16:creationId xmlns:a16="http://schemas.microsoft.com/office/drawing/2014/main" id="{54C91492-52A6-78AF-5BA4-FE8654664AB4}"/>
              </a:ext>
            </a:extLst>
          </p:cNvPr>
          <p:cNvCxnSpPr>
            <a:cxnSpLocks/>
          </p:cNvCxnSpPr>
          <p:nvPr/>
        </p:nvCxnSpPr>
        <p:spPr>
          <a:xfrm flipH="1" flipV="1">
            <a:off x="3728886" y="5679959"/>
            <a:ext cx="837525" cy="31101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99022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5317591" y="1027906"/>
            <a:ext cx="1924951" cy="369332"/>
          </a:xfrm>
          <a:prstGeom prst="rect">
            <a:avLst/>
          </a:prstGeom>
          <a:noFill/>
        </p:spPr>
        <p:txBody>
          <a:bodyPr wrap="none" rtlCol="0">
            <a:spAutoFit/>
          </a:bodyPr>
          <a:lstStyle/>
          <a:p>
            <a:r>
              <a:rPr lang="en-US" noProof="0" dirty="0"/>
              <a:t>send(</a:t>
            </a:r>
            <a:r>
              <a:rPr lang="en-US" noProof="0" dirty="0" err="1"/>
              <a:t>row_major</a:t>
            </a:r>
            <a:r>
              <a:rPr lang="en-US" noProof="0" dirty="0"/>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530610" y="3220748"/>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sp>
        <p:nvSpPr>
          <p:cNvPr id="13" name="TextBox 12">
            <a:extLst>
              <a:ext uri="{FF2B5EF4-FFF2-40B4-BE49-F238E27FC236}">
                <a16:creationId xmlns:a16="http://schemas.microsoft.com/office/drawing/2014/main" id="{439C9CAD-9E1E-7EC1-4429-D017CA1092E1}"/>
              </a:ext>
            </a:extLst>
          </p:cNvPr>
          <p:cNvSpPr txBox="1"/>
          <p:nvPr/>
        </p:nvSpPr>
        <p:spPr>
          <a:xfrm>
            <a:off x="1057696" y="4769331"/>
            <a:ext cx="626454" cy="369332"/>
          </a:xfrm>
          <a:prstGeom prst="rect">
            <a:avLst/>
          </a:prstGeom>
          <a:noFill/>
        </p:spPr>
        <p:txBody>
          <a:bodyPr wrap="none" rtlCol="0">
            <a:spAutoFit/>
          </a:bodyPr>
          <a:lstStyle/>
          <a:p>
            <a:r>
              <a:rPr lang="en-US" noProof="0" dirty="0"/>
              <a:t>ours</a:t>
            </a:r>
          </a:p>
        </p:txBody>
      </p:sp>
      <p:sp>
        <p:nvSpPr>
          <p:cNvPr id="14" name="TextBox 13">
            <a:extLst>
              <a:ext uri="{FF2B5EF4-FFF2-40B4-BE49-F238E27FC236}">
                <a16:creationId xmlns:a16="http://schemas.microsoft.com/office/drawing/2014/main" id="{662521EF-5391-2B3B-B4E1-631E6C4FEF95}"/>
              </a:ext>
            </a:extLst>
          </p:cNvPr>
          <p:cNvSpPr txBox="1"/>
          <p:nvPr/>
        </p:nvSpPr>
        <p:spPr>
          <a:xfrm>
            <a:off x="10531434" y="4679949"/>
            <a:ext cx="713016" cy="369332"/>
          </a:xfrm>
          <a:prstGeom prst="rect">
            <a:avLst/>
          </a:prstGeom>
          <a:noFill/>
        </p:spPr>
        <p:txBody>
          <a:bodyPr wrap="none" rtlCol="0">
            <a:spAutoFit/>
          </a:bodyPr>
          <a:lstStyle/>
          <a:p>
            <a:r>
              <a:rPr lang="en-US" noProof="0" dirty="0"/>
              <a:t>naive</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smtClean="0"/>
              <a:t>8/28/2026</a:t>
            </a:fld>
            <a:endParaRPr lang="en-US"/>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smtClean="0"/>
              <a:t>13</a:t>
            </a:fld>
            <a:endParaRPr lang="en-US"/>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780368" y="1442644"/>
            <a:ext cx="2631264" cy="1986356"/>
          </a:xfrm>
          <a:prstGeom prst="rect">
            <a:avLst/>
          </a:prstGeom>
        </p:spPr>
      </p:pic>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419049" y="3628516"/>
            <a:ext cx="2021500" cy="2650962"/>
          </a:xfrm>
          <a:prstGeom prst="rect">
            <a:avLst/>
          </a:prstGeom>
        </p:spPr>
      </p:pic>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1937956" y="3539134"/>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2072983" y="3134200"/>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3928058" y="3429000"/>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096000" y="3429000"/>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007681" y="4254601"/>
            <a:ext cx="2698431" cy="369332"/>
          </a:xfrm>
          <a:prstGeom prst="rect">
            <a:avLst/>
          </a:prstGeom>
          <a:noFill/>
        </p:spPr>
        <p:txBody>
          <a:bodyPr wrap="none" rtlCol="0">
            <a:spAutoFit/>
          </a:bodyPr>
          <a:lstStyle/>
          <a:p>
            <a:r>
              <a:rPr lang="en-US" dirty="0"/>
              <a:t>Preserves 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3645637" y="4096535"/>
            <a:ext cx="2822824" cy="369332"/>
          </a:xfrm>
          <a:prstGeom prst="rect">
            <a:avLst/>
          </a:prstGeom>
          <a:noFill/>
        </p:spPr>
        <p:txBody>
          <a:bodyPr wrap="none" rtlCol="0">
            <a:spAutoFit/>
          </a:bodyPr>
          <a:lstStyle/>
          <a:p>
            <a:r>
              <a:rPr lang="en-US" dirty="0"/>
              <a:t>Preserves logical structure</a:t>
            </a:r>
          </a:p>
        </p:txBody>
      </p:sp>
    </p:spTree>
    <p:extLst>
      <p:ext uri="{BB962C8B-B14F-4D97-AF65-F5344CB8AC3E}">
        <p14:creationId xmlns:p14="http://schemas.microsoft.com/office/powerpoint/2010/main" val="1484151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2940615" y="3429000"/>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4121330" y="1293295"/>
            <a:ext cx="6725589" cy="1886213"/>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smtClean="0"/>
              <a:t>8/28/2026</a:t>
            </a:fld>
            <a:endParaRPr lang="en-US"/>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smtClean="0"/>
              <a:t>14</a:t>
            </a:fld>
            <a:endParaRPr lang="en-US"/>
          </a:p>
        </p:txBody>
      </p:sp>
    </p:spTree>
    <p:extLst>
      <p:ext uri="{BB962C8B-B14F-4D97-AF65-F5344CB8AC3E}">
        <p14:creationId xmlns:p14="http://schemas.microsoft.com/office/powerpoint/2010/main" val="2024218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endParaRPr lang="en-US" noProof="0" dirty="0"/>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smtClean="0"/>
              <a:t>8/28/2026</a:t>
            </a:fld>
            <a:endParaRPr lang="en-US"/>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smtClean="0"/>
              <a:t>15</a:t>
            </a:fld>
            <a:endParaRPr lang="en-US"/>
          </a:p>
        </p:txBody>
      </p:sp>
      <p:pic>
        <p:nvPicPr>
          <p:cNvPr id="8" name="Graphic 7">
            <a:extLst>
              <a:ext uri="{FF2B5EF4-FFF2-40B4-BE49-F238E27FC236}">
                <a16:creationId xmlns:a16="http://schemas.microsoft.com/office/drawing/2014/main" id="{98E1269E-84AC-DEE2-DB4E-4474750008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7156" y="2248708"/>
            <a:ext cx="1375954" cy="1375954"/>
          </a:xfrm>
          <a:prstGeom prst="rect">
            <a:avLst/>
          </a:prstGeom>
        </p:spPr>
      </p:pic>
      <p:sp>
        <p:nvSpPr>
          <p:cNvPr id="31" name="TextBox 30">
            <a:extLst>
              <a:ext uri="{FF2B5EF4-FFF2-40B4-BE49-F238E27FC236}">
                <a16:creationId xmlns:a16="http://schemas.microsoft.com/office/drawing/2014/main" id="{7F9EF83F-D6D0-6A28-58E5-56F7C20423D4}"/>
              </a:ext>
            </a:extLst>
          </p:cNvPr>
          <p:cNvSpPr txBox="1"/>
          <p:nvPr/>
        </p:nvSpPr>
        <p:spPr>
          <a:xfrm>
            <a:off x="167523" y="3732911"/>
            <a:ext cx="5225579" cy="2587183"/>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effectLst/>
                <a:latin typeface="Fira Code" panose="020B0809050000020004" pitchFamily="49" charset="0"/>
              </a:rPr>
              <a:t>if</a:t>
            </a:r>
            <a:r>
              <a:rPr lang="en-US" sz="1600" dirty="0">
                <a:solidFill>
                  <a:srgbClr val="000000"/>
                </a:solidFill>
                <a:effectLst/>
                <a:latin typeface="Fira Code" panose="020B0809050000020004" pitchFamily="49" charset="0"/>
              </a:rPr>
              <a:t> (</a:t>
            </a:r>
            <a:r>
              <a:rPr lang="en-US" sz="1600" dirty="0">
                <a:solidFill>
                  <a:srgbClr val="001080"/>
                </a:solidFill>
                <a:effectLst/>
                <a:latin typeface="Fira Code" panose="020B0809050000020004" pitchFamily="49" charset="0"/>
              </a:rPr>
              <a:t>current</a:t>
            </a:r>
            <a:r>
              <a:rPr lang="en-US" sz="1600" dirty="0">
                <a:solidFill>
                  <a:srgbClr val="000000"/>
                </a:solidFill>
                <a:effectLst/>
                <a:latin typeface="Fira Code" panose="020B0809050000020004" pitchFamily="49" charset="0"/>
              </a:rPr>
              <a:t> == </a:t>
            </a:r>
            <a:r>
              <a:rPr lang="en-US" sz="1600" dirty="0">
                <a:solidFill>
                  <a:srgbClr val="0070C1"/>
                </a:solidFill>
                <a:effectLst/>
                <a:latin typeface="Fira Code" panose="020B0809050000020004" pitchFamily="49" charset="0"/>
              </a:rPr>
              <a:t>ALIVE</a:t>
            </a:r>
            <a:r>
              <a:rPr lang="en-US" sz="1600" dirty="0">
                <a:solidFill>
                  <a:srgbClr val="000000"/>
                </a:solidFill>
                <a:effectLst/>
                <a:latin typeface="Fira Code" panose="020B0809050000020004" pitchFamily="49" charset="0"/>
              </a:rPr>
              <a:t>) {</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if</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2</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3</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 </a:t>
            </a:r>
            <a:r>
              <a:rPr lang="en-US" sz="1600" b="0" dirty="0">
                <a:solidFill>
                  <a:srgbClr val="000000"/>
                </a:solidFill>
                <a:effectLst/>
                <a:latin typeface="Fira Code" panose="020B0809050000020004" pitchFamily="49" charset="0"/>
              </a:rPr>
              <a:t>= </a:t>
            </a:r>
            <a:r>
              <a:rPr lang="en-US" sz="1600" b="0" dirty="0">
                <a:solidFill>
                  <a:srgbClr val="0070C1"/>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else</a:t>
            </a:r>
            <a:endParaRPr lang="en-US" sz="1600" b="0" dirty="0">
              <a:solidFill>
                <a:srgbClr val="000000"/>
              </a:solidFill>
              <a:effectLst/>
              <a:latin typeface="Fira Code" panose="020B0809050000020004" pitchFamily="49" charset="0"/>
            </a:endParaRP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else</a:t>
            </a: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if</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3</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else</a:t>
            </a:r>
            <a:endParaRPr lang="en-US" sz="1600" b="0" dirty="0">
              <a:solidFill>
                <a:srgbClr val="000000"/>
              </a:solidFill>
              <a:effectLst/>
              <a:latin typeface="Fira Code" panose="020B0809050000020004" pitchFamily="49" charset="0"/>
            </a:endParaRP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a:t>
            </a:r>
          </a:p>
        </p:txBody>
      </p:sp>
      <p:pic>
        <p:nvPicPr>
          <p:cNvPr id="34" name="Graphic 33">
            <a:extLst>
              <a:ext uri="{FF2B5EF4-FFF2-40B4-BE49-F238E27FC236}">
                <a16:creationId xmlns:a16="http://schemas.microsoft.com/office/drawing/2014/main" id="{9EC9903D-7976-AE7F-53EA-DB7D6319B6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3735186" y="2217749"/>
            <a:ext cx="1375954" cy="1375954"/>
          </a:xfrm>
          <a:prstGeom prst="rect">
            <a:avLst/>
          </a:prstGeom>
        </p:spPr>
      </p:pic>
      <p:cxnSp>
        <p:nvCxnSpPr>
          <p:cNvPr id="36" name="Straight Arrow Connector 35">
            <a:extLst>
              <a:ext uri="{FF2B5EF4-FFF2-40B4-BE49-F238E27FC236}">
                <a16:creationId xmlns:a16="http://schemas.microsoft.com/office/drawing/2014/main" id="{73268C98-D978-F28F-D534-A50D31A6583D}"/>
              </a:ext>
            </a:extLst>
          </p:cNvPr>
          <p:cNvCxnSpPr/>
          <p:nvPr/>
        </p:nvCxnSpPr>
        <p:spPr>
          <a:xfrm>
            <a:off x="2685011" y="2936685"/>
            <a:ext cx="96427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Rectangle 36">
            <a:extLst>
              <a:ext uri="{FF2B5EF4-FFF2-40B4-BE49-F238E27FC236}">
                <a16:creationId xmlns:a16="http://schemas.microsoft.com/office/drawing/2014/main" id="{84762BE1-916C-D601-B954-E9B4996AD7B4}"/>
              </a:ext>
            </a:extLst>
          </p:cNvPr>
          <p:cNvSpPr/>
          <p:nvPr/>
        </p:nvSpPr>
        <p:spPr>
          <a:xfrm>
            <a:off x="1704109" y="2535382"/>
            <a:ext cx="819001" cy="8495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1DF01CBF-ED82-75C5-B137-525BD0A227B1}"/>
              </a:ext>
            </a:extLst>
          </p:cNvPr>
          <p:cNvSpPr txBox="1"/>
          <p:nvPr/>
        </p:nvSpPr>
        <p:spPr>
          <a:xfrm>
            <a:off x="1876218" y="1771333"/>
            <a:ext cx="2581861" cy="369332"/>
          </a:xfrm>
          <a:prstGeom prst="rect">
            <a:avLst/>
          </a:prstGeom>
          <a:noFill/>
        </p:spPr>
        <p:txBody>
          <a:bodyPr wrap="none" rtlCol="0">
            <a:spAutoFit/>
          </a:bodyPr>
          <a:lstStyle/>
          <a:p>
            <a:r>
              <a:rPr lang="en-US" dirty="0"/>
              <a:t>Game of Life automaton</a:t>
            </a:r>
          </a:p>
        </p:txBody>
      </p:sp>
      <p:sp>
        <p:nvSpPr>
          <p:cNvPr id="46" name="TextBox 45">
            <a:extLst>
              <a:ext uri="{FF2B5EF4-FFF2-40B4-BE49-F238E27FC236}">
                <a16:creationId xmlns:a16="http://schemas.microsoft.com/office/drawing/2014/main" id="{A0DADC12-4478-238B-5B5C-FCD09EE6C61B}"/>
              </a:ext>
            </a:extLst>
          </p:cNvPr>
          <p:cNvSpPr txBox="1"/>
          <p:nvPr/>
        </p:nvSpPr>
        <p:spPr>
          <a:xfrm>
            <a:off x="6040927" y="4150236"/>
            <a:ext cx="6096000" cy="1752531"/>
          </a:xfrm>
          <a:prstGeom prst="rect">
            <a:avLst/>
          </a:prstGeom>
          <a:noFill/>
          <a:ln>
            <a:solidFill>
              <a:schemeClr val="tx1"/>
            </a:solidFill>
          </a:ln>
        </p:spPr>
        <p:txBody>
          <a:bodyPr wrap="square">
            <a:spAutoFit/>
          </a:bodyPr>
          <a:lstStyle/>
          <a:p>
            <a:pPr>
              <a:lnSpc>
                <a:spcPct val="113095"/>
              </a:lnSpc>
              <a:buNone/>
            </a:pPr>
            <a:r>
              <a:rPr lang="en-US" sz="1600" b="0" dirty="0">
                <a:solidFill>
                  <a:srgbClr val="AF00DB"/>
                </a:solidFill>
                <a:effectLst/>
                <a:latin typeface="Fira Code" panose="020B0809050000020004" pitchFamily="49" charset="0"/>
              </a:rPr>
              <a:t>using</a:t>
            </a:r>
            <a:r>
              <a:rPr lang="en-US" sz="1600" b="0" dirty="0">
                <a:solidFill>
                  <a:srgbClr val="000000"/>
                </a:solidFill>
                <a:effectLst/>
                <a:latin typeface="Fira Code" panose="020B0809050000020004" pitchFamily="49" charset="0"/>
              </a:rPr>
              <a:t> </a:t>
            </a:r>
            <a:r>
              <a:rPr lang="en-US" sz="1600" b="0" dirty="0" err="1">
                <a:solidFill>
                  <a:srgbClr val="267F99"/>
                </a:solidFill>
                <a:effectLst/>
                <a:latin typeface="Fira Code" panose="020B0809050000020004" pitchFamily="49" charset="0"/>
              </a:rPr>
              <a:t>gol_rule</a:t>
            </a:r>
            <a:r>
              <a:rPr lang="en-US" sz="1600" b="0" dirty="0">
                <a:solidFill>
                  <a:srgbClr val="000000"/>
                </a:solidFill>
                <a:effectLst/>
                <a:latin typeface="Fira Code" panose="020B0809050000020004" pitchFamily="49" charset="0"/>
              </a:rPr>
              <a:t> =</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err="1">
                <a:solidFill>
                  <a:srgbClr val="001080"/>
                </a:solidFill>
                <a:latin typeface="Fira Code" panose="020B0809050000020004" pitchFamily="49" charset="0"/>
              </a:rPr>
              <a:t>is_alive</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a:solidFill>
                  <a:srgbClr val="001080"/>
                </a:solidFill>
                <a:latin typeface="Fira Code" panose="020B0809050000020004" pitchFamily="49" charset="0"/>
              </a:rPr>
              <a:t>has3_or_2</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&gt;::</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&gt;&gt;::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a:solidFill>
                  <a:srgbClr val="001080"/>
                </a:solidFill>
                <a:latin typeface="Fira Code" panose="020B0809050000020004" pitchFamily="49" charset="0"/>
              </a:rPr>
              <a:t>has3</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&gt;::</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&gt;</a:t>
            </a:r>
          </a:p>
          <a:p>
            <a:pPr>
              <a:lnSpc>
                <a:spcPct val="113095"/>
              </a:lnSpc>
              <a:buNone/>
            </a:pPr>
            <a:r>
              <a:rPr lang="en-US" sz="1600" b="0" dirty="0">
                <a:solidFill>
                  <a:srgbClr val="000000"/>
                </a:solidFill>
                <a:effectLst/>
                <a:latin typeface="Fira Code" panose="020B0809050000020004" pitchFamily="49" charset="0"/>
              </a:rPr>
              <a:t>  &gt;;</a:t>
            </a:r>
          </a:p>
        </p:txBody>
      </p:sp>
      <p:cxnSp>
        <p:nvCxnSpPr>
          <p:cNvPr id="48" name="Straight Arrow Connector 47">
            <a:extLst>
              <a:ext uri="{FF2B5EF4-FFF2-40B4-BE49-F238E27FC236}">
                <a16:creationId xmlns:a16="http://schemas.microsoft.com/office/drawing/2014/main" id="{28944F7A-9857-3E6D-3641-A00C683DD933}"/>
              </a:ext>
            </a:extLst>
          </p:cNvPr>
          <p:cNvCxnSpPr>
            <a:cxnSpLocks/>
            <a:stCxn id="31" idx="3"/>
            <a:endCxn id="46" idx="1"/>
          </p:cNvCxnSpPr>
          <p:nvPr/>
        </p:nvCxnSpPr>
        <p:spPr>
          <a:xfrm flipV="1">
            <a:off x="5393102" y="5026502"/>
            <a:ext cx="64782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19394614-4B59-2819-85FD-88921C74BAE7}"/>
              </a:ext>
            </a:extLst>
          </p:cNvPr>
          <p:cNvSpPr txBox="1"/>
          <p:nvPr/>
        </p:nvSpPr>
        <p:spPr>
          <a:xfrm>
            <a:off x="7256341" y="3780904"/>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spTree>
    <p:extLst>
      <p:ext uri="{BB962C8B-B14F-4D97-AF65-F5344CB8AC3E}">
        <p14:creationId xmlns:p14="http://schemas.microsoft.com/office/powerpoint/2010/main" val="26305399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smtClean="0"/>
              <a:t>16</a:t>
            </a:fld>
            <a:endParaRPr lang="en-US"/>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7" y="2525655"/>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3339292" y="620089"/>
            <a:ext cx="5513417" cy="1545103"/>
          </a:xfrm>
          <a:prstGeom prst="rect">
            <a:avLst/>
          </a:prstGeom>
          <a:noFill/>
          <a:ln>
            <a:solidFill>
              <a:schemeClr val="tx1"/>
            </a:solidFill>
          </a:ln>
        </p:spPr>
        <p:txBody>
          <a:bodyPr wrap="square">
            <a:spAutoFit/>
          </a:bodyPr>
          <a:lstStyle/>
          <a:p>
            <a:pPr>
              <a:lnSpc>
                <a:spcPct val="113095"/>
              </a:lnSpc>
              <a:buNone/>
            </a:pPr>
            <a:r>
              <a:rPr lang="en-US" sz="1400" dirty="0">
                <a:solidFill>
                  <a:srgbClr val="AF00DB"/>
                </a:solidFill>
                <a:latin typeface="Fira Code" panose="020B0809050000020004" pitchFamily="49" charset="0"/>
              </a:rPr>
              <a:t>using</a:t>
            </a:r>
            <a:r>
              <a:rPr lang="en-US" sz="1400" dirty="0">
                <a:solidFill>
                  <a:srgbClr val="000000"/>
                </a:solidFill>
                <a:latin typeface="Fira Code" panose="020B0809050000020004" pitchFamily="49" charset="0"/>
              </a:rPr>
              <a:t> </a:t>
            </a:r>
            <a:r>
              <a:rPr lang="en-US" sz="1400" dirty="0" err="1">
                <a:solidFill>
                  <a:srgbClr val="267F99"/>
                </a:solidFill>
                <a:latin typeface="Fira Code" panose="020B0809050000020004" pitchFamily="49" charset="0"/>
              </a:rPr>
              <a:t>gol_rule</a:t>
            </a:r>
            <a:r>
              <a:rPr lang="en-US" sz="1400" dirty="0">
                <a:solidFill>
                  <a:srgbClr val="000000"/>
                </a:solidFill>
                <a:latin typeface="Fira Code" panose="020B0809050000020004" pitchFamily="49" charset="0"/>
              </a:rPr>
              <a:t> =</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err="1">
                <a:solidFill>
                  <a:srgbClr val="001080"/>
                </a:solidFill>
                <a:latin typeface="Fira Code" panose="020B0809050000020004" pitchFamily="49" charset="0"/>
              </a:rPr>
              <a:t>is_alive</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has3_or_2</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&gt;&gt;::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a:t>
            </a:r>
          </a:p>
          <a:p>
            <a:pPr>
              <a:lnSpc>
                <a:spcPct val="113095"/>
              </a:lnSpc>
              <a:buNone/>
            </a:pPr>
            <a:r>
              <a:rPr lang="en-US" sz="140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a:stCxn id="8" idx="2"/>
          </p:cNvCxnSpPr>
          <p:nvPr/>
        </p:nvCxnSpPr>
        <p:spPr>
          <a:xfrm>
            <a:off x="6096001" y="2165192"/>
            <a:ext cx="2362720" cy="9103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263414" y="211557"/>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pic>
        <p:nvPicPr>
          <p:cNvPr id="17" name="Picture 16">
            <a:extLst>
              <a:ext uri="{FF2B5EF4-FFF2-40B4-BE49-F238E27FC236}">
                <a16:creationId xmlns:a16="http://schemas.microsoft.com/office/drawing/2014/main" id="{D49D01EB-6B87-A8AF-C645-0C7149AF3B52}"/>
              </a:ext>
            </a:extLst>
          </p:cNvPr>
          <p:cNvPicPr>
            <a:picLocks noChangeAspect="1"/>
          </p:cNvPicPr>
          <p:nvPr/>
        </p:nvPicPr>
        <p:blipFill>
          <a:blip r:embed="rId4"/>
          <a:srcRect/>
          <a:stretch>
            <a:fillRect/>
          </a:stretch>
        </p:blipFill>
        <p:spPr>
          <a:xfrm>
            <a:off x="1908279" y="5120530"/>
            <a:ext cx="3346242" cy="1737470"/>
          </a:xfrm>
          <a:prstGeom prst="rect">
            <a:avLst/>
          </a:prstGeom>
        </p:spPr>
      </p:pic>
      <p:pic>
        <p:nvPicPr>
          <p:cNvPr id="19" name="Picture 18">
            <a:extLst>
              <a:ext uri="{FF2B5EF4-FFF2-40B4-BE49-F238E27FC236}">
                <a16:creationId xmlns:a16="http://schemas.microsoft.com/office/drawing/2014/main" id="{F062BBCA-4E21-63C7-EDFF-E1D5A3C3D6D5}"/>
              </a:ext>
            </a:extLst>
          </p:cNvPr>
          <p:cNvPicPr>
            <a:picLocks noChangeAspect="1"/>
          </p:cNvPicPr>
          <p:nvPr/>
        </p:nvPicPr>
        <p:blipFill>
          <a:blip r:embed="rId5"/>
          <a:srcRect/>
          <a:stretch>
            <a:fillRect/>
          </a:stretch>
        </p:blipFill>
        <p:spPr>
          <a:xfrm>
            <a:off x="6155232" y="5029201"/>
            <a:ext cx="4606977" cy="1828799"/>
          </a:xfrm>
          <a:prstGeom prst="rect">
            <a:avLst/>
          </a:prstGeom>
        </p:spPr>
      </p:pic>
    </p:spTree>
    <p:extLst>
      <p:ext uri="{BB962C8B-B14F-4D97-AF65-F5344CB8AC3E}">
        <p14:creationId xmlns:p14="http://schemas.microsoft.com/office/powerpoint/2010/main" val="2853544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3"/>
          <a:stretch>
            <a:fillRect/>
          </a:stretch>
        </p:blipFill>
        <p:spPr>
          <a:xfrm>
            <a:off x="310620" y="1524433"/>
            <a:ext cx="11570760" cy="4269538"/>
          </a:xfrm>
          <a:prstGeom prst="rect">
            <a:avLst/>
          </a:prstGeom>
        </p:spPr>
      </p:pic>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smtClean="0"/>
              <a:t>8/28/2026</a:t>
            </a:fld>
            <a:endParaRPr lang="en-US"/>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smtClean="0"/>
              <a:t>17</a:t>
            </a:fld>
            <a:endParaRPr lang="en-US"/>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dirty="0"/>
              <a:t>Comparison of GPU-parallelized computation of various cellular automata</a:t>
            </a:r>
            <a:br>
              <a:rPr lang="en-US" dirty="0"/>
            </a:br>
            <a:r>
              <a:rPr lang="en-US" i="1" dirty="0"/>
              <a:t>baseline encodes each cell as a single machine word</a:t>
            </a:r>
          </a:p>
        </p:txBody>
      </p:sp>
    </p:spTree>
    <p:extLst>
      <p:ext uri="{BB962C8B-B14F-4D97-AF65-F5344CB8AC3E}">
        <p14:creationId xmlns:p14="http://schemas.microsoft.com/office/powerpoint/2010/main" val="13104121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r>
              <a:rPr lang="en-US" dirty="0"/>
              <a:t>Abstractions for layout- &amp; traversal-agnostic design are practical</a:t>
            </a:r>
          </a:p>
          <a:p>
            <a:r>
              <a:rPr lang="en-US" dirty="0"/>
              <a:t>Applicable to parallel and distributed HPC computing</a:t>
            </a:r>
          </a:p>
          <a:p>
            <a:r>
              <a:rPr lang="en-US" dirty="0"/>
              <a:t>Abstract even deeper details  in Cellular Automata</a:t>
            </a:r>
          </a:p>
          <a:p>
            <a:r>
              <a:rPr lang="en-US" dirty="0"/>
              <a:t>Improve</a:t>
            </a:r>
          </a:p>
          <a:p>
            <a:pPr lvl="1"/>
            <a:r>
              <a:rPr lang="en-US" dirty="0"/>
              <a:t>Maintainability</a:t>
            </a:r>
          </a:p>
          <a:p>
            <a:pPr lvl="1"/>
            <a:r>
              <a:rPr lang="en-US" dirty="0"/>
              <a:t>Flexibility</a:t>
            </a:r>
          </a:p>
          <a:p>
            <a:pPr lvl="1"/>
            <a:r>
              <a:rPr lang="en-US" dirty="0"/>
              <a:t>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smtClean="0"/>
              <a:t>8/28/2026</a:t>
            </a:fld>
            <a:endParaRPr lang="en-US"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smtClean="0"/>
              <a:t>18</a:t>
            </a:fld>
            <a:endParaRPr lang="en-US"/>
          </a:p>
        </p:txBody>
      </p:sp>
    </p:spTree>
    <p:extLst>
      <p:ext uri="{BB962C8B-B14F-4D97-AF65-F5344CB8AC3E}">
        <p14:creationId xmlns:p14="http://schemas.microsoft.com/office/powerpoint/2010/main" val="32597657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dirty="0"/>
              <a:t>Motivation</a:t>
            </a:r>
          </a:p>
        </p:txBody>
      </p:sp>
      <p:sp>
        <p:nvSpPr>
          <p:cNvPr id="5" name="Content Placeholder 4">
            <a:extLst>
              <a:ext uri="{FF2B5EF4-FFF2-40B4-BE49-F238E27FC236}">
                <a16:creationId xmlns:a16="http://schemas.microsoft.com/office/drawing/2014/main" id="{C738426C-F143-A522-DD5E-6B4D3FEAE64E}"/>
              </a:ext>
            </a:extLst>
          </p:cNvPr>
          <p:cNvSpPr>
            <a:spLocks noGrp="1"/>
          </p:cNvSpPr>
          <p:nvPr>
            <p:ph idx="1"/>
          </p:nvPr>
        </p:nvSpPr>
        <p:spPr/>
        <p:txBody>
          <a:bodyPr/>
          <a:lstStyle/>
          <a:p>
            <a:r>
              <a:rPr lang="en-US" dirty="0"/>
              <a:t>LLMs capable of writing simple code</a:t>
            </a:r>
          </a:p>
          <a:p>
            <a:pPr lvl="1"/>
            <a:r>
              <a:rPr lang="en-US" dirty="0"/>
              <a:t>Data visualization, simple scripting, …</a:t>
            </a:r>
          </a:p>
          <a:p>
            <a:r>
              <a:rPr lang="en-US" dirty="0"/>
              <a:t>Not high-</a:t>
            </a:r>
            <a:r>
              <a:rPr lang="en-US" dirty="0" err="1"/>
              <a:t>lvl</a:t>
            </a:r>
            <a:r>
              <a:rPr lang="en-US" dirty="0"/>
              <a:t> decisions and parallel algorithms</a:t>
            </a:r>
          </a:p>
          <a:p>
            <a:endParaRPr lang="en-US" dirty="0"/>
          </a:p>
          <a:p>
            <a:endParaRPr lang="en-US" dirty="0"/>
          </a:p>
          <a:p>
            <a:endParaRPr lang="en-US" dirty="0"/>
          </a:p>
          <a:p>
            <a:r>
              <a:rPr lang="en-US" dirty="0"/>
              <a:t>What helps LLMs generate better code?</a:t>
            </a:r>
          </a:p>
          <a:p>
            <a:pPr lvl="1"/>
            <a:r>
              <a:rPr lang="en-US" dirty="0"/>
              <a:t>And what doesn’t</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smtClean="0"/>
              <a:t>8/28/2026</a:t>
            </a:fld>
            <a:endParaRPr lang="en-US"/>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smtClean="0"/>
              <a:t>19</a:t>
            </a:fld>
            <a:endParaRPr lang="en-US"/>
          </a:p>
        </p:txBody>
      </p:sp>
    </p:spTree>
    <p:extLst>
      <p:ext uri="{BB962C8B-B14F-4D97-AF65-F5344CB8AC3E}">
        <p14:creationId xmlns:p14="http://schemas.microsoft.com/office/powerpoint/2010/main" val="25408518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smtClean="0"/>
              <a:t>20</a:t>
            </a:fld>
            <a:endParaRPr lang="en-US"/>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5029846" y="2778099"/>
            <a:ext cx="3178813"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dirty="0"/>
              <a:t>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Expert-</a:t>
            </a:r>
            <a:r>
              <a:rPr lang="en-US" dirty="0" err="1"/>
              <a:t>lvl</a:t>
            </a:r>
            <a:r>
              <a:rPr lang="en-US" dirty="0"/>
              <a: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dirty="0"/>
              <a:t>🤖</a:t>
            </a:r>
          </a:p>
        </p:txBody>
      </p:sp>
      <p:cxnSp>
        <p:nvCxnSpPr>
          <p:cNvPr id="65" name="Straight Arrow Connector 64">
            <a:extLst>
              <a:ext uri="{FF2B5EF4-FFF2-40B4-BE49-F238E27FC236}">
                <a16:creationId xmlns:a16="http://schemas.microsoft.com/office/drawing/2014/main" id="{1B02E96B-466B-BBC3-B8FB-DB7A29A2BB81}"/>
              </a:ext>
            </a:extLst>
          </p:cNvPr>
          <p:cNvCxnSpPr>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22452505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smtClean="0"/>
              <a:t>21</a:t>
            </a:fld>
            <a:endParaRPr lang="en-US"/>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880282" y="1690688"/>
            <a:ext cx="1103155" cy="858622"/>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823231" y="2398622"/>
            <a:ext cx="1217256" cy="369332"/>
          </a:xfrm>
          <a:prstGeom prst="rect">
            <a:avLst/>
          </a:prstGeom>
          <a:noFill/>
        </p:spPr>
        <p:txBody>
          <a:bodyPr wrap="none" rtlCol="0">
            <a:spAutoFit/>
          </a:bodyPr>
          <a:lstStyle/>
          <a:p>
            <a:r>
              <a:rPr lang="en-US"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521644" y="1693284"/>
            <a:ext cx="1103155" cy="794271"/>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354787" y="2487555"/>
            <a:ext cx="1436868" cy="369332"/>
          </a:xfrm>
          <a:prstGeom prst="rect">
            <a:avLst/>
          </a:prstGeom>
          <a:noFill/>
        </p:spPr>
        <p:txBody>
          <a:bodyPr wrap="none" rtlCol="0">
            <a:spAutoFit/>
          </a:bodyPr>
          <a:lstStyle/>
          <a:p>
            <a:r>
              <a:rPr lang="en-US"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939099" y="1690688"/>
            <a:ext cx="1103155" cy="796867"/>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939099" y="2484959"/>
            <a:ext cx="1206741" cy="646331"/>
          </a:xfrm>
          <a:prstGeom prst="rect">
            <a:avLst/>
          </a:prstGeom>
          <a:noFill/>
        </p:spPr>
        <p:txBody>
          <a:bodyPr wrap="none" rtlCol="0">
            <a:spAutoFit/>
          </a:bodyPr>
          <a:lstStyle/>
          <a:p>
            <a:pPr algn="ctr"/>
            <a:r>
              <a:rPr lang="en-US" dirty="0"/>
              <a:t>K-Nearest</a:t>
            </a:r>
            <a:br>
              <a:rPr lang="en-US" dirty="0"/>
            </a:br>
            <a:r>
              <a:rPr lang="en-US"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473598" y="3557054"/>
            <a:ext cx="3916521" cy="369332"/>
          </a:xfrm>
          <a:prstGeom prst="rect">
            <a:avLst/>
          </a:prstGeom>
          <a:noFill/>
        </p:spPr>
        <p:txBody>
          <a:bodyPr wrap="none" rtlCol="0">
            <a:spAutoFit/>
          </a:bodyPr>
          <a:lstStyle/>
          <a:p>
            <a:pPr algn="ctr"/>
            <a:r>
              <a:rPr lang="en-US"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6032039" y="3557054"/>
            <a:ext cx="2082365" cy="369332"/>
          </a:xfrm>
          <a:prstGeom prst="rect">
            <a:avLst/>
          </a:prstGeom>
          <a:noFill/>
        </p:spPr>
        <p:txBody>
          <a:bodyPr wrap="none" rtlCol="0">
            <a:spAutoFit/>
          </a:bodyPr>
          <a:lstStyle/>
          <a:p>
            <a:pPr algn="ctr"/>
            <a:r>
              <a:rPr lang="en-US" dirty="0"/>
              <a:t>Bit-</a:t>
            </a:r>
            <a:r>
              <a:rPr lang="en-US" dirty="0" err="1"/>
              <a:t>lvl</a:t>
            </a:r>
            <a:r>
              <a:rPr lang="en-US"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950703" y="3557054"/>
            <a:ext cx="3079946" cy="369332"/>
          </a:xfrm>
          <a:prstGeom prst="rect">
            <a:avLst/>
          </a:prstGeom>
          <a:noFill/>
        </p:spPr>
        <p:txBody>
          <a:bodyPr wrap="none" rtlCol="0">
            <a:spAutoFit/>
          </a:bodyPr>
          <a:lstStyle/>
          <a:p>
            <a:pPr algn="ctr"/>
            <a:r>
              <a:rPr lang="en-US"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14887" y="4530820"/>
            <a:ext cx="1706173" cy="369332"/>
          </a:xfrm>
          <a:prstGeom prst="rect">
            <a:avLst/>
          </a:prstGeom>
          <a:noFill/>
        </p:spPr>
        <p:txBody>
          <a:bodyPr wrap="none" rtlCol="0">
            <a:spAutoFit/>
          </a:bodyPr>
          <a:lstStyle/>
          <a:p>
            <a:r>
              <a:rPr lang="en-US"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210788" y="5189669"/>
            <a:ext cx="1187248" cy="369332"/>
          </a:xfrm>
          <a:prstGeom prst="rect">
            <a:avLst/>
          </a:prstGeom>
          <a:noFill/>
        </p:spPr>
        <p:txBody>
          <a:bodyPr wrap="none" rtlCol="0">
            <a:spAutoFit/>
          </a:bodyPr>
          <a:lstStyle/>
          <a:p>
            <a:r>
              <a:rPr lang="en-US"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62048" y="5848518"/>
            <a:ext cx="1800493" cy="369332"/>
          </a:xfrm>
          <a:prstGeom prst="rect">
            <a:avLst/>
          </a:prstGeom>
          <a:noFill/>
        </p:spPr>
        <p:txBody>
          <a:bodyPr wrap="none" rtlCol="0">
            <a:spAutoFit/>
          </a:bodyPr>
          <a:lstStyle/>
          <a:p>
            <a:r>
              <a:rPr lang="en-US"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dirty="0"/>
              <a:t>❌</a:t>
            </a:r>
          </a:p>
        </p:txBody>
      </p:sp>
    </p:spTree>
    <p:extLst>
      <p:ext uri="{BB962C8B-B14F-4D97-AF65-F5344CB8AC3E}">
        <p14:creationId xmlns:p14="http://schemas.microsoft.com/office/powerpoint/2010/main" val="18677034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rcRect l="2698" r="47262"/>
          <a:stretch>
            <a:fillRect/>
          </a:stretch>
        </p:blipFill>
        <p:spPr>
          <a:xfrm>
            <a:off x="408393" y="2599181"/>
            <a:ext cx="4680138" cy="3692232"/>
          </a:xfrm>
          <a:prstGeom prst="rect">
            <a:avLst/>
          </a:prstGeom>
        </p:spPr>
      </p:pic>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4"/>
          <a:srcRect l="5830" t="5264" r="1424" b="4017"/>
          <a:stretch>
            <a:fillRect/>
          </a:stretch>
        </p:blipFill>
        <p:spPr>
          <a:xfrm>
            <a:off x="5934239" y="2761577"/>
            <a:ext cx="5849368" cy="2994486"/>
          </a:xfrm>
          <a:prstGeom prst="rect">
            <a:avLst/>
          </a:prstGeom>
        </p:spPr>
      </p:pic>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smtClean="0"/>
              <a:t>8/28/2026</a:t>
            </a:fld>
            <a:endParaRPr lang="en-US"/>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smtClean="0"/>
              <a:t>22</a:t>
            </a:fld>
            <a:endParaRPr lang="en-US"/>
          </a:p>
        </p:txBody>
      </p:sp>
      <p:sp>
        <p:nvSpPr>
          <p:cNvPr id="6" name="TextBox 5">
            <a:extLst>
              <a:ext uri="{FF2B5EF4-FFF2-40B4-BE49-F238E27FC236}">
                <a16:creationId xmlns:a16="http://schemas.microsoft.com/office/drawing/2014/main" id="{72D4F460-314F-F2C1-B648-8D4D93BCB4E5}"/>
              </a:ext>
            </a:extLst>
          </p:cNvPr>
          <p:cNvSpPr txBox="1"/>
          <p:nvPr/>
        </p:nvSpPr>
        <p:spPr>
          <a:xfrm>
            <a:off x="2364144" y="2229849"/>
            <a:ext cx="1217256" cy="369332"/>
          </a:xfrm>
          <a:prstGeom prst="rect">
            <a:avLst/>
          </a:prstGeom>
          <a:noFill/>
        </p:spPr>
        <p:txBody>
          <a:bodyPr wrap="none" rtlCol="0">
            <a:spAutoFit/>
          </a:bodyPr>
          <a:lstStyle/>
          <a:p>
            <a:r>
              <a:rPr lang="en-US"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391244" y="2229849"/>
            <a:ext cx="1436612" cy="369332"/>
          </a:xfrm>
          <a:prstGeom prst="rect">
            <a:avLst/>
          </a:prstGeom>
          <a:noFill/>
        </p:spPr>
        <p:txBody>
          <a:bodyPr wrap="none" rtlCol="0">
            <a:spAutoFit/>
          </a:bodyPr>
          <a:lstStyle/>
          <a:p>
            <a:r>
              <a:rPr lang="en-US" dirty="0"/>
              <a:t>Game of Life</a:t>
            </a:r>
          </a:p>
        </p:txBody>
      </p:sp>
    </p:spTree>
    <p:extLst>
      <p:ext uri="{BB962C8B-B14F-4D97-AF65-F5344CB8AC3E}">
        <p14:creationId xmlns:p14="http://schemas.microsoft.com/office/powerpoint/2010/main" val="23071661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smtClean="0"/>
              <a:t>8/28/2026</a:t>
            </a:fld>
            <a:endParaRPr lang="en-US"/>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smtClean="0"/>
              <a:t>23</a:t>
            </a:fld>
            <a:endParaRPr lang="en-US"/>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dirty="0"/>
              <a:t>k-Nearest Neighbors</a:t>
            </a:r>
          </a:p>
        </p:txBody>
      </p:sp>
    </p:spTree>
    <p:extLst>
      <p:ext uri="{BB962C8B-B14F-4D97-AF65-F5344CB8AC3E}">
        <p14:creationId xmlns:p14="http://schemas.microsoft.com/office/powerpoint/2010/main" val="21285730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F8F2B-8096-7E9E-AA5F-7F72726C819C}"/>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7C9DDCDD-E57A-60CF-F6C1-98722252234C}"/>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EB15584F-9C46-0B94-52F1-15D64D9E529C}"/>
              </a:ext>
            </a:extLst>
          </p:cNvPr>
          <p:cNvSpPr>
            <a:spLocks noGrp="1"/>
          </p:cNvSpPr>
          <p:nvPr>
            <p:ph type="sldNum" sz="quarter" idx="12"/>
          </p:nvPr>
        </p:nvSpPr>
        <p:spPr/>
        <p:txBody>
          <a:bodyPr/>
          <a:lstStyle/>
          <a:p>
            <a:fld id="{DA0BB241-1B5F-4309-9407-9EEA04D9598D}" type="slidenum">
              <a:rPr lang="en-US" smtClean="0"/>
              <a:t>24</a:t>
            </a:fld>
            <a:endParaRPr lang="en-US"/>
          </a:p>
        </p:txBody>
      </p:sp>
      <p:sp>
        <p:nvSpPr>
          <p:cNvPr id="6" name="TextBox 5">
            <a:extLst>
              <a:ext uri="{FF2B5EF4-FFF2-40B4-BE49-F238E27FC236}">
                <a16:creationId xmlns:a16="http://schemas.microsoft.com/office/drawing/2014/main" id="{F931F0D3-62D6-B790-92EE-5989B4C2DE90}"/>
              </a:ext>
            </a:extLst>
          </p:cNvPr>
          <p:cNvSpPr txBox="1"/>
          <p:nvPr/>
        </p:nvSpPr>
        <p:spPr>
          <a:xfrm>
            <a:off x="5898155" y="3285794"/>
            <a:ext cx="678391" cy="523220"/>
          </a:xfrm>
          <a:prstGeom prst="rect">
            <a:avLst/>
          </a:prstGeom>
          <a:noFill/>
        </p:spPr>
        <p:txBody>
          <a:bodyPr wrap="none" rtlCol="0">
            <a:spAutoFit/>
          </a:bodyPr>
          <a:lstStyle/>
          <a:p>
            <a:pPr algn="ctr"/>
            <a:r>
              <a:rPr lang="en-US" sz="2800" dirty="0"/>
              <a:t>🤖</a:t>
            </a:r>
          </a:p>
        </p:txBody>
      </p:sp>
      <p:sp>
        <p:nvSpPr>
          <p:cNvPr id="7" name="TextBox 6">
            <a:extLst>
              <a:ext uri="{FF2B5EF4-FFF2-40B4-BE49-F238E27FC236}">
                <a16:creationId xmlns:a16="http://schemas.microsoft.com/office/drawing/2014/main" id="{9FA49B44-DE06-06BD-B7AF-75B04E4D7F06}"/>
              </a:ext>
            </a:extLst>
          </p:cNvPr>
          <p:cNvSpPr txBox="1"/>
          <p:nvPr/>
        </p:nvSpPr>
        <p:spPr>
          <a:xfrm>
            <a:off x="5447840" y="3809014"/>
            <a:ext cx="1579022" cy="369332"/>
          </a:xfrm>
          <a:prstGeom prst="rect">
            <a:avLst/>
          </a:prstGeom>
          <a:noFill/>
        </p:spPr>
        <p:txBody>
          <a:bodyPr wrap="none" rtlCol="0">
            <a:spAutoFit/>
          </a:bodyPr>
          <a:lstStyle/>
          <a:p>
            <a:pPr algn="ctr"/>
            <a:r>
              <a:rPr lang="en-US" dirty="0"/>
              <a:t>LLM optimizer</a:t>
            </a:r>
          </a:p>
        </p:txBody>
      </p:sp>
      <p:sp>
        <p:nvSpPr>
          <p:cNvPr id="9" name="TextBox 8">
            <a:extLst>
              <a:ext uri="{FF2B5EF4-FFF2-40B4-BE49-F238E27FC236}">
                <a16:creationId xmlns:a16="http://schemas.microsoft.com/office/drawing/2014/main" id="{493CFFAC-E147-8EA9-0CFB-C6E6643CF311}"/>
              </a:ext>
            </a:extLst>
          </p:cNvPr>
          <p:cNvSpPr txBox="1"/>
          <p:nvPr/>
        </p:nvSpPr>
        <p:spPr>
          <a:xfrm>
            <a:off x="3864099" y="3285794"/>
            <a:ext cx="678391" cy="523220"/>
          </a:xfrm>
          <a:prstGeom prst="rect">
            <a:avLst/>
          </a:prstGeom>
          <a:noFill/>
        </p:spPr>
        <p:txBody>
          <a:bodyPr wrap="none" rtlCol="0">
            <a:spAutoFit/>
          </a:bodyPr>
          <a:lstStyle/>
          <a:p>
            <a:r>
              <a:rPr lang="en-US" sz="2800" dirty="0"/>
              <a:t>🐌</a:t>
            </a:r>
          </a:p>
        </p:txBody>
      </p:sp>
      <p:cxnSp>
        <p:nvCxnSpPr>
          <p:cNvPr id="11" name="Straight Arrow Connector 10">
            <a:extLst>
              <a:ext uri="{FF2B5EF4-FFF2-40B4-BE49-F238E27FC236}">
                <a16:creationId xmlns:a16="http://schemas.microsoft.com/office/drawing/2014/main" id="{36C96701-4992-BFFC-E886-D8DF71533624}"/>
              </a:ext>
            </a:extLst>
          </p:cNvPr>
          <p:cNvCxnSpPr>
            <a:stCxn id="9" idx="3"/>
            <a:endCxn id="6" idx="1"/>
          </p:cNvCxnSpPr>
          <p:nvPr/>
        </p:nvCxnSpPr>
        <p:spPr>
          <a:xfrm>
            <a:off x="4542490" y="3547404"/>
            <a:ext cx="13556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17F6E4F-7D25-96B8-1EA2-2A31E82074AB}"/>
              </a:ext>
            </a:extLst>
          </p:cNvPr>
          <p:cNvCxnSpPr>
            <a:cxnSpLocks/>
            <a:endCxn id="15" idx="1"/>
          </p:cNvCxnSpPr>
          <p:nvPr/>
        </p:nvCxnSpPr>
        <p:spPr>
          <a:xfrm>
            <a:off x="6576546" y="3547404"/>
            <a:ext cx="135566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509495A2-2783-83D7-9F8A-49ECA60DA476}"/>
              </a:ext>
            </a:extLst>
          </p:cNvPr>
          <p:cNvSpPr txBox="1"/>
          <p:nvPr/>
        </p:nvSpPr>
        <p:spPr>
          <a:xfrm>
            <a:off x="7932209" y="3285794"/>
            <a:ext cx="678391" cy="523220"/>
          </a:xfrm>
          <a:prstGeom prst="rect">
            <a:avLst/>
          </a:prstGeom>
          <a:noFill/>
        </p:spPr>
        <p:txBody>
          <a:bodyPr wrap="none" rtlCol="0">
            <a:spAutoFit/>
          </a:bodyPr>
          <a:lstStyle/>
          <a:p>
            <a:pPr algn="ctr"/>
            <a:r>
              <a:rPr lang="en-US" sz="2800" dirty="0"/>
              <a:t>🚀</a:t>
            </a:r>
          </a:p>
        </p:txBody>
      </p:sp>
      <p:sp>
        <p:nvSpPr>
          <p:cNvPr id="17" name="TextBox 16">
            <a:extLst>
              <a:ext uri="{FF2B5EF4-FFF2-40B4-BE49-F238E27FC236}">
                <a16:creationId xmlns:a16="http://schemas.microsoft.com/office/drawing/2014/main" id="{C0057DF1-75D1-ABD6-14BF-FA343EC6D033}"/>
              </a:ext>
            </a:extLst>
          </p:cNvPr>
          <p:cNvSpPr txBox="1"/>
          <p:nvPr/>
        </p:nvSpPr>
        <p:spPr>
          <a:xfrm>
            <a:off x="5276959" y="4928729"/>
            <a:ext cx="1910459" cy="369332"/>
          </a:xfrm>
          <a:prstGeom prst="rect">
            <a:avLst/>
          </a:prstGeom>
          <a:noFill/>
        </p:spPr>
        <p:txBody>
          <a:bodyPr wrap="none" rtlCol="0">
            <a:spAutoFit/>
          </a:bodyPr>
          <a:lstStyle/>
          <a:p>
            <a:r>
              <a:rPr lang="en-US" dirty="0"/>
              <a:t>What Abstraction</a:t>
            </a:r>
          </a:p>
        </p:txBody>
      </p:sp>
      <p:sp>
        <p:nvSpPr>
          <p:cNvPr id="18" name="TextBox 17">
            <a:extLst>
              <a:ext uri="{FF2B5EF4-FFF2-40B4-BE49-F238E27FC236}">
                <a16:creationId xmlns:a16="http://schemas.microsoft.com/office/drawing/2014/main" id="{BC787B5C-F15D-E453-E0C2-74F32811444B}"/>
              </a:ext>
            </a:extLst>
          </p:cNvPr>
          <p:cNvSpPr txBox="1"/>
          <p:nvPr/>
        </p:nvSpPr>
        <p:spPr>
          <a:xfrm>
            <a:off x="4077934" y="5555516"/>
            <a:ext cx="837089" cy="369332"/>
          </a:xfrm>
          <a:prstGeom prst="rect">
            <a:avLst/>
          </a:prstGeom>
          <a:noFill/>
        </p:spPr>
        <p:txBody>
          <a:bodyPr wrap="none" rtlCol="0">
            <a:spAutoFit/>
          </a:bodyPr>
          <a:lstStyle/>
          <a:p>
            <a:r>
              <a:rPr lang="en-US" dirty="0"/>
              <a:t>Halide</a:t>
            </a:r>
          </a:p>
        </p:txBody>
      </p:sp>
      <p:sp>
        <p:nvSpPr>
          <p:cNvPr id="19" name="TextBox 18">
            <a:extLst>
              <a:ext uri="{FF2B5EF4-FFF2-40B4-BE49-F238E27FC236}">
                <a16:creationId xmlns:a16="http://schemas.microsoft.com/office/drawing/2014/main" id="{23358F22-F533-1C7C-D8C5-74ED702D9FF3}"/>
              </a:ext>
            </a:extLst>
          </p:cNvPr>
          <p:cNvSpPr txBox="1"/>
          <p:nvPr/>
        </p:nvSpPr>
        <p:spPr>
          <a:xfrm>
            <a:off x="5538167" y="5555516"/>
            <a:ext cx="538417" cy="369332"/>
          </a:xfrm>
          <a:prstGeom prst="rect">
            <a:avLst/>
          </a:prstGeom>
          <a:noFill/>
        </p:spPr>
        <p:txBody>
          <a:bodyPr wrap="none" rtlCol="0">
            <a:spAutoFit/>
          </a:bodyPr>
          <a:lstStyle/>
          <a:p>
            <a:r>
              <a:rPr lang="en-US" dirty="0"/>
              <a:t>Exo</a:t>
            </a:r>
          </a:p>
        </p:txBody>
      </p:sp>
      <p:sp>
        <p:nvSpPr>
          <p:cNvPr id="20" name="TextBox 19">
            <a:extLst>
              <a:ext uri="{FF2B5EF4-FFF2-40B4-BE49-F238E27FC236}">
                <a16:creationId xmlns:a16="http://schemas.microsoft.com/office/drawing/2014/main" id="{09544EDC-8C17-AE4B-036F-97A08EF7C98C}"/>
              </a:ext>
            </a:extLst>
          </p:cNvPr>
          <p:cNvSpPr txBox="1"/>
          <p:nvPr/>
        </p:nvSpPr>
        <p:spPr>
          <a:xfrm>
            <a:off x="6699728" y="5555516"/>
            <a:ext cx="752129" cy="369332"/>
          </a:xfrm>
          <a:prstGeom prst="rect">
            <a:avLst/>
          </a:prstGeom>
          <a:noFill/>
        </p:spPr>
        <p:txBody>
          <a:bodyPr wrap="none" rtlCol="0">
            <a:spAutoFit/>
          </a:bodyPr>
          <a:lstStyle/>
          <a:p>
            <a:r>
              <a:rPr lang="en-US" dirty="0" err="1"/>
              <a:t>Noarr</a:t>
            </a:r>
            <a:endParaRPr lang="en-US" dirty="0"/>
          </a:p>
        </p:txBody>
      </p:sp>
      <p:sp>
        <p:nvSpPr>
          <p:cNvPr id="21" name="TextBox 20">
            <a:extLst>
              <a:ext uri="{FF2B5EF4-FFF2-40B4-BE49-F238E27FC236}">
                <a16:creationId xmlns:a16="http://schemas.microsoft.com/office/drawing/2014/main" id="{0A41B583-F767-91B8-538B-75DE9DE7AF66}"/>
              </a:ext>
            </a:extLst>
          </p:cNvPr>
          <p:cNvSpPr txBox="1"/>
          <p:nvPr/>
        </p:nvSpPr>
        <p:spPr>
          <a:xfrm>
            <a:off x="8079505" y="5555516"/>
            <a:ext cx="344966" cy="369332"/>
          </a:xfrm>
          <a:prstGeom prst="rect">
            <a:avLst/>
          </a:prstGeom>
          <a:noFill/>
        </p:spPr>
        <p:txBody>
          <a:bodyPr wrap="none" rtlCol="0">
            <a:spAutoFit/>
          </a:bodyPr>
          <a:lstStyle/>
          <a:p>
            <a:r>
              <a:rPr lang="en-US" dirty="0">
                <a:solidFill>
                  <a:schemeClr val="bg2">
                    <a:lumMod val="50000"/>
                  </a:schemeClr>
                </a:solidFill>
              </a:rPr>
              <a:t>C</a:t>
            </a:r>
          </a:p>
        </p:txBody>
      </p:sp>
      <p:sp>
        <p:nvSpPr>
          <p:cNvPr id="22" name="Right Brace 21">
            <a:extLst>
              <a:ext uri="{FF2B5EF4-FFF2-40B4-BE49-F238E27FC236}">
                <a16:creationId xmlns:a16="http://schemas.microsoft.com/office/drawing/2014/main" id="{F8913E04-5267-66BC-CE21-BB61AA117287}"/>
              </a:ext>
            </a:extLst>
          </p:cNvPr>
          <p:cNvSpPr/>
          <p:nvPr/>
        </p:nvSpPr>
        <p:spPr>
          <a:xfrm rot="16200000">
            <a:off x="6122237" y="3315566"/>
            <a:ext cx="230225" cy="424967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5FBD808A-C60E-D2B4-AE81-67F52D4FA591}"/>
              </a:ext>
            </a:extLst>
          </p:cNvPr>
          <p:cNvCxnSpPr>
            <a:cxnSpLocks/>
            <a:stCxn id="17" idx="0"/>
            <a:endCxn id="7" idx="2"/>
          </p:cNvCxnSpPr>
          <p:nvPr/>
        </p:nvCxnSpPr>
        <p:spPr>
          <a:xfrm flipV="1">
            <a:off x="6232189" y="4178346"/>
            <a:ext cx="5162" cy="7503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A37A6BF4-23D3-4BC4-D822-08D7F02A8E4A}"/>
              </a:ext>
            </a:extLst>
          </p:cNvPr>
          <p:cNvSpPr txBox="1"/>
          <p:nvPr/>
        </p:nvSpPr>
        <p:spPr>
          <a:xfrm>
            <a:off x="1864701" y="3224238"/>
            <a:ext cx="1542410" cy="646331"/>
          </a:xfrm>
          <a:prstGeom prst="rect">
            <a:avLst/>
          </a:prstGeom>
          <a:noFill/>
          <a:ln>
            <a:solidFill>
              <a:schemeClr val="tx1"/>
            </a:solidFill>
          </a:ln>
        </p:spPr>
        <p:txBody>
          <a:bodyPr wrap="none" rtlCol="0">
            <a:spAutoFit/>
          </a:bodyPr>
          <a:lstStyle/>
          <a:p>
            <a:pPr algn="ctr"/>
            <a:r>
              <a:rPr lang="en-US" dirty="0" err="1"/>
              <a:t>PolyBench</a:t>
            </a:r>
            <a:r>
              <a:rPr lang="en-US" dirty="0"/>
              <a:t>/C</a:t>
            </a:r>
          </a:p>
          <a:p>
            <a:pPr algn="ctr"/>
            <a:r>
              <a:rPr lang="en-US" i="1" dirty="0"/>
              <a:t>30 algorithms</a:t>
            </a:r>
          </a:p>
        </p:txBody>
      </p:sp>
      <p:cxnSp>
        <p:nvCxnSpPr>
          <p:cNvPr id="31" name="Straight Arrow Connector 30">
            <a:extLst>
              <a:ext uri="{FF2B5EF4-FFF2-40B4-BE49-F238E27FC236}">
                <a16:creationId xmlns:a16="http://schemas.microsoft.com/office/drawing/2014/main" id="{3563A0DB-403A-ADCF-C3F1-0F9C8265FE3F}"/>
              </a:ext>
            </a:extLst>
          </p:cNvPr>
          <p:cNvCxnSpPr>
            <a:stCxn id="29" idx="3"/>
            <a:endCxn id="9" idx="1"/>
          </p:cNvCxnSpPr>
          <p:nvPr/>
        </p:nvCxnSpPr>
        <p:spPr>
          <a:xfrm>
            <a:off x="3407111" y="3547404"/>
            <a:ext cx="45698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3" name="Left Brace 32">
            <a:extLst>
              <a:ext uri="{FF2B5EF4-FFF2-40B4-BE49-F238E27FC236}">
                <a16:creationId xmlns:a16="http://schemas.microsoft.com/office/drawing/2014/main" id="{6C2941FF-F0FF-E5E0-7D40-1745F519E03E}"/>
              </a:ext>
            </a:extLst>
          </p:cNvPr>
          <p:cNvSpPr/>
          <p:nvPr/>
        </p:nvSpPr>
        <p:spPr>
          <a:xfrm>
            <a:off x="8610600" y="3259030"/>
            <a:ext cx="114804" cy="54998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4" name="TextBox 33">
            <a:extLst>
              <a:ext uri="{FF2B5EF4-FFF2-40B4-BE49-F238E27FC236}">
                <a16:creationId xmlns:a16="http://schemas.microsoft.com/office/drawing/2014/main" id="{C17EFA50-E483-F872-FFF7-0042EB900CD4}"/>
              </a:ext>
            </a:extLst>
          </p:cNvPr>
          <p:cNvSpPr txBox="1"/>
          <p:nvPr/>
        </p:nvSpPr>
        <p:spPr>
          <a:xfrm>
            <a:off x="8725404" y="3164074"/>
            <a:ext cx="1414233" cy="369332"/>
          </a:xfrm>
          <a:prstGeom prst="rect">
            <a:avLst/>
          </a:prstGeom>
          <a:noFill/>
        </p:spPr>
        <p:txBody>
          <a:bodyPr wrap="none" rtlCol="0">
            <a:spAutoFit/>
          </a:bodyPr>
          <a:lstStyle/>
          <a:p>
            <a:r>
              <a:rPr lang="en-US" dirty="0"/>
              <a:t>Correctness</a:t>
            </a:r>
          </a:p>
        </p:txBody>
      </p:sp>
      <p:sp>
        <p:nvSpPr>
          <p:cNvPr id="36" name="TextBox 35">
            <a:extLst>
              <a:ext uri="{FF2B5EF4-FFF2-40B4-BE49-F238E27FC236}">
                <a16:creationId xmlns:a16="http://schemas.microsoft.com/office/drawing/2014/main" id="{2F778B3F-0584-FE3C-1B8D-FA252396DDD7}"/>
              </a:ext>
            </a:extLst>
          </p:cNvPr>
          <p:cNvSpPr txBox="1"/>
          <p:nvPr/>
        </p:nvSpPr>
        <p:spPr>
          <a:xfrm>
            <a:off x="8854766" y="3439682"/>
            <a:ext cx="1155509" cy="369332"/>
          </a:xfrm>
          <a:prstGeom prst="rect">
            <a:avLst/>
          </a:prstGeom>
          <a:noFill/>
        </p:spPr>
        <p:txBody>
          <a:bodyPr wrap="none" rtlCol="0">
            <a:spAutoFit/>
          </a:bodyPr>
          <a:lstStyle/>
          <a:p>
            <a:r>
              <a:rPr lang="en-US" dirty="0"/>
              <a:t>Efficiency</a:t>
            </a:r>
          </a:p>
        </p:txBody>
      </p:sp>
    </p:spTree>
    <p:extLst>
      <p:ext uri="{BB962C8B-B14F-4D97-AF65-F5344CB8AC3E}">
        <p14:creationId xmlns:p14="http://schemas.microsoft.com/office/powerpoint/2010/main" val="2707702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4" name="Group 43">
            <a:extLst>
              <a:ext uri="{FF2B5EF4-FFF2-40B4-BE49-F238E27FC236}">
                <a16:creationId xmlns:a16="http://schemas.microsoft.com/office/drawing/2014/main" id="{95571F21-827D-539D-D4E5-DB1BB7B71F43}"/>
              </a:ext>
            </a:extLst>
          </p:cNvPr>
          <p:cNvGrpSpPr/>
          <p:nvPr/>
        </p:nvGrpSpPr>
        <p:grpSpPr>
          <a:xfrm>
            <a:off x="2579748" y="2908938"/>
            <a:ext cx="6725589" cy="2229161"/>
            <a:chOff x="2579748" y="2908938"/>
            <a:chExt cx="6725589" cy="2229161"/>
          </a:xfrm>
        </p:grpSpPr>
        <p:pic>
          <p:nvPicPr>
            <p:cNvPr id="6" name="Picture 5">
              <a:extLst>
                <a:ext uri="{FF2B5EF4-FFF2-40B4-BE49-F238E27FC236}">
                  <a16:creationId xmlns:a16="http://schemas.microsoft.com/office/drawing/2014/main" id="{0D4C5F21-8011-3C8D-D688-5EAD5518EC37}"/>
                </a:ext>
              </a:extLst>
            </p:cNvPr>
            <p:cNvPicPr>
              <a:picLocks noChangeAspect="1"/>
            </p:cNvPicPr>
            <p:nvPr/>
          </p:nvPicPr>
          <p:blipFill>
            <a:blip r:embed="rId3"/>
            <a:stretch>
              <a:fillRect/>
            </a:stretch>
          </p:blipFill>
          <p:spPr>
            <a:xfrm>
              <a:off x="2579748" y="2908938"/>
              <a:ext cx="6725589" cy="2229161"/>
            </a:xfrm>
            <a:prstGeom prst="rect">
              <a:avLst/>
            </a:prstGeom>
          </p:spPr>
        </p:pic>
        <p:sp>
          <p:nvSpPr>
            <p:cNvPr id="16" name="Oval 15">
              <a:extLst>
                <a:ext uri="{FF2B5EF4-FFF2-40B4-BE49-F238E27FC236}">
                  <a16:creationId xmlns:a16="http://schemas.microsoft.com/office/drawing/2014/main" id="{10B03CF7-C5DD-D42F-BE83-737ACAF8269B}"/>
                </a:ext>
              </a:extLst>
            </p:cNvPr>
            <p:cNvSpPr/>
            <p:nvPr/>
          </p:nvSpPr>
          <p:spPr>
            <a:xfrm>
              <a:off x="4127127" y="3526657"/>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FBA743B9-2D84-0FA8-5F12-F601E209A913}"/>
                </a:ext>
              </a:extLst>
            </p:cNvPr>
            <p:cNvSpPr/>
            <p:nvPr/>
          </p:nvSpPr>
          <p:spPr>
            <a:xfrm>
              <a:off x="7232277" y="374806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9B153F27-549E-59FD-49DD-71B68B6AF1E2}"/>
                </a:ext>
              </a:extLst>
            </p:cNvPr>
            <p:cNvSpPr/>
            <p:nvPr/>
          </p:nvSpPr>
          <p:spPr>
            <a:xfrm>
              <a:off x="2832521" y="376711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smtClean="0"/>
              <a:t>25</a:t>
            </a:fld>
            <a:endParaRPr lang="en-US"/>
          </a:p>
        </p:txBody>
      </p:sp>
      <p:sp>
        <p:nvSpPr>
          <p:cNvPr id="7" name="TextBox 6">
            <a:extLst>
              <a:ext uri="{FF2B5EF4-FFF2-40B4-BE49-F238E27FC236}">
                <a16:creationId xmlns:a16="http://schemas.microsoft.com/office/drawing/2014/main" id="{DB9497BC-6D29-1801-EA64-2882313902E4}"/>
              </a:ext>
            </a:extLst>
          </p:cNvPr>
          <p:cNvSpPr txBox="1"/>
          <p:nvPr/>
        </p:nvSpPr>
        <p:spPr>
          <a:xfrm>
            <a:off x="3818164" y="5562558"/>
            <a:ext cx="4555671" cy="646331"/>
          </a:xfrm>
          <a:prstGeom prst="rect">
            <a:avLst/>
          </a:prstGeom>
          <a:noFill/>
        </p:spPr>
        <p:txBody>
          <a:bodyPr wrap="none" rtlCol="0">
            <a:spAutoFit/>
          </a:bodyPr>
          <a:lstStyle/>
          <a:p>
            <a:r>
              <a:rPr lang="en-US" dirty="0"/>
              <a:t>Developer guide + abstraction-specific hints</a:t>
            </a:r>
          </a:p>
          <a:p>
            <a:pPr algn="ctr"/>
            <a:r>
              <a:rPr lang="en-US" i="1"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stCxn id="7" idx="0"/>
          </p:cNvCxnSpPr>
          <p:nvPr/>
        </p:nvCxnSpPr>
        <p:spPr>
          <a:xfrm flipH="1" flipV="1">
            <a:off x="4292794" y="4292794"/>
            <a:ext cx="1803206" cy="12697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stCxn id="7" idx="0"/>
          </p:cNvCxnSpPr>
          <p:nvPr/>
        </p:nvCxnSpPr>
        <p:spPr>
          <a:xfrm flipV="1">
            <a:off x="6096000" y="4544079"/>
            <a:ext cx="1030736" cy="10184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a:endCxn id="16" idx="0"/>
          </p:cNvCxnSpPr>
          <p:nvPr/>
        </p:nvCxnSpPr>
        <p:spPr>
          <a:xfrm>
            <a:off x="4127128" y="2906562"/>
            <a:ext cx="0" cy="6200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3378012" y="2260231"/>
            <a:ext cx="1498231" cy="646331"/>
          </a:xfrm>
          <a:prstGeom prst="rect">
            <a:avLst/>
          </a:prstGeom>
          <a:noFill/>
        </p:spPr>
        <p:txBody>
          <a:bodyPr wrap="none" rtlCol="0">
            <a:spAutoFit/>
          </a:bodyPr>
          <a:lstStyle/>
          <a:p>
            <a:pPr algn="ctr"/>
            <a:r>
              <a:rPr lang="en-US" dirty="0"/>
              <a:t>Example</a:t>
            </a:r>
            <a:br>
              <a:rPr lang="en-US" dirty="0"/>
            </a:br>
            <a:r>
              <a:rPr lang="en-US"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a:endCxn id="32" idx="0"/>
          </p:cNvCxnSpPr>
          <p:nvPr/>
        </p:nvCxnSpPr>
        <p:spPr>
          <a:xfrm flipH="1">
            <a:off x="7232278" y="2850970"/>
            <a:ext cx="10" cy="8970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260964" y="2481638"/>
            <a:ext cx="1942648" cy="369332"/>
          </a:xfrm>
          <a:prstGeom prst="rect">
            <a:avLst/>
          </a:prstGeom>
          <a:noFill/>
        </p:spPr>
        <p:txBody>
          <a:bodyPr wrap="none" rtlCol="0">
            <a:spAutoFit/>
          </a:bodyPr>
          <a:lstStyle/>
          <a:p>
            <a:pPr algn="ctr"/>
            <a:r>
              <a:rPr lang="en-US"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38052" y="3582449"/>
            <a:ext cx="1540743" cy="369332"/>
          </a:xfrm>
          <a:prstGeom prst="rect">
            <a:avLst/>
          </a:prstGeom>
          <a:noFill/>
        </p:spPr>
        <p:txBody>
          <a:bodyPr wrap="none" rtlCol="0">
            <a:spAutoFit/>
          </a:bodyPr>
          <a:lstStyle/>
          <a:p>
            <a:r>
              <a:rPr lang="en-US"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stCxn id="33" idx="3"/>
            <a:endCxn id="35" idx="2"/>
          </p:cNvCxnSpPr>
          <p:nvPr/>
        </p:nvCxnSpPr>
        <p:spPr>
          <a:xfrm>
            <a:off x="2378795" y="3767115"/>
            <a:ext cx="45372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Right Brace 44">
            <a:extLst>
              <a:ext uri="{FF2B5EF4-FFF2-40B4-BE49-F238E27FC236}">
                <a16:creationId xmlns:a16="http://schemas.microsoft.com/office/drawing/2014/main" id="{76E7C66C-E514-E140-0598-9B479403FA00}"/>
              </a:ext>
            </a:extLst>
          </p:cNvPr>
          <p:cNvSpPr/>
          <p:nvPr/>
        </p:nvSpPr>
        <p:spPr>
          <a:xfrm>
            <a:off x="9182100" y="2443163"/>
            <a:ext cx="300661" cy="282892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TextBox 45">
            <a:extLst>
              <a:ext uri="{FF2B5EF4-FFF2-40B4-BE49-F238E27FC236}">
                <a16:creationId xmlns:a16="http://schemas.microsoft.com/office/drawing/2014/main" id="{B681D359-D348-006D-B5F6-3F7D47199734}"/>
              </a:ext>
            </a:extLst>
          </p:cNvPr>
          <p:cNvSpPr txBox="1"/>
          <p:nvPr/>
        </p:nvSpPr>
        <p:spPr>
          <a:xfrm>
            <a:off x="9482156" y="3526657"/>
            <a:ext cx="2709844" cy="646331"/>
          </a:xfrm>
          <a:prstGeom prst="rect">
            <a:avLst/>
          </a:prstGeom>
          <a:noFill/>
        </p:spPr>
        <p:txBody>
          <a:bodyPr wrap="none" rtlCol="0">
            <a:spAutoFit/>
          </a:bodyPr>
          <a:lstStyle/>
          <a:p>
            <a:pPr algn="ctr"/>
            <a:r>
              <a:rPr lang="en-US" dirty="0"/>
              <a:t>Almost 500</a:t>
            </a:r>
            <a:br>
              <a:rPr lang="en-US" dirty="0"/>
            </a:br>
            <a:r>
              <a:rPr lang="en-US" dirty="0"/>
              <a:t>optimization experiments</a:t>
            </a:r>
          </a:p>
        </p:txBody>
      </p:sp>
    </p:spTree>
    <p:extLst>
      <p:ext uri="{BB962C8B-B14F-4D97-AF65-F5344CB8AC3E}">
        <p14:creationId xmlns:p14="http://schemas.microsoft.com/office/powerpoint/2010/main" val="2330282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smtClean="0"/>
              <a:t>26</a:t>
            </a:fld>
            <a:endParaRPr lang="en-US"/>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00373" y="956745"/>
            <a:ext cx="761050" cy="68359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216385" y="587413"/>
            <a:ext cx="1967975" cy="369332"/>
          </a:xfrm>
          <a:prstGeom prst="rect">
            <a:avLst/>
          </a:prstGeom>
          <a:noFill/>
        </p:spPr>
        <p:txBody>
          <a:bodyPr wrap="none" rtlCol="0">
            <a:spAutoFit/>
          </a:bodyPr>
          <a:lstStyle/>
          <a:p>
            <a:r>
              <a:rPr lang="en-US" dirty="0"/>
              <a:t>Best performance</a:t>
            </a:r>
          </a:p>
        </p:txBody>
      </p:sp>
    </p:spTree>
    <p:extLst>
      <p:ext uri="{BB962C8B-B14F-4D97-AF65-F5344CB8AC3E}">
        <p14:creationId xmlns:p14="http://schemas.microsoft.com/office/powerpoint/2010/main" val="13416658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dirty="0"/>
              <a:t>LLM-directed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p:txBody>
          <a:bodyPr/>
          <a:lstStyle/>
          <a:p>
            <a:r>
              <a:rPr lang="en-US" dirty="0"/>
              <a:t>Prompting specificity</a:t>
            </a:r>
          </a:p>
          <a:p>
            <a:r>
              <a:rPr lang="en-US" dirty="0"/>
              <a:t>Contemporary abstractions do not help</a:t>
            </a:r>
          </a:p>
          <a:p>
            <a:endParaRPr lang="en-US" dirty="0"/>
          </a:p>
          <a:p>
            <a:r>
              <a:rPr lang="en-US" dirty="0"/>
              <a:t>Future research</a:t>
            </a:r>
          </a:p>
          <a:p>
            <a:pPr lvl="1"/>
            <a:r>
              <a:rPr lang="en-US" dirty="0"/>
              <a:t>Re-evaluate on agentic LLMs</a:t>
            </a:r>
          </a:p>
          <a:p>
            <a:pPr lvl="2"/>
            <a:r>
              <a:rPr lang="en-US" dirty="0"/>
              <a:t>Automatically gather feedback</a:t>
            </a:r>
          </a:p>
          <a:p>
            <a:pPr lvl="2"/>
            <a:r>
              <a:rPr lang="en-US" dirty="0"/>
              <a:t>Can collect necessary context (e.g., work with abstraction reference)</a:t>
            </a:r>
          </a:p>
          <a:p>
            <a:pPr lvl="1"/>
            <a:r>
              <a:rPr lang="en-US" dirty="0"/>
              <a:t>More LLM-focused abstractions or scaffolding</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smtClean="0"/>
              <a:t>8/28/2026</a:t>
            </a:fld>
            <a:endParaRPr lang="en-US"/>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smtClean="0"/>
              <a:t>27</a:t>
            </a:fld>
            <a:endParaRPr lang="en-US"/>
          </a:p>
        </p:txBody>
      </p:sp>
    </p:spTree>
    <p:extLst>
      <p:ext uri="{BB962C8B-B14F-4D97-AF65-F5344CB8AC3E}">
        <p14:creationId xmlns:p14="http://schemas.microsoft.com/office/powerpoint/2010/main" val="27099458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smtClean="0"/>
              <a:t>8/28/2026</a:t>
            </a:fld>
            <a:endParaRPr lang="en-US"/>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smtClean="0"/>
              <a:t>28</a:t>
            </a:fld>
            <a:endParaRPr lang="en-US"/>
          </a:p>
        </p:txBody>
      </p:sp>
      <p:sp>
        <p:nvSpPr>
          <p:cNvPr id="6" name="TextBox 5">
            <a:extLst>
              <a:ext uri="{FF2B5EF4-FFF2-40B4-BE49-F238E27FC236}">
                <a16:creationId xmlns:a16="http://schemas.microsoft.com/office/drawing/2014/main" id="{0C2203B1-0F93-3F92-FADF-DA1FA387F65C}"/>
              </a:ext>
            </a:extLst>
          </p:cNvPr>
          <p:cNvSpPr txBox="1"/>
          <p:nvPr/>
        </p:nvSpPr>
        <p:spPr>
          <a:xfrm>
            <a:off x="210263" y="3548774"/>
            <a:ext cx="2418354" cy="369332"/>
          </a:xfrm>
          <a:prstGeom prst="rect">
            <a:avLst/>
          </a:prstGeom>
          <a:noFill/>
        </p:spPr>
        <p:txBody>
          <a:bodyPr wrap="none" rtlCol="0">
            <a:spAutoFit/>
          </a:bodyPr>
          <a:lstStyle/>
          <a:p>
            <a:r>
              <a:rPr lang="en-US" dirty="0"/>
              <a:t>Distributed computing</a:t>
            </a:r>
          </a:p>
        </p:txBody>
      </p:sp>
      <p:sp>
        <p:nvSpPr>
          <p:cNvPr id="8" name="TextBox 7">
            <a:extLst>
              <a:ext uri="{FF2B5EF4-FFF2-40B4-BE49-F238E27FC236}">
                <a16:creationId xmlns:a16="http://schemas.microsoft.com/office/drawing/2014/main" id="{0C1F297F-A46E-4127-A44D-943053748AAD}"/>
              </a:ext>
            </a:extLst>
          </p:cNvPr>
          <p:cNvSpPr txBox="1"/>
          <p:nvPr/>
        </p:nvSpPr>
        <p:spPr>
          <a:xfrm>
            <a:off x="398102" y="2284970"/>
            <a:ext cx="2042675" cy="369332"/>
          </a:xfrm>
          <a:prstGeom prst="rect">
            <a:avLst/>
          </a:prstGeom>
          <a:noFill/>
        </p:spPr>
        <p:txBody>
          <a:bodyPr wrap="none" rtlCol="0">
            <a:spAutoFit/>
          </a:bodyPr>
          <a:lstStyle/>
          <a:p>
            <a:r>
              <a:rPr lang="en-US" dirty="0"/>
              <a:t>Layout abstraction</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766623" y="2916872"/>
            <a:ext cx="2256002" cy="369332"/>
          </a:xfrm>
          <a:prstGeom prst="rect">
            <a:avLst/>
          </a:prstGeom>
          <a:noFill/>
        </p:spPr>
        <p:txBody>
          <a:bodyPr wrap="none" rtlCol="0">
            <a:spAutoFit/>
          </a:bodyPr>
          <a:lstStyle/>
          <a:p>
            <a:r>
              <a:rPr lang="en-US" dirty="0"/>
              <a:t>Traversal abstraction</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001631" y="3548774"/>
            <a:ext cx="2457981" cy="369332"/>
          </a:xfrm>
          <a:prstGeom prst="rect">
            <a:avLst/>
          </a:prstGeom>
          <a:noFill/>
        </p:spPr>
        <p:txBody>
          <a:bodyPr wrap="none" rtlCol="0">
            <a:spAutoFit/>
          </a:bodyPr>
          <a:lstStyle/>
          <a:p>
            <a:r>
              <a:rPr lang="en-US" dirty="0"/>
              <a:t>Autotuning abstraction</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926114" y="1618497"/>
            <a:ext cx="1988750" cy="369332"/>
          </a:xfrm>
          <a:prstGeom prst="rect">
            <a:avLst/>
          </a:prstGeom>
          <a:noFill/>
        </p:spPr>
        <p:txBody>
          <a:bodyPr wrap="none" rtlCol="0">
            <a:spAutoFit/>
          </a:bodyPr>
          <a:lstStyle/>
          <a:p>
            <a:r>
              <a:rPr lang="en-US"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7183091" y="2241468"/>
            <a:ext cx="3474797" cy="369332"/>
          </a:xfrm>
          <a:prstGeom prst="rect">
            <a:avLst/>
          </a:prstGeom>
          <a:noFill/>
        </p:spPr>
        <p:txBody>
          <a:bodyPr wrap="none" rtlCol="0">
            <a:spAutoFit/>
          </a:bodyPr>
          <a:lstStyle/>
          <a:p>
            <a:r>
              <a:rPr lang="en-US" dirty="0"/>
              <a:t>Bit-level encoding and evaluation</a:t>
            </a:r>
          </a:p>
        </p:txBody>
      </p:sp>
      <p:sp>
        <p:nvSpPr>
          <p:cNvPr id="27" name="TextBox 26">
            <a:extLst>
              <a:ext uri="{FF2B5EF4-FFF2-40B4-BE49-F238E27FC236}">
                <a16:creationId xmlns:a16="http://schemas.microsoft.com/office/drawing/2014/main" id="{4C486DD0-E83D-76B8-FFAB-7DFBC00CF409}"/>
              </a:ext>
            </a:extLst>
          </p:cNvPr>
          <p:cNvSpPr txBox="1"/>
          <p:nvPr/>
        </p:nvSpPr>
        <p:spPr>
          <a:xfrm>
            <a:off x="7070880" y="3009465"/>
            <a:ext cx="3699218" cy="369332"/>
          </a:xfrm>
          <a:prstGeom prst="rect">
            <a:avLst/>
          </a:prstGeom>
          <a:noFill/>
        </p:spPr>
        <p:txBody>
          <a:bodyPr wrap="none" rtlCol="0">
            <a:spAutoFit/>
          </a:bodyPr>
          <a:lstStyle/>
          <a:p>
            <a:r>
              <a:rPr lang="en-US" dirty="0"/>
              <a:t>Abstractions for cellular automata</a:t>
            </a:r>
          </a:p>
        </p:txBody>
      </p:sp>
      <p:sp>
        <p:nvSpPr>
          <p:cNvPr id="28" name="TextBox 27">
            <a:extLst>
              <a:ext uri="{FF2B5EF4-FFF2-40B4-BE49-F238E27FC236}">
                <a16:creationId xmlns:a16="http://schemas.microsoft.com/office/drawing/2014/main" id="{4E10342D-AF4F-9D7A-596A-774C5A75EE80}"/>
              </a:ext>
            </a:extLst>
          </p:cNvPr>
          <p:cNvSpPr txBox="1"/>
          <p:nvPr/>
        </p:nvSpPr>
        <p:spPr>
          <a:xfrm>
            <a:off x="4138188" y="5617686"/>
            <a:ext cx="3915624" cy="369332"/>
          </a:xfrm>
          <a:prstGeom prst="rect">
            <a:avLst/>
          </a:prstGeom>
          <a:noFill/>
        </p:spPr>
        <p:txBody>
          <a:bodyPr wrap="none" rtlCol="0">
            <a:spAutoFit/>
          </a:bodyPr>
          <a:lstStyle/>
          <a:p>
            <a:r>
              <a:rPr lang="en-US" dirty="0"/>
              <a:t>LLM generation with user-suggestions</a:t>
            </a:r>
          </a:p>
        </p:txBody>
      </p:sp>
      <p:sp>
        <p:nvSpPr>
          <p:cNvPr id="30" name="TextBox 29">
            <a:extLst>
              <a:ext uri="{FF2B5EF4-FFF2-40B4-BE49-F238E27FC236}">
                <a16:creationId xmlns:a16="http://schemas.microsoft.com/office/drawing/2014/main" id="{4AD7395F-5DE8-A141-7F54-EB10905B989D}"/>
              </a:ext>
            </a:extLst>
          </p:cNvPr>
          <p:cNvSpPr txBox="1"/>
          <p:nvPr/>
        </p:nvSpPr>
        <p:spPr>
          <a:xfrm>
            <a:off x="3070460" y="4912935"/>
            <a:ext cx="6051080" cy="369332"/>
          </a:xfrm>
          <a:prstGeom prst="rect">
            <a:avLst/>
          </a:prstGeom>
          <a:noFill/>
        </p:spPr>
        <p:txBody>
          <a:bodyPr wrap="none" rtlCol="0">
            <a:spAutoFit/>
          </a:bodyPr>
          <a:lstStyle/>
          <a:p>
            <a:r>
              <a:rPr lang="en-US" dirty="0"/>
              <a:t>Effect of layout and traversal abstraction on LLM generation</a:t>
            </a:r>
          </a:p>
        </p:txBody>
      </p:sp>
      <p:sp>
        <p:nvSpPr>
          <p:cNvPr id="32" name="TextBox 31">
            <a:extLst>
              <a:ext uri="{FF2B5EF4-FFF2-40B4-BE49-F238E27FC236}">
                <a16:creationId xmlns:a16="http://schemas.microsoft.com/office/drawing/2014/main" id="{575DD392-3AAA-5F2A-363D-37ADF1B2AD3E}"/>
              </a:ext>
            </a:extLst>
          </p:cNvPr>
          <p:cNvSpPr txBox="1"/>
          <p:nvPr/>
        </p:nvSpPr>
        <p:spPr>
          <a:xfrm>
            <a:off x="1506735" y="1583926"/>
            <a:ext cx="3952877" cy="369332"/>
          </a:xfrm>
          <a:prstGeom prst="rect">
            <a:avLst/>
          </a:prstGeom>
          <a:noFill/>
        </p:spPr>
        <p:txBody>
          <a:bodyPr wrap="none" rtlCol="0">
            <a:spAutoFit/>
          </a:bodyPr>
          <a:lstStyle/>
          <a:p>
            <a:r>
              <a:rPr lang="en-US" dirty="0"/>
              <a:t>General-purpose scientific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6963863" y="937680"/>
            <a:ext cx="3913251" cy="369332"/>
          </a:xfrm>
          <a:prstGeom prst="rect">
            <a:avLst/>
          </a:prstGeom>
          <a:noFill/>
        </p:spPr>
        <p:txBody>
          <a:bodyPr wrap="none" rtlCol="0">
            <a:spAutoFit/>
          </a:bodyPr>
          <a:lstStyle/>
          <a:p>
            <a:r>
              <a:rPr lang="en-US" dirty="0"/>
              <a:t>Domain-specific scientific computing</a:t>
            </a:r>
          </a:p>
        </p:txBody>
      </p:sp>
    </p:spTree>
    <p:extLst>
      <p:ext uri="{BB962C8B-B14F-4D97-AF65-F5344CB8AC3E}">
        <p14:creationId xmlns:p14="http://schemas.microsoft.com/office/powerpoint/2010/main" val="17454896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smtClean="0"/>
              <a:t>8/28/2026</a:t>
            </a:fld>
            <a:endParaRPr lang="en-US"/>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smtClean="0"/>
              <a:t>29</a:t>
            </a:fld>
            <a:endParaRPr lang="en-US"/>
          </a:p>
        </p:txBody>
      </p:sp>
    </p:spTree>
    <p:extLst>
      <p:ext uri="{BB962C8B-B14F-4D97-AF65-F5344CB8AC3E}">
        <p14:creationId xmlns:p14="http://schemas.microsoft.com/office/powerpoint/2010/main" val="25953849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60A6E-3187-42F4-D4AF-DBEF792A9C8A}"/>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24B00957-7817-24B3-7E38-9A1C4F2058CF}"/>
              </a:ext>
            </a:extLst>
          </p:cNvPr>
          <p:cNvPicPr>
            <a:picLocks noChangeAspect="1"/>
          </p:cNvPicPr>
          <p:nvPr/>
        </p:nvPicPr>
        <p:blipFill>
          <a:blip r:embed="rId3"/>
          <a:stretch>
            <a:fillRect/>
          </a:stretch>
        </p:blipFill>
        <p:spPr>
          <a:xfrm>
            <a:off x="399012" y="1092171"/>
            <a:ext cx="10778836" cy="2722058"/>
          </a:xfrm>
          <a:prstGeom prst="rect">
            <a:avLst/>
          </a:prstGeom>
        </p:spPr>
      </p:pic>
      <p:pic>
        <p:nvPicPr>
          <p:cNvPr id="6" name="Picture 5">
            <a:extLst>
              <a:ext uri="{FF2B5EF4-FFF2-40B4-BE49-F238E27FC236}">
                <a16:creationId xmlns:a16="http://schemas.microsoft.com/office/drawing/2014/main" id="{2A107D04-2167-AED6-424B-AE247F4C77D4}"/>
              </a:ext>
            </a:extLst>
          </p:cNvPr>
          <p:cNvPicPr>
            <a:picLocks noChangeAspect="1"/>
          </p:cNvPicPr>
          <p:nvPr/>
        </p:nvPicPr>
        <p:blipFill>
          <a:blip r:embed="rId4"/>
          <a:stretch>
            <a:fillRect/>
          </a:stretch>
        </p:blipFill>
        <p:spPr>
          <a:xfrm>
            <a:off x="108065" y="4043553"/>
            <a:ext cx="12192000" cy="2727753"/>
          </a:xfrm>
          <a:prstGeom prst="rect">
            <a:avLst/>
          </a:prstGeom>
        </p:spPr>
      </p:pic>
      <p:sp>
        <p:nvSpPr>
          <p:cNvPr id="7" name="Date Placeholder 6">
            <a:extLst>
              <a:ext uri="{FF2B5EF4-FFF2-40B4-BE49-F238E27FC236}">
                <a16:creationId xmlns:a16="http://schemas.microsoft.com/office/drawing/2014/main" id="{7B653C52-BD65-F063-E5AD-F250A08141EA}"/>
              </a:ext>
            </a:extLst>
          </p:cNvPr>
          <p:cNvSpPr>
            <a:spLocks noGrp="1"/>
          </p:cNvSpPr>
          <p:nvPr>
            <p:ph type="dt" sz="half" idx="10"/>
          </p:nvPr>
        </p:nvSpPr>
        <p:spPr/>
        <p:txBody>
          <a:bodyPr/>
          <a:lstStyle/>
          <a:p>
            <a:fld id="{7E613BD8-21F3-4985-8518-9695229365CF}" type="datetime1">
              <a:rPr lang="en-US" smtClean="0"/>
              <a:t>8/28/2026</a:t>
            </a:fld>
            <a:endParaRPr lang="en-US"/>
          </a:p>
        </p:txBody>
      </p:sp>
      <p:sp>
        <p:nvSpPr>
          <p:cNvPr id="8" name="Slide Number Placeholder 7">
            <a:extLst>
              <a:ext uri="{FF2B5EF4-FFF2-40B4-BE49-F238E27FC236}">
                <a16:creationId xmlns:a16="http://schemas.microsoft.com/office/drawing/2014/main" id="{6D5F619E-88BF-2DD0-A199-4353D2206681}"/>
              </a:ext>
            </a:extLst>
          </p:cNvPr>
          <p:cNvSpPr>
            <a:spLocks noGrp="1"/>
          </p:cNvSpPr>
          <p:nvPr>
            <p:ph type="sldNum" sz="quarter" idx="12"/>
          </p:nvPr>
        </p:nvSpPr>
        <p:spPr/>
        <p:txBody>
          <a:bodyPr/>
          <a:lstStyle/>
          <a:p>
            <a:fld id="{DA0BB241-1B5F-4309-9407-9EEA04D9598D}" type="slidenum">
              <a:rPr lang="en-US" smtClean="0"/>
              <a:t>30</a:t>
            </a:fld>
            <a:endParaRPr lang="en-US"/>
          </a:p>
        </p:txBody>
      </p:sp>
    </p:spTree>
    <p:extLst>
      <p:ext uri="{BB962C8B-B14F-4D97-AF65-F5344CB8AC3E}">
        <p14:creationId xmlns:p14="http://schemas.microsoft.com/office/powerpoint/2010/main" val="3202652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noProof="0" dirty="0"/>
              <a:t>Key findings:</a:t>
            </a:r>
          </a:p>
          <a:p>
            <a:pPr lvl="1"/>
            <a:r>
              <a:rPr lang="en-US" noProof="0" dirty="0"/>
              <a:t>Prompt specificity improves results much more</a:t>
            </a:r>
          </a:p>
          <a:p>
            <a:pPr lvl="1"/>
            <a:r>
              <a:rPr lang="en-US" noProof="0" dirty="0"/>
              <a:t>LLMs more competent in pure C/C++</a:t>
            </a:r>
          </a:p>
          <a:p>
            <a:pPr lvl="1"/>
            <a:endParaRPr lang="en-US" noProof="0" dirty="0"/>
          </a:p>
        </p:txBody>
      </p:sp>
      <p:sp>
        <p:nvSpPr>
          <p:cNvPr id="4" name="Date Placeholder 3">
            <a:extLst>
              <a:ext uri="{FF2B5EF4-FFF2-40B4-BE49-F238E27FC236}">
                <a16:creationId xmlns:a16="http://schemas.microsoft.com/office/drawing/2014/main" id="{A904F0BB-D2EB-9C78-4897-D031CD98586E}"/>
              </a:ext>
            </a:extLst>
          </p:cNvPr>
          <p:cNvSpPr>
            <a:spLocks noGrp="1"/>
          </p:cNvSpPr>
          <p:nvPr>
            <p:ph type="dt" sz="half" idx="10"/>
          </p:nvPr>
        </p:nvSpPr>
        <p:spPr/>
        <p:txBody>
          <a:bodyPr/>
          <a:lstStyle/>
          <a:p>
            <a:fld id="{3679F7FC-6925-4E77-836B-08C753873575}" type="datetime1">
              <a:rPr lang="en-US" smtClean="0"/>
              <a:t>8/28/2026</a:t>
            </a:fld>
            <a:endParaRPr lang="en-US"/>
          </a:p>
        </p:txBody>
      </p:sp>
      <p:sp>
        <p:nvSpPr>
          <p:cNvPr id="5" name="Slide Number Placeholder 4">
            <a:extLst>
              <a:ext uri="{FF2B5EF4-FFF2-40B4-BE49-F238E27FC236}">
                <a16:creationId xmlns:a16="http://schemas.microsoft.com/office/drawing/2014/main" id="{FA31281F-1294-6DAE-E3F5-A63E2A037C08}"/>
              </a:ext>
            </a:extLst>
          </p:cNvPr>
          <p:cNvSpPr>
            <a:spLocks noGrp="1"/>
          </p:cNvSpPr>
          <p:nvPr>
            <p:ph type="sldNum" sz="quarter" idx="12"/>
          </p:nvPr>
        </p:nvSpPr>
        <p:spPr/>
        <p:txBody>
          <a:bodyPr/>
          <a:lstStyle/>
          <a:p>
            <a:fld id="{DA0BB241-1B5F-4309-9407-9EEA04D9598D}" type="slidenum">
              <a:rPr lang="en-US" smtClean="0"/>
              <a:t>31</a:t>
            </a:fld>
            <a:endParaRPr lang="en-US"/>
          </a:p>
        </p:txBody>
      </p:sp>
    </p:spTree>
    <p:extLst>
      <p:ext uri="{BB962C8B-B14F-4D97-AF65-F5344CB8AC3E}">
        <p14:creationId xmlns:p14="http://schemas.microsoft.com/office/powerpoint/2010/main" val="9656531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1FC1E0-2FFD-A509-1AF0-959A0AFC5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B428A2-491C-5FCA-EF3B-F536FBDAC5CA}"/>
              </a:ext>
            </a:extLst>
          </p:cNvPr>
          <p:cNvSpPr>
            <a:spLocks noGrp="1"/>
          </p:cNvSpPr>
          <p:nvPr>
            <p:ph type="title"/>
          </p:nvPr>
        </p:nvSpPr>
        <p:spPr/>
        <p:txBody>
          <a:bodyPr/>
          <a:lstStyle/>
          <a:p>
            <a:r>
              <a:rPr lang="en-US" noProof="0" dirty="0"/>
              <a:t>LLMs and abstractions</a:t>
            </a:r>
          </a:p>
        </p:txBody>
      </p:sp>
      <p:pic>
        <p:nvPicPr>
          <p:cNvPr id="8" name="Picture 7">
            <a:extLst>
              <a:ext uri="{FF2B5EF4-FFF2-40B4-BE49-F238E27FC236}">
                <a16:creationId xmlns:a16="http://schemas.microsoft.com/office/drawing/2014/main" id="{6BEAAA05-114E-208D-DFDE-367639786C54}"/>
              </a:ext>
            </a:extLst>
          </p:cNvPr>
          <p:cNvPicPr>
            <a:picLocks noChangeAspect="1"/>
          </p:cNvPicPr>
          <p:nvPr/>
        </p:nvPicPr>
        <p:blipFill>
          <a:blip r:embed="rId3"/>
          <a:stretch>
            <a:fillRect/>
          </a:stretch>
        </p:blipFill>
        <p:spPr>
          <a:xfrm>
            <a:off x="4894948" y="1912727"/>
            <a:ext cx="6725589" cy="2229161"/>
          </a:xfrm>
          <a:prstGeom prst="rect">
            <a:avLst/>
          </a:prstGeom>
        </p:spPr>
      </p:pic>
      <p:pic>
        <p:nvPicPr>
          <p:cNvPr id="10" name="Picture 9">
            <a:extLst>
              <a:ext uri="{FF2B5EF4-FFF2-40B4-BE49-F238E27FC236}">
                <a16:creationId xmlns:a16="http://schemas.microsoft.com/office/drawing/2014/main" id="{379CBEDB-3399-E476-B2E1-91035860BDD2}"/>
              </a:ext>
            </a:extLst>
          </p:cNvPr>
          <p:cNvPicPr>
            <a:picLocks noChangeAspect="1"/>
          </p:cNvPicPr>
          <p:nvPr/>
        </p:nvPicPr>
        <p:blipFill>
          <a:blip r:embed="rId4"/>
          <a:stretch>
            <a:fillRect/>
          </a:stretch>
        </p:blipFill>
        <p:spPr>
          <a:xfrm>
            <a:off x="5161686" y="4677223"/>
            <a:ext cx="6192114" cy="1286054"/>
          </a:xfrm>
          <a:prstGeom prst="rect">
            <a:avLst/>
          </a:prstGeom>
        </p:spPr>
      </p:pic>
      <p:sp>
        <p:nvSpPr>
          <p:cNvPr id="11" name="TextBox 10">
            <a:extLst>
              <a:ext uri="{FF2B5EF4-FFF2-40B4-BE49-F238E27FC236}">
                <a16:creationId xmlns:a16="http://schemas.microsoft.com/office/drawing/2014/main" id="{6C8FEF91-6DF2-D9C1-3C7C-927FC8555CBE}"/>
              </a:ext>
            </a:extLst>
          </p:cNvPr>
          <p:cNvSpPr txBox="1"/>
          <p:nvPr/>
        </p:nvSpPr>
        <p:spPr>
          <a:xfrm>
            <a:off x="9915828" y="1530781"/>
            <a:ext cx="2036455" cy="369332"/>
          </a:xfrm>
          <a:prstGeom prst="rect">
            <a:avLst/>
          </a:prstGeom>
          <a:noFill/>
        </p:spPr>
        <p:txBody>
          <a:bodyPr wrap="none" rtlCol="0">
            <a:spAutoFit/>
          </a:bodyPr>
          <a:lstStyle/>
          <a:p>
            <a:r>
              <a:rPr lang="en-US" dirty="0"/>
              <a:t>Which result best?</a:t>
            </a:r>
          </a:p>
        </p:txBody>
      </p:sp>
      <p:sp>
        <p:nvSpPr>
          <p:cNvPr id="13" name="TextBox 12">
            <a:extLst>
              <a:ext uri="{FF2B5EF4-FFF2-40B4-BE49-F238E27FC236}">
                <a16:creationId xmlns:a16="http://schemas.microsoft.com/office/drawing/2014/main" id="{13079C7E-EBE6-48C6-EAFC-9F6D960ED3AA}"/>
              </a:ext>
            </a:extLst>
          </p:cNvPr>
          <p:cNvSpPr txBox="1"/>
          <p:nvPr/>
        </p:nvSpPr>
        <p:spPr>
          <a:xfrm>
            <a:off x="8567916" y="4082521"/>
            <a:ext cx="2256387" cy="369332"/>
          </a:xfrm>
          <a:prstGeom prst="rect">
            <a:avLst/>
          </a:prstGeom>
          <a:noFill/>
        </p:spPr>
        <p:txBody>
          <a:bodyPr wrap="none" rtlCol="0">
            <a:spAutoFit/>
          </a:bodyPr>
          <a:lstStyle/>
          <a:p>
            <a:r>
              <a:rPr lang="en-US" dirty="0"/>
              <a:t>What prompt to use?</a:t>
            </a:r>
          </a:p>
        </p:txBody>
      </p:sp>
      <p:sp>
        <p:nvSpPr>
          <p:cNvPr id="15" name="TextBox 14">
            <a:extLst>
              <a:ext uri="{FF2B5EF4-FFF2-40B4-BE49-F238E27FC236}">
                <a16:creationId xmlns:a16="http://schemas.microsoft.com/office/drawing/2014/main" id="{7DBBF6DB-A3F4-9BDA-784B-07863D703169}"/>
              </a:ext>
            </a:extLst>
          </p:cNvPr>
          <p:cNvSpPr txBox="1"/>
          <p:nvPr/>
        </p:nvSpPr>
        <p:spPr>
          <a:xfrm>
            <a:off x="6252538" y="6003981"/>
            <a:ext cx="3840218" cy="369332"/>
          </a:xfrm>
          <a:prstGeom prst="rect">
            <a:avLst/>
          </a:prstGeom>
          <a:noFill/>
        </p:spPr>
        <p:txBody>
          <a:bodyPr wrap="none" rtlCol="0">
            <a:spAutoFit/>
          </a:bodyPr>
          <a:lstStyle/>
          <a:p>
            <a:r>
              <a:rPr lang="en-US" dirty="0"/>
              <a:t>Split the optimization into two steps?</a:t>
            </a:r>
          </a:p>
        </p:txBody>
      </p:sp>
      <p:sp>
        <p:nvSpPr>
          <p:cNvPr id="16" name="Rectangle 15">
            <a:extLst>
              <a:ext uri="{FF2B5EF4-FFF2-40B4-BE49-F238E27FC236}">
                <a16:creationId xmlns:a16="http://schemas.microsoft.com/office/drawing/2014/main" id="{6BB90353-381A-4006-0220-9E9CA9C30D3B}"/>
              </a:ext>
            </a:extLst>
          </p:cNvPr>
          <p:cNvSpPr/>
          <p:nvPr/>
        </p:nvSpPr>
        <p:spPr>
          <a:xfrm>
            <a:off x="2794082" y="137739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Baseline</a:t>
            </a:r>
          </a:p>
        </p:txBody>
      </p:sp>
      <p:sp>
        <p:nvSpPr>
          <p:cNvPr id="18" name="Rectangle 17">
            <a:extLst>
              <a:ext uri="{FF2B5EF4-FFF2-40B4-BE49-F238E27FC236}">
                <a16:creationId xmlns:a16="http://schemas.microsoft.com/office/drawing/2014/main" id="{0990C0B6-58D9-15D3-CB0B-5D196176BDE0}"/>
              </a:ext>
            </a:extLst>
          </p:cNvPr>
          <p:cNvSpPr/>
          <p:nvPr/>
        </p:nvSpPr>
        <p:spPr>
          <a:xfrm>
            <a:off x="154861" y="3407949"/>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Documentation</a:t>
            </a:r>
            <a:br>
              <a:rPr lang="en-US" dirty="0"/>
            </a:br>
            <a:r>
              <a:rPr lang="en-US" dirty="0"/>
              <a:t>&amp; language hints</a:t>
            </a:r>
          </a:p>
        </p:txBody>
      </p:sp>
      <p:sp>
        <p:nvSpPr>
          <p:cNvPr id="20" name="Rectangle 19">
            <a:extLst>
              <a:ext uri="{FF2B5EF4-FFF2-40B4-BE49-F238E27FC236}">
                <a16:creationId xmlns:a16="http://schemas.microsoft.com/office/drawing/2014/main" id="{3C98BE57-2A38-89A9-7FDE-296070049AA0}"/>
              </a:ext>
            </a:extLst>
          </p:cNvPr>
          <p:cNvSpPr/>
          <p:nvPr/>
        </p:nvSpPr>
        <p:spPr>
          <a:xfrm>
            <a:off x="154861" y="433002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Example</a:t>
            </a:r>
          </a:p>
        </p:txBody>
      </p:sp>
      <p:sp>
        <p:nvSpPr>
          <p:cNvPr id="22" name="Rectangle 21">
            <a:extLst>
              <a:ext uri="{FF2B5EF4-FFF2-40B4-BE49-F238E27FC236}">
                <a16:creationId xmlns:a16="http://schemas.microsoft.com/office/drawing/2014/main" id="{01DC6561-6C17-08E8-D1C2-54DD23B3B420}"/>
              </a:ext>
            </a:extLst>
          </p:cNvPr>
          <p:cNvSpPr/>
          <p:nvPr/>
        </p:nvSpPr>
        <p:spPr>
          <a:xfrm>
            <a:off x="154861" y="2485876"/>
            <a:ext cx="2100866" cy="71609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Optimization</a:t>
            </a:r>
            <a:br>
              <a:rPr lang="en-US" dirty="0"/>
            </a:br>
            <a:r>
              <a:rPr lang="en-US" dirty="0"/>
              <a:t>hints</a:t>
            </a:r>
          </a:p>
        </p:txBody>
      </p:sp>
      <p:sp>
        <p:nvSpPr>
          <p:cNvPr id="24" name="Rectangle 23">
            <a:extLst>
              <a:ext uri="{FF2B5EF4-FFF2-40B4-BE49-F238E27FC236}">
                <a16:creationId xmlns:a16="http://schemas.microsoft.com/office/drawing/2014/main" id="{0F4FB06D-29AA-ACC7-5573-C05802998A47}"/>
              </a:ext>
            </a:extLst>
          </p:cNvPr>
          <p:cNvSpPr/>
          <p:nvPr/>
        </p:nvSpPr>
        <p:spPr>
          <a:xfrm>
            <a:off x="2783437" y="5776779"/>
            <a:ext cx="2100866" cy="71609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Optimized</a:t>
            </a:r>
          </a:p>
        </p:txBody>
      </p:sp>
      <p:sp>
        <p:nvSpPr>
          <p:cNvPr id="26" name="Right Brace 25">
            <a:extLst>
              <a:ext uri="{FF2B5EF4-FFF2-40B4-BE49-F238E27FC236}">
                <a16:creationId xmlns:a16="http://schemas.microsoft.com/office/drawing/2014/main" id="{119D77B4-5A36-5A3B-B93D-EE6AB9478E3C}"/>
              </a:ext>
            </a:extLst>
          </p:cNvPr>
          <p:cNvSpPr/>
          <p:nvPr/>
        </p:nvSpPr>
        <p:spPr>
          <a:xfrm>
            <a:off x="2335576" y="2485876"/>
            <a:ext cx="649995" cy="271333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D64A32AA-01B4-1559-9337-81C50A0E8F3B}"/>
              </a:ext>
            </a:extLst>
          </p:cNvPr>
          <p:cNvCxnSpPr>
            <a:cxnSpLocks/>
          </p:cNvCxnSpPr>
          <p:nvPr/>
        </p:nvCxnSpPr>
        <p:spPr>
          <a:xfrm>
            <a:off x="3833870" y="2335576"/>
            <a:ext cx="0" cy="1093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A60EB943-7476-58D7-D62F-785FE459D2DD}"/>
              </a:ext>
            </a:extLst>
          </p:cNvPr>
          <p:cNvCxnSpPr/>
          <p:nvPr/>
        </p:nvCxnSpPr>
        <p:spPr>
          <a:xfrm>
            <a:off x="3843051" y="4396123"/>
            <a:ext cx="0" cy="12999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4FED10ED-91FE-8EF9-51E0-AC558579369F}"/>
              </a:ext>
            </a:extLst>
          </p:cNvPr>
          <p:cNvSpPr/>
          <p:nvPr/>
        </p:nvSpPr>
        <p:spPr>
          <a:xfrm>
            <a:off x="3183503" y="3609689"/>
            <a:ext cx="1322024" cy="7287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sp>
        <p:nvSpPr>
          <p:cNvPr id="3" name="Date Placeholder 2">
            <a:extLst>
              <a:ext uri="{FF2B5EF4-FFF2-40B4-BE49-F238E27FC236}">
                <a16:creationId xmlns:a16="http://schemas.microsoft.com/office/drawing/2014/main" id="{C891F748-A0F1-3E07-254F-0B68A947F6B7}"/>
              </a:ext>
            </a:extLst>
          </p:cNvPr>
          <p:cNvSpPr>
            <a:spLocks noGrp="1"/>
          </p:cNvSpPr>
          <p:nvPr>
            <p:ph type="dt" sz="half" idx="10"/>
          </p:nvPr>
        </p:nvSpPr>
        <p:spPr/>
        <p:txBody>
          <a:bodyPr/>
          <a:lstStyle/>
          <a:p>
            <a:fld id="{66C26781-F21E-4E26-95C7-6AA65F82040A}" type="datetime1">
              <a:rPr lang="en-US" smtClean="0"/>
              <a:t>8/28/2026</a:t>
            </a:fld>
            <a:endParaRPr lang="en-US"/>
          </a:p>
        </p:txBody>
      </p:sp>
      <p:sp>
        <p:nvSpPr>
          <p:cNvPr id="4" name="Slide Number Placeholder 3">
            <a:extLst>
              <a:ext uri="{FF2B5EF4-FFF2-40B4-BE49-F238E27FC236}">
                <a16:creationId xmlns:a16="http://schemas.microsoft.com/office/drawing/2014/main" id="{56DC48F8-30BE-E488-8FC2-7AD86595955B}"/>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21355553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B380223-B8BC-B06B-26FD-BACB2406C5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C8BF10-D9E5-C2D2-C14B-AE08DE190880}"/>
              </a:ext>
            </a:extLst>
          </p:cNvPr>
          <p:cNvSpPr>
            <a:spLocks noGrp="1"/>
          </p:cNvSpPr>
          <p:nvPr>
            <p:ph type="title"/>
          </p:nvPr>
        </p:nvSpPr>
        <p:spPr/>
        <p:txBody>
          <a:bodyPr/>
          <a:lstStyle/>
          <a:p>
            <a:r>
              <a:rPr lang="en-US" noProof="0" dirty="0"/>
              <a:t>Tutoring LLMs</a:t>
            </a:r>
          </a:p>
        </p:txBody>
      </p:sp>
      <p:sp>
        <p:nvSpPr>
          <p:cNvPr id="3" name="Date Placeholder 2">
            <a:extLst>
              <a:ext uri="{FF2B5EF4-FFF2-40B4-BE49-F238E27FC236}">
                <a16:creationId xmlns:a16="http://schemas.microsoft.com/office/drawing/2014/main" id="{25501E3A-53FD-7F73-FE1F-BE3B46E4FEA1}"/>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17A23FB0-51F7-DB78-6FB9-7A6B2F7D7FB3}"/>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13555074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2ADF4BF-6586-65DA-E4AE-94974FA48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31904B-BA21-4C39-5543-AF0149EAA50F}"/>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5975214-AC4C-A49D-BC8B-C47C4F29430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17D3F221-1897-9F91-8106-4AB40FC8824B}"/>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A87F2CD0-D7DC-A89C-B50D-9C02F6A9A1C1}"/>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B9978723-63B3-F831-A469-C2EB38EA7A3A}"/>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54569B5D-4CD1-0C2E-6528-AC2EBC62DEFC}"/>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5C76D1C5-B831-26B6-969B-E02EC22ADBB3}"/>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9423DF13-4C59-855B-8C3C-DC8E41C53600}"/>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1E81745A-AC23-57C9-F2BB-457BC41EDBA8}"/>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4A5AC241-1B06-DE15-6134-6FE9A53F439A}"/>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22CFEFF4-674A-79BC-91E4-1633A8CE6825}"/>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E71FF61B-8A94-69A1-B479-73445DBDA620}"/>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
        <p:nvSpPr>
          <p:cNvPr id="3" name="Date Placeholder 2">
            <a:extLst>
              <a:ext uri="{FF2B5EF4-FFF2-40B4-BE49-F238E27FC236}">
                <a16:creationId xmlns:a16="http://schemas.microsoft.com/office/drawing/2014/main" id="{7BE052C3-48BB-4223-A762-0A9228BFB21B}"/>
              </a:ext>
            </a:extLst>
          </p:cNvPr>
          <p:cNvSpPr>
            <a:spLocks noGrp="1"/>
          </p:cNvSpPr>
          <p:nvPr>
            <p:ph type="dt" sz="half" idx="10"/>
          </p:nvPr>
        </p:nvSpPr>
        <p:spPr/>
        <p:txBody>
          <a:bodyPr/>
          <a:lstStyle/>
          <a:p>
            <a:fld id="{6DAC1E11-C476-4762-AFFB-C3D6ECD7A44E}" type="datetime1">
              <a:rPr lang="en-US" smtClean="0"/>
              <a:t>8/28/2026</a:t>
            </a:fld>
            <a:endParaRPr lang="en-US"/>
          </a:p>
        </p:txBody>
      </p:sp>
      <p:sp>
        <p:nvSpPr>
          <p:cNvPr id="4" name="Slide Number Placeholder 3">
            <a:extLst>
              <a:ext uri="{FF2B5EF4-FFF2-40B4-BE49-F238E27FC236}">
                <a16:creationId xmlns:a16="http://schemas.microsoft.com/office/drawing/2014/main" id="{7A21066E-E7D3-494D-8439-A46941714C1C}"/>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42008505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8BC79E-0B1F-5D1D-A8A6-170A8D00B1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A15B60C-3C0A-6CF3-9721-64F51CB83FD9}"/>
              </a:ext>
            </a:extLst>
          </p:cNvPr>
          <p:cNvSpPr>
            <a:spLocks noGrp="1"/>
          </p:cNvSpPr>
          <p:nvPr>
            <p:ph type="title"/>
          </p:nvPr>
        </p:nvSpPr>
        <p:spPr/>
        <p:txBody>
          <a:bodyPr/>
          <a:lstStyle/>
          <a:p>
            <a:endParaRPr lang="en-US" noProof="0" dirty="0"/>
          </a:p>
        </p:txBody>
      </p:sp>
      <p:sp>
        <p:nvSpPr>
          <p:cNvPr id="5" name="Rectangle 4">
            <a:extLst>
              <a:ext uri="{FF2B5EF4-FFF2-40B4-BE49-F238E27FC236}">
                <a16:creationId xmlns:a16="http://schemas.microsoft.com/office/drawing/2014/main" id="{B998C859-7EF5-3FE2-35CD-2027D974CDAB}"/>
              </a:ext>
            </a:extLst>
          </p:cNvPr>
          <p:cNvSpPr/>
          <p:nvPr/>
        </p:nvSpPr>
        <p:spPr>
          <a:xfrm>
            <a:off x="4696098"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computation</a:t>
            </a:r>
          </a:p>
        </p:txBody>
      </p:sp>
      <p:sp>
        <p:nvSpPr>
          <p:cNvPr id="7" name="Rectangle 6">
            <a:extLst>
              <a:ext uri="{FF2B5EF4-FFF2-40B4-BE49-F238E27FC236}">
                <a16:creationId xmlns:a16="http://schemas.microsoft.com/office/drawing/2014/main" id="{0243BB3B-7799-CC89-C15D-09629EEE8CAC}"/>
              </a:ext>
            </a:extLst>
          </p:cNvPr>
          <p:cNvSpPr/>
          <p:nvPr/>
        </p:nvSpPr>
        <p:spPr>
          <a:xfrm>
            <a:off x="1109254" y="4302035"/>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p>
        </p:txBody>
      </p:sp>
      <p:sp>
        <p:nvSpPr>
          <p:cNvPr id="9" name="Rectangle 8">
            <a:extLst>
              <a:ext uri="{FF2B5EF4-FFF2-40B4-BE49-F238E27FC236}">
                <a16:creationId xmlns:a16="http://schemas.microsoft.com/office/drawing/2014/main" id="{A3CA4778-7DF8-3E04-D795-16DC5D1DC699}"/>
              </a:ext>
            </a:extLst>
          </p:cNvPr>
          <p:cNvSpPr/>
          <p:nvPr/>
        </p:nvSpPr>
        <p:spPr>
          <a:xfrm>
            <a:off x="7528560" y="2103120"/>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Memory layout</a:t>
            </a:r>
          </a:p>
        </p:txBody>
      </p:sp>
      <p:sp>
        <p:nvSpPr>
          <p:cNvPr id="11" name="Rectangle 10">
            <a:extLst>
              <a:ext uri="{FF2B5EF4-FFF2-40B4-BE49-F238E27FC236}">
                <a16:creationId xmlns:a16="http://schemas.microsoft.com/office/drawing/2014/main" id="{4D3A9371-0618-4139-FE79-A8EB0D3EF695}"/>
              </a:ext>
            </a:extLst>
          </p:cNvPr>
          <p:cNvSpPr/>
          <p:nvPr/>
        </p:nvSpPr>
        <p:spPr>
          <a:xfrm>
            <a:off x="7528560"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evaluator</a:t>
            </a:r>
          </a:p>
        </p:txBody>
      </p:sp>
      <p:sp>
        <p:nvSpPr>
          <p:cNvPr id="13" name="Rectangle 12">
            <a:extLst>
              <a:ext uri="{FF2B5EF4-FFF2-40B4-BE49-F238E27FC236}">
                <a16:creationId xmlns:a16="http://schemas.microsoft.com/office/drawing/2014/main" id="{19069C35-7FDE-3009-6C44-B416BD3D4490}"/>
              </a:ext>
            </a:extLst>
          </p:cNvPr>
          <p:cNvSpPr/>
          <p:nvPr/>
        </p:nvSpPr>
        <p:spPr>
          <a:xfrm>
            <a:off x="7528559" y="4950826"/>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traverser</a:t>
            </a:r>
          </a:p>
        </p:txBody>
      </p:sp>
      <p:sp>
        <p:nvSpPr>
          <p:cNvPr id="15" name="Rectangle 14">
            <a:extLst>
              <a:ext uri="{FF2B5EF4-FFF2-40B4-BE49-F238E27FC236}">
                <a16:creationId xmlns:a16="http://schemas.microsoft.com/office/drawing/2014/main" id="{9B42DE37-883C-4DA1-0DC9-3737166C371B}"/>
              </a:ext>
            </a:extLst>
          </p:cNvPr>
          <p:cNvSpPr/>
          <p:nvPr/>
        </p:nvSpPr>
        <p:spPr>
          <a:xfrm>
            <a:off x="10441576"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br>
              <a:rPr lang="en-US" noProof="0" dirty="0"/>
            </a:br>
            <a:r>
              <a:rPr lang="en-US" noProof="0" dirty="0"/>
              <a:t>generated automatically</a:t>
            </a:r>
          </a:p>
        </p:txBody>
      </p:sp>
      <p:sp>
        <p:nvSpPr>
          <p:cNvPr id="16" name="Arrow: Right 15">
            <a:extLst>
              <a:ext uri="{FF2B5EF4-FFF2-40B4-BE49-F238E27FC236}">
                <a16:creationId xmlns:a16="http://schemas.microsoft.com/office/drawing/2014/main" id="{7B7036A0-4E18-60A0-8EF6-1184393731FF}"/>
              </a:ext>
            </a:extLst>
          </p:cNvPr>
          <p:cNvSpPr/>
          <p:nvPr/>
        </p:nvSpPr>
        <p:spPr>
          <a:xfrm>
            <a:off x="10110651" y="3944983"/>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Arrow: Right 17">
            <a:extLst>
              <a:ext uri="{FF2B5EF4-FFF2-40B4-BE49-F238E27FC236}">
                <a16:creationId xmlns:a16="http://schemas.microsoft.com/office/drawing/2014/main" id="{3A11C929-E308-0238-EBC8-A1DD58040025}"/>
              </a:ext>
            </a:extLst>
          </p:cNvPr>
          <p:cNvSpPr/>
          <p:nvPr/>
        </p:nvSpPr>
        <p:spPr>
          <a:xfrm>
            <a:off x="7282542" y="3870960"/>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6B6D1F59-04AE-E6FB-2AF2-D07E96762EC5}"/>
              </a:ext>
            </a:extLst>
          </p:cNvPr>
          <p:cNvSpPr/>
          <p:nvPr/>
        </p:nvSpPr>
        <p:spPr>
          <a:xfrm>
            <a:off x="838200"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pred</a:t>
            </a:r>
          </a:p>
        </p:txBody>
      </p:sp>
      <p:sp>
        <p:nvSpPr>
          <p:cNvPr id="21" name="Rectangle 20">
            <a:extLst>
              <a:ext uri="{FF2B5EF4-FFF2-40B4-BE49-F238E27FC236}">
                <a16:creationId xmlns:a16="http://schemas.microsoft.com/office/drawing/2014/main" id="{1A06E9A3-B8EE-ABF1-6538-9E35B7A48DD2}"/>
              </a:ext>
            </a:extLst>
          </p:cNvPr>
          <p:cNvSpPr/>
          <p:nvPr/>
        </p:nvSpPr>
        <p:spPr>
          <a:xfrm>
            <a:off x="2394857" y="2118973"/>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po</a:t>
            </a:r>
          </a:p>
        </p:txBody>
      </p:sp>
      <p:sp>
        <p:nvSpPr>
          <p:cNvPr id="23" name="Rectangle 22">
            <a:extLst>
              <a:ext uri="{FF2B5EF4-FFF2-40B4-BE49-F238E27FC236}">
                <a16:creationId xmlns:a16="http://schemas.microsoft.com/office/drawing/2014/main" id="{BDEC5311-5338-A7A6-5157-81A4E01AF55B}"/>
              </a:ext>
            </a:extLst>
          </p:cNvPr>
          <p:cNvSpPr/>
          <p:nvPr/>
        </p:nvSpPr>
        <p:spPr>
          <a:xfrm>
            <a:off x="3961312"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a:t>
            </a:r>
            <a:r>
              <a:rPr lang="en-US" noProof="0" dirty="0" err="1"/>
              <a:t>popo</a:t>
            </a:r>
            <a:endParaRPr lang="en-US" noProof="0" dirty="0"/>
          </a:p>
        </p:txBody>
      </p:sp>
      <p:sp>
        <p:nvSpPr>
          <p:cNvPr id="24" name="TextBox 23">
            <a:extLst>
              <a:ext uri="{FF2B5EF4-FFF2-40B4-BE49-F238E27FC236}">
                <a16:creationId xmlns:a16="http://schemas.microsoft.com/office/drawing/2014/main" id="{C933D5DD-A50A-B20C-4398-3738228FC548}"/>
              </a:ext>
            </a:extLst>
          </p:cNvPr>
          <p:cNvSpPr txBox="1"/>
          <p:nvPr/>
        </p:nvSpPr>
        <p:spPr>
          <a:xfrm>
            <a:off x="952194" y="1749641"/>
            <a:ext cx="4451475" cy="369332"/>
          </a:xfrm>
          <a:prstGeom prst="rect">
            <a:avLst/>
          </a:prstGeom>
          <a:noFill/>
        </p:spPr>
        <p:txBody>
          <a:bodyPr wrap="none" rtlCol="0">
            <a:spAutoFit/>
          </a:bodyPr>
          <a:lstStyle/>
          <a:p>
            <a:r>
              <a:rPr lang="en-US" noProof="0" dirty="0" err="1"/>
              <a:t>Postupna</a:t>
            </a:r>
            <a:r>
              <a:rPr lang="en-US" noProof="0" dirty="0"/>
              <a:t> </a:t>
            </a:r>
            <a:r>
              <a:rPr lang="en-US" noProof="0" dirty="0" err="1"/>
              <a:t>animace</a:t>
            </a:r>
            <a:r>
              <a:rPr lang="en-US" noProof="0" dirty="0"/>
              <a:t> s </a:t>
            </a:r>
            <a:r>
              <a:rPr lang="en-US" noProof="0" dirty="0" err="1"/>
              <a:t>neighborhoodama</a:t>
            </a:r>
            <a:r>
              <a:rPr lang="en-US" noProof="0" dirty="0"/>
              <a:t> </a:t>
            </a:r>
            <a:r>
              <a:rPr lang="en-US" noProof="0" dirty="0" err="1"/>
              <a:t>atd</a:t>
            </a:r>
            <a:endParaRPr lang="en-US" noProof="0" dirty="0"/>
          </a:p>
        </p:txBody>
      </p:sp>
      <p:sp>
        <p:nvSpPr>
          <p:cNvPr id="25" name="TextBox 24">
            <a:extLst>
              <a:ext uri="{FF2B5EF4-FFF2-40B4-BE49-F238E27FC236}">
                <a16:creationId xmlns:a16="http://schemas.microsoft.com/office/drawing/2014/main" id="{EA094E39-1AA2-CB10-8700-31B9B8149FD1}"/>
              </a:ext>
            </a:extLst>
          </p:cNvPr>
          <p:cNvSpPr txBox="1"/>
          <p:nvPr/>
        </p:nvSpPr>
        <p:spPr>
          <a:xfrm>
            <a:off x="5817326" y="1976846"/>
            <a:ext cx="830740" cy="369332"/>
          </a:xfrm>
          <a:prstGeom prst="rect">
            <a:avLst/>
          </a:prstGeom>
          <a:noFill/>
        </p:spPr>
        <p:txBody>
          <a:bodyPr wrap="none" rtlCol="0">
            <a:spAutoFit/>
          </a:bodyPr>
          <a:lstStyle/>
          <a:p>
            <a:r>
              <a:rPr lang="en-US" noProof="0" dirty="0" err="1"/>
              <a:t>moore</a:t>
            </a:r>
            <a:endParaRPr lang="en-US" noProof="0" dirty="0"/>
          </a:p>
        </p:txBody>
      </p:sp>
      <p:sp>
        <p:nvSpPr>
          <p:cNvPr id="26" name="TextBox 25">
            <a:extLst>
              <a:ext uri="{FF2B5EF4-FFF2-40B4-BE49-F238E27FC236}">
                <a16:creationId xmlns:a16="http://schemas.microsoft.com/office/drawing/2014/main" id="{0FB6A547-99C6-850C-697A-AFE4403BF041}"/>
              </a:ext>
            </a:extLst>
          </p:cNvPr>
          <p:cNvSpPr txBox="1"/>
          <p:nvPr/>
        </p:nvSpPr>
        <p:spPr>
          <a:xfrm>
            <a:off x="5843451" y="2542903"/>
            <a:ext cx="1135247" cy="369332"/>
          </a:xfrm>
          <a:prstGeom prst="rect">
            <a:avLst/>
          </a:prstGeom>
          <a:noFill/>
        </p:spPr>
        <p:txBody>
          <a:bodyPr wrap="none" rtlCol="0">
            <a:spAutoFit/>
          </a:bodyPr>
          <a:lstStyle/>
          <a:p>
            <a:r>
              <a:rPr lang="en-US" noProof="0" dirty="0" err="1"/>
              <a:t>neumann</a:t>
            </a:r>
            <a:endParaRPr lang="en-US" noProof="0" dirty="0"/>
          </a:p>
        </p:txBody>
      </p:sp>
      <p:sp>
        <p:nvSpPr>
          <p:cNvPr id="27" name="TextBox 26">
            <a:extLst>
              <a:ext uri="{FF2B5EF4-FFF2-40B4-BE49-F238E27FC236}">
                <a16:creationId xmlns:a16="http://schemas.microsoft.com/office/drawing/2014/main" id="{8C77B6F3-AE3D-AF55-8ED2-BC42EBF08953}"/>
              </a:ext>
            </a:extLst>
          </p:cNvPr>
          <p:cNvSpPr txBox="1"/>
          <p:nvPr/>
        </p:nvSpPr>
        <p:spPr>
          <a:xfrm>
            <a:off x="922411" y="3193648"/>
            <a:ext cx="3144492" cy="923330"/>
          </a:xfrm>
          <a:prstGeom prst="rect">
            <a:avLst/>
          </a:prstGeom>
          <a:noFill/>
        </p:spPr>
        <p:txBody>
          <a:bodyPr wrap="square" rtlCol="0">
            <a:spAutoFit/>
          </a:bodyPr>
          <a:lstStyle/>
          <a:p>
            <a:r>
              <a:rPr lang="en-US" noProof="0" dirty="0"/>
              <a:t>Matika </a:t>
            </a:r>
            <a:r>
              <a:rPr lang="en-US" noProof="0" dirty="0" err="1"/>
              <a:t>tady</a:t>
            </a:r>
            <a:r>
              <a:rPr lang="en-US" noProof="0" dirty="0"/>
              <a:t> </a:t>
            </a:r>
            <a:r>
              <a:rPr lang="en-US" noProof="0" dirty="0" err="1"/>
              <a:t>blikne</a:t>
            </a:r>
            <a:r>
              <a:rPr lang="en-US" noProof="0" dirty="0"/>
              <a:t> </a:t>
            </a:r>
            <a:r>
              <a:rPr lang="en-US" noProof="0" dirty="0" err="1"/>
              <a:t>kdyz</a:t>
            </a:r>
            <a:r>
              <a:rPr lang="en-US" noProof="0" dirty="0"/>
              <a:t> se </a:t>
            </a:r>
            <a:r>
              <a:rPr lang="en-US" noProof="0" dirty="0" err="1"/>
              <a:t>bude</a:t>
            </a:r>
            <a:r>
              <a:rPr lang="en-US" noProof="0" dirty="0"/>
              <a:t> </a:t>
            </a:r>
            <a:r>
              <a:rPr lang="en-US" noProof="0" dirty="0" err="1"/>
              <a:t>mluvit</a:t>
            </a:r>
            <a:r>
              <a:rPr lang="en-US" noProof="0" dirty="0"/>
              <a:t> o tech </a:t>
            </a:r>
            <a:r>
              <a:rPr lang="en-US" noProof="0" dirty="0" err="1"/>
              <a:t>pravidlech</a:t>
            </a:r>
            <a:br>
              <a:rPr lang="en-US" noProof="0" dirty="0"/>
            </a:br>
            <a:r>
              <a:rPr lang="en-US" noProof="0" dirty="0"/>
              <a:t>v </a:t>
            </a:r>
            <a:r>
              <a:rPr lang="en-US" noProof="0" dirty="0" err="1"/>
              <a:t>obr</a:t>
            </a:r>
            <a:r>
              <a:rPr lang="en-US" noProof="0" dirty="0"/>
              <a:t> </a:t>
            </a:r>
            <a:r>
              <a:rPr lang="en-US" noProof="0" dirty="0" err="1"/>
              <a:t>vyse</a:t>
            </a:r>
            <a:r>
              <a:rPr lang="en-US" noProof="0" dirty="0"/>
              <a:t> </a:t>
            </a:r>
            <a:r>
              <a:rPr lang="en-US" noProof="0" dirty="0" err="1"/>
              <a:t>vyznacenej</a:t>
            </a:r>
            <a:r>
              <a:rPr lang="en-US" noProof="0" dirty="0"/>
              <a:t> </a:t>
            </a:r>
            <a:r>
              <a:rPr lang="en-US" noProof="0" dirty="0" err="1"/>
              <a:t>effekt</a:t>
            </a:r>
            <a:endParaRPr lang="en-US" noProof="0" dirty="0"/>
          </a:p>
        </p:txBody>
      </p:sp>
      <p:sp>
        <p:nvSpPr>
          <p:cNvPr id="28" name="TextBox 27">
            <a:extLst>
              <a:ext uri="{FF2B5EF4-FFF2-40B4-BE49-F238E27FC236}">
                <a16:creationId xmlns:a16="http://schemas.microsoft.com/office/drawing/2014/main" id="{C52A3FBE-19B9-E73A-11F0-D0DCDDF5D89B}"/>
              </a:ext>
            </a:extLst>
          </p:cNvPr>
          <p:cNvSpPr txBox="1"/>
          <p:nvPr/>
        </p:nvSpPr>
        <p:spPr>
          <a:xfrm>
            <a:off x="10093235" y="2290354"/>
            <a:ext cx="2019300" cy="646331"/>
          </a:xfrm>
          <a:prstGeom prst="rect">
            <a:avLst/>
          </a:prstGeom>
          <a:noFill/>
        </p:spPr>
        <p:txBody>
          <a:bodyPr wrap="square" rtlCol="0">
            <a:spAutoFit/>
          </a:bodyPr>
          <a:lstStyle/>
          <a:p>
            <a:r>
              <a:rPr lang="en-US" noProof="0" dirty="0"/>
              <a:t>Very cool is bit plane encoding</a:t>
            </a:r>
          </a:p>
        </p:txBody>
      </p:sp>
      <p:sp>
        <p:nvSpPr>
          <p:cNvPr id="30" name="TextBox 29">
            <a:extLst>
              <a:ext uri="{FF2B5EF4-FFF2-40B4-BE49-F238E27FC236}">
                <a16:creationId xmlns:a16="http://schemas.microsoft.com/office/drawing/2014/main" id="{45E437EE-15DB-A18E-6B96-19C605DA1F63}"/>
              </a:ext>
            </a:extLst>
          </p:cNvPr>
          <p:cNvSpPr txBox="1"/>
          <p:nvPr/>
        </p:nvSpPr>
        <p:spPr>
          <a:xfrm>
            <a:off x="6329723" y="4365862"/>
            <a:ext cx="2019300" cy="646331"/>
          </a:xfrm>
          <a:prstGeom prst="rect">
            <a:avLst/>
          </a:prstGeom>
          <a:noFill/>
        </p:spPr>
        <p:txBody>
          <a:bodyPr wrap="square" rtlCol="0">
            <a:spAutoFit/>
          </a:bodyPr>
          <a:lstStyle/>
          <a:p>
            <a:r>
              <a:rPr lang="en-US" noProof="0" dirty="0"/>
              <a:t>Very cool is bit wise vectorization</a:t>
            </a:r>
          </a:p>
        </p:txBody>
      </p:sp>
      <p:sp>
        <p:nvSpPr>
          <p:cNvPr id="32" name="TextBox 31">
            <a:extLst>
              <a:ext uri="{FF2B5EF4-FFF2-40B4-BE49-F238E27FC236}">
                <a16:creationId xmlns:a16="http://schemas.microsoft.com/office/drawing/2014/main" id="{27728C73-1D4E-F3E1-BFD7-FC72CEE25592}"/>
              </a:ext>
            </a:extLst>
          </p:cNvPr>
          <p:cNvSpPr txBox="1"/>
          <p:nvPr/>
        </p:nvSpPr>
        <p:spPr>
          <a:xfrm>
            <a:off x="10276115" y="5375647"/>
            <a:ext cx="2019300" cy="646331"/>
          </a:xfrm>
          <a:prstGeom prst="rect">
            <a:avLst/>
          </a:prstGeom>
          <a:noFill/>
        </p:spPr>
        <p:txBody>
          <a:bodyPr wrap="square" rtlCol="0">
            <a:spAutoFit/>
          </a:bodyPr>
          <a:lstStyle/>
          <a:p>
            <a:r>
              <a:rPr lang="en-US" noProof="0" dirty="0"/>
              <a:t>Very cool is </a:t>
            </a:r>
            <a:r>
              <a:rPr lang="en-US" noProof="0" dirty="0" err="1"/>
              <a:t>gpu</a:t>
            </a:r>
            <a:r>
              <a:rPr lang="en-US" noProof="0" dirty="0"/>
              <a:t> </a:t>
            </a:r>
            <a:r>
              <a:rPr lang="en-US" noProof="0" dirty="0" err="1"/>
              <a:t>paralysation</a:t>
            </a:r>
            <a:endParaRPr lang="en-US" noProof="0" dirty="0"/>
          </a:p>
        </p:txBody>
      </p:sp>
      <p:sp>
        <p:nvSpPr>
          <p:cNvPr id="2" name="Date Placeholder 1">
            <a:extLst>
              <a:ext uri="{FF2B5EF4-FFF2-40B4-BE49-F238E27FC236}">
                <a16:creationId xmlns:a16="http://schemas.microsoft.com/office/drawing/2014/main" id="{07681815-8359-124C-8370-4C1D3746CB11}"/>
              </a:ext>
            </a:extLst>
          </p:cNvPr>
          <p:cNvSpPr>
            <a:spLocks noGrp="1"/>
          </p:cNvSpPr>
          <p:nvPr>
            <p:ph type="dt" sz="half" idx="10"/>
          </p:nvPr>
        </p:nvSpPr>
        <p:spPr/>
        <p:txBody>
          <a:bodyPr/>
          <a:lstStyle/>
          <a:p>
            <a:fld id="{3282519B-8553-4EB5-804E-C162E89AEEEB}" type="datetime1">
              <a:rPr lang="en-US" smtClean="0"/>
              <a:t>8/28/2026</a:t>
            </a:fld>
            <a:endParaRPr lang="en-US"/>
          </a:p>
        </p:txBody>
      </p:sp>
      <p:sp>
        <p:nvSpPr>
          <p:cNvPr id="3" name="Slide Number Placeholder 2">
            <a:extLst>
              <a:ext uri="{FF2B5EF4-FFF2-40B4-BE49-F238E27FC236}">
                <a16:creationId xmlns:a16="http://schemas.microsoft.com/office/drawing/2014/main" id="{9471A806-B349-E090-C5CD-05D07FE5EEBB}"/>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32946456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
        <p:nvSpPr>
          <p:cNvPr id="4" name="Date Placeholder 3">
            <a:extLst>
              <a:ext uri="{FF2B5EF4-FFF2-40B4-BE49-F238E27FC236}">
                <a16:creationId xmlns:a16="http://schemas.microsoft.com/office/drawing/2014/main" id="{F5D4A76B-FF14-0C89-B12C-76FCA4CD9024}"/>
              </a:ext>
            </a:extLst>
          </p:cNvPr>
          <p:cNvSpPr>
            <a:spLocks noGrp="1"/>
          </p:cNvSpPr>
          <p:nvPr>
            <p:ph type="dt" sz="half" idx="10"/>
          </p:nvPr>
        </p:nvSpPr>
        <p:spPr/>
        <p:txBody>
          <a:bodyPr/>
          <a:lstStyle/>
          <a:p>
            <a:fld id="{45E36CB7-A93D-43BE-8BB6-C052593CEBF8}" type="datetime1">
              <a:rPr lang="en-US" smtClean="0"/>
              <a:t>8/28/2026</a:t>
            </a:fld>
            <a:endParaRPr lang="en-US"/>
          </a:p>
        </p:txBody>
      </p:sp>
      <p:sp>
        <p:nvSpPr>
          <p:cNvPr id="5" name="Slide Number Placeholder 4">
            <a:extLst>
              <a:ext uri="{FF2B5EF4-FFF2-40B4-BE49-F238E27FC236}">
                <a16:creationId xmlns:a16="http://schemas.microsoft.com/office/drawing/2014/main" id="{8A27046C-AF6B-0019-EA35-060F375AFBB7}"/>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34915964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noProof="0"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
        <p:nvSpPr>
          <p:cNvPr id="4" name="Date Placeholder 3">
            <a:extLst>
              <a:ext uri="{FF2B5EF4-FFF2-40B4-BE49-F238E27FC236}">
                <a16:creationId xmlns:a16="http://schemas.microsoft.com/office/drawing/2014/main" id="{23E74252-8DBD-C1B4-1A76-AEEFDDD22C1D}"/>
              </a:ext>
            </a:extLst>
          </p:cNvPr>
          <p:cNvSpPr>
            <a:spLocks noGrp="1"/>
          </p:cNvSpPr>
          <p:nvPr>
            <p:ph type="dt" sz="half" idx="10"/>
          </p:nvPr>
        </p:nvSpPr>
        <p:spPr/>
        <p:txBody>
          <a:bodyPr/>
          <a:lstStyle/>
          <a:p>
            <a:fld id="{30885205-738E-4A4A-8BB1-8BAC2707FAE8}" type="datetime1">
              <a:rPr lang="en-US" smtClean="0"/>
              <a:t>8/28/2026</a:t>
            </a:fld>
            <a:endParaRPr lang="en-US"/>
          </a:p>
        </p:txBody>
      </p:sp>
      <p:sp>
        <p:nvSpPr>
          <p:cNvPr id="5" name="Slide Number Placeholder 4">
            <a:extLst>
              <a:ext uri="{FF2B5EF4-FFF2-40B4-BE49-F238E27FC236}">
                <a16:creationId xmlns:a16="http://schemas.microsoft.com/office/drawing/2014/main" id="{9FA13F20-EB2D-11CA-80CE-D4F601B7A088}"/>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1294901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
        <p:nvSpPr>
          <p:cNvPr id="4" name="Date Placeholder 3">
            <a:extLst>
              <a:ext uri="{FF2B5EF4-FFF2-40B4-BE49-F238E27FC236}">
                <a16:creationId xmlns:a16="http://schemas.microsoft.com/office/drawing/2014/main" id="{0FB181F6-1EB6-B8C6-9F85-14E11ED62498}"/>
              </a:ext>
            </a:extLst>
          </p:cNvPr>
          <p:cNvSpPr>
            <a:spLocks noGrp="1"/>
          </p:cNvSpPr>
          <p:nvPr>
            <p:ph type="dt" sz="half" idx="10"/>
          </p:nvPr>
        </p:nvSpPr>
        <p:spPr/>
        <p:txBody>
          <a:bodyPr/>
          <a:lstStyle/>
          <a:p>
            <a:fld id="{DD030E09-6E2C-4368-9FBA-17C16E68A1B0}" type="datetime1">
              <a:rPr lang="en-US" smtClean="0"/>
              <a:t>8/28/2026</a:t>
            </a:fld>
            <a:endParaRPr lang="en-US"/>
          </a:p>
        </p:txBody>
      </p:sp>
      <p:sp>
        <p:nvSpPr>
          <p:cNvPr id="5" name="Slide Number Placeholder 4">
            <a:extLst>
              <a:ext uri="{FF2B5EF4-FFF2-40B4-BE49-F238E27FC236}">
                <a16:creationId xmlns:a16="http://schemas.microsoft.com/office/drawing/2014/main" id="{69B2FE39-9D33-A6A3-4A83-969FB2F79FA3}"/>
              </a:ext>
            </a:extLst>
          </p:cNvPr>
          <p:cNvSpPr>
            <a:spLocks noGrp="1"/>
          </p:cNvSpPr>
          <p:nvPr>
            <p:ph type="sldNum" sz="quarter" idx="12"/>
          </p:nvPr>
        </p:nvSpPr>
        <p:spPr/>
        <p:txBody>
          <a:bodyPr/>
          <a:lstStyle/>
          <a:p>
            <a:fld id="{DA0BB241-1B5F-4309-9407-9EEA04D9598D}" type="slidenum">
              <a:rPr lang="en-US" smtClean="0"/>
              <a:t>38</a:t>
            </a:fld>
            <a:endParaRPr lang="en-US"/>
          </a:p>
        </p:txBody>
      </p:sp>
    </p:spTree>
    <p:extLst>
      <p:ext uri="{BB962C8B-B14F-4D97-AF65-F5344CB8AC3E}">
        <p14:creationId xmlns:p14="http://schemas.microsoft.com/office/powerpoint/2010/main" val="3329706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noProof="0"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Traversal</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order</a:t>
            </a:r>
            <a:r>
              <a:rPr lang="en-US" sz="1050" b="0" noProof="0" dirty="0">
                <a:solidFill>
                  <a:srgbClr val="000000"/>
                </a:solidFill>
                <a:effectLst/>
                <a:latin typeface="Fira Code" panose="020B0809050000020004" pitchFamily="49" charset="0"/>
              </a:rPr>
              <a:t>(</a:t>
            </a:r>
            <a:r>
              <a:rPr lang="en-US" sz="1050" b="0" noProof="0" dirty="0" err="1">
                <a:solidFill>
                  <a:srgbClr val="267F99"/>
                </a:solidFill>
                <a:effectLst/>
                <a:latin typeface="Fira Code" panose="020B0809050000020004" pitchFamily="49" charset="0"/>
              </a:rPr>
              <a:t>ByTiles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for_each</a:t>
            </a:r>
            <a:r>
              <a:rPr lang="en-US" sz="1050" noProof="0" dirty="0">
                <a:solidFill>
                  <a:srgbClr val="000000"/>
                </a:solidFill>
                <a:latin typeface="Fira Code" panose="020B0809050000020004" pitchFamily="49" charset="0"/>
              </a:rPr>
              <a:t>(</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accessC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4</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5</a:t>
            </a:r>
            <a:r>
              <a:rPr lang="en-US" sz="1050" b="0" noProof="0" dirty="0">
                <a:solidFill>
                  <a:srgbClr val="000000"/>
                </a:solidFill>
                <a:effectLst/>
                <a:latin typeface="Fira Code" panose="020B0809050000020004" pitchFamily="49" charset="0"/>
              </a:rPr>
              <a:t>);</a:t>
            </a:r>
          </a:p>
          <a:p>
            <a:pPr>
              <a:lnSpc>
                <a:spcPct val="113095"/>
              </a:lnSpc>
              <a:buNone/>
            </a:pPr>
            <a:endParaRPr lang="en-US" sz="1050" b="0" noProof="0" dirty="0">
              <a:solidFill>
                <a:srgbClr val="001080"/>
              </a:solidFill>
              <a:effectLst/>
              <a:latin typeface="Fira Code" panose="020B0809050000020004" pitchFamily="49" charset="0"/>
            </a:endParaRPr>
          </a:p>
          <a:p>
            <a:pPr>
              <a:lnSpc>
                <a:spcPct val="113095"/>
              </a:lnSpc>
              <a:buNone/>
            </a:pP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4188D2D6-28C0-5938-1C8F-35390B8137B9}"/>
              </a:ext>
            </a:extLst>
          </p:cNvPr>
          <p:cNvSpPr>
            <a:spLocks noGrp="1"/>
          </p:cNvSpPr>
          <p:nvPr>
            <p:ph type="dt" sz="half" idx="10"/>
          </p:nvPr>
        </p:nvSpPr>
        <p:spPr/>
        <p:txBody>
          <a:bodyPr/>
          <a:lstStyle/>
          <a:p>
            <a:fld id="{6F744CC8-C10C-4EAA-A7F7-D06B365ADE34}" type="datetime1">
              <a:rPr lang="en-US" smtClean="0"/>
              <a:t>8/28/2026</a:t>
            </a:fld>
            <a:endParaRPr lang="en-US"/>
          </a:p>
        </p:txBody>
      </p:sp>
      <p:sp>
        <p:nvSpPr>
          <p:cNvPr id="4" name="Slide Number Placeholder 3">
            <a:extLst>
              <a:ext uri="{FF2B5EF4-FFF2-40B4-BE49-F238E27FC236}">
                <a16:creationId xmlns:a16="http://schemas.microsoft.com/office/drawing/2014/main" id="{36917E71-FA94-BADC-BDF0-12CE6F9CAFE0}"/>
              </a:ext>
            </a:extLst>
          </p:cNvPr>
          <p:cNvSpPr>
            <a:spLocks noGrp="1"/>
          </p:cNvSpPr>
          <p:nvPr>
            <p:ph type="sldNum" sz="quarter" idx="12"/>
          </p:nvPr>
        </p:nvSpPr>
        <p:spPr/>
        <p:txBody>
          <a:bodyPr/>
          <a:lstStyle/>
          <a:p>
            <a:fld id="{DA0BB241-1B5F-4309-9407-9EEA04D9598D}" type="slidenum">
              <a:rPr lang="en-US" smtClean="0"/>
              <a:t>39</a:t>
            </a:fld>
            <a:endParaRPr lang="en-US"/>
          </a:p>
        </p:txBody>
      </p:sp>
    </p:spTree>
    <p:extLst>
      <p:ext uri="{BB962C8B-B14F-4D97-AF65-F5344CB8AC3E}">
        <p14:creationId xmlns:p14="http://schemas.microsoft.com/office/powerpoint/2010/main" val="24478208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noProof="0" dirty="0"/>
          </a:p>
        </p:txBody>
      </p:sp>
      <p:sp>
        <p:nvSpPr>
          <p:cNvPr id="3" name="TextBox 2">
            <a:extLst>
              <a:ext uri="{FF2B5EF4-FFF2-40B4-BE49-F238E27FC236}">
                <a16:creationId xmlns:a16="http://schemas.microsoft.com/office/drawing/2014/main" id="{629B92EA-18C5-91B8-17E4-8C208B626182}"/>
              </a:ext>
            </a:extLst>
          </p:cNvPr>
          <p:cNvSpPr txBox="1"/>
          <p:nvPr/>
        </p:nvSpPr>
        <p:spPr>
          <a:xfrm flipH="1">
            <a:off x="2050677" y="1690688"/>
            <a:ext cx="1661161" cy="369332"/>
          </a:xfrm>
          <a:prstGeom prst="rect">
            <a:avLst/>
          </a:prstGeom>
          <a:noFill/>
        </p:spPr>
        <p:txBody>
          <a:bodyPr wrap="square" rtlCol="0">
            <a:spAutoFit/>
          </a:bodyPr>
          <a:lstStyle/>
          <a:p>
            <a:r>
              <a:rPr lang="en-US" noProof="0" dirty="0"/>
              <a:t>Data structure</a:t>
            </a:r>
          </a:p>
        </p:txBody>
      </p:sp>
      <p:sp>
        <p:nvSpPr>
          <p:cNvPr id="4" name="Rectangle 3">
            <a:extLst>
              <a:ext uri="{FF2B5EF4-FFF2-40B4-BE49-F238E27FC236}">
                <a16:creationId xmlns:a16="http://schemas.microsoft.com/office/drawing/2014/main" id="{CE7066CE-152D-0539-30CA-144DED4F4285}"/>
              </a:ext>
            </a:extLst>
          </p:cNvPr>
          <p:cNvSpPr/>
          <p:nvPr/>
        </p:nvSpPr>
        <p:spPr>
          <a:xfrm>
            <a:off x="378632" y="3364129"/>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393197E7-99FA-072A-2FBF-784590A75ED3}"/>
              </a:ext>
            </a:extLst>
          </p:cNvPr>
          <p:cNvSpPr txBox="1"/>
          <p:nvPr/>
        </p:nvSpPr>
        <p:spPr>
          <a:xfrm flipH="1">
            <a:off x="206634" y="2994797"/>
            <a:ext cx="2033456" cy="369332"/>
          </a:xfrm>
          <a:prstGeom prst="rect">
            <a:avLst/>
          </a:prstGeom>
          <a:noFill/>
        </p:spPr>
        <p:txBody>
          <a:bodyPr wrap="square" rtlCol="0">
            <a:spAutoFit/>
          </a:bodyPr>
          <a:lstStyle/>
          <a:p>
            <a:r>
              <a:rPr lang="en-US" noProof="0" dirty="0"/>
              <a:t>Logical structure</a:t>
            </a:r>
          </a:p>
        </p:txBody>
      </p:sp>
      <p:cxnSp>
        <p:nvCxnSpPr>
          <p:cNvPr id="8" name="Straight Arrow Connector 7">
            <a:extLst>
              <a:ext uri="{FF2B5EF4-FFF2-40B4-BE49-F238E27FC236}">
                <a16:creationId xmlns:a16="http://schemas.microsoft.com/office/drawing/2014/main" id="{ECC247F9-5588-BADC-3FCF-319325127B5C}"/>
              </a:ext>
            </a:extLst>
          </p:cNvPr>
          <p:cNvCxnSpPr/>
          <p:nvPr/>
        </p:nvCxnSpPr>
        <p:spPr>
          <a:xfrm>
            <a:off x="2327177" y="3962674"/>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D91CF730-A252-703E-9EDE-576ADABCA875}"/>
              </a:ext>
            </a:extLst>
          </p:cNvPr>
          <p:cNvPicPr>
            <a:picLocks noChangeAspect="1"/>
          </p:cNvPicPr>
          <p:nvPr/>
        </p:nvPicPr>
        <p:blipFill>
          <a:blip r:embed="rId3"/>
          <a:stretch>
            <a:fillRect/>
          </a:stretch>
        </p:blipFill>
        <p:spPr>
          <a:xfrm>
            <a:off x="2240090" y="2026920"/>
            <a:ext cx="1249070" cy="1241336"/>
          </a:xfrm>
          <a:prstGeom prst="rect">
            <a:avLst/>
          </a:prstGeom>
        </p:spPr>
      </p:pic>
      <p:sp>
        <p:nvSpPr>
          <p:cNvPr id="12" name="Rectangle 11">
            <a:extLst>
              <a:ext uri="{FF2B5EF4-FFF2-40B4-BE49-F238E27FC236}">
                <a16:creationId xmlns:a16="http://schemas.microsoft.com/office/drawing/2014/main" id="{D2E479D1-9B11-7C80-118C-F602204D0421}"/>
              </a:ext>
            </a:extLst>
          </p:cNvPr>
          <p:cNvSpPr/>
          <p:nvPr/>
        </p:nvSpPr>
        <p:spPr>
          <a:xfrm>
            <a:off x="3711838" y="3842244"/>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16C0C8F6-D540-7EA5-8F83-E9055CE22E95}"/>
              </a:ext>
            </a:extLst>
          </p:cNvPr>
          <p:cNvSpPr txBox="1"/>
          <p:nvPr/>
        </p:nvSpPr>
        <p:spPr>
          <a:xfrm flipH="1">
            <a:off x="3128361" y="3419822"/>
            <a:ext cx="2612576" cy="369332"/>
          </a:xfrm>
          <a:prstGeom prst="rect">
            <a:avLst/>
          </a:prstGeom>
          <a:noFill/>
        </p:spPr>
        <p:txBody>
          <a:bodyPr wrap="square" rtlCol="0">
            <a:spAutoFit/>
          </a:bodyPr>
          <a:lstStyle/>
          <a:p>
            <a:r>
              <a:rPr lang="en-US" noProof="0" dirty="0"/>
              <a:t>Physical memory layout</a:t>
            </a:r>
          </a:p>
        </p:txBody>
      </p:sp>
      <p:sp>
        <p:nvSpPr>
          <p:cNvPr id="18" name="TextBox 17">
            <a:extLst>
              <a:ext uri="{FF2B5EF4-FFF2-40B4-BE49-F238E27FC236}">
                <a16:creationId xmlns:a16="http://schemas.microsoft.com/office/drawing/2014/main" id="{EE8B262B-FA3E-96EB-4738-C1B5778CA745}"/>
              </a:ext>
            </a:extLst>
          </p:cNvPr>
          <p:cNvSpPr txBox="1"/>
          <p:nvPr/>
        </p:nvSpPr>
        <p:spPr>
          <a:xfrm>
            <a:off x="206634" y="5396582"/>
            <a:ext cx="2934789" cy="978729"/>
          </a:xfrm>
          <a:prstGeom prst="rect">
            <a:avLst/>
          </a:prstGeom>
          <a:noFill/>
          <a:ln>
            <a:solidFill>
              <a:schemeClr val="tx1"/>
            </a:solidFill>
          </a:ln>
        </p:spPr>
        <p:txBody>
          <a:bodyPr wrap="square">
            <a:spAutoFit/>
          </a:bodyPr>
          <a:lstStyle/>
          <a:p>
            <a:pPr marL="0" marR="0" indent="0" algn="l">
              <a:buNone/>
            </a:pPr>
            <a:r>
              <a:rPr lang="en-US" sz="960" b="1" i="0" noProof="0" dirty="0">
                <a:solidFill>
                  <a:srgbClr val="008000"/>
                </a:solidFill>
                <a:effectLst/>
                <a:latin typeface="DejaVuSansMono"/>
              </a:rPr>
              <a:t>template</a:t>
            </a:r>
            <a:r>
              <a:rPr lang="en-US" sz="960" b="0" i="0" noProof="0" dirty="0">
                <a:solidFill>
                  <a:srgbClr val="666666"/>
                </a:solidFill>
                <a:effectLst/>
                <a:latin typeface="DejaVuSansMono"/>
              </a:rPr>
              <a:t>&lt;</a:t>
            </a:r>
            <a:endParaRPr lang="en-US" sz="960" b="0" i="0" noProof="0" dirty="0">
              <a:solidFill>
                <a:srgbClr val="000000"/>
              </a:solidFill>
              <a:effectLst/>
              <a:latin typeface="DejaVuSansMono"/>
            </a:endParaRP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Extents</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LayoutPolicy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layout_right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AccessorPolicy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default_accessor</a:t>
            </a:r>
            <a:r>
              <a:rPr lang="en-US" sz="960" b="0" i="0" noProof="0" dirty="0">
                <a:solidFill>
                  <a:srgbClr val="666666"/>
                </a:solidFill>
                <a:effectLst/>
                <a:latin typeface="DejaVuSansMono"/>
              </a:rPr>
              <a:t>&lt;</a:t>
            </a:r>
            <a:r>
              <a:rPr lang="en-US" sz="960" b="0" i="0" noProof="0" dirty="0">
                <a:solidFill>
                  <a:srgbClr val="000000"/>
                </a:solidFill>
                <a:effectLst/>
                <a:latin typeface="DejaVuSansMono"/>
              </a:rPr>
              <a:t>T</a:t>
            </a:r>
            <a:r>
              <a:rPr lang="en-US" sz="960" b="0" i="0" noProof="0" dirty="0">
                <a:solidFill>
                  <a:srgbClr val="666666"/>
                </a:solidFill>
                <a:effectLst/>
                <a:latin typeface="DejaVuSansMono"/>
              </a:rPr>
              <a:t>&gt;</a:t>
            </a:r>
            <a:endParaRPr lang="en-US" sz="960" b="0" i="0" noProof="0" dirty="0">
              <a:solidFill>
                <a:srgbClr val="000000"/>
              </a:solidFill>
              <a:effectLst/>
              <a:latin typeface="DejaVuSansMono"/>
            </a:endParaRPr>
          </a:p>
          <a:p>
            <a:pPr marL="0" marR="0" indent="0" algn="l">
              <a:buNone/>
            </a:pPr>
            <a:r>
              <a:rPr lang="en-US" sz="960" b="0" i="0" noProof="0" dirty="0">
                <a:solidFill>
                  <a:srgbClr val="666666"/>
                </a:solidFill>
                <a:effectLst/>
                <a:latin typeface="DejaVuSansMono"/>
              </a:rPr>
              <a:t>&gt;</a:t>
            </a: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mdspan</a:t>
            </a:r>
            <a:r>
              <a:rPr lang="en-US" sz="960" b="0" i="0" noProof="0" dirty="0">
                <a:solidFill>
                  <a:srgbClr val="000000"/>
                </a:solidFill>
                <a:effectLst/>
                <a:latin typeface="DejaVuSansMono"/>
              </a:rPr>
              <a:t>;</a:t>
            </a:r>
          </a:p>
        </p:txBody>
      </p:sp>
      <p:sp>
        <p:nvSpPr>
          <p:cNvPr id="19" name="TextBox 18">
            <a:extLst>
              <a:ext uri="{FF2B5EF4-FFF2-40B4-BE49-F238E27FC236}">
                <a16:creationId xmlns:a16="http://schemas.microsoft.com/office/drawing/2014/main" id="{24D10904-B7C0-3CC4-7415-DD17D80D24E4}"/>
              </a:ext>
            </a:extLst>
          </p:cNvPr>
          <p:cNvSpPr txBox="1"/>
          <p:nvPr/>
        </p:nvSpPr>
        <p:spPr>
          <a:xfrm>
            <a:off x="1016531" y="5059024"/>
            <a:ext cx="1450141" cy="369332"/>
          </a:xfrm>
          <a:prstGeom prst="rect">
            <a:avLst/>
          </a:prstGeom>
          <a:noFill/>
        </p:spPr>
        <p:txBody>
          <a:bodyPr wrap="none" rtlCol="0">
            <a:spAutoFit/>
          </a:bodyPr>
          <a:lstStyle/>
          <a:p>
            <a:r>
              <a:rPr lang="en-US" noProof="0" dirty="0"/>
              <a:t>std::</a:t>
            </a:r>
            <a:r>
              <a:rPr lang="en-US" noProof="0" dirty="0" err="1"/>
              <a:t>mdspan</a:t>
            </a:r>
            <a:endParaRPr lang="en-US" noProof="0" dirty="0"/>
          </a:p>
        </p:txBody>
      </p:sp>
      <p:pic>
        <p:nvPicPr>
          <p:cNvPr id="20" name="Picture 19" descr="File:NVIDIA logo.svg - Wikimedia Commons">
            <a:extLst>
              <a:ext uri="{FF2B5EF4-FFF2-40B4-BE49-F238E27FC236}">
                <a16:creationId xmlns:a16="http://schemas.microsoft.com/office/drawing/2014/main" id="{D20C279A-C56A-6DE5-775E-9EDFB109DDB7}"/>
              </a:ext>
            </a:extLst>
          </p:cNvPr>
          <p:cNvPicPr>
            <a:picLocks noChangeAspect="1"/>
          </p:cNvPicPr>
          <p:nvPr/>
        </p:nvPicPr>
        <p:blipFill>
          <a:blip r:embed="rId4"/>
          <a:stretch>
            <a:fillRect/>
          </a:stretch>
        </p:blipFill>
        <p:spPr>
          <a:xfrm>
            <a:off x="7182371" y="5860032"/>
            <a:ext cx="2297240" cy="421161"/>
          </a:xfrm>
          <a:prstGeom prst="rect">
            <a:avLst/>
          </a:prstGeom>
        </p:spPr>
      </p:pic>
      <p:pic>
        <p:nvPicPr>
          <p:cNvPr id="21" name="Picture 20" descr="Kokkos Logos">
            <a:extLst>
              <a:ext uri="{FF2B5EF4-FFF2-40B4-BE49-F238E27FC236}">
                <a16:creationId xmlns:a16="http://schemas.microsoft.com/office/drawing/2014/main" id="{688915D6-1C03-1602-5B45-A4CADED3D582}"/>
              </a:ext>
            </a:extLst>
          </p:cNvPr>
          <p:cNvPicPr>
            <a:picLocks noChangeAspect="1"/>
          </p:cNvPicPr>
          <p:nvPr/>
        </p:nvPicPr>
        <p:blipFill>
          <a:blip r:embed="rId5"/>
          <a:stretch>
            <a:fillRect/>
          </a:stretch>
        </p:blipFill>
        <p:spPr>
          <a:xfrm>
            <a:off x="3258768" y="5698337"/>
            <a:ext cx="1750863" cy="372276"/>
          </a:xfrm>
          <a:prstGeom prst="rect">
            <a:avLst/>
          </a:prstGeom>
        </p:spPr>
      </p:pic>
      <p:sp>
        <p:nvSpPr>
          <p:cNvPr id="29" name="TextBox 28">
            <a:extLst>
              <a:ext uri="{FF2B5EF4-FFF2-40B4-BE49-F238E27FC236}">
                <a16:creationId xmlns:a16="http://schemas.microsoft.com/office/drawing/2014/main" id="{3ACC472A-6620-096A-F5B4-266E4D43E76F}"/>
              </a:ext>
            </a:extLst>
          </p:cNvPr>
          <p:cNvSpPr txBox="1"/>
          <p:nvPr/>
        </p:nvSpPr>
        <p:spPr>
          <a:xfrm>
            <a:off x="5573544" y="5381916"/>
            <a:ext cx="1445623" cy="1200329"/>
          </a:xfrm>
          <a:prstGeom prst="rect">
            <a:avLst/>
          </a:prstGeom>
          <a:noFill/>
          <a:ln>
            <a:solidFill>
              <a:schemeClr val="tx1"/>
            </a:solidFill>
          </a:ln>
        </p:spPr>
        <p:txBody>
          <a:bodyPr wrap="square">
            <a:spAutoFit/>
          </a:bodyPr>
          <a:lstStyle/>
          <a:p>
            <a:pPr marL="0" marR="0" indent="0" algn="l">
              <a:buNone/>
            </a:pPr>
            <a:r>
              <a:rPr lang="en-US" sz="1200" b="0" i="0" noProof="0" dirty="0">
                <a:solidFill>
                  <a:srgbClr val="24292F"/>
                </a:solidFill>
                <a:effectLst/>
                <a:latin typeface="RobotoMono"/>
              </a:rPr>
              <a:t>Shape :  (4,2)</a:t>
            </a:r>
          </a:p>
          <a:p>
            <a:pPr marL="0" marR="0" indent="0" algn="l">
              <a:buNone/>
            </a:pPr>
            <a:r>
              <a:rPr lang="en-US" sz="1200" b="0" i="0" noProof="0" dirty="0">
                <a:solidFill>
                  <a:srgbClr val="24292F"/>
                </a:solidFill>
                <a:effectLst/>
                <a:latin typeface="RobotoMono"/>
              </a:rPr>
              <a:t>Stride:  (2,1)</a:t>
            </a:r>
          </a:p>
          <a:p>
            <a:pPr marL="0" marR="0" indent="0" algn="l">
              <a:buNone/>
            </a:pPr>
            <a:r>
              <a:rPr lang="en-US" sz="1200" b="0" i="0" noProof="0" dirty="0">
                <a:solidFill>
                  <a:srgbClr val="24292F"/>
                </a:solidFill>
                <a:effectLst/>
                <a:latin typeface="RobotoMono"/>
              </a:rPr>
              <a:t>  0   1</a:t>
            </a:r>
          </a:p>
          <a:p>
            <a:pPr marL="0" marR="0" indent="0" algn="l">
              <a:buNone/>
            </a:pPr>
            <a:r>
              <a:rPr lang="en-US" sz="1200" b="0" i="0" noProof="0" dirty="0">
                <a:solidFill>
                  <a:srgbClr val="24292F"/>
                </a:solidFill>
                <a:effectLst/>
                <a:latin typeface="RobotoMono"/>
              </a:rPr>
              <a:t>  2   3</a:t>
            </a:r>
          </a:p>
          <a:p>
            <a:pPr marL="0" marR="0" indent="0" algn="l">
              <a:buNone/>
            </a:pPr>
            <a:r>
              <a:rPr lang="en-US" sz="1200" b="0" i="0" noProof="0" dirty="0">
                <a:solidFill>
                  <a:srgbClr val="24292F"/>
                </a:solidFill>
                <a:effectLst/>
                <a:latin typeface="RobotoMono"/>
              </a:rPr>
              <a:t>  4   5</a:t>
            </a:r>
          </a:p>
          <a:p>
            <a:pPr marL="0" marR="0" indent="0" algn="l">
              <a:buNone/>
            </a:pPr>
            <a:r>
              <a:rPr lang="en-US" sz="1200" b="0" i="0" noProof="0" dirty="0">
                <a:solidFill>
                  <a:srgbClr val="24292F"/>
                </a:solidFill>
                <a:effectLst/>
                <a:latin typeface="RobotoMono"/>
              </a:rPr>
              <a:t>  6   7</a:t>
            </a:r>
          </a:p>
        </p:txBody>
      </p:sp>
      <p:sp>
        <p:nvSpPr>
          <p:cNvPr id="30" name="TextBox 29">
            <a:extLst>
              <a:ext uri="{FF2B5EF4-FFF2-40B4-BE49-F238E27FC236}">
                <a16:creationId xmlns:a16="http://schemas.microsoft.com/office/drawing/2014/main" id="{2BF7FBC8-8534-2A17-6EEE-266F00B94D37}"/>
              </a:ext>
            </a:extLst>
          </p:cNvPr>
          <p:cNvSpPr txBox="1"/>
          <p:nvPr/>
        </p:nvSpPr>
        <p:spPr>
          <a:xfrm>
            <a:off x="5578305" y="4984668"/>
            <a:ext cx="1436099" cy="369332"/>
          </a:xfrm>
          <a:prstGeom prst="rect">
            <a:avLst/>
          </a:prstGeom>
          <a:noFill/>
        </p:spPr>
        <p:txBody>
          <a:bodyPr wrap="none" rtlCol="0">
            <a:spAutoFit/>
          </a:bodyPr>
          <a:lstStyle/>
          <a:p>
            <a:r>
              <a:rPr lang="en-US" noProof="0" dirty="0" err="1"/>
              <a:t>CUTe</a:t>
            </a:r>
            <a:r>
              <a:rPr lang="en-US" noProof="0" dirty="0"/>
              <a:t> Layout</a:t>
            </a:r>
          </a:p>
        </p:txBody>
      </p:sp>
      <p:sp>
        <p:nvSpPr>
          <p:cNvPr id="38" name="TextBox 37">
            <a:extLst>
              <a:ext uri="{FF2B5EF4-FFF2-40B4-BE49-F238E27FC236}">
                <a16:creationId xmlns:a16="http://schemas.microsoft.com/office/drawing/2014/main" id="{1F5E2435-0E1B-BC1F-B025-E4809FCD1BB6}"/>
              </a:ext>
            </a:extLst>
          </p:cNvPr>
          <p:cNvSpPr txBox="1"/>
          <p:nvPr/>
        </p:nvSpPr>
        <p:spPr>
          <a:xfrm>
            <a:off x="6853642" y="919461"/>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D765482-04EA-108B-2C52-587952680CAA}"/>
              </a:ext>
            </a:extLst>
          </p:cNvPr>
          <p:cNvSpPr/>
          <p:nvPr/>
        </p:nvSpPr>
        <p:spPr>
          <a:xfrm>
            <a:off x="8403768" y="99920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3EFCE23F-B129-33E7-BBA1-A0C58E802D8E}"/>
              </a:ext>
            </a:extLst>
          </p:cNvPr>
          <p:cNvSpPr/>
          <p:nvPr/>
        </p:nvSpPr>
        <p:spPr>
          <a:xfrm>
            <a:off x="8403767" y="1456599"/>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4F4065D4-CE1C-8FB5-336C-3725D7A23F98}"/>
              </a:ext>
            </a:extLst>
          </p:cNvPr>
          <p:cNvSpPr/>
          <p:nvPr/>
        </p:nvSpPr>
        <p:spPr>
          <a:xfrm>
            <a:off x="8403767" y="192586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8" name="TextBox 47">
            <a:extLst>
              <a:ext uri="{FF2B5EF4-FFF2-40B4-BE49-F238E27FC236}">
                <a16:creationId xmlns:a16="http://schemas.microsoft.com/office/drawing/2014/main" id="{C66B6B2B-206E-B25D-E2EB-2BE507FA937A}"/>
              </a:ext>
            </a:extLst>
          </p:cNvPr>
          <p:cNvSpPr txBox="1"/>
          <p:nvPr/>
        </p:nvSpPr>
        <p:spPr>
          <a:xfrm>
            <a:off x="-274703" y="991427"/>
            <a:ext cx="3986541" cy="2003369"/>
          </a:xfrm>
          <a:prstGeom prst="rect">
            <a:avLst/>
          </a:prstGeom>
          <a:noFill/>
        </p:spPr>
        <p:txBody>
          <a:bodyPr wrap="square">
            <a:spAutoFit/>
          </a:bodyPr>
          <a:lstStyle/>
          <a:p>
            <a:pPr>
              <a:lnSpc>
                <a:spcPct val="15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r>
              <a:rPr lang="en-US" sz="1400" dirty="0">
                <a:solidFill>
                  <a:srgbClr val="001080"/>
                </a:solidFill>
                <a:latin typeface="Fira Code" panose="020B0809050000020004" pitchFamily="49" charset="0"/>
              </a:rPr>
              <a:t>matrix</a:t>
            </a:r>
            <a:r>
              <a:rPr lang="en-US" sz="1400" dirty="0">
                <a:solidFill>
                  <a:srgbClr val="000000"/>
                </a:solidFill>
                <a:latin typeface="Fira Code" panose="020B0809050000020004" pitchFamily="49" charset="0"/>
              </a:rPr>
              <a:t>[</a:t>
            </a:r>
            <a:r>
              <a:rPr lang="en-US" sz="1400" dirty="0" err="1">
                <a:solidFill>
                  <a:srgbClr val="0070C1"/>
                </a:solidFill>
                <a:latin typeface="Fira Code" panose="020B0809050000020004" pitchFamily="49" charset="0"/>
              </a:rPr>
              <a:t>idx</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4</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2</a:t>
            </a:r>
            <a:r>
              <a:rPr lang="en-US" sz="1400" dirty="0">
                <a:solidFill>
                  <a:srgbClr val="000000"/>
                </a:solidFill>
                <a:latin typeface="Fira Code" panose="020B0809050000020004" pitchFamily="49" charset="0"/>
              </a:rPr>
              <a:t>)]</a:t>
            </a:r>
            <a:endParaRPr lang="en-US" sz="1400" b="0" noProof="0" dirty="0">
              <a:solidFill>
                <a:srgbClr val="000000"/>
              </a:solidFill>
              <a:effectLst/>
              <a:latin typeface="Fira Code" panose="020B0809050000020004" pitchFamily="49" charset="0"/>
            </a:endParaRPr>
          </a:p>
        </p:txBody>
      </p:sp>
      <p:sp>
        <p:nvSpPr>
          <p:cNvPr id="52" name="TextBox 51">
            <a:extLst>
              <a:ext uri="{FF2B5EF4-FFF2-40B4-BE49-F238E27FC236}">
                <a16:creationId xmlns:a16="http://schemas.microsoft.com/office/drawing/2014/main" id="{81058A7E-911C-05B2-4601-238FFA7EE004}"/>
              </a:ext>
            </a:extLst>
          </p:cNvPr>
          <p:cNvSpPr txBox="1"/>
          <p:nvPr/>
        </p:nvSpPr>
        <p:spPr>
          <a:xfrm>
            <a:off x="7178348" y="3371679"/>
            <a:ext cx="4580709" cy="1181990"/>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owned_matrix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FF"/>
                </a:solidFill>
                <a:effectLst/>
                <a:latin typeface="Fira Code" panose="020B0809050000020004" pitchFamily="49" charset="0"/>
              </a:rPr>
              <a:t>void</a:t>
            </a:r>
            <a:r>
              <a:rPr lang="en-US" sz="1050" b="0" noProof="0" dirty="0">
                <a:solidFill>
                  <a:srgbClr val="000000"/>
                </a:solidFill>
                <a:effectLst/>
                <a:latin typeface="Fira Code" panose="020B0809050000020004" pitchFamily="49" charset="0"/>
              </a:rPr>
              <a:t> </a:t>
            </a:r>
            <a:r>
              <a:rPr lang="en-US" sz="1050" b="0" noProof="0" dirty="0">
                <a:solidFill>
                  <a:srgbClr val="0000FF"/>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CUDA_CHECK</a:t>
            </a:r>
            <a:r>
              <a:rPr lang="en-US" sz="1050" b="0" noProof="0" dirty="0">
                <a:solidFill>
                  <a:srgbClr val="000000"/>
                </a:solidFill>
                <a:effectLst/>
                <a:latin typeface="Fira Code" panose="020B0809050000020004" pitchFamily="49" charset="0"/>
              </a:rPr>
              <a:t>(</a:t>
            </a:r>
            <a:r>
              <a:rPr lang="en-US" sz="1050" b="0" noProof="0" dirty="0" err="1">
                <a:solidFill>
                  <a:srgbClr val="795E26"/>
                </a:solidFill>
                <a:effectLst/>
                <a:latin typeface="Fira Code" panose="020B0809050000020004" pitchFamily="49" charset="0"/>
              </a:rPr>
              <a:t>cudaMalloc</a:t>
            </a:r>
            <a:r>
              <a:rPr lang="en-US" sz="1050" b="0" noProof="0" dirty="0">
                <a:solidFill>
                  <a:srgbClr val="000000"/>
                </a:solidFill>
                <a:effectLst/>
                <a:latin typeface="Fira Code" panose="020B0809050000020004" pitchFamily="49" charset="0"/>
              </a:rPr>
              <a:t>(&amp;</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get_size</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view_matrix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p:txBody>
      </p:sp>
      <p:sp>
        <p:nvSpPr>
          <p:cNvPr id="56" name="TextBox 55">
            <a:extLst>
              <a:ext uri="{FF2B5EF4-FFF2-40B4-BE49-F238E27FC236}">
                <a16:creationId xmlns:a16="http://schemas.microsoft.com/office/drawing/2014/main" id="{151B72E5-6CB7-97C1-AD5E-3609107123D5}"/>
              </a:ext>
            </a:extLst>
          </p:cNvPr>
          <p:cNvSpPr txBox="1"/>
          <p:nvPr/>
        </p:nvSpPr>
        <p:spPr>
          <a:xfrm>
            <a:off x="7467250" y="4559336"/>
            <a:ext cx="3708219" cy="816762"/>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dirty="0">
                <a:solidFill>
                  <a:srgbClr val="0070C1"/>
                </a:solidFill>
                <a:latin typeface="Fira Code" panose="020B0809050000020004" pitchFamily="49" charset="0"/>
              </a:rPr>
              <a:t>lit</a:t>
            </a:r>
            <a:r>
              <a:rPr lang="en-US" sz="1050" dirty="0">
                <a:solidFill>
                  <a:srgbClr val="000000"/>
                </a:solidFill>
                <a:latin typeface="Fira Code" panose="020B0809050000020004" pitchFamily="49" charset="0"/>
              </a:rPr>
              <a:t>&lt;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a:t>
            </a:r>
          </a:p>
        </p:txBody>
      </p:sp>
      <p:sp>
        <p:nvSpPr>
          <p:cNvPr id="60" name="TextBox 59">
            <a:extLst>
              <a:ext uri="{FF2B5EF4-FFF2-40B4-BE49-F238E27FC236}">
                <a16:creationId xmlns:a16="http://schemas.microsoft.com/office/drawing/2014/main" id="{C90408C5-9F58-A622-B65B-BBDABAA76922}"/>
              </a:ext>
            </a:extLst>
          </p:cNvPr>
          <p:cNvSpPr txBox="1"/>
          <p:nvPr/>
        </p:nvSpPr>
        <p:spPr>
          <a:xfrm>
            <a:off x="8484327" y="5297003"/>
            <a:ext cx="6779622"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p:txBody>
      </p:sp>
      <p:sp>
        <p:nvSpPr>
          <p:cNvPr id="5" name="Date Placeholder 4">
            <a:extLst>
              <a:ext uri="{FF2B5EF4-FFF2-40B4-BE49-F238E27FC236}">
                <a16:creationId xmlns:a16="http://schemas.microsoft.com/office/drawing/2014/main" id="{16DF39EE-B935-E335-0B5C-A4E3719F9D73}"/>
              </a:ext>
            </a:extLst>
          </p:cNvPr>
          <p:cNvSpPr>
            <a:spLocks noGrp="1"/>
          </p:cNvSpPr>
          <p:nvPr>
            <p:ph type="dt" sz="half" idx="10"/>
          </p:nvPr>
        </p:nvSpPr>
        <p:spPr/>
        <p:txBody>
          <a:bodyPr/>
          <a:lstStyle/>
          <a:p>
            <a:fld id="{BECC5278-1265-4E1B-8A3B-54BBD2CB9178}" type="datetime1">
              <a:rPr lang="en-US" smtClean="0"/>
              <a:t>8/28/2026</a:t>
            </a:fld>
            <a:endParaRPr lang="en-US"/>
          </a:p>
        </p:txBody>
      </p:sp>
      <p:sp>
        <p:nvSpPr>
          <p:cNvPr id="7" name="Slide Number Placeholder 6">
            <a:extLst>
              <a:ext uri="{FF2B5EF4-FFF2-40B4-BE49-F238E27FC236}">
                <a16:creationId xmlns:a16="http://schemas.microsoft.com/office/drawing/2014/main" id="{3A98E2DA-CF8A-5D0F-37C9-6297322B242B}"/>
              </a:ext>
            </a:extLst>
          </p:cNvPr>
          <p:cNvSpPr>
            <a:spLocks noGrp="1"/>
          </p:cNvSpPr>
          <p:nvPr>
            <p:ph type="sldNum" sz="quarter" idx="12"/>
          </p:nvPr>
        </p:nvSpPr>
        <p:spPr/>
        <p:txBody>
          <a:bodyPr/>
          <a:lstStyle/>
          <a:p>
            <a:fld id="{DA0BB241-1B5F-4309-9407-9EEA04D9598D}" type="slidenum">
              <a:rPr lang="en-US" smtClean="0"/>
              <a:t>40</a:t>
            </a:fld>
            <a:endParaRPr lang="en-US"/>
          </a:p>
        </p:txBody>
      </p:sp>
    </p:spTree>
    <p:extLst>
      <p:ext uri="{BB962C8B-B14F-4D97-AF65-F5344CB8AC3E}">
        <p14:creationId xmlns:p14="http://schemas.microsoft.com/office/powerpoint/2010/main" val="32268061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
        <p:nvSpPr>
          <p:cNvPr id="4" name="Date Placeholder 3">
            <a:extLst>
              <a:ext uri="{FF2B5EF4-FFF2-40B4-BE49-F238E27FC236}">
                <a16:creationId xmlns:a16="http://schemas.microsoft.com/office/drawing/2014/main" id="{1A8EAE36-B52B-79D2-662E-1BAE425E6CAA}"/>
              </a:ext>
            </a:extLst>
          </p:cNvPr>
          <p:cNvSpPr>
            <a:spLocks noGrp="1"/>
          </p:cNvSpPr>
          <p:nvPr>
            <p:ph type="dt" sz="half" idx="10"/>
          </p:nvPr>
        </p:nvSpPr>
        <p:spPr/>
        <p:txBody>
          <a:bodyPr/>
          <a:lstStyle/>
          <a:p>
            <a:fld id="{9728143D-0936-4662-84A5-C4AA8AA29B13}" type="datetime1">
              <a:rPr lang="en-US" smtClean="0"/>
              <a:t>8/28/2026</a:t>
            </a:fld>
            <a:endParaRPr lang="en-US"/>
          </a:p>
        </p:txBody>
      </p:sp>
      <p:sp>
        <p:nvSpPr>
          <p:cNvPr id="5" name="Slide Number Placeholder 4">
            <a:extLst>
              <a:ext uri="{FF2B5EF4-FFF2-40B4-BE49-F238E27FC236}">
                <a16:creationId xmlns:a16="http://schemas.microsoft.com/office/drawing/2014/main" id="{3D455548-6FDB-5ADD-0662-B5910EC6E137}"/>
              </a:ext>
            </a:extLst>
          </p:cNvPr>
          <p:cNvSpPr>
            <a:spLocks noGrp="1"/>
          </p:cNvSpPr>
          <p:nvPr>
            <p:ph type="sldNum" sz="quarter" idx="12"/>
          </p:nvPr>
        </p:nvSpPr>
        <p:spPr/>
        <p:txBody>
          <a:bodyPr/>
          <a:lstStyle/>
          <a:p>
            <a:fld id="{DA0BB241-1B5F-4309-9407-9EEA04D9598D}" type="slidenum">
              <a:rPr lang="en-US" smtClean="0"/>
              <a:t>41</a:t>
            </a:fld>
            <a:endParaRPr lang="en-US"/>
          </a:p>
        </p:txBody>
      </p:sp>
    </p:spTree>
    <p:extLst>
      <p:ext uri="{BB962C8B-B14F-4D97-AF65-F5344CB8AC3E}">
        <p14:creationId xmlns:p14="http://schemas.microsoft.com/office/powerpoint/2010/main" val="10726623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
        <p:nvSpPr>
          <p:cNvPr id="4" name="Date Placeholder 3">
            <a:extLst>
              <a:ext uri="{FF2B5EF4-FFF2-40B4-BE49-F238E27FC236}">
                <a16:creationId xmlns:a16="http://schemas.microsoft.com/office/drawing/2014/main" id="{F638B154-F1AA-C698-384C-B2B4753ACBE5}"/>
              </a:ext>
            </a:extLst>
          </p:cNvPr>
          <p:cNvSpPr>
            <a:spLocks noGrp="1"/>
          </p:cNvSpPr>
          <p:nvPr>
            <p:ph type="dt" sz="half" idx="10"/>
          </p:nvPr>
        </p:nvSpPr>
        <p:spPr/>
        <p:txBody>
          <a:bodyPr/>
          <a:lstStyle/>
          <a:p>
            <a:fld id="{45521FF1-6AD4-41E9-A392-E960909D3B84}" type="datetime1">
              <a:rPr lang="en-US" smtClean="0"/>
              <a:t>8/28/2026</a:t>
            </a:fld>
            <a:endParaRPr lang="en-US"/>
          </a:p>
        </p:txBody>
      </p:sp>
      <p:sp>
        <p:nvSpPr>
          <p:cNvPr id="5" name="Slide Number Placeholder 4">
            <a:extLst>
              <a:ext uri="{FF2B5EF4-FFF2-40B4-BE49-F238E27FC236}">
                <a16:creationId xmlns:a16="http://schemas.microsoft.com/office/drawing/2014/main" id="{875A2156-D658-2EC2-D25E-4DD3E785381A}"/>
              </a:ext>
            </a:extLst>
          </p:cNvPr>
          <p:cNvSpPr>
            <a:spLocks noGrp="1"/>
          </p:cNvSpPr>
          <p:nvPr>
            <p:ph type="sldNum" sz="quarter" idx="12"/>
          </p:nvPr>
        </p:nvSpPr>
        <p:spPr/>
        <p:txBody>
          <a:bodyPr/>
          <a:lstStyle/>
          <a:p>
            <a:fld id="{DA0BB241-1B5F-4309-9407-9EEA04D9598D}" type="slidenum">
              <a:rPr lang="en-US" smtClean="0"/>
              <a:t>42</a:t>
            </a:fld>
            <a:endParaRPr lang="en-US"/>
          </a:p>
        </p:txBody>
      </p:sp>
    </p:spTree>
    <p:extLst>
      <p:ext uri="{BB962C8B-B14F-4D97-AF65-F5344CB8AC3E}">
        <p14:creationId xmlns:p14="http://schemas.microsoft.com/office/powerpoint/2010/main" val="3229808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0037F-F1C5-A711-595F-CA146193F908}"/>
              </a:ext>
            </a:extLst>
          </p:cNvPr>
          <p:cNvSpPr>
            <a:spLocks noGrp="1"/>
          </p:cNvSpPr>
          <p:nvPr>
            <p:ph type="title"/>
          </p:nvPr>
        </p:nvSpPr>
        <p:spPr/>
        <p:txBody>
          <a:bodyPr/>
          <a:lstStyle/>
          <a:p>
            <a:r>
              <a:rPr lang="en-US" dirty="0"/>
              <a:t>Motivation</a:t>
            </a:r>
          </a:p>
        </p:txBody>
      </p:sp>
      <p:sp>
        <p:nvSpPr>
          <p:cNvPr id="3" name="Date Placeholder 2">
            <a:extLst>
              <a:ext uri="{FF2B5EF4-FFF2-40B4-BE49-F238E27FC236}">
                <a16:creationId xmlns:a16="http://schemas.microsoft.com/office/drawing/2014/main" id="{86F98861-D652-B6E5-8357-D0A1570773C1}"/>
              </a:ext>
            </a:extLst>
          </p:cNvPr>
          <p:cNvSpPr>
            <a:spLocks noGrp="1"/>
          </p:cNvSpPr>
          <p:nvPr>
            <p:ph type="dt" sz="half" idx="10"/>
          </p:nvPr>
        </p:nvSpPr>
        <p:spPr/>
        <p:txBody>
          <a:bodyPr/>
          <a:lstStyle/>
          <a:p>
            <a:fld id="{6F8B54AC-F7B0-4D97-865A-C5C2A5DC80D3}" type="datetime1">
              <a:rPr lang="en-US" smtClean="0"/>
              <a:t>8/28/2026</a:t>
            </a:fld>
            <a:endParaRPr lang="en-US"/>
          </a:p>
        </p:txBody>
      </p:sp>
      <p:sp>
        <p:nvSpPr>
          <p:cNvPr id="4" name="Slide Number Placeholder 3">
            <a:extLst>
              <a:ext uri="{FF2B5EF4-FFF2-40B4-BE49-F238E27FC236}">
                <a16:creationId xmlns:a16="http://schemas.microsoft.com/office/drawing/2014/main" id="{B4018CD4-E7A5-A58C-D0D0-B17B9BE5B7EA}"/>
              </a:ext>
            </a:extLst>
          </p:cNvPr>
          <p:cNvSpPr>
            <a:spLocks noGrp="1"/>
          </p:cNvSpPr>
          <p:nvPr>
            <p:ph type="sldNum" sz="quarter" idx="12"/>
          </p:nvPr>
        </p:nvSpPr>
        <p:spPr/>
        <p:txBody>
          <a:bodyPr/>
          <a:lstStyle/>
          <a:p>
            <a:fld id="{DA0BB241-1B5F-4309-9407-9EEA04D9598D}" type="slidenum">
              <a:rPr lang="en-US" smtClean="0"/>
              <a:t>43</a:t>
            </a:fld>
            <a:endParaRPr lang="en-US"/>
          </a:p>
        </p:txBody>
      </p:sp>
    </p:spTree>
    <p:extLst>
      <p:ext uri="{BB962C8B-B14F-4D97-AF65-F5344CB8AC3E}">
        <p14:creationId xmlns:p14="http://schemas.microsoft.com/office/powerpoint/2010/main" val="20435546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
        <p:nvSpPr>
          <p:cNvPr id="4" name="Date Placeholder 3">
            <a:extLst>
              <a:ext uri="{FF2B5EF4-FFF2-40B4-BE49-F238E27FC236}">
                <a16:creationId xmlns:a16="http://schemas.microsoft.com/office/drawing/2014/main" id="{5E3B39E5-5465-2C80-52E8-E554FA99A4BF}"/>
              </a:ext>
            </a:extLst>
          </p:cNvPr>
          <p:cNvSpPr>
            <a:spLocks noGrp="1"/>
          </p:cNvSpPr>
          <p:nvPr>
            <p:ph type="dt" sz="half" idx="10"/>
          </p:nvPr>
        </p:nvSpPr>
        <p:spPr/>
        <p:txBody>
          <a:bodyPr/>
          <a:lstStyle/>
          <a:p>
            <a:fld id="{7498A365-4C92-434C-A578-88C2CD9CB8CD}" type="datetime1">
              <a:rPr lang="en-US" smtClean="0"/>
              <a:t>8/28/2026</a:t>
            </a:fld>
            <a:endParaRPr lang="en-US"/>
          </a:p>
        </p:txBody>
      </p:sp>
      <p:sp>
        <p:nvSpPr>
          <p:cNvPr id="5" name="Slide Number Placeholder 4">
            <a:extLst>
              <a:ext uri="{FF2B5EF4-FFF2-40B4-BE49-F238E27FC236}">
                <a16:creationId xmlns:a16="http://schemas.microsoft.com/office/drawing/2014/main" id="{408B38A9-6C44-7CD4-F1F1-99524C51C9C4}"/>
              </a:ext>
            </a:extLst>
          </p:cNvPr>
          <p:cNvSpPr>
            <a:spLocks noGrp="1"/>
          </p:cNvSpPr>
          <p:nvPr>
            <p:ph type="sldNum" sz="quarter" idx="12"/>
          </p:nvPr>
        </p:nvSpPr>
        <p:spPr/>
        <p:txBody>
          <a:bodyPr/>
          <a:lstStyle/>
          <a:p>
            <a:fld id="{DA0BB241-1B5F-4309-9407-9EEA04D9598D}" type="slidenum">
              <a:rPr lang="en-US" smtClean="0"/>
              <a:t>44</a:t>
            </a:fld>
            <a:endParaRPr lang="en-US"/>
          </a:p>
        </p:txBody>
      </p:sp>
    </p:spTree>
    <p:extLst>
      <p:ext uri="{BB962C8B-B14F-4D97-AF65-F5344CB8AC3E}">
        <p14:creationId xmlns:p14="http://schemas.microsoft.com/office/powerpoint/2010/main" val="218768858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noProof="0" dirty="0"/>
              <a:t>Enables optimizing the layouts on each computation node seamlessly</a:t>
            </a:r>
          </a:p>
          <a:p>
            <a:endParaRPr lang="en-US" noProof="0" dirty="0"/>
          </a:p>
        </p:txBody>
      </p:sp>
      <p:sp>
        <p:nvSpPr>
          <p:cNvPr id="4" name="Date Placeholder 3">
            <a:extLst>
              <a:ext uri="{FF2B5EF4-FFF2-40B4-BE49-F238E27FC236}">
                <a16:creationId xmlns:a16="http://schemas.microsoft.com/office/drawing/2014/main" id="{00A4B826-8136-05AF-D025-DD0DDC6738E4}"/>
              </a:ext>
            </a:extLst>
          </p:cNvPr>
          <p:cNvSpPr>
            <a:spLocks noGrp="1"/>
          </p:cNvSpPr>
          <p:nvPr>
            <p:ph type="dt" sz="half" idx="10"/>
          </p:nvPr>
        </p:nvSpPr>
        <p:spPr/>
        <p:txBody>
          <a:bodyPr/>
          <a:lstStyle/>
          <a:p>
            <a:fld id="{F38D2CE3-9198-4CB2-A7D0-FF7AC24156EC}" type="datetime1">
              <a:rPr lang="en-US" smtClean="0"/>
              <a:t>8/28/2026</a:t>
            </a:fld>
            <a:endParaRPr lang="en-US"/>
          </a:p>
        </p:txBody>
      </p:sp>
      <p:sp>
        <p:nvSpPr>
          <p:cNvPr id="5" name="Slide Number Placeholder 4">
            <a:extLst>
              <a:ext uri="{FF2B5EF4-FFF2-40B4-BE49-F238E27FC236}">
                <a16:creationId xmlns:a16="http://schemas.microsoft.com/office/drawing/2014/main" id="{BC82AE9A-C01C-AE64-EDB8-E15507ACC14D}"/>
              </a:ext>
            </a:extLst>
          </p:cNvPr>
          <p:cNvSpPr>
            <a:spLocks noGrp="1"/>
          </p:cNvSpPr>
          <p:nvPr>
            <p:ph type="sldNum" sz="quarter" idx="12"/>
          </p:nvPr>
        </p:nvSpPr>
        <p:spPr/>
        <p:txBody>
          <a:bodyPr/>
          <a:lstStyle/>
          <a:p>
            <a:fld id="{DA0BB241-1B5F-4309-9407-9EEA04D9598D}" type="slidenum">
              <a:rPr lang="en-US" smtClean="0"/>
              <a:t>45</a:t>
            </a:fld>
            <a:endParaRPr lang="en-US"/>
          </a:p>
        </p:txBody>
      </p:sp>
    </p:spTree>
    <p:extLst>
      <p:ext uri="{BB962C8B-B14F-4D97-AF65-F5344CB8AC3E}">
        <p14:creationId xmlns:p14="http://schemas.microsoft.com/office/powerpoint/2010/main" val="376789864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noProof="0" dirty="0"/>
              <a:t>Layout &amp; encoding options (! bit-packing)</a:t>
            </a:r>
          </a:p>
          <a:p>
            <a:pPr lvl="1"/>
            <a:r>
              <a:rPr lang="en-US" noProof="0" dirty="0"/>
              <a:t>Evaluation options (! bit-wise vectorization)</a:t>
            </a:r>
          </a:p>
          <a:p>
            <a:pPr lvl="1"/>
            <a:r>
              <a:rPr lang="en-US" noProof="0" dirty="0"/>
              <a:t>Traversal options (incl. parallelism)</a:t>
            </a:r>
          </a:p>
          <a:p>
            <a:r>
              <a:rPr lang="en-US" noProof="0" dirty="0"/>
              <a:t>Agnostic design of CA computation rules</a:t>
            </a:r>
          </a:p>
          <a:p>
            <a:r>
              <a:rPr lang="en-US" noProof="0" dirty="0"/>
              <a:t>Faster development, experimentation (optimization)</a:t>
            </a:r>
          </a:p>
        </p:txBody>
      </p:sp>
      <p:sp>
        <p:nvSpPr>
          <p:cNvPr id="4" name="Date Placeholder 3">
            <a:extLst>
              <a:ext uri="{FF2B5EF4-FFF2-40B4-BE49-F238E27FC236}">
                <a16:creationId xmlns:a16="http://schemas.microsoft.com/office/drawing/2014/main" id="{8B8D76D4-7FE7-601A-2FED-F1788152B8FA}"/>
              </a:ext>
            </a:extLst>
          </p:cNvPr>
          <p:cNvSpPr>
            <a:spLocks noGrp="1"/>
          </p:cNvSpPr>
          <p:nvPr>
            <p:ph type="dt" sz="half" idx="10"/>
          </p:nvPr>
        </p:nvSpPr>
        <p:spPr/>
        <p:txBody>
          <a:bodyPr/>
          <a:lstStyle/>
          <a:p>
            <a:fld id="{38B63626-FB7E-43AF-A630-48547F65CAA9}" type="datetime1">
              <a:rPr lang="en-US" smtClean="0"/>
              <a:t>8/28/2026</a:t>
            </a:fld>
            <a:endParaRPr lang="en-US"/>
          </a:p>
        </p:txBody>
      </p:sp>
      <p:sp>
        <p:nvSpPr>
          <p:cNvPr id="5" name="Slide Number Placeholder 4">
            <a:extLst>
              <a:ext uri="{FF2B5EF4-FFF2-40B4-BE49-F238E27FC236}">
                <a16:creationId xmlns:a16="http://schemas.microsoft.com/office/drawing/2014/main" id="{4A94CF2A-53FF-BA6B-CD23-FE846DAA0DB2}"/>
              </a:ext>
            </a:extLst>
          </p:cNvPr>
          <p:cNvSpPr>
            <a:spLocks noGrp="1"/>
          </p:cNvSpPr>
          <p:nvPr>
            <p:ph type="sldNum" sz="quarter" idx="12"/>
          </p:nvPr>
        </p:nvSpPr>
        <p:spPr/>
        <p:txBody>
          <a:bodyPr/>
          <a:lstStyle/>
          <a:p>
            <a:fld id="{DA0BB241-1B5F-4309-9407-9EEA04D9598D}" type="slidenum">
              <a:rPr lang="en-US" smtClean="0"/>
              <a:t>46</a:t>
            </a:fld>
            <a:endParaRPr lang="en-US"/>
          </a:p>
        </p:txBody>
      </p:sp>
    </p:spTree>
    <p:extLst>
      <p:ext uri="{BB962C8B-B14F-4D97-AF65-F5344CB8AC3E}">
        <p14:creationId xmlns:p14="http://schemas.microsoft.com/office/powerpoint/2010/main" val="5515698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
        <p:nvSpPr>
          <p:cNvPr id="4" name="Date Placeholder 3">
            <a:extLst>
              <a:ext uri="{FF2B5EF4-FFF2-40B4-BE49-F238E27FC236}">
                <a16:creationId xmlns:a16="http://schemas.microsoft.com/office/drawing/2014/main" id="{D72BCC3D-18A5-9EDE-1667-AD034F4DFF49}"/>
              </a:ext>
            </a:extLst>
          </p:cNvPr>
          <p:cNvSpPr>
            <a:spLocks noGrp="1"/>
          </p:cNvSpPr>
          <p:nvPr>
            <p:ph type="dt" sz="half" idx="10"/>
          </p:nvPr>
        </p:nvSpPr>
        <p:spPr/>
        <p:txBody>
          <a:bodyPr/>
          <a:lstStyle/>
          <a:p>
            <a:fld id="{00EBD793-3DFE-450E-811C-0EAC8F7BDC8B}" type="datetime1">
              <a:rPr lang="en-US" smtClean="0"/>
              <a:t>8/28/2026</a:t>
            </a:fld>
            <a:endParaRPr lang="en-US"/>
          </a:p>
        </p:txBody>
      </p:sp>
      <p:sp>
        <p:nvSpPr>
          <p:cNvPr id="5" name="Slide Number Placeholder 4">
            <a:extLst>
              <a:ext uri="{FF2B5EF4-FFF2-40B4-BE49-F238E27FC236}">
                <a16:creationId xmlns:a16="http://schemas.microsoft.com/office/drawing/2014/main" id="{5A9FD139-0538-E77B-2AA9-F87C2925AC26}"/>
              </a:ext>
            </a:extLst>
          </p:cNvPr>
          <p:cNvSpPr>
            <a:spLocks noGrp="1"/>
          </p:cNvSpPr>
          <p:nvPr>
            <p:ph type="sldNum" sz="quarter" idx="12"/>
          </p:nvPr>
        </p:nvSpPr>
        <p:spPr/>
        <p:txBody>
          <a:bodyPr/>
          <a:lstStyle/>
          <a:p>
            <a:fld id="{DA0BB241-1B5F-4309-9407-9EEA04D9598D}" type="slidenum">
              <a:rPr lang="en-US" smtClean="0"/>
              <a:t>47</a:t>
            </a:fld>
            <a:endParaRPr lang="en-US"/>
          </a:p>
        </p:txBody>
      </p:sp>
    </p:spTree>
    <p:extLst>
      <p:ext uri="{BB962C8B-B14F-4D97-AF65-F5344CB8AC3E}">
        <p14:creationId xmlns:p14="http://schemas.microsoft.com/office/powerpoint/2010/main" val="42886263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3423</TotalTime>
  <Words>7812</Words>
  <Application>Microsoft Office PowerPoint</Application>
  <PresentationFormat>Widescreen</PresentationFormat>
  <Paragraphs>889</Paragraphs>
  <Slides>47</Slides>
  <Notes>37</Notes>
  <HiddenSlides>18</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47</vt:i4>
      </vt:variant>
    </vt:vector>
  </HeadingPairs>
  <TitlesOfParts>
    <vt:vector size="57" baseType="lpstr">
      <vt:lpstr>Aptos</vt:lpstr>
      <vt:lpstr>Aptos Display</vt:lpstr>
      <vt:lpstr>Arial</vt:lpstr>
      <vt:lpstr>Blackadder ITC</vt:lpstr>
      <vt:lpstr>Cambria Math</vt:lpstr>
      <vt:lpstr>DejaVuSansMono</vt:lpstr>
      <vt:lpstr>Fira Code</vt:lpstr>
      <vt:lpstr>RobotoMono</vt:lpstr>
      <vt:lpstr>Wingdings</vt:lpstr>
      <vt:lpstr>Office Theme</vt:lpstr>
      <vt:lpstr>Optimizing Memory Layouts and Traversal Orders in HPC</vt:lpstr>
      <vt:lpstr>Motivation for memory layouts</vt:lpstr>
      <vt:lpstr>Illustrative example: initialization algorithm</vt:lpstr>
      <vt:lpstr>Layout-agnostic design</vt:lpstr>
      <vt:lpstr>PowerPoint Presentation</vt:lpstr>
      <vt:lpstr>PowerPoint Presentation</vt:lpstr>
      <vt:lpstr>PowerPoint Presentation</vt:lpstr>
      <vt:lpstr>PowerPoint Presentation</vt:lpstr>
      <vt:lpstr>PowerPoint Presentation</vt:lpstr>
      <vt:lpstr>Results</vt:lpstr>
      <vt:lpstr>Results</vt:lpstr>
      <vt:lpstr>Distributed initialization</vt:lpstr>
      <vt:lpstr>PowerPoint Presentation</vt:lpstr>
      <vt:lpstr>Results</vt:lpstr>
      <vt:lpstr>PowerPoint Presentation</vt:lpstr>
      <vt:lpstr>PowerPoint Presentation</vt:lpstr>
      <vt:lpstr>Results</vt:lpstr>
      <vt:lpstr>Abstractions summary</vt:lpstr>
      <vt:lpstr>Motivation</vt:lpstr>
      <vt:lpstr>Tutoring LLMs for CUDA</vt:lpstr>
      <vt:lpstr>Tutoring LLMs for CUDA</vt:lpstr>
      <vt:lpstr>Tutoring LLMs for CUDA – submission</vt:lpstr>
      <vt:lpstr>Tutoring LLMs for CUDA – at conference</vt:lpstr>
      <vt:lpstr>LLMs and Abstractions</vt:lpstr>
      <vt:lpstr>LLMs and Abstractions</vt:lpstr>
      <vt:lpstr>PowerPoint Presentation</vt:lpstr>
      <vt:lpstr>LLM-directed optimization summary</vt:lpstr>
      <vt:lpstr>Contribution map</vt:lpstr>
      <vt:lpstr>PowerPoint Presentation</vt:lpstr>
      <vt:lpstr>PowerPoint Presentation</vt:lpstr>
      <vt:lpstr>LLMs and abstractions</vt:lpstr>
      <vt:lpstr>LLMs and abstractions</vt:lpstr>
      <vt:lpstr>Tutoring LLMs</vt:lpstr>
      <vt:lpstr>Contribution map</vt:lpstr>
      <vt:lpstr>PowerPoint Presentation</vt:lpstr>
      <vt:lpstr>PowerPoint Presentation</vt:lpstr>
      <vt:lpstr>Automatization and simplification</vt:lpstr>
      <vt:lpstr>Small step: ?? layout agnostic design</vt:lpstr>
      <vt:lpstr>Layout- and Traversal-agnostic design</vt:lpstr>
      <vt:lpstr>PowerPoint Presentation</vt:lpstr>
      <vt:lpstr>Layout-agnostic design</vt:lpstr>
      <vt:lpstr>?? Traversal agnostic design</vt:lpstr>
      <vt:lpstr>Motivation</vt:lpstr>
      <vt:lpstr>Finalizing the automation: Autotuning</vt:lpstr>
      <vt:lpstr>Distributed computing</vt:lpstr>
      <vt:lpstr>Cellular automata</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118</cp:revision>
  <dcterms:created xsi:type="dcterms:W3CDTF">2026-08-08T18:10:38Z</dcterms:created>
  <dcterms:modified xsi:type="dcterms:W3CDTF">2026-08-28T10:49:53Z</dcterms:modified>
</cp:coreProperties>
</file>