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266" r:id="rId32"/>
    <p:sldId id="312" r:id="rId33"/>
    <p:sldId id="262" r:id="rId34"/>
    <p:sldId id="327" r:id="rId35"/>
    <p:sldId id="328" r:id="rId36"/>
    <p:sldId id="331" r:id="rId37"/>
    <p:sldId id="329" r:id="rId38"/>
    <p:sldId id="330" r:id="rId39"/>
    <p:sldId id="320" r:id="rId40"/>
    <p:sldId id="318" r:id="rId41"/>
    <p:sldId id="332" r:id="rId42"/>
    <p:sldId id="319" r:id="rId43"/>
    <p:sldId id="333" r:id="rId44"/>
    <p:sldId id="317" r:id="rId45"/>
    <p:sldId id="321" r:id="rId46"/>
    <p:sldId id="31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32"/>
            <p14:sldId id="319"/>
            <p14:sldId id="333"/>
            <p14:sldId id="317"/>
            <p14:sldId id="321"/>
          </p14:sldIdLst>
        </p14:section>
        <p14:section name="supplementary" id="{5D95F6E9-DF15-476C-BE69-BBEF48AA8B86}">
          <p14:sldIdLst>
            <p14:sldId id="31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a:srgbClr val="FFFFFF"/>
    <a:srgbClr val="FBA9ED"/>
    <a:srgbClr val="BED6FA"/>
    <a:srgbClr val="B4D0FA"/>
    <a:srgbClr val="FEC842"/>
    <a:srgbClr val="FECB4C"/>
    <a:srgbClr val="FED160"/>
    <a:srgbClr val="FED46A"/>
    <a:srgbClr val="94F29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75845" autoAdjust="0"/>
  </p:normalViewPr>
  <p:slideViewPr>
    <p:cSldViewPr snapToGrid="0">
      <p:cViewPr>
        <p:scale>
          <a:sx n="100" d="100"/>
          <a:sy n="100" d="100"/>
        </p:scale>
        <p:origin x="3900" y="54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a:t>
            </a:r>
            <a:r>
              <a:rPr lang="en-US" dirty="0" err="1"/>
              <a:t>PolyBench</a:t>
            </a:r>
            <a:r>
              <a:rPr lang="en-US" dirty="0"/>
              <a:t>/C, a standard HPC benchmark suite with algorithms from different areas,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between one and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the practical usefulness of abstractions in many aspects of HPC algorithm design.</a:t>
            </a:r>
          </a:p>
          <a:p>
            <a:endParaRPr lang="en-US" dirty="0"/>
          </a:p>
          <a:p>
            <a:r>
              <a:rPr lang="en-US" dirty="0"/>
              <a:t>These abstractions make the developed algorithms easier to write, more flexible to transform, and allow automatic exploration of optimizations.</a:t>
            </a:r>
          </a:p>
          <a:p>
            <a:endParaRPr lang="en-US" dirty="0"/>
          </a:p>
          <a:p>
            <a:r>
              <a:rPr lang="en-US" dirty="0"/>
              <a:t>Reacting to the recent introduction of Large language models to the area of software design, we studied their ability to optimize code.</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4943765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41791213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46</a:t>
            </a:fld>
            <a:endParaRPr lang="en-US"/>
          </a:p>
        </p:txBody>
      </p:sp>
    </p:spTree>
    <p:extLst>
      <p:ext uri="{BB962C8B-B14F-4D97-AF65-F5344CB8AC3E}">
        <p14:creationId xmlns:p14="http://schemas.microsoft.com/office/powerpoint/2010/main" val="3665500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9/5/2026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9/5/2026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9/5/2026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9/5/2026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9/5/2026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9/5/2026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9/5/2026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9/5/2026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9/5/2026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9/5/2026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9/5/2026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9/5/2026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4.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1.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4.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15.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47.sv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48.png"/><Relationship Id="rId4" Type="http://schemas.openxmlformats.org/officeDocument/2006/relationships/image" Target="../media/image53.pn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55.png"/></Relationships>
</file>

<file path=ppt/slides/_rels/slide2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5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8" Type="http://schemas.openxmlformats.org/officeDocument/2006/relationships/image" Target="../media/image65.svg"/><Relationship Id="rId3" Type="http://schemas.openxmlformats.org/officeDocument/2006/relationships/image" Target="../media/image60.svg"/><Relationship Id="rId7" Type="http://schemas.openxmlformats.org/officeDocument/2006/relationships/image" Target="../media/image64.sv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63.svg"/><Relationship Id="rId5" Type="http://schemas.openxmlformats.org/officeDocument/2006/relationships/image" Target="../media/image62.svg"/><Relationship Id="rId4" Type="http://schemas.openxmlformats.org/officeDocument/2006/relationships/image" Target="../media/image61.svg"/></Relationships>
</file>

<file path=ppt/slides/_rels/slide3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9/5/2026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Simplifying and streamlining algorithm design for scientific computing</a:t>
            </a:r>
          </a:p>
          <a:p>
            <a:r>
              <a:rPr lang="en-US" noProof="0" dirty="0"/>
              <a:t>Regular data structures in nested loops</a:t>
            </a:r>
          </a:p>
          <a:p>
            <a:r>
              <a:rPr lang="en-US" noProof="0" dirty="0"/>
              <a:t>Optimizing memory accesses</a:t>
            </a:r>
          </a:p>
          <a:p>
            <a:pPr marL="0" indent="0">
              <a:buNone/>
            </a:pPr>
            <a:endParaRPr lang="en-US" dirty="0"/>
          </a:p>
          <a:p>
            <a:pPr marL="0" indent="0">
              <a:buNone/>
            </a:pPr>
            <a:endParaRPr lang="en-US" dirty="0"/>
          </a:p>
          <a:p>
            <a:pPr marL="0" indent="0">
              <a:buNone/>
            </a:pPr>
            <a:endParaRPr lang="en-US" noProof="0" dirty="0"/>
          </a:p>
          <a:p>
            <a:r>
              <a:rPr lang="en-US" noProof="0" dirty="0"/>
              <a:t>Layout and traversal abstractions</a:t>
            </a:r>
          </a:p>
          <a:p>
            <a:r>
              <a:rPr lang="en-US" noProof="0" dirty="0"/>
              <a:t>Parallelization and distributed computing</a:t>
            </a:r>
          </a:p>
          <a:p>
            <a:r>
              <a:rPr lang="en-US" noProof="0" dirty="0"/>
              <a:t>Sub-byte encoding and evaluation</a:t>
            </a:r>
          </a:p>
          <a:p>
            <a:r>
              <a:rPr lang="en-US" dirty="0"/>
              <a:t>Using large language models</a:t>
            </a:r>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9211" r="-2397"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9/5/2026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2998529" y="594267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19373" y="5951066"/>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320137" y="5939902"/>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17905"/>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44259"/>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05602" y="2480436"/>
            <a:ext cx="2972352" cy="461665"/>
          </a:xfrm>
          <a:prstGeom prst="rect">
            <a:avLst/>
          </a:prstGeom>
          <a:noFill/>
        </p:spPr>
        <p:txBody>
          <a:bodyPr wrap="none" rtlCol="0" anchor="ctr">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672069" y="5490216"/>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9/5/2026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50008" y="1359843"/>
            <a:ext cx="194951" cy="804576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9/5/2026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pPr algn="ctr"/>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nchor="b">
            <a:spAutoFit/>
          </a:bodyPr>
          <a:lstStyle/>
          <a:p>
            <a:pPr algn="ctr"/>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078241" y="1168157"/>
            <a:ext cx="6293711" cy="461665"/>
          </a:xfrm>
          <a:prstGeom prst="rect">
            <a:avLst/>
          </a:prstGeom>
          <a:noFill/>
        </p:spPr>
        <p:txBody>
          <a:bodyPr wrap="none" rtlCol="0">
            <a:spAutoFit/>
          </a:bodyPr>
          <a:lstStyle/>
          <a:p>
            <a:pPr algn="ctr"/>
            <a:r>
              <a:rPr lang="en-US" sz="2400" noProof="0" dirty="0"/>
              <a:t>Composition of building blocks in native C++</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9/5/2026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4558820" y="53279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4558819" y="616062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4558819" y="57467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5067934" y="3750432"/>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605485" y="3750432"/>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4152567" y="3750431"/>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9/5/2026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130185"/>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485795" y="1740032"/>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565345" y="3678613"/>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693247" y="2639021"/>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F67E973-44FE-CE64-80EC-471D1B6AA36F}"/>
                  </a:ext>
                </a:extLst>
              </p:cNvPr>
              <p:cNvSpPr txBox="1"/>
              <p:nvPr/>
            </p:nvSpPr>
            <p:spPr>
              <a:xfrm>
                <a:off x="4485795" y="52326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xmlns="">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4485795" y="5232699"/>
                <a:ext cx="1587166" cy="1384995"/>
              </a:xfrm>
              <a:prstGeom prst="rect">
                <a:avLst/>
              </a:prstGeom>
              <a:blipFill>
                <a:blip r:embed="rId11"/>
                <a:stretch>
                  <a:fillRect l="-8077" t="-4825" b="-10965"/>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4923637" y="53113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5629321" y="53017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5575672" y="61758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617910" y="2118998"/>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531516" y="4596963"/>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
        <p:nvSpPr>
          <p:cNvPr id="14" name="Oval 13">
            <a:extLst>
              <a:ext uri="{FF2B5EF4-FFF2-40B4-BE49-F238E27FC236}">
                <a16:creationId xmlns:a16="http://schemas.microsoft.com/office/drawing/2014/main" id="{F0835908-CF21-76B9-3CF4-B5B20E755A64}"/>
              </a:ext>
            </a:extLst>
          </p:cNvPr>
          <p:cNvSpPr/>
          <p:nvPr/>
        </p:nvSpPr>
        <p:spPr>
          <a:xfrm>
            <a:off x="4859343" y="57418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nvSpPr>
        <p:spPr>
          <a:xfrm>
            <a:off x="5593853" y="57346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nvSpPr>
        <p:spPr>
          <a:xfrm>
            <a:off x="4901983" y="61674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nvSpPr>
        <p:spPr>
          <a:xfrm>
            <a:off x="6072961" y="52550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06A7DF1-6410-6B50-C5B4-1D19F94CC66E}"/>
                  </a:ext>
                </a:extLst>
              </p:cNvPr>
              <p:cNvSpPr txBox="1"/>
              <p:nvPr/>
            </p:nvSpPr>
            <p:spPr>
              <a:xfrm>
                <a:off x="6248302" y="5682419"/>
                <a:ext cx="1820178" cy="523220"/>
              </a:xfrm>
              <a:prstGeom prst="rect">
                <a:avLst/>
              </a:prstGeom>
              <a:noFill/>
            </p:spPr>
            <p:txBody>
              <a:bodyPr wrap="none" rtlCol="0">
                <a:spAutoFit/>
              </a:bodyPr>
              <a:lstStyle/>
              <a:p>
                <a:pPr/>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xmlns="">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nvSpPr>
            <p:spPr>
              <a:xfrm>
                <a:off x="6248302" y="5682419"/>
                <a:ext cx="1820178" cy="523220"/>
              </a:xfrm>
              <a:prstGeom prst="rect">
                <a:avLst/>
              </a:prstGeom>
              <a:blipFill>
                <a:blip r:embed="rId12"/>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nvSpPr>
        <p:spPr>
          <a:xfrm>
            <a:off x="6325185" y="57571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nvSpPr>
        <p:spPr>
          <a:xfrm>
            <a:off x="7001689" y="57659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nvSpPr>
        <p:spPr>
          <a:xfrm>
            <a:off x="7626160" y="57486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nvSpPr>
        <p:spPr>
          <a:xfrm>
            <a:off x="6212225" y="5245252"/>
            <a:ext cx="2938625" cy="461665"/>
          </a:xfrm>
          <a:prstGeom prst="rect">
            <a:avLst/>
          </a:prstGeom>
          <a:noFill/>
        </p:spPr>
        <p:txBody>
          <a:bodyPr wrap="none" rtlCol="0">
            <a:spAutoFit/>
          </a:bodyPr>
          <a:lstStyle/>
          <a:p>
            <a:r>
              <a:rPr lang="en-US" sz="2400" dirty="0"/>
              <a:t>Unique occurrences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nvCxnSpPr>
        <p:spPr>
          <a:xfrm flipV="1">
            <a:off x="8016446" y="2476067"/>
            <a:ext cx="2963434" cy="3482004"/>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P spid="14" grpId="0" animBg="1"/>
      <p:bldP spid="15" grpId="0" animBg="1"/>
      <p:bldP spid="16" grpId="0" animBg="1"/>
      <p:bldP spid="20" grpId="0" animBg="1"/>
      <p:bldP spid="23" grpId="0"/>
      <p:bldP spid="25" grpId="0" animBg="1"/>
      <p:bldP spid="26" grpId="0" animBg="1"/>
      <p:bldP spid="27" grpId="0" animBg="1"/>
      <p:bldP spid="2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9/5/2026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9/5/2026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8" y="1291017"/>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No measurable runtime overhead</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1" y="6378080"/>
            <a:ext cx="2047355" cy="461665"/>
          </a:xfrm>
          <a:prstGeom prst="rect">
            <a:avLst/>
          </a:prstGeom>
          <a:noFill/>
        </p:spPr>
        <p:txBody>
          <a:bodyPr wrap="none" rtlCol="0">
            <a:spAutoFit/>
          </a:bodyPr>
          <a:lstStyle/>
          <a:p>
            <a:pPr algn="ctr"/>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5072321" y="965353"/>
            <a:ext cx="2302302"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Parallel computation</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pPr algn="ctr"/>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pPr algn="ctr"/>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pPr algn="ctr"/>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nchor="b">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0" y="1324308"/>
            <a:ext cx="9584233" cy="488608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7848599" y="1776739"/>
            <a:ext cx="1523999" cy="109320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7905411" y="3448828"/>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7939177" y="4752246"/>
            <a:ext cx="1433421" cy="786423"/>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7939177" y="5538669"/>
            <a:ext cx="1433421" cy="786425"/>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nvSpPr>
        <p:spPr>
          <a:xfrm>
            <a:off x="8664952" y="908416"/>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stCxn id="6" idx="7"/>
            <a:endCxn id="7" idx="2"/>
          </p:cNvCxnSpPr>
          <p:nvPr/>
        </p:nvCxnSpPr>
        <p:spPr>
          <a:xfrm flipV="1">
            <a:off x="9149414" y="1487298"/>
            <a:ext cx="1279062" cy="449537"/>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7"/>
            <a:endCxn id="7" idx="2"/>
          </p:cNvCxnSpPr>
          <p:nvPr/>
        </p:nvCxnSpPr>
        <p:spPr>
          <a:xfrm flipV="1">
            <a:off x="9162678" y="1487298"/>
            <a:ext cx="1265798" cy="3380117"/>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nvSpPr>
        <p:spPr>
          <a:xfrm>
            <a:off x="9338832" y="4633210"/>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stCxn id="14" idx="7"/>
            <a:endCxn id="18" idx="2"/>
          </p:cNvCxnSpPr>
          <p:nvPr/>
        </p:nvCxnSpPr>
        <p:spPr>
          <a:xfrm flipV="1">
            <a:off x="9162678" y="5212092"/>
            <a:ext cx="1617513" cy="44174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nvSpPr>
        <p:spPr>
          <a:xfrm>
            <a:off x="2528412" y="6249470"/>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nvCxnSpPr>
        <p:spPr>
          <a:xfrm flipV="1">
            <a:off x="6778933" y="3819054"/>
            <a:ext cx="1336398" cy="271985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
        <p:nvSpPr>
          <p:cNvPr id="31" name="TextBox 30">
            <a:extLst>
              <a:ext uri="{FF2B5EF4-FFF2-40B4-BE49-F238E27FC236}">
                <a16:creationId xmlns:a16="http://schemas.microsoft.com/office/drawing/2014/main" id="{CF6AD224-7830-5869-6729-C63C5D8E0FFF}"/>
              </a:ext>
            </a:extLst>
          </p:cNvPr>
          <p:cNvSpPr txBox="1"/>
          <p:nvPr/>
        </p:nvSpPr>
        <p:spPr>
          <a:xfrm>
            <a:off x="381912" y="4001294"/>
            <a:ext cx="1955992"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Flexibility</a:t>
            </a:r>
          </a:p>
        </p:txBody>
      </p:sp>
      <p:sp>
        <p:nvSpPr>
          <p:cNvPr id="32" name="TextBox 31">
            <a:extLst>
              <a:ext uri="{FF2B5EF4-FFF2-40B4-BE49-F238E27FC236}">
                <a16:creationId xmlns:a16="http://schemas.microsoft.com/office/drawing/2014/main" id="{77520BB6-B4CA-E0DE-29CF-16475D0921A2}"/>
              </a:ext>
            </a:extLst>
          </p:cNvPr>
          <p:cNvSpPr txBox="1"/>
          <p:nvPr/>
        </p:nvSpPr>
        <p:spPr>
          <a:xfrm>
            <a:off x="359650" y="4695852"/>
            <a:ext cx="221114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Type safety</a:t>
            </a:r>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7" grpId="0" animBg="1"/>
      <p:bldP spid="18" grpId="0" animBg="1"/>
      <p:bldP spid="23" grpId="0" animBg="1"/>
      <p:bldP spid="31" grpId="0" animBg="1"/>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pPr>
            <a:r>
              <a:rPr lang="en-US" sz="2000" dirty="0">
                <a:solidFill>
                  <a:srgbClr val="795E26"/>
                </a:solidFill>
                <a:latin typeface="Fira Code" panose="020B0809050000020004" pitchFamily="49" charset="0"/>
              </a:rPr>
              <a:t>gather</a:t>
            </a:r>
            <a:r>
              <a:rPr lang="en-US" sz="200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Data</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root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MPItrav</a:t>
            </a:r>
            <a:r>
              <a:rPr lang="en-US" sz="200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848591" y="4397966"/>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9/5/2026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152400" y="1690849"/>
            <a:ext cx="11887200" cy="3476302"/>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nvGrpSpPr>
        <p:grpSpPr>
          <a:xfrm>
            <a:off x="6804263" y="5776906"/>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4"/>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pPr algn="ctr"/>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nvGrpSpPr>
        <p:grpSpPr>
          <a:xfrm>
            <a:off x="3377999" y="5776906"/>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74132" y="1313599"/>
              <a:ext cx="732656" cy="732656"/>
            </a:xfrm>
            <a:prstGeom prst="rect">
              <a:avLst/>
            </a:prstGeom>
          </p:spPr>
        </p:pic>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nchor="b">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sp>
        <p:nvSpPr>
          <p:cNvPr id="10" name="TextBox 9">
            <a:extLst>
              <a:ext uri="{FF2B5EF4-FFF2-40B4-BE49-F238E27FC236}">
                <a16:creationId xmlns:a16="http://schemas.microsoft.com/office/drawing/2014/main" id="{F87652A6-37F0-2CC7-1FD2-E46D9878EE9E}"/>
              </a:ext>
            </a:extLst>
          </p:cNvPr>
          <p:cNvSpPr txBox="1"/>
          <p:nvPr/>
        </p:nvSpPr>
        <p:spPr>
          <a:xfrm>
            <a:off x="4270819" y="1270770"/>
            <a:ext cx="3650359" cy="523220"/>
          </a:xfrm>
          <a:prstGeom prst="rect">
            <a:avLst/>
          </a:prstGeom>
          <a:noFill/>
        </p:spPr>
        <p:txBody>
          <a:bodyPr wrap="none" rtlCol="0" anchor="b">
            <a:spAutoFit/>
          </a:bodyPr>
          <a:lstStyle/>
          <a:p>
            <a:pPr algn="ctr"/>
            <a:r>
              <a:rPr lang="en-US" sz="2800" noProof="0" dirty="0"/>
              <a:t>Example: Game of Life</a:t>
            </a:r>
          </a:p>
        </p:txBody>
      </p:sp>
      <p:sp>
        <p:nvSpPr>
          <p:cNvPr id="7" name="TextBox 6">
            <a:extLst>
              <a:ext uri="{FF2B5EF4-FFF2-40B4-BE49-F238E27FC236}">
                <a16:creationId xmlns:a16="http://schemas.microsoft.com/office/drawing/2014/main" id="{558B0A78-F5BD-55EF-1087-A92815BCA5A1}"/>
              </a:ext>
            </a:extLst>
          </p:cNvPr>
          <p:cNvSpPr txBox="1"/>
          <p:nvPr/>
        </p:nvSpPr>
        <p:spPr>
          <a:xfrm>
            <a:off x="7068333" y="2078595"/>
            <a:ext cx="2994602" cy="830997"/>
          </a:xfrm>
          <a:prstGeom prst="rect">
            <a:avLst/>
          </a:prstGeom>
          <a:noFill/>
        </p:spPr>
        <p:txBody>
          <a:bodyPr wrap="none" rtlCol="0" anchor="ctr">
            <a:spAutoFit/>
          </a:bodyPr>
          <a:lstStyle/>
          <a:p>
            <a:r>
              <a:rPr lang="en-US" sz="2400" dirty="0"/>
              <a:t>Binary state</a:t>
            </a:r>
          </a:p>
          <a:p>
            <a:r>
              <a:rPr lang="en-US" sz="2400" dirty="0"/>
              <a:t>Neighbor-count rules</a:t>
            </a:r>
          </a:p>
        </p:txBody>
      </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ctr">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What the design allows us to gain</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68984CF-F135-422A-BC96-9BDB08D720D4}"/>
              </a:ext>
            </a:extLst>
          </p:cNvPr>
          <p:cNvPicPr>
            <a:picLocks noChangeAspect="1"/>
          </p:cNvPicPr>
          <p:nvPr/>
        </p:nvPicPr>
        <p:blipFill>
          <a:blip r:embed="rId3"/>
          <a:srcRect l="12883" t="17084" r="11844" b="16205"/>
          <a:stretch>
            <a:fillRect/>
          </a:stretch>
        </p:blipFill>
        <p:spPr>
          <a:xfrm>
            <a:off x="5740045" y="4200417"/>
            <a:ext cx="1507332" cy="1335881"/>
          </a:xfrm>
          <a:prstGeom prst="rect">
            <a:avLst/>
          </a:prstGeom>
        </p:spPr>
      </p:pic>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Aptos" panose="020B0004020202020204" pitchFamily="34" charset="0"/>
              <a:buChar char="+"/>
            </a:pPr>
            <a:r>
              <a:rPr lang="en-US" noProof="0" dirty="0"/>
              <a:t> Simplicity</a:t>
            </a:r>
          </a:p>
          <a:p>
            <a:pPr lvl="1">
              <a:buFont typeface="Aptos" panose="020B0004020202020204" pitchFamily="34" charset="0"/>
              <a:buChar char="+"/>
            </a:pPr>
            <a:r>
              <a:rPr lang="en-US" noProof="0" dirty="0"/>
              <a:t> Flexibility</a:t>
            </a:r>
          </a:p>
          <a:p>
            <a:pPr lvl="1">
              <a:buFont typeface="Aptos" panose="020B0004020202020204" pitchFamily="34" charset="0"/>
              <a:buChar char="+"/>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cxnSp>
        <p:nvCxnSpPr>
          <p:cNvPr id="10" name="Straight Connector 9">
            <a:extLst>
              <a:ext uri="{FF2B5EF4-FFF2-40B4-BE49-F238E27FC236}">
                <a16:creationId xmlns:a16="http://schemas.microsoft.com/office/drawing/2014/main" id="{6A7A7546-AB4B-B0AA-3591-AB55403B6F68}"/>
              </a:ext>
            </a:extLst>
          </p:cNvPr>
          <p:cNvCxnSpPr>
            <a:cxnSpLocks/>
            <a:stCxn id="6" idx="1"/>
            <a:endCxn id="9" idx="1"/>
          </p:cNvCxnSpPr>
          <p:nvPr/>
        </p:nvCxnSpPr>
        <p:spPr>
          <a:xfrm>
            <a:off x="3685212" y="4439667"/>
            <a:ext cx="2054833" cy="428691"/>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6938950" y="3429000"/>
            <a:ext cx="4109740" cy="896259"/>
          </a:xfrm>
          <a:prstGeom prst="wedgeRoundRectCallout">
            <a:avLst>
              <a:gd name="adj1" fmla="val -46931"/>
              <a:gd name="adj2" fmla="val 78756"/>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6FAD4EE1-A685-999A-4B14-45D9D5B9DB08}"/>
              </a:ext>
            </a:extLst>
          </p:cNvPr>
          <p:cNvSpPr txBox="1"/>
          <p:nvPr/>
        </p:nvSpPr>
        <p:spPr>
          <a:xfrm>
            <a:off x="4616552" y="1450268"/>
            <a:ext cx="3549984"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 Here are</a:t>
            </a:r>
            <a:br>
              <a:rPr lang="en-US" sz="3200" noProof="0" dirty="0"/>
            </a:br>
            <a:r>
              <a:rPr lang="en-US" sz="3200" noProof="0" dirty="0"/>
              <a:t>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45" idx="0"/>
          </p:cNvCxnSpPr>
          <p:nvPr/>
        </p:nvCxnSpPr>
        <p:spPr>
          <a:xfrm>
            <a:off x="6391544" y="3174432"/>
            <a:ext cx="0" cy="67769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4768213" y="5440720"/>
            <a:ext cx="3246662"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45" idx="2"/>
            <a:endCxn id="32" idx="0"/>
          </p:cNvCxnSpPr>
          <p:nvPr/>
        </p:nvCxnSpPr>
        <p:spPr>
          <a:xfrm>
            <a:off x="6391544"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8319290" y="1515440"/>
            <a:ext cx="3615756" cy="162600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Follow this</a:t>
            </a:r>
            <a:br>
              <a:rPr lang="en-US" sz="3200" noProof="0" dirty="0"/>
            </a:br>
            <a:r>
              <a:rPr lang="en-US" sz="3200" noProof="0" dirty="0"/>
              <a:t>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8473761" y="5440720"/>
            <a:ext cx="330681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Efficient code?</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46" idx="0"/>
          </p:cNvCxnSpPr>
          <p:nvPr/>
        </p:nvCxnSpPr>
        <p:spPr>
          <a:xfrm>
            <a:off x="10127168" y="3141444"/>
            <a:ext cx="0" cy="7056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cxnSpLocks/>
            <a:stCxn id="46" idx="2"/>
            <a:endCxn id="61" idx="0"/>
          </p:cNvCxnSpPr>
          <p:nvPr/>
        </p:nvCxnSpPr>
        <p:spPr>
          <a:xfrm>
            <a:off x="10127168" y="4654328"/>
            <a:ext cx="0" cy="7863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017106" y="407645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091925" y="4148175"/>
            <a:ext cx="381836" cy="369332"/>
          </a:xfrm>
          <a:prstGeom prst="rect">
            <a:avLst/>
          </a:prstGeom>
          <a:noFill/>
        </p:spPr>
        <p:txBody>
          <a:bodyPr wrap="none" rtlCol="0">
            <a:spAutoFit/>
          </a:bodyPr>
          <a:lstStyle/>
          <a:p>
            <a:r>
              <a:rPr lang="en-US" noProof="0" dirty="0"/>
              <a:t>…</a:t>
            </a:r>
          </a:p>
        </p:txBody>
      </p:sp>
      <p:pic>
        <p:nvPicPr>
          <p:cNvPr id="42" name="Picture 41">
            <a:extLst>
              <a:ext uri="{FF2B5EF4-FFF2-40B4-BE49-F238E27FC236}">
                <a16:creationId xmlns:a16="http://schemas.microsoft.com/office/drawing/2014/main" id="{316BF04B-178F-112C-0FA1-1E930ED0B64B}"/>
              </a:ext>
            </a:extLst>
          </p:cNvPr>
          <p:cNvPicPr>
            <a:picLocks noChangeAspect="1"/>
          </p:cNvPicPr>
          <p:nvPr/>
        </p:nvPicPr>
        <p:blipFill>
          <a:blip r:embed="rId3"/>
          <a:srcRect l="12577" t="17864" r="12520" b="16352"/>
          <a:stretch>
            <a:fillRect/>
          </a:stretch>
        </p:blipFill>
        <p:spPr>
          <a:xfrm>
            <a:off x="1792626" y="3852129"/>
            <a:ext cx="919163" cy="807244"/>
          </a:xfrm>
          <a:prstGeom prst="rect">
            <a:avLst/>
          </a:prstGeom>
        </p:spPr>
      </p:pic>
      <p:pic>
        <p:nvPicPr>
          <p:cNvPr id="45" name="Picture 44">
            <a:extLst>
              <a:ext uri="{FF2B5EF4-FFF2-40B4-BE49-F238E27FC236}">
                <a16:creationId xmlns:a16="http://schemas.microsoft.com/office/drawing/2014/main" id="{D98B62BA-C0CE-0DD2-0B2E-7832065054EA}"/>
              </a:ext>
            </a:extLst>
          </p:cNvPr>
          <p:cNvPicPr>
            <a:picLocks noChangeAspect="1"/>
          </p:cNvPicPr>
          <p:nvPr/>
        </p:nvPicPr>
        <p:blipFill>
          <a:blip r:embed="rId3"/>
          <a:srcRect l="12577" t="17864" r="12520" b="16352"/>
          <a:stretch>
            <a:fillRect/>
          </a:stretch>
        </p:blipFill>
        <p:spPr>
          <a:xfrm>
            <a:off x="5931962" y="3852129"/>
            <a:ext cx="919163" cy="807244"/>
          </a:xfrm>
          <a:prstGeom prst="rect">
            <a:avLst/>
          </a:prstGeom>
        </p:spPr>
      </p:pic>
      <p:pic>
        <p:nvPicPr>
          <p:cNvPr id="46" name="Picture 45">
            <a:extLst>
              <a:ext uri="{FF2B5EF4-FFF2-40B4-BE49-F238E27FC236}">
                <a16:creationId xmlns:a16="http://schemas.microsoft.com/office/drawing/2014/main" id="{AC2085E0-A83D-2E90-B6F6-59D17C0E4A65}"/>
              </a:ext>
            </a:extLst>
          </p:cNvPr>
          <p:cNvPicPr>
            <a:picLocks noChangeAspect="1"/>
          </p:cNvPicPr>
          <p:nvPr/>
        </p:nvPicPr>
        <p:blipFill>
          <a:blip r:embed="rId3"/>
          <a:srcRect l="12577" t="17864" r="12520" b="16352"/>
          <a:stretch>
            <a:fillRect/>
          </a:stretch>
        </p:blipFill>
        <p:spPr>
          <a:xfrm>
            <a:off x="9667586" y="3847084"/>
            <a:ext cx="919163" cy="807244"/>
          </a:xfrm>
          <a:prstGeom prst="rect">
            <a:avLst/>
          </a:prstGeom>
        </p:spPr>
      </p:pic>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2" grpId="0" animBg="1"/>
      <p:bldP spid="47" grpId="0" animBg="1"/>
      <p:bldP spid="61" grpId="0" animBg="1"/>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4"/>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078136" y="1390039"/>
            <a:ext cx="1789272" cy="523220"/>
          </a:xfrm>
          <a:prstGeom prst="rect">
            <a:avLst/>
          </a:prstGeom>
          <a:noFill/>
        </p:spPr>
        <p:txBody>
          <a:bodyPr wrap="none" rtlCol="0" anchor="b">
            <a:spAutoFit/>
          </a:bodyPr>
          <a:lstStyle/>
          <a:p>
            <a:pPr algn="ctr"/>
            <a:r>
              <a:rPr lang="en-US" sz="28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261146" y="1971431"/>
            <a:ext cx="2135521" cy="523220"/>
          </a:xfrm>
          <a:prstGeom prst="rect">
            <a:avLst/>
          </a:prstGeom>
          <a:noFill/>
        </p:spPr>
        <p:txBody>
          <a:bodyPr wrap="none" rtlCol="0" anchor="b">
            <a:spAutoFit/>
          </a:bodyPr>
          <a:lstStyle/>
          <a:p>
            <a:pPr algn="ctr"/>
            <a:r>
              <a:rPr lang="en-US" sz="28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164017" y="1568577"/>
            <a:ext cx="2135521" cy="523220"/>
          </a:xfrm>
          <a:prstGeom prst="rect">
            <a:avLst/>
          </a:prstGeom>
          <a:noFill/>
        </p:spPr>
        <p:txBody>
          <a:bodyPr wrap="none" rtlCol="0" anchor="b">
            <a:spAutoFit/>
          </a:bodyPr>
          <a:lstStyle/>
          <a:p>
            <a:pPr algn="ctr"/>
            <a:r>
              <a:rPr lang="en-US" sz="28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7892464" y="1568577"/>
            <a:ext cx="3371436" cy="523220"/>
          </a:xfrm>
          <a:prstGeom prst="rect">
            <a:avLst/>
          </a:prstGeom>
          <a:noFill/>
        </p:spPr>
        <p:txBody>
          <a:bodyPr wrap="none" rtlCol="0" anchor="b">
            <a:spAutoFit/>
          </a:bodyPr>
          <a:lstStyle/>
          <a:p>
            <a:pPr algn="ctr"/>
            <a:r>
              <a:rPr lang="en-US" sz="28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nvSpPr>
        <p:spPr>
          <a:xfrm>
            <a:off x="81118" y="1928644"/>
            <a:ext cx="1905330" cy="461665"/>
          </a:xfrm>
          <a:prstGeom prst="rect">
            <a:avLst/>
          </a:prstGeom>
          <a:noFill/>
        </p:spPr>
        <p:txBody>
          <a:bodyPr wrap="none" rtlCol="0" anchor="b">
            <a:spAutoFit/>
          </a:bodyPr>
          <a:lstStyle/>
          <a:p>
            <a:pPr algn="ctr"/>
            <a:r>
              <a:rPr lang="en-US" sz="2400" dirty="0" err="1"/>
              <a:t>PolyBench</a:t>
            </a:r>
            <a:r>
              <a:rPr lang="en-US" sz="2400" dirty="0"/>
              <a:t>/C</a:t>
            </a:r>
          </a:p>
        </p:txBody>
      </p:sp>
      <p:pic>
        <p:nvPicPr>
          <p:cNvPr id="7" name="Picture 6">
            <a:extLst>
              <a:ext uri="{FF2B5EF4-FFF2-40B4-BE49-F238E27FC236}">
                <a16:creationId xmlns:a16="http://schemas.microsoft.com/office/drawing/2014/main" id="{B2DD5B8E-4E3D-5FCE-6E08-4D6F0F157642}"/>
              </a:ext>
            </a:extLst>
          </p:cNvPr>
          <p:cNvPicPr>
            <a:picLocks noChangeAspect="1"/>
          </p:cNvPicPr>
          <p:nvPr/>
        </p:nvPicPr>
        <p:blipFill>
          <a:blip r:embed="rId4"/>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nvPicPr>
        <p:blipFill>
          <a:blip r:embed="rId4"/>
          <a:srcRect l="12577" t="17864" r="12520" b="16352"/>
          <a:stretch>
            <a:fillRect/>
          </a:stretch>
        </p:blipFill>
        <p:spPr>
          <a:xfrm>
            <a:off x="8166324" y="1343818"/>
            <a:ext cx="665908" cy="584826"/>
          </a:xfrm>
          <a:prstGeom prst="rect">
            <a:avLst/>
          </a:prstGeom>
        </p:spPr>
      </p:pic>
      <p:cxnSp>
        <p:nvCxnSpPr>
          <p:cNvPr id="14" name="Straight Arrow Connector 13">
            <a:extLst>
              <a:ext uri="{FF2B5EF4-FFF2-40B4-BE49-F238E27FC236}">
                <a16:creationId xmlns:a16="http://schemas.microsoft.com/office/drawing/2014/main" id="{BD834972-E809-4BF9-BFD2-EB6411C5399D}"/>
              </a:ext>
            </a:extLst>
          </p:cNvPr>
          <p:cNvCxnSpPr>
            <a:cxnSpLocks/>
            <a:stCxn id="5" idx="2"/>
          </p:cNvCxnSpPr>
          <p:nvPr/>
        </p:nvCxnSpPr>
        <p:spPr>
          <a:xfrm>
            <a:off x="1033783" y="2390309"/>
            <a:ext cx="0" cy="726747"/>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043DA17-E138-247B-4A07-447B5A24647A}"/>
              </a:ext>
            </a:extLst>
          </p:cNvPr>
          <p:cNvPicPr>
            <a:picLocks noChangeAspect="1"/>
          </p:cNvPicPr>
          <p:nvPr/>
        </p:nvPicPr>
        <p:blipFill>
          <a:blip r:embed="rId3"/>
          <a:stretch>
            <a:fillRect/>
          </a:stretch>
        </p:blipFill>
        <p:spPr>
          <a:xfrm>
            <a:off x="371719" y="952391"/>
            <a:ext cx="11607430" cy="5594782"/>
          </a:xfrm>
          <a:prstGeom prst="rect">
            <a:avLst/>
          </a:prstGeom>
        </p:spPr>
      </p:pic>
      <p:sp>
        <p:nvSpPr>
          <p:cNvPr id="6" name="Title 5">
            <a:extLst>
              <a:ext uri="{FF2B5EF4-FFF2-40B4-BE49-F238E27FC236}">
                <a16:creationId xmlns:a16="http://schemas.microsoft.com/office/drawing/2014/main" id="{7951329F-EFE3-A4A4-5416-4AA800AB8042}"/>
              </a:ext>
            </a:extLst>
          </p:cNvPr>
          <p:cNvSpPr>
            <a:spLocks noGrp="1"/>
          </p:cNvSpPr>
          <p:nvPr>
            <p:ph type="title"/>
          </p:nvPr>
        </p:nvSpPr>
        <p:spPr/>
        <p:txBody>
          <a:bodyPr/>
          <a:lstStyle/>
          <a:p>
            <a:r>
              <a:rPr lang="en-US" dirty="0"/>
              <a:t>Performance results</a:t>
            </a:r>
          </a:p>
        </p:txBody>
      </p:sp>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1613934"/>
            <a:ext cx="590330" cy="652813"/>
          </a:xfrm>
          <a:prstGeom prst="straightConnector1">
            <a:avLst/>
          </a:prstGeom>
          <a:ln>
            <a:solidFill>
              <a:srgbClr val="1F77B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1213824"/>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10745" y="3001049"/>
            <a:ext cx="372564" cy="372564"/>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2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3"/>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2" grpId="0" animBg="1"/>
      <p:bldP spid="16" grpId="0" animBg="1"/>
      <p:bldP spid="24" grpId="0" animBg="1"/>
      <p:bldP spid="27" grpId="0" animBg="1"/>
      <p:bldP spid="28" grpId="0" animBg="1"/>
      <p:bldP spid="14" grpId="0" animBg="1"/>
      <p:bldP spid="83" grpId="0" animBg="1"/>
      <p:bldP spid="30" grpId="0" animBg="1"/>
      <p:bldP spid="10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9/5/2026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113856"/>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inspect or abstract statements/expressions</a:t>
            </a:r>
          </a:p>
          <a:p>
            <a:r>
              <a:rPr lang="en-US" dirty="0"/>
              <a:t>Cellato adopts layout &amp; traversal agnosticism and the template metaprogramming implementation; the goals are more specific</a:t>
            </a:r>
          </a:p>
          <a:p>
            <a:endParaRPr lang="en-US" noProof="0" dirty="0"/>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a:p>
            <a:r>
              <a:rPr lang="en-US" noProof="0" dirty="0"/>
              <a:t>Inspiration by ComPilot: structured back-and-forth communication</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a:t>
            </a:r>
            <a:br>
              <a:rPr lang="en-US" noProof="0" dirty="0"/>
            </a:br>
            <a:r>
              <a:rPr lang="en-US" noProof="0" dirty="0"/>
              <a:t>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general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 the extent of sub-layout does not divide the stride of the result layout</a:t>
            </a:r>
            <a:br>
              <a:rPr lang="en-US" noProof="0" dirty="0"/>
            </a:br>
            <a:r>
              <a:rPr lang="en-US" noProof="0" dirty="0"/>
              <a:t>(see Slide 4 for better visualization of the two communicated layouts)</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4267201" y="5495658"/>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4771698" y="549565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5906814" y="549565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7049968"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8195443"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4267201" y="5987017"/>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4771698" y="598701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5906814" y="598701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7049968"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8195443"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5150070" y="598701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6285186" y="598701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7428340"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8573815"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5528442" y="598701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6663558" y="598700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7806712"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8952187"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6611251" y="3528668"/>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5A02E8D5-F21B-9668-E4EF-AB0E1DD30169}"/>
              </a:ext>
            </a:extLst>
          </p:cNvPr>
          <p:cNvSpPr txBox="1"/>
          <p:nvPr/>
        </p:nvSpPr>
        <p:spPr>
          <a:xfrm>
            <a:off x="6228375" y="5026152"/>
            <a:ext cx="870367" cy="400110"/>
          </a:xfrm>
          <a:prstGeom prst="rect">
            <a:avLst/>
          </a:prstGeom>
          <a:noFill/>
        </p:spPr>
        <p:txBody>
          <a:bodyPr wrap="none" rtlCol="0" anchor="b">
            <a:spAutoFit/>
          </a:bodyPr>
          <a:lstStyle/>
          <a:p>
            <a:pPr algn="ctr"/>
            <a:r>
              <a:rPr lang="en-US" sz="2000" dirty="0"/>
              <a:t>extent</a:t>
            </a:r>
          </a:p>
        </p:txBody>
      </p:sp>
      <p:sp>
        <p:nvSpPr>
          <p:cNvPr id="14" name="Right Brace 13">
            <a:extLst>
              <a:ext uri="{FF2B5EF4-FFF2-40B4-BE49-F238E27FC236}">
                <a16:creationId xmlns:a16="http://schemas.microsoft.com/office/drawing/2014/main" id="{A67D3EE3-3CE5-18DC-C41F-978BC4DB7EEF}"/>
              </a:ext>
            </a:extLst>
          </p:cNvPr>
          <p:cNvSpPr/>
          <p:nvPr/>
        </p:nvSpPr>
        <p:spPr>
          <a:xfrm rot="5400000">
            <a:off x="5120513" y="6223859"/>
            <a:ext cx="59115" cy="37837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618F4901-DE99-509C-6FD1-48F638F093B4}"/>
              </a:ext>
            </a:extLst>
          </p:cNvPr>
          <p:cNvSpPr txBox="1"/>
          <p:nvPr/>
        </p:nvSpPr>
        <p:spPr>
          <a:xfrm>
            <a:off x="4749560" y="6410087"/>
            <a:ext cx="817853" cy="400110"/>
          </a:xfrm>
          <a:prstGeom prst="rect">
            <a:avLst/>
          </a:prstGeom>
          <a:noFill/>
        </p:spPr>
        <p:txBody>
          <a:bodyPr wrap="none" rtlCol="0" anchor="t">
            <a:spAutoFit/>
          </a:bodyPr>
          <a:lstStyle/>
          <a:p>
            <a:pPr algn="ctr"/>
            <a:r>
              <a:rPr lang="en-US" sz="2000" dirty="0"/>
              <a:t>stride</a:t>
            </a:r>
          </a:p>
        </p:txBody>
      </p:sp>
    </p:spTree>
    <p:extLst>
      <p:ext uri="{BB962C8B-B14F-4D97-AF65-F5344CB8AC3E}">
        <p14:creationId xmlns:p14="http://schemas.microsoft.com/office/powerpoint/2010/main" val="1348916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a:t>
            </a:r>
            <a:br>
              <a:rPr lang="en-US" noProof="0" dirty="0"/>
            </a:br>
            <a:r>
              <a:rPr lang="en-US" noProof="0" dirty="0"/>
              <a:t>If not, why?</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OpenMP explicitly rejects class-based iteration (e.g., range-based for)</a:t>
            </a:r>
          </a:p>
          <a:p>
            <a:pPr lvl="1"/>
            <a:r>
              <a:rPr lang="en-US" noProof="0" dirty="0">
                <a:latin typeface="Fira Code" panose="020B0809050000020004" pitchFamily="49" charset="0"/>
                <a:ea typeface="Fira Code" panose="020B0809050000020004" pitchFamily="49" charset="0"/>
                <a:cs typeface="Fira Code" panose="020B0809050000020004" pitchFamily="49" charset="0"/>
              </a:rPr>
              <a:t>#pragma </a:t>
            </a:r>
            <a:r>
              <a:rPr lang="en-US" noProof="0" dirty="0" err="1">
                <a:latin typeface="Fira Code" panose="020B0809050000020004" pitchFamily="49" charset="0"/>
                <a:ea typeface="Fira Code" panose="020B0809050000020004" pitchFamily="49" charset="0"/>
                <a:cs typeface="Fira Code" panose="020B0809050000020004" pitchFamily="49" charset="0"/>
              </a:rPr>
              <a:t>omp</a:t>
            </a:r>
            <a:r>
              <a:rPr lang="en-US"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err="1">
                <a:latin typeface="Fira Code" panose="020B0809050000020004" pitchFamily="49" charset="0"/>
                <a:ea typeface="Fira Code" panose="020B0809050000020004" pitchFamily="49" charset="0"/>
                <a:cs typeface="Fira Code" panose="020B0809050000020004" pitchFamily="49" charset="0"/>
              </a:rPr>
              <a:t>simd</a:t>
            </a:r>
            <a:r>
              <a:rPr lang="en-US" noProof="0" dirty="0"/>
              <a:t> specifically may be in explicit SIMD-enabled for_each</a:t>
            </a:r>
          </a:p>
          <a:p>
            <a:pPr marL="914400" lvl="2" indent="0">
              <a:buNone/>
            </a:pPr>
            <a:r>
              <a:rPr lang="en-US" dirty="0" err="1">
                <a:solidFill>
                  <a:srgbClr val="001080"/>
                </a:solidFill>
                <a:latin typeface="Fira Code" panose="020B0809050000020004" pitchFamily="49" charset="0"/>
              </a:rPr>
              <a:t>traverser</a:t>
            </a:r>
            <a:r>
              <a:rPr lang="en-US" dirty="0" err="1">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795E26"/>
                </a:solidFill>
                <a:latin typeface="Fira Code" panose="020B0809050000020004" pitchFamily="49" charset="0"/>
                <a:ea typeface="Fira Code" panose="020B0809050000020004" pitchFamily="49" charset="0"/>
                <a:cs typeface="Fira Code" panose="020B0809050000020004" pitchFamily="49" charset="0"/>
              </a:rPr>
              <a:t>omp_simd_for_each</a:t>
            </a:r>
            <a:r>
              <a:rPr lang="en-US" noProof="0" dirty="0">
                <a:latin typeface="Fira Code" panose="020B0809050000020004" pitchFamily="49" charset="0"/>
                <a:ea typeface="Fira Code" panose="020B0809050000020004" pitchFamily="49" charset="0"/>
                <a:cs typeface="Fira Code" panose="020B0809050000020004" pitchFamily="49" charset="0"/>
              </a:rPr>
              <a:t>(…)</a:t>
            </a:r>
          </a:p>
          <a:p>
            <a:r>
              <a:rPr lang="en-US" noProof="0" dirty="0"/>
              <a:t>More extensive OpenMP pragma support challenging</a:t>
            </a:r>
          </a:p>
          <a:p>
            <a:r>
              <a:rPr lang="en-US" noProof="0" dirty="0"/>
              <a:t>Future SIMD-aware traversers</a:t>
            </a:r>
          </a:p>
          <a:p>
            <a:pPr lvl="1"/>
            <a:r>
              <a:rPr lang="en-US" noProof="0" dirty="0"/>
              <a:t>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nchor="ct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Abstracting evaluation strategy and encoding for Cellular Automata</a:t>
            </a:r>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Subviews</a:t>
            </a:r>
            <a:endParaRPr lang="en-US" noProof="0" dirty="0"/>
          </a:p>
          <a:p>
            <a:pPr lvl="1"/>
            <a:r>
              <a:rPr lang="en-US" noProof="0" dirty="0">
                <a:sym typeface="Wingdings" panose="05000000000000000000" pitchFamily="2" charset="2"/>
              </a:rPr>
              <a:t>CuTe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6747-FA1D-0A89-B23F-652400CDBDA3}"/>
              </a:ext>
            </a:extLst>
          </p:cNvPr>
          <p:cNvSpPr>
            <a:spLocks noGrp="1"/>
          </p:cNvSpPr>
          <p:nvPr>
            <p:ph type="title"/>
          </p:nvPr>
        </p:nvSpPr>
        <p:spPr/>
        <p:txBody>
          <a:bodyPr/>
          <a:lstStyle/>
          <a:p>
            <a:r>
              <a:rPr lang="en-US" dirty="0"/>
              <a:t>State of the art summary and our novelty</a:t>
            </a:r>
          </a:p>
        </p:txBody>
      </p:sp>
      <p:sp>
        <p:nvSpPr>
          <p:cNvPr id="3" name="Content Placeholder 2">
            <a:extLst>
              <a:ext uri="{FF2B5EF4-FFF2-40B4-BE49-F238E27FC236}">
                <a16:creationId xmlns:a16="http://schemas.microsoft.com/office/drawing/2014/main" id="{8AC28D19-3293-E69A-8D0A-95CD64D09AD4}"/>
              </a:ext>
            </a:extLst>
          </p:cNvPr>
          <p:cNvSpPr>
            <a:spLocks noGrp="1"/>
          </p:cNvSpPr>
          <p:nvPr>
            <p:ph idx="1"/>
          </p:nvPr>
        </p:nvSpPr>
        <p:spPr/>
        <p:txBody>
          <a:bodyPr/>
          <a:lstStyle/>
          <a:p>
            <a:r>
              <a:rPr lang="en-US" dirty="0"/>
              <a:t>Layout abstractions</a:t>
            </a:r>
          </a:p>
          <a:p>
            <a:pPr lvl="1"/>
            <a:r>
              <a:rPr lang="en-US" dirty="0"/>
              <a:t>Kokkos Views for general use, </a:t>
            </a:r>
            <a:r>
              <a:rPr lang="en-US" dirty="0" err="1"/>
              <a:t>GridTools</a:t>
            </a:r>
            <a:r>
              <a:rPr lang="en-US" dirty="0"/>
              <a:t> for stencils</a:t>
            </a:r>
          </a:p>
          <a:p>
            <a:pPr lvl="1"/>
            <a:r>
              <a:rPr lang="en-US" dirty="0"/>
              <a:t>Both target CPU &amp; GPU</a:t>
            </a:r>
          </a:p>
          <a:p>
            <a:pPr lvl="1"/>
            <a:r>
              <a:rPr lang="en-US" dirty="0"/>
              <a:t>Both implement facilities for automatic parallelization, tiling (, halo exchange)</a:t>
            </a:r>
          </a:p>
          <a:p>
            <a:r>
              <a:rPr lang="en-US" dirty="0"/>
              <a:t>Alternative layout and traversal transformation, parallelization</a:t>
            </a:r>
          </a:p>
          <a:p>
            <a:pPr lvl="1"/>
            <a:r>
              <a:rPr lang="en-US" dirty="0"/>
              <a:t>Algorithm + schedule model: Halide, Tiramisu, Exo, OpenMP, …</a:t>
            </a:r>
          </a:p>
          <a:p>
            <a:pPr lvl="2"/>
            <a:r>
              <a:rPr lang="en-US" dirty="0"/>
              <a:t>Tools/frameworks that rely on (custom) compilation pipelines</a:t>
            </a:r>
          </a:p>
          <a:p>
            <a:pPr lvl="1"/>
            <a:r>
              <a:rPr lang="en-US" dirty="0"/>
              <a:t>Policy-based execution model: Kokkos, standard C++ algorithms</a:t>
            </a:r>
          </a:p>
          <a:p>
            <a:r>
              <a:rPr lang="en-US" dirty="0"/>
              <a:t>Novelty</a:t>
            </a:r>
          </a:p>
          <a:p>
            <a:pPr lvl="1"/>
            <a:r>
              <a:rPr lang="en-US" dirty="0"/>
              <a:t>Native C++ compositional approach with named dimensions (Noarr)</a:t>
            </a:r>
          </a:p>
          <a:p>
            <a:pPr lvl="1"/>
            <a:r>
              <a:rPr lang="en-US" dirty="0"/>
              <a:t>Sub-byte encoding and bitwise evaluation strategies (Cellato)</a:t>
            </a:r>
          </a:p>
        </p:txBody>
      </p:sp>
      <p:sp>
        <p:nvSpPr>
          <p:cNvPr id="4" name="Date Placeholder 3">
            <a:extLst>
              <a:ext uri="{FF2B5EF4-FFF2-40B4-BE49-F238E27FC236}">
                <a16:creationId xmlns:a16="http://schemas.microsoft.com/office/drawing/2014/main" id="{5C5A991F-3D47-EA5C-A204-1DEF76D41D0A}"/>
              </a:ext>
            </a:extLst>
          </p:cNvPr>
          <p:cNvSpPr>
            <a:spLocks noGrp="1"/>
          </p:cNvSpPr>
          <p:nvPr>
            <p:ph type="dt" sz="half" idx="10"/>
          </p:nvPr>
        </p:nvSpPr>
        <p:spPr/>
        <p:txBody>
          <a:bodyPr/>
          <a:lstStyle/>
          <a:p>
            <a:fld id="{358C28A6-2969-482E-9A3B-5E13FCD8DD03}" type="datetime1">
              <a:rPr lang="en-US" smtClean="0"/>
              <a:t>9/5/2026</a:t>
            </a:fld>
            <a:endParaRPr lang="en-US"/>
          </a:p>
        </p:txBody>
      </p:sp>
      <p:sp>
        <p:nvSpPr>
          <p:cNvPr id="5" name="Slide Number Placeholder 4">
            <a:extLst>
              <a:ext uri="{FF2B5EF4-FFF2-40B4-BE49-F238E27FC236}">
                <a16:creationId xmlns:a16="http://schemas.microsoft.com/office/drawing/2014/main" id="{38353882-5ADB-9DD8-85F7-D28B47129FA0}"/>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33952908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pic>
        <p:nvPicPr>
          <p:cNvPr id="7" name="Picture 6">
            <a:extLst>
              <a:ext uri="{FF2B5EF4-FFF2-40B4-BE49-F238E27FC236}">
                <a16:creationId xmlns:a16="http://schemas.microsoft.com/office/drawing/2014/main" id="{1C400F22-D6D2-9A75-14E4-C50B839EF947}"/>
              </a:ext>
            </a:extLst>
          </p:cNvPr>
          <p:cNvPicPr>
            <a:picLocks noChangeAspect="1"/>
          </p:cNvPicPr>
          <p:nvPr/>
        </p:nvPicPr>
        <p:blipFill>
          <a:blip r:embed="rId2"/>
          <a:stretch>
            <a:fillRect/>
          </a:stretch>
        </p:blipFill>
        <p:spPr>
          <a:xfrm>
            <a:off x="0" y="1529444"/>
            <a:ext cx="12192000" cy="3799111"/>
          </a:xfrm>
          <a:prstGeom prst="rect">
            <a:avLst/>
          </a:prstGeom>
        </p:spPr>
      </p:pic>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58C31-21B3-4C00-B5D8-7F093ABFEC3C}"/>
              </a:ext>
            </a:extLst>
          </p:cNvPr>
          <p:cNvSpPr>
            <a:spLocks noGrp="1"/>
          </p:cNvSpPr>
          <p:nvPr>
            <p:ph type="title"/>
          </p:nvPr>
        </p:nvSpPr>
        <p:spPr/>
        <p:txBody>
          <a:bodyPr/>
          <a:lstStyle/>
          <a:p>
            <a:r>
              <a:rPr lang="en-US" dirty="0"/>
              <a:t>Genuine limitations of Noarr and Cellato</a:t>
            </a:r>
          </a:p>
        </p:txBody>
      </p:sp>
      <p:sp>
        <p:nvSpPr>
          <p:cNvPr id="5" name="Content Placeholder 4">
            <a:extLst>
              <a:ext uri="{FF2B5EF4-FFF2-40B4-BE49-F238E27FC236}">
                <a16:creationId xmlns:a16="http://schemas.microsoft.com/office/drawing/2014/main" id="{8A184959-C556-48E5-BDD9-ED0CC2A4736A}"/>
              </a:ext>
            </a:extLst>
          </p:cNvPr>
          <p:cNvSpPr>
            <a:spLocks noGrp="1"/>
          </p:cNvSpPr>
          <p:nvPr>
            <p:ph idx="1"/>
          </p:nvPr>
        </p:nvSpPr>
        <p:spPr/>
        <p:txBody>
          <a:bodyPr anchor="ctr"/>
          <a:lstStyle/>
          <a:p>
            <a:r>
              <a:rPr lang="en-US" dirty="0"/>
              <a:t>Not paired with formal verification</a:t>
            </a:r>
          </a:p>
          <a:p>
            <a:r>
              <a:rPr lang="en-US" dirty="0"/>
              <a:t>Compilation time overhead</a:t>
            </a:r>
          </a:p>
          <a:p>
            <a:r>
              <a:rPr lang="en-US" dirty="0"/>
              <a:t>Template metaprogramming imposes some limitations</a:t>
            </a:r>
          </a:p>
          <a:p>
            <a:pPr lvl="1"/>
            <a:r>
              <a:rPr lang="en-US" dirty="0"/>
              <a:t>The syntax of the resulting DSLs may be awkward</a:t>
            </a:r>
          </a:p>
          <a:p>
            <a:pPr lvl="1"/>
            <a:r>
              <a:rPr lang="en-US" dirty="0"/>
              <a:t>Makes online tuning more costly compared to alternatives such as </a:t>
            </a:r>
            <a:r>
              <a:rPr lang="en-US" dirty="0" err="1"/>
              <a:t>mdspans</a:t>
            </a:r>
            <a:r>
              <a:rPr lang="en-US" dirty="0"/>
              <a:t> or Kokkos Views (recompilation)</a:t>
            </a:r>
          </a:p>
          <a:p>
            <a:r>
              <a:rPr lang="en-US" dirty="0"/>
              <a:t>Usability not supported by user studies</a:t>
            </a:r>
          </a:p>
        </p:txBody>
      </p:sp>
      <p:sp>
        <p:nvSpPr>
          <p:cNvPr id="3" name="Date Placeholder 2">
            <a:extLst>
              <a:ext uri="{FF2B5EF4-FFF2-40B4-BE49-F238E27FC236}">
                <a16:creationId xmlns:a16="http://schemas.microsoft.com/office/drawing/2014/main" id="{D76BAA40-3587-0EAB-97D0-C6C555DE4F28}"/>
              </a:ext>
            </a:extLst>
          </p:cNvPr>
          <p:cNvSpPr>
            <a:spLocks noGrp="1"/>
          </p:cNvSpPr>
          <p:nvPr>
            <p:ph type="dt" sz="half" idx="10"/>
          </p:nvPr>
        </p:nvSpPr>
        <p:spPr/>
        <p:txBody>
          <a:bodyPr/>
          <a:lstStyle/>
          <a:p>
            <a:fld id="{1AB26190-46ED-4A0C-A5E8-CDBCA5C2D5C3}" type="datetime1">
              <a:rPr lang="en-US" smtClean="0"/>
              <a:t>9/5/2026</a:t>
            </a:fld>
            <a:endParaRPr lang="en-US" dirty="0"/>
          </a:p>
        </p:txBody>
      </p:sp>
      <p:sp>
        <p:nvSpPr>
          <p:cNvPr id="4" name="Slide Number Placeholder 3">
            <a:extLst>
              <a:ext uri="{FF2B5EF4-FFF2-40B4-BE49-F238E27FC236}">
                <a16:creationId xmlns:a16="http://schemas.microsoft.com/office/drawing/2014/main" id="{FA0D4A39-443E-0EE9-F71D-F4A2060B2526}"/>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7078600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nchor="ctr"/>
          <a:lstStyle/>
          <a:p>
            <a:r>
              <a:rPr lang="en-US" noProof="0" dirty="0"/>
              <a:t>I do not </a:t>
            </a:r>
            <a:r>
              <a:rPr lang="en-US" noProof="0" dirty="0" err="1"/>
              <a:t>clai</a:t>
            </a:r>
            <a:r>
              <a:rPr lang="en-US" dirty="0"/>
              <a:t>m that templates are the only solution</a:t>
            </a:r>
          </a:p>
          <a:p>
            <a:r>
              <a:rPr lang="en-US" noProof="0" dirty="0"/>
              <a:t>We do not consider compilation pipeline extensions (e.g., compiler extensions) due to:</a:t>
            </a:r>
          </a:p>
          <a:p>
            <a:pPr lvl="1"/>
            <a:r>
              <a:rPr lang="en-US" noProof="0" dirty="0"/>
              <a:t>Such solutions hindering portability; reliance on external tools</a:t>
            </a:r>
          </a:p>
          <a:p>
            <a:pPr lvl="1"/>
            <a:r>
              <a:rPr lang="en-US" dirty="0"/>
              <a:t>Core research group focus and expertise</a:t>
            </a:r>
          </a:p>
          <a:p>
            <a:pPr lvl="1"/>
            <a:r>
              <a:rPr lang="en-US" noProof="0" dirty="0"/>
              <a:t>Research scope closely tied to algorithm design</a:t>
            </a:r>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nchor="ctr"/>
          <a:lstStyle/>
          <a:p>
            <a:r>
              <a:rPr lang="en-US" dirty="0"/>
              <a:t>Some generated Noarr layouts preserve syntactic order of dimensions rather than the semantic one (unintended layout transformations)</a:t>
            </a:r>
          </a:p>
          <a:p>
            <a:r>
              <a:rPr lang="en-US" noProof="0" dirty="0"/>
              <a:t>Halide was an awkward representation </a:t>
            </a:r>
            <a:r>
              <a:rPr lang="en-US" dirty="0"/>
              <a:t>for many algorithms</a:t>
            </a:r>
          </a:p>
          <a:p>
            <a:r>
              <a:rPr lang="en-US" noProof="0" dirty="0"/>
              <a:t>Hallucinated API</a:t>
            </a:r>
          </a:p>
          <a:p>
            <a:pPr lvl="1"/>
            <a:r>
              <a:rPr lang="en-US" noProof="0" dirty="0"/>
              <a:t>(mostly for Halide), the LLM considered more general function overloads</a:t>
            </a:r>
          </a:p>
          <a:p>
            <a:pPr lvl="1"/>
            <a:r>
              <a:rPr lang="en-US" dirty="0"/>
              <a:t>(mostly for Exo), the LLM failed to preserve expected invariants</a:t>
            </a:r>
          </a:p>
          <a:p>
            <a:pPr lvl="1"/>
            <a:r>
              <a:rPr lang="en-US" noProof="0" dirty="0"/>
              <a:t>(mostly for Noarr), the LLM made gen</a:t>
            </a:r>
            <a:r>
              <a:rPr lang="en-US" dirty="0" err="1"/>
              <a:t>uine</a:t>
            </a:r>
            <a:r>
              <a:rPr lang="en-US" dirty="0"/>
              <a:t> mistakes (e.g., replaced angle brackets with square brackets)</a:t>
            </a:r>
          </a:p>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9/5/2026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45</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9/5/2026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46</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7.9|11.1|5|8.8|10.1|10.9"/>
</p:tagLst>
</file>

<file path=ppt/tags/tag2.xml><?xml version="1.0" encoding="utf-8"?>
<p:tagLst xmlns:a="http://schemas.openxmlformats.org/drawingml/2006/main" xmlns:r="http://schemas.openxmlformats.org/officeDocument/2006/relationships" xmlns:p="http://schemas.openxmlformats.org/presentationml/2006/main">
  <p:tag name="TIMING" val="|33.7|26.9"/>
</p:tagLst>
</file>

<file path=ppt/tags/tag3.xml><?xml version="1.0" encoding="utf-8"?>
<p:tagLst xmlns:a="http://schemas.openxmlformats.org/drawingml/2006/main" xmlns:r="http://schemas.openxmlformats.org/officeDocument/2006/relationships" xmlns:p="http://schemas.openxmlformats.org/presentationml/2006/main">
  <p:tag name="TIMING" val="|19.8|4.8|7.2|11.1"/>
</p:tagLst>
</file>

<file path=ppt/tags/tag4.xml><?xml version="1.0" encoding="utf-8"?>
<p:tagLst xmlns:a="http://schemas.openxmlformats.org/drawingml/2006/main" xmlns:r="http://schemas.openxmlformats.org/officeDocument/2006/relationships" xmlns:p="http://schemas.openxmlformats.org/presentationml/2006/main">
  <p:tag name="TIMING" val="|18.2|40.5|7.7|6.6|24.4|29.2"/>
</p:tagLst>
</file>

<file path=ppt/tags/tag5.xml><?xml version="1.0" encoding="utf-8"?>
<p:tagLst xmlns:a="http://schemas.openxmlformats.org/drawingml/2006/main" xmlns:r="http://schemas.openxmlformats.org/officeDocument/2006/relationships" xmlns:p="http://schemas.openxmlformats.org/presentationml/2006/main">
  <p:tag name="TIMING" val="|47.9|45.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7865</TotalTime>
  <Words>5735</Words>
  <Application>Microsoft Office PowerPoint</Application>
  <PresentationFormat>Widescreen</PresentationFormat>
  <Paragraphs>888</Paragraphs>
  <Slides>46</Slides>
  <Notes>36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No measurable runtime overhead</vt:lpstr>
      <vt:lpstr>Parallel computation</vt:lpstr>
      <vt:lpstr>Code metrics</vt:lpstr>
      <vt:lpstr>Distributed initialization using MPI</vt:lpstr>
      <vt:lpstr>Automatic transformation in communication</vt:lpstr>
      <vt:lpstr>Support for layout-agnostic data distribution</vt:lpstr>
      <vt:lpstr>Performance comparison</vt:lpstr>
      <vt:lpstr>Stencil computation abstractions</vt:lpstr>
      <vt:lpstr>Discrete stencils – Cellular  automata</vt:lpstr>
      <vt:lpstr>PowerPoint Presentation</vt:lpstr>
      <vt:lpstr>What the design allows us to gain</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Performance results</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 If not, why?</vt:lpstr>
      <vt:lpstr>Can Noarr naturally incorporate #pragma omp simd or SIMD-aware traversers</vt:lpstr>
      <vt:lpstr>Novelty in layout- and traversal-agnosticism</vt:lpstr>
      <vt:lpstr>Which of these ideas can be found in software like Kokkos or OpenMP's loop transformations?</vt:lpstr>
      <vt:lpstr>State of the art summary and our novelty</vt:lpstr>
      <vt:lpstr>Comparison table</vt:lpstr>
      <vt:lpstr>Genuine limitations of Noarr and Cellato</vt:lpstr>
      <vt:lpstr>Template-exclusive statements</vt:lpstr>
      <vt:lpstr>Why did the abstractions hinder the LLM</vt:lpstr>
      <vt:lpstr>LLM-guided optimization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590</cp:revision>
  <dcterms:created xsi:type="dcterms:W3CDTF">2026-08-08T18:10:38Z</dcterms:created>
  <dcterms:modified xsi:type="dcterms:W3CDTF">2026-09-05T15:11:31Z</dcterms:modified>
</cp:coreProperties>
</file>