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7" r:id="rId36"/>
    <p:sldId id="328" r:id="rId37"/>
    <p:sldId id="331" r:id="rId38"/>
    <p:sldId id="329" r:id="rId39"/>
    <p:sldId id="330" r:id="rId40"/>
    <p:sldId id="320" r:id="rId41"/>
    <p:sldId id="318" r:id="rId42"/>
    <p:sldId id="319" r:id="rId43"/>
    <p:sldId id="317" r:id="rId44"/>
    <p:sldId id="32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C0C0"/>
    <a:srgbClr val="DC9696"/>
    <a:srgbClr val="CE9AC5"/>
    <a:srgbClr val="A3D29A"/>
    <a:srgbClr val="9ED0F2"/>
    <a:srgbClr val="FED97E"/>
    <a:srgbClr val="B8F6BC"/>
    <a:srgbClr val="EE9360"/>
    <a:srgbClr val="E96733"/>
    <a:srgbClr val="24A3D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76267" autoAdjust="0"/>
  </p:normalViewPr>
  <p:slideViewPr>
    <p:cSldViewPr snapToGrid="0">
      <p:cViewPr varScale="1">
        <p:scale>
          <a:sx n="66" d="100"/>
          <a:sy n="66" d="100"/>
        </p:scale>
        <p:origin x="72" y="197"/>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a:t>
            </a:r>
          </a:p>
          <a:p>
            <a:endParaRPr lang="en-US" dirty="0"/>
          </a:p>
          <a:p>
            <a:r>
              <a:rPr lang="en-US" dirty="0"/>
              <a:t>One of the main challenges: the best combination of data layouts and traversal orders may significantly speed up the application, but finding those often requires re-evaluating the algorithm with many different choices.</a:t>
            </a:r>
          </a:p>
          <a:p>
            <a:endParaRPr lang="en-US" dirty="0"/>
          </a:p>
          <a:p>
            <a:r>
              <a:rPr lang="en-US" dirty="0"/>
              <a:t>My research involves two approaches to reducing the effort for algorithm developers:</a:t>
            </a:r>
          </a:p>
          <a:p>
            <a:pPr marL="171450" indent="-171450">
              <a:buFontTx/>
              <a:buChar char="-"/>
            </a:pPr>
            <a:r>
              <a:rPr lang="en-US" dirty="0"/>
              <a:t>the first uses C++ abstractions to separate these choices from the algorithm</a:t>
            </a:r>
          </a:p>
          <a:p>
            <a:pPr marL="171450" indent="-171450">
              <a:buFontTx/>
              <a:buChar char="-"/>
            </a:pPr>
            <a:r>
              <a:rPr lang="en-US" dirty="0"/>
              <a:t>while the second uses LLMs to explore broader redesigns</a:t>
            </a:r>
          </a:p>
          <a:p>
            <a:endParaRPr lang="en-US" dirty="0"/>
          </a:p>
          <a:p>
            <a:r>
              <a:rPr lang="en-US" dirty="0"/>
              <a:t>We have then combined the two approaches.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9/4/2026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9/4/2026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9/4/2026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9/4/2026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9/4/2026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9/4/2026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9/4/2026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9/4/2026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9/4/2026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9/4/2026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9/4/2026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9/4/2026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1.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4.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15.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39.svg"/></Relationships>
</file>

<file path=ppt/slides/_rels/slide20.xml.rels><?xml version="1.0" encoding="UTF-8" standalone="yes"?>
<Relationships xmlns="http://schemas.openxmlformats.org/package/2006/relationships"><Relationship Id="rId3" Type="http://schemas.openxmlformats.org/officeDocument/2006/relationships/image" Target="../media/image47.gif"/><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52.png"/><Relationship Id="rId4" Type="http://schemas.openxmlformats.org/officeDocument/2006/relationships/image" Target="../media/image47.gif"/></Relationships>
</file>

<file path=ppt/slides/_rels/slide2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54.png"/></Relationships>
</file>

<file path=ppt/slides/_rels/slide2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64.svg"/><Relationship Id="rId3" Type="http://schemas.openxmlformats.org/officeDocument/2006/relationships/image" Target="../media/image59.svg"/><Relationship Id="rId7" Type="http://schemas.openxmlformats.org/officeDocument/2006/relationships/image" Target="../media/image63.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62.svg"/><Relationship Id="rId5" Type="http://schemas.openxmlformats.org/officeDocument/2006/relationships/image" Target="../media/image61.svg"/><Relationship Id="rId4" Type="http://schemas.openxmlformats.org/officeDocument/2006/relationships/image" Target="../media/image60.svg"/><Relationship Id="rId9" Type="http://schemas.openxmlformats.org/officeDocument/2006/relationships/image" Target="../media/image65.svg"/></Relationships>
</file>

<file path=ppt/slides/_rels/slide3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9/4/2026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b="1" noProof="0" dirty="0"/>
              <a:t>Right memory layouts</a:t>
            </a:r>
            <a:r>
              <a:rPr lang="en-US" noProof="0" dirty="0"/>
              <a:t> and </a:t>
            </a:r>
            <a:r>
              <a:rPr lang="en-US" b="1" noProof="0" dirty="0"/>
              <a:t>traversal orders</a:t>
            </a:r>
            <a:r>
              <a:rPr lang="en-US" noProof="0" dirty="0"/>
              <a:t> </a:t>
            </a:r>
            <a:r>
              <a:rPr lang="en-US" noProof="0" dirty="0">
                <a:sym typeface="Wingdings" panose="05000000000000000000" pitchFamily="2" charset="2"/>
              </a:rPr>
              <a:t> </a:t>
            </a:r>
            <a:r>
              <a:rPr lang="en-US" b="1" noProof="0" dirty="0"/>
              <a:t>speedup</a:t>
            </a:r>
          </a:p>
          <a:p>
            <a:pPr lvl="1"/>
            <a:r>
              <a:rPr lang="en-US" noProof="0" dirty="0"/>
              <a:t>Many re-evaluations of the algorithm</a:t>
            </a:r>
          </a:p>
          <a:p>
            <a:pPr marL="0" indent="0">
              <a:buNone/>
            </a:pPr>
            <a:endParaRPr lang="en-US" noProof="0" dirty="0"/>
          </a:p>
          <a:p>
            <a:pPr marL="0" indent="0">
              <a:buNone/>
            </a:pPr>
            <a:endParaRPr lang="en-US" dirty="0"/>
          </a:p>
          <a:p>
            <a:pPr marL="0" indent="0">
              <a:buNone/>
            </a:pPr>
            <a:endParaRPr lang="en-US" noProof="0" dirty="0"/>
          </a:p>
          <a:p>
            <a:r>
              <a:rPr lang="en-US" noProof="0" dirty="0"/>
              <a:t>C++ abstractions for decoupling layouts and traversals</a:t>
            </a:r>
          </a:p>
          <a:p>
            <a:r>
              <a:rPr lang="en-US" noProof="0" dirty="0"/>
              <a:t>LLM for exploring broader redesigns</a:t>
            </a:r>
          </a:p>
          <a:p>
            <a:r>
              <a:rPr lang="en-US" noProof="0" dirty="0"/>
              <a:t>Combination of the two approaches</a:t>
            </a:r>
          </a:p>
          <a:p>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442300" y="385801"/>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698406" y="2270790"/>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10526" r="-2397"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9/4/2026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196307" y="6015783"/>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97586" y="6008831"/>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564049" y="6008831"/>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5871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72161"/>
            <a:ext cx="139683" cy="1325562"/>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37352" y="2528271"/>
            <a:ext cx="2972352" cy="461665"/>
          </a:xfrm>
          <a:prstGeom prst="rect">
            <a:avLst/>
          </a:prstGeom>
          <a:noFill/>
        </p:spPr>
        <p:txBody>
          <a:bodyPr wrap="none" rtlCol="0">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9/4/2026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08498" y="4409098"/>
            <a:ext cx="2794804" cy="400110"/>
          </a:xfrm>
          <a:prstGeom prst="rect">
            <a:avLst/>
          </a:prstGeom>
          <a:noFill/>
        </p:spPr>
        <p:txBody>
          <a:bodyPr wrap="none" rtlCol="0">
            <a:spAutoFit/>
          </a:bodyPr>
          <a:lstStyle/>
          <a:p>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9/4/2026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078241" y="1168157"/>
            <a:ext cx="6293711" cy="461665"/>
          </a:xfrm>
          <a:prstGeom prst="rect">
            <a:avLst/>
          </a:prstGeom>
          <a:noFill/>
        </p:spPr>
        <p:txBody>
          <a:bodyPr wrap="none" rtlCol="0">
            <a:spAutoFit/>
          </a:bodyPr>
          <a:lstStyle/>
          <a:p>
            <a:pPr algn="ctr"/>
            <a:r>
              <a:rPr lang="en-US" sz="2400" noProof="0" dirty="0"/>
              <a:t>Composition of building blocks in native C++</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9/4/2026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9507369" y="4863917"/>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9507368" y="5696546"/>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9507368" y="5282662"/>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4670207" y="4968551"/>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207758" y="4968551"/>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3754840" y="4968550"/>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9/4/2026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130185"/>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903756" y="2539951"/>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167618" y="4896732"/>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494264" y="3240196"/>
            <a:ext cx="884711" cy="242836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F67E973-44FE-CE64-80EC-471D1B6AA36F}"/>
                  </a:ext>
                </a:extLst>
              </p:cNvPr>
              <p:cNvSpPr txBox="1"/>
              <p:nvPr/>
            </p:nvSpPr>
            <p:spPr>
              <a:xfrm>
                <a:off x="9434344" y="4768624"/>
                <a:ext cx="1508618"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xmlns="">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9434344" y="4768624"/>
                <a:ext cx="1508618" cy="1384995"/>
              </a:xfrm>
              <a:prstGeom prst="rect">
                <a:avLst/>
              </a:prstGeom>
              <a:blipFill>
                <a:blip r:embed="rId12"/>
                <a:stretch>
                  <a:fillRect l="-8502"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988171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1052422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10422621" y="5290869"/>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220183" y="3337117"/>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133789" y="5815082"/>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9/4/2026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9/4/2026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4663797" y="324095"/>
            <a:ext cx="7413728" cy="3779548"/>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10787153" y="615816"/>
            <a:ext cx="1069007" cy="89796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10787153" y="2033964"/>
            <a:ext cx="1069007" cy="273304"/>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10787153" y="2957491"/>
            <a:ext cx="1069007" cy="666528"/>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10787153" y="3528954"/>
            <a:ext cx="1069007" cy="666528"/>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noProof="0"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6">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265910" y="3041847"/>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783354" y="256575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5808330" y="53239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a:t>
            </a:r>
            <a:r>
              <a:rPr lang="en-US" b="1" noProof="0" dirty="0" err="1"/>
              <a:t>Layout</a:t>
            </a:r>
            <a:r>
              <a:rPr lang="en-US" b="1" noProof="0" dirty="0" err="1">
                <a:sym typeface="Wingdings" panose="05000000000000000000" pitchFamily="2" charset="2"/>
              </a:rPr>
              <a:t>MPI</a:t>
            </a:r>
            <a:r>
              <a:rPr lang="en-US" b="1" noProof="0" dirty="0">
                <a:sym typeface="Wingdings" panose="05000000000000000000" pitchFamily="2" charset="2"/>
              </a:rPr>
              <a:t> datatype</a:t>
            </a:r>
            <a:r>
              <a:rPr lang="en-US" noProof="0" dirty="0">
                <a:sym typeface="Wingdings" panose="05000000000000000000" pitchFamily="2" charset="2"/>
              </a:rPr>
              <a:t>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018254" y="2935084"/>
            <a:ext cx="9018718" cy="216764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5657637" y="5693269"/>
            <a:ext cx="5454024" cy="428707"/>
          </a:xfrm>
          <a:prstGeom prst="rect">
            <a:avLst/>
          </a:prstGeom>
          <a:noFill/>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gather</a:t>
            </a:r>
            <a:r>
              <a:rPr lang="en-US" sz="2000" b="0" noProof="0" dirty="0">
                <a:solidFill>
                  <a:srgbClr val="000000"/>
                </a:solidFill>
                <a:effectLst/>
                <a:latin typeface="Fira Code" panose="020B0809050000020004" pitchFamily="49" charset="0"/>
              </a:rPr>
              <a:t>(</a:t>
            </a:r>
            <a:r>
              <a:rPr lang="en-US" sz="2000" noProof="0" dirty="0">
                <a:solidFill>
                  <a:srgbClr val="0070C1"/>
                </a:solidFill>
                <a:latin typeface="Fira Code" panose="020B0809050000020004" pitchFamily="49" charset="0"/>
              </a:rPr>
              <a:t>Tile</a:t>
            </a:r>
            <a:r>
              <a:rPr lang="en-US" sz="2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Data</a:t>
            </a:r>
            <a:r>
              <a:rPr lang="en-US" sz="2000" noProof="0" dirty="0">
                <a:solidFill>
                  <a:srgbClr val="000000"/>
                </a:solidFill>
                <a:latin typeface="Fira Code" panose="020B0809050000020004" pitchFamily="49" charset="0"/>
              </a:rPr>
              <a:t>, </a:t>
            </a:r>
            <a:r>
              <a:rPr lang="en-US" sz="2000" b="0" noProof="0" dirty="0">
                <a:solidFill>
                  <a:srgbClr val="0070C1"/>
                </a:solidFill>
                <a:effectLst/>
                <a:latin typeface="Fira Code" panose="020B0809050000020004" pitchFamily="49" charset="0"/>
              </a:rPr>
              <a:t>root</a:t>
            </a:r>
            <a:r>
              <a:rPr lang="en-US" sz="2000" b="0" noProof="0" dirty="0">
                <a:solidFill>
                  <a:srgbClr val="000000"/>
                </a:solidFill>
                <a:effectLst/>
                <a:latin typeface="Fira Code" panose="020B0809050000020004" pitchFamily="49" charset="0"/>
              </a:rPr>
              <a:t>, </a:t>
            </a:r>
            <a:r>
              <a:rPr lang="en-US" sz="2000" noProof="0" dirty="0" err="1">
                <a:solidFill>
                  <a:srgbClr val="001080"/>
                </a:solidFill>
                <a:latin typeface="Fira Code" panose="020B0809050000020004" pitchFamily="49" charset="0"/>
              </a:rPr>
              <a:t>MPItrav</a:t>
            </a:r>
            <a:r>
              <a:rPr lang="en-US" sz="2000"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286642" y="3598507"/>
            <a:ext cx="196012" cy="522578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650758" y="6300823"/>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684016" y="3049108"/>
            <a:ext cx="153563" cy="3067050"/>
          </a:xfrm>
          <a:prstGeom prst="rightBrace">
            <a:avLst>
              <a:gd name="adj1" fmla="val 8333"/>
              <a:gd name="adj2" fmla="val 72774"/>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783414" y="5102729"/>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783414" y="5102729"/>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018253" y="2935084"/>
            <a:ext cx="5416868" cy="2167645"/>
          </a:xfrm>
          <a:prstGeom prst="rect">
            <a:avLst/>
          </a:prstGeom>
          <a:noFill/>
        </p:spPr>
        <p:txBody>
          <a:bodyPr wrap="none">
            <a:noAutofit/>
          </a:bodyPr>
          <a:lstStyle/>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r>
              <a:rPr lang="en-US" sz="2000" noProof="0" dirty="0">
                <a:solidFill>
                  <a:srgbClr val="267F99"/>
                </a:solidFill>
                <a:latin typeface="Fira Code" panose="020B0809050000020004" pitchFamily="49" charset="0"/>
              </a:rPr>
              <a:t>auto Tile</a:t>
            </a:r>
            <a:r>
              <a:rPr lang="en-US" sz="2000" noProof="0" dirty="0">
                <a:solidFill>
                  <a:srgbClr val="000000"/>
                </a:solidFill>
                <a:latin typeface="Fira Code" panose="020B0809050000020004" pitchFamily="49" charset="0"/>
              </a:rPr>
              <a:t> = …</a:t>
            </a:r>
          </a:p>
          <a:p>
            <a:pPr>
              <a:lnSpc>
                <a:spcPct val="113095"/>
              </a:lnSpc>
              <a:buNone/>
            </a:pPr>
            <a:r>
              <a:rPr lang="en-US" sz="2000" b="0" noProof="0" dirty="0" err="1">
                <a:solidFill>
                  <a:srgbClr val="001080"/>
                </a:solidFill>
                <a:effectLst/>
                <a:latin typeface="Fira Code" panose="020B0809050000020004" pitchFamily="49" charset="0"/>
              </a:rPr>
              <a:t>MPItrav</a:t>
            </a:r>
            <a:r>
              <a:rPr lang="en-US" sz="2000" noProof="0" dirty="0" err="1">
                <a:solidFill>
                  <a:srgbClr val="000000"/>
                </a:solidFill>
                <a:latin typeface="Fira Code" panose="020B0809050000020004" pitchFamily="49" charset="0"/>
              </a:rPr>
              <a:t>.</a:t>
            </a:r>
            <a:r>
              <a:rPr lang="en-US" sz="2000" noProof="0" dirty="0" err="1">
                <a:solidFill>
                  <a:srgbClr val="795E26"/>
                </a:solidFill>
                <a:latin typeface="Fira Code" panose="020B0809050000020004" pitchFamily="49" charset="0"/>
              </a:rPr>
              <a:t>for_each</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Tile</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917939" y="1053229"/>
            <a:ext cx="2359365" cy="369332"/>
          </a:xfrm>
          <a:prstGeom prst="rect">
            <a:avLst/>
          </a:prstGeom>
          <a:noFill/>
        </p:spPr>
        <p:txBody>
          <a:bodyPr wrap="none" rtlCol="0">
            <a:spAutoFit/>
          </a:bodyPr>
          <a:lstStyle/>
          <a:p>
            <a:pPr algn="ctr"/>
            <a:r>
              <a:rPr lang="en-US" noProof="0"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1" grpId="0"/>
      <p:bldP spid="25" grpId="0" animBg="1"/>
      <p:bldP spid="45" grpId="0"/>
      <p:bldP spid="54" grpId="0" animBg="1"/>
      <p:bldP spid="5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9/4/2026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l"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l"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0" y="1646281"/>
            <a:ext cx="12192000" cy="3565438"/>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noProof="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noProof="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noProof="0" dirty="0"/>
              <a:t>Discrete cell state space</a:t>
            </a:r>
          </a:p>
        </p:txBody>
      </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341656"/>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Implement</a:t>
            </a:r>
            <a:br>
              <a:rPr lang="en-US" sz="2800" noProof="0" dirty="0"/>
            </a:br>
            <a:r>
              <a:rPr lang="en-US" sz="28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3141445"/>
            <a:ext cx="1" cy="420409"/>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127887" y="1662709"/>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nvSpPr>
        <p:spPr>
          <a:xfrm>
            <a:off x="347241" y="2476102"/>
            <a:ext cx="1226618" cy="369332"/>
          </a:xfrm>
          <a:prstGeom prst="rect">
            <a:avLst/>
          </a:prstGeom>
          <a:noFill/>
        </p:spPr>
        <p:txBody>
          <a:bodyPr wrap="none" rtlCol="0">
            <a:spAutoFit/>
          </a:bodyPr>
          <a:lstStyle/>
          <a:p>
            <a:r>
              <a:rPr lang="en-US" dirty="0" err="1">
                <a:solidFill>
                  <a:srgbClr val="FF0000"/>
                </a:solidFill>
              </a:rPr>
              <a:t>Polybench</a:t>
            </a:r>
            <a:endParaRPr lang="en-US" dirty="0">
              <a:solidFill>
                <a:srgbClr val="FF0000"/>
              </a:solidFill>
            </a:endParaRP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339265" y="513594"/>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1191511">
            <a:off x="2651177" y="1663874"/>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10745" y="3001049"/>
            <a:ext cx="372564" cy="372564"/>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559685" y="3096948"/>
            <a:ext cx="556077" cy="556077"/>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091723" y="2016599"/>
            <a:ext cx="556077" cy="556077"/>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966156" y="4060894"/>
            <a:ext cx="556077" cy="556077"/>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01745" y="4844370"/>
            <a:ext cx="556077" cy="556077"/>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983599" y="2059326"/>
            <a:ext cx="556077" cy="556077"/>
          </a:xfrm>
          <a:prstGeom prst="rect">
            <a:avLst/>
          </a:prstGeom>
        </p:spPr>
      </p:pic>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051994" y="3031859"/>
            <a:ext cx="556077" cy="556077"/>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4038843" y="3156803"/>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34891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7.9|11.1|5|8.8|10.1|10.9"/>
</p:tagLst>
</file>

<file path=ppt/tags/tag2.xml><?xml version="1.0" encoding="utf-8"?>
<p:tagLst xmlns:a="http://schemas.openxmlformats.org/drawingml/2006/main" xmlns:r="http://schemas.openxmlformats.org/officeDocument/2006/relationships" xmlns:p="http://schemas.openxmlformats.org/presentationml/2006/main">
  <p:tag name="TIMING" val="|33.7|26.9"/>
</p:tagLst>
</file>

<file path=ppt/tags/tag3.xml><?xml version="1.0" encoding="utf-8"?>
<p:tagLst xmlns:a="http://schemas.openxmlformats.org/drawingml/2006/main" xmlns:r="http://schemas.openxmlformats.org/officeDocument/2006/relationships" xmlns:p="http://schemas.openxmlformats.org/presentationml/2006/main">
  <p:tag name="TIMING" val="|19.8|4.8|7.2|11.1"/>
</p:tagLst>
</file>

<file path=ppt/tags/tag4.xml><?xml version="1.0" encoding="utf-8"?>
<p:tagLst xmlns:a="http://schemas.openxmlformats.org/drawingml/2006/main" xmlns:r="http://schemas.openxmlformats.org/officeDocument/2006/relationships" xmlns:p="http://schemas.openxmlformats.org/presentationml/2006/main">
  <p:tag name="TIMING" val="|18.2|40.5|7.7|6.6|24.4|29.2"/>
</p:tagLst>
</file>

<file path=ppt/tags/tag5.xml><?xml version="1.0" encoding="utf-8"?>
<p:tagLst xmlns:a="http://schemas.openxmlformats.org/drawingml/2006/main" xmlns:r="http://schemas.openxmlformats.org/officeDocument/2006/relationships" xmlns:p="http://schemas.openxmlformats.org/presentationml/2006/main">
  <p:tag name="TIMING" val="|47.9|45.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7404</TotalTime>
  <Words>5768</Words>
  <Application>Microsoft Office PowerPoint</Application>
  <PresentationFormat>Widescreen</PresentationFormat>
  <Paragraphs>873</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Performance</vt:lpstr>
      <vt:lpstr>Performance</vt:lpstr>
      <vt:lpstr>Code metrics</vt:lpstr>
      <vt:lpstr>Distributed initialization using MPI</vt:lpstr>
      <vt:lpstr>Automatic transformation in communication</vt:lpstr>
      <vt:lpstr>Support for layout-agnostic data distribution</vt:lpstr>
      <vt:lpstr>Performance comparison</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516</cp:revision>
  <dcterms:created xsi:type="dcterms:W3CDTF">2026-08-08T18:10:38Z</dcterms:created>
  <dcterms:modified xsi:type="dcterms:W3CDTF">2026-09-04T12:44:08Z</dcterms:modified>
</cp:coreProperties>
</file>