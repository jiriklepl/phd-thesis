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0" r:id="rId36"/>
    <p:sldId id="318" r:id="rId37"/>
    <p:sldId id="319" r:id="rId38"/>
    <p:sldId id="317" r:id="rId39"/>
    <p:sldId id="321"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1717"/>
    <a:srgbClr val="969696"/>
    <a:srgbClr val="B2B2B2"/>
    <a:srgbClr val="DAE8FC"/>
    <a:srgbClr val="91C5EC"/>
    <a:srgbClr val="90C5EC"/>
    <a:srgbClr val="A12B2B"/>
    <a:srgbClr val="DC9494"/>
    <a:srgbClr val="D08888"/>
    <a:srgbClr val="D0707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6267" autoAdjust="0"/>
  </p:normalViewPr>
  <p:slideViewPr>
    <p:cSldViewPr snapToGrid="0">
      <p:cViewPr>
        <p:scale>
          <a:sx n="100" d="100"/>
          <a:sy n="100" d="100"/>
        </p:scale>
        <p:origin x="3780" y="55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I’d like to present my research, which focuses on simplifying algorithm design and optimizing memory access patterns in high-performance computing applications.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In this area, many algorithms operate on large multidimensional data through nested loops, which can be rearranged without changing the functionality.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studies two ways to reduce the effort. The first uses C++ abstractions to separate these choices from the algorithm, while the second uses LLMs to explore broader redesigns. We also study whether combining the two helps.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enabling *layout-agnostic* design of algorithms, which minimizes reliance on specific memory layouts of the data structures.</a:t>
            </a:r>
            <a:br>
              <a:rPr lang="en-US" dirty="0"/>
            </a:br>
            <a:r>
              <a:rPr lang="en-US" dirty="0"/>
              <a:t>Using the same matrix initialization example, it accesses the matrix using a two-dimensional *logical structure* of the appropriate dimensions, while the specific physical *memory layout* is decoupled from the algorithm design.</a:t>
            </a:r>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 It is handled natively by C++ templates to ensure portability and minimal runtime overhead.</a:t>
            </a:r>
          </a:p>
          <a:p>
            <a:endParaRPr lang="en-US" dirty="0"/>
          </a:p>
          <a:p>
            <a:r>
              <a:rPr lang="en-US" dirty="0"/>
              <a:t>By iteratively composing these building blocks, we can define a wide variety of derived data structures.</a:t>
            </a:r>
          </a:p>
          <a:p>
            <a:r>
              <a:rPr lang="en-US" dirty="0"/>
              <a:t>All dimensions are named, and they specify the semantic </a:t>
            </a:r>
            <a:r>
              <a:rPr lang="cs-CZ" dirty="0"/>
              <a:t>index </a:t>
            </a:r>
            <a:r>
              <a:rPr lang="cs-CZ" dirty="0" err="1"/>
              <a:t>space</a:t>
            </a:r>
            <a:r>
              <a:rPr lang="cs-CZ" dirty="0"/>
              <a:t> </a:t>
            </a:r>
            <a:r>
              <a:rPr lang="en-US" dirty="0"/>
              <a:t>of the layout, providing a predictable API.</a:t>
            </a:r>
          </a:p>
          <a:p>
            <a:endParaRPr lang="en-US" dirty="0"/>
          </a:p>
          <a:p>
            <a:r>
              <a:rPr lang="en-US" dirty="0"/>
              <a:t>A data structure with dimensions ‘m’ and ‘n’ can be indexed with an index point with the appropriate dimensions.</a:t>
            </a:r>
          </a:p>
          <a:p>
            <a:r>
              <a:rPr lang="en-US" dirty="0"/>
              <a:t>The encoded dimension names ensure that the indices will be paired with the dimensions of the structure correctly.</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r>
              <a:rPr lang="en-US" dirty="0"/>
              <a:t>If we require the </a:t>
            </a:r>
            <a:r>
              <a:rPr lang="cs-CZ" dirty="0"/>
              <a:t>data </a:t>
            </a:r>
            <a:r>
              <a:rPr lang="en-US" dirty="0"/>
              <a:t>to reside in a</a:t>
            </a:r>
            <a:r>
              <a:rPr lang="cs-CZ" dirty="0"/>
              <a:t> </a:t>
            </a:r>
            <a:r>
              <a:rPr lang="cs-CZ" dirty="0" err="1"/>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logical structure.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introducing abstraction for traversal-agnostic algorithms – traversers)</a:t>
            </a:r>
            <a:br>
              <a:rPr lang="en-US" dirty="0"/>
            </a:br>
            <a:br>
              <a:rPr lang="en-US" dirty="0"/>
            </a:br>
            <a:r>
              <a:rPr lang="en-US" dirty="0"/>
              <a:t>(with bridge: which enables traversal-agnostic design)</a:t>
            </a:r>
          </a:p>
          <a:p>
            <a:r>
              <a:rPr lang="en-US" dirty="0"/>
              <a:t>(without bridge: 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structures use different physical layouts, the same algorithm automatically converts between the layouts while preserving the logical structure.</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a:t>
            </a:r>
          </a:p>
          <a:p>
            <a:endParaRPr lang="en-US" dirty="0"/>
          </a:p>
          <a:p>
            <a:r>
              <a:rPr lang="en-US" dirty="0"/>
              <a:t>In code, it can be expressed as a three-dimensional loop nest.</a:t>
            </a:r>
          </a:p>
          <a:p>
            <a:r>
              <a:rPr lang="en-US" dirty="0"/>
              <a:t>We can define the same three loops by simply using the traverser.</a:t>
            </a:r>
          </a:p>
          <a:p>
            <a:endParaRPr lang="en-US" dirty="0"/>
          </a:p>
          <a:p>
            <a:r>
              <a:rPr lang="en-US" dirty="0"/>
              <a:t>It extracts the dimensions from the provided data structures and</a:t>
            </a:r>
            <a:br>
              <a:rPr lang="en-US" dirty="0"/>
            </a:br>
            <a:r>
              <a:rPr lang="en-US" dirty="0"/>
              <a:t>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an unnecessary amount of boilerplate definitions and communication specifications that are difficult to maintain and prone to mistakes.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r>
              <a:rPr lang="en-US" dirty="0"/>
              <a:t>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shared logical structure.</a:t>
            </a:r>
          </a:p>
          <a:p>
            <a:r>
              <a:rPr lang="en-US" dirty="0"/>
              <a:t>If such communication was done naively, the data could be corrupted by wrongfully following the physical layout instead of the intended logical structure.</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a:t>
            </a:r>
            <a:r>
              <a:rPr lang="en-US"/>
              <a:t>the higher </a:t>
            </a:r>
            <a:r>
              <a:rPr lang="en-US" dirty="0"/>
              <a:t>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9/2/2026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9/2/2026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9/2/2026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9/2/2026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9/2/2026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9/2/2026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9/2/2026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9/2/2026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9/2/2026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9/2/2026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notesSlide" Target="../notesSlides/notesSlide4.xml"/><Relationship Id="rId7" Type="http://schemas.openxmlformats.org/officeDocument/2006/relationships/image" Target="../media/image12.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4.pn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42.png"/><Relationship Id="rId4" Type="http://schemas.openxmlformats.org/officeDocument/2006/relationships/image" Target="../media/image41.png"/></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 Id="rId9" Type="http://schemas.openxmlformats.org/officeDocument/2006/relationships/image" Target="../media/image5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55.png"/><Relationship Id="rId4" Type="http://schemas.openxmlformats.org/officeDocument/2006/relationships/image" Target="../media/image54.svg"/></Relationships>
</file>

<file path=ppt/slides/_rels/slide20.xml.rels><?xml version="1.0" encoding="UTF-8" standalone="yes"?>
<Relationships xmlns="http://schemas.openxmlformats.org/package/2006/relationships"><Relationship Id="rId3" Type="http://schemas.openxmlformats.org/officeDocument/2006/relationships/image" Target="../media/image56.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58.jpeg"/><Relationship Id="rId4" Type="http://schemas.openxmlformats.org/officeDocument/2006/relationships/image" Target="../media/image57.png"/></Relationships>
</file>

<file path=ppt/slides/_rels/slide2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63.png"/><Relationship Id="rId4" Type="http://schemas.openxmlformats.org/officeDocument/2006/relationships/image" Target="../media/image56.gif"/></Relationships>
</file>

<file path=ppt/slides/_rels/slide2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65.png"/></Relationships>
</file>

<file path=ppt/slides/_rels/slide2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6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75.svg"/><Relationship Id="rId3" Type="http://schemas.openxmlformats.org/officeDocument/2006/relationships/image" Target="../media/image70.svg"/><Relationship Id="rId7" Type="http://schemas.openxmlformats.org/officeDocument/2006/relationships/image" Target="../media/image74.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73.svg"/><Relationship Id="rId5" Type="http://schemas.openxmlformats.org/officeDocument/2006/relationships/image" Target="../media/image72.svg"/><Relationship Id="rId10" Type="http://schemas.openxmlformats.org/officeDocument/2006/relationships/image" Target="../media/image77.svg"/><Relationship Id="rId4" Type="http://schemas.openxmlformats.org/officeDocument/2006/relationships/image" Target="../media/image71.svg"/><Relationship Id="rId9" Type="http://schemas.openxmlformats.org/officeDocument/2006/relationships/image" Target="../media/image76.svg"/></Relationships>
</file>

<file path=ppt/slides/_rels/slide3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dirty="0"/>
              <a:t>Rearranging data layouts and loops</a:t>
            </a:r>
          </a:p>
          <a:p>
            <a:pPr lvl="1"/>
            <a:r>
              <a:rPr lang="en-US" b="1" dirty="0"/>
              <a:t>Right memory layouts</a:t>
            </a:r>
            <a:r>
              <a:rPr lang="en-US" dirty="0"/>
              <a:t> and </a:t>
            </a:r>
            <a:r>
              <a:rPr lang="en-US" b="1" dirty="0"/>
              <a:t>traversal orders</a:t>
            </a:r>
            <a:r>
              <a:rPr lang="en-US" dirty="0"/>
              <a:t> </a:t>
            </a:r>
            <a:r>
              <a:rPr lang="en-US" dirty="0">
                <a:sym typeface="Wingdings" panose="05000000000000000000" pitchFamily="2" charset="2"/>
              </a:rPr>
              <a:t> </a:t>
            </a:r>
            <a:r>
              <a:rPr lang="en-US" b="1" dirty="0"/>
              <a:t>speedup</a:t>
            </a:r>
          </a:p>
          <a:p>
            <a:r>
              <a:rPr lang="en-US" dirty="0"/>
              <a:t>Trial-and-error evaluation of many different choices</a:t>
            </a:r>
          </a:p>
          <a:p>
            <a:endParaRPr lang="en-US" dirty="0"/>
          </a:p>
          <a:p>
            <a:r>
              <a:rPr lang="en-US" dirty="0"/>
              <a:t>Decoupling layouts and traversals</a:t>
            </a:r>
          </a:p>
          <a:p>
            <a:r>
              <a:rPr lang="en-US" dirty="0"/>
              <a:t>LLM-guided optimization for broader redesigns</a:t>
            </a:r>
          </a:p>
          <a:p>
            <a:r>
              <a:rPr lang="en-US" dirty="0"/>
              <a:t>Does combining the approaches lead to improvement?</a:t>
            </a:r>
          </a:p>
          <a:p>
            <a:endParaRPr lang="en-US"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765493" y="632847"/>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950655" y="2887445"/>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matrix initialization</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3253048" y="2638676"/>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7687138" y="2590710"/>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596543"/>
                <a:ext cx="8184164" cy="461665"/>
              </a:xfrm>
              <a:prstGeom prst="rect">
                <a:avLst/>
              </a:prstGeom>
              <a:noFill/>
            </p:spPr>
            <p:txBody>
              <a:bodyPr wrap="none" rtlCol="0">
                <a:spAutoFit/>
              </a:bodyPr>
              <a:lstStyle/>
              <a:p>
                <a:pPr algn="ctr"/>
                <a14:m>
                  <m:oMath xmlns:m="http://schemas.openxmlformats.org/officeDocument/2006/math">
                    <m:r>
                      <a:rPr lang="en-US" sz="2400" b="0" i="1" noProof="0" smtClean="0"/>
                      <m:t>𝑚</m:t>
                    </m:r>
                    <m:r>
                      <a:rPr lang="en-US" sz="2400" b="0" i="1" noProof="0" smtClean="0"/>
                      <m:t>×</m:t>
                    </m:r>
                    <m:r>
                      <a:rPr lang="en-US" sz="2400" b="0" i="1" noProof="0" smtClean="0"/>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596543"/>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715811" y="5095855"/>
            <a:ext cx="6618514" cy="1330685"/>
          </a:xfrm>
          <a:prstGeom prst="rect">
            <a:avLst/>
          </a:prstGeom>
          <a:noFill/>
          <a:ln>
            <a:solidFill>
              <a:schemeClr val="tx1"/>
            </a:solidFill>
          </a:ln>
        </p:spPr>
        <p:txBody>
          <a:bodyPr wrap="square">
            <a:spAutoFit/>
          </a:bodyPr>
          <a:lstStyle/>
          <a:p>
            <a:pPr>
              <a:lnSpc>
                <a:spcPct val="113095"/>
              </a:lnSpc>
              <a:buNone/>
            </a:pP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M</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N</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j</a:t>
            </a:r>
            <a:r>
              <a:rPr lang="en-US" sz="2400" dirty="0" err="1">
                <a:solidFill>
                  <a:srgbClr val="000000"/>
                </a:solidFill>
                <a:latin typeface="Fira Code" panose="020B0809050000020004" pitchFamily="49" charset="0"/>
              </a:rPr>
              <a:t>++</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matrix</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err="1">
                <a:solidFill>
                  <a:srgbClr val="795E26"/>
                </a:solidFill>
                <a:latin typeface="Fira Code" panose="020B0809050000020004" pitchFamily="49" charset="0"/>
              </a:rPr>
              <a:t>init</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9/2/2026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535266" y="4509397"/>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499446" y="4472299"/>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903008" y="4502445"/>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477801" y="4422180"/>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D8FA95F-2675-1FD6-BC91-3590519E9D21}"/>
                  </a:ext>
                </a:extLst>
              </p:cNvPr>
              <p:cNvSpPr txBox="1"/>
              <p:nvPr/>
            </p:nvSpPr>
            <p:spPr>
              <a:xfrm>
                <a:off x="2808076" y="3294867"/>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808076" y="3294867"/>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D99167C-04A4-F722-8AAD-E9C93817DE28}"/>
                  </a:ext>
                </a:extLst>
              </p:cNvPr>
              <p:cNvSpPr txBox="1"/>
              <p:nvPr/>
            </p:nvSpPr>
            <p:spPr>
              <a:xfrm>
                <a:off x="8349614" y="2090846"/>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8349614" y="2090846"/>
                <a:ext cx="428771"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78A7279-5F01-C120-7112-C7DEE7206658}"/>
                  </a:ext>
                </a:extLst>
              </p:cNvPr>
              <p:cNvSpPr txBox="1"/>
              <p:nvPr/>
            </p:nvSpPr>
            <p:spPr>
              <a:xfrm>
                <a:off x="7244184" y="3252428"/>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7244184" y="3252428"/>
                <a:ext cx="510524"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385C36A-8F48-E47B-7C6E-E9CE50E27705}"/>
                  </a:ext>
                </a:extLst>
              </p:cNvPr>
              <p:cNvSpPr txBox="1"/>
              <p:nvPr/>
            </p:nvSpPr>
            <p:spPr>
              <a:xfrm>
                <a:off x="3924283" y="2167877"/>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924283" y="2167877"/>
                <a:ext cx="428771" cy="461665"/>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9/2/2026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square">
            <a:spAutoFit/>
          </a:bodyPr>
          <a:lstStyle/>
          <a:p>
            <a:pPr>
              <a:lnSpc>
                <a:spcPct val="113095"/>
              </a:lnSpc>
              <a:buNone/>
            </a:pP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M</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N</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j</a:t>
            </a:r>
            <a:r>
              <a:rPr lang="en-US" sz="2400" dirty="0" err="1">
                <a:solidFill>
                  <a:srgbClr val="000000"/>
                </a:solidFill>
                <a:latin typeface="Fira Code" panose="020B0809050000020004" pitchFamily="49" charset="0"/>
              </a:rPr>
              <a:t>++</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matrix</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err="1">
                <a:solidFill>
                  <a:srgbClr val="795E26"/>
                </a:solidFill>
                <a:latin typeface="Fira Code" panose="020B0809050000020004" pitchFamily="49" charset="0"/>
              </a:rPr>
              <a:t>init</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5"/>
              </a:ext>
            </a:extLst>
          </a:blip>
          <a:srcRect t="81959"/>
          <a:stretch>
            <a:fillRect/>
          </a:stretch>
        </p:blipFill>
        <p:spPr>
          <a:xfrm>
            <a:off x="4879317" y="4712052"/>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5"/>
              </a:ext>
            </a:extLst>
          </a:blip>
          <a:srcRect t="53786" b="26396"/>
          <a:stretch>
            <a:fillRect/>
          </a:stretch>
        </p:blipFill>
        <p:spPr>
          <a:xfrm>
            <a:off x="4879317" y="3355889"/>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5"/>
              </a:ext>
            </a:extLst>
          </a:blip>
          <a:srcRect r="65778" b="56757"/>
          <a:stretch>
            <a:fillRect/>
          </a:stretch>
        </p:blipFill>
        <p:spPr>
          <a:xfrm>
            <a:off x="1394526" y="3651422"/>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𝑁</m:t>
                      </m:r>
                      <m:r>
                        <a:rPr lang="en-US" sz="2000" b="0" i="1" smtClean="0">
                          <a:latin typeface="Cambria Math" panose="02040503050406030204" pitchFamily="18" charset="0"/>
                        </a:rPr>
                        <m:t>+</m:t>
                      </m:r>
                      <m:r>
                        <a:rPr lang="en-US" sz="2000" b="0" i="1" smtClean="0">
                          <a:latin typeface="Cambria Math" panose="02040503050406030204" pitchFamily="18" charset="0"/>
                        </a:rPr>
                        <m:t>𝑗</m:t>
                      </m:r>
                    </m:oMath>
                  </m:oMathPara>
                </a14:m>
                <a:endParaRPr lang="en-US" sz="2000"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6"/>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𝑗</m:t>
                      </m:r>
                      <m:r>
                        <a:rPr lang="en-US" sz="2000" b="0" i="1" smtClean="0">
                          <a:latin typeface="Cambria Math" panose="02040503050406030204" pitchFamily="18" charset="0"/>
                        </a:rPr>
                        <m:t>⋅</m:t>
                      </m:r>
                      <m:r>
                        <a:rPr lang="en-US" sz="2000" b="0" i="1" smtClean="0">
                          <a:latin typeface="Cambria Math" panose="02040503050406030204" pitchFamily="18" charset="0"/>
                        </a:rPr>
                        <m:t>𝑀</m:t>
                      </m:r>
                      <m:r>
                        <a:rPr lang="en-US" sz="2000" b="0" i="1" smtClean="0">
                          <a:latin typeface="Cambria Math" panose="02040503050406030204" pitchFamily="18" charset="0"/>
                        </a:rPr>
                        <m:t>+</m:t>
                      </m:r>
                      <m:r>
                        <a:rPr lang="en-US" sz="2000" b="0" i="1" smtClean="0">
                          <a:latin typeface="Cambria Math" panose="02040503050406030204" pitchFamily="18" charset="0"/>
                        </a:rPr>
                        <m:t>𝑖</m:t>
                      </m:r>
                    </m:oMath>
                  </m:oMathPara>
                </a14:m>
                <a:endParaRPr lang="en-US" sz="2000" dirty="0"/>
              </a:p>
            </p:txBody>
          </p:sp>
        </mc:Choice>
        <mc:Fallback>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7"/>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9"/>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532484" y="3913204"/>
            <a:ext cx="1635576" cy="461665"/>
          </a:xfrm>
          <a:prstGeom prst="rect">
            <a:avLst/>
          </a:prstGeom>
          <a:noFill/>
        </p:spPr>
        <p:txBody>
          <a:bodyPr wrap="none" rtlCol="0">
            <a:spAutoFit/>
          </a:bodyPr>
          <a:lstStyle/>
          <a:p>
            <a:pPr algn="ctr"/>
            <a:r>
              <a:rPr lang="en-US" sz="240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285718" y="5894684"/>
            <a:ext cx="2129109" cy="461665"/>
          </a:xfrm>
          <a:prstGeom prst="rect">
            <a:avLst/>
          </a:prstGeom>
          <a:noFill/>
        </p:spPr>
        <p:txBody>
          <a:bodyPr wrap="none" rtlCol="0">
            <a:spAutoFit/>
          </a:bodyPr>
          <a:lstStyle/>
          <a:p>
            <a:pPr algn="ctr"/>
            <a:r>
              <a:rPr lang="en-US" sz="2400" dirty="0"/>
              <a:t>Column-major</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459562" cy="1706429"/>
          </a:xfrm>
          <a:prstGeom prst="rect">
            <a:avLst/>
          </a:prstGeom>
          <a:noFill/>
        </p:spPr>
        <p:txBody>
          <a:bodyPr wrap="squar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squar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9/2/2026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4AB64E0-7A98-B19A-964F-1077043B0728}"/>
              </a:ext>
            </a:extLst>
          </p:cNvPr>
          <p:cNvSpPr txBox="1"/>
          <p:nvPr/>
        </p:nvSpPr>
        <p:spPr>
          <a:xfrm>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45870" y="2452446"/>
            <a:ext cx="1353345" cy="300575"/>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41807" y="2995572"/>
            <a:ext cx="6954364"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522710" y="4809167"/>
            <a:ext cx="9207632"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square">
            <a:spAutoFit/>
          </a:bodyPr>
          <a:lstStyle/>
          <a:p>
            <a:pPr>
              <a:lnSpc>
                <a:spcPct val="113095"/>
              </a:lnSpc>
              <a:buNone/>
            </a:pPr>
            <a:r>
              <a:rPr lang="en-US" sz="2000" b="0" dirty="0">
                <a:solidFill>
                  <a:srgbClr val="AF00DB"/>
                </a:solidFill>
                <a:effectLst/>
                <a:latin typeface="Fira Code" panose="020B0809050000020004" pitchFamily="49" charset="0"/>
              </a:rPr>
              <a:t>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M</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AF00DB"/>
                </a:solidFill>
                <a:effectLst/>
                <a:latin typeface="Fira Code" panose="020B0809050000020004" pitchFamily="49" charset="0"/>
              </a:rPr>
              <a:t>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N</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j</a:t>
            </a:r>
            <a:r>
              <a:rPr lang="en-US" sz="2000" b="0" dirty="0" err="1">
                <a:solidFill>
                  <a:srgbClr val="000000"/>
                </a:solidFill>
                <a:effectLst/>
                <a:latin typeface="Fira Code" panose="020B0809050000020004" pitchFamily="49" charset="0"/>
              </a:rPr>
              <a:t>++</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matrix</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 </a:t>
            </a:r>
            <a:r>
              <a:rPr lang="en-US" sz="2000" b="0" dirty="0" err="1">
                <a:solidFill>
                  <a:srgbClr val="795E26"/>
                </a:solidFill>
                <a:effectLst/>
                <a:latin typeface="Fira Code" panose="020B0809050000020004" pitchFamily="49" charset="0"/>
              </a:rPr>
              <a:t>init</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462565" y="2304743"/>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145419" y="5871980"/>
            <a:ext cx="7373557" cy="461665"/>
          </a:xfrm>
          <a:prstGeom prst="rect">
            <a:avLst/>
          </a:prstGeom>
          <a:noFill/>
        </p:spPr>
        <p:txBody>
          <a:bodyPr wrap="none" rtlCol="0">
            <a:spAutoFit/>
          </a:bodyPr>
          <a:lstStyle/>
          <a:p>
            <a:pPr algn="ctr"/>
            <a:r>
              <a:rPr lang="en-US" sz="2400" b="1" noProof="0" dirty="0"/>
              <a:t>Copy</a:t>
            </a:r>
            <a:r>
              <a:rPr lang="en-US" sz="2400"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76635" y="4079642"/>
            <a:ext cx="5484707" cy="461665"/>
          </a:xfrm>
          <a:prstGeom prst="rect">
            <a:avLst/>
          </a:prstGeom>
          <a:noFill/>
        </p:spPr>
        <p:txBody>
          <a:bodyPr wrap="none" rtlCol="0">
            <a:spAutoFit/>
          </a:bodyPr>
          <a:lstStyle/>
          <a:p>
            <a:pPr algn="ctr"/>
            <a:r>
              <a:rPr lang="en-US" sz="2400" b="1" dirty="0"/>
              <a:t>Traversal-agnostic </a:t>
            </a:r>
            <a:r>
              <a:rPr lang="en-US" sz="2400"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34280" y="251401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936383" y="2404841"/>
            <a:ext cx="2578782" cy="400110"/>
          </a:xfrm>
          <a:prstGeom prst="rect">
            <a:avLst/>
          </a:prstGeom>
          <a:noFill/>
        </p:spPr>
        <p:txBody>
          <a:bodyPr wrap="squar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494039" y="4001281"/>
            <a:ext cx="2592505" cy="461665"/>
          </a:xfrm>
          <a:prstGeom prst="rect">
            <a:avLst/>
          </a:prstGeom>
          <a:noFill/>
        </p:spPr>
        <p:txBody>
          <a:bodyPr wrap="none" rtlCol="0">
            <a:spAutoFit/>
          </a:bodyPr>
          <a:lstStyle/>
          <a:p>
            <a:r>
              <a:rPr lang="en-US" sz="2400"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790292" y="4462946"/>
            <a:ext cx="713021" cy="440704"/>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790292" y="4462946"/>
            <a:ext cx="1748655" cy="440704"/>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10267829" y="4494662"/>
            <a:ext cx="245269" cy="323451"/>
          </a:xfrm>
          <a:prstGeom prst="rect">
            <a:avLst/>
          </a:prstGeom>
          <a:solidFill>
            <a:srgbClr val="D5E8D4"/>
          </a:solidFill>
          <a:ln w="9525" cap="flat">
            <a:solidFill>
              <a:srgbClr val="82B366"/>
            </a:solidFill>
            <a:prstDash val="solid"/>
            <a:miter/>
          </a:ln>
        </p:spPr>
        <p:txBody>
          <a:bodyPr/>
          <a:lstStyle/>
          <a:p>
            <a:endParaRPr lang="en-US" sz="2400"/>
          </a:p>
        </p:txBody>
      </p:sp>
      <p:sp>
        <p:nvSpPr>
          <p:cNvPr id="46" name="Rectangle 45">
            <a:extLst>
              <a:ext uri="{FF2B5EF4-FFF2-40B4-BE49-F238E27FC236}">
                <a16:creationId xmlns:a16="http://schemas.microsoft.com/office/drawing/2014/main" id="{911B9DBE-6587-8382-9E03-37F6BAC2D133}"/>
              </a:ext>
            </a:extLst>
          </p:cNvPr>
          <p:cNvSpPr/>
          <p:nvPr/>
        </p:nvSpPr>
        <p:spPr>
          <a:xfrm>
            <a:off x="10267828" y="5327291"/>
            <a:ext cx="245269" cy="318591"/>
          </a:xfrm>
          <a:prstGeom prst="rect">
            <a:avLst/>
          </a:prstGeom>
          <a:solidFill>
            <a:srgbClr val="DAE8FC"/>
          </a:solidFill>
          <a:ln w="9525" cap="flat">
            <a:solidFill>
              <a:srgbClr val="6C8EBF"/>
            </a:solidFill>
            <a:prstDash val="solid"/>
            <a:miter/>
          </a:ln>
        </p:spPr>
        <p:txBody>
          <a:bodyPr/>
          <a:lstStyle/>
          <a:p>
            <a:endParaRPr lang="en-US" sz="2400"/>
          </a:p>
        </p:txBody>
      </p:sp>
      <p:sp>
        <p:nvSpPr>
          <p:cNvPr id="47" name="Rectangle 46">
            <a:extLst>
              <a:ext uri="{FF2B5EF4-FFF2-40B4-BE49-F238E27FC236}">
                <a16:creationId xmlns:a16="http://schemas.microsoft.com/office/drawing/2014/main" id="{68983F2C-1668-52BB-B4F9-C612E7B2F10A}"/>
              </a:ext>
            </a:extLst>
          </p:cNvPr>
          <p:cNvSpPr/>
          <p:nvPr/>
        </p:nvSpPr>
        <p:spPr>
          <a:xfrm>
            <a:off x="10267828" y="4913407"/>
            <a:ext cx="245269" cy="318590"/>
          </a:xfrm>
          <a:prstGeom prst="rect">
            <a:avLst/>
          </a:prstGeom>
          <a:solidFill>
            <a:srgbClr val="F8CECC"/>
          </a:solidFill>
          <a:ln w="9525" cap="flat">
            <a:solidFill>
              <a:srgbClr val="B85450"/>
            </a:solidFill>
            <a:prstDash val="solid"/>
            <a:miter/>
          </a:ln>
        </p:spPr>
        <p:txBody>
          <a:bodyPr/>
          <a:lstStyle/>
          <a:p>
            <a:endParaRPr lang="en-US" sz="2400"/>
          </a:p>
        </p:txBody>
      </p:sp>
      <p:sp>
        <p:nvSpPr>
          <p:cNvPr id="19" name="Rectangle 18">
            <a:extLst>
              <a:ext uri="{FF2B5EF4-FFF2-40B4-BE49-F238E27FC236}">
                <a16:creationId xmlns:a16="http://schemas.microsoft.com/office/drawing/2014/main" id="{B800FBA5-1D37-3DF6-701A-70896D275692}"/>
              </a:ext>
            </a:extLst>
          </p:cNvPr>
          <p:cNvSpPr/>
          <p:nvPr/>
        </p:nvSpPr>
        <p:spPr>
          <a:xfrm>
            <a:off x="4068095" y="5546877"/>
            <a:ext cx="222808" cy="279329"/>
          </a:xfrm>
          <a:prstGeom prst="rect">
            <a:avLst/>
          </a:prstGeom>
          <a:solidFill>
            <a:srgbClr val="DAE8FC"/>
          </a:solidFill>
          <a:ln w="9525" cap="flat">
            <a:solidFill>
              <a:srgbClr val="6C8EBF"/>
            </a:solidFill>
            <a:prstDash val="solid"/>
            <a:miter/>
          </a:ln>
        </p:spPr>
        <p:txBody>
          <a:bodyPr/>
          <a:lstStyle/>
          <a:p>
            <a:endParaRPr lang="en-US" sz="2400"/>
          </a:p>
        </p:txBody>
      </p:sp>
      <p:sp>
        <p:nvSpPr>
          <p:cNvPr id="13" name="Rectangle 12">
            <a:extLst>
              <a:ext uri="{FF2B5EF4-FFF2-40B4-BE49-F238E27FC236}">
                <a16:creationId xmlns:a16="http://schemas.microsoft.com/office/drawing/2014/main" id="{666A78F4-88C1-5BB5-A720-F8E1C747C4A4}"/>
              </a:ext>
            </a:extLst>
          </p:cNvPr>
          <p:cNvSpPr/>
          <p:nvPr/>
        </p:nvSpPr>
        <p:spPr>
          <a:xfrm>
            <a:off x="3605646" y="5546877"/>
            <a:ext cx="222808" cy="279329"/>
          </a:xfrm>
          <a:prstGeom prst="rect">
            <a:avLst/>
          </a:prstGeom>
          <a:solidFill>
            <a:srgbClr val="F8CECC"/>
          </a:solidFill>
          <a:ln w="9525" cap="flat">
            <a:solidFill>
              <a:srgbClr val="B85450"/>
            </a:solidFill>
            <a:prstDash val="solid"/>
            <a:miter/>
          </a:ln>
        </p:spPr>
        <p:txBody>
          <a:bodyPr/>
          <a:lstStyle/>
          <a:p>
            <a:endParaRPr lang="en-US" sz="2400"/>
          </a:p>
        </p:txBody>
      </p:sp>
      <p:sp>
        <p:nvSpPr>
          <p:cNvPr id="11" name="Rectangle 10">
            <a:extLst>
              <a:ext uri="{FF2B5EF4-FFF2-40B4-BE49-F238E27FC236}">
                <a16:creationId xmlns:a16="http://schemas.microsoft.com/office/drawing/2014/main" id="{45C6B551-6774-AC99-228E-D1F7AAF62B05}"/>
              </a:ext>
            </a:extLst>
          </p:cNvPr>
          <p:cNvSpPr/>
          <p:nvPr/>
        </p:nvSpPr>
        <p:spPr>
          <a:xfrm>
            <a:off x="3152728" y="5546876"/>
            <a:ext cx="222807" cy="279329"/>
          </a:xfrm>
          <a:prstGeom prst="rect">
            <a:avLst/>
          </a:prstGeom>
          <a:solidFill>
            <a:srgbClr val="D5E8D4"/>
          </a:solidFill>
          <a:ln w="9525" cap="flat">
            <a:solidFill>
              <a:srgbClr val="82B366"/>
            </a:solidFill>
            <a:prstDash val="solid"/>
            <a:miter/>
          </a:ln>
        </p:spPr>
        <p:txBody>
          <a:bodyPr/>
          <a:lstStyle/>
          <a:p>
            <a:endParaRPr lang="en-US" sz="240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1243435" y="1130185"/>
            <a:ext cx="2144048" cy="461665"/>
          </a:xfrm>
          <a:prstGeom prst="rect">
            <a:avLst/>
          </a:prstGeom>
          <a:noFill/>
        </p:spPr>
        <p:txBody>
          <a:bodyPr wrap="none" rtlCol="0">
            <a:spAutoFit/>
          </a:bodyPr>
          <a:lstStyle/>
          <a:p>
            <a:pPr algn="ctr"/>
            <a:r>
              <a:rPr lang="en-US" sz="2400"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5462412" y="2355314"/>
            <a:ext cx="6525363" cy="1472070"/>
          </a:xfrm>
          <a:prstGeom prst="rect">
            <a:avLst/>
          </a:prstGeom>
          <a:noFill/>
          <a:ln>
            <a:solidFill>
              <a:schemeClr val="tx1"/>
            </a:solidFill>
          </a:ln>
        </p:spPr>
        <p:txBody>
          <a:bodyPr wrap="squar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j</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j</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N</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j</a:t>
            </a:r>
            <a:r>
              <a:rPr lang="en-US" sz="2000" dirty="0" err="1">
                <a:solidFill>
                  <a:srgbClr val="000000"/>
                </a:solidFill>
                <a:latin typeface="Fira Code" panose="020B0809050000020004" pitchFamily="49" charset="0"/>
              </a:rPr>
              <a:t>++</a:t>
            </a:r>
            <a:r>
              <a:rPr lang="en-US" sz="2000" dirty="0">
                <a:solidFill>
                  <a:srgbClr val="000000"/>
                </a:solidFill>
                <a:latin typeface="Fira Code" panose="020B0809050000020004" pitchFamily="49" charset="0"/>
              </a:rPr>
              <a:t>)</a:t>
            </a:r>
          </a:p>
          <a:p>
            <a:pPr>
              <a:lnSpc>
                <a:spcPct val="113095"/>
              </a:lnSpc>
              <a:buNone/>
            </a:pPr>
            <a:r>
              <a:rPr lang="en-US" sz="2000" b="0" dirty="0">
                <a:solidFill>
                  <a:srgbClr val="AF00DB"/>
                </a:solidFill>
                <a:effectLst/>
                <a:latin typeface="Fira Code" panose="020B0809050000020004" pitchFamily="49" charset="0"/>
              </a:rPr>
              <a:t>    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M</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AF00DB"/>
                </a:solidFill>
                <a:effectLst/>
                <a:latin typeface="Fira Code" panose="020B0809050000020004" pitchFamily="49" charset="0"/>
              </a:rPr>
              <a:t>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C</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 </a:t>
            </a:r>
            <a:r>
              <a:rPr lang="en-US" sz="2000" b="0" dirty="0">
                <a:solidFill>
                  <a:srgbClr val="001080"/>
                </a:solidFill>
                <a:effectLst/>
                <a:latin typeface="Fira Code" panose="020B0809050000020004" pitchFamily="49" charset="0"/>
              </a:rPr>
              <a:t>A</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 </a:t>
            </a:r>
            <a:r>
              <a:rPr lang="en-US" sz="2000" b="0" dirty="0">
                <a:solidFill>
                  <a:srgbClr val="001080"/>
                </a:solidFill>
                <a:effectLst/>
                <a:latin typeface="Fira Code" panose="020B0809050000020004" pitchFamily="49" charset="0"/>
              </a:rPr>
              <a:t>B</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7192643" y="4882343"/>
            <a:ext cx="1364153" cy="256332"/>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7" name="Rectangle 16">
            <a:extLst>
              <a:ext uri="{FF2B5EF4-FFF2-40B4-BE49-F238E27FC236}">
                <a16:creationId xmlns:a16="http://schemas.microsoft.com/office/drawing/2014/main" id="{0E5347DA-3F5A-6C6C-F424-88F41C72727D}"/>
              </a:ext>
            </a:extLst>
          </p:cNvPr>
          <p:cNvSpPr/>
          <p:nvPr/>
        </p:nvSpPr>
        <p:spPr>
          <a:xfrm>
            <a:off x="7192643" y="4540880"/>
            <a:ext cx="1364153" cy="256332"/>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Rectangle 19">
            <a:extLst>
              <a:ext uri="{FF2B5EF4-FFF2-40B4-BE49-F238E27FC236}">
                <a16:creationId xmlns:a16="http://schemas.microsoft.com/office/drawing/2014/main" id="{8BB2AD3C-93CE-6E6C-6024-6CF36DA40579}"/>
              </a:ext>
            </a:extLst>
          </p:cNvPr>
          <p:cNvSpPr/>
          <p:nvPr/>
        </p:nvSpPr>
        <p:spPr>
          <a:xfrm>
            <a:off x="7192643" y="4193714"/>
            <a:ext cx="1364153" cy="256332"/>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TextBox 7">
            <a:extLst>
              <a:ext uri="{FF2B5EF4-FFF2-40B4-BE49-F238E27FC236}">
                <a16:creationId xmlns:a16="http://schemas.microsoft.com/office/drawing/2014/main" id="{9E2F7AA6-5F7F-99DE-465E-A4472E5548CB}"/>
              </a:ext>
            </a:extLst>
          </p:cNvPr>
          <p:cNvSpPr txBox="1"/>
          <p:nvPr/>
        </p:nvSpPr>
        <p:spPr>
          <a:xfrm>
            <a:off x="1565505" y="4089155"/>
            <a:ext cx="8291159" cy="251543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b="0" noProof="0" dirty="0" err="1">
                <a:solidFill>
                  <a:srgbClr val="000000"/>
                </a:solidFill>
                <a:effectLst/>
                <a:latin typeface="Fira Code" panose="020B0809050000020004" pitchFamily="49" charset="0"/>
              </a:rPr>
              <a:t>,</a:t>
            </a:r>
            <a:r>
              <a:rPr lang="en-US" sz="2000" noProof="0" dirty="0" err="1">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noProof="0" dirty="0">
                <a:solidFill>
                  <a:srgbClr val="A31515"/>
                </a:solidFill>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pPr>
            <a:r>
              <a:rPr lang="en-US" sz="2000" noProof="0" dirty="0">
                <a:solidFill>
                  <a:srgbClr val="267F99"/>
                </a:solidFill>
                <a:latin typeface="Fira Code" panose="020B0809050000020004" pitchFamily="49" charset="0"/>
              </a:rPr>
              <a:t>auto</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C</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bag</a:t>
            </a:r>
            <a:r>
              <a:rPr lang="en-US" sz="2000" noProof="0" dirty="0">
                <a:solidFill>
                  <a:srgbClr val="000000"/>
                </a:solidFill>
                <a:latin typeface="Fira Code" panose="020B0809050000020004" pitchFamily="49" charset="0"/>
              </a:rPr>
              <a:t>(</a:t>
            </a:r>
            <a:r>
              <a:rPr lang="en-US" sz="2000" noProof="0" dirty="0">
                <a:solidFill>
                  <a:srgbClr val="267F99"/>
                </a:solidFill>
                <a:latin typeface="Fira Code" panose="020B0809050000020004" pitchFamily="49" charset="0"/>
              </a:rPr>
              <a:t>scalar</a:t>
            </a:r>
            <a:r>
              <a:rPr lang="en-US" sz="2000" noProof="0" dirty="0">
                <a:solidFill>
                  <a:srgbClr val="000000"/>
                </a:solidFill>
                <a:latin typeface="Fira Code" panose="020B0809050000020004" pitchFamily="49" charset="0"/>
              </a:rPr>
              <a:t>&lt;</a:t>
            </a:r>
            <a:r>
              <a:rPr lang="en-US" sz="2000" noProof="0" dirty="0">
                <a:solidFill>
                  <a:srgbClr val="0000FF"/>
                </a:solidFill>
                <a:latin typeface="Fira Code" panose="020B0809050000020004" pitchFamily="49" charset="0"/>
              </a:rPr>
              <a:t>float</a:t>
            </a:r>
            <a:r>
              <a:rPr lang="en-US" sz="2000" noProof="0" dirty="0">
                <a:solidFill>
                  <a:srgbClr val="000000"/>
                </a:solidFill>
                <a:latin typeface="Fira Code" panose="020B0809050000020004" pitchFamily="49" charset="0"/>
              </a:rPr>
              <a:t>&gt;()</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vectors</a:t>
            </a:r>
            <a:r>
              <a:rPr lang="en-US" sz="600" noProof="0" dirty="0">
                <a:solidFill>
                  <a:srgbClr val="795E26"/>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M</a:t>
            </a:r>
            <a:r>
              <a:rPr lang="en-US" sz="2000" noProof="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2641591" y="4143314"/>
            <a:ext cx="7126173" cy="1047946"/>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422427" cy="545745"/>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586414" cy="545745"/>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586414" cy="545745"/>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dirty="0" smtClean="0">
                              <a:latin typeface="Cambria Math" panose="02040503050406030204" pitchFamily="18" charset="0"/>
                            </a:rPr>
                            <m:t>𝑚</m:t>
                          </m:r>
                        </m:oMath>
                      </m:oMathPara>
                    </a14:m>
                    <a:endParaRPr lang="en-US" sz="200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𝑘</m:t>
                          </m:r>
                        </m:oMath>
                      </m:oMathPara>
                    </a14:m>
                    <a:endParaRPr lang="en-US" sz="200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𝑘</m:t>
                          </m:r>
                        </m:oMath>
                      </m:oMathPara>
                    </a14:m>
                    <a:endParaRPr lang="en-US" sz="200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𝑛</m:t>
                          </m:r>
                        </m:oMath>
                      </m:oMathPara>
                    </a14:m>
                    <a:endParaRPr lang="en-US" sz="200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𝑚</m:t>
                          </m:r>
                        </m:oMath>
                      </m:oMathPara>
                    </a14:m>
                    <a:endParaRPr lang="en-US" sz="200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𝑛</m:t>
                          </m:r>
                        </m:oMath>
                      </m:oMathPara>
                    </a14:m>
                    <a:endParaRPr lang="en-US" sz="200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5316701" y="1330120"/>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𝑖𝑗</m:t>
                          </m:r>
                        </m:sub>
                      </m:sSub>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𝑘</m:t>
                          </m:r>
                          <m:r>
                            <m:rPr>
                              <m:brk m:alnAt="23"/>
                            </m:rPr>
                            <a:rPr lang="en-US" sz="2000" b="0" i="1" smtClean="0">
                              <a:latin typeface="Cambria Math" panose="02040503050406030204" pitchFamily="18" charset="0"/>
                            </a:rPr>
                            <m:t>=</m:t>
                          </m:r>
                          <m:r>
                            <m:rPr>
                              <m:brk m:alnAt="23"/>
                            </m:rPr>
                            <a:rPr lang="en-US" sz="2000" b="0" i="1" smtClean="0">
                              <a:latin typeface="Cambria Math" panose="02040503050406030204" pitchFamily="18" charset="0"/>
                            </a:rPr>
                            <m:t>0</m:t>
                          </m:r>
                        </m:sub>
                        <m:sup>
                          <m:r>
                            <a:rPr lang="en-US" sz="2000" b="0" i="1" smtClean="0">
                              <a:latin typeface="Cambria Math" panose="02040503050406030204" pitchFamily="18" charset="0"/>
                            </a:rPr>
                            <m:t>𝐾</m:t>
                          </m:r>
                          <m:r>
                            <a:rPr lang="en-US" sz="2000" b="0" i="1" smtClean="0">
                              <a:latin typeface="Cambria Math" panose="02040503050406030204" pitchFamily="18" charset="0"/>
                            </a:rPr>
                            <m:t>−1</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𝐴</m:t>
                              </m:r>
                            </m:e>
                            <m:sub>
                              <m:r>
                                <a:rPr lang="en-US" sz="2000" b="0" i="1" smtClean="0">
                                  <a:latin typeface="Cambria Math" panose="02040503050406030204" pitchFamily="18" charset="0"/>
                                </a:rPr>
                                <m:t>𝑖𝑘</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𝐵</m:t>
                              </m:r>
                            </m:e>
                            <m:sub>
                              <m:r>
                                <a:rPr lang="en-US" sz="2000" b="0" i="1" smtClean="0">
                                  <a:latin typeface="Cambria Math" panose="02040503050406030204" pitchFamily="18" charset="0"/>
                                </a:rPr>
                                <m:t>𝑘𝑗</m:t>
                              </m:r>
                            </m:sub>
                          </m:sSub>
                        </m:e>
                      </m:nary>
                    </m:oMath>
                  </m:oMathPara>
                </a14:m>
                <a:endParaRPr lang="en-US" sz="2000"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5316701" y="1330120"/>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3"/>
            <a:endCxn id="24" idx="0"/>
          </p:cNvCxnSpPr>
          <p:nvPr/>
        </p:nvCxnSpPr>
        <p:spPr>
          <a:xfrm>
            <a:off x="7545452" y="1809162"/>
            <a:ext cx="1179642" cy="54615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087205" y="2451265"/>
            <a:ext cx="261771" cy="3014009"/>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10194804" y="4399369"/>
                <a:ext cx="1508618" cy="1384995"/>
              </a:xfrm>
              <a:prstGeom prst="rect">
                <a:avLst/>
              </a:prstGeom>
              <a:noFill/>
            </p:spPr>
            <p:txBody>
              <a:bodyPr wrap="none" rtlCol="0">
                <a:spAutoFit/>
              </a:bodyPr>
              <a:lstStyle/>
              <a:p>
                <a:r>
                  <a:rPr lang="en-US" sz="2800" dirty="0">
                    <a:solidFill>
                      <a:srgbClr val="001080"/>
                    </a:solidFill>
                    <a:latin typeface="Fira Code" panose="020B0809050000020004" pitchFamily="49" charset="0"/>
                  </a:rPr>
                  <a:t>A</a:t>
                </a:r>
                <a:r>
                  <a:rPr lang="en-US" sz="2800" dirty="0"/>
                  <a:t>: </a:t>
                </a:r>
                <a14:m>
                  <m:oMath xmlns:m="http://schemas.openxmlformats.org/officeDocument/2006/math">
                    <m:r>
                      <a:rPr lang="en-US" sz="2800" b="0" i="1" smtClean="0"/>
                      <m:t>𝑚</m:t>
                    </m:r>
                    <m:r>
                      <a:rPr lang="en-US" sz="2800" b="0" i="1" smtClean="0"/>
                      <m:t>×</m:t>
                    </m:r>
                    <m:r>
                      <a:rPr lang="en-US" sz="2800" b="0" i="1" smtClean="0"/>
                      <m:t>𝑘</m:t>
                    </m:r>
                  </m:oMath>
                </a14:m>
                <a:endParaRPr lang="en-US" sz="2800" b="0" dirty="0"/>
              </a:p>
              <a:p>
                <a:r>
                  <a:rPr lang="en-US" sz="2800" dirty="0">
                    <a:solidFill>
                      <a:srgbClr val="001080"/>
                    </a:solidFill>
                    <a:latin typeface="Fira Code" panose="020B0809050000020004" pitchFamily="49" charset="0"/>
                  </a:rPr>
                  <a:t>B</a:t>
                </a:r>
                <a:r>
                  <a:rPr lang="en-US" sz="2800" dirty="0"/>
                  <a:t>: </a:t>
                </a:r>
                <a14:m>
                  <m:oMath xmlns:m="http://schemas.openxmlformats.org/officeDocument/2006/math">
                    <m:r>
                      <m:rPr>
                        <m:sty m:val="p"/>
                      </m:rPr>
                      <a:rPr lang="en-US" sz="2800" dirty="0"/>
                      <m:t>k</m:t>
                    </m:r>
                    <m:r>
                      <a:rPr lang="en-US" sz="2800" i="1"/>
                      <m:t>×</m:t>
                    </m:r>
                    <m:r>
                      <a:rPr lang="en-US" sz="2800" i="1"/>
                      <m:t>𝑛</m:t>
                    </m:r>
                  </m:oMath>
                </a14:m>
                <a:endParaRPr lang="en-US" sz="2800" dirty="0"/>
              </a:p>
              <a:p>
                <a:r>
                  <a:rPr lang="en-US" sz="2800" dirty="0">
                    <a:solidFill>
                      <a:srgbClr val="001080"/>
                    </a:solidFill>
                    <a:latin typeface="Fira Code" panose="020B0809050000020004" pitchFamily="49" charset="0"/>
                  </a:rPr>
                  <a:t>C</a:t>
                </a:r>
                <a:r>
                  <a:rPr lang="en-US" sz="2800" dirty="0"/>
                  <a:t>: </a:t>
                </a:r>
                <a14:m>
                  <m:oMath xmlns:m="http://schemas.openxmlformats.org/officeDocument/2006/math">
                    <m:r>
                      <a:rPr lang="en-US" sz="2800" i="1"/>
                      <m:t>𝑚</m:t>
                    </m:r>
                    <m:r>
                      <a:rPr lang="en-US" sz="2800" i="1"/>
                      <m:t>×</m:t>
                    </m:r>
                    <m:r>
                      <a:rPr lang="en-US" sz="2800" i="1"/>
                      <m:t>𝑛</m:t>
                    </m:r>
                  </m:oMath>
                </a14:m>
                <a:endParaRPr lang="en-US" sz="280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10194804" y="4399369"/>
                <a:ext cx="1508618" cy="1384995"/>
              </a:xfrm>
              <a:prstGeom prst="rect">
                <a:avLst/>
              </a:prstGeom>
              <a:blipFill>
                <a:blip r:embed="rId12"/>
                <a:stretch>
                  <a:fillRect l="-8065" t="-528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1064217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F2118018-0BAA-9CA8-C6F1-FC0D7AF4E40D}"/>
              </a:ext>
            </a:extLst>
          </p:cNvPr>
          <p:cNvSpPr/>
          <p:nvPr/>
        </p:nvSpPr>
        <p:spPr>
          <a:xfrm>
            <a:off x="1128468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FA30D08-7546-1C19-C43C-639429F560C8}"/>
              </a:ext>
            </a:extLst>
          </p:cNvPr>
          <p:cNvSpPr/>
          <p:nvPr/>
        </p:nvSpPr>
        <p:spPr>
          <a:xfrm>
            <a:off x="11183081" y="4921614"/>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24" grpId="0" animBg="1"/>
      <p:bldP spid="5" grpId="0" animBg="1"/>
      <p:bldP spid="17" grpId="0" animBg="1"/>
      <p:bldP spid="20" grpId="0" animBg="1"/>
      <p:bldP spid="8" grpId="0" animBg="1"/>
      <p:bldP spid="25" grpId="0" animBg="1"/>
      <p:bldP spid="49" grpId="0" animBg="1"/>
      <p:bldP spid="51" grpId="0" animBg="1"/>
      <p:bldP spid="5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4015824" y="4740472"/>
            <a:ext cx="3983136" cy="1752403"/>
            <a:chOff x="4057435" y="4029146"/>
            <a:chExt cx="3983136" cy="1752403"/>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122"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C43CE03B-E12C-3FE7-6183-56F902A74570}"/>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11765" b="-1777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B2318064-48CB-ADD5-6D22-6A347AFB73D4}"/>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3636" b="-2727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56E00BB2-9768-DF4B-6D99-295C8EB36058}"/>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1111"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96E19B0D-209B-81E1-FFD7-E6F3525EB4F7}"/>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818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B9BD1A5-B3AE-3C81-5716-56D19271BD2F}"/>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818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957B4049-5429-535D-EEAC-3B0EB1CE0ACE}"/>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square">
            <a:spAutoFit/>
          </a:bodyPr>
          <a:lstStyle/>
          <a:p>
            <a:pPr>
              <a:lnSpc>
                <a:spcPct val="113095"/>
              </a:lnSpc>
              <a:buNone/>
            </a:pPr>
            <a:r>
              <a:rPr lang="en-US" sz="200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2"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dirty="0"/>
              <a:t>CPU</a:t>
            </a:r>
          </a:p>
          <a:p>
            <a:pPr lvl="1"/>
            <a:r>
              <a:rPr lang="en-US" dirty="0"/>
              <a:t>OpenMP</a:t>
            </a:r>
          </a:p>
          <a:p>
            <a:pPr marL="457200" lvl="1" indent="0">
              <a:buNone/>
            </a:pPr>
            <a:r>
              <a:rPr lang="en-US" dirty="0" err="1">
                <a:solidFill>
                  <a:srgbClr val="795E26"/>
                </a:solidFill>
                <a:latin typeface="Fira Code" panose="020B0809050000020004" pitchFamily="49" charset="0"/>
              </a:rPr>
              <a:t>omp_for_each</a:t>
            </a:r>
            <a:r>
              <a:rPr lang="en-US" dirty="0">
                <a:latin typeface="Fira Code" panose="020B0809050000020004" pitchFamily="49" charset="0"/>
              </a:rPr>
              <a:t>(</a:t>
            </a:r>
            <a:r>
              <a:rPr lang="en-US" dirty="0">
                <a:solidFill>
                  <a:srgbClr val="001080"/>
                </a:solidFill>
                <a:latin typeface="Fira Code" panose="020B0809050000020004" pitchFamily="49" charset="0"/>
              </a:rPr>
              <a:t>traverser</a:t>
            </a:r>
            <a:r>
              <a:rPr lang="en-US" dirty="0">
                <a:latin typeface="Fira Code" panose="020B0809050000020004" pitchFamily="49" charset="0"/>
              </a:rPr>
              <a:t>, …)</a:t>
            </a:r>
            <a:endParaRPr lang="en-US" dirty="0"/>
          </a:p>
          <a:p>
            <a:pPr lvl="1"/>
            <a:endParaRPr lang="en-US" dirty="0"/>
          </a:p>
          <a:p>
            <a:pPr lvl="1"/>
            <a:r>
              <a:rPr lang="en-US" dirty="0" err="1"/>
              <a:t>oneTBB</a:t>
            </a:r>
            <a:endParaRPr lang="en-US" dirty="0"/>
          </a:p>
          <a:p>
            <a:pPr marL="457200" lvl="1" indent="0">
              <a:buNone/>
            </a:pPr>
            <a:r>
              <a:rPr lang="en-US" dirty="0" err="1">
                <a:solidFill>
                  <a:srgbClr val="795E26"/>
                </a:solidFill>
                <a:latin typeface="Fira Code" panose="020B0809050000020004" pitchFamily="49" charset="0"/>
              </a:rPr>
              <a:t>tbb_for_each</a:t>
            </a:r>
            <a:r>
              <a:rPr lang="en-US" dirty="0">
                <a:latin typeface="Fira Code" panose="020B0809050000020004" pitchFamily="49" charset="0"/>
              </a:rPr>
              <a:t>(</a:t>
            </a:r>
            <a:r>
              <a:rPr lang="en-US" dirty="0">
                <a:solidFill>
                  <a:srgbClr val="001080"/>
                </a:solidFill>
                <a:latin typeface="Fira Code" panose="020B0809050000020004" pitchFamily="49" charset="0"/>
              </a:rPr>
              <a:t>traverser</a:t>
            </a:r>
            <a:r>
              <a:rPr lang="en-US" dirty="0">
                <a:latin typeface="Fira Code" panose="020B0809050000020004" pitchFamily="49" charset="0"/>
              </a:rPr>
              <a:t>, …)</a:t>
            </a:r>
            <a:r>
              <a:rPr lang="en-US" dirty="0"/>
              <a:t>	</a:t>
            </a:r>
          </a:p>
          <a:p>
            <a:endParaRPr lang="en-US" dirty="0"/>
          </a:p>
          <a:p>
            <a:r>
              <a:rPr lang="en-US" dirty="0"/>
              <a:t>GPU</a:t>
            </a:r>
          </a:p>
          <a:p>
            <a:pPr marL="457200" lvl="1" indent="0">
              <a:buNone/>
            </a:pPr>
            <a:r>
              <a:rPr lang="en-US" dirty="0" err="1">
                <a:solidFill>
                  <a:srgbClr val="001080"/>
                </a:solidFill>
                <a:latin typeface="Fira Code" panose="020B0809050000020004" pitchFamily="49" charset="0"/>
              </a:rPr>
              <a:t>cuda_traverser</a:t>
            </a:r>
            <a:r>
              <a:rPr lang="en-US" dirty="0">
                <a:latin typeface="Fira Code" panose="020B0809050000020004" pitchFamily="49" charset="0"/>
              </a:rPr>
              <a:t> = </a:t>
            </a:r>
            <a:r>
              <a:rPr lang="en-US" dirty="0" err="1">
                <a:solidFill>
                  <a:srgbClr val="795E26"/>
                </a:solidFill>
                <a:latin typeface="Fira Code" panose="020B0809050000020004" pitchFamily="49" charset="0"/>
              </a:rPr>
              <a:t>cuda_threads</a:t>
            </a:r>
            <a:r>
              <a:rPr lang="en-US" sz="400" dirty="0">
                <a:solidFill>
                  <a:srgbClr val="795E26"/>
                </a:solidFill>
                <a:latin typeface="Fira Code" panose="020B0809050000020004" pitchFamily="49" charset="0"/>
              </a:rPr>
              <a:t> </a:t>
            </a:r>
            <a:r>
              <a:rPr lang="en-US" dirty="0">
                <a:latin typeface="Fira Code" panose="020B0809050000020004" pitchFamily="49" charset="0"/>
              </a:rPr>
              <a:t>&lt;</a:t>
            </a:r>
            <a:r>
              <a:rPr lang="en-US" dirty="0">
                <a:solidFill>
                  <a:srgbClr val="FF0000"/>
                </a:solidFill>
                <a:latin typeface="Fira Code" panose="020B0809050000020004" pitchFamily="49" charset="0"/>
              </a:rPr>
              <a:t>'</a:t>
            </a:r>
            <a:r>
              <a:rPr lang="en-US" dirty="0" err="1">
                <a:solidFill>
                  <a:srgbClr val="FF0000"/>
                </a:solidFill>
                <a:latin typeface="Fira Code" panose="020B0809050000020004" pitchFamily="49" charset="0"/>
              </a:rPr>
              <a:t>t'</a:t>
            </a:r>
            <a:r>
              <a:rPr lang="en-US" dirty="0" err="1">
                <a:latin typeface="Fira Code" panose="020B0809050000020004" pitchFamily="49" charset="0"/>
              </a:rPr>
              <a:t>,</a:t>
            </a:r>
            <a:r>
              <a:rPr lang="en-US" dirty="0" err="1">
                <a:solidFill>
                  <a:srgbClr val="FF0000"/>
                </a:solidFill>
                <a:latin typeface="Fira Code" panose="020B0809050000020004" pitchFamily="49" charset="0"/>
              </a:rPr>
              <a:t>'b</a:t>
            </a:r>
            <a:r>
              <a:rPr lang="en-US" dirty="0">
                <a:solidFill>
                  <a:srgbClr val="FF0000"/>
                </a:solidFill>
                <a:latin typeface="Fira Code" panose="020B0809050000020004" pitchFamily="49" charset="0"/>
              </a:rPr>
              <a:t>'</a:t>
            </a:r>
            <a:r>
              <a:rPr lang="en-US" dirty="0">
                <a:latin typeface="Fira Code" panose="020B0809050000020004" pitchFamily="49" charset="0"/>
              </a:rPr>
              <a:t>&gt;</a:t>
            </a:r>
            <a:r>
              <a:rPr lang="en-US" sz="400" dirty="0">
                <a:latin typeface="Fira Code" panose="020B0809050000020004" pitchFamily="49" charset="0"/>
              </a:rPr>
              <a:t> </a:t>
            </a:r>
            <a:r>
              <a:rPr lang="en-US" dirty="0">
                <a:latin typeface="Fira Code" panose="020B0809050000020004" pitchFamily="49" charset="0"/>
              </a:rPr>
              <a:t>(</a:t>
            </a:r>
            <a:r>
              <a:rPr lang="en-US" dirty="0">
                <a:solidFill>
                  <a:srgbClr val="001080"/>
                </a:solidFill>
                <a:latin typeface="Fira Code" panose="020B0809050000020004" pitchFamily="49" charset="0"/>
              </a:rPr>
              <a:t>traverser</a:t>
            </a:r>
            <a:r>
              <a:rPr lang="en-US" dirty="0">
                <a:latin typeface="Fira Code" panose="020B0809050000020004" pitchFamily="49" charset="0"/>
              </a:rPr>
              <a:t>)</a:t>
            </a:r>
          </a:p>
          <a:p>
            <a:pPr marL="457200" lvl="1" indent="0">
              <a:buNone/>
            </a:pPr>
            <a:r>
              <a:rPr lang="en-US" dirty="0" err="1">
                <a:solidFill>
                  <a:srgbClr val="001080"/>
                </a:solidFill>
                <a:latin typeface="Fira Code" panose="020B0809050000020004" pitchFamily="49" charset="0"/>
              </a:rPr>
              <a:t>cuda_traverser</a:t>
            </a:r>
            <a:r>
              <a:rPr lang="en-US" dirty="0" err="1">
                <a:latin typeface="Fira Code" panose="020B0809050000020004" pitchFamily="49" charset="0"/>
              </a:rPr>
              <a:t>.</a:t>
            </a:r>
            <a:r>
              <a:rPr lang="en-US" dirty="0" err="1">
                <a:solidFill>
                  <a:srgbClr val="795E26"/>
                </a:solidFill>
                <a:latin typeface="Fira Code" panose="020B0809050000020004" pitchFamily="49" charset="0"/>
              </a:rPr>
              <a:t>simple_run</a:t>
            </a:r>
            <a:r>
              <a:rPr lang="en-US" dirty="0">
                <a:latin typeface="Fira Code" panose="020B0809050000020004" pitchFamily="49" charset="0"/>
              </a:rPr>
              <a:t>(…)</a:t>
            </a:r>
            <a:endParaRPr lang="en-US"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6199549-C2F9-0F20-FD16-454B08B67F83}"/>
              </a:ext>
            </a:extLst>
          </p:cNvPr>
          <p:cNvGrpSpPr/>
          <p:nvPr/>
        </p:nvGrpSpPr>
        <p:grpSpPr>
          <a:xfrm>
            <a:off x="4663797" y="324095"/>
            <a:ext cx="7413728" cy="3871387"/>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70517"/>
            <a:ext cx="676275" cy="217083"/>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81616" y="3068414"/>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59559" y="2946729"/>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81616" y="3894955"/>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81616" y="4602517"/>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81616" y="5313421"/>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864690" y="2946729"/>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nvSpPr>
            <p:spPr>
              <a:xfrm>
                <a:off x="3018253" y="4295588"/>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018253" y="4295588"/>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nvSpPr>
            <p:spPr>
              <a:xfrm>
                <a:off x="1214379" y="2511828"/>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214379" y="2511828"/>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74450" y="3312991"/>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74450" y="4105947"/>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74450" y="4863097"/>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74450" y="5625401"/>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647550" y="6013778"/>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379276" y="2980605"/>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43891" y="4351704"/>
            <a:ext cx="1638654" cy="369332"/>
          </a:xfrm>
          <a:prstGeom prst="rect">
            <a:avLst/>
          </a:prstGeom>
          <a:noFill/>
        </p:spPr>
        <p:txBody>
          <a:bodyPr wrap="none" rtlCol="0">
            <a:spAutoFit/>
          </a:bodyPr>
          <a:lstStyle/>
          <a:p>
            <a:r>
              <a:rPr lang="en-US"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24"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059015" y="3056718"/>
            <a:ext cx="1062791" cy="523220"/>
          </a:xfrm>
          <a:prstGeom prst="rect">
            <a:avLst/>
          </a:prstGeom>
          <a:noFill/>
        </p:spPr>
        <p:txBody>
          <a:bodyPr wrap="none" rtlCol="0">
            <a:spAutoFit/>
          </a:bodyPr>
          <a:lstStyle/>
          <a:p>
            <a:r>
              <a:rPr lang="en-US" sz="2800" b="1" noProof="0" dirty="0"/>
              <a:t>naive</a:t>
            </a:r>
            <a:endParaRPr lang="en-US" b="1" noProof="0" dirty="0"/>
          </a:p>
        </p:txBody>
      </p:sp>
      <p:sp>
        <p:nvSpPr>
          <p:cNvPr id="13" name="TextBox 12">
            <a:extLst>
              <a:ext uri="{FF2B5EF4-FFF2-40B4-BE49-F238E27FC236}">
                <a16:creationId xmlns:a16="http://schemas.microsoft.com/office/drawing/2014/main" id="{439C9CAD-9E1E-7EC1-4429-D017CA1092E1}"/>
              </a:ext>
            </a:extLst>
          </p:cNvPr>
          <p:cNvSpPr txBox="1"/>
          <p:nvPr/>
        </p:nvSpPr>
        <p:spPr>
          <a:xfrm>
            <a:off x="2579061" y="3068941"/>
            <a:ext cx="913712" cy="523220"/>
          </a:xfrm>
          <a:prstGeom prst="rect">
            <a:avLst/>
          </a:prstGeom>
          <a:noFill/>
        </p:spPr>
        <p:txBody>
          <a:bodyPr wrap="none" rtlCol="0">
            <a:spAutoFit/>
          </a:bodyPr>
          <a:lstStyle/>
          <a:p>
            <a:r>
              <a:rPr lang="en-US" sz="2800" b="1" noProof="0" dirty="0"/>
              <a:t>ours</a:t>
            </a:r>
            <a:endParaRPr lang="en-US" sz="2000" b="1" noProof="0" dirty="0"/>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47564" y="4578262"/>
            <a:ext cx="2297873" cy="461665"/>
          </a:xfrm>
          <a:prstGeom prst="rect">
            <a:avLst/>
          </a:prstGeom>
          <a:noFill/>
        </p:spPr>
        <p:txBody>
          <a:bodyPr wrap="none" rtlCol="0">
            <a:spAutoFit/>
          </a:bodyPr>
          <a:lstStyle/>
          <a:p>
            <a:r>
              <a:rPr lang="en-US" sz="2400"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982000" y="4454517"/>
            <a:ext cx="2478564" cy="461665"/>
          </a:xfrm>
          <a:prstGeom prst="rect">
            <a:avLst/>
          </a:prstGeom>
          <a:noFill/>
        </p:spPr>
        <p:txBody>
          <a:bodyPr wrap="none" rtlCol="0">
            <a:spAutoFit/>
          </a:bodyPr>
          <a:lstStyle/>
          <a:p>
            <a:r>
              <a:rPr lang="en-US" sz="2400"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1663579" y="1424921"/>
            <a:ext cx="2743200" cy="910522"/>
            <a:chOff x="8661401" y="1810235"/>
            <a:chExt cx="2743200"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8777"/>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32474"/>
                <a:gd name="adj2" fmla="val 175273"/>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dirty="0"/>
                <a:t>Same for </a:t>
              </a:r>
              <a:r>
                <a:rPr lang="en-US" sz="2000" dirty="0" err="1">
                  <a:solidFill>
                    <a:srgbClr val="795E26"/>
                  </a:solidFill>
                  <a:latin typeface="Fira Code" panose="020B0809050000020004" pitchFamily="49" charset="0"/>
                </a:rPr>
                <a:t>bcast</a:t>
              </a:r>
              <a:r>
                <a:rPr lang="en-US" sz="2000" dirty="0"/>
                <a:t>, </a:t>
              </a:r>
              <a:r>
                <a:rPr lang="en-US" sz="2000" dirty="0">
                  <a:solidFill>
                    <a:srgbClr val="795E26"/>
                  </a:solidFill>
                  <a:latin typeface="Fira Code" panose="020B0809050000020004" pitchFamily="49" charset="0"/>
                </a:rPr>
                <a:t>scatter</a:t>
              </a:r>
              <a:r>
                <a:rPr lang="en-US" sz="2000" dirty="0"/>
                <a:t>, </a:t>
              </a:r>
              <a:r>
                <a:rPr lang="en-US" sz="2000" dirty="0">
                  <a:solidFill>
                    <a:srgbClr val="795E26"/>
                  </a:solidFill>
                  <a:latin typeface="Fira Code" panose="020B0809050000020004" pitchFamily="49" charset="0"/>
                </a:rPr>
                <a:t>gather</a:t>
              </a:r>
              <a:r>
                <a:rPr lang="en-US" sz="200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2056105" y="3932509"/>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8610600" y="3988321"/>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12</a:t>
              </a:r>
            </a:p>
          </p:txBody>
        </p:sp>
      </p:grpSp>
    </p:spTree>
    <p:extLst>
      <p:ext uri="{BB962C8B-B14F-4D97-AF65-F5344CB8AC3E}">
        <p14:creationId xmlns:p14="http://schemas.microsoft.com/office/powerpoint/2010/main" val="14841515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3"/>
          <a:srcRect l="2857" r="3096"/>
          <a:stretch>
            <a:fillRect/>
          </a:stretch>
        </p:blipFill>
        <p:spPr>
          <a:xfrm>
            <a:off x="0" y="1690687"/>
            <a:ext cx="12192000" cy="3635695"/>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F7B80F5-260D-8A4E-042B-B5377E8270BD}"/>
              </a:ext>
            </a:extLst>
          </p:cNvPr>
          <p:cNvPicPr>
            <a:picLocks noChangeAspect="1"/>
          </p:cNvPicPr>
          <p:nvPr/>
        </p:nvPicPr>
        <p:blipFill>
          <a:blip r:embed="rId3"/>
          <a:srcRect l="3214" t="7184" r="3333" b="5625"/>
          <a:stretch>
            <a:fillRect/>
          </a:stretch>
        </p:blipFill>
        <p:spPr>
          <a:xfrm>
            <a:off x="0" y="1903092"/>
            <a:ext cx="12192000" cy="3867270"/>
          </a:xfrm>
          <a:prstGeom prst="rect">
            <a:avLst/>
          </a:prstGeom>
        </p:spPr>
      </p:pic>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dirty="0" err="1"/>
                <a:t>Collegue</a:t>
              </a:r>
              <a:r>
                <a:rPr lang="en-US" sz="240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5225579" cy="3318028"/>
            <a:chOff x="118662" y="3398116"/>
            <a:chExt cx="522557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899383"/>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squar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a:t>
              </a:r>
              <a:r>
                <a:rPr lang="en-US" sz="2400" noProof="0" dirty="0" err="1">
                  <a:ea typeface="Fira Code" panose="020B0809050000020004" pitchFamily="49" charset="0"/>
                  <a:cs typeface="Fira Code" panose="020B0809050000020004" pitchFamily="49" charset="0"/>
                </a:rPr>
                <a:t>Cellato</a:t>
              </a:r>
              <a:r>
                <a:rPr lang="en-US" sz="2400" noProof="0" dirty="0">
                  <a:ea typeface="Fira Code" panose="020B0809050000020004" pitchFamily="49" charset="0"/>
                  <a:cs typeface="Fira Code" panose="020B0809050000020004" pitchFamily="49" charset="0"/>
                </a:rPr>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617508" cy="2167645"/>
          </a:xfrm>
          <a:prstGeom prst="rect">
            <a:avLst/>
          </a:prstGeom>
          <a:noFill/>
          <a:ln>
            <a:solidFill>
              <a:schemeClr val="tx1"/>
            </a:solidFill>
          </a:ln>
        </p:spPr>
        <p:txBody>
          <a:bodyPr wrap="squar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9148482" y="2326341"/>
            <a:ext cx="909918" cy="10024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a:t>
            </a:r>
            <a:r>
              <a:rPr lang="en-US" sz="2400" noProof="0" dirty="0" err="1"/>
              <a:t>Cellato</a:t>
            </a:r>
            <a:r>
              <a:rPr lang="en-US" sz="2400" noProof="0" dirty="0"/>
              <a:t> DSL)</a:t>
            </a:r>
          </a:p>
        </p:txBody>
      </p: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191" y="6114784"/>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670528" y="521647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32549" y="5791618"/>
            <a:ext cx="1406154" cy="646331"/>
          </a:xfrm>
          <a:prstGeom prst="rect">
            <a:avLst/>
          </a:prstGeom>
          <a:noFill/>
        </p:spPr>
        <p:txBody>
          <a:bodyPr wrap="none" rtlCol="0">
            <a:spAutoFit/>
          </a:bodyPr>
          <a:lstStyle/>
          <a:p>
            <a:pPr algn="ctr"/>
            <a:r>
              <a:rPr lang="en-US" dirty="0">
                <a:solidFill>
                  <a:srgbClr val="FF0000"/>
                </a:solidFill>
              </a:rPr>
              <a:t>Byte per cell</a:t>
            </a:r>
          </a:p>
          <a:p>
            <a:pPr algn="ctr"/>
            <a:r>
              <a:rPr lang="en-US"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221539"/>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144595"/>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144595"/>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144595"/>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4880388"/>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144595"/>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144595"/>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144595"/>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4734749"/>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4775641"/>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4734749"/>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4775641"/>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4771180"/>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539237"/>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344457"/>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385349"/>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303131"/>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344023"/>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344023"/>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28</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dirty="0"/>
              <a:t>Would abstractions help LLMs</a:t>
            </a:r>
            <a:br>
              <a:rPr lang="en-US" sz="2800" dirty="0"/>
            </a:br>
            <a:r>
              <a:rPr lang="en-US" sz="28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a:t>
            </a:r>
            <a:r>
              <a:rPr lang="en-US" dirty="0"/>
              <a:t>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17565713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a:t>Kokkos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3901880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a:t>Mdspan, Kokkos, Raja, CuTe, </a:t>
            </a:r>
            <a:r>
              <a:rPr lang="en-US" dirty="0" err="1"/>
              <a:t>GridTools</a:t>
            </a:r>
            <a:r>
              <a:rPr lang="en-US" dirty="0"/>
              <a:t>, OpenMP loops, Noarr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14137525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7.8|14.2|11.3|16.8|21.6|13"/>
</p:tagLst>
</file>

<file path=ppt/tags/tag2.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6026</TotalTime>
  <Words>6312</Words>
  <Application>Microsoft Office PowerPoint</Application>
  <PresentationFormat>Widescreen</PresentationFormat>
  <Paragraphs>829</Paragraphs>
  <Slides>39</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Illustrative example: matrix initialization</vt:lpstr>
      <vt:lpstr>Layout-agnostic design</vt:lpstr>
      <vt:lpstr>Layout abstractions</vt:lpstr>
      <vt:lpstr>Traversal abstractions</vt:lpstr>
      <vt:lpstr>Structures with different index spaces</vt:lpstr>
      <vt:lpstr>Traversal transformations</vt:lpstr>
      <vt:lpstr>Traversal parallelization</vt:lpstr>
      <vt:lpstr>Autotuning</vt:lpstr>
      <vt:lpstr>Autotuning</vt:lpstr>
      <vt:lpstr>Results</vt:lpstr>
      <vt:lpstr>Results</vt:lpstr>
      <vt:lpstr>Results</vt:lpstr>
      <vt:lpstr>Distributed initialization</vt:lpstr>
      <vt:lpstr>Automatic transformation in communication</vt:lpstr>
      <vt:lpstr>Results</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428</cp:revision>
  <dcterms:created xsi:type="dcterms:W3CDTF">2026-08-08T18:10:38Z</dcterms:created>
  <dcterms:modified xsi:type="dcterms:W3CDTF">2026-09-02T18:07:03Z</dcterms:modified>
</cp:coreProperties>
</file>