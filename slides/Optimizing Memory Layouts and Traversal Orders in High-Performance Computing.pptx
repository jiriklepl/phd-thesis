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2.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1"/>
  </p:notesMasterIdLst>
  <p:sldIdLst>
    <p:sldId id="256" r:id="rId2"/>
    <p:sldId id="322" r:id="rId3"/>
    <p:sldId id="277" r:id="rId4"/>
    <p:sldId id="296" r:id="rId5"/>
    <p:sldId id="297" r:id="rId6"/>
    <p:sldId id="283" r:id="rId7"/>
    <p:sldId id="314" r:id="rId8"/>
    <p:sldId id="326" r:id="rId9"/>
    <p:sldId id="284" r:id="rId10"/>
    <p:sldId id="285" r:id="rId11"/>
    <p:sldId id="323" r:id="rId12"/>
    <p:sldId id="278" r:id="rId13"/>
    <p:sldId id="325" r:id="rId14"/>
    <p:sldId id="300" r:id="rId15"/>
    <p:sldId id="286" r:id="rId16"/>
    <p:sldId id="290" r:id="rId17"/>
    <p:sldId id="279" r:id="rId18"/>
    <p:sldId id="324" r:id="rId19"/>
    <p:sldId id="287" r:id="rId20"/>
    <p:sldId id="316" r:id="rId21"/>
    <p:sldId id="302" r:id="rId22"/>
    <p:sldId id="280" r:id="rId23"/>
    <p:sldId id="310" r:id="rId24"/>
    <p:sldId id="288" r:id="rId25"/>
    <p:sldId id="305" r:id="rId26"/>
    <p:sldId id="291" r:id="rId27"/>
    <p:sldId id="306" r:id="rId28"/>
    <p:sldId id="315" r:id="rId29"/>
    <p:sldId id="308" r:id="rId30"/>
    <p:sldId id="309" r:id="rId31"/>
    <p:sldId id="311" r:id="rId32"/>
    <p:sldId id="266" r:id="rId33"/>
    <p:sldId id="312" r:id="rId34"/>
    <p:sldId id="262" r:id="rId35"/>
    <p:sldId id="320" r:id="rId36"/>
    <p:sldId id="318" r:id="rId37"/>
    <p:sldId id="319" r:id="rId38"/>
    <p:sldId id="317" r:id="rId39"/>
    <p:sldId id="321"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322"/>
            <p14:sldId id="277"/>
          </p14:sldIdLst>
        </p14:section>
        <p14:section name="algorithms" id="{7894E90A-E282-4867-82A4-369CDB973E4E}">
          <p14:sldIdLst>
            <p14:sldId id="296"/>
            <p14:sldId id="297"/>
            <p14:sldId id="283"/>
            <p14:sldId id="314"/>
            <p14:sldId id="326"/>
            <p14:sldId id="284"/>
            <p14:sldId id="285"/>
            <p14:sldId id="323"/>
            <p14:sldId id="278"/>
            <p14:sldId id="325"/>
            <p14:sldId id="300"/>
            <p14:sldId id="286"/>
            <p14:sldId id="290"/>
            <p14:sldId id="279"/>
            <p14:sldId id="324"/>
            <p14:sldId id="287"/>
            <p14:sldId id="316"/>
            <p14:sldId id="302"/>
            <p14:sldId id="280"/>
            <p14:sldId id="310"/>
          </p14:sldIdLst>
        </p14:section>
        <p14:section name="llms" id="{2FE3CF17-CBFB-48E9-A3BF-DD99B7D2F01E}">
          <p14:sldIdLst>
            <p14:sldId id="288"/>
            <p14:sldId id="305"/>
            <p14:sldId id="291"/>
            <p14:sldId id="306"/>
            <p14:sldId id="315"/>
            <p14:sldId id="308"/>
            <p14:sldId id="309"/>
            <p14:sldId id="311"/>
          </p14:sldIdLst>
        </p14:section>
        <p14:section name="summary" id="{D3BAAF83-51D3-4EFD-B7CC-7BA6DAC4A838}">
          <p14:sldIdLst>
            <p14:sldId id="266"/>
            <p14:sldId id="312"/>
          </p14:sldIdLst>
        </p14:section>
        <p14:section name="Review comments and questions" id="{40190F67-0659-405D-810E-4AC194B72FA5}">
          <p14:sldIdLst>
            <p14:sldId id="262"/>
            <p14:sldId id="320"/>
            <p14:sldId id="318"/>
            <p14:sldId id="319"/>
            <p14:sldId id="317"/>
            <p14:sldId id="321"/>
          </p14:sldIdLst>
        </p14:section>
        <p14:section name="supplementary" id="{5D95F6E9-DF15-476C-BE69-BBEF48AA8B86}">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D1717"/>
    <a:srgbClr val="969696"/>
    <a:srgbClr val="B2B2B2"/>
    <a:srgbClr val="DAE8FC"/>
    <a:srgbClr val="91C5EC"/>
    <a:srgbClr val="90C5EC"/>
    <a:srgbClr val="A12B2B"/>
    <a:srgbClr val="DC9494"/>
    <a:srgbClr val="D08888"/>
    <a:srgbClr val="D0707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4582" autoAdjust="0"/>
    <p:restoredTop sz="76267" autoAdjust="0"/>
  </p:normalViewPr>
  <p:slideViewPr>
    <p:cSldViewPr snapToGrid="0">
      <p:cViewPr>
        <p:scale>
          <a:sx n="100" d="100"/>
          <a:sy n="100" d="100"/>
        </p:scale>
        <p:origin x="3780" y="558"/>
      </p:cViewPr>
      <p:guideLst>
        <p:guide orient="horz" pos="2160"/>
        <p:guide pos="3840"/>
      </p:guideLst>
    </p:cSldViewPr>
  </p:slideViewPr>
  <p:outlineViewPr>
    <p:cViewPr>
      <p:scale>
        <a:sx n="33" d="100"/>
        <a:sy n="33" d="100"/>
      </p:scale>
      <p:origin x="0" y="-4716"/>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9/2/2026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I’d like to present my research, which focuses on simplifying algorithm design and optimizing memory access patterns in high-performance computing applications.</a:t>
            </a:r>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dirty="0"/>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The main motivation is that implementing efficient HPC algorithms is challenging, as they must use the target hardware effectively.</a:t>
            </a:r>
          </a:p>
          <a:p>
            <a:endParaRPr lang="en-US" dirty="0"/>
          </a:p>
          <a:p>
            <a:r>
              <a:rPr lang="en-US" dirty="0"/>
              <a:t>In this area, many algorithms operate on large multidimensional data through nested loops, which can be rearranged without changing the functionality.</a:t>
            </a:r>
          </a:p>
          <a:p>
            <a:endParaRPr lang="en-US" dirty="0"/>
          </a:p>
          <a:p>
            <a:r>
              <a:rPr lang="en-US" dirty="0"/>
              <a:t>The best combination of data layouts and traversal orders may significantly speed up the application, but finding those often requires re-evaluating the algorithm with many different choices.</a:t>
            </a:r>
          </a:p>
          <a:p>
            <a:endParaRPr lang="en-US" dirty="0"/>
          </a:p>
          <a:p>
            <a:r>
              <a:rPr lang="en-US" dirty="0"/>
              <a:t>My research studies two ways to reduce the effort. The first uses C++ abstractions to separate these choices from the algorithm, while the second uses LLMs to explore broader redesigns. We also study whether combining the two helps.</a:t>
            </a:r>
          </a:p>
          <a:p>
            <a:endParaRPr lang="en-US" dirty="0"/>
          </a:p>
          <a:p>
            <a:r>
              <a:rPr lang="en-US" dirty="0"/>
              <a:t>Let me first show why layouts and traversals matter, using a simple matrix example.</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2</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Here, we initialize an m by n matrix row by row.</a:t>
            </a:r>
          </a:p>
          <a:p>
            <a:endParaRPr lang="en-US" dirty="0"/>
          </a:p>
          <a:p>
            <a:r>
              <a:rPr lang="en-US" dirty="0"/>
              <a:t>This is commonly expressed as an assignment nested in a two-dimensional loop nest; in this particular example, the indices are generated iteratively for the elements, row by row.</a:t>
            </a:r>
          </a:p>
          <a:p>
            <a:br>
              <a:rPr lang="en-US" dirty="0"/>
            </a:br>
            <a:r>
              <a:rPr lang="en-US" dirty="0"/>
              <a:t>With the row-major layout, the inner loop advances along the columns within one row, so successive accesses are contiguous.</a:t>
            </a:r>
          </a:p>
          <a:p>
            <a:r>
              <a:rPr lang="en-US" dirty="0"/>
              <a:t>With the column-major layout, the same traversal accesses memory with a larger stride.</a:t>
            </a:r>
          </a:p>
          <a:p>
            <a:endParaRPr lang="en-US" dirty="0"/>
          </a:p>
          <a:p>
            <a:r>
              <a:rPr lang="en-US" dirty="0"/>
              <a:t>This affects hardware mechanisms such as caching, which makes accesses to close-by elements faster.</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As the correct choices in real-world algorithms with more complex data structures and traversals may not be so obvious,</a:t>
            </a:r>
          </a:p>
          <a:p>
            <a:r>
              <a:rPr lang="en-US" dirty="0"/>
              <a:t>we focused on enabling *layout-agnostic* design of algorithms, which minimizes reliance on specific memory layouts of the data structures.</a:t>
            </a:r>
            <a:br>
              <a:rPr lang="en-US" dirty="0"/>
            </a:br>
            <a:r>
              <a:rPr lang="en-US" dirty="0"/>
              <a:t>Using the same matrix initialization example, it accesses the matrix using a two-dimensional *logical structure* of the appropriate dimensions, while the specific physical *memory layout* is decoupled from the algorithm design.</a:t>
            </a:r>
          </a:p>
          <a:p>
            <a:endParaRPr lang="en-US" dirty="0"/>
          </a:p>
          <a:p>
            <a:r>
              <a:rPr lang="en-US" dirty="0"/>
              <a:t>The logical structure and the physical memory layout together form a single *layout abstraction* - a mapping from one to the other. It defines the indexation of the data structure as a public interface, and internally specifies how the elements</a:t>
            </a:r>
            <a:br>
              <a:rPr lang="en-US" dirty="0"/>
            </a:br>
            <a:r>
              <a:rPr lang="en-US" dirty="0"/>
              <a:t>are stored in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r>
              <a:rPr lang="en-US" dirty="0"/>
              <a:t>Our approach is based on specifying the layouts via composable *building blocks* (such as “scalar” that names a single value or “vector” that extends a given layout with one named dimension). It is handled natively by C++ templates to ensure portability and minimal runtime overhead.</a:t>
            </a:r>
          </a:p>
          <a:p>
            <a:endParaRPr lang="en-US" dirty="0"/>
          </a:p>
          <a:p>
            <a:r>
              <a:rPr lang="en-US" dirty="0"/>
              <a:t>By iteratively composing these building blocks, we can define a wide variety of derived data structures.</a:t>
            </a:r>
          </a:p>
          <a:p>
            <a:r>
              <a:rPr lang="en-US" dirty="0"/>
              <a:t>All dimensions are named, and they specify the semantic </a:t>
            </a:r>
            <a:r>
              <a:rPr lang="cs-CZ" dirty="0"/>
              <a:t>index </a:t>
            </a:r>
            <a:r>
              <a:rPr lang="cs-CZ" dirty="0" err="1"/>
              <a:t>space</a:t>
            </a:r>
            <a:r>
              <a:rPr lang="cs-CZ" dirty="0"/>
              <a:t> </a:t>
            </a:r>
            <a:r>
              <a:rPr lang="en-US" dirty="0"/>
              <a:t>of the layout, providing a predictable API.</a:t>
            </a:r>
          </a:p>
          <a:p>
            <a:endParaRPr lang="en-US" dirty="0"/>
          </a:p>
          <a:p>
            <a:r>
              <a:rPr lang="en-US" dirty="0"/>
              <a:t>A data structure with dimensions ‘m’ and ‘n’ can be indexed with an index point with the appropriate dimensions.</a:t>
            </a:r>
          </a:p>
          <a:p>
            <a:r>
              <a:rPr lang="en-US" dirty="0"/>
              <a:t>The encoded dimension names ensure that the indices will be paired with the dimensions of the structure correctly.</a:t>
            </a:r>
          </a:p>
          <a:p>
            <a:endParaRPr lang="en-US" dirty="0"/>
          </a:p>
          <a:p>
            <a:r>
              <a:rPr lang="en-US" dirty="0"/>
              <a:t>The abstraction also enables encoding a known parameter in the type instead of the object, which the compiler may use in computations to achieve better optimization.</a:t>
            </a:r>
          </a:p>
          <a:p>
            <a:endParaRPr lang="en-US" dirty="0"/>
          </a:p>
          <a:p>
            <a:r>
              <a:rPr lang="en-US" dirty="0"/>
              <a:t>---</a:t>
            </a:r>
          </a:p>
          <a:p>
            <a:br>
              <a:rPr lang="en-US" dirty="0"/>
            </a:br>
            <a:r>
              <a:rPr lang="en-US" dirty="0"/>
              <a:t>A data structure can be constructed from a given layout using a simple “bag” constructor, which automatically manages an appropriate memory buffer.</a:t>
            </a:r>
          </a:p>
          <a:p>
            <a:r>
              <a:rPr lang="en-US" dirty="0"/>
              <a:t>If we require the </a:t>
            </a:r>
            <a:r>
              <a:rPr lang="cs-CZ" dirty="0"/>
              <a:t>data </a:t>
            </a:r>
            <a:r>
              <a:rPr lang="en-US" dirty="0"/>
              <a:t>to reside in a</a:t>
            </a:r>
            <a:r>
              <a:rPr lang="cs-CZ" dirty="0"/>
              <a:t> </a:t>
            </a:r>
            <a:r>
              <a:rPr lang="cs-CZ" dirty="0" err="1"/>
              <a:t>specific</a:t>
            </a:r>
            <a:r>
              <a:rPr lang="cs-CZ" dirty="0"/>
              <a:t> buffer</a:t>
            </a:r>
            <a:r>
              <a:rPr lang="en-US" dirty="0"/>
              <a:t>, we can supply it ourselves to create a non-owning view to the data</a:t>
            </a:r>
            <a:r>
              <a:rPr lang="cs-CZ" dirty="0"/>
              <a:t>.</a:t>
            </a:r>
            <a:endParaRPr lang="en-US" dirty="0"/>
          </a:p>
          <a:p>
            <a:endParaRPr lang="cs-CZ" dirty="0"/>
          </a:p>
          <a:p>
            <a:r>
              <a:rPr lang="en-US" dirty="0"/>
              <a:t>---</a:t>
            </a:r>
          </a:p>
          <a:p>
            <a:br>
              <a:rPr lang="en-US" dirty="0"/>
            </a:br>
            <a:r>
              <a:rPr lang="en-US" dirty="0"/>
              <a:t>(bridge)</a:t>
            </a:r>
          </a:p>
          <a:p>
            <a:r>
              <a:rPr lang="en-US" dirty="0"/>
              <a:t>Related forms of layout abstraction appear in std::mdspan and Kokkos::View, with limited composability and composable CuTe layouts for tensor representation in GPU programming. The indexation of these abstractions is based on linear algebra and uses positional encoding for the logical structure. The compositionality of our approach is not limited to linear algebra and generalizes well to traversal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introducing abstraction for traversal-agnostic algorithms – traversers)</a:t>
            </a:r>
            <a:br>
              <a:rPr lang="en-US" dirty="0"/>
            </a:br>
            <a:br>
              <a:rPr lang="en-US" dirty="0"/>
            </a:br>
            <a:r>
              <a:rPr lang="en-US" dirty="0"/>
              <a:t>(with bridge: which enables traversal-agnostic design)</a:t>
            </a:r>
          </a:p>
          <a:p>
            <a:r>
              <a:rPr lang="en-US" dirty="0"/>
              <a:t>(without bridge: After carefully assessing how the principles play into defining layout-agnostic algorithms,</a:t>
            </a:r>
            <a:br>
              <a:rPr lang="en-US" dirty="0"/>
            </a:br>
            <a:r>
              <a:rPr lang="en-US" dirty="0"/>
              <a:t>we have extended the approach to define traversals as well, enabling traversal-agnostic design.)</a:t>
            </a:r>
          </a:p>
          <a:p>
            <a:endParaRPr lang="en-US" dirty="0"/>
          </a:p>
          <a:p>
            <a:r>
              <a:rPr lang="en-US" dirty="0"/>
              <a:t>For that, we have devised a traverser abstraction.</a:t>
            </a:r>
          </a:p>
          <a:p>
            <a:r>
              <a:rPr lang="en-US" dirty="0"/>
              <a:t>For a single structure, the traverser offers the functionality of a for-each algorithm –</a:t>
            </a:r>
            <a:br>
              <a:rPr lang="en-US" dirty="0"/>
            </a:br>
            <a:r>
              <a:rPr lang="en-US" dirty="0"/>
              <a:t>we can thus write the earlier shown initialization algorithm without relying on the dimensions of the structure.</a:t>
            </a:r>
          </a:p>
          <a:p>
            <a:r>
              <a:rPr lang="en-US" dirty="0"/>
              <a:t>The dimensions are traversed automatically and composed into an index point that is given as an argument to a lambda expression specifying the element-wise action on the traversed structure.</a:t>
            </a:r>
            <a:br>
              <a:rPr lang="en-US" dirty="0"/>
            </a:br>
            <a:br>
              <a:rPr lang="en-US" dirty="0"/>
            </a:br>
            <a:r>
              <a:rPr lang="en-US" dirty="0"/>
              <a:t>If two structures share the same index space, a traverser constructed from them can be used to copy the data from one to the other. It automatically recognizes that their index spaces fully overlap and traverses all dimensions only once.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the structures use different physical layouts, the same algorithm automatically converts between the layouts while preserving the logical structure.</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a:t>
            </a:r>
          </a:p>
          <a:p>
            <a:r>
              <a:rPr lang="en-US" dirty="0"/>
              <a:t>Let’s show that on the matrix multiplication algorithm.</a:t>
            </a:r>
          </a:p>
          <a:p>
            <a:endParaRPr lang="en-US" dirty="0"/>
          </a:p>
          <a:p>
            <a:r>
              <a:rPr lang="en-US" dirty="0"/>
              <a:t>In code, it can be expressed as a three-dimensional loop nest.</a:t>
            </a:r>
          </a:p>
          <a:p>
            <a:r>
              <a:rPr lang="en-US" dirty="0"/>
              <a:t>We can define the same three loops by simply using the traverser.</a:t>
            </a:r>
          </a:p>
          <a:p>
            <a:endParaRPr lang="en-US" dirty="0"/>
          </a:p>
          <a:p>
            <a:r>
              <a:rPr lang="en-US" dirty="0"/>
              <a:t>It extracts the dimensions from the provided data structures and</a:t>
            </a:r>
            <a:br>
              <a:rPr lang="en-US" dirty="0"/>
            </a:br>
            <a:r>
              <a:rPr lang="en-US" dirty="0"/>
              <a:t>represents a loop nest from unique copies of the dimension.</a:t>
            </a:r>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45A5D-911E-326E-C9A3-9C3EB7DB55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C4EFE1-B0C5-BDA3-347D-3368CED5717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70F7586-8B8C-9621-4AFF-13A63F5D168A}"/>
              </a:ext>
            </a:extLst>
          </p:cNvPr>
          <p:cNvSpPr>
            <a:spLocks noGrp="1"/>
          </p:cNvSpPr>
          <p:nvPr>
            <p:ph type="body" idx="1"/>
          </p:nvPr>
        </p:nvSpPr>
        <p:spPr/>
        <p:txBody>
          <a:bodyPr/>
          <a:lstStyle/>
          <a:p>
            <a:r>
              <a:rPr lang="en-US" dirty="0"/>
              <a:t>(key idea: optimizing the traversal)</a:t>
            </a:r>
          </a:p>
          <a:p>
            <a:endParaRPr lang="en-US" dirty="0"/>
          </a:p>
          <a:p>
            <a:r>
              <a:rPr lang="en-US" dirty="0"/>
              <a:t>Even by itself, this would be nice, but we can do even more.</a:t>
            </a:r>
            <a:br>
              <a:rPr lang="en-US" dirty="0"/>
            </a:br>
            <a:endParaRPr lang="en-US" dirty="0"/>
          </a:p>
          <a:p>
            <a:r>
              <a:rPr lang="en-US" dirty="0"/>
              <a:t>Let’s say we want to perform the matrix multiplication by tiles of the output to improve the caching behavior.</a:t>
            </a:r>
            <a:br>
              <a:rPr lang="en-US" dirty="0"/>
            </a:br>
            <a:r>
              <a:rPr lang="en-US" dirty="0"/>
              <a:t>We can do so by defining the transformation using the same principles as defining layouts and then applying it to the traverser.</a:t>
            </a:r>
          </a:p>
          <a:p>
            <a:r>
              <a:rPr lang="en-US" dirty="0"/>
              <a:t>We do not need to rewrite the computation logic or change the structures to do that.</a:t>
            </a:r>
          </a:p>
          <a:p>
            <a:endParaRPr lang="en-US" dirty="0"/>
          </a:p>
          <a:p>
            <a:r>
              <a:rPr lang="en-US" dirty="0"/>
              <a:t>We can also parallelize the computation on CPU using various parallel backends such as OpenMP or Threading Building Blocks using dedicated </a:t>
            </a:r>
            <a:r>
              <a:rPr lang="en-US" dirty="0" err="1"/>
              <a:t>for_each</a:t>
            </a:r>
            <a:r>
              <a:rPr lang="en-US" dirty="0"/>
              <a:t> executors.</a:t>
            </a:r>
          </a:p>
          <a:p>
            <a:r>
              <a:rPr lang="en-US" dirty="0"/>
              <a:t>For parallelization on the GPU device using the CUDA framework, we define cuda_traversers, which bind the traversal to parallelization over a GPU grid.</a:t>
            </a:r>
          </a:p>
        </p:txBody>
      </p:sp>
      <p:sp>
        <p:nvSpPr>
          <p:cNvPr id="4" name="Slide Number Placeholder 3">
            <a:extLst>
              <a:ext uri="{FF2B5EF4-FFF2-40B4-BE49-F238E27FC236}">
                <a16:creationId xmlns:a16="http://schemas.microsoft.com/office/drawing/2014/main" id="{0E987452-59B1-C67B-B782-0C8B96ABBD42}"/>
              </a:ext>
            </a:extLst>
          </p:cNvPr>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7765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optimizing the traversal)</a:t>
            </a:r>
          </a:p>
          <a:p>
            <a:endParaRPr lang="en-US" dirty="0"/>
          </a:p>
          <a:p>
            <a:r>
              <a:rPr lang="en-US" dirty="0"/>
              <a:t>Even by itself, this would be nice, but we can do even more.</a:t>
            </a:r>
            <a:br>
              <a:rPr lang="en-US" dirty="0"/>
            </a:br>
            <a:endParaRPr lang="en-US" dirty="0"/>
          </a:p>
          <a:p>
            <a:r>
              <a:rPr lang="en-US" dirty="0"/>
              <a:t>Let’s say we want to perform the matrix multiplication by tiles of the output to improve the caching behavior.</a:t>
            </a:r>
            <a:br>
              <a:rPr lang="en-US" dirty="0"/>
            </a:br>
            <a:r>
              <a:rPr lang="en-US" dirty="0"/>
              <a:t>We can do so by defining the transformation using the same principles as defining layouts and then applying it to the traverser.</a:t>
            </a:r>
          </a:p>
          <a:p>
            <a:r>
              <a:rPr lang="en-US" dirty="0"/>
              <a:t>We do not need to rewrite the computation logic or change the structures to do that.</a:t>
            </a:r>
          </a:p>
          <a:p>
            <a:endParaRPr lang="en-US" dirty="0"/>
          </a:p>
          <a:p>
            <a:r>
              <a:rPr lang="en-US" dirty="0"/>
              <a:t>We can also parallelize the computation on CPU using various parallel backends such as OpenMP or Threading Building Blocks using dedicated </a:t>
            </a:r>
            <a:r>
              <a:rPr lang="en-US" dirty="0" err="1"/>
              <a:t>for_each</a:t>
            </a:r>
            <a:r>
              <a:rPr lang="en-US" dirty="0"/>
              <a:t> executors.</a:t>
            </a:r>
          </a:p>
          <a:p>
            <a:r>
              <a:rPr lang="en-US" dirty="0"/>
              <a:t>For parallelization on the GPU device using the CUDA framework, we define cuda_traversers, which bind the traversal to parallelization over a GPU grid.</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t>
            </a:r>
            <a:r>
              <a:rPr lang="en-US" dirty="0" err="1"/>
              <a:t>autotuners</a:t>
            </a:r>
            <a:r>
              <a:rPr lang="en-US" dirty="0"/>
              <a:t>)</a:t>
            </a:r>
          </a:p>
          <a:p>
            <a:endParaRPr lang="en-US" dirty="0"/>
          </a:p>
          <a:p>
            <a:r>
              <a:rPr lang="en-US" dirty="0"/>
              <a:t>These two stages have provided the groundwork for enabling seamless and automatable code optimization in C++ that is fully transparent and directable by the user. We then finalized it by showing its integrability with existing autotuning solutions.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Define the same parameter on the </a:t>
            </a:r>
            <a:r>
              <a:rPr lang="en-US" dirty="0" err="1"/>
              <a:t>autotuner’s</a:t>
            </a:r>
            <a:r>
              <a:rPr lang="en-US" dirty="0"/>
              <a:t> side</a:t>
            </a:r>
          </a:p>
          <a:p>
            <a:pPr marL="171450" indent="-171450">
              <a:buFontTx/>
              <a:buChar char="-"/>
            </a:pPr>
            <a:r>
              <a:rPr lang="en-US" dirty="0"/>
              <a:t>Handle how the value is communicated</a:t>
            </a:r>
          </a:p>
          <a:p>
            <a:pPr marL="171450" indent="-171450">
              <a:buFontTx/>
              <a:buChar char="-"/>
            </a:pPr>
            <a:endParaRPr lang="en-US" dirty="0"/>
          </a:p>
          <a:p>
            <a:pPr marL="0" indent="0">
              <a:buFontTx/>
              <a:buNone/>
            </a:pPr>
            <a:r>
              <a:rPr lang="en-US" dirty="0"/>
              <a:t>The values may be passed as compiler defines and then injected into the code or used in conditions of preprocessor directives.</a:t>
            </a:r>
          </a:p>
          <a:p>
            <a:pPr marL="0" indent="0">
              <a:buFontTx/>
              <a:buNone/>
            </a:pPr>
            <a:endParaRPr lang="en-US" dirty="0"/>
          </a:p>
          <a:p>
            <a:pPr marL="0" indent="0">
              <a:buFontTx/>
              <a:buNone/>
            </a:pPr>
            <a:r>
              <a:rPr lang="en-US" dirty="0"/>
              <a:t>This creates an unnecessary amount of boilerplate definitions and communication specifications that are difficult to maintain and prone to mistakes.</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2D76E-86D8-FA1D-47DD-53FBCC7A0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0945A-525F-81D2-1AA3-A8CDC6E46AA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95BA28-DB8B-FD79-D119-84FD17F47E87}"/>
              </a:ext>
            </a:extLst>
          </p:cNvPr>
          <p:cNvSpPr>
            <a:spLocks noGrp="1"/>
          </p:cNvSpPr>
          <p:nvPr>
            <p:ph type="body" idx="1"/>
          </p:nvPr>
        </p:nvSpPr>
        <p:spPr/>
        <p:txBody>
          <a:bodyPr/>
          <a:lstStyle/>
          <a:p>
            <a:r>
              <a:rPr lang="en-US" dirty="0"/>
              <a:t>(key idea: autotuning made easier)</a:t>
            </a:r>
          </a:p>
          <a:p>
            <a:endParaRPr lang="en-US" dirty="0"/>
          </a:p>
          <a:p>
            <a:pPr marL="0" indent="0">
              <a:buFontTx/>
              <a:buNone/>
            </a:pPr>
            <a:r>
              <a:rPr lang="en-US" dirty="0"/>
              <a:t>(…)</a:t>
            </a:r>
          </a:p>
          <a:p>
            <a:endParaRPr lang="en-US" dirty="0"/>
          </a:p>
          <a:p>
            <a:r>
              <a:rPr lang="en-US" dirty="0"/>
              <a:t>We have implemented an autotuning interface that allows for specifying the tuned parameters in the same code as the algorithm.</a:t>
            </a:r>
            <a:br>
              <a:rPr lang="en-US" dirty="0"/>
            </a:br>
            <a:r>
              <a:rPr lang="en-US" dirty="0"/>
              <a:t>This specification is independent of the autotuning backend, and the whole autotuning process is handled automatically,</a:t>
            </a:r>
          </a:p>
          <a:p>
            <a:r>
              <a:rPr lang="en-US" dirty="0"/>
              <a:t>which makes switching between different autotuning frameworks easy.</a:t>
            </a:r>
          </a:p>
        </p:txBody>
      </p:sp>
      <p:sp>
        <p:nvSpPr>
          <p:cNvPr id="4" name="Slide Number Placeholder 3">
            <a:extLst>
              <a:ext uri="{FF2B5EF4-FFF2-40B4-BE49-F238E27FC236}">
                <a16:creationId xmlns:a16="http://schemas.microsoft.com/office/drawing/2014/main" id="{76F1F655-2225-F883-4EB5-DE7E1007C6E3}"/>
              </a:ext>
            </a:extLst>
          </p:cNvPr>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17221596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PolyBench/C suite, reimplementing each algorithm using Noarr and comparing them to the C baselines.</a:t>
            </a:r>
          </a:p>
          <a:p>
            <a:endParaRPr lang="en-US" dirty="0"/>
          </a:p>
          <a:p>
            <a:r>
              <a:rPr lang="en-US" dirty="0"/>
              <a:t>The plot shows the relative speedup; most implementations perform on par, showing the abstraction does not introduce measurable runtime overhead.</a:t>
            </a:r>
          </a:p>
          <a:p>
            <a:endParaRPr lang="en-US" dirty="0"/>
          </a:p>
          <a:p>
            <a:r>
              <a:rPr lang="en-US" dirty="0"/>
              <a:t>For parallelization, we reimplemented OpenMP- and TBB-parallelized modifications of some algorithms, as well as the </a:t>
            </a:r>
            <a:r>
              <a:rPr lang="en-US" dirty="0" err="1"/>
              <a:t>PolyBench</a:t>
            </a:r>
            <a:r>
              <a:rPr lang="en-US" dirty="0"/>
              <a:t>/GPU suite, and obtained similar results.</a:t>
            </a:r>
          </a:p>
        </p:txBody>
      </p:sp>
      <p:sp>
        <p:nvSpPr>
          <p:cNvPr id="4" name="Slide Number Placeholder 3"/>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4231C-99AF-A37D-3B97-99027AECD0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16B43E-916F-F0E8-143C-150E2EA8DA7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834A780-56D1-B3D7-FD6B-22EBBB772E35}"/>
              </a:ext>
            </a:extLst>
          </p:cNvPr>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PolyBench/C suite, reimplementing each algorithm using Noarr and comparing them to the C baselines.</a:t>
            </a:r>
          </a:p>
          <a:p>
            <a:endParaRPr lang="en-US" dirty="0"/>
          </a:p>
          <a:p>
            <a:r>
              <a:rPr lang="en-US" dirty="0"/>
              <a:t>The plot shows the relative speedup; most implementations perform on par, showing the abstraction does not introduce measurable runtime overhead.</a:t>
            </a:r>
          </a:p>
          <a:p>
            <a:endParaRPr lang="en-US" dirty="0"/>
          </a:p>
          <a:p>
            <a:r>
              <a:rPr lang="en-US" dirty="0"/>
              <a:t>For parallelization, we reimplemented OpenMP- and TBB-parallelized modifications of some algorithms, as well as the </a:t>
            </a:r>
            <a:r>
              <a:rPr lang="en-US" dirty="0" err="1"/>
              <a:t>PolyBench</a:t>
            </a:r>
            <a:r>
              <a:rPr lang="en-US" dirty="0"/>
              <a:t>/GPU suite, and obtained similar results.</a:t>
            </a:r>
          </a:p>
        </p:txBody>
      </p:sp>
      <p:sp>
        <p:nvSpPr>
          <p:cNvPr id="4" name="Slide Number Placeholder 3">
            <a:extLst>
              <a:ext uri="{FF2B5EF4-FFF2-40B4-BE49-F238E27FC236}">
                <a16:creationId xmlns:a16="http://schemas.microsoft.com/office/drawing/2014/main" id="{9CDDD263-2623-C8A3-A72C-EAD1D38E6FD1}"/>
              </a:ext>
            </a:extLst>
          </p:cNvPr>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11425210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a:t>
            </a:r>
            <a:r>
              <a:rPr lang="en-US"/>
              <a:t>its definition </a:t>
            </a:r>
            <a:r>
              <a:rPr lang="en-US" dirty="0"/>
              <a:t>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that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initializing each tile of the data in a separate MPI process and then gathering the tiles into fully initialized data.</a:t>
            </a:r>
          </a:p>
          <a:p>
            <a:endParaRPr lang="en-US" dirty="0"/>
          </a:p>
          <a:p>
            <a:r>
              <a:rPr lang="en-US" dirty="0"/>
              <a:t>This requires two core pieces:</a:t>
            </a:r>
          </a:p>
          <a:p>
            <a:pPr marL="228600" indent="-228600">
              <a:buAutoNum type="arabicPeriod"/>
            </a:pPr>
            <a:r>
              <a:rPr lang="en-US" dirty="0"/>
              <a:t>Binding a traversal dimension to the participating MPI ranks described by an MPI communicator.</a:t>
            </a:r>
          </a:p>
          <a:p>
            <a:pPr marL="228600" indent="-228600">
              <a:buAutoNum type="arabicPeriod"/>
            </a:pPr>
            <a:r>
              <a:rPr lang="en-US" dirty="0"/>
              <a:t>Translating Noarr layouts into appropriate MPI datatypes so we can use them in communication.</a:t>
            </a:r>
          </a:p>
          <a:p>
            <a:pPr marL="0" indent="0">
              <a:buNone/>
            </a:pPr>
            <a:endParaRPr lang="en-US" dirty="0"/>
          </a:p>
          <a:p>
            <a:pPr marL="0" indent="0">
              <a:buNone/>
            </a:pPr>
            <a:r>
              <a:rPr lang="en-US" dirty="0"/>
              <a:t>For the binding, we implemented an MPI traverser that binds the communicator to a specified dimension.</a:t>
            </a:r>
          </a:p>
          <a:p>
            <a:pPr marL="0" indent="0">
              <a:buNone/>
            </a:pPr>
            <a:r>
              <a:rPr lang="en-US" dirty="0"/>
              <a:t>(Using the earlier shown transformation principles, we can also define more intricate bindings.)</a:t>
            </a:r>
          </a:p>
          <a:p>
            <a:pPr marL="0" indent="0">
              <a:buNone/>
            </a:pPr>
            <a:r>
              <a:rPr lang="en-US" dirty="0"/>
              <a:t>This then allows us to define the derived local tile and instantiate it similarly to the serial implementation.</a:t>
            </a:r>
          </a:p>
          <a:p>
            <a:endParaRPr lang="en-US" dirty="0"/>
          </a:p>
          <a:p>
            <a:r>
              <a:rPr lang="en-US" dirty="0"/>
              <a:t>We have then implemented the mapping of the layouts into the MPI datatypes,</a:t>
            </a:r>
          </a:p>
          <a:p>
            <a:r>
              <a:rPr lang="en-US" dirty="0"/>
              <a:t>which allows us to automatically gather the tiles into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r>
              <a:rPr lang="en-US" dirty="0"/>
              <a:t>It also enables automatic transformation of the data if the memory layouts on the opposing endpoints differ, as the mapping follows the shared logical structure.</a:t>
            </a:r>
          </a:p>
          <a:p>
            <a:r>
              <a:rPr lang="en-US" dirty="0"/>
              <a:t>If such communication was done naively, the data could be corrupted by wrongfully following the physical layout instead of the intended logical structure.</a:t>
            </a:r>
          </a:p>
          <a:p>
            <a:endParaRPr lang="en-US" dirty="0"/>
          </a:p>
          <a:p>
            <a:r>
              <a:rPr lang="en-US" dirty="0"/>
              <a:t>This, of course, works in collective operations, such as scatter and gather, as well.</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with various state-of-the-art C++ MPI bindings in terms of how they support layout-agnostic data distribution. For that, we have identified 6 main characteristics.</a:t>
            </a:r>
          </a:p>
          <a:p>
            <a:endParaRPr lang="en-US" dirty="0"/>
          </a:p>
          <a:p>
            <a:r>
              <a:rPr lang="en-US" dirty="0"/>
              <a:t>Among the evaluated bindings, our approach is the only one that automatically handles differing physical layouts on opposite endpoints of communication (as shown on the previous slide).</a:t>
            </a:r>
          </a:p>
          <a:p>
            <a:r>
              <a:rPr lang="en-US" dirty="0"/>
              <a:t>We also compared whether they support multidimensional data layouts and their non-contiguous slices, the need for explicit packing and unpacking of data elements, and whether the approach chosen by the bindings performs some type safety checks.</a:t>
            </a:r>
          </a:p>
          <a:p>
            <a:endParaRPr lang="en-US" dirty="0"/>
          </a:p>
          <a:p>
            <a:r>
              <a:rPr lang="en-US" dirty="0"/>
              <a:t>In terms of performance, our approach does not add a significant overhead compared to a hand-written native MPI distributed computation.</a:t>
            </a:r>
          </a:p>
          <a:p>
            <a:endParaRPr lang="en-US" dirty="0"/>
          </a:p>
          <a:p>
            <a:r>
              <a:rPr lang="en-US" dirty="0"/>
              <a:t>The plot on the left shows the runtime of computation on small data of various layouts (lower is better), highlighting the possible performance overhead introduced by the MPI bindings,</a:t>
            </a:r>
            <a:br>
              <a:rPr lang="en-US" dirty="0"/>
            </a:br>
            <a:r>
              <a:rPr lang="en-US" dirty="0"/>
              <a:t>while the one on the right highlights the performance overhead introduced by the abstractions used for computation.</a:t>
            </a:r>
          </a:p>
          <a:p>
            <a:endParaRPr lang="en-US" dirty="0"/>
          </a:p>
          <a:p>
            <a:r>
              <a:rPr lang="en-US" dirty="0"/>
              <a:t>The varying heights of groups of columns in this plot are caused by changes in the algorithm’s performance due to the choice of data structure layouts.</a:t>
            </a:r>
          </a:p>
        </p:txBody>
      </p:sp>
      <p:sp>
        <p:nvSpPr>
          <p:cNvPr id="4" name="Slide Number Placeholder 3"/>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83BFA-8783-1636-904D-607405B476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93AAE5-A878-F56E-4C09-318E4AB2FA9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C7B76B8-E708-FD49-531B-1B09985ABB4E}"/>
              </a:ext>
            </a:extLst>
          </p:cNvPr>
          <p:cNvSpPr>
            <a:spLocks noGrp="1"/>
          </p:cNvSpPr>
          <p:nvPr>
            <p:ph type="body" idx="1"/>
          </p:nvPr>
        </p:nvSpPr>
        <p:spPr/>
        <p:txBody>
          <a:bodyPr/>
          <a:lstStyle/>
          <a:p>
            <a:r>
              <a:rPr lang="en-US" dirty="0"/>
              <a:t>(key idea: it is very great)</a:t>
            </a:r>
          </a:p>
          <a:p>
            <a:endParaRPr lang="en-US" dirty="0"/>
          </a:p>
          <a:p>
            <a:r>
              <a:rPr lang="en-US" dirty="0"/>
              <a:t>We have compared our approach with various state-of-the-art C++ MPI bindings in terms of how they support layout-agnostic data distribution. For that, we have identified 6 main characteristics.</a:t>
            </a:r>
          </a:p>
          <a:p>
            <a:endParaRPr lang="en-US" dirty="0"/>
          </a:p>
          <a:p>
            <a:r>
              <a:rPr lang="en-US" dirty="0"/>
              <a:t>Among the evaluated bindings, our approach is the only one that automatically handles differing physical layouts on opposite endpoints of communication (as shown on the previous slide).</a:t>
            </a:r>
          </a:p>
          <a:p>
            <a:r>
              <a:rPr lang="en-US" dirty="0"/>
              <a:t>We also compared whether they support multidimensional data layouts and their non-contiguous slices, the need for explicit packing and unpacking of data elements, and whether the approach chosen by the bindings performs some type safety checks.</a:t>
            </a:r>
          </a:p>
          <a:p>
            <a:endParaRPr lang="en-US" dirty="0"/>
          </a:p>
          <a:p>
            <a:r>
              <a:rPr lang="en-US" dirty="0"/>
              <a:t>In terms of performance, our approach does not add a significant overhead compared to a hand-written native MPI distributed computation.</a:t>
            </a:r>
          </a:p>
          <a:p>
            <a:endParaRPr lang="en-US" dirty="0"/>
          </a:p>
          <a:p>
            <a:r>
              <a:rPr lang="en-US" dirty="0"/>
              <a:t>The plot on the left shows the runtime of computation on small data of various layouts (lower is better), highlighting the possible performance overhead introduced by the MPI bindings,</a:t>
            </a:r>
            <a:br>
              <a:rPr lang="en-US" dirty="0"/>
            </a:br>
            <a:r>
              <a:rPr lang="en-US" dirty="0"/>
              <a:t>while the one on the right highlights the performance overhead introduced by the abstractions used for computation.</a:t>
            </a:r>
          </a:p>
          <a:p>
            <a:endParaRPr lang="en-US" dirty="0"/>
          </a:p>
          <a:p>
            <a:r>
              <a:rPr lang="en-US" dirty="0"/>
              <a:t>The varying heights of groups of columns in this plot are caused by changes in the algorithm’s performance due to the choice of data structure layouts.</a:t>
            </a:r>
          </a:p>
        </p:txBody>
      </p:sp>
      <p:sp>
        <p:nvSpPr>
          <p:cNvPr id="4" name="Slide Number Placeholder 3">
            <a:extLst>
              <a:ext uri="{FF2B5EF4-FFF2-40B4-BE49-F238E27FC236}">
                <a16:creationId xmlns:a16="http://schemas.microsoft.com/office/drawing/2014/main" id="{ECDBFCA8-23DF-8800-D1EA-B5EF55065B8A}"/>
              </a:ext>
            </a:extLst>
          </p:cNvPr>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110073232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knowledge transfer to stencil computation)</a:t>
            </a:r>
          </a:p>
          <a:p>
            <a:endParaRPr lang="en-US" dirty="0"/>
          </a:p>
          <a:p>
            <a:r>
              <a:rPr lang="en-US" dirty="0"/>
              <a:t>Covering the major aspects of general-purpose HPC programming, we studied the application of the principles to more specific domains.</a:t>
            </a:r>
          </a:p>
          <a:p>
            <a:endParaRPr lang="en-US" dirty="0"/>
          </a:p>
          <a:p>
            <a:r>
              <a:rPr lang="en-US" dirty="0"/>
              <a:t>One domain from our past research where we could expand on the abstractions was stencil computations.</a:t>
            </a:r>
          </a:p>
          <a:p>
            <a:r>
              <a:rPr lang="en-US" dirty="0"/>
              <a:t>Stencil computations are used in many fields, for example, weather prediction and image processing.</a:t>
            </a:r>
          </a:p>
          <a:p>
            <a:endParaRPr lang="en-US" dirty="0"/>
          </a:p>
          <a:p>
            <a:r>
              <a:rPr lang="en-US" dirty="0"/>
              <a:t>They are computed on regular grids with cells.</a:t>
            </a:r>
          </a:p>
          <a:p>
            <a:r>
              <a:rPr lang="en-US" dirty="0"/>
              <a:t>And the grid is updated by applying a neighborhood-based rule to each cell.</a:t>
            </a:r>
          </a:p>
          <a:p>
            <a:endParaRPr lang="en-US" dirty="0"/>
          </a:p>
          <a:p>
            <a:r>
              <a:rPr lang="en-US" dirty="0"/>
              <a:t>While the earlier abstractions are usable for defining and optimizing general stencil computations,</a:t>
            </a:r>
            <a:br>
              <a:rPr lang="en-US" dirty="0"/>
            </a:br>
            <a:r>
              <a:rPr lang="en-US" dirty="0"/>
              <a:t>we have studied whether we can abstract away even more details of the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modeling various systems, such as fluid dynamics or materials science.</a:t>
            </a:r>
          </a:p>
          <a:p>
            <a:endParaRPr lang="en-US" dirty="0"/>
          </a:p>
          <a:p>
            <a:r>
              <a:rPr lang="en-US" dirty="0"/>
              <a:t>Their rules can be expressed as nested logic expressions that depend on cell states in the neighborhood.</a:t>
            </a:r>
          </a:p>
          <a:p>
            <a:endParaRPr lang="en-US" dirty="0"/>
          </a:p>
          <a:p>
            <a:r>
              <a:rPr lang="en-US" dirty="0"/>
              <a:t>We developed an abstraction that allows the rule to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 they specify</a:t>
            </a:r>
          </a:p>
          <a:p>
            <a:pPr marL="171450" indent="-171450">
              <a:buFontTx/>
              <a:buChar char="-"/>
            </a:pPr>
            <a:r>
              <a:rPr lang="en-US" dirty="0"/>
              <a:t>How the grid and the cells are encoded</a:t>
            </a:r>
          </a:p>
          <a:p>
            <a:pPr marL="171450" indent="-171450">
              <a:buFontTx/>
              <a:buChar char="-"/>
            </a:pPr>
            <a:r>
              <a:rPr lang="en-US" dirty="0"/>
              <a:t>How the update rules should be computed</a:t>
            </a:r>
          </a:p>
          <a:p>
            <a:pPr marL="171450" indent="-171450">
              <a:buFontTx/>
              <a:buChar char="-"/>
            </a:pPr>
            <a:r>
              <a:rPr lang="en-US" dirty="0"/>
              <a:t>Order of computation as well as the parallelization</a:t>
            </a:r>
          </a:p>
          <a:p>
            <a:pPr marL="171450" indent="-171450">
              <a:buFontTx/>
              <a:buChar char="-"/>
            </a:pPr>
            <a:endParaRPr lang="en-US" dirty="0"/>
          </a:p>
          <a:p>
            <a:pPr marL="0" indent="0">
              <a:buFontTx/>
              <a:buNone/>
            </a:pPr>
            <a:r>
              <a:rPr lang="en-US" dirty="0"/>
              <a:t>This enables faster development and prototyping of the automata and simplifies experimental exploration of different optimization techniques.</a:t>
            </a:r>
          </a:p>
          <a:p>
            <a:pPr marL="0" indent="0">
              <a:buFontTx/>
              <a:buNone/>
            </a:pPr>
            <a:endParaRPr lang="en-US" dirty="0"/>
          </a:p>
          <a:p>
            <a:pPr marL="0" indent="0">
              <a:buFontTx/>
              <a:buNone/>
            </a:pPr>
            <a:r>
              <a:rPr lang="en-US" dirty="0"/>
              <a:t>One of the optimization techniques we study in a recently submitted publication is encoding the cell states in efficient bit-packed arrays instead of wasteful encoding in separate machine words.</a:t>
            </a:r>
          </a:p>
          <a:p>
            <a:pPr marL="0" indent="0">
              <a:buFontTx/>
              <a:buNone/>
            </a:pPr>
            <a:r>
              <a:rPr lang="en-US" dirty="0"/>
              <a:t>These bit-packed encodings also allow for bit-level vectorized computation of many cell updates simultaneously.</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it can be fast)</a:t>
            </a:r>
          </a:p>
          <a:p>
            <a:endParaRPr lang="en-US" dirty="0"/>
          </a:p>
          <a:p>
            <a:r>
              <a:rPr lang="en-US" dirty="0"/>
              <a:t>In follow-up work currently under review, the best-tested configurations using efficient bitwise evaluation were roughly one to two orders of magnitude faster than the byte-per-cell GPU baseline.</a:t>
            </a:r>
          </a:p>
          <a:p>
            <a:endParaRPr lang="en-US" dirty="0"/>
          </a:p>
          <a:p>
            <a:r>
              <a:rPr lang="en-US" dirty="0"/>
              <a:t>This plot shows the possible speedups achieved by different optimization techniques available in our prototype framework on multiple cellular automata.</a:t>
            </a:r>
          </a:p>
          <a:p>
            <a:endParaRPr lang="en-US" dirty="0"/>
          </a:p>
          <a:p>
            <a:r>
              <a:rPr lang="en-US" dirty="0"/>
              <a:t>Bit-packing (storing cells tightly in consecutive bits) alone is not enough. Most of the gain comes from evaluating many cells in parallel using bitwise operations, with further improvement from computing multiple updates simultaneously.</a:t>
            </a:r>
          </a:p>
        </p:txBody>
      </p:sp>
      <p:sp>
        <p:nvSpPr>
          <p:cNvPr id="4" name="Slide Number Placeholder 3"/>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have shown abstractions for layouts and traversals that simplify user-guided optimization, including parallel CPU and GPU computation, as well as distributed computing. We have used the principles to enable even stronger optimizations in specific domains, such as Cellular Automata.</a:t>
            </a:r>
          </a:p>
          <a:p>
            <a:endParaRPr lang="en-US" dirty="0"/>
          </a:p>
          <a:p>
            <a:r>
              <a:rPr lang="en-US" dirty="0"/>
              <a:t>These abstractions make the developed algorithms easier to write, more flexible to transform, and allow automatic exploration of optimizations.</a:t>
            </a:r>
          </a:p>
          <a:p>
            <a:r>
              <a:rPr lang="en-US" dirty="0"/>
              <a:t>But they cannot express every possible algorithmic redesign.</a:t>
            </a:r>
          </a:p>
          <a:p>
            <a:endParaRPr lang="en-US" dirty="0"/>
          </a:p>
          <a:p>
            <a:r>
              <a:rPr lang="en-US" dirty="0"/>
              <a:t>Reacting to the recent introduction of Large language models to the area of software design, we studied their ability to optimize code as a complementary approach.</a:t>
            </a:r>
          </a:p>
        </p:txBody>
      </p:sp>
      <p:sp>
        <p:nvSpPr>
          <p:cNvPr id="4" name="Slide Number Placeholder 3"/>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12435719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tutoring; what is it?)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LLMs could implement simple algorithms but were not yet competent enough to make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a:p>
            <a:endParaRPr lang="en-US" dirty="0"/>
          </a:p>
          <a:p>
            <a:r>
              <a:rPr lang="en-US" dirty="0"/>
              <a:t>In our first LLM study, we examined whether adding increasingly detailed high-level design hints or outright dictating main design decisions significantly improves the generated CUDA code compared to a naïve approach that simply requests an efficient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of how an efficient implementation should be designed.</a:t>
            </a:r>
          </a:p>
          <a:p>
            <a:pPr marL="171450" indent="-171450">
              <a:buFontTx/>
              <a:buChar char="-"/>
            </a:pPr>
            <a:r>
              <a:rPr lang="en-US" dirty="0"/>
              <a:t>Histogram computation</a:t>
            </a:r>
          </a:p>
          <a:p>
            <a:pPr marL="171450" indent="-171450">
              <a:buFontTx/>
              <a:buChar char="-"/>
            </a:pPr>
            <a:r>
              <a:rPr lang="en-US" dirty="0"/>
              <a:t>Conway’s Game of Life cellular automaton simulation</a:t>
            </a:r>
          </a:p>
          <a:p>
            <a:pPr marL="171450" indent="-171450">
              <a:buFontTx/>
              <a:buChar char="-"/>
            </a:pPr>
            <a:r>
              <a:rPr lang="en-US" dirty="0"/>
              <a:t>K-Nearest Neighbors search in 2D Euclidean space</a:t>
            </a:r>
          </a:p>
          <a:p>
            <a:pPr marL="171450" indent="-171450">
              <a:buFontTx/>
              <a:buChar char="-"/>
            </a:pPr>
            <a:endParaRPr lang="en-US" dirty="0"/>
          </a:p>
          <a:p>
            <a:pPr marL="0" indent="0">
              <a:buFontTx/>
              <a:buNone/>
            </a:pPr>
            <a:r>
              <a:rPr lang="en-US" dirty="0"/>
              <a:t>The three algorithms represent implementation problems of increasing complexity.</a:t>
            </a:r>
          </a:p>
          <a:p>
            <a:endParaRPr lang="en-US" dirty="0"/>
          </a:p>
          <a:p>
            <a:r>
              <a:rPr lang="en-US" dirty="0"/>
              <a:t>Efficient implementations of these three algorithms require considering more obscure or CUDA-specific features, such as</a:t>
            </a:r>
          </a:p>
          <a:p>
            <a:pPr marL="171450" indent="-171450">
              <a:buFontTx/>
              <a:buChar char="-"/>
            </a:pPr>
            <a:r>
              <a:rPr lang="en-US" dirty="0"/>
              <a:t>Efficient shared memory</a:t>
            </a:r>
          </a:p>
          <a:p>
            <a:pPr marL="171450" indent="-171450">
              <a:buFontTx/>
              <a:buChar char="-"/>
            </a:pPr>
            <a:r>
              <a:rPr lang="en-US" dirty="0"/>
              <a:t>Bit-level vectorization</a:t>
            </a:r>
          </a:p>
          <a:p>
            <a:pPr marL="171450" indent="-171450">
              <a:buFontTx/>
              <a:buChar char="-"/>
            </a:pPr>
            <a:r>
              <a:rPr lang="en-US" dirty="0"/>
              <a:t>Inter-thread communication</a:t>
            </a:r>
          </a:p>
          <a:p>
            <a:pPr marL="171450" indent="-171450">
              <a:buFontTx/>
              <a:buChar char="-"/>
            </a:pPr>
            <a:endParaRPr lang="en-US" dirty="0"/>
          </a:p>
          <a:p>
            <a:pPr marL="0" indent="0">
              <a:buFontTx/>
              <a:buNone/>
            </a:pPr>
            <a:r>
              <a:rPr lang="en-US" dirty="0"/>
              <a:t>For the easier, Histogram and Game of Life algorithms, OpenAI o3-mini, a </a:t>
            </a:r>
            <a:r>
              <a:rPr lang="en-US" dirty="0" err="1"/>
              <a:t>SotA</a:t>
            </a:r>
            <a:r>
              <a:rPr lang="en-US" dirty="0"/>
              <a:t> LLM model at that time, generated progressively better code with the increasingly specific prompts.</a:t>
            </a:r>
            <a:br>
              <a:rPr lang="en-US" dirty="0"/>
            </a:br>
            <a:endParaRPr lang="en-US" dirty="0"/>
          </a:p>
          <a:p>
            <a:pPr marL="0" indent="0">
              <a:buFontTx/>
              <a:buNone/>
            </a:pPr>
            <a:r>
              <a:rPr lang="en-US" dirty="0"/>
              <a:t>But for the k-Nearest Neighbors search, it managed to generate valid code only for the naïve prompts,</a:t>
            </a:r>
            <a:br>
              <a:rPr lang="en-US" dirty="0"/>
            </a:br>
            <a:r>
              <a:rPr lang="en-US" dirty="0"/>
              <a:t>mostly failing due to making mistakes in inter-thread communication and synchronization semantics.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performance measurements of the generated code for the Histogram and Game of Life algorithms.</a:t>
            </a:r>
          </a:p>
          <a:p>
            <a:endParaRPr lang="en-US" dirty="0"/>
          </a:p>
          <a:p>
            <a:r>
              <a:rPr lang="en-US" dirty="0"/>
              <a:t>Both show wall clock times of the runtime on a representative dataset; lower is better.</a:t>
            </a:r>
          </a:p>
          <a:p>
            <a:r>
              <a:rPr lang="en-US" dirty="0"/>
              <a:t>The x-axis of both shows increasingly specific prompts, and the horizontal lines mark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at the EuroPar conference, the LLM state of the art had already shifted;</a:t>
            </a:r>
          </a:p>
          <a:p>
            <a:r>
              <a:rPr lang="en-US" dirty="0"/>
              <a:t>The then-current GPT-5 provided expert-level performance on the Game of Life algorithm for all prompts except the naïve one, and it successfully benefited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r>
              <a:rPr lang="en-US" dirty="0"/>
              <a:t>We have shown that both abstractions and LLMs can be practical solutions for simplifying algorithm design &amp; optimization.</a:t>
            </a:r>
          </a:p>
          <a:p>
            <a:r>
              <a:rPr lang="en-US" dirty="0"/>
              <a:t>Both have their strengths and weaknesses;</a:t>
            </a:r>
          </a:p>
          <a:p>
            <a:pPr marL="171450" indent="-171450">
              <a:buFontTx/>
              <a:buChar char="-"/>
            </a:pPr>
            <a:r>
              <a:rPr lang="en-US" dirty="0"/>
              <a:t>Reasonable use of abstractions usually leads to interpretable code with some safety checks and guarantees</a:t>
            </a:r>
            <a:br>
              <a:rPr lang="en-US" dirty="0"/>
            </a:br>
            <a:r>
              <a:rPr lang="en-US" dirty="0"/>
              <a:t>ensured by the transformation being applied by a deterministic system,</a:t>
            </a:r>
            <a:br>
              <a:rPr lang="en-US" dirty="0"/>
            </a:br>
            <a:r>
              <a:rPr lang="en-US" dirty="0"/>
              <a:t>while their use may require some learning, and the abstractions may not apply to many problems well.</a:t>
            </a:r>
          </a:p>
          <a:p>
            <a:pPr marL="171450" indent="-171450">
              <a:buFontTx/>
              <a:buChar char="-"/>
            </a:pPr>
            <a:r>
              <a:rPr lang="en-US" dirty="0"/>
              <a:t>LLMs are pretty much unparalleled in the flexibility of their use, and they enable fully automatic solutions that may even</a:t>
            </a:r>
            <a:br>
              <a:rPr lang="en-US" dirty="0"/>
            </a:br>
            <a:r>
              <a:rPr lang="en-US" dirty="0"/>
              <a:t>interface with the user via natural language; on the other hand, they are inherently stochastic, and they may output</a:t>
            </a:r>
            <a:br>
              <a:rPr lang="en-US" dirty="0"/>
            </a:br>
            <a:r>
              <a:rPr lang="en-US" dirty="0"/>
              <a:t>complex and hard-to-analyze code with many hidden bugs.</a:t>
            </a:r>
          </a:p>
          <a:p>
            <a:pPr marL="0" indent="0">
              <a:buFontTx/>
              <a:buNone/>
            </a:pPr>
            <a:endParaRPr lang="en-US" dirty="0"/>
          </a:p>
          <a:p>
            <a:pPr marL="0" indent="0">
              <a:buFontTx/>
              <a:buNone/>
            </a:pPr>
            <a:r>
              <a:rPr lang="en-US" dirty="0"/>
              <a:t>In our next work, we have thus studied a possible combination of these two approaches to see if the abstractions improve</a:t>
            </a:r>
            <a:br>
              <a:rPr lang="en-US" dirty="0"/>
            </a:br>
            <a:r>
              <a:rPr lang="en-US" dirty="0"/>
              <a:t>the performance and correctness of LLM outputs.</a:t>
            </a:r>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The first step was followed up by an automated selection of the best generated translation.</a:t>
            </a:r>
          </a:p>
          <a:p>
            <a:pPr marL="0" indent="0">
              <a:buFontTx/>
              <a:buNone/>
            </a:pPr>
            <a:r>
              <a:rPr lang="en-US" dirty="0"/>
              <a:t>This helped to avoid implementations that didn’t correctly capture the semantics or the code.</a:t>
            </a:r>
          </a:p>
          <a:p>
            <a:pPr marL="0" indent="0">
              <a:buFontTx/>
              <a:buNone/>
            </a:pPr>
            <a:endParaRPr lang="en-US" dirty="0"/>
          </a:p>
          <a:p>
            <a:pPr marL="0" indent="0">
              <a:buFontTx/>
              <a:buNone/>
            </a:pPr>
            <a:r>
              <a:rPr lang="en-US" dirty="0"/>
              <a:t>In both steps, the prompts were accompanied by official developer guides and custom abstraction-specific hints for the given abstractions</a:t>
            </a:r>
            <a:br>
              <a:rPr lang="en-US" dirty="0"/>
            </a:br>
            <a:r>
              <a:rPr lang="en-US" dirty="0"/>
              <a:t>to give the LLM an understanding of how to use them.</a:t>
            </a:r>
          </a:p>
          <a:p>
            <a:pPr marL="0" indent="0">
              <a:buFontTx/>
              <a:buNone/>
            </a:pPr>
            <a:r>
              <a:rPr lang="en-US" dirty="0"/>
              <a:t>The translation tasks were also accompanied by one example of translating the algorithm to ensure that the translations follow the expected design.</a:t>
            </a:r>
          </a:p>
          <a:p>
            <a:pPr marL="0" indent="0">
              <a:buFontTx/>
              <a:buNone/>
            </a:pPr>
            <a:endParaRPr lang="en-US" dirty="0"/>
          </a:p>
          <a:p>
            <a:pPr marL="0" indent="0">
              <a:buFontTx/>
              <a:buNone/>
            </a:pPr>
            <a:r>
              <a:rPr lang="en-US" dirty="0"/>
              <a:t>Finally, we have also prepared multiple optimization prompts to compare the effect of abstraction choice with the effect of prompt specificity.</a:t>
            </a:r>
          </a:p>
          <a:p>
            <a:pPr marL="0" indent="0">
              <a:buFontTx/>
              <a:buNone/>
            </a:pPr>
            <a:r>
              <a:rPr lang="en-US" dirty="0"/>
              <a:t>We have applied this workflow to the 30 </a:t>
            </a:r>
            <a:r>
              <a:rPr lang="en-US" dirty="0" err="1"/>
              <a:t>PolyBench</a:t>
            </a:r>
            <a:r>
              <a:rPr lang="en-US" dirty="0"/>
              <a:t>/C algorithms.</a:t>
            </a:r>
          </a:p>
        </p:txBody>
      </p:sp>
      <p:sp>
        <p:nvSpPr>
          <p:cNvPr id="4" name="Slide Number Placeholder 3"/>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our experiments, we made 5 independent attempts to account for LLM generation stochasticity.</a:t>
            </a:r>
          </a:p>
          <a:p>
            <a:endParaRPr lang="en-US" dirty="0"/>
          </a:p>
          <a:p>
            <a:r>
              <a:rPr lang="en-US" dirty="0"/>
              <a:t>The plot shows the achieved speedup in the first row and the likelihood of observing at least a single valid solution in the second row, both dependent on the number of attempts. (In both cases, </a:t>
            </a:r>
            <a:r>
              <a:rPr lang="en-US"/>
              <a:t>the higher </a:t>
            </a:r>
            <a:r>
              <a:rPr lang="en-US" dirty="0"/>
              <a:t>is better.)</a:t>
            </a:r>
          </a:p>
          <a:p>
            <a:r>
              <a:rPr lang="en-US" dirty="0"/>
              <a:t>Different columns show different prompting strategies.</a:t>
            </a:r>
            <a:br>
              <a:rPr lang="en-US" dirty="0"/>
            </a:br>
            <a:br>
              <a:rPr lang="en-US" dirty="0"/>
            </a:br>
            <a:r>
              <a:rPr lang="en-US" dirty="0"/>
              <a:t>We observed that the tested abstractions worsened both performance and correctness of the generated code, as generating C code yielded the best performance and correctness overall. Furthermore, the choice of prompting strategy had a greater effect than the choice of representation.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30</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requesting the use of contemporary abstractions for user-directed optimization does not help.</a:t>
            </a:r>
          </a:p>
          <a:p>
            <a:endParaRPr lang="en-US" dirty="0"/>
          </a:p>
          <a:p>
            <a:r>
              <a:rPr lang="en-US" dirty="0"/>
              <a:t>Future research may re-evaluate our approach with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a:p>
            <a:endParaRPr lang="en-US" dirty="0"/>
          </a:p>
          <a:p>
            <a:r>
              <a:rPr lang="en-US" dirty="0"/>
              <a:t>Our current results do not establish LLMs as a replacement for abstractions, as the studied abstractions are based on deterministic and interpretable transformations, while LLMs offer greater flexibility.</a:t>
            </a:r>
          </a:p>
        </p:txBody>
      </p:sp>
      <p:sp>
        <p:nvSpPr>
          <p:cNvPr id="4" name="Slide Number Placeholder 3"/>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366550044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32</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34</a:t>
            </a:fld>
            <a:endParaRPr lang="en-US"/>
          </a:p>
        </p:txBody>
      </p:sp>
    </p:spTree>
    <p:extLst>
      <p:ext uri="{BB962C8B-B14F-4D97-AF65-F5344CB8AC3E}">
        <p14:creationId xmlns:p14="http://schemas.microsoft.com/office/powerpoint/2010/main" val="30296453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Wingdings" panose="05000000000000000000" pitchFamily="2" charset="2"/>
              <a:buChar char="Ø"/>
            </a:pPr>
            <a:r>
              <a:rPr lang="en-US" dirty="0"/>
              <a:t>On the other hand, the text suffers from overstated novelty. The text is written in a way that risks giving the impression that the candidate invented the two </a:t>
            </a:r>
            <a:r>
              <a:rPr lang="en-US" dirty="0" err="1"/>
              <a:t>optimisation</a:t>
            </a:r>
            <a:r>
              <a:rPr lang="en-US" dirty="0"/>
              <a:t> paradigms (layout-agnostic and traversal-agnostic design) outright. This is misleading and, notably, does not serve the candidate's own case well: the candidate's contribution here is best </a:t>
            </a:r>
            <a:r>
              <a:rPr lang="en-US" dirty="0" err="1"/>
              <a:t>characterised</a:t>
            </a:r>
            <a:r>
              <a:rPr lang="en-US" dirty="0"/>
              <a:t> as a minor, incremental one within an existing landscape of </a:t>
            </a:r>
            <a:r>
              <a:rPr lang="en-US" dirty="0" err="1"/>
              <a:t>optimisations</a:t>
            </a:r>
            <a:r>
              <a:rPr lang="en-US" dirty="0"/>
              <a:t>. Which of these ideas can also be found in software like Kokkos or OpenMP's loop transformations?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My intention was to introduce the two “paradigms” as explicitly named design directions for improving user-directed optimization of algorithms in HPC. I agree that the wording could have been more careful.</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Kokkos views and their related </a:t>
            </a:r>
            <a:r>
              <a:rPr lang="en-US" dirty="0" err="1"/>
              <a:t>mdspans</a:t>
            </a:r>
            <a:r>
              <a:rPr lang="en-US" dirty="0"/>
              <a:t> from the standard C++ library support some level of layout agnosticism; namely, they enable defining general interfaces for multidimensional arrays as well as their (rectangular) sub-arrays, which might be useful, for example, for divide-and-conquer strategies in layout-agnostic algorithms.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This, even by itself, is very useful, and CuTe even provides a particularly powerful layout algebra for tensor computation on GPUs, but does not provide the same unified generalization to traversals, autotuning support, and MPI integration.</a:t>
            </a:r>
            <a:br>
              <a:rPr lang="en-US" baseline="0" dirty="0"/>
            </a:br>
            <a:br>
              <a:rPr lang="en-US" baseline="0" dirty="0"/>
            </a:br>
            <a:r>
              <a:rPr lang="en-US" baseline="0" dirty="0"/>
              <a:t>New standards of OpenMP support powerful loop transformations, which might be used to optimize algorithms. While this doesn’t enable traversal-agnostic design of algorithms, it offers a good alternative with similar benefits in many use cases, especially for algorithms that have a natural loop nest representation that allows for such transformations.</a:t>
            </a:r>
          </a:p>
          <a:p>
            <a:pPr marL="0" indent="0">
              <a:buFont typeface="Wingdings" panose="05000000000000000000" pitchFamily="2" charset="2"/>
              <a:buNone/>
            </a:pPr>
            <a:endParaRPr lang="en-US" baseline="0" dirty="0"/>
          </a:p>
          <a:p>
            <a:pPr marL="0" indent="0">
              <a:buFont typeface="Wingdings" panose="05000000000000000000" pitchFamily="2" charset="2"/>
              <a:buNone/>
            </a:pPr>
            <a:r>
              <a:rPr lang="en-US" baseline="0" dirty="0"/>
              <a:t>In the thesis (section 2.3.3), we lightly discuss some traversal-agnostic features of </a:t>
            </a:r>
            <a:r>
              <a:rPr lang="en-US" baseline="0" dirty="0" err="1"/>
              <a:t>GridTools</a:t>
            </a:r>
            <a:r>
              <a:rPr lang="en-US" baseline="0" dirty="0"/>
              <a:t> and RAJA.</a:t>
            </a:r>
          </a:p>
        </p:txBody>
      </p:sp>
      <p:sp>
        <p:nvSpPr>
          <p:cNvPr id="4" name="Slide Number Placeholder 3"/>
          <p:cNvSpPr>
            <a:spLocks noGrp="1"/>
          </p:cNvSpPr>
          <p:nvPr>
            <p:ph type="sldNum" sz="quarter" idx="5"/>
          </p:nvPr>
        </p:nvSpPr>
        <p:spPr/>
        <p:txBody>
          <a:bodyPr/>
          <a:lstStyle/>
          <a:p>
            <a:fld id="{FA8FD632-245B-410D-BCC4-8BF8D37AB67F}" type="slidenum">
              <a:rPr lang="en-US" smtClean="0"/>
              <a:t>36</a:t>
            </a:fld>
            <a:endParaRPr lang="en-US"/>
          </a:p>
        </p:txBody>
      </p:sp>
    </p:spTree>
    <p:extLst>
      <p:ext uri="{BB962C8B-B14F-4D97-AF65-F5344CB8AC3E}">
        <p14:creationId xmlns:p14="http://schemas.microsoft.com/office/powerpoint/2010/main" val="364069801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 currently struggle with interpreting the reviewer’s concern, will return to that.</a:t>
            </a:r>
          </a:p>
        </p:txBody>
      </p:sp>
      <p:sp>
        <p:nvSpPr>
          <p:cNvPr id="4" name="Slide Number Placeholder 3"/>
          <p:cNvSpPr>
            <a:spLocks noGrp="1"/>
          </p:cNvSpPr>
          <p:nvPr>
            <p:ph type="sldNum" sz="quarter" idx="5"/>
          </p:nvPr>
        </p:nvSpPr>
        <p:spPr/>
        <p:txBody>
          <a:bodyPr/>
          <a:lstStyle/>
          <a:p>
            <a:fld id="{FA8FD632-245B-410D-BCC4-8BF8D37AB67F}" type="slidenum">
              <a:rPr lang="en-US" smtClean="0"/>
              <a:t>38</a:t>
            </a:fld>
            <a:endParaRPr lang="en-US"/>
          </a:p>
        </p:txBody>
      </p:sp>
    </p:spTree>
    <p:extLst>
      <p:ext uri="{BB962C8B-B14F-4D97-AF65-F5344CB8AC3E}">
        <p14:creationId xmlns:p14="http://schemas.microsoft.com/office/powerpoint/2010/main" val="41791213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pPr/>
              <a:t>9/2/2026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pPr/>
              <a:t>‹#›</a:t>
            </a:fld>
            <a:endParaRPr lang="en-US" dirty="0"/>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9/2/2026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9/2/2026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9/2/2026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9/2/2026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9/2/2026</a:t>
            </a:fld>
            <a:endParaRPr lang="en-US"/>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9/2/2026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9/2/2026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9/2/2026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9/2/2026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9/2/2026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488578" y="18255"/>
            <a:ext cx="11214844"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488578" y="1343818"/>
            <a:ext cx="11214844" cy="531495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488578" y="6356350"/>
            <a:ext cx="2743200" cy="365125"/>
          </a:xfrm>
          <a:prstGeom prst="rect">
            <a:avLst/>
          </a:prstGeom>
        </p:spPr>
        <p:txBody>
          <a:bodyPr vert="horz" lIns="91440" tIns="45720" rIns="91440" bIns="45720" rtlCol="0" anchor="ctr"/>
          <a:lstStyle>
            <a:lvl1pPr algn="l">
              <a:defRPr sz="2000">
                <a:solidFill>
                  <a:schemeClr val="tx1">
                    <a:tint val="82000"/>
                  </a:schemeClr>
                </a:solidFill>
              </a:defRPr>
            </a:lvl1pPr>
          </a:lstStyle>
          <a:p>
            <a:fld id="{FDEB8912-975C-4DE8-9A59-8B9C133AEEC5}" type="datetime1">
              <a:rPr lang="en-US" smtClean="0"/>
              <a:pPr/>
              <a:t>9/2/2026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9148482" y="6356349"/>
            <a:ext cx="2743200" cy="365125"/>
          </a:xfrm>
          <a:prstGeom prst="rect">
            <a:avLst/>
          </a:prstGeom>
        </p:spPr>
        <p:txBody>
          <a:bodyPr vert="horz" lIns="91440" tIns="45720" rIns="91440" bIns="45720" rtlCol="0" anchor="ctr"/>
          <a:lstStyle>
            <a:lvl1pPr algn="r">
              <a:defRPr sz="2000">
                <a:solidFill>
                  <a:schemeClr val="tx1">
                    <a:tint val="82000"/>
                  </a:schemeClr>
                </a:solidFill>
              </a:defRPr>
            </a:lvl1pPr>
          </a:lstStyle>
          <a:p>
            <a:fld id="{DA0BB241-1B5F-4309-9407-9EEA04D9598D}" type="slidenum">
              <a:rPr lang="en-US" smtClean="0"/>
              <a:pPr/>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notesSlide" Target="../notesSlides/notesSlide4.xml"/><Relationship Id="rId7" Type="http://schemas.openxmlformats.org/officeDocument/2006/relationships/image" Target="../media/image12.png"/><Relationship Id="rId2" Type="http://schemas.openxmlformats.org/officeDocument/2006/relationships/slideLayout" Target="../slideLayouts/slideLayout6.xml"/><Relationship Id="rId1" Type="http://schemas.openxmlformats.org/officeDocument/2006/relationships/tags" Target="../tags/tag2.xml"/><Relationship Id="rId6" Type="http://schemas.openxmlformats.org/officeDocument/2006/relationships/image" Target="../media/image11.png"/><Relationship Id="rId5" Type="http://schemas.openxmlformats.org/officeDocument/2006/relationships/image" Target="../media/image10.svg"/><Relationship Id="rId4" Type="http://schemas.openxmlformats.org/officeDocument/2006/relationships/image" Target="../media/image4.png"/><Relationship Id="rId9" Type="http://schemas.openxmlformats.org/officeDocument/2006/relationships/image" Target="../media/image14.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6.xml"/><Relationship Id="rId5" Type="http://schemas.openxmlformats.org/officeDocument/2006/relationships/image" Target="../media/image16.png"/><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12"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8.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30.png"/><Relationship Id="rId5" Type="http://schemas.openxmlformats.org/officeDocument/2006/relationships/image" Target="../media/image29.png"/><Relationship Id="rId10" Type="http://schemas.openxmlformats.org/officeDocument/2006/relationships/image" Target="../media/image34.png"/><Relationship Id="rId4" Type="http://schemas.openxmlformats.org/officeDocument/2006/relationships/image" Target="../media/image28.png"/><Relationship Id="rId9" Type="http://schemas.openxmlformats.org/officeDocument/2006/relationships/image" Target="../media/image33.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1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3.xml"/><Relationship Id="rId1" Type="http://schemas.openxmlformats.org/officeDocument/2006/relationships/slideLayout" Target="../slideLayouts/slideLayout6.xml"/><Relationship Id="rId5" Type="http://schemas.openxmlformats.org/officeDocument/2006/relationships/image" Target="../media/image42.png"/><Relationship Id="rId4" Type="http://schemas.openxmlformats.org/officeDocument/2006/relationships/image" Target="../media/image41.png"/></Relationships>
</file>

<file path=ppt/slides/_rels/slide1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4.svg"/><Relationship Id="rId7" Type="http://schemas.openxmlformats.org/officeDocument/2006/relationships/image" Target="../media/image48.sv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47.svg"/><Relationship Id="rId5" Type="http://schemas.openxmlformats.org/officeDocument/2006/relationships/image" Target="../media/image46.svg"/><Relationship Id="rId4" Type="http://schemas.openxmlformats.org/officeDocument/2006/relationships/image" Target="../media/image45.svg"/><Relationship Id="rId9" Type="http://schemas.openxmlformats.org/officeDocument/2006/relationships/image" Target="../media/image50.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53.svg"/><Relationship Id="rId2" Type="http://schemas.openxmlformats.org/officeDocument/2006/relationships/notesSlide" Target="../notesSlides/notesSlide19.xml"/><Relationship Id="rId1" Type="http://schemas.openxmlformats.org/officeDocument/2006/relationships/slideLayout" Target="../slideLayouts/slideLayout6.xml"/><Relationship Id="rId5" Type="http://schemas.openxmlformats.org/officeDocument/2006/relationships/image" Target="../media/image55.png"/><Relationship Id="rId4" Type="http://schemas.openxmlformats.org/officeDocument/2006/relationships/image" Target="../media/image54.svg"/></Relationships>
</file>

<file path=ppt/slides/_rels/slide20.xml.rels><?xml version="1.0" encoding="UTF-8" standalone="yes"?>
<Relationships xmlns="http://schemas.openxmlformats.org/package/2006/relationships"><Relationship Id="rId3" Type="http://schemas.openxmlformats.org/officeDocument/2006/relationships/image" Target="../media/image56.gif"/><Relationship Id="rId2" Type="http://schemas.openxmlformats.org/officeDocument/2006/relationships/notesSlide" Target="../notesSlides/notesSlide20.xml"/><Relationship Id="rId1" Type="http://schemas.openxmlformats.org/officeDocument/2006/relationships/slideLayout" Target="../slideLayouts/slideLayout6.xml"/><Relationship Id="rId5" Type="http://schemas.openxmlformats.org/officeDocument/2006/relationships/image" Target="../media/image58.jpeg"/><Relationship Id="rId4" Type="http://schemas.openxmlformats.org/officeDocument/2006/relationships/image" Target="../media/image57.png"/></Relationships>
</file>

<file path=ppt/slides/_rels/slide2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61.sv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25.xml"/><Relationship Id="rId1" Type="http://schemas.openxmlformats.org/officeDocument/2006/relationships/slideLayout" Target="../slideLayouts/slideLayout6.xml"/><Relationship Id="rId5" Type="http://schemas.openxmlformats.org/officeDocument/2006/relationships/image" Target="../media/image63.png"/><Relationship Id="rId4" Type="http://schemas.openxmlformats.org/officeDocument/2006/relationships/image" Target="../media/image56.gif"/></Relationships>
</file>

<file path=ppt/slides/_rels/slide2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6.xml"/><Relationship Id="rId1" Type="http://schemas.openxmlformats.org/officeDocument/2006/relationships/slideLayout" Target="../slideLayouts/slideLayout6.xml"/><Relationship Id="rId4" Type="http://schemas.openxmlformats.org/officeDocument/2006/relationships/image" Target="../media/image65.png"/></Relationships>
</file>

<file path=ppt/slides/_rels/slide27.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7.xml"/><Relationship Id="rId1" Type="http://schemas.openxmlformats.org/officeDocument/2006/relationships/slideLayout" Target="../slideLayouts/slideLayout6.xml"/><Relationship Id="rId4" Type="http://schemas.openxmlformats.org/officeDocument/2006/relationships/image" Target="../media/image67.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75.svg"/><Relationship Id="rId3" Type="http://schemas.openxmlformats.org/officeDocument/2006/relationships/image" Target="../media/image70.svg"/><Relationship Id="rId7" Type="http://schemas.openxmlformats.org/officeDocument/2006/relationships/image" Target="../media/image74.svg"/><Relationship Id="rId2" Type="http://schemas.openxmlformats.org/officeDocument/2006/relationships/notesSlide" Target="../notesSlides/notesSlide32.xml"/><Relationship Id="rId1" Type="http://schemas.openxmlformats.org/officeDocument/2006/relationships/slideLayout" Target="../slideLayouts/slideLayout6.xml"/><Relationship Id="rId6" Type="http://schemas.openxmlformats.org/officeDocument/2006/relationships/image" Target="../media/image73.svg"/><Relationship Id="rId5" Type="http://schemas.openxmlformats.org/officeDocument/2006/relationships/image" Target="../media/image72.svg"/><Relationship Id="rId10" Type="http://schemas.openxmlformats.org/officeDocument/2006/relationships/image" Target="../media/image77.svg"/><Relationship Id="rId4" Type="http://schemas.openxmlformats.org/officeDocument/2006/relationships/image" Target="../media/image71.svg"/><Relationship Id="rId9" Type="http://schemas.openxmlformats.org/officeDocument/2006/relationships/image" Target="../media/image76.svg"/></Relationships>
</file>

<file path=ppt/slides/_rels/slide33.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noProof="0" smtClean="0"/>
              <a:t>9/2/2026</a:t>
            </a:fld>
            <a:endParaRPr lang="en-US" noProof="0"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noProof="0" smtClean="0"/>
              <a:t>1</a:t>
            </a:fld>
            <a:endParaRPr lang="en-US" noProof="0" dirty="0"/>
          </a:p>
        </p:txBody>
      </p:sp>
      <p:pic>
        <p:nvPicPr>
          <p:cNvPr id="8" name="Picture 7">
            <a:extLst>
              <a:ext uri="{FF2B5EF4-FFF2-40B4-BE49-F238E27FC236}">
                <a16:creationId xmlns:a16="http://schemas.microsoft.com/office/drawing/2014/main" id="{6B206876-D20A-A82F-956B-A9918DB239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56756" y="5257800"/>
            <a:ext cx="1678488" cy="8562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nvPr>
        </p:nvSpPr>
        <p:spPr/>
        <p:txBody>
          <a:bodyPr/>
          <a:lstStyle/>
          <a:p>
            <a:r>
              <a:rPr lang="en-US" noProof="0" dirty="0"/>
              <a:t>Motivation</a:t>
            </a:r>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nvPr>
        </p:nvSpPr>
        <p:spPr/>
        <p:txBody>
          <a:bodyPr>
            <a:noAutofit/>
          </a:bodyPr>
          <a:lstStyle/>
          <a:p>
            <a:r>
              <a:rPr lang="en-US" noProof="0" dirty="0"/>
              <a:t>Designing efficient HPC algorithms is challenging</a:t>
            </a:r>
          </a:p>
          <a:p>
            <a:r>
              <a:rPr lang="en-US" dirty="0"/>
              <a:t>Rearranging data layouts and loops</a:t>
            </a:r>
          </a:p>
          <a:p>
            <a:pPr lvl="1"/>
            <a:r>
              <a:rPr lang="en-US" b="1" dirty="0"/>
              <a:t>Right memory layouts</a:t>
            </a:r>
            <a:r>
              <a:rPr lang="en-US" dirty="0"/>
              <a:t> and </a:t>
            </a:r>
            <a:r>
              <a:rPr lang="en-US" b="1" dirty="0"/>
              <a:t>traversal orders</a:t>
            </a:r>
            <a:r>
              <a:rPr lang="en-US" dirty="0"/>
              <a:t> </a:t>
            </a:r>
            <a:r>
              <a:rPr lang="en-US" dirty="0">
                <a:sym typeface="Wingdings" panose="05000000000000000000" pitchFamily="2" charset="2"/>
              </a:rPr>
              <a:t> </a:t>
            </a:r>
            <a:r>
              <a:rPr lang="en-US" b="1" dirty="0"/>
              <a:t>speedup</a:t>
            </a:r>
          </a:p>
          <a:p>
            <a:r>
              <a:rPr lang="en-US" dirty="0"/>
              <a:t>Trial-and-error evaluation of many different choices</a:t>
            </a:r>
          </a:p>
          <a:p>
            <a:endParaRPr lang="en-US" dirty="0"/>
          </a:p>
          <a:p>
            <a:r>
              <a:rPr lang="en-US" dirty="0"/>
              <a:t>Decoupling layouts and traversals</a:t>
            </a:r>
          </a:p>
          <a:p>
            <a:r>
              <a:rPr lang="en-US" dirty="0"/>
              <a:t>LLM-guided optimization for broader redesigns</a:t>
            </a:r>
          </a:p>
          <a:p>
            <a:r>
              <a:rPr lang="en-US" dirty="0"/>
              <a:t>Does combining the approaches lead to improvement?</a:t>
            </a:r>
          </a:p>
          <a:p>
            <a:endParaRPr lang="en-US" dirty="0"/>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nvPr>
        </p:nvSpPr>
        <p:spPr/>
        <p:txBody>
          <a:bodyPr/>
          <a:lstStyle/>
          <a:p>
            <a:fld id="{0DAFEF2F-EB87-44F5-8698-5E050EDDA902}"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nvPr>
        </p:nvSpPr>
        <p:spPr/>
        <p:txBody>
          <a:bodyPr/>
          <a:lstStyle/>
          <a:p>
            <a:fld id="{DA0BB241-1B5F-4309-9407-9EEA04D9598D}" type="slidenum">
              <a:rPr lang="en-US" noProof="0" smtClean="0"/>
              <a:t>2</a:t>
            </a:fld>
            <a:endParaRPr lang="en-US" noProof="0" dirty="0"/>
          </a:p>
        </p:txBody>
      </p:sp>
      <p:pic>
        <p:nvPicPr>
          <p:cNvPr id="6" name="Picture 5" descr="Thinking Man PNG Images Transparent Free Download">
            <a:extLst>
              <a:ext uri="{FF2B5EF4-FFF2-40B4-BE49-F238E27FC236}">
                <a16:creationId xmlns:a16="http://schemas.microsoft.com/office/drawing/2014/main" id="{EECB4EAE-D14C-1C42-94B6-34013519EA66}"/>
              </a:ext>
            </a:extLst>
          </p:cNvPr>
          <p:cNvPicPr>
            <a:picLocks noChangeAspect="1"/>
          </p:cNvPicPr>
          <p:nvPr/>
        </p:nvPicPr>
        <p:blipFill>
          <a:blip r:embed="rId4"/>
          <a:stretch>
            <a:fillRect/>
          </a:stretch>
        </p:blipFill>
        <p:spPr>
          <a:xfrm>
            <a:off x="8765493" y="632847"/>
            <a:ext cx="1640006" cy="1640006"/>
          </a:xfrm>
          <a:prstGeom prst="rect">
            <a:avLst/>
          </a:prstGeom>
        </p:spPr>
      </p:pic>
      <p:pic>
        <p:nvPicPr>
          <p:cNvPr id="7" name="Picture 6" descr="Trial and error - Free education icons">
            <a:extLst>
              <a:ext uri="{FF2B5EF4-FFF2-40B4-BE49-F238E27FC236}">
                <a16:creationId xmlns:a16="http://schemas.microsoft.com/office/drawing/2014/main" id="{28071A90-4986-3170-8847-B34F3D13814E}"/>
              </a:ext>
            </a:extLst>
          </p:cNvPr>
          <p:cNvPicPr>
            <a:picLocks noChangeAspect="1"/>
          </p:cNvPicPr>
          <p:nvPr/>
        </p:nvPicPr>
        <p:blipFill>
          <a:blip r:embed="rId5"/>
          <a:stretch>
            <a:fillRect/>
          </a:stretch>
        </p:blipFill>
        <p:spPr>
          <a:xfrm>
            <a:off x="8950655" y="2887445"/>
            <a:ext cx="1269681" cy="1269681"/>
          </a:xfrm>
          <a:prstGeom prst="rect">
            <a:avLst/>
          </a:prstGeom>
        </p:spPr>
      </p:pic>
    </p:spTree>
    <p:custDataLst>
      <p:tags r:id="rId1"/>
    </p:custDataLst>
    <p:extLst>
      <p:ext uri="{BB962C8B-B14F-4D97-AF65-F5344CB8AC3E}">
        <p14:creationId xmlns:p14="http://schemas.microsoft.com/office/powerpoint/2010/main" val="2931822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Illustrative example: matrix initialization</a:t>
            </a:r>
          </a:p>
        </p:txBody>
      </p:sp>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3253048" y="2638676"/>
            <a:ext cx="1785102" cy="1774049"/>
          </a:xfrm>
          <a:prstGeom prst="rect">
            <a:avLst/>
          </a:prstGeom>
        </p:spPr>
      </p:pic>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7687138" y="2590710"/>
            <a:ext cx="1796224" cy="1785102"/>
          </a:xfrm>
          <a:prstGeom prst="rect">
            <a:avLst/>
          </a:prstGeom>
        </p:spPr>
      </p:pic>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8584B60-09B2-9CFA-E5B6-2949310DA2AF}"/>
                  </a:ext>
                </a:extLst>
              </p:cNvPr>
              <p:cNvSpPr txBox="1"/>
              <p:nvPr/>
            </p:nvSpPr>
            <p:spPr>
              <a:xfrm>
                <a:off x="1932986" y="1596543"/>
                <a:ext cx="8184164" cy="461665"/>
              </a:xfrm>
              <a:prstGeom prst="rect">
                <a:avLst/>
              </a:prstGeom>
              <a:noFill/>
            </p:spPr>
            <p:txBody>
              <a:bodyPr wrap="none" rtlCol="0">
                <a:spAutoFit/>
              </a:bodyPr>
              <a:lstStyle/>
              <a:p>
                <a:pPr algn="ctr"/>
                <a14:m>
                  <m:oMath xmlns:m="http://schemas.openxmlformats.org/officeDocument/2006/math">
                    <m:r>
                      <a:rPr lang="en-US" sz="2400" b="0" i="1" noProof="0" smtClean="0"/>
                      <m:t>𝑚</m:t>
                    </m:r>
                    <m:r>
                      <a:rPr lang="en-US" sz="2400" b="0" i="1" noProof="0" smtClean="0"/>
                      <m:t>×</m:t>
                    </m:r>
                    <m:r>
                      <a:rPr lang="en-US" sz="2400" b="0" i="1" noProof="0" smtClean="0"/>
                      <m:t>𝑛</m:t>
                    </m:r>
                  </m:oMath>
                </a14:m>
                <a:r>
                  <a:rPr lang="en-US" sz="2400" noProof="0" dirty="0"/>
                  <a:t> matrix in row-major and column-major </a:t>
                </a:r>
                <a:r>
                  <a:rPr lang="en-US" sz="2400" i="1" noProof="0" dirty="0"/>
                  <a:t>memory layout</a:t>
                </a:r>
              </a:p>
            </p:txBody>
          </p:sp>
        </mc:Choice>
        <mc:Fallback>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1932986" y="1596543"/>
                <a:ext cx="8184164" cy="461665"/>
              </a:xfrm>
              <a:prstGeom prst="rect">
                <a:avLst/>
              </a:prstGeom>
              <a:blipFill>
                <a:blip r:embed="rId4"/>
                <a:stretch>
                  <a:fillRect t="-10526" r="-745" b="-28947"/>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2715811" y="5095855"/>
            <a:ext cx="6618514" cy="1330685"/>
          </a:xfrm>
          <a:prstGeom prst="rect">
            <a:avLst/>
          </a:prstGeom>
          <a:noFill/>
          <a:ln>
            <a:solidFill>
              <a:schemeClr val="tx1"/>
            </a:solidFill>
          </a:ln>
        </p:spPr>
        <p:txBody>
          <a:bodyPr wrap="square">
            <a:spAutoFit/>
          </a:bodyPr>
          <a:lstStyle/>
          <a:p>
            <a:pPr>
              <a:lnSpc>
                <a:spcPct val="113095"/>
              </a:lnSpc>
              <a:buNone/>
            </a:pPr>
            <a:r>
              <a:rPr lang="en-US" sz="2400" dirty="0">
                <a:solidFill>
                  <a:srgbClr val="AF00DB"/>
                </a:solidFill>
                <a:latin typeface="Fira Code" panose="020B0809050000020004" pitchFamily="49" charset="0"/>
              </a:rPr>
              <a:t>for</a:t>
            </a:r>
            <a:r>
              <a:rPr lang="en-US" sz="2400" dirty="0">
                <a:solidFill>
                  <a:srgbClr val="000000"/>
                </a:solidFill>
                <a:latin typeface="Fira Code" panose="020B0809050000020004" pitchFamily="49" charset="0"/>
              </a:rPr>
              <a:t> (</a:t>
            </a:r>
            <a:r>
              <a:rPr lang="en-US" sz="2400" dirty="0">
                <a:solidFill>
                  <a:srgbClr val="0000FF"/>
                </a:solidFill>
                <a:latin typeface="Fira Code" panose="020B0809050000020004" pitchFamily="49" charset="0"/>
              </a:rPr>
              <a:t>int</a:t>
            </a:r>
            <a:r>
              <a:rPr lang="en-US" sz="2400" dirty="0">
                <a:solidFill>
                  <a:srgbClr val="000000"/>
                </a:solidFill>
                <a:latin typeface="Fira Code" panose="020B0809050000020004" pitchFamily="49" charset="0"/>
              </a:rPr>
              <a:t> </a:t>
            </a:r>
            <a:r>
              <a:rPr lang="en-US" sz="2400" dirty="0" err="1">
                <a:solidFill>
                  <a:srgbClr val="001080"/>
                </a:solidFill>
                <a:latin typeface="Fira Code" panose="020B0809050000020004" pitchFamily="49" charset="0"/>
              </a:rPr>
              <a:t>i</a:t>
            </a:r>
            <a:r>
              <a:rPr lang="en-US" sz="2400" dirty="0">
                <a:solidFill>
                  <a:srgbClr val="000000"/>
                </a:solidFill>
                <a:latin typeface="Fira Code" panose="020B0809050000020004" pitchFamily="49" charset="0"/>
              </a:rPr>
              <a:t> = </a:t>
            </a:r>
            <a:r>
              <a:rPr lang="en-US" sz="2400" dirty="0">
                <a:solidFill>
                  <a:srgbClr val="098658"/>
                </a:solidFill>
                <a:latin typeface="Fira Code" panose="020B0809050000020004" pitchFamily="49" charset="0"/>
              </a:rPr>
              <a:t>0</a:t>
            </a:r>
            <a:r>
              <a:rPr lang="en-US" sz="2400" dirty="0">
                <a:solidFill>
                  <a:srgbClr val="000000"/>
                </a:solidFill>
                <a:latin typeface="Fira Code" panose="020B0809050000020004" pitchFamily="49" charset="0"/>
              </a:rPr>
              <a:t>; </a:t>
            </a:r>
            <a:r>
              <a:rPr lang="en-US" sz="2400" dirty="0" err="1">
                <a:solidFill>
                  <a:srgbClr val="001080"/>
                </a:solidFill>
                <a:latin typeface="Fira Code" panose="020B0809050000020004" pitchFamily="49" charset="0"/>
              </a:rPr>
              <a:t>i</a:t>
            </a:r>
            <a:r>
              <a:rPr lang="en-US" sz="2400" dirty="0">
                <a:solidFill>
                  <a:srgbClr val="000000"/>
                </a:solidFill>
                <a:latin typeface="Fira Code" panose="020B0809050000020004" pitchFamily="49" charset="0"/>
              </a:rPr>
              <a:t> &lt; </a:t>
            </a:r>
            <a:r>
              <a:rPr lang="en-US" sz="2400" dirty="0">
                <a:solidFill>
                  <a:srgbClr val="0070C1"/>
                </a:solidFill>
                <a:latin typeface="Fira Code" panose="020B0809050000020004" pitchFamily="49" charset="0"/>
              </a:rPr>
              <a:t>M</a:t>
            </a:r>
            <a:r>
              <a:rPr lang="en-US" sz="2400" dirty="0">
                <a:solidFill>
                  <a:srgbClr val="000000"/>
                </a:solidFill>
                <a:latin typeface="Fira Code" panose="020B0809050000020004" pitchFamily="49" charset="0"/>
              </a:rPr>
              <a:t>; </a:t>
            </a:r>
            <a:r>
              <a:rPr lang="en-US" sz="2400" dirty="0" err="1">
                <a:solidFill>
                  <a:srgbClr val="001080"/>
                </a:solidFill>
                <a:latin typeface="Fira Code" panose="020B0809050000020004" pitchFamily="49" charset="0"/>
              </a:rPr>
              <a:t>i</a:t>
            </a:r>
            <a:r>
              <a:rPr lang="en-US" sz="2400" dirty="0">
                <a:solidFill>
                  <a:srgbClr val="000000"/>
                </a:solidFill>
                <a:latin typeface="Fira Code" panose="020B0809050000020004" pitchFamily="49" charset="0"/>
              </a:rPr>
              <a:t>++)</a:t>
            </a:r>
          </a:p>
          <a:p>
            <a:pPr>
              <a:lnSpc>
                <a:spcPct val="113095"/>
              </a:lnSpc>
              <a:buNone/>
            </a:pPr>
            <a:r>
              <a:rPr lang="en-US" sz="2400" dirty="0">
                <a:solidFill>
                  <a:srgbClr val="000000"/>
                </a:solidFill>
                <a:latin typeface="Fira Code" panose="020B0809050000020004" pitchFamily="49" charset="0"/>
              </a:rPr>
              <a:t>    </a:t>
            </a:r>
            <a:r>
              <a:rPr lang="en-US" sz="2400" dirty="0">
                <a:solidFill>
                  <a:srgbClr val="AF00DB"/>
                </a:solidFill>
                <a:latin typeface="Fira Code" panose="020B0809050000020004" pitchFamily="49" charset="0"/>
              </a:rPr>
              <a:t>for</a:t>
            </a:r>
            <a:r>
              <a:rPr lang="en-US" sz="2400" dirty="0">
                <a:solidFill>
                  <a:srgbClr val="000000"/>
                </a:solidFill>
                <a:latin typeface="Fira Code" panose="020B0809050000020004" pitchFamily="49" charset="0"/>
              </a:rPr>
              <a:t> (</a:t>
            </a:r>
            <a:r>
              <a:rPr lang="en-US" sz="2400" dirty="0">
                <a:solidFill>
                  <a:srgbClr val="0000FF"/>
                </a:solidFill>
                <a:latin typeface="Fira Code" panose="020B0809050000020004" pitchFamily="49" charset="0"/>
              </a:rPr>
              <a:t>int</a:t>
            </a:r>
            <a:r>
              <a:rPr lang="en-US" sz="2400" dirty="0">
                <a:solidFill>
                  <a:srgbClr val="000000"/>
                </a:solidFill>
                <a:latin typeface="Fira Code" panose="020B0809050000020004" pitchFamily="49" charset="0"/>
              </a:rPr>
              <a:t> </a:t>
            </a:r>
            <a:r>
              <a:rPr lang="en-US" sz="2400" dirty="0">
                <a:solidFill>
                  <a:srgbClr val="001080"/>
                </a:solidFill>
                <a:latin typeface="Fira Code" panose="020B0809050000020004" pitchFamily="49" charset="0"/>
              </a:rPr>
              <a:t>j</a:t>
            </a:r>
            <a:r>
              <a:rPr lang="en-US" sz="2400" dirty="0">
                <a:solidFill>
                  <a:srgbClr val="000000"/>
                </a:solidFill>
                <a:latin typeface="Fira Code" panose="020B0809050000020004" pitchFamily="49" charset="0"/>
              </a:rPr>
              <a:t> = </a:t>
            </a:r>
            <a:r>
              <a:rPr lang="en-US" sz="2400" dirty="0">
                <a:solidFill>
                  <a:srgbClr val="098658"/>
                </a:solidFill>
                <a:latin typeface="Fira Code" panose="020B0809050000020004" pitchFamily="49" charset="0"/>
              </a:rPr>
              <a:t>0</a:t>
            </a:r>
            <a:r>
              <a:rPr lang="en-US" sz="2400" dirty="0">
                <a:solidFill>
                  <a:srgbClr val="000000"/>
                </a:solidFill>
                <a:latin typeface="Fira Code" panose="020B0809050000020004" pitchFamily="49" charset="0"/>
              </a:rPr>
              <a:t>; </a:t>
            </a:r>
            <a:r>
              <a:rPr lang="en-US" sz="2400" dirty="0">
                <a:solidFill>
                  <a:srgbClr val="001080"/>
                </a:solidFill>
                <a:latin typeface="Fira Code" panose="020B0809050000020004" pitchFamily="49" charset="0"/>
              </a:rPr>
              <a:t>j</a:t>
            </a:r>
            <a:r>
              <a:rPr lang="en-US" sz="2400" dirty="0">
                <a:solidFill>
                  <a:srgbClr val="000000"/>
                </a:solidFill>
                <a:latin typeface="Fira Code" panose="020B0809050000020004" pitchFamily="49" charset="0"/>
              </a:rPr>
              <a:t> &lt; </a:t>
            </a:r>
            <a:r>
              <a:rPr lang="en-US" sz="2400" dirty="0">
                <a:solidFill>
                  <a:srgbClr val="0070C1"/>
                </a:solidFill>
                <a:latin typeface="Fira Code" panose="020B0809050000020004" pitchFamily="49" charset="0"/>
              </a:rPr>
              <a:t>N</a:t>
            </a:r>
            <a:r>
              <a:rPr lang="en-US" sz="2400" dirty="0">
                <a:solidFill>
                  <a:srgbClr val="000000"/>
                </a:solidFill>
                <a:latin typeface="Fira Code" panose="020B0809050000020004" pitchFamily="49" charset="0"/>
              </a:rPr>
              <a:t>; </a:t>
            </a:r>
            <a:r>
              <a:rPr lang="en-US" sz="2400" dirty="0" err="1">
                <a:solidFill>
                  <a:srgbClr val="001080"/>
                </a:solidFill>
                <a:latin typeface="Fira Code" panose="020B0809050000020004" pitchFamily="49" charset="0"/>
              </a:rPr>
              <a:t>j</a:t>
            </a:r>
            <a:r>
              <a:rPr lang="en-US" sz="2400" dirty="0" err="1">
                <a:solidFill>
                  <a:srgbClr val="000000"/>
                </a:solidFill>
                <a:latin typeface="Fira Code" panose="020B0809050000020004" pitchFamily="49" charset="0"/>
              </a:rPr>
              <a:t>++</a:t>
            </a:r>
            <a:r>
              <a:rPr lang="en-US" sz="2400" dirty="0">
                <a:solidFill>
                  <a:srgbClr val="000000"/>
                </a:solidFill>
                <a:latin typeface="Fira Code" panose="020B0809050000020004" pitchFamily="49" charset="0"/>
              </a:rPr>
              <a:t>)</a:t>
            </a:r>
          </a:p>
          <a:p>
            <a:pPr>
              <a:lnSpc>
                <a:spcPct val="113095"/>
              </a:lnSpc>
              <a:buNone/>
            </a:pPr>
            <a:r>
              <a:rPr lang="en-US" sz="2400" dirty="0">
                <a:solidFill>
                  <a:srgbClr val="000000"/>
                </a:solidFill>
                <a:latin typeface="Fira Code" panose="020B0809050000020004" pitchFamily="49" charset="0"/>
              </a:rPr>
              <a:t>        </a:t>
            </a:r>
            <a:r>
              <a:rPr lang="en-US" sz="2400" dirty="0">
                <a:solidFill>
                  <a:srgbClr val="001080"/>
                </a:solidFill>
                <a:latin typeface="Fira Code" panose="020B0809050000020004" pitchFamily="49" charset="0"/>
              </a:rPr>
              <a:t>matrix</a:t>
            </a:r>
            <a:r>
              <a:rPr lang="en-US" sz="2400" dirty="0">
                <a:solidFill>
                  <a:srgbClr val="000000"/>
                </a:solidFill>
                <a:latin typeface="Fira Code" panose="020B0809050000020004" pitchFamily="49" charset="0"/>
              </a:rPr>
              <a:t>[</a:t>
            </a:r>
            <a:r>
              <a:rPr lang="en-US" sz="2400" dirty="0" err="1">
                <a:solidFill>
                  <a:srgbClr val="001080"/>
                </a:solidFill>
                <a:latin typeface="Fira Code" panose="020B0809050000020004" pitchFamily="49" charset="0"/>
              </a:rPr>
              <a:t>i</a:t>
            </a:r>
            <a:r>
              <a:rPr lang="en-US" sz="2400" dirty="0">
                <a:solidFill>
                  <a:srgbClr val="000000"/>
                </a:solidFill>
                <a:latin typeface="Fira Code" panose="020B0809050000020004" pitchFamily="49" charset="0"/>
              </a:rPr>
              <a:t>][</a:t>
            </a:r>
            <a:r>
              <a:rPr lang="en-US" sz="2400" dirty="0">
                <a:solidFill>
                  <a:srgbClr val="001080"/>
                </a:solidFill>
                <a:latin typeface="Fira Code" panose="020B0809050000020004" pitchFamily="49" charset="0"/>
              </a:rPr>
              <a:t>j</a:t>
            </a:r>
            <a:r>
              <a:rPr lang="en-US" sz="2400" dirty="0">
                <a:solidFill>
                  <a:srgbClr val="000000"/>
                </a:solidFill>
                <a:latin typeface="Fira Code" panose="020B0809050000020004" pitchFamily="49" charset="0"/>
              </a:rPr>
              <a:t>] = </a:t>
            </a:r>
            <a:r>
              <a:rPr lang="en-US" sz="2400" dirty="0" err="1">
                <a:solidFill>
                  <a:srgbClr val="795E26"/>
                </a:solidFill>
                <a:latin typeface="Fira Code" panose="020B0809050000020004" pitchFamily="49" charset="0"/>
              </a:rPr>
              <a:t>init</a:t>
            </a:r>
            <a:r>
              <a:rPr lang="en-US" sz="2400" dirty="0">
                <a:solidFill>
                  <a:srgbClr val="000000"/>
                </a:solidFill>
                <a:latin typeface="Fira Code" panose="020B0809050000020004" pitchFamily="49" charset="0"/>
              </a:rPr>
              <a:t>(</a:t>
            </a:r>
            <a:r>
              <a:rPr lang="en-US" sz="2400" dirty="0" err="1">
                <a:solidFill>
                  <a:srgbClr val="001080"/>
                </a:solidFill>
                <a:latin typeface="Fira Code" panose="020B0809050000020004" pitchFamily="49" charset="0"/>
              </a:rPr>
              <a:t>i</a:t>
            </a:r>
            <a:r>
              <a:rPr lang="en-US" sz="2400" dirty="0">
                <a:solidFill>
                  <a:srgbClr val="000000"/>
                </a:solidFill>
                <a:latin typeface="Fira Code" panose="020B0809050000020004" pitchFamily="49" charset="0"/>
              </a:rPr>
              <a:t>, </a:t>
            </a:r>
            <a:r>
              <a:rPr lang="en-US" sz="2400" dirty="0">
                <a:solidFill>
                  <a:srgbClr val="001080"/>
                </a:solidFill>
                <a:latin typeface="Fira Code" panose="020B0809050000020004" pitchFamily="49" charset="0"/>
              </a:rPr>
              <a:t>j</a:t>
            </a:r>
            <a:r>
              <a:rPr lang="en-US" sz="2400" dirty="0">
                <a:solidFill>
                  <a:srgbClr val="000000"/>
                </a:solidFill>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noProof="0" smtClean="0"/>
              <a:t>9/2/2026</a:t>
            </a:fld>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noProof="0" smtClean="0"/>
              <a:t>3</a:t>
            </a:fld>
            <a:endParaRPr lang="en-US" noProof="0" dirty="0"/>
          </a:p>
        </p:txBody>
      </p:sp>
      <p:sp>
        <p:nvSpPr>
          <p:cNvPr id="12" name="TextBox 11">
            <a:extLst>
              <a:ext uri="{FF2B5EF4-FFF2-40B4-BE49-F238E27FC236}">
                <a16:creationId xmlns:a16="http://schemas.microsoft.com/office/drawing/2014/main" id="{16640CAD-E8F3-0136-EE14-212BDC4874AA}"/>
              </a:ext>
            </a:extLst>
          </p:cNvPr>
          <p:cNvSpPr txBox="1"/>
          <p:nvPr/>
        </p:nvSpPr>
        <p:spPr>
          <a:xfrm>
            <a:off x="3535266" y="4509397"/>
            <a:ext cx="1635577" cy="461665"/>
          </a:xfrm>
          <a:prstGeom prst="rect">
            <a:avLst/>
          </a:prstGeom>
          <a:noFill/>
        </p:spPr>
        <p:txBody>
          <a:bodyPr wrap="none" rtlCol="0">
            <a:spAutoFit/>
          </a:bodyPr>
          <a:lstStyle/>
          <a:p>
            <a:pPr algn="ctr"/>
            <a:r>
              <a:rPr lang="en-US" sz="2400" noProof="0" dirty="0"/>
              <a:t>Row-major</a:t>
            </a:r>
            <a:endParaRPr lang="en-US" noProof="0"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499446" y="4472299"/>
            <a:ext cx="2129109" cy="461665"/>
          </a:xfrm>
          <a:prstGeom prst="rect">
            <a:avLst/>
          </a:prstGeom>
          <a:noFill/>
        </p:spPr>
        <p:txBody>
          <a:bodyPr wrap="none" rtlCol="0">
            <a:spAutoFit/>
          </a:bodyPr>
          <a:lstStyle/>
          <a:p>
            <a:pPr algn="ctr"/>
            <a:r>
              <a:rPr lang="en-US" sz="2400" noProof="0" dirty="0"/>
              <a:t>Column-major</a:t>
            </a:r>
            <a:endParaRPr lang="en-US" noProof="0"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2903008" y="4502445"/>
            <a:ext cx="678392" cy="523220"/>
          </a:xfrm>
          <a:prstGeom prst="rect">
            <a:avLst/>
          </a:prstGeom>
          <a:noFill/>
        </p:spPr>
        <p:txBody>
          <a:bodyPr wrap="none" rtlCol="0">
            <a:spAutoFit/>
          </a:bodyPr>
          <a:lstStyle/>
          <a:p>
            <a:pPr algn="ctr"/>
            <a:r>
              <a:rPr lang="en-US" sz="2800" noProof="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9477801" y="4422180"/>
            <a:ext cx="678392" cy="523220"/>
          </a:xfrm>
          <a:prstGeom prst="rect">
            <a:avLst/>
          </a:prstGeom>
          <a:noFill/>
        </p:spPr>
        <p:txBody>
          <a:bodyPr wrap="none" rtlCol="0">
            <a:spAutoFit/>
          </a:bodyPr>
          <a:lstStyle/>
          <a:p>
            <a:pPr algn="ctr"/>
            <a:r>
              <a:rPr lang="en-US" sz="2800" noProof="0" dirty="0"/>
              <a:t>🐌</a:t>
            </a:r>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0D8FA95F-2675-1FD6-BC91-3590519E9D21}"/>
                  </a:ext>
                </a:extLst>
              </p:cNvPr>
              <p:cNvSpPr txBox="1"/>
              <p:nvPr/>
            </p:nvSpPr>
            <p:spPr>
              <a:xfrm>
                <a:off x="2808076" y="3294867"/>
                <a:ext cx="510524" cy="461665"/>
              </a:xfrm>
              <a:prstGeom prst="rect">
                <a:avLst/>
              </a:prstGeom>
              <a:noFill/>
            </p:spPr>
            <p:txBody>
              <a:bodyPr wrap="none" rtlCol="0">
                <a:spAutoFit/>
              </a:bodyPr>
              <a:lstStyle/>
              <a:p>
                <a:pPr/>
                <a14:m>
                  <m:oMathPara xmlns:m="http://schemas.openxmlformats.org/officeDocument/2006/math">
                    <m:oMath>
                      <m:r>
                        <a:rPr lang="en-US" sz="2400" i="1" dirty="0" smtClean="0">
                          <a:latin typeface="Cambria Math" panose="02040503050406030204" pitchFamily="18" charset="0"/>
                        </a:rPr>
                        <m:t>𝑚</m:t>
                      </m:r>
                    </m:oMath>
                  </m:oMathPara>
                </a14:m>
                <a:endParaRPr lang="en-US" sz="2400" dirty="0"/>
              </a:p>
            </p:txBody>
          </p:sp>
        </mc:Choice>
        <mc:Fallback>
          <p:sp>
            <p:nvSpPr>
              <p:cNvPr id="10" name="TextBox 9">
                <a:extLst>
                  <a:ext uri="{FF2B5EF4-FFF2-40B4-BE49-F238E27FC236}">
                    <a16:creationId xmlns:a16="http://schemas.microsoft.com/office/drawing/2014/main" id="{0D8FA95F-2675-1FD6-BC91-3590519E9D21}"/>
                  </a:ext>
                </a:extLst>
              </p:cNvPr>
              <p:cNvSpPr txBox="1">
                <a:spLocks noRot="1" noChangeAspect="1" noMove="1" noResize="1" noEditPoints="1" noAdjustHandles="1" noChangeArrowheads="1" noChangeShapeType="1" noTextEdit="1"/>
              </p:cNvSpPr>
              <p:nvPr/>
            </p:nvSpPr>
            <p:spPr>
              <a:xfrm>
                <a:off x="2808076" y="3294867"/>
                <a:ext cx="510524"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5D99167C-04A4-F722-8AAD-E9C93817DE28}"/>
                  </a:ext>
                </a:extLst>
              </p:cNvPr>
              <p:cNvSpPr txBox="1"/>
              <p:nvPr/>
            </p:nvSpPr>
            <p:spPr>
              <a:xfrm>
                <a:off x="8349614" y="2090846"/>
                <a:ext cx="428771" cy="461665"/>
              </a:xfrm>
              <a:prstGeom prst="rect">
                <a:avLst/>
              </a:prstGeom>
              <a:noFill/>
            </p:spPr>
            <p:txBody>
              <a:bodyPr wrap="none" rtlCol="0">
                <a:spAutoFit/>
              </a:bodyPr>
              <a:lstStyle/>
              <a:p>
                <a:pPr/>
                <a14:m>
                  <m:oMathPara xmlns:m="http://schemas.openxmlformats.org/officeDocument/2006/math">
                    <m:oMath>
                      <m:r>
                        <a:rPr lang="en-US" sz="2400" b="0" i="1" dirty="0" smtClean="0">
                          <a:latin typeface="Cambria Math" panose="02040503050406030204" pitchFamily="18" charset="0"/>
                        </a:rPr>
                        <m:t>𝑛</m:t>
                      </m:r>
                    </m:oMath>
                  </m:oMathPara>
                </a14:m>
                <a:endParaRPr lang="en-US" sz="2400" dirty="0"/>
              </a:p>
            </p:txBody>
          </p:sp>
        </mc:Choice>
        <mc:Fallback>
          <p:sp>
            <p:nvSpPr>
              <p:cNvPr id="13" name="TextBox 12">
                <a:extLst>
                  <a:ext uri="{FF2B5EF4-FFF2-40B4-BE49-F238E27FC236}">
                    <a16:creationId xmlns:a16="http://schemas.microsoft.com/office/drawing/2014/main" id="{5D99167C-04A4-F722-8AAD-E9C93817DE28}"/>
                  </a:ext>
                </a:extLst>
              </p:cNvPr>
              <p:cNvSpPr txBox="1">
                <a:spLocks noRot="1" noChangeAspect="1" noMove="1" noResize="1" noEditPoints="1" noAdjustHandles="1" noChangeArrowheads="1" noChangeShapeType="1" noTextEdit="1"/>
              </p:cNvSpPr>
              <p:nvPr/>
            </p:nvSpPr>
            <p:spPr>
              <a:xfrm>
                <a:off x="8349614" y="2090846"/>
                <a:ext cx="428771"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078A7279-5F01-C120-7112-C7DEE7206658}"/>
                  </a:ext>
                </a:extLst>
              </p:cNvPr>
              <p:cNvSpPr txBox="1"/>
              <p:nvPr/>
            </p:nvSpPr>
            <p:spPr>
              <a:xfrm>
                <a:off x="7244184" y="3252428"/>
                <a:ext cx="510524" cy="461665"/>
              </a:xfrm>
              <a:prstGeom prst="rect">
                <a:avLst/>
              </a:prstGeom>
              <a:noFill/>
            </p:spPr>
            <p:txBody>
              <a:bodyPr wrap="none" rtlCol="0">
                <a:spAutoFit/>
              </a:bodyPr>
              <a:lstStyle/>
              <a:p>
                <a:pPr/>
                <a14:m>
                  <m:oMathPara xmlns:m="http://schemas.openxmlformats.org/officeDocument/2006/math">
                    <m:oMath>
                      <m:r>
                        <a:rPr lang="en-US" sz="2400" i="1" dirty="0" smtClean="0">
                          <a:latin typeface="Cambria Math" panose="02040503050406030204" pitchFamily="18" charset="0"/>
                        </a:rPr>
                        <m:t>𝑚</m:t>
                      </m:r>
                    </m:oMath>
                  </m:oMathPara>
                </a14:m>
                <a:endParaRPr lang="en-US" sz="2400" dirty="0"/>
              </a:p>
            </p:txBody>
          </p:sp>
        </mc:Choice>
        <mc:Fallback>
          <p:sp>
            <p:nvSpPr>
              <p:cNvPr id="19" name="TextBox 18">
                <a:extLst>
                  <a:ext uri="{FF2B5EF4-FFF2-40B4-BE49-F238E27FC236}">
                    <a16:creationId xmlns:a16="http://schemas.microsoft.com/office/drawing/2014/main" id="{078A7279-5F01-C120-7112-C7DEE7206658}"/>
                  </a:ext>
                </a:extLst>
              </p:cNvPr>
              <p:cNvSpPr txBox="1">
                <a:spLocks noRot="1" noChangeAspect="1" noMove="1" noResize="1" noEditPoints="1" noAdjustHandles="1" noChangeArrowheads="1" noChangeShapeType="1" noTextEdit="1"/>
              </p:cNvSpPr>
              <p:nvPr/>
            </p:nvSpPr>
            <p:spPr>
              <a:xfrm>
                <a:off x="7244184" y="3252428"/>
                <a:ext cx="510524"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C385C36A-8F48-E47B-7C6E-E9CE50E27705}"/>
                  </a:ext>
                </a:extLst>
              </p:cNvPr>
              <p:cNvSpPr txBox="1"/>
              <p:nvPr/>
            </p:nvSpPr>
            <p:spPr>
              <a:xfrm>
                <a:off x="3924283" y="2167877"/>
                <a:ext cx="428771" cy="461665"/>
              </a:xfrm>
              <a:prstGeom prst="rect">
                <a:avLst/>
              </a:prstGeom>
              <a:noFill/>
            </p:spPr>
            <p:txBody>
              <a:bodyPr wrap="none" rtlCol="0">
                <a:spAutoFit/>
              </a:bodyPr>
              <a:lstStyle/>
              <a:p>
                <a:pPr/>
                <a14:m>
                  <m:oMathPara xmlns:m="http://schemas.openxmlformats.org/officeDocument/2006/math">
                    <m:oMath>
                      <m:r>
                        <a:rPr lang="en-US" sz="2400" b="0" i="1" dirty="0" smtClean="0">
                          <a:latin typeface="Cambria Math" panose="02040503050406030204" pitchFamily="18" charset="0"/>
                        </a:rPr>
                        <m:t>𝑛</m:t>
                      </m:r>
                    </m:oMath>
                  </m:oMathPara>
                </a14:m>
                <a:endParaRPr lang="en-US" sz="2400" dirty="0"/>
              </a:p>
            </p:txBody>
          </p:sp>
        </mc:Choice>
        <mc:Fallback>
          <p:sp>
            <p:nvSpPr>
              <p:cNvPr id="23" name="TextBox 22">
                <a:extLst>
                  <a:ext uri="{FF2B5EF4-FFF2-40B4-BE49-F238E27FC236}">
                    <a16:creationId xmlns:a16="http://schemas.microsoft.com/office/drawing/2014/main" id="{C385C36A-8F48-E47B-7C6E-E9CE50E27705}"/>
                  </a:ext>
                </a:extLst>
              </p:cNvPr>
              <p:cNvSpPr txBox="1">
                <a:spLocks noRot="1" noChangeAspect="1" noMove="1" noResize="1" noEditPoints="1" noAdjustHandles="1" noChangeArrowheads="1" noChangeShapeType="1" noTextEdit="1"/>
              </p:cNvSpPr>
              <p:nvPr/>
            </p:nvSpPr>
            <p:spPr>
              <a:xfrm>
                <a:off x="3924283" y="2167877"/>
                <a:ext cx="428771" cy="461665"/>
              </a:xfrm>
              <a:prstGeom prst="rect">
                <a:avLst/>
              </a:prstGeom>
              <a:blipFill>
                <a:blip r:embed="rId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636511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311069" y="3151078"/>
            <a:ext cx="1829020" cy="461665"/>
          </a:xfrm>
          <a:prstGeom prst="rect">
            <a:avLst/>
          </a:prstGeom>
          <a:noFill/>
        </p:spPr>
        <p:txBody>
          <a:bodyPr wrap="square" rtlCol="0">
            <a:spAutoFit/>
          </a:bodyPr>
          <a:lstStyle/>
          <a:p>
            <a:pPr algn="ctr"/>
            <a:r>
              <a:rPr lang="en-US" sz="2400" noProof="0" dirty="0"/>
              <a:t>Index space</a:t>
            </a:r>
          </a:p>
        </p:txBody>
      </p:sp>
      <p:cxnSp>
        <p:nvCxnSpPr>
          <p:cNvPr id="7" name="Straight Arrow Connector 6">
            <a:extLst>
              <a:ext uri="{FF2B5EF4-FFF2-40B4-BE49-F238E27FC236}">
                <a16:creationId xmlns:a16="http://schemas.microsoft.com/office/drawing/2014/main" id="{810D43FC-A3D8-FA7F-57C5-AF9023BC6E13}"/>
              </a:ext>
            </a:extLst>
          </p:cNvPr>
          <p:cNvCxnSpPr>
            <a:cxnSpLocks/>
            <a:stCxn id="23" idx="3"/>
            <a:endCxn id="21" idx="1"/>
          </p:cNvCxnSpPr>
          <p:nvPr/>
        </p:nvCxnSpPr>
        <p:spPr>
          <a:xfrm flipV="1">
            <a:off x="2965699" y="3622045"/>
            <a:ext cx="1913618" cy="61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474631" y="2942049"/>
            <a:ext cx="3400422" cy="461665"/>
          </a:xfrm>
          <a:prstGeom prst="rect">
            <a:avLst/>
          </a:prstGeom>
          <a:noFill/>
        </p:spPr>
        <p:txBody>
          <a:bodyPr wrap="square" rtlCol="0">
            <a:spAutoFit/>
          </a:bodyPr>
          <a:lstStyle/>
          <a:p>
            <a:r>
              <a:rPr lang="en-US" sz="2400"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2716662" y="5559483"/>
            <a:ext cx="5550828" cy="461665"/>
          </a:xfrm>
          <a:prstGeom prst="rect">
            <a:avLst/>
          </a:prstGeom>
          <a:noFill/>
        </p:spPr>
        <p:txBody>
          <a:bodyPr wrap="square" rtlCol="0">
            <a:spAutoFit/>
          </a:bodyPr>
          <a:lstStyle/>
          <a:p>
            <a:pPr algn="ctr"/>
            <a:r>
              <a:rPr lang="en-US" sz="2400" noProof="0" dirty="0"/>
              <a:t>Layout abstraction of a data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4"/>
          <a:stretch>
            <a:fillRect/>
          </a:stretch>
        </p:blipFill>
        <p:spPr>
          <a:xfrm>
            <a:off x="9729605" y="2671868"/>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noProof="0" smtClean="0"/>
              <a:t>9/2/2026</a:t>
            </a:fld>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noProof="0" smtClean="0"/>
              <a:t>4</a:t>
            </a:fld>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nvSpPr>
        <p:spPr>
          <a:xfrm>
            <a:off x="2588746" y="1364832"/>
            <a:ext cx="6559615" cy="1330685"/>
          </a:xfrm>
          <a:prstGeom prst="rect">
            <a:avLst/>
          </a:prstGeom>
          <a:noFill/>
          <a:ln>
            <a:solidFill>
              <a:schemeClr val="tx1"/>
            </a:solidFill>
          </a:ln>
        </p:spPr>
        <p:txBody>
          <a:bodyPr wrap="square">
            <a:spAutoFit/>
          </a:bodyPr>
          <a:lstStyle/>
          <a:p>
            <a:pPr>
              <a:lnSpc>
                <a:spcPct val="113095"/>
              </a:lnSpc>
              <a:buNone/>
            </a:pPr>
            <a:r>
              <a:rPr lang="en-US" sz="2400" dirty="0">
                <a:solidFill>
                  <a:srgbClr val="AF00DB"/>
                </a:solidFill>
                <a:latin typeface="Fira Code" panose="020B0809050000020004" pitchFamily="49" charset="0"/>
              </a:rPr>
              <a:t>for</a:t>
            </a:r>
            <a:r>
              <a:rPr lang="en-US" sz="2400" dirty="0">
                <a:solidFill>
                  <a:srgbClr val="000000"/>
                </a:solidFill>
                <a:latin typeface="Fira Code" panose="020B0809050000020004" pitchFamily="49" charset="0"/>
              </a:rPr>
              <a:t> (</a:t>
            </a:r>
            <a:r>
              <a:rPr lang="en-US" sz="2400" dirty="0">
                <a:solidFill>
                  <a:srgbClr val="0000FF"/>
                </a:solidFill>
                <a:latin typeface="Fira Code" panose="020B0809050000020004" pitchFamily="49" charset="0"/>
              </a:rPr>
              <a:t>int</a:t>
            </a:r>
            <a:r>
              <a:rPr lang="en-US" sz="2400" dirty="0">
                <a:solidFill>
                  <a:srgbClr val="000000"/>
                </a:solidFill>
                <a:latin typeface="Fira Code" panose="020B0809050000020004" pitchFamily="49" charset="0"/>
              </a:rPr>
              <a:t> </a:t>
            </a:r>
            <a:r>
              <a:rPr lang="en-US" sz="2400" dirty="0" err="1">
                <a:solidFill>
                  <a:srgbClr val="001080"/>
                </a:solidFill>
                <a:latin typeface="Fira Code" panose="020B0809050000020004" pitchFamily="49" charset="0"/>
              </a:rPr>
              <a:t>i</a:t>
            </a:r>
            <a:r>
              <a:rPr lang="en-US" sz="2400" dirty="0">
                <a:solidFill>
                  <a:srgbClr val="000000"/>
                </a:solidFill>
                <a:latin typeface="Fira Code" panose="020B0809050000020004" pitchFamily="49" charset="0"/>
              </a:rPr>
              <a:t> = </a:t>
            </a:r>
            <a:r>
              <a:rPr lang="en-US" sz="2400" dirty="0">
                <a:solidFill>
                  <a:srgbClr val="098658"/>
                </a:solidFill>
                <a:latin typeface="Fira Code" panose="020B0809050000020004" pitchFamily="49" charset="0"/>
              </a:rPr>
              <a:t>0</a:t>
            </a:r>
            <a:r>
              <a:rPr lang="en-US" sz="2400" dirty="0">
                <a:solidFill>
                  <a:srgbClr val="000000"/>
                </a:solidFill>
                <a:latin typeface="Fira Code" panose="020B0809050000020004" pitchFamily="49" charset="0"/>
              </a:rPr>
              <a:t>; </a:t>
            </a:r>
            <a:r>
              <a:rPr lang="en-US" sz="2400" dirty="0" err="1">
                <a:solidFill>
                  <a:srgbClr val="001080"/>
                </a:solidFill>
                <a:latin typeface="Fira Code" panose="020B0809050000020004" pitchFamily="49" charset="0"/>
              </a:rPr>
              <a:t>i</a:t>
            </a:r>
            <a:r>
              <a:rPr lang="en-US" sz="2400" dirty="0">
                <a:solidFill>
                  <a:srgbClr val="000000"/>
                </a:solidFill>
                <a:latin typeface="Fira Code" panose="020B0809050000020004" pitchFamily="49" charset="0"/>
              </a:rPr>
              <a:t> &lt; </a:t>
            </a:r>
            <a:r>
              <a:rPr lang="en-US" sz="2400" dirty="0">
                <a:solidFill>
                  <a:srgbClr val="0070C1"/>
                </a:solidFill>
                <a:latin typeface="Fira Code" panose="020B0809050000020004" pitchFamily="49" charset="0"/>
              </a:rPr>
              <a:t>M</a:t>
            </a:r>
            <a:r>
              <a:rPr lang="en-US" sz="2400" dirty="0">
                <a:solidFill>
                  <a:srgbClr val="000000"/>
                </a:solidFill>
                <a:latin typeface="Fira Code" panose="020B0809050000020004" pitchFamily="49" charset="0"/>
              </a:rPr>
              <a:t>; </a:t>
            </a:r>
            <a:r>
              <a:rPr lang="en-US" sz="2400" dirty="0" err="1">
                <a:solidFill>
                  <a:srgbClr val="001080"/>
                </a:solidFill>
                <a:latin typeface="Fira Code" panose="020B0809050000020004" pitchFamily="49" charset="0"/>
              </a:rPr>
              <a:t>i</a:t>
            </a:r>
            <a:r>
              <a:rPr lang="en-US" sz="2400" dirty="0">
                <a:solidFill>
                  <a:srgbClr val="000000"/>
                </a:solidFill>
                <a:latin typeface="Fira Code" panose="020B0809050000020004" pitchFamily="49" charset="0"/>
              </a:rPr>
              <a:t>++)</a:t>
            </a:r>
          </a:p>
          <a:p>
            <a:pPr>
              <a:lnSpc>
                <a:spcPct val="113095"/>
              </a:lnSpc>
              <a:buNone/>
            </a:pPr>
            <a:r>
              <a:rPr lang="en-US" sz="2400" dirty="0">
                <a:solidFill>
                  <a:srgbClr val="000000"/>
                </a:solidFill>
                <a:latin typeface="Fira Code" panose="020B0809050000020004" pitchFamily="49" charset="0"/>
              </a:rPr>
              <a:t>    </a:t>
            </a:r>
            <a:r>
              <a:rPr lang="en-US" sz="2400" dirty="0">
                <a:solidFill>
                  <a:srgbClr val="AF00DB"/>
                </a:solidFill>
                <a:latin typeface="Fira Code" panose="020B0809050000020004" pitchFamily="49" charset="0"/>
              </a:rPr>
              <a:t>for</a:t>
            </a:r>
            <a:r>
              <a:rPr lang="en-US" sz="2400" dirty="0">
                <a:solidFill>
                  <a:srgbClr val="000000"/>
                </a:solidFill>
                <a:latin typeface="Fira Code" panose="020B0809050000020004" pitchFamily="49" charset="0"/>
              </a:rPr>
              <a:t> (</a:t>
            </a:r>
            <a:r>
              <a:rPr lang="en-US" sz="2400" dirty="0">
                <a:solidFill>
                  <a:srgbClr val="0000FF"/>
                </a:solidFill>
                <a:latin typeface="Fira Code" panose="020B0809050000020004" pitchFamily="49" charset="0"/>
              </a:rPr>
              <a:t>int</a:t>
            </a:r>
            <a:r>
              <a:rPr lang="en-US" sz="2400" dirty="0">
                <a:solidFill>
                  <a:srgbClr val="000000"/>
                </a:solidFill>
                <a:latin typeface="Fira Code" panose="020B0809050000020004" pitchFamily="49" charset="0"/>
              </a:rPr>
              <a:t> </a:t>
            </a:r>
            <a:r>
              <a:rPr lang="en-US" sz="2400" dirty="0">
                <a:solidFill>
                  <a:srgbClr val="001080"/>
                </a:solidFill>
                <a:latin typeface="Fira Code" panose="020B0809050000020004" pitchFamily="49" charset="0"/>
              </a:rPr>
              <a:t>j</a:t>
            </a:r>
            <a:r>
              <a:rPr lang="en-US" sz="2400" dirty="0">
                <a:solidFill>
                  <a:srgbClr val="000000"/>
                </a:solidFill>
                <a:latin typeface="Fira Code" panose="020B0809050000020004" pitchFamily="49" charset="0"/>
              </a:rPr>
              <a:t> = </a:t>
            </a:r>
            <a:r>
              <a:rPr lang="en-US" sz="2400" dirty="0">
                <a:solidFill>
                  <a:srgbClr val="098658"/>
                </a:solidFill>
                <a:latin typeface="Fira Code" panose="020B0809050000020004" pitchFamily="49" charset="0"/>
              </a:rPr>
              <a:t>0</a:t>
            </a:r>
            <a:r>
              <a:rPr lang="en-US" sz="2400" dirty="0">
                <a:solidFill>
                  <a:srgbClr val="000000"/>
                </a:solidFill>
                <a:latin typeface="Fira Code" panose="020B0809050000020004" pitchFamily="49" charset="0"/>
              </a:rPr>
              <a:t>; </a:t>
            </a:r>
            <a:r>
              <a:rPr lang="en-US" sz="2400" dirty="0">
                <a:solidFill>
                  <a:srgbClr val="001080"/>
                </a:solidFill>
                <a:latin typeface="Fira Code" panose="020B0809050000020004" pitchFamily="49" charset="0"/>
              </a:rPr>
              <a:t>j</a:t>
            </a:r>
            <a:r>
              <a:rPr lang="en-US" sz="2400" dirty="0">
                <a:solidFill>
                  <a:srgbClr val="000000"/>
                </a:solidFill>
                <a:latin typeface="Fira Code" panose="020B0809050000020004" pitchFamily="49" charset="0"/>
              </a:rPr>
              <a:t> &lt; </a:t>
            </a:r>
            <a:r>
              <a:rPr lang="en-US" sz="2400" dirty="0">
                <a:solidFill>
                  <a:srgbClr val="0070C1"/>
                </a:solidFill>
                <a:latin typeface="Fira Code" panose="020B0809050000020004" pitchFamily="49" charset="0"/>
              </a:rPr>
              <a:t>N</a:t>
            </a:r>
            <a:r>
              <a:rPr lang="en-US" sz="2400" dirty="0">
                <a:solidFill>
                  <a:srgbClr val="000000"/>
                </a:solidFill>
                <a:latin typeface="Fira Code" panose="020B0809050000020004" pitchFamily="49" charset="0"/>
              </a:rPr>
              <a:t>; </a:t>
            </a:r>
            <a:r>
              <a:rPr lang="en-US" sz="2400" dirty="0" err="1">
                <a:solidFill>
                  <a:srgbClr val="001080"/>
                </a:solidFill>
                <a:latin typeface="Fira Code" panose="020B0809050000020004" pitchFamily="49" charset="0"/>
              </a:rPr>
              <a:t>j</a:t>
            </a:r>
            <a:r>
              <a:rPr lang="en-US" sz="2400" dirty="0" err="1">
                <a:solidFill>
                  <a:srgbClr val="000000"/>
                </a:solidFill>
                <a:latin typeface="Fira Code" panose="020B0809050000020004" pitchFamily="49" charset="0"/>
              </a:rPr>
              <a:t>++</a:t>
            </a:r>
            <a:r>
              <a:rPr lang="en-US" sz="2400" dirty="0">
                <a:solidFill>
                  <a:srgbClr val="000000"/>
                </a:solidFill>
                <a:latin typeface="Fira Code" panose="020B0809050000020004" pitchFamily="49" charset="0"/>
              </a:rPr>
              <a:t>)</a:t>
            </a:r>
          </a:p>
          <a:p>
            <a:pPr>
              <a:lnSpc>
                <a:spcPct val="113095"/>
              </a:lnSpc>
              <a:buNone/>
            </a:pPr>
            <a:r>
              <a:rPr lang="en-US" sz="2400" dirty="0">
                <a:solidFill>
                  <a:srgbClr val="000000"/>
                </a:solidFill>
                <a:latin typeface="Fira Code" panose="020B0809050000020004" pitchFamily="49" charset="0"/>
              </a:rPr>
              <a:t>        </a:t>
            </a:r>
            <a:r>
              <a:rPr lang="en-US" sz="2400" dirty="0">
                <a:solidFill>
                  <a:srgbClr val="001080"/>
                </a:solidFill>
                <a:latin typeface="Fira Code" panose="020B0809050000020004" pitchFamily="49" charset="0"/>
              </a:rPr>
              <a:t>matrix</a:t>
            </a:r>
            <a:r>
              <a:rPr lang="en-US" sz="2400" dirty="0">
                <a:solidFill>
                  <a:srgbClr val="000000"/>
                </a:solidFill>
                <a:latin typeface="Fira Code" panose="020B0809050000020004" pitchFamily="49" charset="0"/>
              </a:rPr>
              <a:t>[</a:t>
            </a:r>
            <a:r>
              <a:rPr lang="en-US" sz="2400" dirty="0" err="1">
                <a:solidFill>
                  <a:srgbClr val="001080"/>
                </a:solidFill>
                <a:latin typeface="Fira Code" panose="020B0809050000020004" pitchFamily="49" charset="0"/>
              </a:rPr>
              <a:t>i</a:t>
            </a:r>
            <a:r>
              <a:rPr lang="en-US" sz="2400" dirty="0">
                <a:solidFill>
                  <a:srgbClr val="000000"/>
                </a:solidFill>
                <a:latin typeface="Fira Code" panose="020B0809050000020004" pitchFamily="49" charset="0"/>
              </a:rPr>
              <a:t>][</a:t>
            </a:r>
            <a:r>
              <a:rPr lang="en-US" sz="2400" dirty="0">
                <a:solidFill>
                  <a:srgbClr val="001080"/>
                </a:solidFill>
                <a:latin typeface="Fira Code" panose="020B0809050000020004" pitchFamily="49" charset="0"/>
              </a:rPr>
              <a:t>j</a:t>
            </a:r>
            <a:r>
              <a:rPr lang="en-US" sz="2400" dirty="0">
                <a:solidFill>
                  <a:srgbClr val="000000"/>
                </a:solidFill>
                <a:latin typeface="Fira Code" panose="020B0809050000020004" pitchFamily="49" charset="0"/>
              </a:rPr>
              <a:t>] = </a:t>
            </a:r>
            <a:r>
              <a:rPr lang="en-US" sz="2400" dirty="0" err="1">
                <a:solidFill>
                  <a:srgbClr val="795E26"/>
                </a:solidFill>
                <a:latin typeface="Fira Code" panose="020B0809050000020004" pitchFamily="49" charset="0"/>
              </a:rPr>
              <a:t>init</a:t>
            </a:r>
            <a:r>
              <a:rPr lang="en-US" sz="2400" dirty="0">
                <a:solidFill>
                  <a:srgbClr val="000000"/>
                </a:solidFill>
                <a:latin typeface="Fira Code" panose="020B0809050000020004" pitchFamily="49" charset="0"/>
              </a:rPr>
              <a:t>(</a:t>
            </a:r>
            <a:r>
              <a:rPr lang="en-US" sz="2400" dirty="0" err="1">
                <a:solidFill>
                  <a:srgbClr val="001080"/>
                </a:solidFill>
                <a:latin typeface="Fira Code" panose="020B0809050000020004" pitchFamily="49" charset="0"/>
              </a:rPr>
              <a:t>i</a:t>
            </a:r>
            <a:r>
              <a:rPr lang="en-US" sz="2400" dirty="0">
                <a:solidFill>
                  <a:srgbClr val="000000"/>
                </a:solidFill>
                <a:latin typeface="Fira Code" panose="020B0809050000020004" pitchFamily="49" charset="0"/>
              </a:rPr>
              <a:t>, </a:t>
            </a:r>
            <a:r>
              <a:rPr lang="en-US" sz="2400" dirty="0">
                <a:solidFill>
                  <a:srgbClr val="001080"/>
                </a:solidFill>
                <a:latin typeface="Fira Code" panose="020B0809050000020004" pitchFamily="49" charset="0"/>
              </a:rPr>
              <a:t>j</a:t>
            </a:r>
            <a:r>
              <a:rPr lang="en-US" sz="2400" dirty="0">
                <a:solidFill>
                  <a:srgbClr val="000000"/>
                </a:solidFill>
                <a:latin typeface="Fira Code" panose="020B0809050000020004" pitchFamily="49" charset="0"/>
              </a:rPr>
              <a:t>);</a:t>
            </a:r>
          </a:p>
        </p:txBody>
      </p:sp>
      <p:cxnSp>
        <p:nvCxnSpPr>
          <p:cNvPr id="17" name="Straight Arrow Connector 16">
            <a:extLst>
              <a:ext uri="{FF2B5EF4-FFF2-40B4-BE49-F238E27FC236}">
                <a16:creationId xmlns:a16="http://schemas.microsoft.com/office/drawing/2014/main" id="{CF9699A7-6E7F-6A4A-1BE0-B901964BBD4A}"/>
              </a:ext>
            </a:extLst>
          </p:cNvPr>
          <p:cNvCxnSpPr>
            <a:cxnSpLocks/>
            <a:stCxn id="10" idx="2"/>
            <a:endCxn id="6" idx="1"/>
          </p:cNvCxnSpPr>
          <p:nvPr/>
        </p:nvCxnSpPr>
        <p:spPr>
          <a:xfrm flipH="1">
            <a:off x="3140089" y="2695517"/>
            <a:ext cx="2728465" cy="6863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9" name="Graphic 18">
            <a:extLst>
              <a:ext uri="{FF2B5EF4-FFF2-40B4-BE49-F238E27FC236}">
                <a16:creationId xmlns:a16="http://schemas.microsoft.com/office/drawing/2014/main" id="{4A0BFCCB-128B-7591-E963-1618B5BB9736}"/>
              </a:ext>
            </a:extLst>
          </p:cNvPr>
          <p:cNvPicPr>
            <a:picLocks noChangeAspect="1"/>
          </p:cNvPicPr>
          <p:nvPr/>
        </p:nvPicPr>
        <p:blipFill>
          <a:blip>
            <a:extLst>
              <a:ext uri="{96DAC541-7B7A-43D3-8B79-37D633B846F1}">
                <asvg:svgBlip xmlns:asvg="http://schemas.microsoft.com/office/drawing/2016/SVG/main" r:embed="rId5"/>
              </a:ext>
            </a:extLst>
          </a:blip>
          <a:srcRect t="81959"/>
          <a:stretch>
            <a:fillRect/>
          </a:stretch>
        </p:blipFill>
        <p:spPr>
          <a:xfrm>
            <a:off x="4879317" y="4712052"/>
            <a:ext cx="4591050" cy="484601"/>
          </a:xfrm>
          <a:prstGeom prst="rect">
            <a:avLst/>
          </a:prstGeom>
        </p:spPr>
      </p:pic>
      <p:pic>
        <p:nvPicPr>
          <p:cNvPr id="21" name="Graphic 20">
            <a:extLst>
              <a:ext uri="{FF2B5EF4-FFF2-40B4-BE49-F238E27FC236}">
                <a16:creationId xmlns:a16="http://schemas.microsoft.com/office/drawing/2014/main" id="{4A08EC48-FD46-BBE4-EFE8-88F7B225B666}"/>
              </a:ext>
            </a:extLst>
          </p:cNvPr>
          <p:cNvPicPr>
            <a:picLocks noChangeAspect="1"/>
          </p:cNvPicPr>
          <p:nvPr/>
        </p:nvPicPr>
        <p:blipFill>
          <a:blip>
            <a:extLst>
              <a:ext uri="{96DAC541-7B7A-43D3-8B79-37D633B846F1}">
                <asvg:svgBlip xmlns:asvg="http://schemas.microsoft.com/office/drawing/2016/SVG/main" r:embed="rId5"/>
              </a:ext>
            </a:extLst>
          </a:blip>
          <a:srcRect t="53786" b="26396"/>
          <a:stretch>
            <a:fillRect/>
          </a:stretch>
        </p:blipFill>
        <p:spPr>
          <a:xfrm>
            <a:off x="4879317" y="3355889"/>
            <a:ext cx="4591050" cy="532311"/>
          </a:xfrm>
          <a:prstGeom prst="rect">
            <a:avLst/>
          </a:prstGeom>
        </p:spPr>
      </p:pic>
      <p:pic>
        <p:nvPicPr>
          <p:cNvPr id="23" name="Graphic 22">
            <a:extLst>
              <a:ext uri="{FF2B5EF4-FFF2-40B4-BE49-F238E27FC236}">
                <a16:creationId xmlns:a16="http://schemas.microsoft.com/office/drawing/2014/main" id="{E715DACF-F81B-CE55-F91D-759F9C6026D3}"/>
              </a:ext>
            </a:extLst>
          </p:cNvPr>
          <p:cNvPicPr>
            <a:picLocks noChangeAspect="1"/>
          </p:cNvPicPr>
          <p:nvPr/>
        </p:nvPicPr>
        <p:blipFill>
          <a:blip>
            <a:extLst>
              <a:ext uri="{96DAC541-7B7A-43D3-8B79-37D633B846F1}">
                <asvg:svgBlip xmlns:asvg="http://schemas.microsoft.com/office/drawing/2016/SVG/main" r:embed="rId5"/>
              </a:ext>
            </a:extLst>
          </a:blip>
          <a:srcRect r="65778" b="56757"/>
          <a:stretch>
            <a:fillRect/>
          </a:stretch>
        </p:blipFill>
        <p:spPr>
          <a:xfrm>
            <a:off x="1394526" y="3651422"/>
            <a:ext cx="1571173" cy="1161511"/>
          </a:xfrm>
          <a:prstGeom prst="rect">
            <a:avLst/>
          </a:prstGeom>
        </p:spPr>
      </p:pic>
      <p:cxnSp>
        <p:nvCxnSpPr>
          <p:cNvPr id="27" name="Straight Arrow Connector 26">
            <a:extLst>
              <a:ext uri="{FF2B5EF4-FFF2-40B4-BE49-F238E27FC236}">
                <a16:creationId xmlns:a16="http://schemas.microsoft.com/office/drawing/2014/main" id="{EDD1A278-7C00-DF7C-219E-946088D75D0E}"/>
              </a:ext>
            </a:extLst>
          </p:cNvPr>
          <p:cNvCxnSpPr>
            <a:cxnSpLocks/>
            <a:stCxn id="23" idx="3"/>
          </p:cNvCxnSpPr>
          <p:nvPr/>
        </p:nvCxnSpPr>
        <p:spPr>
          <a:xfrm>
            <a:off x="2965699" y="4232178"/>
            <a:ext cx="1913618" cy="7263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4"/>
          <a:stretch>
            <a:fillRect/>
          </a:stretch>
        </p:blipFill>
        <p:spPr>
          <a:xfrm rot="16200000" flipH="1">
            <a:off x="9725738" y="4664580"/>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394601" y="1404435"/>
            <a:ext cx="194951" cy="795657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DACE273B-1B57-639E-B0C9-72426A3D7B4A}"/>
                  </a:ext>
                </a:extLst>
              </p:cNvPr>
              <p:cNvSpPr txBox="1"/>
              <p:nvPr/>
            </p:nvSpPr>
            <p:spPr>
              <a:xfrm>
                <a:off x="3401890" y="3389098"/>
                <a:ext cx="1111137" cy="400110"/>
              </a:xfrm>
              <a:prstGeom prst="rect">
                <a:avLst/>
              </a:prstGeom>
              <a:noFill/>
            </p:spPr>
            <p:txBody>
              <a:bodyPr wrap="none" rtlCol="0">
                <a:spAutoFit/>
              </a:bodyPr>
              <a:lstStyle/>
              <a:p>
                <a:pPr/>
                <a14:m>
                  <m:oMathPara xmlns:m="http://schemas.openxmlformats.org/officeDocument/2006/math">
                    <m:oMath>
                      <m:r>
                        <a:rPr lang="en-US" sz="2000" b="0" i="1" smtClean="0">
                          <a:latin typeface="Cambria Math" panose="02040503050406030204" pitchFamily="18" charset="0"/>
                        </a:rPr>
                        <m:t>𝑖</m:t>
                      </m:r>
                      <m:r>
                        <a:rPr lang="en-US" sz="2000" b="0" i="1" smtClean="0">
                          <a:latin typeface="Cambria Math" panose="02040503050406030204" pitchFamily="18" charset="0"/>
                        </a:rPr>
                        <m:t>⋅</m:t>
                      </m:r>
                      <m:r>
                        <a:rPr lang="en-US" sz="2000" b="0" i="1" smtClean="0">
                          <a:latin typeface="Cambria Math" panose="02040503050406030204" pitchFamily="18" charset="0"/>
                        </a:rPr>
                        <m:t>𝑁</m:t>
                      </m:r>
                      <m:r>
                        <a:rPr lang="en-US" sz="2000" b="0" i="1" smtClean="0">
                          <a:latin typeface="Cambria Math" panose="02040503050406030204" pitchFamily="18" charset="0"/>
                        </a:rPr>
                        <m:t>+</m:t>
                      </m:r>
                      <m:r>
                        <a:rPr lang="en-US" sz="2000" b="0" i="1" smtClean="0">
                          <a:latin typeface="Cambria Math" panose="02040503050406030204" pitchFamily="18" charset="0"/>
                        </a:rPr>
                        <m:t>𝑗</m:t>
                      </m:r>
                    </m:oMath>
                  </m:oMathPara>
                </a14:m>
                <a:endParaRPr lang="en-US" sz="2000" dirty="0"/>
              </a:p>
            </p:txBody>
          </p:sp>
        </mc:Choice>
        <mc:Fallback>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nvSpPr>
            <p:spPr>
              <a:xfrm>
                <a:off x="3401890" y="3389098"/>
                <a:ext cx="1111137" cy="400110"/>
              </a:xfrm>
              <a:prstGeom prst="rect">
                <a:avLst/>
              </a:prstGeom>
              <a:blipFill>
                <a:blip r:embed="rId6"/>
                <a:stretch>
                  <a:fillRect b="-1212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26F09D1C-16BB-AE1B-D40F-E19B4A196D17}"/>
                  </a:ext>
                </a:extLst>
              </p:cNvPr>
              <p:cNvSpPr txBox="1"/>
              <p:nvPr/>
            </p:nvSpPr>
            <p:spPr>
              <a:xfrm>
                <a:off x="3224937" y="4675622"/>
                <a:ext cx="1141595" cy="400110"/>
              </a:xfrm>
              <a:prstGeom prst="rect">
                <a:avLst/>
              </a:prstGeom>
              <a:noFill/>
            </p:spPr>
            <p:txBody>
              <a:bodyPr wrap="none" rtlCol="0">
                <a:spAutoFit/>
              </a:bodyPr>
              <a:lstStyle/>
              <a:p>
                <a:pPr/>
                <a14:m>
                  <m:oMathPara xmlns:m="http://schemas.openxmlformats.org/officeDocument/2006/math">
                    <m:oMath>
                      <m:r>
                        <a:rPr lang="en-US" sz="2000" b="0" i="1" smtClean="0">
                          <a:latin typeface="Cambria Math" panose="02040503050406030204" pitchFamily="18" charset="0"/>
                        </a:rPr>
                        <m:t>𝑗</m:t>
                      </m:r>
                      <m:r>
                        <a:rPr lang="en-US" sz="2000" b="0" i="1" smtClean="0">
                          <a:latin typeface="Cambria Math" panose="02040503050406030204" pitchFamily="18" charset="0"/>
                        </a:rPr>
                        <m:t>⋅</m:t>
                      </m:r>
                      <m:r>
                        <a:rPr lang="en-US" sz="2000" b="0" i="1" smtClean="0">
                          <a:latin typeface="Cambria Math" panose="02040503050406030204" pitchFamily="18" charset="0"/>
                        </a:rPr>
                        <m:t>𝑀</m:t>
                      </m:r>
                      <m:r>
                        <a:rPr lang="en-US" sz="2000" b="0" i="1" smtClean="0">
                          <a:latin typeface="Cambria Math" panose="02040503050406030204" pitchFamily="18" charset="0"/>
                        </a:rPr>
                        <m:t>+</m:t>
                      </m:r>
                      <m:r>
                        <a:rPr lang="en-US" sz="2000" b="0" i="1" smtClean="0">
                          <a:latin typeface="Cambria Math" panose="02040503050406030204" pitchFamily="18" charset="0"/>
                        </a:rPr>
                        <m:t>𝑖</m:t>
                      </m:r>
                    </m:oMath>
                  </m:oMathPara>
                </a14:m>
                <a:endParaRPr lang="en-US" sz="2000" dirty="0"/>
              </a:p>
            </p:txBody>
          </p:sp>
        </mc:Choice>
        <mc:Fallback>
          <p:sp>
            <p:nvSpPr>
              <p:cNvPr id="5" name="TextBox 4">
                <a:extLst>
                  <a:ext uri="{FF2B5EF4-FFF2-40B4-BE49-F238E27FC236}">
                    <a16:creationId xmlns:a16="http://schemas.microsoft.com/office/drawing/2014/main" id="{26F09D1C-16BB-AE1B-D40F-E19B4A196D17}"/>
                  </a:ext>
                </a:extLst>
              </p:cNvPr>
              <p:cNvSpPr txBox="1">
                <a:spLocks noRot="1" noChangeAspect="1" noMove="1" noResize="1" noEditPoints="1" noAdjustHandles="1" noChangeArrowheads="1" noChangeShapeType="1" noTextEdit="1"/>
              </p:cNvSpPr>
              <p:nvPr/>
            </p:nvSpPr>
            <p:spPr>
              <a:xfrm>
                <a:off x="3224937" y="4675622"/>
                <a:ext cx="1141595" cy="400110"/>
              </a:xfrm>
              <a:prstGeom prst="rect">
                <a:avLst/>
              </a:prstGeom>
              <a:blipFill>
                <a:blip r:embed="rId7"/>
                <a:stretch>
                  <a:fillRect b="-1212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4A227FF2-E7C3-F0D8-1548-3FDE957F05DA}"/>
                  </a:ext>
                </a:extLst>
              </p:cNvPr>
              <p:cNvSpPr txBox="1"/>
              <p:nvPr/>
            </p:nvSpPr>
            <p:spPr>
              <a:xfrm>
                <a:off x="965434" y="4009497"/>
                <a:ext cx="510524" cy="461665"/>
              </a:xfrm>
              <a:prstGeom prst="rect">
                <a:avLst/>
              </a:prstGeom>
              <a:noFill/>
            </p:spPr>
            <p:txBody>
              <a:bodyPr wrap="none" rtlCol="0">
                <a:spAutoFit/>
              </a:bodyPr>
              <a:lstStyle/>
              <a:p>
                <a:pPr/>
                <a14:m>
                  <m:oMathPara xmlns:m="http://schemas.openxmlformats.org/officeDocument/2006/math">
                    <m:oMath>
                      <m:r>
                        <a:rPr lang="en-US" sz="2400" i="1" dirty="0" smtClean="0">
                          <a:latin typeface="Cambria Math" panose="02040503050406030204" pitchFamily="18" charset="0"/>
                        </a:rPr>
                        <m:t>𝑚</m:t>
                      </m:r>
                    </m:oMath>
                  </m:oMathPara>
                </a14:m>
                <a:endParaRPr lang="en-US" sz="2400" dirty="0"/>
              </a:p>
            </p:txBody>
          </p:sp>
        </mc:Choice>
        <mc:Fallback>
          <p:sp>
            <p:nvSpPr>
              <p:cNvPr id="4" name="TextBox 3">
                <a:extLst>
                  <a:ext uri="{FF2B5EF4-FFF2-40B4-BE49-F238E27FC236}">
                    <a16:creationId xmlns:a16="http://schemas.microsoft.com/office/drawing/2014/main" id="{4A227FF2-E7C3-F0D8-1548-3FDE957F05DA}"/>
                  </a:ext>
                </a:extLst>
              </p:cNvPr>
              <p:cNvSpPr txBox="1">
                <a:spLocks noRot="1" noChangeAspect="1" noMove="1" noResize="1" noEditPoints="1" noAdjustHandles="1" noChangeArrowheads="1" noChangeShapeType="1" noTextEdit="1"/>
              </p:cNvSpPr>
              <p:nvPr/>
            </p:nvSpPr>
            <p:spPr>
              <a:xfrm>
                <a:off x="965434" y="4009497"/>
                <a:ext cx="510524"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E77E5549-724E-7BCC-503A-172F89C27024}"/>
                  </a:ext>
                </a:extLst>
              </p:cNvPr>
              <p:cNvSpPr txBox="1"/>
              <p:nvPr/>
            </p:nvSpPr>
            <p:spPr>
              <a:xfrm>
                <a:off x="1991030" y="4782590"/>
                <a:ext cx="428771" cy="461665"/>
              </a:xfrm>
              <a:prstGeom prst="rect">
                <a:avLst/>
              </a:prstGeom>
              <a:noFill/>
            </p:spPr>
            <p:txBody>
              <a:bodyPr wrap="none" rtlCol="0">
                <a:spAutoFit/>
              </a:bodyPr>
              <a:lstStyle/>
              <a:p>
                <a:pPr/>
                <a14:m>
                  <m:oMathPara xmlns:m="http://schemas.openxmlformats.org/officeDocument/2006/math">
                    <m:oMath>
                      <m:r>
                        <a:rPr lang="en-US" sz="2400" b="0" i="1" dirty="0" smtClean="0">
                          <a:latin typeface="Cambria Math" panose="02040503050406030204" pitchFamily="18" charset="0"/>
                        </a:rPr>
                        <m:t>𝑛</m:t>
                      </m:r>
                    </m:oMath>
                  </m:oMathPara>
                </a14:m>
                <a:endParaRPr lang="en-US" sz="2400" dirty="0"/>
              </a:p>
            </p:txBody>
          </p:sp>
        </mc:Choice>
        <mc:Fallback>
          <p:sp>
            <p:nvSpPr>
              <p:cNvPr id="12" name="TextBox 11">
                <a:extLst>
                  <a:ext uri="{FF2B5EF4-FFF2-40B4-BE49-F238E27FC236}">
                    <a16:creationId xmlns:a16="http://schemas.microsoft.com/office/drawing/2014/main" id="{E77E5549-724E-7BCC-503A-172F89C27024}"/>
                  </a:ext>
                </a:extLst>
              </p:cNvPr>
              <p:cNvSpPr txBox="1">
                <a:spLocks noRot="1" noChangeAspect="1" noMove="1" noResize="1" noEditPoints="1" noAdjustHandles="1" noChangeArrowheads="1" noChangeShapeType="1" noTextEdit="1"/>
              </p:cNvSpPr>
              <p:nvPr/>
            </p:nvSpPr>
            <p:spPr>
              <a:xfrm>
                <a:off x="1991030" y="4782590"/>
                <a:ext cx="428771" cy="461665"/>
              </a:xfrm>
              <a:prstGeom prst="rect">
                <a:avLst/>
              </a:prstGeom>
              <a:blipFill>
                <a:blip r:embed="rId9"/>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FD782BD2-5F92-D408-5463-EA6AA21D657C}"/>
              </a:ext>
            </a:extLst>
          </p:cNvPr>
          <p:cNvSpPr txBox="1"/>
          <p:nvPr/>
        </p:nvSpPr>
        <p:spPr>
          <a:xfrm>
            <a:off x="9532484" y="3913204"/>
            <a:ext cx="1635576" cy="461665"/>
          </a:xfrm>
          <a:prstGeom prst="rect">
            <a:avLst/>
          </a:prstGeom>
          <a:noFill/>
        </p:spPr>
        <p:txBody>
          <a:bodyPr wrap="none" rtlCol="0">
            <a:spAutoFit/>
          </a:bodyPr>
          <a:lstStyle/>
          <a:p>
            <a:pPr algn="ctr"/>
            <a:r>
              <a:rPr lang="en-US" sz="2400" dirty="0"/>
              <a:t>Row-major</a:t>
            </a:r>
          </a:p>
        </p:txBody>
      </p:sp>
      <p:sp>
        <p:nvSpPr>
          <p:cNvPr id="22" name="TextBox 21">
            <a:extLst>
              <a:ext uri="{FF2B5EF4-FFF2-40B4-BE49-F238E27FC236}">
                <a16:creationId xmlns:a16="http://schemas.microsoft.com/office/drawing/2014/main" id="{5855DC84-BBBE-CA4A-FA0A-35A9C0D2B0A7}"/>
              </a:ext>
            </a:extLst>
          </p:cNvPr>
          <p:cNvSpPr txBox="1"/>
          <p:nvPr/>
        </p:nvSpPr>
        <p:spPr>
          <a:xfrm>
            <a:off x="9285718" y="5894684"/>
            <a:ext cx="2129109" cy="461665"/>
          </a:xfrm>
          <a:prstGeom prst="rect">
            <a:avLst/>
          </a:prstGeom>
          <a:noFill/>
        </p:spPr>
        <p:txBody>
          <a:bodyPr wrap="none" rtlCol="0">
            <a:spAutoFit/>
          </a:bodyPr>
          <a:lstStyle/>
          <a:p>
            <a:pPr algn="ctr"/>
            <a:r>
              <a:rPr lang="en-US" sz="2400" dirty="0"/>
              <a:t>Column-major</a:t>
            </a:r>
          </a:p>
        </p:txBody>
      </p:sp>
    </p:spTree>
    <p:custDataLst>
      <p:tags r:id="rId1"/>
    </p:custDataLst>
    <p:extLst>
      <p:ext uri="{BB962C8B-B14F-4D97-AF65-F5344CB8AC3E}">
        <p14:creationId xmlns:p14="http://schemas.microsoft.com/office/powerpoint/2010/main" val="3969746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P spid="10" grpId="0" animBg="1"/>
      <p:bldP spid="33" grpId="0" animBg="1"/>
      <p:bldP spid="3" grpId="0"/>
      <p:bldP spid="5" grpId="0"/>
      <p:bldP spid="4" grpId="0"/>
      <p:bldP spid="12" grpId="0"/>
      <p:bldP spid="18" grpId="0"/>
      <p:bldP spid="2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28F9A7A-4E68-17F0-FD80-992DB87E748C}"/>
              </a:ext>
            </a:extLst>
          </p:cNvPr>
          <p:cNvSpPr txBox="1"/>
          <p:nvPr/>
        </p:nvSpPr>
        <p:spPr>
          <a:xfrm>
            <a:off x="1960456" y="2730603"/>
            <a:ext cx="6459562" cy="1706429"/>
          </a:xfrm>
          <a:prstGeom prst="rect">
            <a:avLst/>
          </a:prstGeom>
          <a:noFill/>
        </p:spPr>
        <p:txBody>
          <a:bodyPr wrap="square">
            <a:spAutoFit/>
          </a:bodyPr>
          <a:lstStyle/>
          <a:p>
            <a:pPr>
              <a:lnSpc>
                <a:spcPct val="150000"/>
              </a:lnSpc>
              <a:buNone/>
            </a:pPr>
            <a:r>
              <a:rPr lang="en-US" sz="24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r>
              <a:rPr lang="en-US" sz="2400" b="0" noProof="0" dirty="0">
                <a:solidFill>
                  <a:srgbClr val="001080"/>
                </a:solidFill>
                <a:effectLst/>
                <a:latin typeface="Fira Code" panose="020B0809050000020004" pitchFamily="49" charset="0"/>
              </a:rPr>
              <a:t>layout</a:t>
            </a:r>
            <a:r>
              <a:rPr lang="en-US" sz="2400" b="0" noProof="0" dirty="0">
                <a:solidFill>
                  <a:srgbClr val="000000"/>
                </a:solidFill>
                <a:effectLst/>
                <a:latin typeface="Fira Code" panose="020B0809050000020004" pitchFamily="49" charset="0"/>
              </a:rPr>
              <a:t> = </a:t>
            </a:r>
            <a:r>
              <a:rPr lang="en-US" sz="2400" b="0" noProof="0" dirty="0">
                <a:solidFill>
                  <a:srgbClr val="267F99"/>
                </a:solidFill>
                <a:effectLst/>
                <a:latin typeface="Fira Code" panose="020B0809050000020004" pitchFamily="49" charset="0"/>
              </a:rPr>
              <a:t>scalar</a:t>
            </a:r>
            <a:r>
              <a:rPr lang="en-US" sz="7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0000FF"/>
                </a:solidFill>
                <a:effectLst/>
                <a:latin typeface="Fira Code" panose="020B0809050000020004" pitchFamily="49" charset="0"/>
              </a:rPr>
              <a:t>float</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ADDBBC2-AFD6-00E5-EC92-B2FBB581AE19}"/>
              </a:ext>
            </a:extLst>
          </p:cNvPr>
          <p:cNvSpPr/>
          <p:nvPr/>
        </p:nvSpPr>
        <p:spPr>
          <a:xfrm>
            <a:off x="5788049" y="3449989"/>
            <a:ext cx="874096" cy="362907"/>
          </a:xfrm>
          <a:prstGeom prst="rect">
            <a:avLst/>
          </a:prstGeom>
          <a:solidFill>
            <a:srgbClr val="969696">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46810C5D-DD0E-9895-8B05-9203DE3C52FC}"/>
              </a:ext>
            </a:extLst>
          </p:cNvPr>
          <p:cNvSpPr/>
          <p:nvPr/>
        </p:nvSpPr>
        <p:spPr>
          <a:xfrm>
            <a:off x="5788049" y="4005531"/>
            <a:ext cx="874096" cy="362907"/>
          </a:xfrm>
          <a:prstGeom prst="rect">
            <a:avLst/>
          </a:prstGeom>
          <a:solidFill>
            <a:srgbClr val="969696">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6993DAE6-53AF-8D78-063C-7D841E5B5C15}"/>
              </a:ext>
            </a:extLst>
          </p:cNvPr>
          <p:cNvSpPr/>
          <p:nvPr/>
        </p:nvSpPr>
        <p:spPr>
          <a:xfrm>
            <a:off x="9777338" y="4037123"/>
            <a:ext cx="1359068" cy="235089"/>
          </a:xfrm>
          <a:prstGeom prst="rect">
            <a:avLst/>
          </a:prstGeom>
          <a:solidFill>
            <a:srgbClr val="969696">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810BA74-1063-85B3-2324-103E8E900E55}"/>
              </a:ext>
            </a:extLst>
          </p:cNvPr>
          <p:cNvSpPr/>
          <p:nvPr/>
        </p:nvSpPr>
        <p:spPr>
          <a:xfrm>
            <a:off x="5762591" y="2928684"/>
            <a:ext cx="1261396" cy="302651"/>
          </a:xfrm>
          <a:prstGeom prst="rect">
            <a:avLst/>
          </a:prstGeom>
          <a:solidFill>
            <a:srgbClr val="969696">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noProof="0" dirty="0"/>
              <a:t>Layout abstractions</a:t>
            </a:r>
          </a:p>
        </p:txBody>
      </p:sp>
      <p:sp>
        <p:nvSpPr>
          <p:cNvPr id="14" name="TextBox 13">
            <a:extLst>
              <a:ext uri="{FF2B5EF4-FFF2-40B4-BE49-F238E27FC236}">
                <a16:creationId xmlns:a16="http://schemas.microsoft.com/office/drawing/2014/main" id="{0B525AC7-FE02-6AD7-8040-C0A6A642009E}"/>
              </a:ext>
            </a:extLst>
          </p:cNvPr>
          <p:cNvSpPr txBox="1"/>
          <p:nvPr/>
        </p:nvSpPr>
        <p:spPr>
          <a:xfrm>
            <a:off x="8100544" y="3964137"/>
            <a:ext cx="4241343" cy="400110"/>
          </a:xfrm>
          <a:prstGeom prst="rect">
            <a:avLst/>
          </a:prstGeom>
          <a:noFill/>
        </p:spPr>
        <p:txBody>
          <a:bodyPr wrap="square">
            <a:spAutoFit/>
          </a:bodyPr>
          <a:lstStyle/>
          <a:p>
            <a:r>
              <a:rPr lang="en-US" sz="2000" noProof="0" dirty="0">
                <a:solidFill>
                  <a:srgbClr val="001080"/>
                </a:solidFill>
                <a:latin typeface="Fira Code" panose="020B0809050000020004" pitchFamily="49" charset="0"/>
              </a:rPr>
              <a:t>matrix</a:t>
            </a:r>
            <a:r>
              <a:rPr lang="en-US" sz="2000" noProof="0" dirty="0">
                <a:solidFill>
                  <a:srgbClr val="000000"/>
                </a:solidFill>
                <a:latin typeface="Fira Code" panose="020B0809050000020004" pitchFamily="49" charset="0"/>
              </a:rPr>
              <a:t>[</a:t>
            </a: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4</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2</a:t>
            </a:r>
            <a:r>
              <a:rPr lang="en-US" sz="2000" noProof="0" dirty="0">
                <a:solidFill>
                  <a:srgbClr val="000000"/>
                </a:solidFill>
                <a:latin typeface="Fira Code" panose="020B0809050000020004" pitchFamily="49" charset="0"/>
              </a:rPr>
              <a:t>)]</a:t>
            </a:r>
            <a:endParaRPr lang="en-US" sz="28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7505124" y="3906905"/>
            <a:ext cx="903112" cy="957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Right Brace 17">
            <a:extLst>
              <a:ext uri="{FF2B5EF4-FFF2-40B4-BE49-F238E27FC236}">
                <a16:creationId xmlns:a16="http://schemas.microsoft.com/office/drawing/2014/main" id="{D66E5204-4017-2EAF-4A60-5194514D442A}"/>
              </a:ext>
            </a:extLst>
          </p:cNvPr>
          <p:cNvSpPr/>
          <p:nvPr/>
        </p:nvSpPr>
        <p:spPr>
          <a:xfrm rot="16200000">
            <a:off x="6254587" y="2156360"/>
            <a:ext cx="275785" cy="126139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nvSpPr>
        <p:spPr>
          <a:xfrm>
            <a:off x="2937911" y="2154296"/>
            <a:ext cx="6909135" cy="461665"/>
          </a:xfrm>
          <a:prstGeom prst="rect">
            <a:avLst/>
          </a:prstGeom>
          <a:noFill/>
        </p:spPr>
        <p:txBody>
          <a:bodyPr wrap="none" rtlCol="0">
            <a:spAutoFit/>
          </a:bodyPr>
          <a:lstStyle/>
          <a:p>
            <a:r>
              <a:rPr lang="en-US" sz="2400" noProof="0"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316587" y="5681347"/>
            <a:ext cx="4308138" cy="428707"/>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a:t>
            </a:r>
          </a:p>
        </p:txBody>
      </p:sp>
      <p:sp>
        <p:nvSpPr>
          <p:cNvPr id="28" name="TextBox 27">
            <a:extLst>
              <a:ext uri="{FF2B5EF4-FFF2-40B4-BE49-F238E27FC236}">
                <a16:creationId xmlns:a16="http://schemas.microsoft.com/office/drawing/2014/main" id="{15DF814E-5685-475F-2990-B570D542C55C}"/>
              </a:ext>
            </a:extLst>
          </p:cNvPr>
          <p:cNvSpPr txBox="1"/>
          <p:nvPr/>
        </p:nvSpPr>
        <p:spPr>
          <a:xfrm>
            <a:off x="4870763" y="5666800"/>
            <a:ext cx="6459562" cy="428707"/>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matrix_view</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myBuffer</a:t>
            </a:r>
            <a:r>
              <a:rPr lang="en-US" sz="20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noProof="0" smtClean="0"/>
              <a:t>9/2/2026</a:t>
            </a:fld>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noProof="0" smtClean="0"/>
              <a:t>5</a:t>
            </a:fld>
            <a:endParaRPr lang="en-US" noProof="0" dirty="0"/>
          </a:p>
        </p:txBody>
      </p:sp>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3"/>
          <a:stretch>
            <a:fillRect/>
          </a:stretch>
        </p:blipFill>
        <p:spPr>
          <a:xfrm>
            <a:off x="1598974" y="2851618"/>
            <a:ext cx="1249070" cy="1241336"/>
          </a:xfrm>
          <a:prstGeom prst="rect">
            <a:avLst/>
          </a:prstGeom>
        </p:spPr>
      </p:pic>
      <p:sp>
        <p:nvSpPr>
          <p:cNvPr id="4" name="TextBox 3">
            <a:extLst>
              <a:ext uri="{FF2B5EF4-FFF2-40B4-BE49-F238E27FC236}">
                <a16:creationId xmlns:a16="http://schemas.microsoft.com/office/drawing/2014/main" id="{E49BE013-F209-8403-8D5B-F71D68CF5E02}"/>
              </a:ext>
            </a:extLst>
          </p:cNvPr>
          <p:cNvSpPr txBox="1"/>
          <p:nvPr/>
        </p:nvSpPr>
        <p:spPr>
          <a:xfrm>
            <a:off x="7845692" y="5063908"/>
            <a:ext cx="1425509"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dirty="0"/>
              <a:t>GPU mem.</a:t>
            </a:r>
          </a:p>
        </p:txBody>
      </p:sp>
      <p:sp>
        <p:nvSpPr>
          <p:cNvPr id="13" name="TextBox 12">
            <a:extLst>
              <a:ext uri="{FF2B5EF4-FFF2-40B4-BE49-F238E27FC236}">
                <a16:creationId xmlns:a16="http://schemas.microsoft.com/office/drawing/2014/main" id="{E43C382B-2568-3BB2-FF89-3DD00349CEA9}"/>
              </a:ext>
            </a:extLst>
          </p:cNvPr>
          <p:cNvSpPr txBox="1"/>
          <p:nvPr/>
        </p:nvSpPr>
        <p:spPr>
          <a:xfrm>
            <a:off x="9630151" y="5063908"/>
            <a:ext cx="1511785"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2000" dirty="0"/>
              <a:t>Mapped file</a:t>
            </a:r>
          </a:p>
        </p:txBody>
      </p:sp>
      <p:sp>
        <p:nvSpPr>
          <p:cNvPr id="32" name="TextBox 31">
            <a:extLst>
              <a:ext uri="{FF2B5EF4-FFF2-40B4-BE49-F238E27FC236}">
                <a16:creationId xmlns:a16="http://schemas.microsoft.com/office/drawing/2014/main" id="{F423100F-27E7-78C5-29B0-1E9E9CA71CCB}"/>
              </a:ext>
            </a:extLst>
          </p:cNvPr>
          <p:cNvSpPr txBox="1"/>
          <p:nvPr/>
        </p:nvSpPr>
        <p:spPr>
          <a:xfrm>
            <a:off x="11503683" y="5048027"/>
            <a:ext cx="381836" cy="369332"/>
          </a:xfrm>
          <a:prstGeom prst="rect">
            <a:avLst/>
          </a:prstGeom>
          <a:noFill/>
        </p:spPr>
        <p:txBody>
          <a:bodyPr wrap="none" rtlCol="0">
            <a:spAutoFit/>
          </a:bodyPr>
          <a:lstStyle/>
          <a:p>
            <a:r>
              <a:rPr lang="en-US" dirty="0"/>
              <a:t>…</a:t>
            </a:r>
          </a:p>
        </p:txBody>
      </p:sp>
      <p:sp>
        <p:nvSpPr>
          <p:cNvPr id="33" name="Right Brace 32">
            <a:extLst>
              <a:ext uri="{FF2B5EF4-FFF2-40B4-BE49-F238E27FC236}">
                <a16:creationId xmlns:a16="http://schemas.microsoft.com/office/drawing/2014/main" id="{D5BD3CDE-9058-0797-77E8-0CD52F9C3687}"/>
              </a:ext>
            </a:extLst>
          </p:cNvPr>
          <p:cNvSpPr/>
          <p:nvPr/>
        </p:nvSpPr>
        <p:spPr>
          <a:xfrm rot="5400000">
            <a:off x="9777883" y="3338823"/>
            <a:ext cx="159029" cy="44264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pic>
        <p:nvPicPr>
          <p:cNvPr id="20" name="Picture 19">
            <a:extLst>
              <a:ext uri="{FF2B5EF4-FFF2-40B4-BE49-F238E27FC236}">
                <a16:creationId xmlns:a16="http://schemas.microsoft.com/office/drawing/2014/main" id="{AD983D88-E49A-19A0-1E46-A7291358AB31}"/>
              </a:ext>
            </a:extLst>
          </p:cNvPr>
          <p:cNvPicPr>
            <a:picLocks noChangeAspect="1"/>
          </p:cNvPicPr>
          <p:nvPr/>
        </p:nvPicPr>
        <p:blipFill>
          <a:blip r:embed="rId3"/>
          <a:srcRect b="85346"/>
          <a:stretch>
            <a:fillRect/>
          </a:stretch>
        </p:blipFill>
        <p:spPr>
          <a:xfrm>
            <a:off x="1598974" y="2853365"/>
            <a:ext cx="1249070" cy="181909"/>
          </a:xfrm>
          <a:prstGeom prst="rect">
            <a:avLst/>
          </a:prstGeom>
        </p:spPr>
      </p:pic>
      <p:pic>
        <p:nvPicPr>
          <p:cNvPr id="25" name="Picture 24">
            <a:extLst>
              <a:ext uri="{FF2B5EF4-FFF2-40B4-BE49-F238E27FC236}">
                <a16:creationId xmlns:a16="http://schemas.microsoft.com/office/drawing/2014/main" id="{25B07DD5-49BF-24B4-3308-895CDE035082}"/>
              </a:ext>
            </a:extLst>
          </p:cNvPr>
          <p:cNvPicPr>
            <a:picLocks noChangeAspect="1"/>
          </p:cNvPicPr>
          <p:nvPr/>
        </p:nvPicPr>
        <p:blipFill>
          <a:blip r:embed="rId3"/>
          <a:srcRect r="86029" b="86573"/>
          <a:stretch>
            <a:fillRect/>
          </a:stretch>
        </p:blipFill>
        <p:spPr>
          <a:xfrm>
            <a:off x="1598974" y="2851546"/>
            <a:ext cx="174508" cy="166674"/>
          </a:xfrm>
          <a:prstGeom prst="rect">
            <a:avLst/>
          </a:prstGeom>
        </p:spPr>
      </p:pic>
      <p:sp>
        <p:nvSpPr>
          <p:cNvPr id="27" name="Rectangle 26">
            <a:extLst>
              <a:ext uri="{FF2B5EF4-FFF2-40B4-BE49-F238E27FC236}">
                <a16:creationId xmlns:a16="http://schemas.microsoft.com/office/drawing/2014/main" id="{84FCD751-75D4-06F6-E90B-B10F04037199}"/>
              </a:ext>
            </a:extLst>
          </p:cNvPr>
          <p:cNvSpPr/>
          <p:nvPr/>
        </p:nvSpPr>
        <p:spPr>
          <a:xfrm>
            <a:off x="7640756" y="2851619"/>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F2CCB64-480B-94C0-D265-F80677755FCA}"/>
              </a:ext>
            </a:extLst>
          </p:cNvPr>
          <p:cNvSpPr/>
          <p:nvPr/>
        </p:nvSpPr>
        <p:spPr>
          <a:xfrm>
            <a:off x="7610823" y="3369590"/>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14AB64E0-7A98-B19A-964F-1077043B0728}"/>
              </a:ext>
            </a:extLst>
          </p:cNvPr>
          <p:cNvSpPr txBox="1"/>
          <p:nvPr/>
        </p:nvSpPr>
        <p:spPr>
          <a:xfrm>
            <a:off x="7599041" y="3595793"/>
            <a:ext cx="996169" cy="400110"/>
          </a:xfrm>
          <a:prstGeom prst="rect">
            <a:avLst/>
          </a:prstGeom>
          <a:noFill/>
        </p:spPr>
        <p:txBody>
          <a:bodyPr wrap="square" rtlCol="0">
            <a:spAutoFit/>
          </a:bodyPr>
          <a:lstStyle/>
          <a:p>
            <a:r>
              <a:rPr lang="en-US" sz="2000" noProof="0" dirty="0"/>
              <a:t>access</a:t>
            </a:r>
          </a:p>
        </p:txBody>
      </p:sp>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0EC39785-C6A5-6402-E99D-0A38D0D1251F}"/>
                  </a:ext>
                </a:extLst>
              </p:cNvPr>
              <p:cNvSpPr txBox="1"/>
              <p:nvPr/>
            </p:nvSpPr>
            <p:spPr>
              <a:xfrm>
                <a:off x="1101183" y="3193698"/>
                <a:ext cx="510524" cy="461665"/>
              </a:xfrm>
              <a:prstGeom prst="rect">
                <a:avLst/>
              </a:prstGeom>
              <a:noFill/>
            </p:spPr>
            <p:txBody>
              <a:bodyPr wrap="none" rtlCol="0">
                <a:spAutoFit/>
              </a:bodyPr>
              <a:lstStyle/>
              <a:p>
                <a:pPr/>
                <a14:m>
                  <m:oMathPara xmlns:m="http://schemas.openxmlformats.org/officeDocument/2006/math">
                    <m:oMath>
                      <m:r>
                        <a:rPr lang="en-US" sz="2400" i="1" dirty="0" smtClean="0">
                          <a:latin typeface="Cambria Math" panose="02040503050406030204" pitchFamily="18" charset="0"/>
                        </a:rPr>
                        <m:t>𝑚</m:t>
                      </m:r>
                    </m:oMath>
                  </m:oMathPara>
                </a14:m>
                <a:endParaRPr lang="en-US" sz="2400" dirty="0"/>
              </a:p>
            </p:txBody>
          </p:sp>
        </mc:Choice>
        <mc:Fallback>
          <p:sp>
            <p:nvSpPr>
              <p:cNvPr id="15" name="TextBox 14">
                <a:extLst>
                  <a:ext uri="{FF2B5EF4-FFF2-40B4-BE49-F238E27FC236}">
                    <a16:creationId xmlns:a16="http://schemas.microsoft.com/office/drawing/2014/main" id="{0EC39785-C6A5-6402-E99D-0A38D0D1251F}"/>
                  </a:ext>
                </a:extLst>
              </p:cNvPr>
              <p:cNvSpPr txBox="1">
                <a:spLocks noRot="1" noChangeAspect="1" noMove="1" noResize="1" noEditPoints="1" noAdjustHandles="1" noChangeArrowheads="1" noChangeShapeType="1" noTextEdit="1"/>
              </p:cNvSpPr>
              <p:nvPr/>
            </p:nvSpPr>
            <p:spPr>
              <a:xfrm>
                <a:off x="1101183" y="3193698"/>
                <a:ext cx="510524"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3C284C3B-1E96-7EDB-FF3B-2FFD924CFC76}"/>
                  </a:ext>
                </a:extLst>
              </p:cNvPr>
              <p:cNvSpPr txBox="1"/>
              <p:nvPr/>
            </p:nvSpPr>
            <p:spPr>
              <a:xfrm>
                <a:off x="2009123" y="2422355"/>
                <a:ext cx="428771" cy="461665"/>
              </a:xfrm>
              <a:prstGeom prst="rect">
                <a:avLst/>
              </a:prstGeom>
              <a:noFill/>
            </p:spPr>
            <p:txBody>
              <a:bodyPr wrap="none" rtlCol="0">
                <a:spAutoFit/>
              </a:bodyPr>
              <a:lstStyle/>
              <a:p>
                <a:pPr/>
                <a14:m>
                  <m:oMathPara xmlns:m="http://schemas.openxmlformats.org/officeDocument/2006/math">
                    <m:oMath>
                      <m:r>
                        <a:rPr lang="en-US" sz="2400" b="0" i="1" dirty="0" smtClean="0">
                          <a:latin typeface="Cambria Math" panose="02040503050406030204" pitchFamily="18" charset="0"/>
                        </a:rPr>
                        <m:t>𝑛</m:t>
                      </m:r>
                    </m:oMath>
                  </m:oMathPara>
                </a14:m>
                <a:endParaRPr lang="en-US" sz="2400" dirty="0"/>
              </a:p>
            </p:txBody>
          </p:sp>
        </mc:Choice>
        <mc:Fallback>
          <p:sp>
            <p:nvSpPr>
              <p:cNvPr id="22" name="TextBox 21">
                <a:extLst>
                  <a:ext uri="{FF2B5EF4-FFF2-40B4-BE49-F238E27FC236}">
                    <a16:creationId xmlns:a16="http://schemas.microsoft.com/office/drawing/2014/main" id="{3C284C3B-1E96-7EDB-FF3B-2FFD924CFC76}"/>
                  </a:ext>
                </a:extLst>
              </p:cNvPr>
              <p:cNvSpPr txBox="1">
                <a:spLocks noRot="1" noChangeAspect="1" noMove="1" noResize="1" noEditPoints="1" noAdjustHandles="1" noChangeArrowheads="1" noChangeShapeType="1" noTextEdit="1"/>
              </p:cNvSpPr>
              <p:nvPr/>
            </p:nvSpPr>
            <p:spPr>
              <a:xfrm>
                <a:off x="2009123" y="2422355"/>
                <a:ext cx="428771" cy="461665"/>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129300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xit" presetSubtype="0" fill="hold" grpId="0" nodeType="withEffect">
                                  <p:stCondLst>
                                    <p:cond delay="0"/>
                                  </p:stCondLst>
                                  <p:childTnLst>
                                    <p:set>
                                      <p:cBhvr>
                                        <p:cTn id="24" dur="1" fill="hold">
                                          <p:stCondLst>
                                            <p:cond delay="0"/>
                                          </p:stCondLst>
                                        </p:cTn>
                                        <p:tgtEl>
                                          <p:spTgt spid="27"/>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xit" presetSubtype="0" fill="hold" grpId="0" nodeType="withEffect">
                                  <p:stCondLst>
                                    <p:cond delay="0"/>
                                  </p:stCondLst>
                                  <p:childTnLst>
                                    <p:set>
                                      <p:cBhvr>
                                        <p:cTn id="32" dur="1" fill="hold">
                                          <p:stCondLst>
                                            <p:cond delay="0"/>
                                          </p:stCondLst>
                                        </p:cTn>
                                        <p:tgtEl>
                                          <p:spTgt spid="31"/>
                                        </p:tgtEl>
                                        <p:attrNameLst>
                                          <p:attrName>style.visibility</p:attrName>
                                        </p:attrNameLst>
                                      </p:cBhvr>
                                      <p:to>
                                        <p:strVal val="hidden"/>
                                      </p:to>
                                    </p:set>
                                  </p:childTnLst>
                                </p:cTn>
                              </p:par>
                              <p:par>
                                <p:cTn id="33" presetID="1"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1" grpId="0" animBg="1"/>
      <p:bldP spid="43" grpId="0" animBg="1"/>
      <p:bldP spid="37" grpId="0" animBg="1"/>
      <p:bldP spid="14" grpId="0"/>
      <p:bldP spid="18" grpId="0" animBg="1"/>
      <p:bldP spid="19" grpId="0"/>
      <p:bldP spid="21" grpId="0" animBg="1"/>
      <p:bldP spid="28" grpId="0" animBg="1"/>
      <p:bldP spid="4" grpId="0" animBg="1"/>
      <p:bldP spid="13" grpId="0" animBg="1"/>
      <p:bldP spid="32" grpId="0"/>
      <p:bldP spid="33" grpId="0" animBg="1"/>
      <p:bldP spid="27" grpId="0" animBg="1"/>
      <p:bldP spid="31" grpId="0" animBg="1"/>
      <p:bldP spid="17" grpId="0"/>
      <p:bldP spid="15" grpId="0"/>
      <p:bldP spid="2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75BD4B-520C-BD68-74FD-B8CF46E48F36}"/>
              </a:ext>
            </a:extLst>
          </p:cNvPr>
          <p:cNvSpPr/>
          <p:nvPr/>
        </p:nvSpPr>
        <p:spPr>
          <a:xfrm>
            <a:off x="9545870" y="2452446"/>
            <a:ext cx="1353345" cy="300575"/>
          </a:xfrm>
          <a:prstGeom prst="rect">
            <a:avLst/>
          </a:prstGeom>
          <a:solidFill>
            <a:srgbClr val="969696">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noProof="0" dirty="0"/>
              <a:t>Traversal abstractions</a:t>
            </a:r>
          </a:p>
        </p:txBody>
      </p:sp>
      <p:sp>
        <p:nvSpPr>
          <p:cNvPr id="12" name="TextBox 11">
            <a:extLst>
              <a:ext uri="{FF2B5EF4-FFF2-40B4-BE49-F238E27FC236}">
                <a16:creationId xmlns:a16="http://schemas.microsoft.com/office/drawing/2014/main" id="{771F4919-C499-3F7D-4116-17B83C53ED34}"/>
              </a:ext>
            </a:extLst>
          </p:cNvPr>
          <p:cNvSpPr txBox="1"/>
          <p:nvPr/>
        </p:nvSpPr>
        <p:spPr>
          <a:xfrm>
            <a:off x="4241807" y="2995572"/>
            <a:ext cx="6954364" cy="1124282"/>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dirty="0" err="1">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1522710" y="4809167"/>
            <a:ext cx="9207632" cy="1124282"/>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dirty="0" err="1">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959229" y="1742602"/>
            <a:ext cx="5503336" cy="1124282"/>
          </a:xfrm>
          <a:prstGeom prst="rect">
            <a:avLst/>
          </a:prstGeom>
          <a:noFill/>
          <a:ln>
            <a:solidFill>
              <a:schemeClr val="tx1"/>
            </a:solidFill>
          </a:ln>
        </p:spPr>
        <p:txBody>
          <a:bodyPr wrap="square">
            <a:spAutoFit/>
          </a:bodyPr>
          <a:lstStyle/>
          <a:p>
            <a:pPr>
              <a:lnSpc>
                <a:spcPct val="113095"/>
              </a:lnSpc>
              <a:buNone/>
            </a:pPr>
            <a:r>
              <a:rPr lang="en-US" sz="2000" b="0" dirty="0">
                <a:solidFill>
                  <a:srgbClr val="AF00DB"/>
                </a:solidFill>
                <a:effectLst/>
                <a:latin typeface="Fira Code" panose="020B0809050000020004" pitchFamily="49" charset="0"/>
              </a:rPr>
              <a:t>for</a:t>
            </a:r>
            <a:r>
              <a:rPr lang="en-US" sz="2000" b="0" dirty="0">
                <a:solidFill>
                  <a:srgbClr val="000000"/>
                </a:solidFill>
                <a:effectLst/>
                <a:latin typeface="Fira Code" panose="020B0809050000020004" pitchFamily="49" charset="0"/>
              </a:rPr>
              <a:t> (</a:t>
            </a:r>
            <a:r>
              <a:rPr lang="en-US" sz="2000" b="0" dirty="0">
                <a:solidFill>
                  <a:srgbClr val="0000FF"/>
                </a:solidFill>
                <a:effectLst/>
                <a:latin typeface="Fira Code" panose="020B0809050000020004" pitchFamily="49" charset="0"/>
              </a:rPr>
              <a:t>int</a:t>
            </a:r>
            <a:r>
              <a:rPr lang="en-US" sz="2000" b="0" dirty="0">
                <a:solidFill>
                  <a:srgbClr val="000000"/>
                </a:solidFill>
                <a:effectLst/>
                <a:latin typeface="Fira Code" panose="020B0809050000020004" pitchFamily="49" charset="0"/>
              </a:rPr>
              <a:t> </a:t>
            </a:r>
            <a:r>
              <a:rPr lang="en-US" sz="2000" b="0" dirty="0" err="1">
                <a:solidFill>
                  <a:srgbClr val="001080"/>
                </a:solidFill>
                <a:effectLst/>
                <a:latin typeface="Fira Code" panose="020B0809050000020004" pitchFamily="49" charset="0"/>
              </a:rPr>
              <a:t>i</a:t>
            </a:r>
            <a:r>
              <a:rPr lang="en-US" sz="2000" b="0" dirty="0">
                <a:solidFill>
                  <a:srgbClr val="000000"/>
                </a:solidFill>
                <a:effectLst/>
                <a:latin typeface="Fira Code" panose="020B0809050000020004" pitchFamily="49" charset="0"/>
              </a:rPr>
              <a:t> = </a:t>
            </a:r>
            <a:r>
              <a:rPr lang="en-US" sz="2000" b="0" dirty="0">
                <a:solidFill>
                  <a:srgbClr val="098658"/>
                </a:solidFill>
                <a:effectLst/>
                <a:latin typeface="Fira Code" panose="020B0809050000020004" pitchFamily="49" charset="0"/>
              </a:rPr>
              <a:t>0</a:t>
            </a:r>
            <a:r>
              <a:rPr lang="en-US" sz="2000" b="0" dirty="0">
                <a:solidFill>
                  <a:srgbClr val="000000"/>
                </a:solidFill>
                <a:effectLst/>
                <a:latin typeface="Fira Code" panose="020B0809050000020004" pitchFamily="49" charset="0"/>
              </a:rPr>
              <a:t>; </a:t>
            </a:r>
            <a:r>
              <a:rPr lang="en-US" sz="2000" b="0" dirty="0" err="1">
                <a:solidFill>
                  <a:srgbClr val="001080"/>
                </a:solidFill>
                <a:effectLst/>
                <a:latin typeface="Fira Code" panose="020B0809050000020004" pitchFamily="49" charset="0"/>
              </a:rPr>
              <a:t>i</a:t>
            </a:r>
            <a:r>
              <a:rPr lang="en-US" sz="2000" b="0" dirty="0">
                <a:solidFill>
                  <a:srgbClr val="000000"/>
                </a:solidFill>
                <a:effectLst/>
                <a:latin typeface="Fira Code" panose="020B0809050000020004" pitchFamily="49" charset="0"/>
              </a:rPr>
              <a:t> &lt; </a:t>
            </a:r>
            <a:r>
              <a:rPr lang="en-US" sz="2000" b="0" dirty="0">
                <a:solidFill>
                  <a:srgbClr val="0070C1"/>
                </a:solidFill>
                <a:effectLst/>
                <a:latin typeface="Fira Code" panose="020B0809050000020004" pitchFamily="49" charset="0"/>
              </a:rPr>
              <a:t>M</a:t>
            </a:r>
            <a:r>
              <a:rPr lang="en-US" sz="2000" b="0" dirty="0">
                <a:solidFill>
                  <a:srgbClr val="000000"/>
                </a:solidFill>
                <a:effectLst/>
                <a:latin typeface="Fira Code" panose="020B0809050000020004" pitchFamily="49" charset="0"/>
              </a:rPr>
              <a:t>; </a:t>
            </a:r>
            <a:r>
              <a:rPr lang="en-US" sz="2000" b="0" dirty="0" err="1">
                <a:solidFill>
                  <a:srgbClr val="001080"/>
                </a:solidFill>
                <a:effectLst/>
                <a:latin typeface="Fira Code" panose="020B0809050000020004" pitchFamily="49" charset="0"/>
              </a:rPr>
              <a:t>i</a:t>
            </a:r>
            <a:r>
              <a:rPr lang="en-US" sz="2000" b="0" dirty="0">
                <a:solidFill>
                  <a:srgbClr val="000000"/>
                </a:solidFill>
                <a:effectLst/>
                <a:latin typeface="Fira Code" panose="020B0809050000020004" pitchFamily="49" charset="0"/>
              </a:rPr>
              <a:t>++)</a:t>
            </a:r>
          </a:p>
          <a:p>
            <a:pPr>
              <a:lnSpc>
                <a:spcPct val="113095"/>
              </a:lnSpc>
              <a:buNone/>
            </a:pPr>
            <a:r>
              <a:rPr lang="en-US" sz="2000" b="0" dirty="0">
                <a:solidFill>
                  <a:srgbClr val="000000"/>
                </a:solidFill>
                <a:effectLst/>
                <a:latin typeface="Fira Code" panose="020B0809050000020004" pitchFamily="49" charset="0"/>
              </a:rPr>
              <a:t>    </a:t>
            </a:r>
            <a:r>
              <a:rPr lang="en-US" sz="2000" b="0" dirty="0">
                <a:solidFill>
                  <a:srgbClr val="AF00DB"/>
                </a:solidFill>
                <a:effectLst/>
                <a:latin typeface="Fira Code" panose="020B0809050000020004" pitchFamily="49" charset="0"/>
              </a:rPr>
              <a:t>for</a:t>
            </a:r>
            <a:r>
              <a:rPr lang="en-US" sz="2000" b="0" dirty="0">
                <a:solidFill>
                  <a:srgbClr val="000000"/>
                </a:solidFill>
                <a:effectLst/>
                <a:latin typeface="Fira Code" panose="020B0809050000020004" pitchFamily="49" charset="0"/>
              </a:rPr>
              <a:t> (</a:t>
            </a:r>
            <a:r>
              <a:rPr lang="en-US" sz="2000" b="0" dirty="0">
                <a:solidFill>
                  <a:srgbClr val="0000FF"/>
                </a:solidFill>
                <a:effectLst/>
                <a:latin typeface="Fira Code" panose="020B0809050000020004" pitchFamily="49" charset="0"/>
              </a:rPr>
              <a:t>int</a:t>
            </a:r>
            <a:r>
              <a:rPr lang="en-US" sz="2000" b="0" dirty="0">
                <a:solidFill>
                  <a:srgbClr val="000000"/>
                </a:solidFill>
                <a:effectLst/>
                <a:latin typeface="Fira Code" panose="020B0809050000020004" pitchFamily="49" charset="0"/>
              </a:rPr>
              <a:t> </a:t>
            </a:r>
            <a:r>
              <a:rPr lang="en-US" sz="2000" b="0" dirty="0">
                <a:solidFill>
                  <a:srgbClr val="001080"/>
                </a:solidFill>
                <a:effectLst/>
                <a:latin typeface="Fira Code" panose="020B0809050000020004" pitchFamily="49" charset="0"/>
              </a:rPr>
              <a:t>j</a:t>
            </a:r>
            <a:r>
              <a:rPr lang="en-US" sz="2000" b="0" dirty="0">
                <a:solidFill>
                  <a:srgbClr val="000000"/>
                </a:solidFill>
                <a:effectLst/>
                <a:latin typeface="Fira Code" panose="020B0809050000020004" pitchFamily="49" charset="0"/>
              </a:rPr>
              <a:t> = </a:t>
            </a:r>
            <a:r>
              <a:rPr lang="en-US" sz="2000" b="0" dirty="0">
                <a:solidFill>
                  <a:srgbClr val="098658"/>
                </a:solidFill>
                <a:effectLst/>
                <a:latin typeface="Fira Code" panose="020B0809050000020004" pitchFamily="49" charset="0"/>
              </a:rPr>
              <a:t>0</a:t>
            </a:r>
            <a:r>
              <a:rPr lang="en-US" sz="2000" b="0" dirty="0">
                <a:solidFill>
                  <a:srgbClr val="000000"/>
                </a:solidFill>
                <a:effectLst/>
                <a:latin typeface="Fira Code" panose="020B0809050000020004" pitchFamily="49" charset="0"/>
              </a:rPr>
              <a:t>; </a:t>
            </a:r>
            <a:r>
              <a:rPr lang="en-US" sz="2000" b="0" dirty="0">
                <a:solidFill>
                  <a:srgbClr val="001080"/>
                </a:solidFill>
                <a:effectLst/>
                <a:latin typeface="Fira Code" panose="020B0809050000020004" pitchFamily="49" charset="0"/>
              </a:rPr>
              <a:t>j</a:t>
            </a:r>
            <a:r>
              <a:rPr lang="en-US" sz="2000" b="0" dirty="0">
                <a:solidFill>
                  <a:srgbClr val="000000"/>
                </a:solidFill>
                <a:effectLst/>
                <a:latin typeface="Fira Code" panose="020B0809050000020004" pitchFamily="49" charset="0"/>
              </a:rPr>
              <a:t> &lt; </a:t>
            </a:r>
            <a:r>
              <a:rPr lang="en-US" sz="2000" b="0" dirty="0">
                <a:solidFill>
                  <a:srgbClr val="0070C1"/>
                </a:solidFill>
                <a:effectLst/>
                <a:latin typeface="Fira Code" panose="020B0809050000020004" pitchFamily="49" charset="0"/>
              </a:rPr>
              <a:t>N</a:t>
            </a:r>
            <a:r>
              <a:rPr lang="en-US" sz="2000" b="0" dirty="0">
                <a:solidFill>
                  <a:srgbClr val="000000"/>
                </a:solidFill>
                <a:effectLst/>
                <a:latin typeface="Fira Code" panose="020B0809050000020004" pitchFamily="49" charset="0"/>
              </a:rPr>
              <a:t>; </a:t>
            </a:r>
            <a:r>
              <a:rPr lang="en-US" sz="2000" b="0" dirty="0" err="1">
                <a:solidFill>
                  <a:srgbClr val="001080"/>
                </a:solidFill>
                <a:effectLst/>
                <a:latin typeface="Fira Code" panose="020B0809050000020004" pitchFamily="49" charset="0"/>
              </a:rPr>
              <a:t>j</a:t>
            </a:r>
            <a:r>
              <a:rPr lang="en-US" sz="2000" b="0" dirty="0" err="1">
                <a:solidFill>
                  <a:srgbClr val="000000"/>
                </a:solidFill>
                <a:effectLst/>
                <a:latin typeface="Fira Code" panose="020B0809050000020004" pitchFamily="49" charset="0"/>
              </a:rPr>
              <a:t>++</a:t>
            </a:r>
            <a:r>
              <a:rPr lang="en-US" sz="2000" b="0" dirty="0">
                <a:solidFill>
                  <a:srgbClr val="000000"/>
                </a:solidFill>
                <a:effectLst/>
                <a:latin typeface="Fira Code" panose="020B0809050000020004" pitchFamily="49" charset="0"/>
              </a:rPr>
              <a:t>)</a:t>
            </a:r>
          </a:p>
          <a:p>
            <a:pPr>
              <a:lnSpc>
                <a:spcPct val="113095"/>
              </a:lnSpc>
              <a:buNone/>
            </a:pPr>
            <a:r>
              <a:rPr lang="en-US" sz="2000" b="0" dirty="0">
                <a:solidFill>
                  <a:srgbClr val="000000"/>
                </a:solidFill>
                <a:effectLst/>
                <a:latin typeface="Fira Code" panose="020B0809050000020004" pitchFamily="49" charset="0"/>
              </a:rPr>
              <a:t>        </a:t>
            </a:r>
            <a:r>
              <a:rPr lang="en-US" sz="2000" b="0" dirty="0">
                <a:solidFill>
                  <a:srgbClr val="001080"/>
                </a:solidFill>
                <a:effectLst/>
                <a:latin typeface="Fira Code" panose="020B0809050000020004" pitchFamily="49" charset="0"/>
              </a:rPr>
              <a:t>matrix</a:t>
            </a:r>
            <a:r>
              <a:rPr lang="en-US" sz="2000" b="0" dirty="0">
                <a:solidFill>
                  <a:srgbClr val="000000"/>
                </a:solidFill>
                <a:effectLst/>
                <a:latin typeface="Fira Code" panose="020B0809050000020004" pitchFamily="49" charset="0"/>
              </a:rPr>
              <a:t>[</a:t>
            </a:r>
            <a:r>
              <a:rPr lang="en-US" sz="2000" b="0" dirty="0" err="1">
                <a:solidFill>
                  <a:srgbClr val="001080"/>
                </a:solidFill>
                <a:effectLst/>
                <a:latin typeface="Fira Code" panose="020B0809050000020004" pitchFamily="49" charset="0"/>
              </a:rPr>
              <a:t>i</a:t>
            </a:r>
            <a:r>
              <a:rPr lang="en-US" sz="2000" b="0" dirty="0">
                <a:solidFill>
                  <a:srgbClr val="000000"/>
                </a:solidFill>
                <a:effectLst/>
                <a:latin typeface="Fira Code" panose="020B0809050000020004" pitchFamily="49" charset="0"/>
              </a:rPr>
              <a:t>][</a:t>
            </a:r>
            <a:r>
              <a:rPr lang="en-US" sz="2000" b="0" dirty="0">
                <a:solidFill>
                  <a:srgbClr val="001080"/>
                </a:solidFill>
                <a:effectLst/>
                <a:latin typeface="Fira Code" panose="020B0809050000020004" pitchFamily="49" charset="0"/>
              </a:rPr>
              <a:t>j</a:t>
            </a:r>
            <a:r>
              <a:rPr lang="en-US" sz="2000" b="0" dirty="0">
                <a:solidFill>
                  <a:srgbClr val="000000"/>
                </a:solidFill>
                <a:effectLst/>
                <a:latin typeface="Fira Code" panose="020B0809050000020004" pitchFamily="49" charset="0"/>
              </a:rPr>
              <a:t>] = </a:t>
            </a:r>
            <a:r>
              <a:rPr lang="en-US" sz="2000" b="0" dirty="0" err="1">
                <a:solidFill>
                  <a:srgbClr val="795E26"/>
                </a:solidFill>
                <a:effectLst/>
                <a:latin typeface="Fira Code" panose="020B0809050000020004" pitchFamily="49" charset="0"/>
              </a:rPr>
              <a:t>init</a:t>
            </a:r>
            <a:r>
              <a:rPr lang="en-US" sz="2000" b="0" dirty="0">
                <a:solidFill>
                  <a:srgbClr val="000000"/>
                </a:solidFill>
                <a:effectLst/>
                <a:latin typeface="Fira Code" panose="020B0809050000020004" pitchFamily="49" charset="0"/>
              </a:rPr>
              <a:t>(</a:t>
            </a:r>
            <a:r>
              <a:rPr lang="en-US" sz="2000" b="0" dirty="0" err="1">
                <a:solidFill>
                  <a:srgbClr val="001080"/>
                </a:solidFill>
                <a:effectLst/>
                <a:latin typeface="Fira Code" panose="020B0809050000020004" pitchFamily="49" charset="0"/>
              </a:rPr>
              <a:t>i</a:t>
            </a:r>
            <a:r>
              <a:rPr lang="en-US" sz="2000" b="0" dirty="0">
                <a:solidFill>
                  <a:srgbClr val="000000"/>
                </a:solidFill>
                <a:effectLst/>
                <a:latin typeface="Fira Code" panose="020B0809050000020004" pitchFamily="49" charset="0"/>
              </a:rPr>
              <a:t>, </a:t>
            </a:r>
            <a:r>
              <a:rPr lang="en-US" sz="2000" b="0" dirty="0">
                <a:solidFill>
                  <a:srgbClr val="001080"/>
                </a:solidFill>
                <a:effectLst/>
                <a:latin typeface="Fira Code" panose="020B0809050000020004" pitchFamily="49" charset="0"/>
              </a:rPr>
              <a:t>j</a:t>
            </a:r>
            <a:r>
              <a:rPr lang="en-US" sz="2000" b="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stCxn id="3" idx="3"/>
            <a:endCxn id="12" idx="0"/>
          </p:cNvCxnSpPr>
          <p:nvPr/>
        </p:nvCxnSpPr>
        <p:spPr>
          <a:xfrm>
            <a:off x="6462565" y="2304743"/>
            <a:ext cx="1256424" cy="690829"/>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noProof="0" smtClean="0"/>
              <a:t>9/2/2026</a:t>
            </a:fld>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noProof="0" smtClean="0"/>
              <a:t>6</a:t>
            </a:fld>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nvSpPr>
        <p:spPr>
          <a:xfrm>
            <a:off x="637175" y="1343818"/>
            <a:ext cx="6157391" cy="461665"/>
          </a:xfrm>
          <a:prstGeom prst="rect">
            <a:avLst/>
          </a:prstGeom>
          <a:noFill/>
        </p:spPr>
        <p:txBody>
          <a:bodyPr wrap="none" rtlCol="0">
            <a:spAutoFit/>
          </a:bodyPr>
          <a:lstStyle/>
          <a:p>
            <a:pPr algn="ctr"/>
            <a:r>
              <a:rPr lang="en-US" sz="2400" b="1" noProof="0" dirty="0"/>
              <a:t>Matrix initialization (not traversal-agnostic)</a:t>
            </a:r>
          </a:p>
        </p:txBody>
      </p:sp>
      <p:sp>
        <p:nvSpPr>
          <p:cNvPr id="15" name="TextBox 14">
            <a:extLst>
              <a:ext uri="{FF2B5EF4-FFF2-40B4-BE49-F238E27FC236}">
                <a16:creationId xmlns:a16="http://schemas.microsoft.com/office/drawing/2014/main" id="{5AC42510-7505-8080-DACA-010297680AE7}"/>
              </a:ext>
            </a:extLst>
          </p:cNvPr>
          <p:cNvSpPr txBox="1"/>
          <p:nvPr/>
        </p:nvSpPr>
        <p:spPr>
          <a:xfrm>
            <a:off x="2145419" y="5871980"/>
            <a:ext cx="7373557" cy="461665"/>
          </a:xfrm>
          <a:prstGeom prst="rect">
            <a:avLst/>
          </a:prstGeom>
          <a:noFill/>
        </p:spPr>
        <p:txBody>
          <a:bodyPr wrap="none" rtlCol="0">
            <a:spAutoFit/>
          </a:bodyPr>
          <a:lstStyle/>
          <a:p>
            <a:pPr algn="ctr"/>
            <a:r>
              <a:rPr lang="en-US" sz="2400" b="1" noProof="0" dirty="0"/>
              <a:t>Copy</a:t>
            </a:r>
            <a:r>
              <a:rPr lang="en-US" sz="2400" noProof="0" dirty="0"/>
              <a:t> to another matrix with the same logical structure</a:t>
            </a:r>
          </a:p>
        </p:txBody>
      </p:sp>
      <p:sp>
        <p:nvSpPr>
          <p:cNvPr id="5" name="TextBox 4">
            <a:extLst>
              <a:ext uri="{FF2B5EF4-FFF2-40B4-BE49-F238E27FC236}">
                <a16:creationId xmlns:a16="http://schemas.microsoft.com/office/drawing/2014/main" id="{102F209B-F6E7-05CC-AF4B-64FCAFC0D5D7}"/>
              </a:ext>
            </a:extLst>
          </p:cNvPr>
          <p:cNvSpPr txBox="1"/>
          <p:nvPr/>
        </p:nvSpPr>
        <p:spPr>
          <a:xfrm>
            <a:off x="4976635" y="4079642"/>
            <a:ext cx="5484707" cy="461665"/>
          </a:xfrm>
          <a:prstGeom prst="rect">
            <a:avLst/>
          </a:prstGeom>
          <a:noFill/>
        </p:spPr>
        <p:txBody>
          <a:bodyPr wrap="none" rtlCol="0">
            <a:spAutoFit/>
          </a:bodyPr>
          <a:lstStyle/>
          <a:p>
            <a:pPr algn="ctr"/>
            <a:r>
              <a:rPr lang="en-US" sz="2400" b="1" dirty="0"/>
              <a:t>Traversal-agnostic </a:t>
            </a:r>
            <a:r>
              <a:rPr lang="en-US" sz="2400" b="1" noProof="0" dirty="0"/>
              <a:t>Matrix initialization</a:t>
            </a:r>
          </a:p>
        </p:txBody>
      </p:sp>
      <p:sp>
        <p:nvSpPr>
          <p:cNvPr id="2" name="Right Brace 1">
            <a:extLst>
              <a:ext uri="{FF2B5EF4-FFF2-40B4-BE49-F238E27FC236}">
                <a16:creationId xmlns:a16="http://schemas.microsoft.com/office/drawing/2014/main" id="{32F8C4E3-09E8-D9E1-0324-12C16DDF086C}"/>
              </a:ext>
            </a:extLst>
          </p:cNvPr>
          <p:cNvSpPr/>
          <p:nvPr/>
        </p:nvSpPr>
        <p:spPr>
          <a:xfrm rot="16200000">
            <a:off x="10134280" y="2514013"/>
            <a:ext cx="182989" cy="7637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CF4B3C17-3722-616D-840D-1F144C8A9277}"/>
              </a:ext>
            </a:extLst>
          </p:cNvPr>
          <p:cNvSpPr txBox="1"/>
          <p:nvPr/>
        </p:nvSpPr>
        <p:spPr>
          <a:xfrm>
            <a:off x="8936383" y="2404841"/>
            <a:ext cx="2578782" cy="400110"/>
          </a:xfrm>
          <a:prstGeom prst="rect">
            <a:avLst/>
          </a:prstGeom>
          <a:noFill/>
        </p:spPr>
        <p:txBody>
          <a:bodyPr wrap="square">
            <a:spAutoFit/>
          </a:bodyPr>
          <a:lstStyle/>
          <a:p>
            <a:pPr algn="ct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dirty="0">
                <a:solidFill>
                  <a:srgbClr val="0070C1"/>
                </a:solidFill>
                <a:latin typeface="Fira Code" panose="020B0809050000020004" pitchFamily="49" charset="0"/>
              </a:rPr>
              <a:t>…</a:t>
            </a:r>
            <a:r>
              <a:rPr lang="en-US" sz="2000" noProof="0" dirty="0">
                <a:solidFill>
                  <a:srgbClr val="000000"/>
                </a:solidFill>
                <a:latin typeface="Fira Code" panose="020B0809050000020004" pitchFamily="49" charset="0"/>
              </a:rPr>
              <a:t>)</a:t>
            </a:r>
            <a:endParaRPr lang="en-US" sz="2400" dirty="0"/>
          </a:p>
        </p:txBody>
      </p:sp>
      <p:sp>
        <p:nvSpPr>
          <p:cNvPr id="14" name="TextBox 13">
            <a:extLst>
              <a:ext uri="{FF2B5EF4-FFF2-40B4-BE49-F238E27FC236}">
                <a16:creationId xmlns:a16="http://schemas.microsoft.com/office/drawing/2014/main" id="{DE599A66-2C77-B63D-16EA-47EE19900D7A}"/>
              </a:ext>
            </a:extLst>
          </p:cNvPr>
          <p:cNvSpPr txBox="1"/>
          <p:nvPr/>
        </p:nvSpPr>
        <p:spPr>
          <a:xfrm>
            <a:off x="1494039" y="4001281"/>
            <a:ext cx="2592505" cy="461665"/>
          </a:xfrm>
          <a:prstGeom prst="rect">
            <a:avLst/>
          </a:prstGeom>
          <a:noFill/>
        </p:spPr>
        <p:txBody>
          <a:bodyPr wrap="none" rtlCol="0">
            <a:spAutoFit/>
          </a:bodyPr>
          <a:lstStyle/>
          <a:p>
            <a:r>
              <a:rPr lang="en-US" sz="2400" dirty="0"/>
              <a:t>Same index space</a:t>
            </a:r>
          </a:p>
        </p:txBody>
      </p:sp>
      <p:cxnSp>
        <p:nvCxnSpPr>
          <p:cNvPr id="18" name="Straight Connector 17">
            <a:extLst>
              <a:ext uri="{FF2B5EF4-FFF2-40B4-BE49-F238E27FC236}">
                <a16:creationId xmlns:a16="http://schemas.microsoft.com/office/drawing/2014/main" id="{FDD51E7F-9D97-3209-E921-A43ED05B1390}"/>
              </a:ext>
            </a:extLst>
          </p:cNvPr>
          <p:cNvCxnSpPr>
            <a:endCxn id="14" idx="2"/>
          </p:cNvCxnSpPr>
          <p:nvPr/>
        </p:nvCxnSpPr>
        <p:spPr>
          <a:xfrm flipH="1" flipV="1">
            <a:off x="2790292" y="4462946"/>
            <a:ext cx="713021" cy="440704"/>
          </a:xfrm>
          <a:prstGeom prst="line">
            <a:avLst/>
          </a:prstGeom>
          <a:ln>
            <a:prstDash val="sysDot"/>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8F25CC1C-2057-68E1-21B8-A4878749C96D}"/>
              </a:ext>
            </a:extLst>
          </p:cNvPr>
          <p:cNvCxnSpPr>
            <a:cxnSpLocks/>
            <a:endCxn id="14" idx="2"/>
          </p:cNvCxnSpPr>
          <p:nvPr/>
        </p:nvCxnSpPr>
        <p:spPr>
          <a:xfrm flipH="1" flipV="1">
            <a:off x="2790292" y="4462946"/>
            <a:ext cx="1748655" cy="440704"/>
          </a:xfrm>
          <a:prstGeom prst="line">
            <a:avLst/>
          </a:prstGeom>
          <a:ln>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12447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6" grpId="0" animBg="1"/>
      <p:bldP spid="15" grpId="0"/>
      <p:bldP spid="5" grpId="0"/>
      <p:bldP spid="2" grpId="0" animBg="1"/>
      <p:bldP spid="8" grpId="0"/>
      <p:bldP spid="1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B3976AD9-FA58-3705-5BFD-DD270E27737C}"/>
              </a:ext>
            </a:extLst>
          </p:cNvPr>
          <p:cNvSpPr/>
          <p:nvPr/>
        </p:nvSpPr>
        <p:spPr>
          <a:xfrm>
            <a:off x="10267829" y="4494662"/>
            <a:ext cx="245269" cy="323451"/>
          </a:xfrm>
          <a:prstGeom prst="rect">
            <a:avLst/>
          </a:prstGeom>
          <a:solidFill>
            <a:srgbClr val="D5E8D4"/>
          </a:solidFill>
          <a:ln w="9525" cap="flat">
            <a:solidFill>
              <a:srgbClr val="82B366"/>
            </a:solidFill>
            <a:prstDash val="solid"/>
            <a:miter/>
          </a:ln>
        </p:spPr>
        <p:txBody>
          <a:bodyPr/>
          <a:lstStyle/>
          <a:p>
            <a:endParaRPr lang="en-US" sz="2400"/>
          </a:p>
        </p:txBody>
      </p:sp>
      <p:sp>
        <p:nvSpPr>
          <p:cNvPr id="46" name="Rectangle 45">
            <a:extLst>
              <a:ext uri="{FF2B5EF4-FFF2-40B4-BE49-F238E27FC236}">
                <a16:creationId xmlns:a16="http://schemas.microsoft.com/office/drawing/2014/main" id="{911B9DBE-6587-8382-9E03-37F6BAC2D133}"/>
              </a:ext>
            </a:extLst>
          </p:cNvPr>
          <p:cNvSpPr/>
          <p:nvPr/>
        </p:nvSpPr>
        <p:spPr>
          <a:xfrm>
            <a:off x="10267828" y="5327291"/>
            <a:ext cx="245269" cy="318591"/>
          </a:xfrm>
          <a:prstGeom prst="rect">
            <a:avLst/>
          </a:prstGeom>
          <a:solidFill>
            <a:srgbClr val="DAE8FC"/>
          </a:solidFill>
          <a:ln w="9525" cap="flat">
            <a:solidFill>
              <a:srgbClr val="6C8EBF"/>
            </a:solidFill>
            <a:prstDash val="solid"/>
            <a:miter/>
          </a:ln>
        </p:spPr>
        <p:txBody>
          <a:bodyPr/>
          <a:lstStyle/>
          <a:p>
            <a:endParaRPr lang="en-US" sz="2400"/>
          </a:p>
        </p:txBody>
      </p:sp>
      <p:sp>
        <p:nvSpPr>
          <p:cNvPr id="47" name="Rectangle 46">
            <a:extLst>
              <a:ext uri="{FF2B5EF4-FFF2-40B4-BE49-F238E27FC236}">
                <a16:creationId xmlns:a16="http://schemas.microsoft.com/office/drawing/2014/main" id="{68983F2C-1668-52BB-B4F9-C612E7B2F10A}"/>
              </a:ext>
            </a:extLst>
          </p:cNvPr>
          <p:cNvSpPr/>
          <p:nvPr/>
        </p:nvSpPr>
        <p:spPr>
          <a:xfrm>
            <a:off x="10267828" y="4913407"/>
            <a:ext cx="245269" cy="318590"/>
          </a:xfrm>
          <a:prstGeom prst="rect">
            <a:avLst/>
          </a:prstGeom>
          <a:solidFill>
            <a:srgbClr val="F8CECC"/>
          </a:solidFill>
          <a:ln w="9525" cap="flat">
            <a:solidFill>
              <a:srgbClr val="B85450"/>
            </a:solidFill>
            <a:prstDash val="solid"/>
            <a:miter/>
          </a:ln>
        </p:spPr>
        <p:txBody>
          <a:bodyPr/>
          <a:lstStyle/>
          <a:p>
            <a:endParaRPr lang="en-US" sz="2400"/>
          </a:p>
        </p:txBody>
      </p:sp>
      <p:sp>
        <p:nvSpPr>
          <p:cNvPr id="19" name="Rectangle 18">
            <a:extLst>
              <a:ext uri="{FF2B5EF4-FFF2-40B4-BE49-F238E27FC236}">
                <a16:creationId xmlns:a16="http://schemas.microsoft.com/office/drawing/2014/main" id="{B800FBA5-1D37-3DF6-701A-70896D275692}"/>
              </a:ext>
            </a:extLst>
          </p:cNvPr>
          <p:cNvSpPr/>
          <p:nvPr/>
        </p:nvSpPr>
        <p:spPr>
          <a:xfrm>
            <a:off x="4068095" y="5546877"/>
            <a:ext cx="222808" cy="279329"/>
          </a:xfrm>
          <a:prstGeom prst="rect">
            <a:avLst/>
          </a:prstGeom>
          <a:solidFill>
            <a:srgbClr val="DAE8FC"/>
          </a:solidFill>
          <a:ln w="9525" cap="flat">
            <a:solidFill>
              <a:srgbClr val="6C8EBF"/>
            </a:solidFill>
            <a:prstDash val="solid"/>
            <a:miter/>
          </a:ln>
        </p:spPr>
        <p:txBody>
          <a:bodyPr/>
          <a:lstStyle/>
          <a:p>
            <a:endParaRPr lang="en-US" sz="2400"/>
          </a:p>
        </p:txBody>
      </p:sp>
      <p:sp>
        <p:nvSpPr>
          <p:cNvPr id="13" name="Rectangle 12">
            <a:extLst>
              <a:ext uri="{FF2B5EF4-FFF2-40B4-BE49-F238E27FC236}">
                <a16:creationId xmlns:a16="http://schemas.microsoft.com/office/drawing/2014/main" id="{666A78F4-88C1-5BB5-A720-F8E1C747C4A4}"/>
              </a:ext>
            </a:extLst>
          </p:cNvPr>
          <p:cNvSpPr/>
          <p:nvPr/>
        </p:nvSpPr>
        <p:spPr>
          <a:xfrm>
            <a:off x="3605646" y="5546877"/>
            <a:ext cx="222808" cy="279329"/>
          </a:xfrm>
          <a:prstGeom prst="rect">
            <a:avLst/>
          </a:prstGeom>
          <a:solidFill>
            <a:srgbClr val="F8CECC"/>
          </a:solidFill>
          <a:ln w="9525" cap="flat">
            <a:solidFill>
              <a:srgbClr val="B85450"/>
            </a:solidFill>
            <a:prstDash val="solid"/>
            <a:miter/>
          </a:ln>
        </p:spPr>
        <p:txBody>
          <a:bodyPr/>
          <a:lstStyle/>
          <a:p>
            <a:endParaRPr lang="en-US" sz="2400"/>
          </a:p>
        </p:txBody>
      </p:sp>
      <p:sp>
        <p:nvSpPr>
          <p:cNvPr id="11" name="Rectangle 10">
            <a:extLst>
              <a:ext uri="{FF2B5EF4-FFF2-40B4-BE49-F238E27FC236}">
                <a16:creationId xmlns:a16="http://schemas.microsoft.com/office/drawing/2014/main" id="{45C6B551-6774-AC99-228E-D1F7AAF62B05}"/>
              </a:ext>
            </a:extLst>
          </p:cNvPr>
          <p:cNvSpPr/>
          <p:nvPr/>
        </p:nvSpPr>
        <p:spPr>
          <a:xfrm>
            <a:off x="3152728" y="5546876"/>
            <a:ext cx="222807" cy="279329"/>
          </a:xfrm>
          <a:prstGeom prst="rect">
            <a:avLst/>
          </a:prstGeom>
          <a:solidFill>
            <a:srgbClr val="D5E8D4"/>
          </a:solidFill>
          <a:ln w="9525" cap="flat">
            <a:solidFill>
              <a:srgbClr val="82B366"/>
            </a:solidFill>
            <a:prstDash val="solid"/>
            <a:miter/>
          </a:ln>
        </p:spPr>
        <p:txBody>
          <a:bodyPr/>
          <a:lstStyle/>
          <a:p>
            <a:endParaRPr lang="en-US" sz="2400"/>
          </a:p>
        </p:txBody>
      </p:sp>
      <p:sp>
        <p:nvSpPr>
          <p:cNvPr id="4" name="Title 3">
            <a:extLst>
              <a:ext uri="{FF2B5EF4-FFF2-40B4-BE49-F238E27FC236}">
                <a16:creationId xmlns:a16="http://schemas.microsoft.com/office/drawing/2014/main" id="{F64F76FB-E9C4-9A8F-8092-29CA73FEACB3}"/>
              </a:ext>
            </a:extLst>
          </p:cNvPr>
          <p:cNvSpPr>
            <a:spLocks noGrp="1"/>
          </p:cNvSpPr>
          <p:nvPr>
            <p:ph type="title"/>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nvPr>
        </p:nvSpPr>
        <p:spPr/>
        <p:txBody>
          <a:bodyPr/>
          <a:lstStyle/>
          <a:p>
            <a:fld id="{EDBD1638-F548-41E6-A67D-BF07DFBF4593}" type="datetime1">
              <a:rPr lang="en-US" noProof="0" smtClean="0"/>
              <a:t>9/2/2026</a:t>
            </a:fld>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nvPr>
        </p:nvSpPr>
        <p:spPr/>
        <p:txBody>
          <a:bodyPr/>
          <a:lstStyle/>
          <a:p>
            <a:fld id="{DA0BB241-1B5F-4309-9407-9EEA04D9598D}" type="slidenum">
              <a:rPr lang="en-US" noProof="0" smtClean="0"/>
              <a:t>7</a:t>
            </a:fld>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nvSpPr>
        <p:spPr>
          <a:xfrm>
            <a:off x="1243435" y="1130185"/>
            <a:ext cx="2144048" cy="461665"/>
          </a:xfrm>
          <a:prstGeom prst="rect">
            <a:avLst/>
          </a:prstGeom>
          <a:noFill/>
        </p:spPr>
        <p:txBody>
          <a:bodyPr wrap="none" rtlCol="0">
            <a:spAutoFit/>
          </a:bodyPr>
          <a:lstStyle/>
          <a:p>
            <a:pPr algn="ctr"/>
            <a:r>
              <a:rPr lang="en-US" sz="2400" noProof="0" dirty="0"/>
              <a:t>Matrix multiply</a:t>
            </a:r>
          </a:p>
        </p:txBody>
      </p:sp>
      <p:sp>
        <p:nvSpPr>
          <p:cNvPr id="24" name="TextBox 23">
            <a:extLst>
              <a:ext uri="{FF2B5EF4-FFF2-40B4-BE49-F238E27FC236}">
                <a16:creationId xmlns:a16="http://schemas.microsoft.com/office/drawing/2014/main" id="{1D0BC665-A3D5-7187-98DA-94BA7091C22C}"/>
              </a:ext>
            </a:extLst>
          </p:cNvPr>
          <p:cNvSpPr txBox="1"/>
          <p:nvPr/>
        </p:nvSpPr>
        <p:spPr>
          <a:xfrm>
            <a:off x="5462412" y="2355314"/>
            <a:ext cx="6525363" cy="1472070"/>
          </a:xfrm>
          <a:prstGeom prst="rect">
            <a:avLst/>
          </a:prstGeom>
          <a:noFill/>
          <a:ln>
            <a:solidFill>
              <a:schemeClr val="tx1"/>
            </a:solidFill>
          </a:ln>
        </p:spPr>
        <p:txBody>
          <a:bodyPr wrap="square">
            <a:spAutoFit/>
          </a:bodyPr>
          <a:lstStyle/>
          <a:p>
            <a:pPr>
              <a:lnSpc>
                <a:spcPct val="113095"/>
              </a:lnSpc>
            </a:pPr>
            <a:r>
              <a:rPr lang="en-US" sz="2000" dirty="0">
                <a:solidFill>
                  <a:srgbClr val="AF00DB"/>
                </a:solidFill>
                <a:latin typeface="Fira Code" panose="020B0809050000020004" pitchFamily="49" charset="0"/>
              </a:rPr>
              <a:t>for</a:t>
            </a:r>
            <a:r>
              <a:rPr lang="en-US" sz="2000" dirty="0">
                <a:solidFill>
                  <a:srgbClr val="000000"/>
                </a:solidFill>
                <a:latin typeface="Fira Code" panose="020B0809050000020004" pitchFamily="49" charset="0"/>
              </a:rPr>
              <a:t> (</a:t>
            </a:r>
            <a:r>
              <a:rPr lang="en-US" sz="2000" dirty="0">
                <a:solidFill>
                  <a:srgbClr val="0000FF"/>
                </a:solidFill>
                <a:latin typeface="Fira Code" panose="020B0809050000020004" pitchFamily="49" charset="0"/>
              </a:rPr>
              <a:t>int</a:t>
            </a:r>
            <a:r>
              <a:rPr lang="en-US" sz="2000" dirty="0">
                <a:solidFill>
                  <a:srgbClr val="000000"/>
                </a:solidFill>
                <a:latin typeface="Fira Code" panose="020B0809050000020004" pitchFamily="49" charset="0"/>
              </a:rPr>
              <a:t> </a:t>
            </a:r>
            <a:r>
              <a:rPr lang="en-US" sz="2000" dirty="0">
                <a:solidFill>
                  <a:srgbClr val="001080"/>
                </a:solidFill>
                <a:latin typeface="Fira Code" panose="020B0809050000020004" pitchFamily="49" charset="0"/>
              </a:rPr>
              <a:t>j</a:t>
            </a:r>
            <a:r>
              <a:rPr lang="en-US" sz="2000" dirty="0">
                <a:solidFill>
                  <a:srgbClr val="000000"/>
                </a:solidFill>
                <a:latin typeface="Fira Code" panose="020B0809050000020004" pitchFamily="49" charset="0"/>
              </a:rPr>
              <a:t> = </a:t>
            </a:r>
            <a:r>
              <a:rPr lang="en-US" sz="2000" dirty="0">
                <a:solidFill>
                  <a:srgbClr val="098658"/>
                </a:solidFill>
                <a:latin typeface="Fira Code" panose="020B0809050000020004" pitchFamily="49" charset="0"/>
              </a:rPr>
              <a:t>0</a:t>
            </a:r>
            <a:r>
              <a:rPr lang="en-US" sz="2000" dirty="0">
                <a:solidFill>
                  <a:srgbClr val="000000"/>
                </a:solidFill>
                <a:latin typeface="Fira Code" panose="020B0809050000020004" pitchFamily="49" charset="0"/>
              </a:rPr>
              <a:t>; </a:t>
            </a:r>
            <a:r>
              <a:rPr lang="en-US" sz="2000" dirty="0">
                <a:solidFill>
                  <a:srgbClr val="001080"/>
                </a:solidFill>
                <a:latin typeface="Fira Code" panose="020B0809050000020004" pitchFamily="49" charset="0"/>
              </a:rPr>
              <a:t>j</a:t>
            </a:r>
            <a:r>
              <a:rPr lang="en-US" sz="2000" dirty="0">
                <a:solidFill>
                  <a:srgbClr val="000000"/>
                </a:solidFill>
                <a:latin typeface="Fira Code" panose="020B0809050000020004" pitchFamily="49" charset="0"/>
              </a:rPr>
              <a:t> &lt; </a:t>
            </a:r>
            <a:r>
              <a:rPr lang="en-US" sz="2000" dirty="0">
                <a:solidFill>
                  <a:srgbClr val="0070C1"/>
                </a:solidFill>
                <a:latin typeface="Fira Code" panose="020B0809050000020004" pitchFamily="49" charset="0"/>
              </a:rPr>
              <a:t>N</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j</a:t>
            </a:r>
            <a:r>
              <a:rPr lang="en-US" sz="2000" dirty="0" err="1">
                <a:solidFill>
                  <a:srgbClr val="000000"/>
                </a:solidFill>
                <a:latin typeface="Fira Code" panose="020B0809050000020004" pitchFamily="49" charset="0"/>
              </a:rPr>
              <a:t>++</a:t>
            </a:r>
            <a:r>
              <a:rPr lang="en-US" sz="2000" dirty="0">
                <a:solidFill>
                  <a:srgbClr val="000000"/>
                </a:solidFill>
                <a:latin typeface="Fira Code" panose="020B0809050000020004" pitchFamily="49" charset="0"/>
              </a:rPr>
              <a:t>)</a:t>
            </a:r>
          </a:p>
          <a:p>
            <a:pPr>
              <a:lnSpc>
                <a:spcPct val="113095"/>
              </a:lnSpc>
              <a:buNone/>
            </a:pPr>
            <a:r>
              <a:rPr lang="en-US" sz="2000" b="0" dirty="0">
                <a:solidFill>
                  <a:srgbClr val="AF00DB"/>
                </a:solidFill>
                <a:effectLst/>
                <a:latin typeface="Fira Code" panose="020B0809050000020004" pitchFamily="49" charset="0"/>
              </a:rPr>
              <a:t>    for</a:t>
            </a:r>
            <a:r>
              <a:rPr lang="en-US" sz="2000" b="0" dirty="0">
                <a:solidFill>
                  <a:srgbClr val="000000"/>
                </a:solidFill>
                <a:effectLst/>
                <a:latin typeface="Fira Code" panose="020B0809050000020004" pitchFamily="49" charset="0"/>
              </a:rPr>
              <a:t> (</a:t>
            </a:r>
            <a:r>
              <a:rPr lang="en-US" sz="2000" b="0" dirty="0">
                <a:solidFill>
                  <a:srgbClr val="0000FF"/>
                </a:solidFill>
                <a:effectLst/>
                <a:latin typeface="Fira Code" panose="020B0809050000020004" pitchFamily="49" charset="0"/>
              </a:rPr>
              <a:t>int</a:t>
            </a:r>
            <a:r>
              <a:rPr lang="en-US" sz="2000" b="0" dirty="0">
                <a:solidFill>
                  <a:srgbClr val="000000"/>
                </a:solidFill>
                <a:effectLst/>
                <a:latin typeface="Fira Code" panose="020B0809050000020004" pitchFamily="49" charset="0"/>
              </a:rPr>
              <a:t> </a:t>
            </a:r>
            <a:r>
              <a:rPr lang="en-US" sz="2000" b="0" dirty="0" err="1">
                <a:solidFill>
                  <a:srgbClr val="001080"/>
                </a:solidFill>
                <a:effectLst/>
                <a:latin typeface="Fira Code" panose="020B0809050000020004" pitchFamily="49" charset="0"/>
              </a:rPr>
              <a:t>i</a:t>
            </a:r>
            <a:r>
              <a:rPr lang="en-US" sz="2000" b="0" dirty="0">
                <a:solidFill>
                  <a:srgbClr val="000000"/>
                </a:solidFill>
                <a:effectLst/>
                <a:latin typeface="Fira Code" panose="020B0809050000020004" pitchFamily="49" charset="0"/>
              </a:rPr>
              <a:t> = </a:t>
            </a:r>
            <a:r>
              <a:rPr lang="en-US" sz="2000" b="0" dirty="0">
                <a:solidFill>
                  <a:srgbClr val="098658"/>
                </a:solidFill>
                <a:effectLst/>
                <a:latin typeface="Fira Code" panose="020B0809050000020004" pitchFamily="49" charset="0"/>
              </a:rPr>
              <a:t>0</a:t>
            </a:r>
            <a:r>
              <a:rPr lang="en-US" sz="2000" b="0" dirty="0">
                <a:solidFill>
                  <a:srgbClr val="000000"/>
                </a:solidFill>
                <a:effectLst/>
                <a:latin typeface="Fira Code" panose="020B0809050000020004" pitchFamily="49" charset="0"/>
              </a:rPr>
              <a:t>; </a:t>
            </a:r>
            <a:r>
              <a:rPr lang="en-US" sz="2000" b="0" dirty="0" err="1">
                <a:solidFill>
                  <a:srgbClr val="001080"/>
                </a:solidFill>
                <a:effectLst/>
                <a:latin typeface="Fira Code" panose="020B0809050000020004" pitchFamily="49" charset="0"/>
              </a:rPr>
              <a:t>i</a:t>
            </a:r>
            <a:r>
              <a:rPr lang="en-US" sz="2000" b="0" dirty="0">
                <a:solidFill>
                  <a:srgbClr val="000000"/>
                </a:solidFill>
                <a:effectLst/>
                <a:latin typeface="Fira Code" panose="020B0809050000020004" pitchFamily="49" charset="0"/>
              </a:rPr>
              <a:t> &lt; </a:t>
            </a:r>
            <a:r>
              <a:rPr lang="en-US" sz="2000" b="0" dirty="0">
                <a:solidFill>
                  <a:srgbClr val="0070C1"/>
                </a:solidFill>
                <a:effectLst/>
                <a:latin typeface="Fira Code" panose="020B0809050000020004" pitchFamily="49" charset="0"/>
              </a:rPr>
              <a:t>M</a:t>
            </a:r>
            <a:r>
              <a:rPr lang="en-US" sz="2000" b="0" dirty="0">
                <a:solidFill>
                  <a:srgbClr val="000000"/>
                </a:solidFill>
                <a:effectLst/>
                <a:latin typeface="Fira Code" panose="020B0809050000020004" pitchFamily="49" charset="0"/>
              </a:rPr>
              <a:t>; </a:t>
            </a:r>
            <a:r>
              <a:rPr lang="en-US" sz="2000" b="0" dirty="0" err="1">
                <a:solidFill>
                  <a:srgbClr val="001080"/>
                </a:solidFill>
                <a:effectLst/>
                <a:latin typeface="Fira Code" panose="020B0809050000020004" pitchFamily="49" charset="0"/>
              </a:rPr>
              <a:t>i</a:t>
            </a:r>
            <a:r>
              <a:rPr lang="en-US" sz="2000" b="0" dirty="0">
                <a:solidFill>
                  <a:srgbClr val="000000"/>
                </a:solidFill>
                <a:effectLst/>
                <a:latin typeface="Fira Code" panose="020B0809050000020004" pitchFamily="49" charset="0"/>
              </a:rPr>
              <a:t>++)</a:t>
            </a:r>
          </a:p>
          <a:p>
            <a:pPr>
              <a:lnSpc>
                <a:spcPct val="113095"/>
              </a:lnSpc>
              <a:buNone/>
            </a:pPr>
            <a:r>
              <a:rPr lang="en-US" sz="2000" b="0" dirty="0">
                <a:solidFill>
                  <a:srgbClr val="000000"/>
                </a:solidFill>
                <a:effectLst/>
                <a:latin typeface="Fira Code" panose="020B0809050000020004" pitchFamily="49" charset="0"/>
              </a:rPr>
              <a:t>        </a:t>
            </a:r>
            <a:r>
              <a:rPr lang="en-US" sz="2000" b="0" dirty="0">
                <a:solidFill>
                  <a:srgbClr val="AF00DB"/>
                </a:solidFill>
                <a:effectLst/>
                <a:latin typeface="Fira Code" panose="020B0809050000020004" pitchFamily="49" charset="0"/>
              </a:rPr>
              <a:t>for</a:t>
            </a:r>
            <a:r>
              <a:rPr lang="en-US" sz="2000" b="0" dirty="0">
                <a:solidFill>
                  <a:srgbClr val="000000"/>
                </a:solidFill>
                <a:effectLst/>
                <a:latin typeface="Fira Code" panose="020B0809050000020004" pitchFamily="49" charset="0"/>
              </a:rPr>
              <a:t> (</a:t>
            </a:r>
            <a:r>
              <a:rPr lang="en-US" sz="2000" b="0" dirty="0">
                <a:solidFill>
                  <a:srgbClr val="0000FF"/>
                </a:solidFill>
                <a:effectLst/>
                <a:latin typeface="Fira Code" panose="020B0809050000020004" pitchFamily="49" charset="0"/>
              </a:rPr>
              <a:t>int</a:t>
            </a:r>
            <a:r>
              <a:rPr lang="en-US" sz="2000" b="0" dirty="0">
                <a:solidFill>
                  <a:srgbClr val="000000"/>
                </a:solidFill>
                <a:effectLst/>
                <a:latin typeface="Fira Code" panose="020B0809050000020004" pitchFamily="49" charset="0"/>
              </a:rPr>
              <a:t> </a:t>
            </a:r>
            <a:r>
              <a:rPr lang="en-US" sz="2000" b="0" dirty="0">
                <a:solidFill>
                  <a:srgbClr val="001080"/>
                </a:solidFill>
                <a:effectLst/>
                <a:latin typeface="Fira Code" panose="020B0809050000020004" pitchFamily="49" charset="0"/>
              </a:rPr>
              <a:t>k</a:t>
            </a:r>
            <a:r>
              <a:rPr lang="en-US" sz="2000" b="0" dirty="0">
                <a:solidFill>
                  <a:srgbClr val="000000"/>
                </a:solidFill>
                <a:effectLst/>
                <a:latin typeface="Fira Code" panose="020B0809050000020004" pitchFamily="49" charset="0"/>
              </a:rPr>
              <a:t> = </a:t>
            </a:r>
            <a:r>
              <a:rPr lang="en-US" sz="2000" b="0" dirty="0">
                <a:solidFill>
                  <a:srgbClr val="098658"/>
                </a:solidFill>
                <a:effectLst/>
                <a:latin typeface="Fira Code" panose="020B0809050000020004" pitchFamily="49" charset="0"/>
              </a:rPr>
              <a:t>0</a:t>
            </a:r>
            <a:r>
              <a:rPr lang="en-US" sz="2000" b="0" dirty="0">
                <a:solidFill>
                  <a:srgbClr val="000000"/>
                </a:solidFill>
                <a:effectLst/>
                <a:latin typeface="Fira Code" panose="020B0809050000020004" pitchFamily="49" charset="0"/>
              </a:rPr>
              <a:t>; </a:t>
            </a:r>
            <a:r>
              <a:rPr lang="en-US" sz="2000" b="0" dirty="0">
                <a:solidFill>
                  <a:srgbClr val="001080"/>
                </a:solidFill>
                <a:effectLst/>
                <a:latin typeface="Fira Code" panose="020B0809050000020004" pitchFamily="49" charset="0"/>
              </a:rPr>
              <a:t>k</a:t>
            </a:r>
            <a:r>
              <a:rPr lang="en-US" sz="2000" b="0" dirty="0">
                <a:solidFill>
                  <a:srgbClr val="000000"/>
                </a:solidFill>
                <a:effectLst/>
                <a:latin typeface="Fira Code" panose="020B0809050000020004" pitchFamily="49" charset="0"/>
              </a:rPr>
              <a:t> &lt; </a:t>
            </a:r>
            <a:r>
              <a:rPr lang="en-US" sz="2000" b="0" dirty="0">
                <a:solidFill>
                  <a:srgbClr val="0070C1"/>
                </a:solidFill>
                <a:effectLst/>
                <a:latin typeface="Fira Code" panose="020B0809050000020004" pitchFamily="49" charset="0"/>
              </a:rPr>
              <a:t>K</a:t>
            </a:r>
            <a:r>
              <a:rPr lang="en-US" sz="2000" b="0" dirty="0">
                <a:solidFill>
                  <a:srgbClr val="000000"/>
                </a:solidFill>
                <a:effectLst/>
                <a:latin typeface="Fira Code" panose="020B0809050000020004" pitchFamily="49" charset="0"/>
              </a:rPr>
              <a:t>; </a:t>
            </a:r>
            <a:r>
              <a:rPr lang="en-US" sz="2000" b="0" dirty="0">
                <a:solidFill>
                  <a:srgbClr val="001080"/>
                </a:solidFill>
                <a:effectLst/>
                <a:latin typeface="Fira Code" panose="020B0809050000020004" pitchFamily="49" charset="0"/>
              </a:rPr>
              <a:t>k</a:t>
            </a:r>
            <a:r>
              <a:rPr lang="en-US" sz="2000" b="0" dirty="0">
                <a:solidFill>
                  <a:srgbClr val="000000"/>
                </a:solidFill>
                <a:effectLst/>
                <a:latin typeface="Fira Code" panose="020B0809050000020004" pitchFamily="49" charset="0"/>
              </a:rPr>
              <a:t>++)</a:t>
            </a:r>
          </a:p>
          <a:p>
            <a:pPr>
              <a:lnSpc>
                <a:spcPct val="113095"/>
              </a:lnSpc>
              <a:buNone/>
            </a:pPr>
            <a:r>
              <a:rPr lang="en-US" sz="2000" b="0" dirty="0">
                <a:solidFill>
                  <a:srgbClr val="000000"/>
                </a:solidFill>
                <a:effectLst/>
                <a:latin typeface="Fira Code" panose="020B0809050000020004" pitchFamily="49" charset="0"/>
              </a:rPr>
              <a:t>            </a:t>
            </a:r>
            <a:r>
              <a:rPr lang="en-US" sz="2000" b="0" dirty="0">
                <a:solidFill>
                  <a:srgbClr val="001080"/>
                </a:solidFill>
                <a:effectLst/>
                <a:latin typeface="Fira Code" panose="020B0809050000020004" pitchFamily="49" charset="0"/>
              </a:rPr>
              <a:t>C</a:t>
            </a:r>
            <a:r>
              <a:rPr lang="en-US" sz="2000" b="0" dirty="0">
                <a:solidFill>
                  <a:srgbClr val="000000"/>
                </a:solidFill>
                <a:effectLst/>
                <a:latin typeface="Fira Code" panose="020B0809050000020004" pitchFamily="49" charset="0"/>
              </a:rPr>
              <a:t>[</a:t>
            </a:r>
            <a:r>
              <a:rPr lang="en-US" sz="2000" b="0" dirty="0" err="1">
                <a:solidFill>
                  <a:srgbClr val="001080"/>
                </a:solidFill>
                <a:effectLst/>
                <a:latin typeface="Fira Code" panose="020B0809050000020004" pitchFamily="49" charset="0"/>
              </a:rPr>
              <a:t>i</a:t>
            </a:r>
            <a:r>
              <a:rPr lang="en-US" sz="2000" b="0" dirty="0">
                <a:solidFill>
                  <a:srgbClr val="000000"/>
                </a:solidFill>
                <a:effectLst/>
                <a:latin typeface="Fira Code" panose="020B0809050000020004" pitchFamily="49" charset="0"/>
              </a:rPr>
              <a:t>][</a:t>
            </a:r>
            <a:r>
              <a:rPr lang="en-US" sz="2000" b="0" dirty="0">
                <a:solidFill>
                  <a:srgbClr val="001080"/>
                </a:solidFill>
                <a:effectLst/>
                <a:latin typeface="Fira Code" panose="020B0809050000020004" pitchFamily="49" charset="0"/>
              </a:rPr>
              <a:t>j</a:t>
            </a:r>
            <a:r>
              <a:rPr lang="en-US" sz="2000" b="0" dirty="0">
                <a:solidFill>
                  <a:srgbClr val="000000"/>
                </a:solidFill>
                <a:effectLst/>
                <a:latin typeface="Fira Code" panose="020B0809050000020004" pitchFamily="49" charset="0"/>
              </a:rPr>
              <a:t>] += </a:t>
            </a:r>
            <a:r>
              <a:rPr lang="en-US" sz="2000" b="0" dirty="0">
                <a:solidFill>
                  <a:srgbClr val="001080"/>
                </a:solidFill>
                <a:effectLst/>
                <a:latin typeface="Fira Code" panose="020B0809050000020004" pitchFamily="49" charset="0"/>
              </a:rPr>
              <a:t>A</a:t>
            </a:r>
            <a:r>
              <a:rPr lang="en-US" sz="2000" b="0" dirty="0">
                <a:solidFill>
                  <a:srgbClr val="000000"/>
                </a:solidFill>
                <a:effectLst/>
                <a:latin typeface="Fira Code" panose="020B0809050000020004" pitchFamily="49" charset="0"/>
              </a:rPr>
              <a:t>[</a:t>
            </a:r>
            <a:r>
              <a:rPr lang="en-US" sz="2000" b="0" dirty="0" err="1">
                <a:solidFill>
                  <a:srgbClr val="001080"/>
                </a:solidFill>
                <a:effectLst/>
                <a:latin typeface="Fira Code" panose="020B0809050000020004" pitchFamily="49" charset="0"/>
              </a:rPr>
              <a:t>i</a:t>
            </a:r>
            <a:r>
              <a:rPr lang="en-US" sz="2000" b="0" dirty="0">
                <a:solidFill>
                  <a:srgbClr val="000000"/>
                </a:solidFill>
                <a:effectLst/>
                <a:latin typeface="Fira Code" panose="020B0809050000020004" pitchFamily="49" charset="0"/>
              </a:rPr>
              <a:t>][</a:t>
            </a:r>
            <a:r>
              <a:rPr lang="en-US" sz="2000" b="0" dirty="0">
                <a:solidFill>
                  <a:srgbClr val="001080"/>
                </a:solidFill>
                <a:effectLst/>
                <a:latin typeface="Fira Code" panose="020B0809050000020004" pitchFamily="49" charset="0"/>
              </a:rPr>
              <a:t>k</a:t>
            </a:r>
            <a:r>
              <a:rPr lang="en-US" sz="2000" b="0" dirty="0">
                <a:solidFill>
                  <a:srgbClr val="000000"/>
                </a:solidFill>
                <a:effectLst/>
                <a:latin typeface="Fira Code" panose="020B0809050000020004" pitchFamily="49" charset="0"/>
              </a:rPr>
              <a:t>] * </a:t>
            </a:r>
            <a:r>
              <a:rPr lang="en-US" sz="2000" b="0" dirty="0">
                <a:solidFill>
                  <a:srgbClr val="001080"/>
                </a:solidFill>
                <a:effectLst/>
                <a:latin typeface="Fira Code" panose="020B0809050000020004" pitchFamily="49" charset="0"/>
              </a:rPr>
              <a:t>B</a:t>
            </a:r>
            <a:r>
              <a:rPr lang="en-US" sz="2000" b="0" dirty="0">
                <a:solidFill>
                  <a:srgbClr val="000000"/>
                </a:solidFill>
                <a:effectLst/>
                <a:latin typeface="Fira Code" panose="020B0809050000020004" pitchFamily="49" charset="0"/>
              </a:rPr>
              <a:t>[</a:t>
            </a:r>
            <a:r>
              <a:rPr lang="en-US" sz="2000" b="0" dirty="0">
                <a:solidFill>
                  <a:srgbClr val="001080"/>
                </a:solidFill>
                <a:effectLst/>
                <a:latin typeface="Fira Code" panose="020B0809050000020004" pitchFamily="49" charset="0"/>
              </a:rPr>
              <a:t>k</a:t>
            </a:r>
            <a:r>
              <a:rPr lang="en-US" sz="2000" b="0" dirty="0">
                <a:solidFill>
                  <a:srgbClr val="000000"/>
                </a:solidFill>
                <a:effectLst/>
                <a:latin typeface="Fira Code" panose="020B0809050000020004" pitchFamily="49" charset="0"/>
              </a:rPr>
              <a:t>][</a:t>
            </a:r>
            <a:r>
              <a:rPr lang="en-US" sz="2000" b="0" dirty="0">
                <a:solidFill>
                  <a:srgbClr val="001080"/>
                </a:solidFill>
                <a:effectLst/>
                <a:latin typeface="Fira Code" panose="020B0809050000020004" pitchFamily="49" charset="0"/>
              </a:rPr>
              <a:t>j</a:t>
            </a:r>
            <a:r>
              <a:rPr lang="en-US" sz="2000" b="0" dirty="0">
                <a:solidFill>
                  <a:srgbClr val="000000"/>
                </a:solidFill>
                <a:effectLst/>
                <a:latin typeface="Fira Code" panose="020B0809050000020004" pitchFamily="49" charset="0"/>
              </a:rPr>
              <a:t>];</a:t>
            </a:r>
          </a:p>
        </p:txBody>
      </p:sp>
      <p:sp>
        <p:nvSpPr>
          <p:cNvPr id="5" name="Rectangle 4">
            <a:extLst>
              <a:ext uri="{FF2B5EF4-FFF2-40B4-BE49-F238E27FC236}">
                <a16:creationId xmlns:a16="http://schemas.microsoft.com/office/drawing/2014/main" id="{3C0C66B5-9423-3452-6328-121A7C389203}"/>
              </a:ext>
            </a:extLst>
          </p:cNvPr>
          <p:cNvSpPr/>
          <p:nvPr/>
        </p:nvSpPr>
        <p:spPr>
          <a:xfrm>
            <a:off x="7192643" y="4882343"/>
            <a:ext cx="1364153" cy="256332"/>
          </a:xfrm>
          <a:prstGeom prst="rect">
            <a:avLst/>
          </a:prstGeom>
          <a:solidFill>
            <a:srgbClr val="969696">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7" name="Rectangle 16">
            <a:extLst>
              <a:ext uri="{FF2B5EF4-FFF2-40B4-BE49-F238E27FC236}">
                <a16:creationId xmlns:a16="http://schemas.microsoft.com/office/drawing/2014/main" id="{0E5347DA-3F5A-6C6C-F424-88F41C72727D}"/>
              </a:ext>
            </a:extLst>
          </p:cNvPr>
          <p:cNvSpPr/>
          <p:nvPr/>
        </p:nvSpPr>
        <p:spPr>
          <a:xfrm>
            <a:off x="7192643" y="4540880"/>
            <a:ext cx="1364153" cy="256332"/>
          </a:xfrm>
          <a:prstGeom prst="rect">
            <a:avLst/>
          </a:prstGeom>
          <a:solidFill>
            <a:srgbClr val="969696">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Rectangle 19">
            <a:extLst>
              <a:ext uri="{FF2B5EF4-FFF2-40B4-BE49-F238E27FC236}">
                <a16:creationId xmlns:a16="http://schemas.microsoft.com/office/drawing/2014/main" id="{8BB2AD3C-93CE-6E6C-6024-6CF36DA40579}"/>
              </a:ext>
            </a:extLst>
          </p:cNvPr>
          <p:cNvSpPr/>
          <p:nvPr/>
        </p:nvSpPr>
        <p:spPr>
          <a:xfrm>
            <a:off x="7192643" y="4193714"/>
            <a:ext cx="1364153" cy="256332"/>
          </a:xfrm>
          <a:prstGeom prst="rect">
            <a:avLst/>
          </a:prstGeom>
          <a:solidFill>
            <a:srgbClr val="969696">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8" name="TextBox 7">
            <a:extLst>
              <a:ext uri="{FF2B5EF4-FFF2-40B4-BE49-F238E27FC236}">
                <a16:creationId xmlns:a16="http://schemas.microsoft.com/office/drawing/2014/main" id="{9E2F7AA6-5F7F-99DE-465E-A4472E5548CB}"/>
              </a:ext>
            </a:extLst>
          </p:cNvPr>
          <p:cNvSpPr txBox="1"/>
          <p:nvPr/>
        </p:nvSpPr>
        <p:spPr>
          <a:xfrm>
            <a:off x="1565505" y="4089155"/>
            <a:ext cx="8291159" cy="2515432"/>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A</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267F99"/>
                </a:solidFill>
                <a:effectLst/>
                <a:latin typeface="Fira Code" panose="020B0809050000020004" pitchFamily="49" charset="0"/>
              </a:rPr>
              <a:t>scalar</a:t>
            </a:r>
            <a:r>
              <a:rPr lang="en-US" sz="2000" b="0" noProof="0" dirty="0">
                <a:solidFill>
                  <a:srgbClr val="000000"/>
                </a:solidFill>
                <a:effectLst/>
                <a:latin typeface="Fira Code" panose="020B0809050000020004" pitchFamily="49" charset="0"/>
              </a:rPr>
              <a:t>&lt;</a:t>
            </a:r>
            <a:r>
              <a:rPr lang="en-US" sz="2000" b="0" noProof="0" dirty="0">
                <a:solidFill>
                  <a:srgbClr val="0000FF"/>
                </a:solidFill>
                <a:effectLst/>
                <a:latin typeface="Fira Code" panose="020B0809050000020004" pitchFamily="49" charset="0"/>
              </a:rPr>
              <a:t>float</a:t>
            </a:r>
            <a:r>
              <a:rPr lang="en-US" sz="2000" b="0" noProof="0" dirty="0">
                <a:solidFill>
                  <a:srgbClr val="000000"/>
                </a:solidFill>
                <a:effectLst/>
                <a:latin typeface="Fira Code" panose="020B0809050000020004" pitchFamily="49" charset="0"/>
              </a:rPr>
              <a:t>&gt;()</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vectors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k'</a:t>
            </a:r>
            <a:r>
              <a:rPr lang="en-US" sz="2000" b="0" noProof="0" dirty="0" err="1">
                <a:solidFill>
                  <a:srgbClr val="000000"/>
                </a:solidFill>
                <a:effectLst/>
                <a:latin typeface="Fira Code" panose="020B0809050000020004" pitchFamily="49" charset="0"/>
              </a:rPr>
              <a:t>,</a:t>
            </a:r>
            <a:r>
              <a:rPr lang="en-US" sz="2000" noProof="0" dirty="0" err="1">
                <a:solidFill>
                  <a:srgbClr val="A31515"/>
                </a:solidFill>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267F99"/>
                </a:solidFill>
                <a:effectLst/>
                <a:latin typeface="Fira Code" panose="020B0809050000020004" pitchFamily="49" charset="0"/>
              </a:rPr>
              <a:t>scalar</a:t>
            </a:r>
            <a:r>
              <a:rPr lang="en-US" sz="2000" b="0" noProof="0" dirty="0">
                <a:solidFill>
                  <a:srgbClr val="000000"/>
                </a:solidFill>
                <a:effectLst/>
                <a:latin typeface="Fira Code" panose="020B0809050000020004" pitchFamily="49" charset="0"/>
              </a:rPr>
              <a:t>&lt;</a:t>
            </a:r>
            <a:r>
              <a:rPr lang="en-US" sz="2000" b="0" noProof="0" dirty="0">
                <a:solidFill>
                  <a:srgbClr val="0000FF"/>
                </a:solidFill>
                <a:effectLst/>
                <a:latin typeface="Fira Code" panose="020B0809050000020004" pitchFamily="49" charset="0"/>
              </a:rPr>
              <a:t>float</a:t>
            </a:r>
            <a:r>
              <a:rPr lang="en-US" sz="2000" b="0" noProof="0" dirty="0">
                <a:solidFill>
                  <a:srgbClr val="000000"/>
                </a:solidFill>
                <a:effectLst/>
                <a:latin typeface="Fira Code" panose="020B0809050000020004" pitchFamily="49" charset="0"/>
              </a:rPr>
              <a:t>&gt;()</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vectors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'k</a:t>
            </a:r>
            <a:r>
              <a:rPr lang="en-US" sz="2000" noProof="0" dirty="0">
                <a:solidFill>
                  <a:srgbClr val="A31515"/>
                </a:solidFill>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p>
          <a:p>
            <a:pPr>
              <a:lnSpc>
                <a:spcPct val="113095"/>
              </a:lnSpc>
            </a:pPr>
            <a:r>
              <a:rPr lang="en-US" sz="2000" noProof="0" dirty="0">
                <a:solidFill>
                  <a:srgbClr val="267F99"/>
                </a:solidFill>
                <a:latin typeface="Fira Code" panose="020B0809050000020004" pitchFamily="49" charset="0"/>
              </a:rPr>
              <a:t>auto</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C</a:t>
            </a:r>
            <a:r>
              <a:rPr lang="en-US" sz="10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1000" noProof="0" dirty="0">
                <a:solidFill>
                  <a:srgbClr val="000000"/>
                </a:solidFill>
                <a:latin typeface="Fira Code" panose="020B0809050000020004" pitchFamily="49" charset="0"/>
              </a:rPr>
              <a:t> </a:t>
            </a:r>
            <a:r>
              <a:rPr lang="en-US" sz="2000" noProof="0" dirty="0">
                <a:solidFill>
                  <a:srgbClr val="795E26"/>
                </a:solidFill>
                <a:latin typeface="Fira Code" panose="020B0809050000020004" pitchFamily="49" charset="0"/>
              </a:rPr>
              <a:t>bag</a:t>
            </a:r>
            <a:r>
              <a:rPr lang="en-US" sz="2000" noProof="0" dirty="0">
                <a:solidFill>
                  <a:srgbClr val="000000"/>
                </a:solidFill>
                <a:latin typeface="Fira Code" panose="020B0809050000020004" pitchFamily="49" charset="0"/>
              </a:rPr>
              <a:t>(</a:t>
            </a:r>
            <a:r>
              <a:rPr lang="en-US" sz="2000" noProof="0" dirty="0">
                <a:solidFill>
                  <a:srgbClr val="267F99"/>
                </a:solidFill>
                <a:latin typeface="Fira Code" panose="020B0809050000020004" pitchFamily="49" charset="0"/>
              </a:rPr>
              <a:t>scalar</a:t>
            </a:r>
            <a:r>
              <a:rPr lang="en-US" sz="2000" noProof="0" dirty="0">
                <a:solidFill>
                  <a:srgbClr val="000000"/>
                </a:solidFill>
                <a:latin typeface="Fira Code" panose="020B0809050000020004" pitchFamily="49" charset="0"/>
              </a:rPr>
              <a:t>&lt;</a:t>
            </a:r>
            <a:r>
              <a:rPr lang="en-US" sz="2000" noProof="0" dirty="0">
                <a:solidFill>
                  <a:srgbClr val="0000FF"/>
                </a:solidFill>
                <a:latin typeface="Fira Code" panose="020B0809050000020004" pitchFamily="49" charset="0"/>
              </a:rPr>
              <a:t>float</a:t>
            </a:r>
            <a:r>
              <a:rPr lang="en-US" sz="2000" noProof="0" dirty="0">
                <a:solidFill>
                  <a:srgbClr val="000000"/>
                </a:solidFill>
                <a:latin typeface="Fira Code" panose="020B0809050000020004" pitchFamily="49" charset="0"/>
              </a:rPr>
              <a:t>&gt;()</a:t>
            </a:r>
            <a:r>
              <a:rPr lang="en-US" sz="10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1000" noProof="0" dirty="0">
                <a:solidFill>
                  <a:srgbClr val="000000"/>
                </a:solidFill>
                <a:latin typeface="Fira Code" panose="020B0809050000020004" pitchFamily="49" charset="0"/>
              </a:rPr>
              <a:t> </a:t>
            </a:r>
            <a:r>
              <a:rPr lang="en-US" sz="2000" noProof="0" dirty="0">
                <a:solidFill>
                  <a:srgbClr val="795E26"/>
                </a:solidFill>
                <a:latin typeface="Fira Code" panose="020B0809050000020004" pitchFamily="49" charset="0"/>
              </a:rPr>
              <a:t>vectors</a:t>
            </a:r>
            <a:r>
              <a:rPr lang="en-US" sz="600" noProof="0" dirty="0">
                <a:solidFill>
                  <a:srgbClr val="795E26"/>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N</a:t>
            </a:r>
            <a:r>
              <a:rPr lang="en-US" sz="2000" noProof="0" dirty="0">
                <a:solidFill>
                  <a:srgbClr val="000000"/>
                </a:solidFill>
                <a:latin typeface="Fira Code" panose="020B0809050000020004" pitchFamily="49" charset="0"/>
              </a:rPr>
              <a:t>,</a:t>
            </a:r>
            <a:r>
              <a:rPr lang="en-US" sz="1000" noProof="0" dirty="0">
                <a:solidFill>
                  <a:srgbClr val="000000"/>
                </a:solidFill>
                <a:latin typeface="Fira Code" panose="020B0809050000020004" pitchFamily="49" charset="0"/>
              </a:rPr>
              <a:t> </a:t>
            </a:r>
            <a:r>
              <a:rPr lang="en-US" sz="2000" noProof="0" dirty="0">
                <a:solidFill>
                  <a:srgbClr val="0070C1"/>
                </a:solidFill>
                <a:latin typeface="Fira Code" panose="020B0809050000020004" pitchFamily="49" charset="0"/>
              </a:rPr>
              <a:t>M</a:t>
            </a:r>
            <a:r>
              <a:rPr lang="en-US" sz="2000" noProof="0" dirty="0">
                <a:solidFill>
                  <a:srgbClr val="000000"/>
                </a:solidFill>
                <a:latin typeface="Fira Code" panose="020B0809050000020004" pitchFamily="49" charset="0"/>
              </a:rPr>
              <a:t>));</a:t>
            </a:r>
          </a:p>
          <a:p>
            <a:pPr>
              <a:lnSpc>
                <a:spcPct val="113095"/>
              </a:lnSpc>
              <a:buNone/>
            </a:pPr>
            <a:endParaRPr lang="en-US" sz="2000" b="0" noProof="0" dirty="0">
              <a:solidFill>
                <a:srgbClr val="000000"/>
              </a:solidFill>
              <a:effectLst/>
              <a:latin typeface="Fira Code" panose="020B0809050000020004" pitchFamily="49" charset="0"/>
            </a:endParaRPr>
          </a:p>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dirty="0" err="1">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25" name="Rectangle 24">
            <a:extLst>
              <a:ext uri="{FF2B5EF4-FFF2-40B4-BE49-F238E27FC236}">
                <a16:creationId xmlns:a16="http://schemas.microsoft.com/office/drawing/2014/main" id="{4F2AFE62-17DB-A9EC-26C5-71728919926D}"/>
              </a:ext>
            </a:extLst>
          </p:cNvPr>
          <p:cNvSpPr/>
          <p:nvPr/>
        </p:nvSpPr>
        <p:spPr>
          <a:xfrm>
            <a:off x="2641591" y="4143314"/>
            <a:ext cx="7126173" cy="1047946"/>
          </a:xfrm>
          <a:prstGeom prst="rect">
            <a:avLst/>
          </a:prstGeom>
          <a:solidFill>
            <a:srgbClr val="FFFFFF">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grpSp>
        <p:nvGrpSpPr>
          <p:cNvPr id="182" name="Group 181">
            <a:extLst>
              <a:ext uri="{FF2B5EF4-FFF2-40B4-BE49-F238E27FC236}">
                <a16:creationId xmlns:a16="http://schemas.microsoft.com/office/drawing/2014/main" id="{55E44A02-900A-CE23-2B9A-A1AC40B14A06}"/>
              </a:ext>
            </a:extLst>
          </p:cNvPr>
          <p:cNvGrpSpPr/>
          <p:nvPr/>
        </p:nvGrpSpPr>
        <p:grpSpPr>
          <a:xfrm>
            <a:off x="328569" y="1596409"/>
            <a:ext cx="4003009" cy="1832591"/>
            <a:chOff x="1106463" y="1862333"/>
            <a:chExt cx="4003009" cy="1832591"/>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06463" y="1862333"/>
              <a:ext cx="3955707" cy="1832591"/>
              <a:chOff x="37909" y="1664560"/>
              <a:chExt cx="5395542" cy="2499634"/>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a:p>
              </p:txBody>
            </p:sp>
          </p:grpSp>
          <mc:AlternateContent xmlns:mc="http://schemas.openxmlformats.org/markup-compatibility/2006">
            <mc:Choice xmlns:a14="http://schemas.microsoft.com/office/drawing/2010/main" Requires="a14">
              <p:sp>
                <p:nvSpPr>
                  <p:cNvPr id="161" name="TextBox 160">
                    <a:extLst>
                      <a:ext uri="{FF2B5EF4-FFF2-40B4-BE49-F238E27FC236}">
                        <a16:creationId xmlns:a16="http://schemas.microsoft.com/office/drawing/2014/main" id="{94B9DE91-798F-3576-FF89-4137D488236A}"/>
                      </a:ext>
                    </a:extLst>
                  </p:cNvPr>
                  <p:cNvSpPr txBox="1"/>
                  <p:nvPr/>
                </p:nvSpPr>
                <p:spPr>
                  <a:xfrm>
                    <a:off x="1676547" y="2678668"/>
                    <a:ext cx="422427" cy="545745"/>
                  </a:xfrm>
                  <a:prstGeom prst="rect">
                    <a:avLst/>
                  </a:prstGeom>
                  <a:noFill/>
                </p:spPr>
                <p:txBody>
                  <a:bodyPr wrap="none" rtlCol="0">
                    <a:spAutoFit/>
                  </a:bodyPr>
                  <a:lstStyle/>
                  <a:p>
                    <a:pPr/>
                    <a14:m>
                      <m:oMathPara xmlns:m="http://schemas.openxmlformats.org/officeDocument/2006/math">
                        <m:oMath>
                          <m:r>
                            <a:rPr lang="en-US" sz="2000" b="0" i="1" smtClean="0">
                              <a:latin typeface="Cambria Math" panose="02040503050406030204" pitchFamily="18" charset="0"/>
                            </a:rPr>
                            <m:t>⋅</m:t>
                          </m:r>
                        </m:oMath>
                      </m:oMathPara>
                    </a14:m>
                    <a:endParaRPr lang="en-US" sz="2000" dirty="0"/>
                  </a:p>
                </p:txBody>
              </p:sp>
            </mc:Choice>
            <mc:Fallback>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76547" y="2678668"/>
                    <a:ext cx="422427" cy="54574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3" name="TextBox 162">
                    <a:extLst>
                      <a:ext uri="{FF2B5EF4-FFF2-40B4-BE49-F238E27FC236}">
                        <a16:creationId xmlns:a16="http://schemas.microsoft.com/office/drawing/2014/main" id="{487A942B-4524-AA56-6066-2AFB97633CDD}"/>
                      </a:ext>
                    </a:extLst>
                  </p:cNvPr>
                  <p:cNvSpPr txBox="1"/>
                  <p:nvPr/>
                </p:nvSpPr>
                <p:spPr>
                  <a:xfrm>
                    <a:off x="3486727" y="2678668"/>
                    <a:ext cx="586414" cy="545745"/>
                  </a:xfrm>
                  <a:prstGeom prst="rect">
                    <a:avLst/>
                  </a:prstGeom>
                  <a:noFill/>
                </p:spPr>
                <p:txBody>
                  <a:bodyPr wrap="none" rtlCol="0">
                    <a:spAutoFit/>
                  </a:bodyPr>
                  <a:lstStyle/>
                  <a:p>
                    <a:pPr/>
                    <a14:m>
                      <m:oMathPara xmlns:m="http://schemas.openxmlformats.org/officeDocument/2006/math">
                        <m:oMath>
                          <m:r>
                            <a:rPr lang="en-US" sz="2000" b="0" i="1" smtClean="0">
                              <a:latin typeface="Cambria Math" panose="02040503050406030204" pitchFamily="18" charset="0"/>
                            </a:rPr>
                            <m:t>=</m:t>
                          </m:r>
                        </m:oMath>
                      </m:oMathPara>
                    </a14:m>
                    <a:endParaRPr lang="en-US" sz="2000" dirty="0"/>
                  </a:p>
                </p:txBody>
              </p:sp>
            </mc:Choice>
            <mc:Fallback>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86727" y="2678668"/>
                    <a:ext cx="586414" cy="545745"/>
                  </a:xfrm>
                  <a:prstGeom prst="rect">
                    <a:avLst/>
                  </a:prstGeom>
                  <a:blipFill>
                    <a:blip r:embed="rId4"/>
                    <a:stretch>
                      <a:fillRect/>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848109" y="3618449"/>
                <a:ext cx="461784" cy="545745"/>
              </a:xfrm>
              <a:prstGeom prst="rect">
                <a:avLst/>
              </a:prstGeom>
              <a:noFill/>
            </p:spPr>
            <p:txBody>
              <a:bodyPr wrap="none" rtlCol="0">
                <a:spAutoFit/>
              </a:bodyPr>
              <a:lstStyle/>
              <a:p>
                <a:pPr algn="ctr"/>
                <a:r>
                  <a:rPr lang="en-US" sz="2000"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546352" y="3614686"/>
                <a:ext cx="461784" cy="545746"/>
              </a:xfrm>
              <a:prstGeom prst="rect">
                <a:avLst/>
              </a:prstGeom>
              <a:noFill/>
            </p:spPr>
            <p:txBody>
              <a:bodyPr wrap="none" rtlCol="0">
                <a:spAutoFit/>
              </a:bodyPr>
              <a:lstStyle/>
              <a:p>
                <a:pPr algn="ctr"/>
                <a:r>
                  <a:rPr lang="en-US" sz="2000"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452754" y="3614686"/>
                <a:ext cx="461784" cy="545746"/>
              </a:xfrm>
              <a:prstGeom prst="rect">
                <a:avLst/>
              </a:prstGeom>
              <a:noFill/>
            </p:spPr>
            <p:txBody>
              <a:bodyPr wrap="none" rtlCol="0">
                <a:spAutoFit/>
              </a:bodyPr>
              <a:lstStyle/>
              <a:p>
                <a:pPr algn="ctr"/>
                <a:r>
                  <a:rPr lang="en-US" sz="2000" dirty="0">
                    <a:solidFill>
                      <a:srgbClr val="001080"/>
                    </a:solidFill>
                    <a:latin typeface="Fira Code" panose="020B0809050000020004" pitchFamily="49" charset="0"/>
                  </a:rPr>
                  <a:t>C</a:t>
                </a:r>
              </a:p>
            </p:txBody>
          </p:sp>
          <mc:AlternateContent xmlns:mc="http://schemas.openxmlformats.org/markup-compatibility/2006">
            <mc:Choice xmlns:a14="http://schemas.microsoft.com/office/drawing/2010/main" Requires="a14">
              <p:sp>
                <p:nvSpPr>
                  <p:cNvPr id="169" name="TextBox 168">
                    <a:extLst>
                      <a:ext uri="{FF2B5EF4-FFF2-40B4-BE49-F238E27FC236}">
                        <a16:creationId xmlns:a16="http://schemas.microsoft.com/office/drawing/2014/main" id="{AB69531D-B174-6BC8-5616-B3AC24D2B879}"/>
                      </a:ext>
                    </a:extLst>
                  </p:cNvPr>
                  <p:cNvSpPr txBox="1"/>
                  <p:nvPr/>
                </p:nvSpPr>
                <p:spPr>
                  <a:xfrm>
                    <a:off x="37909" y="1964973"/>
                    <a:ext cx="622972" cy="545746"/>
                  </a:xfrm>
                  <a:prstGeom prst="rect">
                    <a:avLst/>
                  </a:prstGeom>
                  <a:noFill/>
                </p:spPr>
                <p:txBody>
                  <a:bodyPr wrap="none" rtlCol="0">
                    <a:spAutoFit/>
                  </a:bodyPr>
                  <a:lstStyle/>
                  <a:p>
                    <a:pPr/>
                    <a14:m>
                      <m:oMathPara xmlns:m="http://schemas.openxmlformats.org/officeDocument/2006/math">
                        <m:oMath>
                          <m:r>
                            <a:rPr lang="en-US" sz="2000" i="1" dirty="0" smtClean="0">
                              <a:latin typeface="Cambria Math" panose="02040503050406030204" pitchFamily="18" charset="0"/>
                            </a:rPr>
                            <m:t>𝑚</m:t>
                          </m:r>
                        </m:oMath>
                      </m:oMathPara>
                    </a14:m>
                    <a:endParaRPr lang="en-US" sz="2000" dirty="0"/>
                  </a:p>
                </p:txBody>
              </p:sp>
            </mc:Choice>
            <mc:Fallback>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37909" y="1964973"/>
                    <a:ext cx="622972" cy="54574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1" name="TextBox 170">
                    <a:extLst>
                      <a:ext uri="{FF2B5EF4-FFF2-40B4-BE49-F238E27FC236}">
                        <a16:creationId xmlns:a16="http://schemas.microsoft.com/office/drawing/2014/main" id="{2E9C9242-8475-426D-DFA6-14540A24D3A2}"/>
                      </a:ext>
                    </a:extLst>
                  </p:cNvPr>
                  <p:cNvSpPr txBox="1"/>
                  <p:nvPr/>
                </p:nvSpPr>
                <p:spPr>
                  <a:xfrm>
                    <a:off x="857275" y="1673266"/>
                    <a:ext cx="526679" cy="545746"/>
                  </a:xfrm>
                  <a:prstGeom prst="rect">
                    <a:avLst/>
                  </a:prstGeom>
                  <a:noFill/>
                </p:spPr>
                <p:txBody>
                  <a:bodyPr wrap="none" rtlCol="0">
                    <a:spAutoFit/>
                  </a:bodyPr>
                  <a:lstStyle/>
                  <a:p>
                    <a:pPr/>
                    <a14:m>
                      <m:oMathPara xmlns:m="http://schemas.openxmlformats.org/officeDocument/2006/math">
                        <m:oMath>
                          <m:r>
                            <a:rPr lang="en-US" sz="2000" b="0" i="1" dirty="0" smtClean="0">
                              <a:latin typeface="Cambria Math" panose="02040503050406030204" pitchFamily="18" charset="0"/>
                            </a:rPr>
                            <m:t>𝑘</m:t>
                          </m:r>
                        </m:oMath>
                      </m:oMathPara>
                    </a14:m>
                    <a:endParaRPr lang="en-US" sz="2000" dirty="0"/>
                  </a:p>
                </p:txBody>
              </p:sp>
            </mc:Choice>
            <mc:Fallback>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5" y="1673266"/>
                    <a:ext cx="526679" cy="54574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3" name="TextBox 172">
                    <a:extLst>
                      <a:ext uri="{FF2B5EF4-FFF2-40B4-BE49-F238E27FC236}">
                        <a16:creationId xmlns:a16="http://schemas.microsoft.com/office/drawing/2014/main" id="{729CF20E-3A7A-ADF8-38B3-0A9D4972A8BA}"/>
                      </a:ext>
                    </a:extLst>
                  </p:cNvPr>
                  <p:cNvSpPr txBox="1"/>
                  <p:nvPr/>
                </p:nvSpPr>
                <p:spPr>
                  <a:xfrm>
                    <a:off x="1563378" y="2038382"/>
                    <a:ext cx="526679" cy="545746"/>
                  </a:xfrm>
                  <a:prstGeom prst="rect">
                    <a:avLst/>
                  </a:prstGeom>
                  <a:noFill/>
                </p:spPr>
                <p:txBody>
                  <a:bodyPr wrap="none" rtlCol="0">
                    <a:spAutoFit/>
                  </a:bodyPr>
                  <a:lstStyle/>
                  <a:p>
                    <a:pPr/>
                    <a14:m>
                      <m:oMathPara xmlns:m="http://schemas.openxmlformats.org/officeDocument/2006/math">
                        <m:oMath>
                          <m:r>
                            <a:rPr lang="en-US" sz="2000" b="0" i="1" dirty="0" smtClean="0">
                              <a:latin typeface="Cambria Math" panose="02040503050406030204" pitchFamily="18" charset="0"/>
                            </a:rPr>
                            <m:t>𝑘</m:t>
                          </m:r>
                        </m:oMath>
                      </m:oMathPara>
                    </a14:m>
                    <a:endParaRPr lang="en-US" sz="2000" dirty="0"/>
                  </a:p>
                </p:txBody>
              </p:sp>
            </mc:Choice>
            <mc:Fallback>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563378" y="2038382"/>
                    <a:ext cx="526679" cy="54574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5" name="TextBox 174">
                    <a:extLst>
                      <a:ext uri="{FF2B5EF4-FFF2-40B4-BE49-F238E27FC236}">
                        <a16:creationId xmlns:a16="http://schemas.microsoft.com/office/drawing/2014/main" id="{C6AFF68F-4275-12A3-1984-F36012F6421E}"/>
                      </a:ext>
                    </a:extLst>
                  </p:cNvPr>
                  <p:cNvSpPr txBox="1"/>
                  <p:nvPr/>
                </p:nvSpPr>
                <p:spPr>
                  <a:xfrm>
                    <a:off x="2490369" y="1858436"/>
                    <a:ext cx="531139" cy="545746"/>
                  </a:xfrm>
                  <a:prstGeom prst="rect">
                    <a:avLst/>
                  </a:prstGeom>
                  <a:noFill/>
                </p:spPr>
                <p:txBody>
                  <a:bodyPr wrap="none" rtlCol="0">
                    <a:spAutoFit/>
                  </a:bodyPr>
                  <a:lstStyle/>
                  <a:p>
                    <a:pPr/>
                    <a14:m>
                      <m:oMathPara xmlns:m="http://schemas.openxmlformats.org/officeDocument/2006/math">
                        <m:oMath>
                          <m:r>
                            <a:rPr lang="en-US" sz="2000" b="0" i="1" dirty="0" smtClean="0">
                              <a:latin typeface="Cambria Math" panose="02040503050406030204" pitchFamily="18" charset="0"/>
                            </a:rPr>
                            <m:t>𝑛</m:t>
                          </m:r>
                        </m:oMath>
                      </m:oMathPara>
                    </a14:m>
                    <a:endParaRPr lang="en-US" sz="2000" dirty="0"/>
                  </a:p>
                </p:txBody>
              </p:sp>
            </mc:Choice>
            <mc:Fallback>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490369" y="1858436"/>
                    <a:ext cx="531139" cy="54574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7" name="TextBox 176">
                    <a:extLst>
                      <a:ext uri="{FF2B5EF4-FFF2-40B4-BE49-F238E27FC236}">
                        <a16:creationId xmlns:a16="http://schemas.microsoft.com/office/drawing/2014/main" id="{38B8802A-2C13-DDF8-4086-8C002237A748}"/>
                      </a:ext>
                    </a:extLst>
                  </p:cNvPr>
                  <p:cNvSpPr txBox="1"/>
                  <p:nvPr/>
                </p:nvSpPr>
                <p:spPr>
                  <a:xfrm>
                    <a:off x="3435376" y="1890394"/>
                    <a:ext cx="622972" cy="545746"/>
                  </a:xfrm>
                  <a:prstGeom prst="rect">
                    <a:avLst/>
                  </a:prstGeom>
                  <a:noFill/>
                </p:spPr>
                <p:txBody>
                  <a:bodyPr wrap="none" rtlCol="0">
                    <a:spAutoFit/>
                  </a:bodyPr>
                  <a:lstStyle/>
                  <a:p>
                    <a:pPr/>
                    <a14:m>
                      <m:oMathPara xmlns:m="http://schemas.openxmlformats.org/officeDocument/2006/math">
                        <m:oMath>
                          <m:r>
                            <a:rPr lang="en-US" sz="2000" b="0" i="1" dirty="0" smtClean="0">
                              <a:latin typeface="Cambria Math" panose="02040503050406030204" pitchFamily="18" charset="0"/>
                            </a:rPr>
                            <m:t>𝑚</m:t>
                          </m:r>
                        </m:oMath>
                      </m:oMathPara>
                    </a14:m>
                    <a:endParaRPr lang="en-US" sz="2000" dirty="0"/>
                  </a:p>
                </p:txBody>
              </p:sp>
            </mc:Choice>
            <mc:Fallback>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35376" y="1890394"/>
                    <a:ext cx="622972" cy="54574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531139" cy="545746"/>
                  </a:xfrm>
                  <a:prstGeom prst="rect">
                    <a:avLst/>
                  </a:prstGeom>
                  <a:noFill/>
                </p:spPr>
                <p:txBody>
                  <a:bodyPr wrap="none" rtlCol="0">
                    <a:spAutoFit/>
                  </a:bodyPr>
                  <a:lstStyle/>
                  <a:p>
                    <a:pPr/>
                    <a14:m>
                      <m:oMathPara xmlns:m="http://schemas.openxmlformats.org/officeDocument/2006/math">
                        <m:oMath>
                          <m:r>
                            <a:rPr lang="en-US" sz="2000" b="0" i="1" dirty="0" smtClean="0">
                              <a:latin typeface="Cambria Math" panose="02040503050406030204" pitchFamily="18" charset="0"/>
                            </a:rPr>
                            <m:t>𝑛</m:t>
                          </m:r>
                        </m:oMath>
                      </m:oMathPara>
                    </a14:m>
                    <a:endParaRPr lang="en-US" sz="2000" dirty="0"/>
                  </a:p>
                </p:txBody>
              </p:sp>
            </mc:Choice>
            <mc:Fallback>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531139" cy="545746"/>
                  </a:xfrm>
                  <a:prstGeom prst="rect">
                    <a:avLst/>
                  </a:prstGeom>
                  <a:blipFill>
                    <a:blip r:embed="rId10"/>
                    <a:stretch>
                      <a:fillRect/>
                    </a:stretch>
                  </a:blipFill>
                </p:spPr>
                <p:txBody>
                  <a:bodyPr/>
                  <a:lstStyle/>
                  <a:p>
                    <a:r>
                      <a:rPr lang="en-US">
                        <a:noFill/>
                      </a:rPr>
                      <a:t> </a:t>
                    </a:r>
                  </a:p>
                </p:txBody>
              </p:sp>
            </mc:Fallback>
          </mc:AlternateContent>
        </p:grpSp>
      </p:grpSp>
      <mc:AlternateContent xmlns:mc="http://schemas.openxmlformats.org/markup-compatibility/2006">
        <mc:Choice xmlns:a14="http://schemas.microsoft.com/office/drawing/2010/main" Requires="a14">
          <p:sp>
            <p:nvSpPr>
              <p:cNvPr id="183" name="TextBox 182">
                <a:extLst>
                  <a:ext uri="{FF2B5EF4-FFF2-40B4-BE49-F238E27FC236}">
                    <a16:creationId xmlns:a16="http://schemas.microsoft.com/office/drawing/2014/main" id="{D0D73947-8818-5717-38FC-7ECD4EA12641}"/>
                  </a:ext>
                </a:extLst>
              </p:cNvPr>
              <p:cNvSpPr txBox="1"/>
              <p:nvPr/>
            </p:nvSpPr>
            <p:spPr>
              <a:xfrm>
                <a:off x="5316701" y="1330120"/>
                <a:ext cx="2228751" cy="958083"/>
              </a:xfrm>
              <a:prstGeom prst="rect">
                <a:avLst/>
              </a:prstGeom>
              <a:noFill/>
              <a:ln>
                <a:solidFill>
                  <a:schemeClr val="tx1"/>
                </a:solidFill>
              </a:ln>
            </p:spPr>
            <p:txBody>
              <a:bodyPr wrap="none" rtlCol="0">
                <a:spAutoFit/>
              </a:bodyPr>
              <a:lstStyle/>
              <a:p>
                <a:pPr/>
                <a14:m>
                  <m:oMathPara xmlns:m="http://schemas.openxmlformats.org/officeDocument/2006/math">
                    <m:o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𝐶</m:t>
                          </m:r>
                        </m:e>
                        <m:sub>
                          <m:r>
                            <a:rPr lang="en-US" sz="2000" b="0" i="1" smtClean="0">
                              <a:latin typeface="Cambria Math" panose="02040503050406030204" pitchFamily="18" charset="0"/>
                            </a:rPr>
                            <m:t>𝑖𝑗</m:t>
                          </m:r>
                        </m:sub>
                      </m:sSub>
                      <m:r>
                        <a:rPr lang="en-US" sz="2000" b="0" i="1" smtClean="0">
                          <a:latin typeface="Cambria Math" panose="02040503050406030204" pitchFamily="18" charset="0"/>
                        </a:rPr>
                        <m:t>=</m:t>
                      </m:r>
                      <m:nary>
                        <m:naryPr>
                          <m:chr m:val="∑"/>
                          <m:ctrlPr>
                            <a:rPr lang="en-US" sz="2000" b="0" i="1" smtClean="0">
                              <a:latin typeface="Cambria Math" panose="02040503050406030204" pitchFamily="18" charset="0"/>
                            </a:rPr>
                          </m:ctrlPr>
                        </m:naryPr>
                        <m:sub>
                          <m:r>
                            <m:rPr>
                              <m:brk m:alnAt="23"/>
                            </m:rPr>
                            <a:rPr lang="en-US" sz="2000" b="0" i="1" smtClean="0">
                              <a:latin typeface="Cambria Math" panose="02040503050406030204" pitchFamily="18" charset="0"/>
                            </a:rPr>
                            <m:t>𝑘</m:t>
                          </m:r>
                          <m:r>
                            <m:rPr>
                              <m:brk m:alnAt="23"/>
                            </m:rPr>
                            <a:rPr lang="en-US" sz="2000" b="0" i="1" smtClean="0">
                              <a:latin typeface="Cambria Math" panose="02040503050406030204" pitchFamily="18" charset="0"/>
                            </a:rPr>
                            <m:t>=</m:t>
                          </m:r>
                          <m:r>
                            <m:rPr>
                              <m:brk m:alnAt="23"/>
                            </m:rPr>
                            <a:rPr lang="en-US" sz="2000" b="0" i="1" smtClean="0">
                              <a:latin typeface="Cambria Math" panose="02040503050406030204" pitchFamily="18" charset="0"/>
                            </a:rPr>
                            <m:t>0</m:t>
                          </m:r>
                        </m:sub>
                        <m:sup>
                          <m:r>
                            <a:rPr lang="en-US" sz="2000" b="0" i="1" smtClean="0">
                              <a:latin typeface="Cambria Math" panose="02040503050406030204" pitchFamily="18" charset="0"/>
                            </a:rPr>
                            <m:t>𝐾</m:t>
                          </m:r>
                          <m:r>
                            <a:rPr lang="en-US" sz="2000" b="0" i="1" smtClean="0">
                              <a:latin typeface="Cambria Math" panose="02040503050406030204" pitchFamily="18" charset="0"/>
                            </a:rPr>
                            <m:t>−1</m:t>
                          </m:r>
                        </m:sup>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𝐴</m:t>
                              </m:r>
                            </m:e>
                            <m:sub>
                              <m:r>
                                <a:rPr lang="en-US" sz="2000" b="0" i="1" smtClean="0">
                                  <a:latin typeface="Cambria Math" panose="02040503050406030204" pitchFamily="18" charset="0"/>
                                </a:rPr>
                                <m:t>𝑖𝑘</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𝐵</m:t>
                              </m:r>
                            </m:e>
                            <m:sub>
                              <m:r>
                                <a:rPr lang="en-US" sz="2000" b="0" i="1" smtClean="0">
                                  <a:latin typeface="Cambria Math" panose="02040503050406030204" pitchFamily="18" charset="0"/>
                                </a:rPr>
                                <m:t>𝑘𝑗</m:t>
                              </m:r>
                            </m:sub>
                          </m:sSub>
                        </m:e>
                      </m:nary>
                    </m:oMath>
                  </m:oMathPara>
                </a14:m>
                <a:endParaRPr lang="en-US" sz="2000" dirty="0"/>
              </a:p>
            </p:txBody>
          </p:sp>
        </mc:Choice>
        <mc:Fallback>
          <p:sp>
            <p:nvSpPr>
              <p:cNvPr id="183" name="TextBox 182">
                <a:extLst>
                  <a:ext uri="{FF2B5EF4-FFF2-40B4-BE49-F238E27FC236}">
                    <a16:creationId xmlns:a16="http://schemas.microsoft.com/office/drawing/2014/main" id="{D0D73947-8818-5717-38FC-7ECD4EA12641}"/>
                  </a:ext>
                </a:extLst>
              </p:cNvPr>
              <p:cNvSpPr txBox="1">
                <a:spLocks noRot="1" noChangeAspect="1" noMove="1" noResize="1" noEditPoints="1" noAdjustHandles="1" noChangeArrowheads="1" noChangeShapeType="1" noTextEdit="1"/>
              </p:cNvSpPr>
              <p:nvPr/>
            </p:nvSpPr>
            <p:spPr>
              <a:xfrm>
                <a:off x="5316701" y="1330120"/>
                <a:ext cx="2228751" cy="958083"/>
              </a:xfrm>
              <a:prstGeom prst="rect">
                <a:avLst/>
              </a:prstGeom>
              <a:blipFill>
                <a:blip r:embed="rId11"/>
                <a:stretch>
                  <a:fillRect/>
                </a:stretch>
              </a:blipFill>
              <a:ln>
                <a:solidFill>
                  <a:schemeClr val="tx1"/>
                </a:solidFill>
              </a:ln>
            </p:spPr>
            <p:txBody>
              <a:bodyPr/>
              <a:lstStyle/>
              <a:p>
                <a:r>
                  <a:rPr lang="en-US">
                    <a:noFill/>
                  </a:rPr>
                  <a:t> </a:t>
                </a:r>
              </a:p>
            </p:txBody>
          </p:sp>
        </mc:Fallback>
      </mc:AlternateContent>
      <p:cxnSp>
        <p:nvCxnSpPr>
          <p:cNvPr id="185" name="Connector: Curved 184">
            <a:extLst>
              <a:ext uri="{FF2B5EF4-FFF2-40B4-BE49-F238E27FC236}">
                <a16:creationId xmlns:a16="http://schemas.microsoft.com/office/drawing/2014/main" id="{031BA854-8E73-CD70-3923-773D229C8EE1}"/>
              </a:ext>
            </a:extLst>
          </p:cNvPr>
          <p:cNvCxnSpPr>
            <a:cxnSpLocks/>
            <a:stCxn id="183" idx="3"/>
            <a:endCxn id="24" idx="0"/>
          </p:cNvCxnSpPr>
          <p:nvPr/>
        </p:nvCxnSpPr>
        <p:spPr>
          <a:xfrm>
            <a:off x="7545452" y="1809162"/>
            <a:ext cx="1179642" cy="546152"/>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nvCxnSpPr>
        <p:spPr>
          <a:xfrm rot="5400000">
            <a:off x="7087205" y="2451265"/>
            <a:ext cx="261771" cy="3014009"/>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1F67E973-44FE-CE64-80EC-471D1B6AA36F}"/>
                  </a:ext>
                </a:extLst>
              </p:cNvPr>
              <p:cNvSpPr txBox="1"/>
              <p:nvPr/>
            </p:nvSpPr>
            <p:spPr>
              <a:xfrm>
                <a:off x="10194804" y="4399369"/>
                <a:ext cx="1508618" cy="1384995"/>
              </a:xfrm>
              <a:prstGeom prst="rect">
                <a:avLst/>
              </a:prstGeom>
              <a:noFill/>
            </p:spPr>
            <p:txBody>
              <a:bodyPr wrap="none" rtlCol="0">
                <a:spAutoFit/>
              </a:bodyPr>
              <a:lstStyle/>
              <a:p>
                <a:r>
                  <a:rPr lang="en-US" sz="2800" dirty="0">
                    <a:solidFill>
                      <a:srgbClr val="001080"/>
                    </a:solidFill>
                    <a:latin typeface="Fira Code" panose="020B0809050000020004" pitchFamily="49" charset="0"/>
                  </a:rPr>
                  <a:t>A</a:t>
                </a:r>
                <a:r>
                  <a:rPr lang="en-US" sz="2800" dirty="0"/>
                  <a:t>: </a:t>
                </a:r>
                <a14:m>
                  <m:oMath xmlns:m="http://schemas.openxmlformats.org/officeDocument/2006/math">
                    <m:r>
                      <a:rPr lang="en-US" sz="2800" b="0" i="1" smtClean="0"/>
                      <m:t>𝑚</m:t>
                    </m:r>
                    <m:r>
                      <a:rPr lang="en-US" sz="2800" b="0" i="1" smtClean="0"/>
                      <m:t>×</m:t>
                    </m:r>
                    <m:r>
                      <a:rPr lang="en-US" sz="2800" b="0" i="1" smtClean="0"/>
                      <m:t>𝑘</m:t>
                    </m:r>
                  </m:oMath>
                </a14:m>
                <a:endParaRPr lang="en-US" sz="2800" b="0" dirty="0"/>
              </a:p>
              <a:p>
                <a:r>
                  <a:rPr lang="en-US" sz="2800" dirty="0">
                    <a:solidFill>
                      <a:srgbClr val="001080"/>
                    </a:solidFill>
                    <a:latin typeface="Fira Code" panose="020B0809050000020004" pitchFamily="49" charset="0"/>
                  </a:rPr>
                  <a:t>B</a:t>
                </a:r>
                <a:r>
                  <a:rPr lang="en-US" sz="2800" dirty="0"/>
                  <a:t>: </a:t>
                </a:r>
                <a14:m>
                  <m:oMath xmlns:m="http://schemas.openxmlformats.org/officeDocument/2006/math">
                    <m:r>
                      <m:rPr>
                        <m:sty m:val="p"/>
                      </m:rPr>
                      <a:rPr lang="en-US" sz="2800" dirty="0"/>
                      <m:t>k</m:t>
                    </m:r>
                    <m:r>
                      <a:rPr lang="en-US" sz="2800" i="1"/>
                      <m:t>×</m:t>
                    </m:r>
                    <m:r>
                      <a:rPr lang="en-US" sz="2800" i="1"/>
                      <m:t>𝑛</m:t>
                    </m:r>
                  </m:oMath>
                </a14:m>
                <a:endParaRPr lang="en-US" sz="2800" dirty="0"/>
              </a:p>
              <a:p>
                <a:r>
                  <a:rPr lang="en-US" sz="2800" dirty="0">
                    <a:solidFill>
                      <a:srgbClr val="001080"/>
                    </a:solidFill>
                    <a:latin typeface="Fira Code" panose="020B0809050000020004" pitchFamily="49" charset="0"/>
                  </a:rPr>
                  <a:t>C</a:t>
                </a:r>
                <a:r>
                  <a:rPr lang="en-US" sz="2800" dirty="0"/>
                  <a:t>: </a:t>
                </a:r>
                <a14:m>
                  <m:oMath xmlns:m="http://schemas.openxmlformats.org/officeDocument/2006/math">
                    <m:r>
                      <a:rPr lang="en-US" sz="2800" i="1"/>
                      <m:t>𝑚</m:t>
                    </m:r>
                    <m:r>
                      <a:rPr lang="en-US" sz="2800" i="1"/>
                      <m:t>×</m:t>
                    </m:r>
                    <m:r>
                      <a:rPr lang="en-US" sz="2800" i="1"/>
                      <m:t>𝑛</m:t>
                    </m:r>
                  </m:oMath>
                </a14:m>
                <a:endParaRPr lang="en-US" sz="2800" dirty="0"/>
              </a:p>
            </p:txBody>
          </p:sp>
        </mc:Choice>
        <mc:Fallback>
          <p:sp>
            <p:nvSpPr>
              <p:cNvPr id="44" name="TextBox 43">
                <a:extLst>
                  <a:ext uri="{FF2B5EF4-FFF2-40B4-BE49-F238E27FC236}">
                    <a16:creationId xmlns:a16="http://schemas.microsoft.com/office/drawing/2014/main" id="{1F67E973-44FE-CE64-80EC-471D1B6AA36F}"/>
                  </a:ext>
                </a:extLst>
              </p:cNvPr>
              <p:cNvSpPr txBox="1">
                <a:spLocks noRot="1" noChangeAspect="1" noMove="1" noResize="1" noEditPoints="1" noAdjustHandles="1" noChangeArrowheads="1" noChangeShapeType="1" noTextEdit="1"/>
              </p:cNvSpPr>
              <p:nvPr/>
            </p:nvSpPr>
            <p:spPr>
              <a:xfrm>
                <a:off x="10194804" y="4399369"/>
                <a:ext cx="1508618" cy="1384995"/>
              </a:xfrm>
              <a:prstGeom prst="rect">
                <a:avLst/>
              </a:prstGeom>
              <a:blipFill>
                <a:blip r:embed="rId12"/>
                <a:stretch>
                  <a:fillRect l="-8065" t="-5286" b="-11454"/>
                </a:stretch>
              </a:blipFill>
            </p:spPr>
            <p:txBody>
              <a:bodyPr/>
              <a:lstStyle/>
              <a:p>
                <a:r>
                  <a:rPr lang="en-US">
                    <a:noFill/>
                  </a:rPr>
                  <a:t> </a:t>
                </a:r>
              </a:p>
            </p:txBody>
          </p:sp>
        </mc:Fallback>
      </mc:AlternateContent>
      <p:sp>
        <p:nvSpPr>
          <p:cNvPr id="49" name="Oval 48">
            <a:extLst>
              <a:ext uri="{FF2B5EF4-FFF2-40B4-BE49-F238E27FC236}">
                <a16:creationId xmlns:a16="http://schemas.microsoft.com/office/drawing/2014/main" id="{0127B336-9807-04BC-1EE0-479911DCB919}"/>
              </a:ext>
            </a:extLst>
          </p:cNvPr>
          <p:cNvSpPr/>
          <p:nvPr/>
        </p:nvSpPr>
        <p:spPr>
          <a:xfrm>
            <a:off x="10642171" y="4477987"/>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F2118018-0BAA-9CA8-C6F1-FC0D7AF4E40D}"/>
              </a:ext>
            </a:extLst>
          </p:cNvPr>
          <p:cNvSpPr/>
          <p:nvPr/>
        </p:nvSpPr>
        <p:spPr>
          <a:xfrm>
            <a:off x="11284681" y="4477987"/>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1FA30D08-7546-1C19-C43C-639429F560C8}"/>
              </a:ext>
            </a:extLst>
          </p:cNvPr>
          <p:cNvSpPr/>
          <p:nvPr/>
        </p:nvSpPr>
        <p:spPr>
          <a:xfrm>
            <a:off x="11183081" y="4921614"/>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84915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6"/>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49"/>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animBg="1"/>
      <p:bldP spid="47" grpId="0" animBg="1"/>
      <p:bldP spid="19" grpId="0" animBg="1"/>
      <p:bldP spid="13" grpId="0" animBg="1"/>
      <p:bldP spid="11" grpId="0" animBg="1"/>
      <p:bldP spid="24" grpId="0" animBg="1"/>
      <p:bldP spid="5" grpId="0" animBg="1"/>
      <p:bldP spid="17" grpId="0" animBg="1"/>
      <p:bldP spid="20" grpId="0" animBg="1"/>
      <p:bldP spid="8" grpId="0" animBg="1"/>
      <p:bldP spid="25" grpId="0" animBg="1"/>
      <p:bldP spid="49" grpId="0" animBg="1"/>
      <p:bldP spid="51" grpId="0" animBg="1"/>
      <p:bldP spid="5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A1B06-775C-3A79-A24D-CBA423531276}"/>
            </a:ext>
          </a:extLst>
        </p:cNvPr>
        <p:cNvGrpSpPr/>
        <p:nvPr/>
      </p:nvGrpSpPr>
      <p:grpSpPr>
        <a:xfrm>
          <a:off x="0" y="0"/>
          <a:ext cx="0" cy="0"/>
          <a:chOff x="0" y="0"/>
          <a:chExt cx="0" cy="0"/>
        </a:xfrm>
      </p:grpSpPr>
      <p:grpSp>
        <p:nvGrpSpPr>
          <p:cNvPr id="85" name="Group 84">
            <a:extLst>
              <a:ext uri="{FF2B5EF4-FFF2-40B4-BE49-F238E27FC236}">
                <a16:creationId xmlns:a16="http://schemas.microsoft.com/office/drawing/2014/main" id="{4D087898-5A6D-E4B9-2541-608728A090D8}"/>
              </a:ext>
            </a:extLst>
          </p:cNvPr>
          <p:cNvGrpSpPr/>
          <p:nvPr/>
        </p:nvGrpSpPr>
        <p:grpSpPr>
          <a:xfrm>
            <a:off x="4015824" y="4740472"/>
            <a:ext cx="3983136" cy="1752403"/>
            <a:chOff x="4057435" y="4029146"/>
            <a:chExt cx="3983136" cy="1752403"/>
          </a:xfrm>
        </p:grpSpPr>
        <p:grpSp>
          <p:nvGrpSpPr>
            <p:cNvPr id="2" name="Group 1">
              <a:extLst>
                <a:ext uri="{FF2B5EF4-FFF2-40B4-BE49-F238E27FC236}">
                  <a16:creationId xmlns:a16="http://schemas.microsoft.com/office/drawing/2014/main" id="{8530CF8B-DFD8-AEF9-83EF-2C0BA908A157}"/>
                </a:ext>
              </a:extLst>
            </p:cNvPr>
            <p:cNvGrpSpPr/>
            <p:nvPr/>
          </p:nvGrpSpPr>
          <p:grpSpPr>
            <a:xfrm>
              <a:off x="4057435" y="4029146"/>
              <a:ext cx="3983136" cy="1752403"/>
              <a:chOff x="1126336" y="1862333"/>
              <a:chExt cx="3983136" cy="1752403"/>
            </a:xfrm>
          </p:grpSpPr>
          <p:sp>
            <p:nvSpPr>
              <p:cNvPr id="5" name="Rectangle 4">
                <a:extLst>
                  <a:ext uri="{FF2B5EF4-FFF2-40B4-BE49-F238E27FC236}">
                    <a16:creationId xmlns:a16="http://schemas.microsoft.com/office/drawing/2014/main" id="{6AFDD0BC-16EC-6AFC-3238-92A545CEF3AB}"/>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A4218266-FFDC-C285-F59C-65BDFBF9D205}"/>
                  </a:ext>
                </a:extLst>
              </p:cNvPr>
              <p:cNvGrpSpPr/>
              <p:nvPr/>
            </p:nvGrpSpPr>
            <p:grpSpPr>
              <a:xfrm>
                <a:off x="1126336" y="1862333"/>
                <a:ext cx="3935834" cy="1703254"/>
                <a:chOff x="65016" y="1664560"/>
                <a:chExt cx="5368435" cy="2323220"/>
              </a:xfrm>
            </p:grpSpPr>
            <p:grpSp>
              <p:nvGrpSpPr>
                <p:cNvPr id="16" name="Group 15">
                  <a:extLst>
                    <a:ext uri="{FF2B5EF4-FFF2-40B4-BE49-F238E27FC236}">
                      <a16:creationId xmlns:a16="http://schemas.microsoft.com/office/drawing/2014/main" id="{D3F61D01-231E-EE17-297A-54C1CC0C9047}"/>
                    </a:ext>
                  </a:extLst>
                </p:cNvPr>
                <p:cNvGrpSpPr/>
                <p:nvPr/>
              </p:nvGrpSpPr>
              <p:grpSpPr>
                <a:xfrm>
                  <a:off x="1986005" y="2286000"/>
                  <a:ext cx="1524000" cy="1143000"/>
                  <a:chOff x="1485283" y="2286000"/>
                  <a:chExt cx="1524000" cy="1143000"/>
                </a:xfrm>
              </p:grpSpPr>
              <p:sp>
                <p:nvSpPr>
                  <p:cNvPr id="68" name="Rectangle 67">
                    <a:extLst>
                      <a:ext uri="{FF2B5EF4-FFF2-40B4-BE49-F238E27FC236}">
                        <a16:creationId xmlns:a16="http://schemas.microsoft.com/office/drawing/2014/main" id="{B2D3CB05-E42E-6402-61F9-7B184E6B1228}"/>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69" name="Rectangle 68">
                    <a:extLst>
                      <a:ext uri="{FF2B5EF4-FFF2-40B4-BE49-F238E27FC236}">
                        <a16:creationId xmlns:a16="http://schemas.microsoft.com/office/drawing/2014/main" id="{653592E7-74BB-6E96-4E97-570BB18A1A01}"/>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0" name="Rectangle 69">
                    <a:extLst>
                      <a:ext uri="{FF2B5EF4-FFF2-40B4-BE49-F238E27FC236}">
                        <a16:creationId xmlns:a16="http://schemas.microsoft.com/office/drawing/2014/main" id="{BE927FF9-76A1-989E-3DEE-FCA5E7061CCA}"/>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1" name="Rectangle 70">
                    <a:extLst>
                      <a:ext uri="{FF2B5EF4-FFF2-40B4-BE49-F238E27FC236}">
                        <a16:creationId xmlns:a16="http://schemas.microsoft.com/office/drawing/2014/main" id="{E578230D-1B6F-014C-CE75-390CBB3EE7E1}"/>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2" name="Rectangle 71">
                    <a:extLst>
                      <a:ext uri="{FF2B5EF4-FFF2-40B4-BE49-F238E27FC236}">
                        <a16:creationId xmlns:a16="http://schemas.microsoft.com/office/drawing/2014/main" id="{AB32AE09-4C3C-F080-623E-7E97460FB2DE}"/>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3" name="Rectangle 72">
                    <a:extLst>
                      <a:ext uri="{FF2B5EF4-FFF2-40B4-BE49-F238E27FC236}">
                        <a16:creationId xmlns:a16="http://schemas.microsoft.com/office/drawing/2014/main" id="{3D01201D-A0A2-1E44-C962-1B30F652E76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4" name="Rectangle 73">
                    <a:extLst>
                      <a:ext uri="{FF2B5EF4-FFF2-40B4-BE49-F238E27FC236}">
                        <a16:creationId xmlns:a16="http://schemas.microsoft.com/office/drawing/2014/main" id="{E1B73ABB-336A-1089-19F2-113FB466C161}"/>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5" name="Rectangle 74">
                    <a:extLst>
                      <a:ext uri="{FF2B5EF4-FFF2-40B4-BE49-F238E27FC236}">
                        <a16:creationId xmlns:a16="http://schemas.microsoft.com/office/drawing/2014/main" id="{C613B5C7-5AED-69B0-F5B7-49A048CC9531}"/>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6" name="Rectangle 75">
                    <a:extLst>
                      <a:ext uri="{FF2B5EF4-FFF2-40B4-BE49-F238E27FC236}">
                        <a16:creationId xmlns:a16="http://schemas.microsoft.com/office/drawing/2014/main" id="{07C41829-8992-B934-8D1A-27600154B492}"/>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77" name="Rectangle 76">
                    <a:extLst>
                      <a:ext uri="{FF2B5EF4-FFF2-40B4-BE49-F238E27FC236}">
                        <a16:creationId xmlns:a16="http://schemas.microsoft.com/office/drawing/2014/main" id="{D0B09FB3-42CC-150A-43C6-B1E9F0B92F2A}"/>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8" name="Rectangle 77">
                    <a:extLst>
                      <a:ext uri="{FF2B5EF4-FFF2-40B4-BE49-F238E27FC236}">
                        <a16:creationId xmlns:a16="http://schemas.microsoft.com/office/drawing/2014/main" id="{39A58CCF-32F4-387A-F6A0-3843F8787477}"/>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9" name="Rectangle 78">
                    <a:extLst>
                      <a:ext uri="{FF2B5EF4-FFF2-40B4-BE49-F238E27FC236}">
                        <a16:creationId xmlns:a16="http://schemas.microsoft.com/office/drawing/2014/main" id="{68EBF358-977F-4CBC-2793-14CA11EEC6A7}"/>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grpSp>
            <p:grpSp>
              <p:nvGrpSpPr>
                <p:cNvPr id="17" name="Group 16">
                  <a:extLst>
                    <a:ext uri="{FF2B5EF4-FFF2-40B4-BE49-F238E27FC236}">
                      <a16:creationId xmlns:a16="http://schemas.microsoft.com/office/drawing/2014/main" id="{CE0BB471-A7CA-89CB-5220-CD7A06B9DFBA}"/>
                    </a:ext>
                  </a:extLst>
                </p:cNvPr>
                <p:cNvGrpSpPr/>
                <p:nvPr/>
              </p:nvGrpSpPr>
              <p:grpSpPr>
                <a:xfrm>
                  <a:off x="507500" y="2097603"/>
                  <a:ext cx="1143000" cy="1524000"/>
                  <a:chOff x="151783" y="2071688"/>
                  <a:chExt cx="1143000" cy="1524000"/>
                </a:xfrm>
              </p:grpSpPr>
              <p:sp>
                <p:nvSpPr>
                  <p:cNvPr id="56" name="Rectangle 55">
                    <a:extLst>
                      <a:ext uri="{FF2B5EF4-FFF2-40B4-BE49-F238E27FC236}">
                        <a16:creationId xmlns:a16="http://schemas.microsoft.com/office/drawing/2014/main" id="{99024D56-2D0D-37E5-7C6E-2ED5A1AD21E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7" name="Rectangle 56">
                    <a:extLst>
                      <a:ext uri="{FF2B5EF4-FFF2-40B4-BE49-F238E27FC236}">
                        <a16:creationId xmlns:a16="http://schemas.microsoft.com/office/drawing/2014/main" id="{B7A06D45-1535-F905-679C-DA02E5E70ABF}"/>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8" name="Rectangle 57">
                    <a:extLst>
                      <a:ext uri="{FF2B5EF4-FFF2-40B4-BE49-F238E27FC236}">
                        <a16:creationId xmlns:a16="http://schemas.microsoft.com/office/drawing/2014/main" id="{799F3E51-87E8-A003-F9D0-5A79568E1CAF}"/>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9" name="Rectangle 58">
                    <a:extLst>
                      <a:ext uri="{FF2B5EF4-FFF2-40B4-BE49-F238E27FC236}">
                        <a16:creationId xmlns:a16="http://schemas.microsoft.com/office/drawing/2014/main" id="{C7BD5A93-8CE3-8F5F-090C-C7DD23855704}"/>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0" name="Rectangle 59">
                    <a:extLst>
                      <a:ext uri="{FF2B5EF4-FFF2-40B4-BE49-F238E27FC236}">
                        <a16:creationId xmlns:a16="http://schemas.microsoft.com/office/drawing/2014/main" id="{71358AAE-4308-0E4B-E521-E5B9D9E606E0}"/>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1" name="Rectangle 60">
                    <a:extLst>
                      <a:ext uri="{FF2B5EF4-FFF2-40B4-BE49-F238E27FC236}">
                        <a16:creationId xmlns:a16="http://schemas.microsoft.com/office/drawing/2014/main" id="{412EAA14-4F09-5E3B-7564-DB20A6AFFB6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2" name="Rectangle 61">
                    <a:extLst>
                      <a:ext uri="{FF2B5EF4-FFF2-40B4-BE49-F238E27FC236}">
                        <a16:creationId xmlns:a16="http://schemas.microsoft.com/office/drawing/2014/main" id="{44E5EC01-BB2B-E060-EDA1-9A8D7617F1DA}"/>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3" name="Rectangle 62">
                    <a:extLst>
                      <a:ext uri="{FF2B5EF4-FFF2-40B4-BE49-F238E27FC236}">
                        <a16:creationId xmlns:a16="http://schemas.microsoft.com/office/drawing/2014/main" id="{FC195A79-64E6-E07D-882E-4682D7560399}"/>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4" name="Rectangle 63">
                    <a:extLst>
                      <a:ext uri="{FF2B5EF4-FFF2-40B4-BE49-F238E27FC236}">
                        <a16:creationId xmlns:a16="http://schemas.microsoft.com/office/drawing/2014/main" id="{569A29F6-8DC9-A37F-929A-869BFEAD7268}"/>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5" name="Rectangle 64">
                    <a:extLst>
                      <a:ext uri="{FF2B5EF4-FFF2-40B4-BE49-F238E27FC236}">
                        <a16:creationId xmlns:a16="http://schemas.microsoft.com/office/drawing/2014/main" id="{7ECC0DB4-C6AA-AA7A-39FD-40385DC6ECAB}"/>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6" name="Rectangle 65">
                    <a:extLst>
                      <a:ext uri="{FF2B5EF4-FFF2-40B4-BE49-F238E27FC236}">
                        <a16:creationId xmlns:a16="http://schemas.microsoft.com/office/drawing/2014/main" id="{14CF4B07-C9B6-1D94-B6BD-37A2B6EEB7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7" name="Rectangle 66">
                    <a:extLst>
                      <a:ext uri="{FF2B5EF4-FFF2-40B4-BE49-F238E27FC236}">
                        <a16:creationId xmlns:a16="http://schemas.microsoft.com/office/drawing/2014/main" id="{2D7F35EE-1D9A-FD86-8AC9-22A90F108F1F}"/>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grpSp>
            <p:grpSp>
              <p:nvGrpSpPr>
                <p:cNvPr id="18" name="Group 17">
                  <a:extLst>
                    <a:ext uri="{FF2B5EF4-FFF2-40B4-BE49-F238E27FC236}">
                      <a16:creationId xmlns:a16="http://schemas.microsoft.com/office/drawing/2014/main" id="{4E884ECF-3C7E-F758-E4A0-47904B7DDA10}"/>
                    </a:ext>
                  </a:extLst>
                </p:cNvPr>
                <p:cNvGrpSpPr/>
                <p:nvPr/>
              </p:nvGrpSpPr>
              <p:grpSpPr>
                <a:xfrm>
                  <a:off x="3909451" y="2095500"/>
                  <a:ext cx="1524000" cy="1524000"/>
                  <a:chOff x="3107359" y="2145800"/>
                  <a:chExt cx="1524000" cy="1524000"/>
                </a:xfrm>
              </p:grpSpPr>
              <p:sp>
                <p:nvSpPr>
                  <p:cNvPr id="39" name="Rectangle 38">
                    <a:extLst>
                      <a:ext uri="{FF2B5EF4-FFF2-40B4-BE49-F238E27FC236}">
                        <a16:creationId xmlns:a16="http://schemas.microsoft.com/office/drawing/2014/main" id="{63A1395F-BE2F-6ECC-AB82-C657CBB9A22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0" name="Rectangle 39">
                    <a:extLst>
                      <a:ext uri="{FF2B5EF4-FFF2-40B4-BE49-F238E27FC236}">
                        <a16:creationId xmlns:a16="http://schemas.microsoft.com/office/drawing/2014/main" id="{74D8802E-0BBA-B525-E374-CD772B5B22A6}"/>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1" name="Rectangle 40">
                    <a:extLst>
                      <a:ext uri="{FF2B5EF4-FFF2-40B4-BE49-F238E27FC236}">
                        <a16:creationId xmlns:a16="http://schemas.microsoft.com/office/drawing/2014/main" id="{A9321AB8-DDD9-2B68-0D86-C717A55230E8}"/>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2" name="Rectangle 41">
                    <a:extLst>
                      <a:ext uri="{FF2B5EF4-FFF2-40B4-BE49-F238E27FC236}">
                        <a16:creationId xmlns:a16="http://schemas.microsoft.com/office/drawing/2014/main" id="{0BDDDC71-4CC9-76C8-A410-2F7586BED029}"/>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4" name="Rectangle 43">
                    <a:extLst>
                      <a:ext uri="{FF2B5EF4-FFF2-40B4-BE49-F238E27FC236}">
                        <a16:creationId xmlns:a16="http://schemas.microsoft.com/office/drawing/2014/main" id="{ECFEF596-44F3-23D1-9C03-D453DAA1A10E}"/>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5" name="Rectangle 44">
                    <a:extLst>
                      <a:ext uri="{FF2B5EF4-FFF2-40B4-BE49-F238E27FC236}">
                        <a16:creationId xmlns:a16="http://schemas.microsoft.com/office/drawing/2014/main" id="{96F1BF7E-E9EA-6031-5D30-BE938887E882}"/>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6" name="Rectangle 45">
                    <a:extLst>
                      <a:ext uri="{FF2B5EF4-FFF2-40B4-BE49-F238E27FC236}">
                        <a16:creationId xmlns:a16="http://schemas.microsoft.com/office/drawing/2014/main" id="{6B6FE00E-F1EB-B1D3-E50D-786FA260B9B5}"/>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7" name="Rectangle 46">
                    <a:extLst>
                      <a:ext uri="{FF2B5EF4-FFF2-40B4-BE49-F238E27FC236}">
                        <a16:creationId xmlns:a16="http://schemas.microsoft.com/office/drawing/2014/main" id="{6F0B967E-4EBC-FBA9-D3C1-6F9ECF9541CF}"/>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8" name="Rectangle 47">
                    <a:extLst>
                      <a:ext uri="{FF2B5EF4-FFF2-40B4-BE49-F238E27FC236}">
                        <a16:creationId xmlns:a16="http://schemas.microsoft.com/office/drawing/2014/main" id="{55CF4C0D-F34B-FB8F-84F6-1A08DA3BCBD7}"/>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9" name="Rectangle 48">
                    <a:extLst>
                      <a:ext uri="{FF2B5EF4-FFF2-40B4-BE49-F238E27FC236}">
                        <a16:creationId xmlns:a16="http://schemas.microsoft.com/office/drawing/2014/main" id="{55C84C22-7485-BEEE-A163-BB04C8E905DE}"/>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0" name="Rectangle 49">
                    <a:extLst>
                      <a:ext uri="{FF2B5EF4-FFF2-40B4-BE49-F238E27FC236}">
                        <a16:creationId xmlns:a16="http://schemas.microsoft.com/office/drawing/2014/main" id="{B490E4AF-9B12-6ECE-9AE6-2330164AE657}"/>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1" name="Rectangle 50">
                    <a:extLst>
                      <a:ext uri="{FF2B5EF4-FFF2-40B4-BE49-F238E27FC236}">
                        <a16:creationId xmlns:a16="http://schemas.microsoft.com/office/drawing/2014/main" id="{82FCD4C7-0B4F-E271-462D-4700EE78BFFF}"/>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2" name="Rectangle 51">
                    <a:extLst>
                      <a:ext uri="{FF2B5EF4-FFF2-40B4-BE49-F238E27FC236}">
                        <a16:creationId xmlns:a16="http://schemas.microsoft.com/office/drawing/2014/main" id="{540BF186-CAE9-85D6-0466-2B731FE84E95}"/>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3" name="Rectangle 52">
                    <a:extLst>
                      <a:ext uri="{FF2B5EF4-FFF2-40B4-BE49-F238E27FC236}">
                        <a16:creationId xmlns:a16="http://schemas.microsoft.com/office/drawing/2014/main" id="{6E298451-067F-94AA-52B8-DEA060E18911}"/>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dirty="0"/>
                  </a:p>
                </p:txBody>
              </p:sp>
              <p:sp>
                <p:nvSpPr>
                  <p:cNvPr id="54" name="Rectangle 53">
                    <a:extLst>
                      <a:ext uri="{FF2B5EF4-FFF2-40B4-BE49-F238E27FC236}">
                        <a16:creationId xmlns:a16="http://schemas.microsoft.com/office/drawing/2014/main" id="{40C6E7A3-CE89-BA82-AEC1-AE994B8F4959}"/>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5" name="Rectangle 54">
                    <a:extLst>
                      <a:ext uri="{FF2B5EF4-FFF2-40B4-BE49-F238E27FC236}">
                        <a16:creationId xmlns:a16="http://schemas.microsoft.com/office/drawing/2014/main" id="{D80D398F-D0CB-55B7-2998-093263B37DC5}"/>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grpSp>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AE6AE8EA-F3A2-4429-46DA-FAD917748140}"/>
                        </a:ext>
                      </a:extLst>
                    </p:cNvPr>
                    <p:cNvSpPr txBox="1"/>
                    <p:nvPr/>
                  </p:nvSpPr>
                  <p:spPr>
                    <a:xfrm>
                      <a:off x="1676547" y="2678668"/>
                      <a:ext cx="296876"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p:sp>
                  <p:nvSpPr>
                    <p:cNvPr id="19" name="TextBox 18">
                      <a:extLst>
                        <a:ext uri="{FF2B5EF4-FFF2-40B4-BE49-F238E27FC236}">
                          <a16:creationId xmlns:a16="http://schemas.microsoft.com/office/drawing/2014/main" id="{AE6AE8EA-F3A2-4429-46DA-FAD917748140}"/>
                        </a:ext>
                      </a:extLst>
                    </p:cNvPr>
                    <p:cNvSpPr txBox="1">
                      <a:spLocks noRot="1" noChangeAspect="1" noMove="1" noResize="1" noEditPoints="1" noAdjustHandles="1" noChangeArrowheads="1" noChangeShapeType="1" noTextEdit="1"/>
                    </p:cNvSpPr>
                    <p:nvPr/>
                  </p:nvSpPr>
                  <p:spPr>
                    <a:xfrm>
                      <a:off x="1676547" y="2678668"/>
                      <a:ext cx="296876" cy="369332"/>
                    </a:xfrm>
                    <a:prstGeom prst="rect">
                      <a:avLst/>
                    </a:prstGeom>
                    <a:blipFill>
                      <a:blip r:embed="rId3"/>
                      <a:stretch>
                        <a:fillRect b="-1363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6DD7E9B2-E767-3D0E-8430-92B5D9AA07CD}"/>
                        </a:ext>
                      </a:extLst>
                    </p:cNvPr>
                    <p:cNvSpPr txBox="1"/>
                    <p:nvPr/>
                  </p:nvSpPr>
                  <p:spPr>
                    <a:xfrm>
                      <a:off x="3486727" y="2678668"/>
                      <a:ext cx="404278"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p:sp>
                  <p:nvSpPr>
                    <p:cNvPr id="20" name="TextBox 19">
                      <a:extLst>
                        <a:ext uri="{FF2B5EF4-FFF2-40B4-BE49-F238E27FC236}">
                          <a16:creationId xmlns:a16="http://schemas.microsoft.com/office/drawing/2014/main" id="{6DD7E9B2-E767-3D0E-8430-92B5D9AA07CD}"/>
                        </a:ext>
                      </a:extLst>
                    </p:cNvPr>
                    <p:cNvSpPr txBox="1">
                      <a:spLocks noRot="1" noChangeAspect="1" noMove="1" noResize="1" noEditPoints="1" noAdjustHandles="1" noChangeArrowheads="1" noChangeShapeType="1" noTextEdit="1"/>
                    </p:cNvSpPr>
                    <p:nvPr/>
                  </p:nvSpPr>
                  <p:spPr>
                    <a:xfrm>
                      <a:off x="3486727" y="2678668"/>
                      <a:ext cx="404278" cy="369332"/>
                    </a:xfrm>
                    <a:prstGeom prst="rect">
                      <a:avLst/>
                    </a:prstGeom>
                    <a:blipFill>
                      <a:blip r:embed="rId4"/>
                      <a:stretch>
                        <a:fillRect r="-6122" b="-15909"/>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592E941E-9CFD-B1A8-8E40-876A28A38091}"/>
                    </a:ext>
                  </a:extLst>
                </p:cNvPr>
                <p:cNvSpPr txBox="1"/>
                <p:nvPr/>
              </p:nvSpPr>
              <p:spPr>
                <a:xfrm>
                  <a:off x="917738" y="3618448"/>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A</a:t>
                  </a:r>
                </a:p>
              </p:txBody>
            </p:sp>
            <p:sp>
              <p:nvSpPr>
                <p:cNvPr id="24" name="TextBox 23">
                  <a:extLst>
                    <a:ext uri="{FF2B5EF4-FFF2-40B4-BE49-F238E27FC236}">
                      <a16:creationId xmlns:a16="http://schemas.microsoft.com/office/drawing/2014/main" id="{F6239C17-840D-0086-3E25-CEF991D4CFDC}"/>
                    </a:ext>
                  </a:extLst>
                </p:cNvPr>
                <p:cNvSpPr txBox="1"/>
                <p:nvPr/>
              </p:nvSpPr>
              <p:spPr>
                <a:xfrm>
                  <a:off x="2615981"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B</a:t>
                  </a:r>
                </a:p>
              </p:txBody>
            </p:sp>
            <p:sp>
              <p:nvSpPr>
                <p:cNvPr id="28" name="TextBox 27">
                  <a:extLst>
                    <a:ext uri="{FF2B5EF4-FFF2-40B4-BE49-F238E27FC236}">
                      <a16:creationId xmlns:a16="http://schemas.microsoft.com/office/drawing/2014/main" id="{A14F5966-1709-E66B-D6A8-4739C6F0CEB5}"/>
                    </a:ext>
                  </a:extLst>
                </p:cNvPr>
                <p:cNvSpPr txBox="1"/>
                <p:nvPr/>
              </p:nvSpPr>
              <p:spPr>
                <a:xfrm>
                  <a:off x="4522383"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C</a:t>
                  </a:r>
                </a:p>
              </p:txBody>
            </p:sp>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C43CE03B-E12C-3FE7-6183-56F902A74570}"/>
                        </a:ext>
                      </a:extLst>
                    </p:cNvPr>
                    <p:cNvSpPr txBox="1"/>
                    <p:nvPr/>
                  </p:nvSpPr>
                  <p:spPr>
                    <a:xfrm>
                      <a:off x="65016" y="1910834"/>
                      <a:ext cx="429092" cy="369331"/>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𝑚</m:t>
                            </m:r>
                          </m:oMath>
                        </m:oMathPara>
                      </a14:m>
                      <a:endParaRPr lang="en-US" dirty="0"/>
                    </a:p>
                  </p:txBody>
                </p:sp>
              </mc:Choice>
              <mc:Fallback>
                <p:sp>
                  <p:nvSpPr>
                    <p:cNvPr id="30" name="TextBox 29">
                      <a:extLst>
                        <a:ext uri="{FF2B5EF4-FFF2-40B4-BE49-F238E27FC236}">
                          <a16:creationId xmlns:a16="http://schemas.microsoft.com/office/drawing/2014/main" id="{C43CE03B-E12C-3FE7-6183-56F902A74570}"/>
                        </a:ext>
                      </a:extLst>
                    </p:cNvPr>
                    <p:cNvSpPr txBox="1">
                      <a:spLocks noRot="1" noChangeAspect="1" noMove="1" noResize="1" noEditPoints="1" noAdjustHandles="1" noChangeArrowheads="1" noChangeShapeType="1" noTextEdit="1"/>
                    </p:cNvSpPr>
                    <p:nvPr/>
                  </p:nvSpPr>
                  <p:spPr>
                    <a:xfrm>
                      <a:off x="65016" y="1910834"/>
                      <a:ext cx="429092" cy="369331"/>
                    </a:xfrm>
                    <a:prstGeom prst="rect">
                      <a:avLst/>
                    </a:prstGeom>
                    <a:blipFill>
                      <a:blip r:embed="rId5"/>
                      <a:stretch>
                        <a:fillRect r="-11765" b="-1777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B2318064-48CB-ADD5-6D22-6A347AFB73D4}"/>
                        </a:ext>
                      </a:extLst>
                    </p:cNvPr>
                    <p:cNvSpPr txBox="1"/>
                    <p:nvPr/>
                  </p:nvSpPr>
                  <p:spPr>
                    <a:xfrm>
                      <a:off x="857276" y="1673266"/>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p:sp>
                  <p:nvSpPr>
                    <p:cNvPr id="31" name="TextBox 30">
                      <a:extLst>
                        <a:ext uri="{FF2B5EF4-FFF2-40B4-BE49-F238E27FC236}">
                          <a16:creationId xmlns:a16="http://schemas.microsoft.com/office/drawing/2014/main" id="{B2318064-48CB-ADD5-6D22-6A347AFB73D4}"/>
                        </a:ext>
                      </a:extLst>
                    </p:cNvPr>
                    <p:cNvSpPr txBox="1">
                      <a:spLocks noRot="1" noChangeAspect="1" noMove="1" noResize="1" noEditPoints="1" noAdjustHandles="1" noChangeArrowheads="1" noChangeShapeType="1" noTextEdit="1"/>
                    </p:cNvSpPr>
                    <p:nvPr/>
                  </p:nvSpPr>
                  <p:spPr>
                    <a:xfrm>
                      <a:off x="857276" y="1673266"/>
                      <a:ext cx="368177" cy="369331"/>
                    </a:xfrm>
                    <a:prstGeom prst="rect">
                      <a:avLst/>
                    </a:prstGeom>
                    <a:blipFill>
                      <a:blip r:embed="rId6"/>
                      <a:stretch>
                        <a:fillRect r="-13636" b="-2727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56E00BB2-9768-DF4B-6D99-295C8EB36058}"/>
                        </a:ext>
                      </a:extLst>
                    </p:cNvPr>
                    <p:cNvSpPr txBox="1"/>
                    <p:nvPr/>
                  </p:nvSpPr>
                  <p:spPr>
                    <a:xfrm>
                      <a:off x="1649797" y="2060787"/>
                      <a:ext cx="368178"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p:sp>
                  <p:nvSpPr>
                    <p:cNvPr id="32" name="TextBox 31">
                      <a:extLst>
                        <a:ext uri="{FF2B5EF4-FFF2-40B4-BE49-F238E27FC236}">
                          <a16:creationId xmlns:a16="http://schemas.microsoft.com/office/drawing/2014/main" id="{56E00BB2-9768-DF4B-6D99-295C8EB36058}"/>
                        </a:ext>
                      </a:extLst>
                    </p:cNvPr>
                    <p:cNvSpPr txBox="1">
                      <a:spLocks noRot="1" noChangeAspect="1" noMove="1" noResize="1" noEditPoints="1" noAdjustHandles="1" noChangeArrowheads="1" noChangeShapeType="1" noTextEdit="1"/>
                    </p:cNvSpPr>
                    <p:nvPr/>
                  </p:nvSpPr>
                  <p:spPr>
                    <a:xfrm>
                      <a:off x="1649797" y="2060787"/>
                      <a:ext cx="368178" cy="369331"/>
                    </a:xfrm>
                    <a:prstGeom prst="rect">
                      <a:avLst/>
                    </a:prstGeom>
                    <a:blipFill>
                      <a:blip r:embed="rId7"/>
                      <a:stretch>
                        <a:fillRect r="-11111" b="-2666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96E19B0D-209B-81E1-FFD7-E6F3525EB4F7}"/>
                        </a:ext>
                      </a:extLst>
                    </p:cNvPr>
                    <p:cNvSpPr txBox="1"/>
                    <p:nvPr/>
                  </p:nvSpPr>
                  <p:spPr>
                    <a:xfrm>
                      <a:off x="2543896" y="1857933"/>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p:sp>
                  <p:nvSpPr>
                    <p:cNvPr id="34" name="TextBox 33">
                      <a:extLst>
                        <a:ext uri="{FF2B5EF4-FFF2-40B4-BE49-F238E27FC236}">
                          <a16:creationId xmlns:a16="http://schemas.microsoft.com/office/drawing/2014/main" id="{96E19B0D-209B-81E1-FFD7-E6F3525EB4F7}"/>
                        </a:ext>
                      </a:extLst>
                    </p:cNvPr>
                    <p:cNvSpPr txBox="1">
                      <a:spLocks noRot="1" noChangeAspect="1" noMove="1" noResize="1" noEditPoints="1" noAdjustHandles="1" noChangeArrowheads="1" noChangeShapeType="1" noTextEdit="1"/>
                    </p:cNvSpPr>
                    <p:nvPr/>
                  </p:nvSpPr>
                  <p:spPr>
                    <a:xfrm>
                      <a:off x="2543896" y="1857933"/>
                      <a:ext cx="368177" cy="369331"/>
                    </a:xfrm>
                    <a:prstGeom prst="rect">
                      <a:avLst/>
                    </a:prstGeom>
                    <a:blipFill>
                      <a:blip r:embed="rId8"/>
                      <a:stretch>
                        <a:fillRect r="-6818" b="-1818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5B9BD1A5-B3AE-3C81-5716-56D19271BD2F}"/>
                        </a:ext>
                      </a:extLst>
                    </p:cNvPr>
                    <p:cNvSpPr txBox="1"/>
                    <p:nvPr/>
                  </p:nvSpPr>
                  <p:spPr>
                    <a:xfrm>
                      <a:off x="3480358" y="1916667"/>
                      <a:ext cx="429092"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𝑚</m:t>
                            </m:r>
                          </m:oMath>
                        </m:oMathPara>
                      </a14:m>
                      <a:endParaRPr lang="en-US" dirty="0"/>
                    </a:p>
                  </p:txBody>
                </p:sp>
              </mc:Choice>
              <mc:Fallback>
                <p:sp>
                  <p:nvSpPr>
                    <p:cNvPr id="36" name="TextBox 35">
                      <a:extLst>
                        <a:ext uri="{FF2B5EF4-FFF2-40B4-BE49-F238E27FC236}">
                          <a16:creationId xmlns:a16="http://schemas.microsoft.com/office/drawing/2014/main" id="{5B9BD1A5-B3AE-3C81-5716-56D19271BD2F}"/>
                        </a:ext>
                      </a:extLst>
                    </p:cNvPr>
                    <p:cNvSpPr txBox="1">
                      <a:spLocks noRot="1" noChangeAspect="1" noMove="1" noResize="1" noEditPoints="1" noAdjustHandles="1" noChangeArrowheads="1" noChangeShapeType="1" noTextEdit="1"/>
                    </p:cNvSpPr>
                    <p:nvPr/>
                  </p:nvSpPr>
                  <p:spPr>
                    <a:xfrm>
                      <a:off x="3480358" y="1916667"/>
                      <a:ext cx="429092" cy="369331"/>
                    </a:xfrm>
                    <a:prstGeom prst="rect">
                      <a:avLst/>
                    </a:prstGeom>
                    <a:blipFill>
                      <a:blip r:embed="rId9"/>
                      <a:stretch>
                        <a:fillRect r="-11765" b="-1818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8" name="TextBox 37">
                      <a:extLst>
                        <a:ext uri="{FF2B5EF4-FFF2-40B4-BE49-F238E27FC236}">
                          <a16:creationId xmlns:a16="http://schemas.microsoft.com/office/drawing/2014/main" id="{957B4049-5429-535D-EEAC-3B0EB1CE0ACE}"/>
                        </a:ext>
                      </a:extLst>
                    </p:cNvPr>
                    <p:cNvSpPr txBox="1"/>
                    <p:nvPr/>
                  </p:nvSpPr>
                  <p:spPr>
                    <a:xfrm>
                      <a:off x="4439377" y="1664560"/>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p:sp>
                  <p:nvSpPr>
                    <p:cNvPr id="38" name="TextBox 37">
                      <a:extLst>
                        <a:ext uri="{FF2B5EF4-FFF2-40B4-BE49-F238E27FC236}">
                          <a16:creationId xmlns:a16="http://schemas.microsoft.com/office/drawing/2014/main" id="{957B4049-5429-535D-EEAC-3B0EB1CE0ACE}"/>
                        </a:ext>
                      </a:extLst>
                    </p:cNvPr>
                    <p:cNvSpPr txBox="1">
                      <a:spLocks noRot="1" noChangeAspect="1" noMove="1" noResize="1" noEditPoints="1" noAdjustHandles="1" noChangeArrowheads="1" noChangeShapeType="1" noTextEdit="1"/>
                    </p:cNvSpPr>
                    <p:nvPr/>
                  </p:nvSpPr>
                  <p:spPr>
                    <a:xfrm>
                      <a:off x="4439377" y="1664560"/>
                      <a:ext cx="368177" cy="369331"/>
                    </a:xfrm>
                    <a:prstGeom prst="rect">
                      <a:avLst/>
                    </a:prstGeom>
                    <a:blipFill>
                      <a:blip r:embed="rId10"/>
                      <a:stretch>
                        <a:fillRect r="-6818" b="-18182"/>
                      </a:stretch>
                    </a:blipFill>
                  </p:spPr>
                  <p:txBody>
                    <a:bodyPr/>
                    <a:lstStyle/>
                    <a:p>
                      <a:r>
                        <a:rPr lang="en-US">
                          <a:noFill/>
                        </a:rPr>
                        <a:t> </a:t>
                      </a:r>
                    </a:p>
                  </p:txBody>
                </p:sp>
              </mc:Fallback>
            </mc:AlternateContent>
          </p:grpSp>
        </p:grpSp>
        <p:sp>
          <p:nvSpPr>
            <p:cNvPr id="80" name="Rectangle 79">
              <a:extLst>
                <a:ext uri="{FF2B5EF4-FFF2-40B4-BE49-F238E27FC236}">
                  <a16:creationId xmlns:a16="http://schemas.microsoft.com/office/drawing/2014/main" id="{B67384CC-1D86-A8E9-8BEC-871F9DFAE7AA}"/>
                </a:ext>
              </a:extLst>
            </p:cNvPr>
            <p:cNvSpPr/>
            <p:nvPr/>
          </p:nvSpPr>
          <p:spPr>
            <a:xfrm>
              <a:off x="4368316" y="4351020"/>
              <a:ext cx="870602" cy="57168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797184A6-B8C9-8BE1-5775-E01C29201E1E}"/>
                </a:ext>
              </a:extLst>
            </p:cNvPr>
            <p:cNvSpPr/>
            <p:nvPr/>
          </p:nvSpPr>
          <p:spPr>
            <a:xfrm>
              <a:off x="5465795" y="4480396"/>
              <a:ext cx="558656" cy="8423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CE42996D-A7D2-C278-F257-24477D27D231}"/>
                </a:ext>
              </a:extLst>
            </p:cNvPr>
            <p:cNvSpPr/>
            <p:nvPr/>
          </p:nvSpPr>
          <p:spPr>
            <a:xfrm>
              <a:off x="6868169" y="4334624"/>
              <a:ext cx="566444" cy="58807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Title 3">
            <a:extLst>
              <a:ext uri="{FF2B5EF4-FFF2-40B4-BE49-F238E27FC236}">
                <a16:creationId xmlns:a16="http://schemas.microsoft.com/office/drawing/2014/main" id="{5EF9D386-01F8-3927-E59A-917ABFB77B04}"/>
              </a:ext>
            </a:extLst>
          </p:cNvPr>
          <p:cNvSpPr>
            <a:spLocks noGrp="1"/>
          </p:cNvSpPr>
          <p:nvPr>
            <p:ph type="title"/>
          </p:nvPr>
        </p:nvSpPr>
        <p:spPr/>
        <p:txBody>
          <a:bodyPr/>
          <a:lstStyle/>
          <a:p>
            <a:r>
              <a:rPr lang="en-US" noProof="0" dirty="0"/>
              <a:t>Traversal transformations</a:t>
            </a:r>
          </a:p>
        </p:txBody>
      </p:sp>
      <p:sp>
        <p:nvSpPr>
          <p:cNvPr id="26" name="Date Placeholder 25">
            <a:extLst>
              <a:ext uri="{FF2B5EF4-FFF2-40B4-BE49-F238E27FC236}">
                <a16:creationId xmlns:a16="http://schemas.microsoft.com/office/drawing/2014/main" id="{E5787EB7-BD3B-CCF1-8AEA-70766F875185}"/>
              </a:ext>
            </a:extLst>
          </p:cNvPr>
          <p:cNvSpPr>
            <a:spLocks noGrp="1"/>
          </p:cNvSpPr>
          <p:nvPr>
            <p:ph type="dt" sz="half" idx="10"/>
          </p:nvPr>
        </p:nvSpPr>
        <p:spPr/>
        <p:txBody>
          <a:bodyPr/>
          <a:lstStyle/>
          <a:p>
            <a:fld id="{8BB690F1-35CC-4B34-B898-A35702C2DAD5}" type="datetime1">
              <a:rPr lang="en-US" noProof="0" smtClean="0"/>
              <a:t>9/2/2026</a:t>
            </a:fld>
            <a:endParaRPr lang="en-US" noProof="0" dirty="0"/>
          </a:p>
        </p:txBody>
      </p:sp>
      <p:sp>
        <p:nvSpPr>
          <p:cNvPr id="27" name="Slide Number Placeholder 26">
            <a:extLst>
              <a:ext uri="{FF2B5EF4-FFF2-40B4-BE49-F238E27FC236}">
                <a16:creationId xmlns:a16="http://schemas.microsoft.com/office/drawing/2014/main" id="{00AA8B2A-1815-9AD2-C837-8175AEC8FFF5}"/>
              </a:ext>
            </a:extLst>
          </p:cNvPr>
          <p:cNvSpPr>
            <a:spLocks noGrp="1"/>
          </p:cNvSpPr>
          <p:nvPr>
            <p:ph type="sldNum" sz="quarter" idx="12"/>
          </p:nvPr>
        </p:nvSpPr>
        <p:spPr/>
        <p:txBody>
          <a:bodyPr/>
          <a:lstStyle/>
          <a:p>
            <a:fld id="{DA0BB241-1B5F-4309-9407-9EEA04D9598D}" type="slidenum">
              <a:rPr lang="en-US" noProof="0" smtClean="0"/>
              <a:t>8</a:t>
            </a:fld>
            <a:endParaRPr lang="en-US" noProof="0" dirty="0"/>
          </a:p>
        </p:txBody>
      </p:sp>
      <p:sp>
        <p:nvSpPr>
          <p:cNvPr id="6" name="Rectangle 5">
            <a:extLst>
              <a:ext uri="{FF2B5EF4-FFF2-40B4-BE49-F238E27FC236}">
                <a16:creationId xmlns:a16="http://schemas.microsoft.com/office/drawing/2014/main" id="{94315874-4365-BD7E-38E9-6E300532D1B0}"/>
              </a:ext>
            </a:extLst>
          </p:cNvPr>
          <p:cNvSpPr/>
          <p:nvPr/>
        </p:nvSpPr>
        <p:spPr>
          <a:xfrm>
            <a:off x="6914245" y="1534018"/>
            <a:ext cx="1383566" cy="273019"/>
          </a:xfrm>
          <a:prstGeom prst="rect">
            <a:avLst/>
          </a:prstGeom>
          <a:solidFill>
            <a:srgbClr val="969696">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0" name="Rectangle 9">
            <a:extLst>
              <a:ext uri="{FF2B5EF4-FFF2-40B4-BE49-F238E27FC236}">
                <a16:creationId xmlns:a16="http://schemas.microsoft.com/office/drawing/2014/main" id="{FD7BF336-2D6B-75E5-35D1-BB6F556A8522}"/>
              </a:ext>
            </a:extLst>
          </p:cNvPr>
          <p:cNvSpPr/>
          <p:nvPr/>
        </p:nvSpPr>
        <p:spPr>
          <a:xfrm>
            <a:off x="6914245" y="1878964"/>
            <a:ext cx="1383566" cy="273019"/>
          </a:xfrm>
          <a:prstGeom prst="rect">
            <a:avLst/>
          </a:prstGeom>
          <a:solidFill>
            <a:srgbClr val="969696">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2" name="Rectangle 11">
            <a:extLst>
              <a:ext uri="{FF2B5EF4-FFF2-40B4-BE49-F238E27FC236}">
                <a16:creationId xmlns:a16="http://schemas.microsoft.com/office/drawing/2014/main" id="{6B5E3D72-639F-DBE8-60C5-E7360CC97F9F}"/>
              </a:ext>
            </a:extLst>
          </p:cNvPr>
          <p:cNvSpPr/>
          <p:nvPr/>
        </p:nvSpPr>
        <p:spPr>
          <a:xfrm>
            <a:off x="6007392" y="2222371"/>
            <a:ext cx="1383566" cy="273019"/>
          </a:xfrm>
          <a:prstGeom prst="rect">
            <a:avLst/>
          </a:prstGeom>
          <a:solidFill>
            <a:srgbClr val="969696">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8" name="TextBox 7">
            <a:extLst>
              <a:ext uri="{FF2B5EF4-FFF2-40B4-BE49-F238E27FC236}">
                <a16:creationId xmlns:a16="http://schemas.microsoft.com/office/drawing/2014/main" id="{D8CA8669-3DF0-4485-E218-6A9F90B6F725}"/>
              </a:ext>
            </a:extLst>
          </p:cNvPr>
          <p:cNvSpPr txBox="1"/>
          <p:nvPr/>
        </p:nvSpPr>
        <p:spPr>
          <a:xfrm>
            <a:off x="2667000" y="1431917"/>
            <a:ext cx="6858000" cy="1124282"/>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hoist</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a:t>
            </a:r>
            <a:r>
              <a:rPr lang="en-US" sz="2000" b="0" noProof="0" dirty="0">
                <a:solidFill>
                  <a:srgbClr val="A31515"/>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0FCBA717-9CCC-E582-9AD5-0BD4B28E0F5A}"/>
              </a:ext>
            </a:extLst>
          </p:cNvPr>
          <p:cNvSpPr txBox="1"/>
          <p:nvPr/>
        </p:nvSpPr>
        <p:spPr>
          <a:xfrm>
            <a:off x="1498604" y="3176471"/>
            <a:ext cx="9194792" cy="1124282"/>
          </a:xfrm>
          <a:prstGeom prst="rect">
            <a:avLst/>
          </a:prstGeom>
          <a:noFill/>
          <a:ln>
            <a:solidFill>
              <a:schemeClr val="tx1"/>
            </a:solidFill>
          </a:ln>
        </p:spPr>
        <p:txBody>
          <a:bodyPr wrap="square">
            <a:spAutoFit/>
          </a:bodyPr>
          <a:lstStyle/>
          <a:p>
            <a:pPr>
              <a:lnSpc>
                <a:spcPct val="113095"/>
              </a:lnSpc>
              <a:buNone/>
            </a:pPr>
            <a:r>
              <a:rPr lang="en-US" sz="2000" dirty="0">
                <a:solidFill>
                  <a:srgbClr val="000000"/>
                </a:solidFill>
                <a:latin typeface="Fira Code" panose="020B0809050000020004" pitchFamily="49" charset="0"/>
              </a:rPr>
              <a:t>(</a:t>
            </a: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 </a:t>
            </a:r>
            <a:r>
              <a:rPr lang="en-US" sz="2000" b="1"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a:t>
            </a:r>
            <a:r>
              <a:rPr lang="en-US" sz="2000" dirty="0" err="1">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DF00CA29-CB8D-E775-A70D-52850554C362}"/>
              </a:ext>
            </a:extLst>
          </p:cNvPr>
          <p:cNvCxnSpPr>
            <a:cxnSpLocks/>
            <a:stCxn id="8" idx="2"/>
            <a:endCxn id="3" idx="0"/>
          </p:cNvCxnSpPr>
          <p:nvPr/>
        </p:nvCxnSpPr>
        <p:spPr>
          <a:xfrm>
            <a:off x="6096000" y="2556199"/>
            <a:ext cx="0" cy="620272"/>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F77E6586-7CA7-0470-44A7-FA4B38EA596E}"/>
              </a:ext>
            </a:extLst>
          </p:cNvPr>
          <p:cNvSpPr txBox="1"/>
          <p:nvPr/>
        </p:nvSpPr>
        <p:spPr>
          <a:xfrm>
            <a:off x="1498604" y="3176471"/>
            <a:ext cx="9194792" cy="1124282"/>
          </a:xfrm>
          <a:prstGeom prst="rect">
            <a:avLst/>
          </a:prstGeom>
          <a:solidFill>
            <a:schemeClr val="bg1"/>
          </a:solid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dirty="0" err="1">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Tree>
    <p:extLst>
      <p:ext uri="{BB962C8B-B14F-4D97-AF65-F5344CB8AC3E}">
        <p14:creationId xmlns:p14="http://schemas.microsoft.com/office/powerpoint/2010/main" val="382772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8" grpId="0" animBg="1"/>
      <p:bldP spid="4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ectangle 95">
            <a:extLst>
              <a:ext uri="{FF2B5EF4-FFF2-40B4-BE49-F238E27FC236}">
                <a16:creationId xmlns:a16="http://schemas.microsoft.com/office/drawing/2014/main" id="{2EF9E071-1389-EE9C-0095-6F47C9FA3FA8}"/>
              </a:ext>
            </a:extLst>
          </p:cNvPr>
          <p:cNvSpPr/>
          <p:nvPr/>
        </p:nvSpPr>
        <p:spPr>
          <a:xfrm>
            <a:off x="6365700" y="4813730"/>
            <a:ext cx="1636420" cy="326688"/>
          </a:xfrm>
          <a:prstGeom prst="rect">
            <a:avLst/>
          </a:prstGeom>
          <a:solidFill>
            <a:srgbClr val="969696">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parallelization</a:t>
            </a:r>
          </a:p>
        </p:txBody>
      </p:sp>
      <p:sp>
        <p:nvSpPr>
          <p:cNvPr id="95" name="Content Placeholder 94">
            <a:extLst>
              <a:ext uri="{FF2B5EF4-FFF2-40B4-BE49-F238E27FC236}">
                <a16:creationId xmlns:a16="http://schemas.microsoft.com/office/drawing/2014/main" id="{93C01887-40CB-9411-BE90-232F3AF5F29E}"/>
              </a:ext>
            </a:extLst>
          </p:cNvPr>
          <p:cNvSpPr>
            <a:spLocks noGrp="1"/>
          </p:cNvSpPr>
          <p:nvPr>
            <p:ph idx="1"/>
          </p:nvPr>
        </p:nvSpPr>
        <p:spPr/>
        <p:txBody>
          <a:bodyPr/>
          <a:lstStyle/>
          <a:p>
            <a:r>
              <a:rPr lang="en-US" dirty="0"/>
              <a:t>CPU</a:t>
            </a:r>
          </a:p>
          <a:p>
            <a:pPr lvl="1"/>
            <a:r>
              <a:rPr lang="en-US" dirty="0"/>
              <a:t>OpenMP</a:t>
            </a:r>
          </a:p>
          <a:p>
            <a:pPr marL="457200" lvl="1" indent="0">
              <a:buNone/>
            </a:pPr>
            <a:r>
              <a:rPr lang="en-US" dirty="0" err="1">
                <a:solidFill>
                  <a:srgbClr val="795E26"/>
                </a:solidFill>
                <a:latin typeface="Fira Code" panose="020B0809050000020004" pitchFamily="49" charset="0"/>
              </a:rPr>
              <a:t>omp_for_each</a:t>
            </a:r>
            <a:r>
              <a:rPr lang="en-US" dirty="0">
                <a:latin typeface="Fira Code" panose="020B0809050000020004" pitchFamily="49" charset="0"/>
              </a:rPr>
              <a:t>(</a:t>
            </a:r>
            <a:r>
              <a:rPr lang="en-US" dirty="0">
                <a:solidFill>
                  <a:srgbClr val="001080"/>
                </a:solidFill>
                <a:latin typeface="Fira Code" panose="020B0809050000020004" pitchFamily="49" charset="0"/>
              </a:rPr>
              <a:t>traverser</a:t>
            </a:r>
            <a:r>
              <a:rPr lang="en-US" dirty="0">
                <a:latin typeface="Fira Code" panose="020B0809050000020004" pitchFamily="49" charset="0"/>
              </a:rPr>
              <a:t>, …)</a:t>
            </a:r>
            <a:endParaRPr lang="en-US" dirty="0"/>
          </a:p>
          <a:p>
            <a:pPr lvl="1"/>
            <a:endParaRPr lang="en-US" dirty="0"/>
          </a:p>
          <a:p>
            <a:pPr lvl="1"/>
            <a:r>
              <a:rPr lang="en-US" dirty="0" err="1"/>
              <a:t>oneTBB</a:t>
            </a:r>
            <a:endParaRPr lang="en-US" dirty="0"/>
          </a:p>
          <a:p>
            <a:pPr marL="457200" lvl="1" indent="0">
              <a:buNone/>
            </a:pPr>
            <a:r>
              <a:rPr lang="en-US" dirty="0" err="1">
                <a:solidFill>
                  <a:srgbClr val="795E26"/>
                </a:solidFill>
                <a:latin typeface="Fira Code" panose="020B0809050000020004" pitchFamily="49" charset="0"/>
              </a:rPr>
              <a:t>tbb_for_each</a:t>
            </a:r>
            <a:r>
              <a:rPr lang="en-US" dirty="0">
                <a:latin typeface="Fira Code" panose="020B0809050000020004" pitchFamily="49" charset="0"/>
              </a:rPr>
              <a:t>(</a:t>
            </a:r>
            <a:r>
              <a:rPr lang="en-US" dirty="0">
                <a:solidFill>
                  <a:srgbClr val="001080"/>
                </a:solidFill>
                <a:latin typeface="Fira Code" panose="020B0809050000020004" pitchFamily="49" charset="0"/>
              </a:rPr>
              <a:t>traverser</a:t>
            </a:r>
            <a:r>
              <a:rPr lang="en-US" dirty="0">
                <a:latin typeface="Fira Code" panose="020B0809050000020004" pitchFamily="49" charset="0"/>
              </a:rPr>
              <a:t>, …)</a:t>
            </a:r>
            <a:r>
              <a:rPr lang="en-US" dirty="0"/>
              <a:t>	</a:t>
            </a:r>
          </a:p>
          <a:p>
            <a:endParaRPr lang="en-US" dirty="0"/>
          </a:p>
          <a:p>
            <a:r>
              <a:rPr lang="en-US" dirty="0"/>
              <a:t>GPU</a:t>
            </a:r>
          </a:p>
          <a:p>
            <a:pPr marL="457200" lvl="1" indent="0">
              <a:buNone/>
            </a:pPr>
            <a:r>
              <a:rPr lang="en-US" dirty="0" err="1">
                <a:solidFill>
                  <a:srgbClr val="001080"/>
                </a:solidFill>
                <a:latin typeface="Fira Code" panose="020B0809050000020004" pitchFamily="49" charset="0"/>
              </a:rPr>
              <a:t>cuda_traverser</a:t>
            </a:r>
            <a:r>
              <a:rPr lang="en-US" dirty="0">
                <a:latin typeface="Fira Code" panose="020B0809050000020004" pitchFamily="49" charset="0"/>
              </a:rPr>
              <a:t> = </a:t>
            </a:r>
            <a:r>
              <a:rPr lang="en-US" dirty="0" err="1">
                <a:solidFill>
                  <a:srgbClr val="795E26"/>
                </a:solidFill>
                <a:latin typeface="Fira Code" panose="020B0809050000020004" pitchFamily="49" charset="0"/>
              </a:rPr>
              <a:t>cuda_threads</a:t>
            </a:r>
            <a:r>
              <a:rPr lang="en-US" sz="400" dirty="0">
                <a:solidFill>
                  <a:srgbClr val="795E26"/>
                </a:solidFill>
                <a:latin typeface="Fira Code" panose="020B0809050000020004" pitchFamily="49" charset="0"/>
              </a:rPr>
              <a:t> </a:t>
            </a:r>
            <a:r>
              <a:rPr lang="en-US" dirty="0">
                <a:latin typeface="Fira Code" panose="020B0809050000020004" pitchFamily="49" charset="0"/>
              </a:rPr>
              <a:t>&lt;</a:t>
            </a:r>
            <a:r>
              <a:rPr lang="en-US" dirty="0">
                <a:solidFill>
                  <a:srgbClr val="FF0000"/>
                </a:solidFill>
                <a:latin typeface="Fira Code" panose="020B0809050000020004" pitchFamily="49" charset="0"/>
              </a:rPr>
              <a:t>'</a:t>
            </a:r>
            <a:r>
              <a:rPr lang="en-US" dirty="0" err="1">
                <a:solidFill>
                  <a:srgbClr val="FF0000"/>
                </a:solidFill>
                <a:latin typeface="Fira Code" panose="020B0809050000020004" pitchFamily="49" charset="0"/>
              </a:rPr>
              <a:t>t'</a:t>
            </a:r>
            <a:r>
              <a:rPr lang="en-US" dirty="0" err="1">
                <a:latin typeface="Fira Code" panose="020B0809050000020004" pitchFamily="49" charset="0"/>
              </a:rPr>
              <a:t>,</a:t>
            </a:r>
            <a:r>
              <a:rPr lang="en-US" dirty="0" err="1">
                <a:solidFill>
                  <a:srgbClr val="FF0000"/>
                </a:solidFill>
                <a:latin typeface="Fira Code" panose="020B0809050000020004" pitchFamily="49" charset="0"/>
              </a:rPr>
              <a:t>'b</a:t>
            </a:r>
            <a:r>
              <a:rPr lang="en-US" dirty="0">
                <a:solidFill>
                  <a:srgbClr val="FF0000"/>
                </a:solidFill>
                <a:latin typeface="Fira Code" panose="020B0809050000020004" pitchFamily="49" charset="0"/>
              </a:rPr>
              <a:t>'</a:t>
            </a:r>
            <a:r>
              <a:rPr lang="en-US" dirty="0">
                <a:latin typeface="Fira Code" panose="020B0809050000020004" pitchFamily="49" charset="0"/>
              </a:rPr>
              <a:t>&gt;</a:t>
            </a:r>
            <a:r>
              <a:rPr lang="en-US" sz="400" dirty="0">
                <a:latin typeface="Fira Code" panose="020B0809050000020004" pitchFamily="49" charset="0"/>
              </a:rPr>
              <a:t> </a:t>
            </a:r>
            <a:r>
              <a:rPr lang="en-US" dirty="0">
                <a:latin typeface="Fira Code" panose="020B0809050000020004" pitchFamily="49" charset="0"/>
              </a:rPr>
              <a:t>(</a:t>
            </a:r>
            <a:r>
              <a:rPr lang="en-US" dirty="0">
                <a:solidFill>
                  <a:srgbClr val="001080"/>
                </a:solidFill>
                <a:latin typeface="Fira Code" panose="020B0809050000020004" pitchFamily="49" charset="0"/>
              </a:rPr>
              <a:t>traverser</a:t>
            </a:r>
            <a:r>
              <a:rPr lang="en-US" dirty="0">
                <a:latin typeface="Fira Code" panose="020B0809050000020004" pitchFamily="49" charset="0"/>
              </a:rPr>
              <a:t>)</a:t>
            </a:r>
          </a:p>
          <a:p>
            <a:pPr marL="457200" lvl="1" indent="0">
              <a:buNone/>
            </a:pPr>
            <a:r>
              <a:rPr lang="en-US" dirty="0" err="1">
                <a:solidFill>
                  <a:srgbClr val="001080"/>
                </a:solidFill>
                <a:latin typeface="Fira Code" panose="020B0809050000020004" pitchFamily="49" charset="0"/>
              </a:rPr>
              <a:t>cuda_traverser</a:t>
            </a:r>
            <a:r>
              <a:rPr lang="en-US" dirty="0" err="1">
                <a:latin typeface="Fira Code" panose="020B0809050000020004" pitchFamily="49" charset="0"/>
              </a:rPr>
              <a:t>.</a:t>
            </a:r>
            <a:r>
              <a:rPr lang="en-US" dirty="0" err="1">
                <a:solidFill>
                  <a:srgbClr val="795E26"/>
                </a:solidFill>
                <a:latin typeface="Fira Code" panose="020B0809050000020004" pitchFamily="49" charset="0"/>
              </a:rPr>
              <a:t>simple_run</a:t>
            </a:r>
            <a:r>
              <a:rPr lang="en-US" dirty="0">
                <a:latin typeface="Fira Code" panose="020B0809050000020004" pitchFamily="49" charset="0"/>
              </a:rPr>
              <a:t>(…)</a:t>
            </a:r>
            <a:endParaRPr lang="en-US" dirty="0">
              <a:solidFill>
                <a:srgbClr val="001080"/>
              </a:solidFill>
              <a:latin typeface="Fira Code" panose="020B0809050000020004" pitchFamily="49" charset="0"/>
            </a:endParaRPr>
          </a:p>
        </p:txBody>
      </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noProof="0" smtClean="0"/>
              <a:t>9/2/2026</a:t>
            </a:fld>
            <a:endParaRPr lang="en-US" noProof="0" dirty="0"/>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noProof="0" smtClean="0"/>
              <a:t>9</a:t>
            </a:fld>
            <a:endParaRPr lang="en-US" noProof="0" dirty="0"/>
          </a:p>
        </p:txBody>
      </p:sp>
    </p:spTree>
    <p:extLst>
      <p:ext uri="{BB962C8B-B14F-4D97-AF65-F5344CB8AC3E}">
        <p14:creationId xmlns:p14="http://schemas.microsoft.com/office/powerpoint/2010/main" val="1117610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5">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5">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5">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noProof="0" smtClean="0"/>
              <a:t>10</a:t>
            </a:fld>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nvSpPr>
        <p:spPr>
          <a:xfrm>
            <a:off x="448183" y="2545885"/>
            <a:ext cx="2387504" cy="533827"/>
          </a:xfrm>
          <a:prstGeom prst="wedgeRoundRectCallout">
            <a:avLst>
              <a:gd name="adj1" fmla="val 59836"/>
              <a:gd name="adj2" fmla="val -43575"/>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Tile size for tiling</a:t>
            </a:r>
            <a:br>
              <a:rPr lang="en-US" dirty="0"/>
            </a:br>
            <a:endParaRPr lang="en-US"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nvSpPr>
        <p:spPr>
          <a:xfrm>
            <a:off x="3109366"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the </a:t>
            </a:r>
            <a:r>
              <a:rPr lang="en-US" b="1" noProof="0" dirty="0"/>
              <a:t>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7146805"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an </a:t>
            </a:r>
            <a:r>
              <a:rPr lang="en-US" b="1" noProof="0" dirty="0" err="1"/>
              <a:t>autotuner</a:t>
            </a:r>
            <a:r>
              <a:rPr lang="en-US" b="1" noProof="0" dirty="0"/>
              <a:t>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5032981" y="2061867"/>
            <a:ext cx="2113824" cy="690836"/>
          </a:xfrm>
          <a:prstGeom prst="leftRightArrow">
            <a:avLst>
              <a:gd name="adj1" fmla="val 41917"/>
              <a:gd name="adj2" fmla="val 5000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noProof="0"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995944" y="17730"/>
            <a:ext cx="187902" cy="596105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3" name="TextBox 12">
            <a:extLst>
              <a:ext uri="{FF2B5EF4-FFF2-40B4-BE49-F238E27FC236}">
                <a16:creationId xmlns:a16="http://schemas.microsoft.com/office/drawing/2014/main" id="{41D587DC-555E-F024-2296-A3954C42F0E6}"/>
              </a:ext>
            </a:extLst>
          </p:cNvPr>
          <p:cNvSpPr txBox="1"/>
          <p:nvPr/>
        </p:nvSpPr>
        <p:spPr>
          <a:xfrm>
            <a:off x="4150067" y="3172113"/>
            <a:ext cx="3879652" cy="400110"/>
          </a:xfrm>
          <a:prstGeom prst="rect">
            <a:avLst/>
          </a:prstGeom>
          <a:noFill/>
        </p:spPr>
        <p:txBody>
          <a:bodyPr wrap="none" rtlCol="0">
            <a:spAutoFit/>
          </a:bodyPr>
          <a:lstStyle/>
          <a:p>
            <a:pPr algn="ctr"/>
            <a:r>
              <a:rPr lang="en-US" sz="2000" noProof="0" dirty="0"/>
              <a:t>Too much boilerplate, error-prone</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nvSpPr>
        <p:spPr>
          <a:xfrm>
            <a:off x="448183" y="1811504"/>
            <a:ext cx="2470974" cy="533827"/>
          </a:xfrm>
          <a:prstGeom prst="wedgeRoundRectCallout">
            <a:avLst>
              <a:gd name="adj1" fmla="val 56729"/>
              <a:gd name="adj2" fmla="val 36187"/>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Choice of layout</a:t>
            </a:r>
          </a:p>
          <a:p>
            <a:pPr algn="ctr"/>
            <a:endParaRPr lang="en-US" dirty="0"/>
          </a:p>
        </p:txBody>
      </p:sp>
      <p:sp>
        <p:nvSpPr>
          <p:cNvPr id="14" name="Speech Bubble: Rectangle with Corners Rounded 13">
            <a:extLst>
              <a:ext uri="{FF2B5EF4-FFF2-40B4-BE49-F238E27FC236}">
                <a16:creationId xmlns:a16="http://schemas.microsoft.com/office/drawing/2014/main" id="{20CE95B9-03F1-05B9-5C53-ED658F5D3701}"/>
              </a:ext>
            </a:extLst>
          </p:cNvPr>
          <p:cNvSpPr/>
          <p:nvPr/>
        </p:nvSpPr>
        <p:spPr>
          <a:xfrm>
            <a:off x="9260629" y="1917729"/>
            <a:ext cx="2470974" cy="396321"/>
          </a:xfrm>
          <a:prstGeom prst="wedgeRoundRectCallout">
            <a:avLst>
              <a:gd name="adj1" fmla="val -55983"/>
              <a:gd name="adj2" fmla="val 35306"/>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Categorical value</a:t>
            </a:r>
          </a:p>
        </p:txBody>
      </p:sp>
      <p:sp>
        <p:nvSpPr>
          <p:cNvPr id="40" name="Speech Bubble: Rectangle with Corners Rounded 39">
            <a:extLst>
              <a:ext uri="{FF2B5EF4-FFF2-40B4-BE49-F238E27FC236}">
                <a16:creationId xmlns:a16="http://schemas.microsoft.com/office/drawing/2014/main" id="{FA9C8980-73EE-E008-CB22-42AB34A781C3}"/>
              </a:ext>
            </a:extLst>
          </p:cNvPr>
          <p:cNvSpPr/>
          <p:nvPr/>
        </p:nvSpPr>
        <p:spPr>
          <a:xfrm>
            <a:off x="9272843" y="2614639"/>
            <a:ext cx="2470974" cy="396321"/>
          </a:xfrm>
          <a:prstGeom prst="wedgeRoundRectCallout">
            <a:avLst>
              <a:gd name="adj1" fmla="val -55701"/>
              <a:gd name="adj2" fmla="val -33382"/>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Numerical value</a:t>
            </a:r>
            <a:endParaRPr lang="en-US" dirty="0">
              <a:effectLst/>
            </a:endParaRPr>
          </a:p>
        </p:txBody>
      </p:sp>
      <p:sp>
        <p:nvSpPr>
          <p:cNvPr id="12" name="TextBox 11">
            <a:extLst>
              <a:ext uri="{FF2B5EF4-FFF2-40B4-BE49-F238E27FC236}">
                <a16:creationId xmlns:a16="http://schemas.microsoft.com/office/drawing/2014/main" id="{2BC01B5D-4669-EF57-53C5-76363EAAF56F}"/>
              </a:ext>
            </a:extLst>
          </p:cNvPr>
          <p:cNvSpPr txBox="1"/>
          <p:nvPr/>
        </p:nvSpPr>
        <p:spPr>
          <a:xfrm>
            <a:off x="448183" y="2012058"/>
            <a:ext cx="2446546" cy="369332"/>
          </a:xfrm>
          <a:prstGeom prst="rect">
            <a:avLst/>
          </a:prstGeom>
          <a:noFill/>
        </p:spPr>
        <p:txBody>
          <a:bodyPr wrap="square">
            <a:spAutoFit/>
          </a:bodyPr>
          <a:lstStyle/>
          <a:p>
            <a:pPr algn="ctr"/>
            <a:r>
              <a:rPr lang="en-US" sz="1800" dirty="0">
                <a:latin typeface="Fira Code" panose="020B0809050000020004" pitchFamily="49" charset="0"/>
                <a:ea typeface="Fira Code" panose="020B0809050000020004" pitchFamily="49" charset="0"/>
                <a:cs typeface="Fira Code" panose="020B0809050000020004" pitchFamily="49" charset="0"/>
              </a:rPr>
              <a:t>#if CHOICE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800" dirty="0">
                <a:latin typeface="Fira Code" panose="020B0809050000020004" pitchFamily="49" charset="0"/>
                <a:ea typeface="Fira Code" panose="020B0809050000020004" pitchFamily="49" charset="0"/>
                <a:cs typeface="Fira Code" panose="020B0809050000020004" pitchFamily="49" charset="0"/>
              </a:rPr>
              <a:t>= 1</a:t>
            </a:r>
          </a:p>
        </p:txBody>
      </p:sp>
      <p:sp>
        <p:nvSpPr>
          <p:cNvPr id="24" name="TextBox 23">
            <a:extLst>
              <a:ext uri="{FF2B5EF4-FFF2-40B4-BE49-F238E27FC236}">
                <a16:creationId xmlns:a16="http://schemas.microsoft.com/office/drawing/2014/main" id="{77BB89F9-EDA8-A4C1-2332-B3536B1F2FB3}"/>
              </a:ext>
            </a:extLst>
          </p:cNvPr>
          <p:cNvSpPr txBox="1"/>
          <p:nvPr/>
        </p:nvSpPr>
        <p:spPr>
          <a:xfrm>
            <a:off x="448183" y="2752703"/>
            <a:ext cx="2446546" cy="369332"/>
          </a:xfrm>
          <a:prstGeom prst="rect">
            <a:avLst/>
          </a:prstGeom>
          <a:noFill/>
        </p:spPr>
        <p:txBody>
          <a:bodyPr wrap="square">
            <a:spAutoFit/>
          </a:bodyPr>
          <a:lstStyle/>
          <a:p>
            <a:pPr algn="ctr"/>
            <a:r>
              <a:rPr lang="en-US" dirty="0"/>
              <a:t>I += TILE_SIZE</a:t>
            </a:r>
            <a:endParaRPr lang="en-US" sz="1800" dirty="0">
              <a:latin typeface="Fira Code" panose="020B0809050000020004" pitchFamily="49" charset="0"/>
              <a:ea typeface="Fira Code" panose="020B0809050000020004" pitchFamily="49" charset="0"/>
              <a:cs typeface="Fira Code" panose="020B0809050000020004" pitchFamily="49" charset="0"/>
            </a:endParaRPr>
          </a:p>
        </p:txBody>
      </p:sp>
    </p:spTree>
    <p:extLst>
      <p:ext uri="{BB962C8B-B14F-4D97-AF65-F5344CB8AC3E}">
        <p14:creationId xmlns:p14="http://schemas.microsoft.com/office/powerpoint/2010/main" val="189335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4" grpId="0" animBg="1"/>
      <p:bldP spid="6" grpId="0" animBg="1"/>
      <p:bldP spid="8" grpId="0" animBg="1"/>
      <p:bldP spid="11" grpId="0" animBg="1"/>
      <p:bldP spid="13" grpId="0"/>
      <p:bldP spid="10" grpId="0" animBg="1"/>
      <p:bldP spid="14" grpId="0" animBg="1"/>
      <p:bldP spid="40" grpId="0" animBg="1"/>
      <p:bldP spid="12" grpId="0"/>
      <p:bldP spid="24"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7F248C6C-35FD-2FEA-9242-821C217B844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D7FB453-EC7A-D91F-E119-90F829C062FE}"/>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BA534CF3-92A6-3AD8-EC33-C0E5B76AC7F1}"/>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2962939" y="4275380"/>
            <a:ext cx="5573788" cy="2582620"/>
          </a:xfrm>
          <a:prstGeom prst="rect">
            <a:avLst/>
          </a:prstGeom>
        </p:spPr>
      </p:pic>
      <p:pic>
        <p:nvPicPr>
          <p:cNvPr id="17" name="Picture 16" descr="OpenTuner - An extensible framework for program autotuning">
            <a:extLst>
              <a:ext uri="{FF2B5EF4-FFF2-40B4-BE49-F238E27FC236}">
                <a16:creationId xmlns:a16="http://schemas.microsoft.com/office/drawing/2014/main" id="{FE3C7D25-A0C7-30BA-2165-6EA2D87D81BB}"/>
              </a:ext>
            </a:extLst>
          </p:cNvPr>
          <p:cNvPicPr>
            <a:picLocks noChangeAspect="1"/>
          </p:cNvPicPr>
          <p:nvPr/>
        </p:nvPicPr>
        <p:blipFill>
          <a:blip r:embed="rId4"/>
          <a:stretch>
            <a:fillRect/>
          </a:stretch>
        </p:blipFill>
        <p:spPr>
          <a:xfrm>
            <a:off x="9068399" y="5485816"/>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276F9629-B02B-A507-E094-FF65209AF28B}"/>
              </a:ext>
            </a:extLst>
          </p:cNvPr>
          <p:cNvPicPr>
            <a:picLocks noChangeAspect="1"/>
          </p:cNvPicPr>
          <p:nvPr/>
        </p:nvPicPr>
        <p:blipFill>
          <a:blip r:embed="rId5"/>
          <a:stretch>
            <a:fillRect/>
          </a:stretch>
        </p:blipFill>
        <p:spPr>
          <a:xfrm>
            <a:off x="9315748" y="4521033"/>
            <a:ext cx="2455817" cy="515722"/>
          </a:xfrm>
          <a:prstGeom prst="rect">
            <a:avLst/>
          </a:prstGeom>
        </p:spPr>
      </p:pic>
      <p:pic>
        <p:nvPicPr>
          <p:cNvPr id="19" name="Picture 18" descr="Auto-Tuning Framework (ATF) · GitHub">
            <a:extLst>
              <a:ext uri="{FF2B5EF4-FFF2-40B4-BE49-F238E27FC236}">
                <a16:creationId xmlns:a16="http://schemas.microsoft.com/office/drawing/2014/main" id="{C5F993FA-C874-B590-DD09-C0C58ACA9323}"/>
              </a:ext>
            </a:extLst>
          </p:cNvPr>
          <p:cNvPicPr>
            <a:picLocks noChangeAspect="1"/>
          </p:cNvPicPr>
          <p:nvPr/>
        </p:nvPicPr>
        <p:blipFill>
          <a:blip r:embed="rId6"/>
          <a:srcRect/>
          <a:stretch>
            <a:fillRect/>
          </a:stretch>
        </p:blipFill>
        <p:spPr>
          <a:xfrm>
            <a:off x="9523323" y="3265015"/>
            <a:ext cx="1099238" cy="1099238"/>
          </a:xfrm>
          <a:prstGeom prst="rect">
            <a:avLst/>
          </a:prstGeom>
        </p:spPr>
      </p:pic>
      <p:sp>
        <p:nvSpPr>
          <p:cNvPr id="2" name="Date Placeholder 1">
            <a:extLst>
              <a:ext uri="{FF2B5EF4-FFF2-40B4-BE49-F238E27FC236}">
                <a16:creationId xmlns:a16="http://schemas.microsoft.com/office/drawing/2014/main" id="{28B895D9-C1B5-7C62-7214-2B741688C85D}"/>
              </a:ext>
            </a:extLst>
          </p:cNvPr>
          <p:cNvSpPr>
            <a:spLocks noGrp="1"/>
          </p:cNvSpPr>
          <p:nvPr>
            <p:ph type="dt" sz="half" idx="10"/>
          </p:nvPr>
        </p:nvSpPr>
        <p:spPr/>
        <p:txBody>
          <a:bodyPr/>
          <a:lstStyle/>
          <a:p>
            <a:fld id="{B7D82220-9CE2-4BC9-B6C9-7A7531EEF273}"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B3EF265E-E404-43CC-D6E4-8A6E2C58BC68}"/>
              </a:ext>
            </a:extLst>
          </p:cNvPr>
          <p:cNvSpPr>
            <a:spLocks noGrp="1"/>
          </p:cNvSpPr>
          <p:nvPr>
            <p:ph type="sldNum" sz="quarter" idx="12"/>
          </p:nvPr>
        </p:nvSpPr>
        <p:spPr/>
        <p:txBody>
          <a:bodyPr/>
          <a:lstStyle/>
          <a:p>
            <a:fld id="{DA0BB241-1B5F-4309-9407-9EEA04D9598D}" type="slidenum">
              <a:rPr lang="en-US" noProof="0" smtClean="0"/>
              <a:t>11</a:t>
            </a:fld>
            <a:endParaRPr lang="en-US" noProof="0" dirty="0"/>
          </a:p>
        </p:txBody>
      </p:sp>
      <p:cxnSp>
        <p:nvCxnSpPr>
          <p:cNvPr id="21" name="Straight Arrow Connector 20">
            <a:extLst>
              <a:ext uri="{FF2B5EF4-FFF2-40B4-BE49-F238E27FC236}">
                <a16:creationId xmlns:a16="http://schemas.microsoft.com/office/drawing/2014/main" id="{080E3B3C-6DC3-23E1-F613-5CB890D9FCC4}"/>
              </a:ext>
            </a:extLst>
          </p:cNvPr>
          <p:cNvCxnSpPr>
            <a:endCxn id="19" idx="1"/>
          </p:cNvCxnSpPr>
          <p:nvPr/>
        </p:nvCxnSpPr>
        <p:spPr>
          <a:xfrm flipV="1">
            <a:off x="8306382" y="3814634"/>
            <a:ext cx="1216941" cy="9044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2A3FB999-0F83-3972-3202-236033B9D716}"/>
              </a:ext>
            </a:extLst>
          </p:cNvPr>
          <p:cNvCxnSpPr>
            <a:cxnSpLocks/>
            <a:endCxn id="18" idx="1"/>
          </p:cNvCxnSpPr>
          <p:nvPr/>
        </p:nvCxnSpPr>
        <p:spPr>
          <a:xfrm>
            <a:off x="8306382" y="4719065"/>
            <a:ext cx="1009366" cy="598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AB5D227-F743-8DE9-B931-2D340212DED2}"/>
              </a:ext>
            </a:extLst>
          </p:cNvPr>
          <p:cNvCxnSpPr>
            <a:endCxn id="17" idx="1"/>
          </p:cNvCxnSpPr>
          <p:nvPr/>
        </p:nvCxnSpPr>
        <p:spPr>
          <a:xfrm>
            <a:off x="8306382" y="4719065"/>
            <a:ext cx="762017" cy="11879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Flowchart: Process 3">
            <a:extLst>
              <a:ext uri="{FF2B5EF4-FFF2-40B4-BE49-F238E27FC236}">
                <a16:creationId xmlns:a16="http://schemas.microsoft.com/office/drawing/2014/main" id="{FBA1CFD1-FB44-81BF-1ADF-47112A3D7FF6}"/>
              </a:ext>
            </a:extLst>
          </p:cNvPr>
          <p:cNvSpPr/>
          <p:nvPr/>
        </p:nvSpPr>
        <p:spPr>
          <a:xfrm>
            <a:off x="3109366"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the </a:t>
            </a:r>
            <a:r>
              <a:rPr lang="en-US" b="1" noProof="0" dirty="0"/>
              <a:t>application</a:t>
            </a:r>
          </a:p>
        </p:txBody>
      </p:sp>
      <p:sp>
        <p:nvSpPr>
          <p:cNvPr id="6" name="Flowchart: Process 5">
            <a:extLst>
              <a:ext uri="{FF2B5EF4-FFF2-40B4-BE49-F238E27FC236}">
                <a16:creationId xmlns:a16="http://schemas.microsoft.com/office/drawing/2014/main" id="{AD0AEC91-112C-8989-20C4-BC559402C9AD}"/>
              </a:ext>
            </a:extLst>
          </p:cNvPr>
          <p:cNvSpPr/>
          <p:nvPr/>
        </p:nvSpPr>
        <p:spPr>
          <a:xfrm>
            <a:off x="7146805"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an </a:t>
            </a:r>
            <a:r>
              <a:rPr lang="en-US" b="1" noProof="0" dirty="0" err="1"/>
              <a:t>autotuner</a:t>
            </a:r>
            <a:r>
              <a:rPr lang="en-US" b="1" noProof="0" dirty="0"/>
              <a:t> script</a:t>
            </a:r>
          </a:p>
        </p:txBody>
      </p:sp>
      <p:sp>
        <p:nvSpPr>
          <p:cNvPr id="8" name="Arrow: Left-Right 7">
            <a:extLst>
              <a:ext uri="{FF2B5EF4-FFF2-40B4-BE49-F238E27FC236}">
                <a16:creationId xmlns:a16="http://schemas.microsoft.com/office/drawing/2014/main" id="{DA55191F-C77E-4F09-69FB-19C0FE86ABB6}"/>
              </a:ext>
            </a:extLst>
          </p:cNvPr>
          <p:cNvSpPr/>
          <p:nvPr/>
        </p:nvSpPr>
        <p:spPr>
          <a:xfrm>
            <a:off x="5032981" y="2061867"/>
            <a:ext cx="2113824" cy="690836"/>
          </a:xfrm>
          <a:prstGeom prst="leftRightArrow">
            <a:avLst>
              <a:gd name="adj1" fmla="val 41917"/>
              <a:gd name="adj2" fmla="val 5000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noProof="0" dirty="0"/>
              <a:t>Communication</a:t>
            </a:r>
          </a:p>
        </p:txBody>
      </p:sp>
      <p:sp>
        <p:nvSpPr>
          <p:cNvPr id="11" name="Right Brace 10">
            <a:extLst>
              <a:ext uri="{FF2B5EF4-FFF2-40B4-BE49-F238E27FC236}">
                <a16:creationId xmlns:a16="http://schemas.microsoft.com/office/drawing/2014/main" id="{32788D0A-1D00-5F57-DCF3-DC56CB817279}"/>
              </a:ext>
            </a:extLst>
          </p:cNvPr>
          <p:cNvSpPr/>
          <p:nvPr/>
        </p:nvSpPr>
        <p:spPr>
          <a:xfrm rot="5400000">
            <a:off x="5995944" y="17730"/>
            <a:ext cx="187902" cy="596105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3" name="TextBox 12">
            <a:extLst>
              <a:ext uri="{FF2B5EF4-FFF2-40B4-BE49-F238E27FC236}">
                <a16:creationId xmlns:a16="http://schemas.microsoft.com/office/drawing/2014/main" id="{7E483B54-C45F-0098-17F3-FEF97A194FD7}"/>
              </a:ext>
            </a:extLst>
          </p:cNvPr>
          <p:cNvSpPr txBox="1"/>
          <p:nvPr/>
        </p:nvSpPr>
        <p:spPr>
          <a:xfrm>
            <a:off x="4150067" y="3172113"/>
            <a:ext cx="3879652" cy="400110"/>
          </a:xfrm>
          <a:prstGeom prst="rect">
            <a:avLst/>
          </a:prstGeom>
          <a:noFill/>
        </p:spPr>
        <p:txBody>
          <a:bodyPr wrap="none" rtlCol="0">
            <a:spAutoFit/>
          </a:bodyPr>
          <a:lstStyle/>
          <a:p>
            <a:pPr algn="ctr"/>
            <a:r>
              <a:rPr lang="en-US" sz="2000" noProof="0" dirty="0"/>
              <a:t>Too much boilerplate, error-prone</a:t>
            </a:r>
          </a:p>
        </p:txBody>
      </p:sp>
      <p:sp>
        <p:nvSpPr>
          <p:cNvPr id="15" name="Arrow: Down 14">
            <a:extLst>
              <a:ext uri="{FF2B5EF4-FFF2-40B4-BE49-F238E27FC236}">
                <a16:creationId xmlns:a16="http://schemas.microsoft.com/office/drawing/2014/main" id="{71F4EF2F-6E0C-390A-B96B-78A98DF8198D}"/>
              </a:ext>
            </a:extLst>
          </p:cNvPr>
          <p:cNvSpPr/>
          <p:nvPr/>
        </p:nvSpPr>
        <p:spPr>
          <a:xfrm>
            <a:off x="5590231" y="3664580"/>
            <a:ext cx="1099238" cy="670577"/>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noProof="0" dirty="0"/>
          </a:p>
        </p:txBody>
      </p:sp>
      <p:sp>
        <p:nvSpPr>
          <p:cNvPr id="20" name="TextBox 19">
            <a:extLst>
              <a:ext uri="{FF2B5EF4-FFF2-40B4-BE49-F238E27FC236}">
                <a16:creationId xmlns:a16="http://schemas.microsoft.com/office/drawing/2014/main" id="{21D9C4A4-9547-55DA-3089-374CEE7F784A}"/>
              </a:ext>
            </a:extLst>
          </p:cNvPr>
          <p:cNvSpPr txBox="1"/>
          <p:nvPr/>
        </p:nvSpPr>
        <p:spPr>
          <a:xfrm>
            <a:off x="565484" y="4275380"/>
            <a:ext cx="2861454" cy="408623"/>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dirty="0"/>
              <a:t>Parameters specified once</a:t>
            </a:r>
          </a:p>
        </p:txBody>
      </p:sp>
      <p:cxnSp>
        <p:nvCxnSpPr>
          <p:cNvPr id="27" name="Straight Connector 26">
            <a:extLst>
              <a:ext uri="{FF2B5EF4-FFF2-40B4-BE49-F238E27FC236}">
                <a16:creationId xmlns:a16="http://schemas.microsoft.com/office/drawing/2014/main" id="{D3BA2628-9E75-68E1-5FDB-1B2501B5D07A}"/>
              </a:ext>
            </a:extLst>
          </p:cNvPr>
          <p:cNvCxnSpPr>
            <a:endCxn id="20" idx="2"/>
          </p:cNvCxnSpPr>
          <p:nvPr/>
        </p:nvCxnSpPr>
        <p:spPr>
          <a:xfrm flipH="1" flipV="1">
            <a:off x="1996211" y="4684003"/>
            <a:ext cx="966728" cy="670050"/>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3488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391B7BB-BC4C-DBA7-B522-2D603B3BF5B1}"/>
              </a:ext>
            </a:extLst>
          </p:cNvPr>
          <p:cNvPicPr>
            <a:picLocks noChangeAspect="1"/>
          </p:cNvPicPr>
          <p:nvPr/>
        </p:nvPicPr>
        <p:blipFill>
          <a:blip r:embed="rId3"/>
          <a:stretch>
            <a:fillRect/>
          </a:stretch>
        </p:blipFill>
        <p:spPr>
          <a:xfrm>
            <a:off x="1984829" y="859520"/>
            <a:ext cx="8222343" cy="5138960"/>
          </a:xfrm>
          <a:prstGeom prst="rect">
            <a:avLst/>
          </a:prstGeom>
        </p:spPr>
      </p:pic>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Results</a:t>
            </a:r>
          </a:p>
        </p:txBody>
      </p:sp>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noProof="0" smtClean="0"/>
              <a:t>12</a:t>
            </a:fld>
            <a:endParaRPr lang="en-US" noProof="0" dirty="0"/>
          </a:p>
        </p:txBody>
      </p:sp>
      <p:sp>
        <p:nvSpPr>
          <p:cNvPr id="6" name="TextBox 5">
            <a:extLst>
              <a:ext uri="{FF2B5EF4-FFF2-40B4-BE49-F238E27FC236}">
                <a16:creationId xmlns:a16="http://schemas.microsoft.com/office/drawing/2014/main" id="{C48EE12D-A54F-6CFD-63D4-ED8425AA5254}"/>
              </a:ext>
            </a:extLst>
          </p:cNvPr>
          <p:cNvSpPr txBox="1"/>
          <p:nvPr/>
        </p:nvSpPr>
        <p:spPr>
          <a:xfrm>
            <a:off x="5072322" y="5946583"/>
            <a:ext cx="2047355" cy="461665"/>
          </a:xfrm>
          <a:prstGeom prst="rect">
            <a:avLst/>
          </a:prstGeom>
          <a:noFill/>
        </p:spPr>
        <p:txBody>
          <a:bodyPr wrap="none" rtlCol="0">
            <a:spAutoFit/>
          </a:bodyPr>
          <a:lstStyle/>
          <a:p>
            <a:r>
              <a:rPr lang="en-US" sz="2400" noProof="0" dirty="0"/>
              <a:t>Serial runtime</a:t>
            </a:r>
          </a:p>
        </p:txBody>
      </p:sp>
      <p:sp>
        <p:nvSpPr>
          <p:cNvPr id="10" name="TextBox 9">
            <a:extLst>
              <a:ext uri="{FF2B5EF4-FFF2-40B4-BE49-F238E27FC236}">
                <a16:creationId xmlns:a16="http://schemas.microsoft.com/office/drawing/2014/main" id="{5C94ADD4-4CFC-E812-3B36-B6402C655DF5}"/>
              </a:ext>
            </a:extLst>
          </p:cNvPr>
          <p:cNvSpPr txBox="1"/>
          <p:nvPr/>
        </p:nvSpPr>
        <p:spPr>
          <a:xfrm>
            <a:off x="4944848" y="365125"/>
            <a:ext cx="2302302" cy="461665"/>
          </a:xfrm>
          <a:prstGeom prst="rect">
            <a:avLst/>
          </a:prstGeom>
          <a:noFill/>
        </p:spPr>
        <p:txBody>
          <a:bodyPr wrap="square" rtlCol="0">
            <a:spAutoFit/>
          </a:bodyPr>
          <a:lstStyle/>
          <a:p>
            <a:pPr algn="ctr"/>
            <a:r>
              <a:rPr lang="en-US" sz="2400" noProof="0" dirty="0" err="1"/>
              <a:t>PolyBench</a:t>
            </a:r>
            <a:r>
              <a:rPr lang="en-US" sz="2400" noProof="0" dirty="0"/>
              <a:t>/C</a:t>
            </a:r>
          </a:p>
        </p:txBody>
      </p:sp>
    </p:spTree>
    <p:extLst>
      <p:ext uri="{BB962C8B-B14F-4D97-AF65-F5344CB8AC3E}">
        <p14:creationId xmlns:p14="http://schemas.microsoft.com/office/powerpoint/2010/main" val="522048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84B52-9DD9-A429-012A-A49C5D8EA8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004940-8761-D376-5D89-223EF87A2B46}"/>
              </a:ext>
            </a:extLst>
          </p:cNvPr>
          <p:cNvSpPr>
            <a:spLocks noGrp="1"/>
          </p:cNvSpPr>
          <p:nvPr>
            <p:ph type="title"/>
          </p:nvPr>
        </p:nvSpPr>
        <p:spPr/>
        <p:txBody>
          <a:bodyPr/>
          <a:lstStyle/>
          <a:p>
            <a:r>
              <a:rPr lang="en-US" noProof="0" dirty="0"/>
              <a:t>Results</a:t>
            </a:r>
          </a:p>
        </p:txBody>
      </p:sp>
      <p:sp>
        <p:nvSpPr>
          <p:cNvPr id="3" name="Date Placeholder 2">
            <a:extLst>
              <a:ext uri="{FF2B5EF4-FFF2-40B4-BE49-F238E27FC236}">
                <a16:creationId xmlns:a16="http://schemas.microsoft.com/office/drawing/2014/main" id="{4FFBC0BB-6204-6A99-7FFA-79E9F93FE637}"/>
              </a:ext>
            </a:extLst>
          </p:cNvPr>
          <p:cNvSpPr>
            <a:spLocks noGrp="1"/>
          </p:cNvSpPr>
          <p:nvPr>
            <p:ph type="dt" sz="half" idx="10"/>
          </p:nvPr>
        </p:nvSpPr>
        <p:spPr/>
        <p:txBody>
          <a:bodyPr/>
          <a:lstStyle/>
          <a:p>
            <a:fld id="{1A21DD6E-5048-4D3D-823A-657D259BCC38}"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B837290D-EEA3-A479-2D49-8B742B58976D}"/>
              </a:ext>
            </a:extLst>
          </p:cNvPr>
          <p:cNvSpPr>
            <a:spLocks noGrp="1"/>
          </p:cNvSpPr>
          <p:nvPr>
            <p:ph type="sldNum" sz="quarter" idx="12"/>
          </p:nvPr>
        </p:nvSpPr>
        <p:spPr/>
        <p:txBody>
          <a:bodyPr/>
          <a:lstStyle/>
          <a:p>
            <a:fld id="{DA0BB241-1B5F-4309-9407-9EEA04D9598D}" type="slidenum">
              <a:rPr lang="en-US" noProof="0" smtClean="0"/>
              <a:t>13</a:t>
            </a:fld>
            <a:endParaRPr lang="en-US" noProof="0" dirty="0"/>
          </a:p>
        </p:txBody>
      </p:sp>
      <p:sp>
        <p:nvSpPr>
          <p:cNvPr id="10" name="TextBox 9">
            <a:extLst>
              <a:ext uri="{FF2B5EF4-FFF2-40B4-BE49-F238E27FC236}">
                <a16:creationId xmlns:a16="http://schemas.microsoft.com/office/drawing/2014/main" id="{8F4ACCF0-5C1C-5E73-7132-0B2A17F92827}"/>
              </a:ext>
            </a:extLst>
          </p:cNvPr>
          <p:cNvSpPr txBox="1"/>
          <p:nvPr/>
        </p:nvSpPr>
        <p:spPr>
          <a:xfrm>
            <a:off x="3695213" y="1134007"/>
            <a:ext cx="2127171" cy="461665"/>
          </a:xfrm>
          <a:prstGeom prst="rect">
            <a:avLst/>
          </a:prstGeom>
          <a:noFill/>
        </p:spPr>
        <p:txBody>
          <a:bodyPr wrap="square" rtlCol="0">
            <a:spAutoFit/>
          </a:bodyPr>
          <a:lstStyle/>
          <a:p>
            <a:pPr algn="ctr"/>
            <a:r>
              <a:rPr lang="en-US" sz="2400" noProof="0" dirty="0" err="1"/>
              <a:t>PolyBench</a:t>
            </a:r>
            <a:r>
              <a:rPr lang="en-US" sz="2400" noProof="0" dirty="0"/>
              <a:t>/C</a:t>
            </a:r>
          </a:p>
        </p:txBody>
      </p:sp>
      <p:sp>
        <p:nvSpPr>
          <p:cNvPr id="11" name="Right Brace 10">
            <a:extLst>
              <a:ext uri="{FF2B5EF4-FFF2-40B4-BE49-F238E27FC236}">
                <a16:creationId xmlns:a16="http://schemas.microsoft.com/office/drawing/2014/main" id="{A39CFA25-A759-FD09-8613-F03A145A7D85}"/>
              </a:ext>
            </a:extLst>
          </p:cNvPr>
          <p:cNvSpPr/>
          <p:nvPr/>
        </p:nvSpPr>
        <p:spPr>
          <a:xfrm rot="16200000">
            <a:off x="4663077" y="-1118335"/>
            <a:ext cx="191445" cy="554068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9" name="Picture 8">
            <a:extLst>
              <a:ext uri="{FF2B5EF4-FFF2-40B4-BE49-F238E27FC236}">
                <a16:creationId xmlns:a16="http://schemas.microsoft.com/office/drawing/2014/main" id="{D61DA4FA-2AF0-0F8F-FB51-4B45F895D17D}"/>
              </a:ext>
            </a:extLst>
          </p:cNvPr>
          <p:cNvPicPr>
            <a:picLocks noChangeAspect="1"/>
          </p:cNvPicPr>
          <p:nvPr/>
        </p:nvPicPr>
        <p:blipFill>
          <a:blip r:embed="rId3"/>
          <a:stretch>
            <a:fillRect/>
          </a:stretch>
        </p:blipFill>
        <p:spPr>
          <a:xfrm>
            <a:off x="1377582" y="1747731"/>
            <a:ext cx="2599332" cy="4417175"/>
          </a:xfrm>
          <a:prstGeom prst="rect">
            <a:avLst/>
          </a:prstGeom>
        </p:spPr>
      </p:pic>
      <p:pic>
        <p:nvPicPr>
          <p:cNvPr id="12" name="Picture 11">
            <a:extLst>
              <a:ext uri="{FF2B5EF4-FFF2-40B4-BE49-F238E27FC236}">
                <a16:creationId xmlns:a16="http://schemas.microsoft.com/office/drawing/2014/main" id="{D6CEF4D3-5BA9-BD97-BEB4-6E66A3F6E546}"/>
              </a:ext>
            </a:extLst>
          </p:cNvPr>
          <p:cNvPicPr>
            <a:picLocks noChangeAspect="1"/>
          </p:cNvPicPr>
          <p:nvPr/>
        </p:nvPicPr>
        <p:blipFill>
          <a:blip r:embed="rId4"/>
          <a:stretch>
            <a:fillRect/>
          </a:stretch>
        </p:blipFill>
        <p:spPr>
          <a:xfrm>
            <a:off x="4929810" y="1747731"/>
            <a:ext cx="2599332" cy="4417173"/>
          </a:xfrm>
          <a:prstGeom prst="rect">
            <a:avLst/>
          </a:prstGeom>
        </p:spPr>
      </p:pic>
      <p:pic>
        <p:nvPicPr>
          <p:cNvPr id="13" name="Picture 12">
            <a:extLst>
              <a:ext uri="{FF2B5EF4-FFF2-40B4-BE49-F238E27FC236}">
                <a16:creationId xmlns:a16="http://schemas.microsoft.com/office/drawing/2014/main" id="{1929BE2B-B750-862E-E7F8-E5055850943F}"/>
              </a:ext>
            </a:extLst>
          </p:cNvPr>
          <p:cNvPicPr>
            <a:picLocks noChangeAspect="1"/>
          </p:cNvPicPr>
          <p:nvPr/>
        </p:nvPicPr>
        <p:blipFill>
          <a:blip r:embed="rId5"/>
          <a:stretch>
            <a:fillRect/>
          </a:stretch>
        </p:blipFill>
        <p:spPr>
          <a:xfrm>
            <a:off x="8215088" y="1751360"/>
            <a:ext cx="2599330" cy="4417170"/>
          </a:xfrm>
          <a:prstGeom prst="rect">
            <a:avLst/>
          </a:prstGeom>
        </p:spPr>
      </p:pic>
      <p:sp>
        <p:nvSpPr>
          <p:cNvPr id="14" name="TextBox 13">
            <a:extLst>
              <a:ext uri="{FF2B5EF4-FFF2-40B4-BE49-F238E27FC236}">
                <a16:creationId xmlns:a16="http://schemas.microsoft.com/office/drawing/2014/main" id="{F6688653-755E-3CE2-5C89-C6F464C4D86D}"/>
              </a:ext>
            </a:extLst>
          </p:cNvPr>
          <p:cNvSpPr txBox="1"/>
          <p:nvPr/>
        </p:nvSpPr>
        <p:spPr>
          <a:xfrm>
            <a:off x="2314048" y="6125517"/>
            <a:ext cx="1337226" cy="461665"/>
          </a:xfrm>
          <a:prstGeom prst="rect">
            <a:avLst/>
          </a:prstGeom>
          <a:noFill/>
        </p:spPr>
        <p:txBody>
          <a:bodyPr wrap="none" rtlCol="0">
            <a:spAutoFit/>
          </a:bodyPr>
          <a:lstStyle/>
          <a:p>
            <a:r>
              <a:rPr lang="en-US" sz="2400" dirty="0"/>
              <a:t>OpenMP</a:t>
            </a:r>
          </a:p>
        </p:txBody>
      </p:sp>
      <p:sp>
        <p:nvSpPr>
          <p:cNvPr id="17" name="TextBox 16">
            <a:extLst>
              <a:ext uri="{FF2B5EF4-FFF2-40B4-BE49-F238E27FC236}">
                <a16:creationId xmlns:a16="http://schemas.microsoft.com/office/drawing/2014/main" id="{667B5F2B-0CBE-6E78-3B10-333B35B0B297}"/>
              </a:ext>
            </a:extLst>
          </p:cNvPr>
          <p:cNvSpPr txBox="1"/>
          <p:nvPr/>
        </p:nvSpPr>
        <p:spPr>
          <a:xfrm>
            <a:off x="6216107" y="6077247"/>
            <a:ext cx="704039" cy="461665"/>
          </a:xfrm>
          <a:prstGeom prst="rect">
            <a:avLst/>
          </a:prstGeom>
          <a:noFill/>
        </p:spPr>
        <p:txBody>
          <a:bodyPr wrap="none" rtlCol="0">
            <a:spAutoFit/>
          </a:bodyPr>
          <a:lstStyle/>
          <a:p>
            <a:r>
              <a:rPr lang="en-US" sz="2400" dirty="0"/>
              <a:t>TBB</a:t>
            </a:r>
          </a:p>
        </p:txBody>
      </p:sp>
      <p:sp>
        <p:nvSpPr>
          <p:cNvPr id="19" name="TextBox 18">
            <a:extLst>
              <a:ext uri="{FF2B5EF4-FFF2-40B4-BE49-F238E27FC236}">
                <a16:creationId xmlns:a16="http://schemas.microsoft.com/office/drawing/2014/main" id="{20442BAB-9C7C-A7E7-E003-E192B24A9990}"/>
              </a:ext>
            </a:extLst>
          </p:cNvPr>
          <p:cNvSpPr txBox="1"/>
          <p:nvPr/>
        </p:nvSpPr>
        <p:spPr>
          <a:xfrm>
            <a:off x="9484980" y="6125516"/>
            <a:ext cx="994439" cy="461665"/>
          </a:xfrm>
          <a:prstGeom prst="rect">
            <a:avLst/>
          </a:prstGeom>
          <a:noFill/>
        </p:spPr>
        <p:txBody>
          <a:bodyPr wrap="none" rtlCol="0">
            <a:spAutoFit/>
          </a:bodyPr>
          <a:lstStyle/>
          <a:p>
            <a:r>
              <a:rPr lang="en-US" sz="2400" dirty="0"/>
              <a:t>CUDA</a:t>
            </a:r>
          </a:p>
        </p:txBody>
      </p:sp>
      <p:sp>
        <p:nvSpPr>
          <p:cNvPr id="15" name="TextBox 14">
            <a:extLst>
              <a:ext uri="{FF2B5EF4-FFF2-40B4-BE49-F238E27FC236}">
                <a16:creationId xmlns:a16="http://schemas.microsoft.com/office/drawing/2014/main" id="{2E799F0C-B061-4025-3DCB-D375FEAC5ADD}"/>
              </a:ext>
            </a:extLst>
          </p:cNvPr>
          <p:cNvSpPr txBox="1"/>
          <p:nvPr/>
        </p:nvSpPr>
        <p:spPr>
          <a:xfrm>
            <a:off x="8365923" y="1092101"/>
            <a:ext cx="2721384" cy="461665"/>
          </a:xfrm>
          <a:prstGeom prst="rect">
            <a:avLst/>
          </a:prstGeom>
          <a:noFill/>
        </p:spPr>
        <p:txBody>
          <a:bodyPr wrap="square" rtlCol="0">
            <a:spAutoFit/>
          </a:bodyPr>
          <a:lstStyle/>
          <a:p>
            <a:pPr algn="ctr"/>
            <a:r>
              <a:rPr lang="en-US" sz="2400" noProof="0" dirty="0" err="1"/>
              <a:t>PolyBench</a:t>
            </a:r>
            <a:r>
              <a:rPr lang="en-US" sz="2400" noProof="0" dirty="0"/>
              <a:t>/GPU</a:t>
            </a:r>
          </a:p>
        </p:txBody>
      </p:sp>
    </p:spTree>
    <p:extLst>
      <p:ext uri="{BB962C8B-B14F-4D97-AF65-F5344CB8AC3E}">
        <p14:creationId xmlns:p14="http://schemas.microsoft.com/office/powerpoint/2010/main" val="4719303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06199549-C2F9-0F20-FD16-454B08B67F83}"/>
              </a:ext>
            </a:extLst>
          </p:cNvPr>
          <p:cNvGrpSpPr/>
          <p:nvPr/>
        </p:nvGrpSpPr>
        <p:grpSpPr>
          <a:xfrm>
            <a:off x="4663797" y="324095"/>
            <a:ext cx="7413728" cy="3871387"/>
            <a:chOff x="5048957" y="2128473"/>
            <a:chExt cx="5592052" cy="2920123"/>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5048957" y="2128473"/>
              <a:ext cx="5592052" cy="2850850"/>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9667703" y="2348513"/>
              <a:ext cx="806334" cy="67732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nvSpPr>
          <p:spPr>
            <a:xfrm>
              <a:off x="9667703" y="3418199"/>
              <a:ext cx="806334" cy="206149"/>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nvSpPr>
          <p:spPr>
            <a:xfrm>
              <a:off x="9667703" y="4114800"/>
              <a:ext cx="806334" cy="50275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1370E709-4729-0F29-3C2F-A7DF2A616475}"/>
                </a:ext>
              </a:extLst>
            </p:cNvPr>
            <p:cNvSpPr/>
            <p:nvPr/>
          </p:nvSpPr>
          <p:spPr>
            <a:xfrm>
              <a:off x="9667703" y="4545845"/>
              <a:ext cx="806334" cy="502751"/>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Results</a:t>
            </a:r>
          </a:p>
        </p:txBody>
      </p:sp>
      <p:sp>
        <p:nvSpPr>
          <p:cNvPr id="16" name="Content Placeholder 15">
            <a:extLst>
              <a:ext uri="{FF2B5EF4-FFF2-40B4-BE49-F238E27FC236}">
                <a16:creationId xmlns:a16="http://schemas.microsoft.com/office/drawing/2014/main" id="{90D10BE1-6FF6-CFAF-522A-ABB1D189E365}"/>
              </a:ext>
            </a:extLst>
          </p:cNvPr>
          <p:cNvSpPr>
            <a:spLocks noGrp="1"/>
          </p:cNvSpPr>
          <p:nvPr>
            <p:ph idx="1"/>
          </p:nvPr>
        </p:nvSpPr>
        <p:spPr/>
        <p:txBody>
          <a:bodyPr/>
          <a:lstStyle/>
          <a:p>
            <a:r>
              <a:rPr lang="en-US" noProof="0" dirty="0">
                <a:solidFill>
                  <a:srgbClr val="C00000"/>
                </a:solidFill>
              </a:rPr>
              <a:t>Slightly more verbose</a:t>
            </a:r>
          </a:p>
          <a:p>
            <a:r>
              <a:rPr lang="en-US" noProof="0" dirty="0">
                <a:solidFill>
                  <a:schemeClr val="accent6"/>
                </a:solidFill>
              </a:rPr>
              <a:t>Less complex control flow</a:t>
            </a:r>
          </a:p>
          <a:p>
            <a:r>
              <a:rPr lang="en-US" noProof="0" dirty="0">
                <a:solidFill>
                  <a:srgbClr val="0070C0"/>
                </a:solidFill>
              </a:rPr>
              <a:t>Easier indexation</a:t>
            </a:r>
          </a:p>
          <a:p>
            <a:endParaRPr lang="en-US" noProof="0" dirty="0">
              <a:solidFill>
                <a:srgbClr val="0070C0"/>
              </a:solidFill>
            </a:endParaRPr>
          </a:p>
          <a:p>
            <a:endParaRPr lang="en-US" dirty="0">
              <a:solidFill>
                <a:srgbClr val="0070C0"/>
              </a:solidFill>
            </a:endParaRPr>
          </a:p>
          <a:p>
            <a:endParaRPr lang="en-US" noProof="0" dirty="0">
              <a:solidFill>
                <a:srgbClr val="0070C0"/>
              </a:solidFill>
            </a:endParaRPr>
          </a:p>
          <a:p>
            <a:pPr>
              <a:buFont typeface="Aptos" panose="020B0004020202020204" pitchFamily="34" charset="0"/>
              <a:buChar char="+"/>
            </a:pPr>
            <a:r>
              <a:rPr lang="en-US" noProof="0" dirty="0"/>
              <a:t>Higher flexibility</a:t>
            </a:r>
          </a:p>
          <a:p>
            <a:pPr>
              <a:buFont typeface="Aptos" panose="020B0004020202020204" pitchFamily="34" charset="0"/>
              <a:buChar char="+"/>
            </a:pPr>
            <a:r>
              <a:rPr lang="en-US" noProof="0" dirty="0"/>
              <a:t>Type safety (checked dimensions)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noProof="0" smtClean="0"/>
              <a:t>14</a:t>
            </a:fld>
            <a:endParaRPr lang="en-US" noProof="0" dirty="0"/>
          </a:p>
        </p:txBody>
      </p:sp>
    </p:spTree>
    <p:extLst>
      <p:ext uri="{BB962C8B-B14F-4D97-AF65-F5344CB8AC3E}">
        <p14:creationId xmlns:p14="http://schemas.microsoft.com/office/powerpoint/2010/main" val="3185466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nvSpPr>
        <p:spPr>
          <a:xfrm>
            <a:off x="3683740" y="5578114"/>
            <a:ext cx="6806526"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noProof="0" dirty="0" err="1">
                <a:solidFill>
                  <a:srgbClr val="795E26"/>
                </a:solidFill>
                <a:latin typeface="Fira Code" panose="020B0809050000020004" pitchFamily="49" charset="0"/>
              </a:rPr>
              <a:t>init</a:t>
            </a:r>
            <a:r>
              <a:rPr lang="en-US" noProof="0" dirty="0">
                <a:solidFill>
                  <a:srgbClr val="000000"/>
                </a:solidFill>
                <a:latin typeface="Fira Code" panose="020B0809050000020004" pitchFamily="49" charset="0"/>
              </a:rPr>
              <a:t>(</a:t>
            </a:r>
            <a:r>
              <a:rPr lang="en-US" noProof="0" dirty="0">
                <a:solidFill>
                  <a:srgbClr val="001080"/>
                </a:solidFill>
                <a:latin typeface="Fira Code" panose="020B0809050000020004" pitchFamily="49" charset="0"/>
              </a:rPr>
              <a:t>index</a:t>
            </a:r>
            <a:r>
              <a:rPr lang="en-US" noProof="0" dirty="0">
                <a:solidFill>
                  <a:srgbClr val="000000"/>
                </a:solidFill>
                <a:latin typeface="Fira Code" panose="020B0809050000020004" pitchFamily="49" charset="0"/>
              </a:rPr>
              <a:t>)</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r>
              <a:rPr lang="en-US" dirty="0">
                <a:solidFill>
                  <a:srgbClr val="000000"/>
                </a:solidFill>
                <a:latin typeface="Fira Code" panose="020B0809050000020004" pitchFamily="49" charset="0"/>
              </a:rPr>
              <a:t>;</a:t>
            </a:r>
          </a:p>
        </p:txBody>
      </p:sp>
      <p:sp>
        <p:nvSpPr>
          <p:cNvPr id="55" name="Rectangle 54">
            <a:extLst>
              <a:ext uri="{FF2B5EF4-FFF2-40B4-BE49-F238E27FC236}">
                <a16:creationId xmlns:a16="http://schemas.microsoft.com/office/drawing/2014/main" id="{EE3B59AB-A2B0-AC08-2ABA-C28A804C1D65}"/>
              </a:ext>
            </a:extLst>
          </p:cNvPr>
          <p:cNvSpPr/>
          <p:nvPr/>
        </p:nvSpPr>
        <p:spPr>
          <a:xfrm>
            <a:off x="7453313" y="2170517"/>
            <a:ext cx="676275" cy="217083"/>
          </a:xfrm>
          <a:prstGeom prst="rect">
            <a:avLst/>
          </a:prstGeom>
          <a:solidFill>
            <a:srgbClr val="969696">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 initialization</a:t>
            </a:r>
          </a:p>
        </p:txBody>
      </p:sp>
      <p:sp>
        <p:nvSpPr>
          <p:cNvPr id="43" name="TextBox 42">
            <a:extLst>
              <a:ext uri="{FF2B5EF4-FFF2-40B4-BE49-F238E27FC236}">
                <a16:creationId xmlns:a16="http://schemas.microsoft.com/office/drawing/2014/main" id="{3C95CC93-9CA9-7209-C22C-7D083498E953}"/>
              </a:ext>
            </a:extLst>
          </p:cNvPr>
          <p:cNvSpPr txBox="1"/>
          <p:nvPr/>
        </p:nvSpPr>
        <p:spPr>
          <a:xfrm>
            <a:off x="6350978" y="1712569"/>
            <a:ext cx="3461910" cy="369332"/>
          </a:xfrm>
          <a:prstGeom prst="rect">
            <a:avLst/>
          </a:prstGeom>
          <a:noFill/>
        </p:spPr>
        <p:txBody>
          <a:bodyPr wrap="none" rtlCol="0">
            <a:spAutoFit/>
          </a:bodyPr>
          <a:lstStyle/>
          <a:p>
            <a:pPr marL="342900" indent="-342900">
              <a:buAutoNum type="arabicPeriod"/>
            </a:pPr>
            <a:r>
              <a:rPr lang="en-US" noProof="0" dirty="0"/>
              <a:t>Binding to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noProof="0" smtClean="0"/>
              <a:t>15</a:t>
            </a:fld>
            <a:endParaRPr lang="en-US" noProof="0" dirty="0"/>
          </a:p>
        </p:txBody>
      </p:sp>
      <p:sp>
        <p:nvSpPr>
          <p:cNvPr id="21" name="TextBox 20">
            <a:extLst>
              <a:ext uri="{FF2B5EF4-FFF2-40B4-BE49-F238E27FC236}">
                <a16:creationId xmlns:a16="http://schemas.microsoft.com/office/drawing/2014/main" id="{E9081B18-2097-F218-444D-8457FDAFE687}"/>
              </a:ext>
            </a:extLst>
          </p:cNvPr>
          <p:cNvSpPr txBox="1"/>
          <p:nvPr/>
        </p:nvSpPr>
        <p:spPr>
          <a:xfrm>
            <a:off x="6001728" y="4672963"/>
            <a:ext cx="5023363" cy="369332"/>
          </a:xfrm>
          <a:prstGeom prst="rect">
            <a:avLst/>
          </a:prstGeom>
          <a:noFill/>
        </p:spPr>
        <p:txBody>
          <a:bodyPr wrap="none" rtlCol="0">
            <a:spAutoFit/>
          </a:bodyPr>
          <a:lstStyle/>
          <a:p>
            <a:pPr marL="342900" indent="-342900">
              <a:buFont typeface="+mj-lt"/>
              <a:buAutoNum type="arabicPeriod" startAt="2"/>
            </a:pPr>
            <a:r>
              <a:rPr lang="en-US" noProof="0" dirty="0"/>
              <a:t>Automatic Layout </a:t>
            </a:r>
            <a:r>
              <a:rPr lang="en-US" noProof="0" dirty="0">
                <a:sym typeface="Wingdings" panose="05000000000000000000" pitchFamily="2" charset="2"/>
              </a:rPr>
              <a:t> MPI datatype translation</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3505200" y="2081901"/>
            <a:ext cx="8584859" cy="1960280"/>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noProof="0" dirty="0" err="1">
                <a:solidFill>
                  <a:srgbClr val="001080"/>
                </a:solidFill>
                <a:effectLst/>
                <a:latin typeface="Fira Code" panose="020B0809050000020004" pitchFamily="49" charset="0"/>
              </a:rPr>
              <a:t>MPItrav</a:t>
            </a:r>
            <a:r>
              <a:rPr lang="en-US" b="0" noProof="0" dirty="0">
                <a:solidFill>
                  <a:srgbClr val="000000"/>
                </a:solidFill>
                <a:effectLst/>
                <a:latin typeface="Fira Code" panose="020B0809050000020004" pitchFamily="49" charset="0"/>
              </a:rPr>
              <a:t> = </a:t>
            </a:r>
            <a:r>
              <a:rPr lang="en-US"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&lt;</a:t>
            </a:r>
            <a:r>
              <a:rPr lang="en-US" b="0" noProof="0" dirty="0">
                <a:solidFill>
                  <a:srgbClr val="A31515"/>
                </a:solidFill>
                <a:effectLst/>
                <a:latin typeface="Fira Code" panose="020B0809050000020004" pitchFamily="49" charset="0"/>
              </a:rPr>
              <a:t>'M'</a:t>
            </a:r>
            <a:r>
              <a:rPr lang="en-US"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b="0" noProof="0" dirty="0">
                <a:solidFill>
                  <a:srgbClr val="000000"/>
                </a:solidFill>
                <a:effectLst/>
                <a:latin typeface="Fira Code" panose="020B0809050000020004" pitchFamily="49" charset="0"/>
              </a:rPr>
              <a:t>);</a:t>
            </a:r>
          </a:p>
          <a:p>
            <a:pPr>
              <a:lnSpc>
                <a:spcPct val="113095"/>
              </a:lnSpc>
              <a:buNone/>
            </a:pPr>
            <a:endParaRPr lang="en-US"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a:p>
            <a:pPr>
              <a:lnSpc>
                <a:spcPct val="113095"/>
              </a:lnSpc>
              <a:buNone/>
            </a:pPr>
            <a:endParaRPr lang="en-US"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p:txBody>
      </p:sp>
      <p:sp>
        <p:nvSpPr>
          <p:cNvPr id="45" name="TextBox 44">
            <a:extLst>
              <a:ext uri="{FF2B5EF4-FFF2-40B4-BE49-F238E27FC236}">
                <a16:creationId xmlns:a16="http://schemas.microsoft.com/office/drawing/2014/main" id="{835AFA3F-B4AF-ABF4-9BB4-CE1EE90FCB8C}"/>
              </a:ext>
            </a:extLst>
          </p:cNvPr>
          <p:cNvSpPr txBox="1"/>
          <p:nvPr/>
        </p:nvSpPr>
        <p:spPr>
          <a:xfrm>
            <a:off x="6020426" y="5042295"/>
            <a:ext cx="4839852" cy="395108"/>
          </a:xfrm>
          <a:prstGeom prst="rect">
            <a:avLst/>
          </a:prstGeom>
          <a:noFill/>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gather</a:t>
            </a:r>
            <a:r>
              <a:rPr lang="en-US" b="0" noProof="0" dirty="0">
                <a:solidFill>
                  <a:srgbClr val="000000"/>
                </a:solidFill>
                <a:effectLst/>
                <a:latin typeface="Fira Code" panose="020B0809050000020004" pitchFamily="49" charset="0"/>
              </a:rPr>
              <a:t>(</a:t>
            </a:r>
            <a:r>
              <a:rPr lang="en-US" noProof="0" dirty="0">
                <a:solidFill>
                  <a:srgbClr val="0070C1"/>
                </a:solidFill>
                <a:latin typeface="Fira Code" panose="020B0809050000020004" pitchFamily="49" charset="0"/>
              </a:rPr>
              <a:t>Tile</a:t>
            </a:r>
            <a:r>
              <a:rPr lang="en-US" noProof="0" dirty="0">
                <a:solidFill>
                  <a:srgbClr val="000000"/>
                </a:solidFill>
                <a:latin typeface="Fira Code" panose="020B0809050000020004" pitchFamily="49" charset="0"/>
              </a:rPr>
              <a:t>, </a:t>
            </a:r>
            <a:r>
              <a:rPr lang="en-US" noProof="0" dirty="0">
                <a:solidFill>
                  <a:srgbClr val="0070C1"/>
                </a:solidFill>
                <a:latin typeface="Fira Code" panose="020B0809050000020004" pitchFamily="49" charset="0"/>
              </a:rPr>
              <a:t>Data</a:t>
            </a:r>
            <a:r>
              <a:rPr lang="en-US" noProof="0" dirty="0">
                <a:solidFill>
                  <a:srgbClr val="000000"/>
                </a:solidFill>
                <a:latin typeface="Fira Code" panose="020B0809050000020004" pitchFamily="49" charset="0"/>
              </a:rPr>
              <a:t>, </a:t>
            </a:r>
            <a:r>
              <a:rPr lang="en-US" b="0" noProof="0" dirty="0">
                <a:solidFill>
                  <a:srgbClr val="0070C1"/>
                </a:solidFill>
                <a:effectLst/>
                <a:latin typeface="Fira Code" panose="020B0809050000020004" pitchFamily="49" charset="0"/>
              </a:rPr>
              <a:t>root</a:t>
            </a:r>
            <a:r>
              <a:rPr lang="en-US" b="0" noProof="0" dirty="0">
                <a:solidFill>
                  <a:srgbClr val="000000"/>
                </a:solidFill>
                <a:effectLst/>
                <a:latin typeface="Fira Code" panose="020B0809050000020004" pitchFamily="49" charset="0"/>
              </a:rPr>
              <a:t>, </a:t>
            </a:r>
            <a:r>
              <a:rPr lang="en-US" noProof="0" dirty="0" err="1">
                <a:solidFill>
                  <a:srgbClr val="001080"/>
                </a:solidFill>
                <a:latin typeface="Fira Code" panose="020B0809050000020004" pitchFamily="49" charset="0"/>
              </a:rPr>
              <a:t>MPItrav</a:t>
            </a:r>
            <a:r>
              <a:rPr lang="en-US" b="0" noProof="0" dirty="0">
                <a:solidFill>
                  <a:srgbClr val="000000"/>
                </a:solidFill>
                <a:effectLst/>
                <a:latin typeface="Fira Code" panose="020B0809050000020004" pitchFamily="49" charset="0"/>
              </a:rPr>
              <a:t>);</a:t>
            </a:r>
          </a:p>
        </p:txBody>
      </p:sp>
      <p:sp>
        <p:nvSpPr>
          <p:cNvPr id="54" name="Right Brace 53">
            <a:extLst>
              <a:ext uri="{FF2B5EF4-FFF2-40B4-BE49-F238E27FC236}">
                <a16:creationId xmlns:a16="http://schemas.microsoft.com/office/drawing/2014/main" id="{FBD68E4F-2E96-6FDC-0CB9-90A5A2A5CA64}"/>
              </a:ext>
            </a:extLst>
          </p:cNvPr>
          <p:cNvSpPr/>
          <p:nvPr/>
        </p:nvSpPr>
        <p:spPr>
          <a:xfrm rot="5400000">
            <a:off x="8357720" y="3180661"/>
            <a:ext cx="169251" cy="463118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6" name="TextBox 55">
            <a:extLst>
              <a:ext uri="{FF2B5EF4-FFF2-40B4-BE49-F238E27FC236}">
                <a16:creationId xmlns:a16="http://schemas.microsoft.com/office/drawing/2014/main" id="{FA4348FA-14AF-AE42-2449-6C4790D0706A}"/>
              </a:ext>
            </a:extLst>
          </p:cNvPr>
          <p:cNvSpPr txBox="1"/>
          <p:nvPr/>
        </p:nvSpPr>
        <p:spPr>
          <a:xfrm>
            <a:off x="6706462" y="5644447"/>
            <a:ext cx="3467779" cy="369332"/>
          </a:xfrm>
          <a:prstGeom prst="rect">
            <a:avLst/>
          </a:prstGeom>
          <a:noFill/>
        </p:spPr>
        <p:txBody>
          <a:bodyPr wrap="square" rtlCol="0">
            <a:spAutoFit/>
          </a:bodyPr>
          <a:lstStyle/>
          <a:p>
            <a:pPr algn="ctr"/>
            <a:r>
              <a:rPr lang="en-US" noProof="0" dirty="0"/>
              <a:t>Gathers the tiles into the result</a:t>
            </a: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481616" y="3068414"/>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59559" y="2946729"/>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481616" y="3894955"/>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481616" y="4602517"/>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flipH="1">
            <a:off x="481616" y="5313421"/>
            <a:ext cx="521160" cy="521160"/>
          </a:xfrm>
          <a:prstGeom prst="rect">
            <a:avLst/>
          </a:prstGeom>
        </p:spPr>
      </p:pic>
      <p:sp>
        <p:nvSpPr>
          <p:cNvPr id="28" name="Right Brace 27">
            <a:extLst>
              <a:ext uri="{FF2B5EF4-FFF2-40B4-BE49-F238E27FC236}">
                <a16:creationId xmlns:a16="http://schemas.microsoft.com/office/drawing/2014/main" id="{33DFE98B-B773-C0A8-5D8E-16846E420AC9}"/>
              </a:ext>
            </a:extLst>
          </p:cNvPr>
          <p:cNvSpPr/>
          <p:nvPr/>
        </p:nvSpPr>
        <p:spPr>
          <a:xfrm>
            <a:off x="2864690" y="2946729"/>
            <a:ext cx="153563" cy="306705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EE10E03B-CD42-27DC-6DF5-CB9596382EE5}"/>
                  </a:ext>
                </a:extLst>
              </p:cNvPr>
              <p:cNvSpPr txBox="1"/>
              <p:nvPr/>
            </p:nvSpPr>
            <p:spPr>
              <a:xfrm>
                <a:off x="3018253" y="4295588"/>
                <a:ext cx="1567391" cy="369332"/>
              </a:xfrm>
              <a:prstGeom prst="rect">
                <a:avLst/>
              </a:prstGeom>
              <a:noFill/>
            </p:spPr>
            <p:txBody>
              <a:bodyPr wrap="square" rtlCol="0">
                <a:spAutoFit/>
              </a:bodyPr>
              <a:lstStyle/>
              <a:p>
                <a14:m>
                  <m:oMath xmlns:m="http://schemas.openxmlformats.org/officeDocument/2006/math">
                    <m:r>
                      <a:rPr lang="en-US" i="1" dirty="0" smtClean="0">
                        <a:solidFill>
                          <a:srgbClr val="FF0000"/>
                        </a:solidFill>
                        <a:latin typeface="Cambria Math" panose="02040503050406030204" pitchFamily="18" charset="0"/>
                      </a:rPr>
                      <m:t>𝑀</m:t>
                    </m:r>
                  </m:oMath>
                </a14:m>
                <a:r>
                  <a:rPr lang="en-US" dirty="0"/>
                  <a:t> blocks of </a:t>
                </a:r>
                <a14:m>
                  <m:oMath xmlns:m="http://schemas.openxmlformats.org/officeDocument/2006/math">
                    <m:r>
                      <a:rPr lang="en-US" i="1" dirty="0" smtClean="0">
                        <a:solidFill>
                          <a:srgbClr val="FF0000"/>
                        </a:solidFill>
                        <a:latin typeface="Cambria Math" panose="02040503050406030204" pitchFamily="18" charset="0"/>
                      </a:rPr>
                      <m:t>𝑚</m:t>
                    </m:r>
                  </m:oMath>
                </a14:m>
                <a:endParaRPr lang="en-US" dirty="0"/>
              </a:p>
            </p:txBody>
          </p:sp>
        </mc:Choice>
        <mc:Fallback>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nvSpPr>
            <p:spPr>
              <a:xfrm>
                <a:off x="3018253" y="4295588"/>
                <a:ext cx="1567391" cy="369332"/>
              </a:xfrm>
              <a:prstGeom prst="rect">
                <a:avLst/>
              </a:prstGeom>
              <a:blipFill>
                <a:blip r:embed="rId8"/>
                <a:stretch>
                  <a:fillRect t="-8333" b="-28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830D2A10-C3C9-5980-4B7C-1920E7A6499E}"/>
                  </a:ext>
                </a:extLst>
              </p:cNvPr>
              <p:cNvSpPr txBox="1"/>
              <p:nvPr/>
            </p:nvSpPr>
            <p:spPr>
              <a:xfrm>
                <a:off x="1214379" y="2511828"/>
                <a:ext cx="1567391" cy="369332"/>
              </a:xfrm>
              <a:prstGeom prst="rect">
                <a:avLst/>
              </a:prstGeom>
              <a:noFill/>
            </p:spPr>
            <p:txBody>
              <a:bodyPr wrap="square" rtlCol="0">
                <a:spAutoFit/>
              </a:bodyPr>
              <a:lstStyle/>
              <a:p>
                <a:pPr/>
                <a14:m>
                  <m:oMathPara xmlns:m="http://schemas.openxmlformats.org/officeDocument/2006/math">
                    <m:oMath>
                      <m:r>
                        <a:rPr lang="en-US" b="0" i="1" dirty="0" smtClean="0">
                          <a:solidFill>
                            <a:srgbClr val="FF0000"/>
                          </a:solidFill>
                          <a:latin typeface="Cambria Math" panose="02040503050406030204" pitchFamily="18" charset="0"/>
                        </a:rPr>
                        <m:t>𝑛</m:t>
                      </m:r>
                    </m:oMath>
                  </m:oMathPara>
                </a14:m>
                <a:endParaRPr lang="en-US" dirty="0"/>
              </a:p>
            </p:txBody>
          </p:sp>
        </mc:Choice>
        <mc:Fallback>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nvSpPr>
            <p:spPr>
              <a:xfrm>
                <a:off x="1214379" y="2511828"/>
                <a:ext cx="1567391" cy="369332"/>
              </a:xfrm>
              <a:prstGeom prst="rect">
                <a:avLst/>
              </a:prstGeom>
              <a:blipFill>
                <a:blip r:embed="rId9"/>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nvCxnSpPr>
        <p:spPr>
          <a:xfrm flipH="1">
            <a:off x="974450" y="3312991"/>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nvCxnSpPr>
        <p:spPr>
          <a:xfrm flipH="1">
            <a:off x="974450" y="4105947"/>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nvCxnSpPr>
        <p:spPr>
          <a:xfrm flipH="1">
            <a:off x="974450" y="4863097"/>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nvCxnSpPr>
        <p:spPr>
          <a:xfrm flipH="1">
            <a:off x="974450" y="5625401"/>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nvSpPr>
        <p:spPr>
          <a:xfrm>
            <a:off x="1647550" y="6013778"/>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dirty="0"/>
          </a:p>
        </p:txBody>
      </p:sp>
      <p:sp>
        <p:nvSpPr>
          <p:cNvPr id="50" name="Left Brace 49">
            <a:extLst>
              <a:ext uri="{FF2B5EF4-FFF2-40B4-BE49-F238E27FC236}">
                <a16:creationId xmlns:a16="http://schemas.microsoft.com/office/drawing/2014/main" id="{E95766C1-B5D9-13B5-FB19-BBB779E706C4}"/>
              </a:ext>
            </a:extLst>
          </p:cNvPr>
          <p:cNvSpPr/>
          <p:nvPr/>
        </p:nvSpPr>
        <p:spPr>
          <a:xfrm>
            <a:off x="379276" y="2980605"/>
            <a:ext cx="122402" cy="311153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1" name="TextBox 50">
            <a:extLst>
              <a:ext uri="{FF2B5EF4-FFF2-40B4-BE49-F238E27FC236}">
                <a16:creationId xmlns:a16="http://schemas.microsoft.com/office/drawing/2014/main" id="{9978308B-BCCF-A96E-398B-794D49740CFD}"/>
              </a:ext>
            </a:extLst>
          </p:cNvPr>
          <p:cNvSpPr txBox="1"/>
          <p:nvPr/>
        </p:nvSpPr>
        <p:spPr>
          <a:xfrm rot="16200000">
            <a:off x="-643891" y="4351704"/>
            <a:ext cx="1638654" cy="369332"/>
          </a:xfrm>
          <a:prstGeom prst="rect">
            <a:avLst/>
          </a:prstGeom>
          <a:noFill/>
        </p:spPr>
        <p:txBody>
          <a:bodyPr wrap="none" rtlCol="0">
            <a:spAutoFit/>
          </a:bodyPr>
          <a:lstStyle/>
          <a:p>
            <a:r>
              <a:rPr lang="en-US" dirty="0"/>
              <a:t>MPI processes</a:t>
            </a:r>
          </a:p>
        </p:txBody>
      </p:sp>
      <p:sp>
        <p:nvSpPr>
          <p:cNvPr id="9" name="TextBox 8">
            <a:extLst>
              <a:ext uri="{FF2B5EF4-FFF2-40B4-BE49-F238E27FC236}">
                <a16:creationId xmlns:a16="http://schemas.microsoft.com/office/drawing/2014/main" id="{EC115D85-1245-54F7-5612-78A120D97EC4}"/>
              </a:ext>
            </a:extLst>
          </p:cNvPr>
          <p:cNvSpPr txBox="1"/>
          <p:nvPr/>
        </p:nvSpPr>
        <p:spPr>
          <a:xfrm>
            <a:off x="3505199" y="2081901"/>
            <a:ext cx="8584859" cy="1960280"/>
          </a:xfrm>
          <a:prstGeom prst="rect">
            <a:avLst/>
          </a:prstGeom>
          <a:noFill/>
        </p:spPr>
        <p:txBody>
          <a:bodyPr wrap="square">
            <a:spAutoFit/>
          </a:bodyPr>
          <a:lstStyle/>
          <a:p>
            <a:pPr>
              <a:lnSpc>
                <a:spcPct val="113095"/>
              </a:lnSpc>
              <a:buNone/>
            </a:pPr>
            <a:endParaRPr lang="en-US" sz="1800" b="0" noProof="0" dirty="0">
              <a:solidFill>
                <a:srgbClr val="000000"/>
              </a:solidFill>
              <a:effectLst/>
              <a:latin typeface="Fira Code" panose="020B0809050000020004" pitchFamily="49" charset="0"/>
            </a:endParaRPr>
          </a:p>
          <a:p>
            <a:pPr>
              <a:lnSpc>
                <a:spcPct val="113095"/>
              </a:lnSpc>
              <a:buNone/>
            </a:pPr>
            <a:endParaRPr lang="en-US" sz="1800" noProof="0" dirty="0">
              <a:solidFill>
                <a:srgbClr val="000000"/>
              </a:solidFill>
              <a:latin typeface="Fira Code" panose="020B0809050000020004" pitchFamily="49" charset="0"/>
            </a:endParaRPr>
          </a:p>
          <a:p>
            <a:pPr>
              <a:lnSpc>
                <a:spcPct val="113095"/>
              </a:lnSpc>
              <a:buNone/>
            </a:pPr>
            <a:r>
              <a:rPr lang="en-US" sz="1800" dirty="0">
                <a:solidFill>
                  <a:srgbClr val="267F99"/>
                </a:solidFill>
                <a:latin typeface="Fira Code" panose="020B0809050000020004" pitchFamily="49" charset="0"/>
              </a:rPr>
              <a:t>auto Tile</a:t>
            </a:r>
            <a:r>
              <a:rPr lang="en-US" sz="1800" dirty="0">
                <a:solidFill>
                  <a:srgbClr val="000000"/>
                </a:solidFill>
                <a:latin typeface="Fira Code" panose="020B0809050000020004" pitchFamily="49" charset="0"/>
              </a:rPr>
              <a:t> = …</a:t>
            </a:r>
            <a:endParaRPr lang="en-US" sz="1800" noProof="0" dirty="0">
              <a:solidFill>
                <a:srgbClr val="000000"/>
              </a:solidFill>
              <a:latin typeface="Fira Code" panose="020B0809050000020004" pitchFamily="49" charset="0"/>
            </a:endParaRPr>
          </a:p>
          <a:p>
            <a:pPr>
              <a:lnSpc>
                <a:spcPct val="113095"/>
              </a:lnSpc>
              <a:buNone/>
            </a:pPr>
            <a:r>
              <a:rPr lang="en-US" sz="1800" b="0" noProof="0" dirty="0" err="1">
                <a:solidFill>
                  <a:srgbClr val="001080"/>
                </a:solidFill>
                <a:effectLst/>
                <a:latin typeface="Fira Code" panose="020B0809050000020004" pitchFamily="49" charset="0"/>
              </a:rPr>
              <a:t>MPItrav</a:t>
            </a:r>
            <a:r>
              <a:rPr lang="en-US" sz="1800" dirty="0">
                <a:solidFill>
                  <a:srgbClr val="000000"/>
                </a:solidFill>
                <a:latin typeface="Fira Code" panose="020B0809050000020004" pitchFamily="49" charset="0"/>
              </a:rPr>
              <a:t>.</a:t>
            </a:r>
            <a:r>
              <a:rPr lang="en-US" sz="1800" dirty="0" err="1">
                <a:solidFill>
                  <a:srgbClr val="795E26"/>
                </a:solidFill>
                <a:latin typeface="Fira Code" panose="020B0809050000020004" pitchFamily="49" charset="0"/>
              </a:rPr>
              <a:t>for_each</a:t>
            </a:r>
            <a:r>
              <a:rPr lang="en-US" sz="1800" dirty="0">
                <a:solidFill>
                  <a:srgbClr val="000000"/>
                </a:solidFill>
                <a:latin typeface="Fira Code" panose="020B0809050000020004" pitchFamily="49" charset="0"/>
              </a:rPr>
              <a:t>(</a:t>
            </a:r>
            <a:r>
              <a:rPr lang="en-US" sz="1800" b="0" noProof="0" dirty="0">
                <a:solidFill>
                  <a:srgbClr val="000000"/>
                </a:solidFill>
                <a:effectLst/>
                <a:latin typeface="Fira Code" panose="020B0809050000020004" pitchFamily="49" charset="0"/>
              </a:rPr>
              <a:t>[&amp;](</a:t>
            </a:r>
            <a:r>
              <a:rPr lang="en-US" sz="1800" b="0" noProof="0" dirty="0">
                <a:solidFill>
                  <a:srgbClr val="267F99"/>
                </a:solidFill>
                <a:effectLst/>
                <a:latin typeface="Fira Code" panose="020B0809050000020004" pitchFamily="49" charset="0"/>
              </a:rPr>
              <a:t>auto</a:t>
            </a:r>
            <a:r>
              <a:rPr lang="en-US" sz="1800" b="0" noProof="0" dirty="0">
                <a:solidFill>
                  <a:srgbClr val="000000"/>
                </a:solidFill>
                <a:effectLst/>
                <a:latin typeface="Fira Code" panose="020B0809050000020004" pitchFamily="49" charset="0"/>
              </a:rPr>
              <a:t> </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 {</a:t>
            </a:r>
          </a:p>
          <a:p>
            <a:pPr>
              <a:lnSpc>
                <a:spcPct val="113095"/>
              </a:lnSpc>
              <a:buNone/>
            </a:pPr>
            <a:r>
              <a:rPr lang="en-US" sz="1800" b="0" noProof="0" dirty="0">
                <a:solidFill>
                  <a:srgbClr val="000000"/>
                </a:solidFill>
                <a:effectLst/>
                <a:latin typeface="Fira Code" panose="020B0809050000020004" pitchFamily="49" charset="0"/>
              </a:rPr>
              <a:t>    </a:t>
            </a:r>
            <a:r>
              <a:rPr lang="en-US" sz="1800" b="0" noProof="0" dirty="0">
                <a:solidFill>
                  <a:srgbClr val="0070C1"/>
                </a:solidFill>
                <a:effectLst/>
                <a:latin typeface="Fira Code" panose="020B0809050000020004" pitchFamily="49" charset="0"/>
              </a:rPr>
              <a:t>Tile</a:t>
            </a:r>
            <a:r>
              <a:rPr lang="en-US" sz="1800" b="0" noProof="0" dirty="0">
                <a:solidFill>
                  <a:srgbClr val="000000"/>
                </a:solidFill>
                <a:effectLst/>
                <a:latin typeface="Fira Code" panose="020B0809050000020004" pitchFamily="49" charset="0"/>
              </a:rPr>
              <a:t>[</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 = </a:t>
            </a:r>
            <a:r>
              <a:rPr lang="en-US" sz="1800" b="0" noProof="0" dirty="0" err="1">
                <a:solidFill>
                  <a:srgbClr val="795E26"/>
                </a:solidFill>
                <a:effectLst/>
                <a:latin typeface="Fira Code" panose="020B0809050000020004" pitchFamily="49" charset="0"/>
              </a:rPr>
              <a:t>init</a:t>
            </a:r>
            <a:r>
              <a:rPr lang="en-US" sz="1800" b="0" noProof="0" dirty="0">
                <a:solidFill>
                  <a:srgbClr val="000000"/>
                </a:solidFill>
                <a:effectLst/>
                <a:latin typeface="Fira Code" panose="020B0809050000020004" pitchFamily="49" charset="0"/>
              </a:rPr>
              <a:t>(</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a:t>
            </a:r>
          </a:p>
          <a:p>
            <a:pPr>
              <a:lnSpc>
                <a:spcPct val="113095"/>
              </a:lnSpc>
              <a:buNone/>
            </a:pPr>
            <a:r>
              <a:rPr lang="en-US" sz="1800" b="0" noProof="0" dirty="0">
                <a:solidFill>
                  <a:srgbClr val="000000"/>
                </a:solidFill>
                <a:effectLst/>
                <a:latin typeface="Fira Code" panose="020B0809050000020004" pitchFamily="49" charset="0"/>
              </a:rPr>
              <a:t>});</a:t>
            </a:r>
          </a:p>
        </p:txBody>
      </p:sp>
      <p:sp>
        <p:nvSpPr>
          <p:cNvPr id="24" name="TextBox 23">
            <a:extLst>
              <a:ext uri="{FF2B5EF4-FFF2-40B4-BE49-F238E27FC236}">
                <a16:creationId xmlns:a16="http://schemas.microsoft.com/office/drawing/2014/main" id="{FA059D70-FCD1-6DBE-F6AD-CD030885F585}"/>
              </a:ext>
            </a:extLst>
          </p:cNvPr>
          <p:cNvSpPr txBox="1"/>
          <p:nvPr/>
        </p:nvSpPr>
        <p:spPr>
          <a:xfrm>
            <a:off x="5911109" y="5215006"/>
            <a:ext cx="2359365" cy="369332"/>
          </a:xfrm>
          <a:prstGeom prst="rect">
            <a:avLst/>
          </a:prstGeom>
          <a:noFill/>
        </p:spPr>
        <p:txBody>
          <a:bodyPr wrap="none" rtlCol="0">
            <a:spAutoFit/>
          </a:bodyPr>
          <a:lstStyle/>
          <a:p>
            <a:pPr algn="ctr"/>
            <a:r>
              <a:rPr lang="en-US" dirty="0"/>
              <a:t>We want to distribute:</a:t>
            </a:r>
          </a:p>
        </p:txBody>
      </p:sp>
    </p:spTree>
    <p:extLst>
      <p:ext uri="{BB962C8B-B14F-4D97-AF65-F5344CB8AC3E}">
        <p14:creationId xmlns:p14="http://schemas.microsoft.com/office/powerpoint/2010/main" val="3399022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par>
                                <p:cTn id="27" presetID="1" presetClass="exit"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hidden"/>
                                      </p:to>
                                    </p:set>
                                  </p:childTnLst>
                                </p:cTn>
                              </p:par>
                              <p:par>
                                <p:cTn id="29" presetID="1" presetClass="exit" presetSubtype="0" fill="hold" grpId="0" nodeType="withEffect">
                                  <p:stCondLst>
                                    <p:cond delay="0"/>
                                  </p:stCondLst>
                                  <p:childTnLst>
                                    <p:set>
                                      <p:cBhvr>
                                        <p:cTn id="30" dur="1" fill="hold">
                                          <p:stCondLst>
                                            <p:cond delay="0"/>
                                          </p:stCondLst>
                                        </p:cTn>
                                        <p:tgtEl>
                                          <p:spTgt spid="2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55" grpId="0" animBg="1"/>
      <p:bldP spid="43" grpId="0"/>
      <p:bldP spid="21" grpId="0"/>
      <p:bldP spid="25" grpId="0" animBg="1"/>
      <p:bldP spid="45" grpId="0"/>
      <p:bldP spid="54" grpId="0" animBg="1"/>
      <p:bldP spid="56" grpId="0"/>
      <p:bldP spid="9" grpId="0"/>
      <p:bldP spid="24"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noProof="0" smtClean="0"/>
              <a:t>9/2/2026</a:t>
            </a:fld>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noProof="0" smtClean="0"/>
              <a:t>16</a:t>
            </a:fld>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nvSpPr>
        <p:spPr>
          <a:xfrm>
            <a:off x="4667457" y="1339278"/>
            <a:ext cx="3134191" cy="461665"/>
          </a:xfrm>
          <a:prstGeom prst="rect">
            <a:avLst/>
          </a:prstGeom>
          <a:noFill/>
        </p:spPr>
        <p:txBody>
          <a:bodyPr wrap="none" rtlCol="0">
            <a:spAutoFit/>
          </a:bodyPr>
          <a:lstStyle/>
          <a:p>
            <a:r>
              <a:rPr lang="en-US" sz="2400" dirty="0">
                <a:solidFill>
                  <a:srgbClr val="795E26"/>
                </a:solidFill>
                <a:latin typeface="Fira Code" panose="020B0809050000020004" pitchFamily="49" charset="0"/>
              </a:rPr>
              <a:t>send</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dirty="0" err="1">
                <a:solidFill>
                  <a:srgbClr val="001080"/>
                </a:solidFill>
                <a:latin typeface="Fira Code" panose="020B0809050000020004" pitchFamily="49" charset="0"/>
              </a:rPr>
              <a:t>row_major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8" name="TextBox 7">
            <a:extLst>
              <a:ext uri="{FF2B5EF4-FFF2-40B4-BE49-F238E27FC236}">
                <a16:creationId xmlns:a16="http://schemas.microsoft.com/office/drawing/2014/main" id="{C10BA276-D3D5-43CD-BA0F-E78D4E84387D}"/>
              </a:ext>
            </a:extLst>
          </p:cNvPr>
          <p:cNvSpPr txBox="1"/>
          <p:nvPr/>
        </p:nvSpPr>
        <p:spPr>
          <a:xfrm>
            <a:off x="8023316" y="3551624"/>
            <a:ext cx="3134191" cy="461665"/>
          </a:xfrm>
          <a:prstGeom prst="rect">
            <a:avLst/>
          </a:prstGeom>
          <a:noFill/>
        </p:spPr>
        <p:txBody>
          <a:bodyPr wrap="none" rtlCol="0">
            <a:spAutoFit/>
          </a:bodyPr>
          <a:lstStyle/>
          <a:p>
            <a:r>
              <a:rPr lang="en-US" sz="240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4" name="TextBox 13">
            <a:extLst>
              <a:ext uri="{FF2B5EF4-FFF2-40B4-BE49-F238E27FC236}">
                <a16:creationId xmlns:a16="http://schemas.microsoft.com/office/drawing/2014/main" id="{662521EF-5391-2B3B-B4E1-631E6C4FEF95}"/>
              </a:ext>
            </a:extLst>
          </p:cNvPr>
          <p:cNvSpPr txBox="1"/>
          <p:nvPr/>
        </p:nvSpPr>
        <p:spPr>
          <a:xfrm>
            <a:off x="9059015" y="3056718"/>
            <a:ext cx="1062791" cy="523220"/>
          </a:xfrm>
          <a:prstGeom prst="rect">
            <a:avLst/>
          </a:prstGeom>
          <a:noFill/>
        </p:spPr>
        <p:txBody>
          <a:bodyPr wrap="none" rtlCol="0">
            <a:spAutoFit/>
          </a:bodyPr>
          <a:lstStyle/>
          <a:p>
            <a:r>
              <a:rPr lang="en-US" sz="2800" b="1" noProof="0" dirty="0"/>
              <a:t>naive</a:t>
            </a:r>
            <a:endParaRPr lang="en-US" b="1" noProof="0" dirty="0"/>
          </a:p>
        </p:txBody>
      </p:sp>
      <p:sp>
        <p:nvSpPr>
          <p:cNvPr id="13" name="TextBox 12">
            <a:extLst>
              <a:ext uri="{FF2B5EF4-FFF2-40B4-BE49-F238E27FC236}">
                <a16:creationId xmlns:a16="http://schemas.microsoft.com/office/drawing/2014/main" id="{439C9CAD-9E1E-7EC1-4429-D017CA1092E1}"/>
              </a:ext>
            </a:extLst>
          </p:cNvPr>
          <p:cNvSpPr txBox="1"/>
          <p:nvPr/>
        </p:nvSpPr>
        <p:spPr>
          <a:xfrm>
            <a:off x="2579061" y="3068941"/>
            <a:ext cx="913712" cy="523220"/>
          </a:xfrm>
          <a:prstGeom prst="rect">
            <a:avLst/>
          </a:prstGeom>
          <a:noFill/>
        </p:spPr>
        <p:txBody>
          <a:bodyPr wrap="none" rtlCol="0">
            <a:spAutoFit/>
          </a:bodyPr>
          <a:lstStyle/>
          <a:p>
            <a:r>
              <a:rPr lang="en-US" sz="2800" b="1" noProof="0" dirty="0"/>
              <a:t>ours</a:t>
            </a:r>
            <a:endParaRPr lang="en-US" sz="2000" b="1" noProof="0" dirty="0"/>
          </a:p>
        </p:txBody>
      </p:sp>
      <p:sp>
        <p:nvSpPr>
          <p:cNvPr id="26" name="TextBox 25">
            <a:extLst>
              <a:ext uri="{FF2B5EF4-FFF2-40B4-BE49-F238E27FC236}">
                <a16:creationId xmlns:a16="http://schemas.microsoft.com/office/drawing/2014/main" id="{961FBEC7-CB4A-332B-8305-81A140E2B4BC}"/>
              </a:ext>
            </a:extLst>
          </p:cNvPr>
          <p:cNvSpPr txBox="1"/>
          <p:nvPr/>
        </p:nvSpPr>
        <p:spPr>
          <a:xfrm>
            <a:off x="1505514" y="3478608"/>
            <a:ext cx="3134191" cy="461665"/>
          </a:xfrm>
          <a:prstGeom prst="rect">
            <a:avLst/>
          </a:prstGeom>
          <a:noFill/>
        </p:spPr>
        <p:txBody>
          <a:bodyPr wrap="none" rtlCol="0">
            <a:spAutoFit/>
          </a:bodyPr>
          <a:lstStyle/>
          <a:p>
            <a:r>
              <a:rPr lang="en-US" sz="240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cxnSp>
        <p:nvCxnSpPr>
          <p:cNvPr id="28" name="Straight Arrow Connector 27">
            <a:extLst>
              <a:ext uri="{FF2B5EF4-FFF2-40B4-BE49-F238E27FC236}">
                <a16:creationId xmlns:a16="http://schemas.microsoft.com/office/drawing/2014/main" id="{2045E9BC-7505-AE12-2FF8-B6E23CAD3D28}"/>
              </a:ext>
            </a:extLst>
          </p:cNvPr>
          <p:cNvCxnSpPr>
            <a:cxnSpLocks/>
          </p:cNvCxnSpPr>
          <p:nvPr/>
        </p:nvCxnSpPr>
        <p:spPr>
          <a:xfrm flipH="1">
            <a:off x="4035771" y="3798827"/>
            <a:ext cx="2199832" cy="14401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cxnSpLocks/>
          </p:cNvCxnSpPr>
          <p:nvPr/>
        </p:nvCxnSpPr>
        <p:spPr>
          <a:xfrm>
            <a:off x="6235603" y="3798827"/>
            <a:ext cx="2323049" cy="152499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347564" y="4578262"/>
            <a:ext cx="2297873" cy="461665"/>
          </a:xfrm>
          <a:prstGeom prst="rect">
            <a:avLst/>
          </a:prstGeom>
          <a:noFill/>
        </p:spPr>
        <p:txBody>
          <a:bodyPr wrap="none" rtlCol="0">
            <a:spAutoFit/>
          </a:bodyPr>
          <a:lstStyle/>
          <a:p>
            <a:r>
              <a:rPr lang="en-US" sz="2400" b="1" noProof="0" dirty="0"/>
              <a:t>physical layout</a:t>
            </a: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3982000" y="4454517"/>
            <a:ext cx="2478564" cy="461665"/>
          </a:xfrm>
          <a:prstGeom prst="rect">
            <a:avLst/>
          </a:prstGeom>
          <a:noFill/>
        </p:spPr>
        <p:txBody>
          <a:bodyPr wrap="none" rtlCol="0">
            <a:spAutoFit/>
          </a:bodyPr>
          <a:lstStyle/>
          <a:p>
            <a:r>
              <a:rPr lang="en-US" sz="2400" b="1" noProof="0" dirty="0"/>
              <a:t>logical structure</a:t>
            </a:r>
          </a:p>
        </p:txBody>
      </p:sp>
      <p:grpSp>
        <p:nvGrpSpPr>
          <p:cNvPr id="12" name="Group 11">
            <a:extLst>
              <a:ext uri="{FF2B5EF4-FFF2-40B4-BE49-F238E27FC236}">
                <a16:creationId xmlns:a16="http://schemas.microsoft.com/office/drawing/2014/main" id="{91C5C1F7-6962-E74A-2AAE-EC3FFFDE66D5}"/>
              </a:ext>
            </a:extLst>
          </p:cNvPr>
          <p:cNvGrpSpPr/>
          <p:nvPr/>
        </p:nvGrpSpPr>
        <p:grpSpPr>
          <a:xfrm>
            <a:off x="1663579" y="1424921"/>
            <a:ext cx="2743200" cy="910522"/>
            <a:chOff x="8661401" y="1810235"/>
            <a:chExt cx="2743200" cy="910522"/>
          </a:xfrm>
        </p:grpSpPr>
        <p:sp>
          <p:nvSpPr>
            <p:cNvPr id="5" name="Speech Bubble: Rectangle with Corners Rounded 4">
              <a:extLst>
                <a:ext uri="{FF2B5EF4-FFF2-40B4-BE49-F238E27FC236}">
                  <a16:creationId xmlns:a16="http://schemas.microsoft.com/office/drawing/2014/main" id="{3B3954D8-6618-8968-9344-B52E3B2C2D66}"/>
                </a:ext>
              </a:extLst>
            </p:cNvPr>
            <p:cNvSpPr/>
            <p:nvPr/>
          </p:nvSpPr>
          <p:spPr>
            <a:xfrm>
              <a:off x="8934595" y="1810235"/>
              <a:ext cx="2470005" cy="898064"/>
            </a:xfrm>
            <a:prstGeom prst="wedgeRoundRectCallout">
              <a:avLst>
                <a:gd name="adj1" fmla="val 68777"/>
                <a:gd name="adj2" fmla="val 110376"/>
                <a:gd name="adj3" fmla="val 16667"/>
              </a:avLst>
            </a:prstGeom>
            <a:solidFill>
              <a:srgbClr val="91C5EC"/>
            </a:solidFill>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sp>
          <p:nvSpPr>
            <p:cNvPr id="10" name="Speech Bubble: Rectangle with Corners Rounded 9">
              <a:extLst>
                <a:ext uri="{FF2B5EF4-FFF2-40B4-BE49-F238E27FC236}">
                  <a16:creationId xmlns:a16="http://schemas.microsoft.com/office/drawing/2014/main" id="{A64B26CC-455A-7502-D576-5F3D0CEC1479}"/>
                </a:ext>
              </a:extLst>
            </p:cNvPr>
            <p:cNvSpPr/>
            <p:nvPr/>
          </p:nvSpPr>
          <p:spPr>
            <a:xfrm>
              <a:off x="8661401" y="1812471"/>
              <a:ext cx="2743200" cy="898064"/>
            </a:xfrm>
            <a:prstGeom prst="wedgeRoundRectCallout">
              <a:avLst>
                <a:gd name="adj1" fmla="val -32474"/>
                <a:gd name="adj2" fmla="val 175273"/>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2000" dirty="0"/>
                <a:t>Same for </a:t>
              </a:r>
              <a:r>
                <a:rPr lang="en-US" sz="2000" dirty="0" err="1">
                  <a:solidFill>
                    <a:srgbClr val="795E26"/>
                  </a:solidFill>
                  <a:latin typeface="Fira Code" panose="020B0809050000020004" pitchFamily="49" charset="0"/>
                </a:rPr>
                <a:t>bcast</a:t>
              </a:r>
              <a:r>
                <a:rPr lang="en-US" sz="2000" dirty="0"/>
                <a:t>, </a:t>
              </a:r>
              <a:r>
                <a:rPr lang="en-US" sz="2000" dirty="0">
                  <a:solidFill>
                    <a:srgbClr val="795E26"/>
                  </a:solidFill>
                  <a:latin typeface="Fira Code" panose="020B0809050000020004" pitchFamily="49" charset="0"/>
                </a:rPr>
                <a:t>scatter</a:t>
              </a:r>
              <a:r>
                <a:rPr lang="en-US" sz="2000" dirty="0"/>
                <a:t>, </a:t>
              </a:r>
              <a:r>
                <a:rPr lang="en-US" sz="2000" dirty="0">
                  <a:solidFill>
                    <a:srgbClr val="795E26"/>
                  </a:solidFill>
                  <a:latin typeface="Fira Code" panose="020B0809050000020004" pitchFamily="49" charset="0"/>
                </a:rPr>
                <a:t>gather</a:t>
              </a:r>
              <a:r>
                <a:rPr lang="en-US" sz="2000" dirty="0"/>
                <a:t>, …</a:t>
              </a:r>
            </a:p>
          </p:txBody>
        </p:sp>
        <p:sp>
          <p:nvSpPr>
            <p:cNvPr id="11" name="Rectangle: Rounded Corners 10">
              <a:extLst>
                <a:ext uri="{FF2B5EF4-FFF2-40B4-BE49-F238E27FC236}">
                  <a16:creationId xmlns:a16="http://schemas.microsoft.com/office/drawing/2014/main" id="{F41680C2-ADEE-FD1D-982B-41B9FF5E4258}"/>
                </a:ext>
              </a:extLst>
            </p:cNvPr>
            <p:cNvSpPr/>
            <p:nvPr/>
          </p:nvSpPr>
          <p:spPr>
            <a:xfrm>
              <a:off x="10385107" y="2619848"/>
              <a:ext cx="636259" cy="100909"/>
            </a:xfrm>
            <a:prstGeom prst="roundRect">
              <a:avLst>
                <a:gd name="adj" fmla="val 50000"/>
              </a:avLst>
            </a:prstGeom>
            <a:solidFill>
              <a:srgbClr val="90C5EC"/>
            </a:solidFill>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grpSp>
      <p:grpSp>
        <p:nvGrpSpPr>
          <p:cNvPr id="247" name="Group 246">
            <a:extLst>
              <a:ext uri="{FF2B5EF4-FFF2-40B4-BE49-F238E27FC236}">
                <a16:creationId xmlns:a16="http://schemas.microsoft.com/office/drawing/2014/main" id="{39546144-54F9-8B96-CF33-3E5BF0E44AE0}"/>
              </a:ext>
            </a:extLst>
          </p:cNvPr>
          <p:cNvGrpSpPr/>
          <p:nvPr/>
        </p:nvGrpSpPr>
        <p:grpSpPr>
          <a:xfrm>
            <a:off x="2056105" y="3932509"/>
            <a:ext cx="1959624" cy="2612861"/>
            <a:chOff x="2695324" y="4724546"/>
            <a:chExt cx="1959624" cy="2612861"/>
          </a:xfrm>
        </p:grpSpPr>
        <p:sp>
          <p:nvSpPr>
            <p:cNvPr id="248" name="Rectangle 247">
              <a:extLst>
                <a:ext uri="{FF2B5EF4-FFF2-40B4-BE49-F238E27FC236}">
                  <a16:creationId xmlns:a16="http://schemas.microsoft.com/office/drawing/2014/main" id="{67E95BE1-B58B-3D52-8832-A34FFB8E47B2}"/>
                </a:ext>
              </a:extLst>
            </p:cNvPr>
            <p:cNvSpPr/>
            <p:nvPr/>
          </p:nvSpPr>
          <p:spPr>
            <a:xfrm>
              <a:off x="2695324" y="4724546"/>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1</a:t>
              </a:r>
            </a:p>
          </p:txBody>
        </p:sp>
        <p:sp>
          <p:nvSpPr>
            <p:cNvPr id="249" name="Rectangle 248">
              <a:extLst>
                <a:ext uri="{FF2B5EF4-FFF2-40B4-BE49-F238E27FC236}">
                  <a16:creationId xmlns:a16="http://schemas.microsoft.com/office/drawing/2014/main" id="{3C510894-67E4-56EC-75D0-C5A3D4CEDB8B}"/>
                </a:ext>
              </a:extLst>
            </p:cNvPr>
            <p:cNvSpPr/>
            <p:nvPr/>
          </p:nvSpPr>
          <p:spPr>
            <a:xfrm>
              <a:off x="2695324" y="5377761"/>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2</a:t>
              </a:r>
            </a:p>
          </p:txBody>
        </p:sp>
        <p:sp>
          <p:nvSpPr>
            <p:cNvPr id="250" name="Rectangle 249">
              <a:extLst>
                <a:ext uri="{FF2B5EF4-FFF2-40B4-BE49-F238E27FC236}">
                  <a16:creationId xmlns:a16="http://schemas.microsoft.com/office/drawing/2014/main" id="{8BBB6E45-3B33-3D7B-ECFA-C6D524DC0C69}"/>
                </a:ext>
              </a:extLst>
            </p:cNvPr>
            <p:cNvSpPr/>
            <p:nvPr/>
          </p:nvSpPr>
          <p:spPr>
            <a:xfrm>
              <a:off x="2695324" y="6030977"/>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3</a:t>
              </a:r>
            </a:p>
          </p:txBody>
        </p:sp>
        <p:sp>
          <p:nvSpPr>
            <p:cNvPr id="251" name="Rectangle 250">
              <a:extLst>
                <a:ext uri="{FF2B5EF4-FFF2-40B4-BE49-F238E27FC236}">
                  <a16:creationId xmlns:a16="http://schemas.microsoft.com/office/drawing/2014/main" id="{3C804533-48C9-60EF-0ED7-DAA1CB46E57F}"/>
                </a:ext>
              </a:extLst>
            </p:cNvPr>
            <p:cNvSpPr/>
            <p:nvPr/>
          </p:nvSpPr>
          <p:spPr>
            <a:xfrm>
              <a:off x="2695324" y="6684192"/>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4</a:t>
              </a:r>
            </a:p>
          </p:txBody>
        </p:sp>
        <p:sp>
          <p:nvSpPr>
            <p:cNvPr id="252" name="Rectangle 251">
              <a:extLst>
                <a:ext uri="{FF2B5EF4-FFF2-40B4-BE49-F238E27FC236}">
                  <a16:creationId xmlns:a16="http://schemas.microsoft.com/office/drawing/2014/main" id="{F75E07F7-895B-5974-F694-EF3CBD895052}"/>
                </a:ext>
              </a:extLst>
            </p:cNvPr>
            <p:cNvSpPr/>
            <p:nvPr/>
          </p:nvSpPr>
          <p:spPr>
            <a:xfrm>
              <a:off x="3348532" y="4724546"/>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5</a:t>
              </a:r>
            </a:p>
          </p:txBody>
        </p:sp>
        <p:sp>
          <p:nvSpPr>
            <p:cNvPr id="253" name="Rectangle 252">
              <a:extLst>
                <a:ext uri="{FF2B5EF4-FFF2-40B4-BE49-F238E27FC236}">
                  <a16:creationId xmlns:a16="http://schemas.microsoft.com/office/drawing/2014/main" id="{027BD938-2CE3-50FB-5A6C-DF7578D19233}"/>
                </a:ext>
              </a:extLst>
            </p:cNvPr>
            <p:cNvSpPr/>
            <p:nvPr/>
          </p:nvSpPr>
          <p:spPr>
            <a:xfrm>
              <a:off x="3348532" y="5377761"/>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6</a:t>
              </a:r>
            </a:p>
          </p:txBody>
        </p:sp>
        <p:sp>
          <p:nvSpPr>
            <p:cNvPr id="254" name="Rectangle 253">
              <a:extLst>
                <a:ext uri="{FF2B5EF4-FFF2-40B4-BE49-F238E27FC236}">
                  <a16:creationId xmlns:a16="http://schemas.microsoft.com/office/drawing/2014/main" id="{CD2BF58C-4B2A-DDB2-0590-4FA5296E7978}"/>
                </a:ext>
              </a:extLst>
            </p:cNvPr>
            <p:cNvSpPr/>
            <p:nvPr/>
          </p:nvSpPr>
          <p:spPr>
            <a:xfrm>
              <a:off x="3348532" y="6030977"/>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7</a:t>
              </a:r>
            </a:p>
          </p:txBody>
        </p:sp>
        <p:sp>
          <p:nvSpPr>
            <p:cNvPr id="255" name="Rectangle 254">
              <a:extLst>
                <a:ext uri="{FF2B5EF4-FFF2-40B4-BE49-F238E27FC236}">
                  <a16:creationId xmlns:a16="http://schemas.microsoft.com/office/drawing/2014/main" id="{B2D05F2D-BBAD-A3F2-4410-20DFB91A330C}"/>
                </a:ext>
              </a:extLst>
            </p:cNvPr>
            <p:cNvSpPr/>
            <p:nvPr/>
          </p:nvSpPr>
          <p:spPr>
            <a:xfrm>
              <a:off x="3348532" y="6684192"/>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8</a:t>
              </a:r>
            </a:p>
          </p:txBody>
        </p:sp>
        <p:sp>
          <p:nvSpPr>
            <p:cNvPr id="256" name="Rectangle 255">
              <a:extLst>
                <a:ext uri="{FF2B5EF4-FFF2-40B4-BE49-F238E27FC236}">
                  <a16:creationId xmlns:a16="http://schemas.microsoft.com/office/drawing/2014/main" id="{11714080-B8B6-1EEC-E322-0AC57C54313B}"/>
                </a:ext>
              </a:extLst>
            </p:cNvPr>
            <p:cNvSpPr/>
            <p:nvPr/>
          </p:nvSpPr>
          <p:spPr>
            <a:xfrm>
              <a:off x="4001740" y="4724546"/>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9</a:t>
              </a:r>
            </a:p>
          </p:txBody>
        </p:sp>
        <p:sp>
          <p:nvSpPr>
            <p:cNvPr id="257" name="Rectangle 256">
              <a:extLst>
                <a:ext uri="{FF2B5EF4-FFF2-40B4-BE49-F238E27FC236}">
                  <a16:creationId xmlns:a16="http://schemas.microsoft.com/office/drawing/2014/main" id="{404FCA19-9279-8EAF-394F-45A3EA34AFA0}"/>
                </a:ext>
              </a:extLst>
            </p:cNvPr>
            <p:cNvSpPr/>
            <p:nvPr/>
          </p:nvSpPr>
          <p:spPr>
            <a:xfrm>
              <a:off x="4001740" y="5377761"/>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10</a:t>
              </a:r>
            </a:p>
          </p:txBody>
        </p:sp>
        <p:sp>
          <p:nvSpPr>
            <p:cNvPr id="258" name="Rectangle 257">
              <a:extLst>
                <a:ext uri="{FF2B5EF4-FFF2-40B4-BE49-F238E27FC236}">
                  <a16:creationId xmlns:a16="http://schemas.microsoft.com/office/drawing/2014/main" id="{E1955B61-0DF9-348A-80A9-1BF1B88C14B7}"/>
                </a:ext>
              </a:extLst>
            </p:cNvPr>
            <p:cNvSpPr/>
            <p:nvPr/>
          </p:nvSpPr>
          <p:spPr>
            <a:xfrm>
              <a:off x="4001740" y="6030977"/>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11</a:t>
              </a:r>
            </a:p>
          </p:txBody>
        </p:sp>
        <p:sp>
          <p:nvSpPr>
            <p:cNvPr id="259" name="Rectangle 258">
              <a:extLst>
                <a:ext uri="{FF2B5EF4-FFF2-40B4-BE49-F238E27FC236}">
                  <a16:creationId xmlns:a16="http://schemas.microsoft.com/office/drawing/2014/main" id="{EE589CD3-DC6E-F797-F207-8CE5ABDE65D0}"/>
                </a:ext>
              </a:extLst>
            </p:cNvPr>
            <p:cNvSpPr/>
            <p:nvPr/>
          </p:nvSpPr>
          <p:spPr>
            <a:xfrm>
              <a:off x="4001740" y="6684192"/>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12</a:t>
              </a:r>
            </a:p>
          </p:txBody>
        </p:sp>
      </p:grpSp>
      <p:grpSp>
        <p:nvGrpSpPr>
          <p:cNvPr id="262" name="Group 261">
            <a:extLst>
              <a:ext uri="{FF2B5EF4-FFF2-40B4-BE49-F238E27FC236}">
                <a16:creationId xmlns:a16="http://schemas.microsoft.com/office/drawing/2014/main" id="{E3BFC522-F1EF-2168-0CD0-4D620EEFE5BA}"/>
              </a:ext>
            </a:extLst>
          </p:cNvPr>
          <p:cNvGrpSpPr/>
          <p:nvPr/>
        </p:nvGrpSpPr>
        <p:grpSpPr>
          <a:xfrm>
            <a:off x="4928137" y="1806440"/>
            <a:ext cx="2612833" cy="1959646"/>
            <a:chOff x="2695324" y="2111684"/>
            <a:chExt cx="2612833" cy="1959646"/>
          </a:xfrm>
        </p:grpSpPr>
        <p:sp>
          <p:nvSpPr>
            <p:cNvPr id="263" name="Rectangle 262">
              <a:extLst>
                <a:ext uri="{FF2B5EF4-FFF2-40B4-BE49-F238E27FC236}">
                  <a16:creationId xmlns:a16="http://schemas.microsoft.com/office/drawing/2014/main" id="{C24216A8-419D-DB33-BC85-B971CEB56A4E}"/>
                </a:ext>
              </a:extLst>
            </p:cNvPr>
            <p:cNvSpPr/>
            <p:nvPr/>
          </p:nvSpPr>
          <p:spPr>
            <a:xfrm>
              <a:off x="2695324" y="2111684"/>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1</a:t>
              </a:r>
            </a:p>
          </p:txBody>
        </p:sp>
        <p:sp>
          <p:nvSpPr>
            <p:cNvPr id="264" name="Rectangle 263">
              <a:extLst>
                <a:ext uri="{FF2B5EF4-FFF2-40B4-BE49-F238E27FC236}">
                  <a16:creationId xmlns:a16="http://schemas.microsoft.com/office/drawing/2014/main" id="{311C226C-C930-FE9B-896D-7A8A1C8DC3AE}"/>
                </a:ext>
              </a:extLst>
            </p:cNvPr>
            <p:cNvSpPr/>
            <p:nvPr/>
          </p:nvSpPr>
          <p:spPr>
            <a:xfrm>
              <a:off x="3348532" y="2111684"/>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2</a:t>
              </a:r>
            </a:p>
          </p:txBody>
        </p:sp>
        <p:sp>
          <p:nvSpPr>
            <p:cNvPr id="265" name="Rectangle 264">
              <a:extLst>
                <a:ext uri="{FF2B5EF4-FFF2-40B4-BE49-F238E27FC236}">
                  <a16:creationId xmlns:a16="http://schemas.microsoft.com/office/drawing/2014/main" id="{35980DA4-ADFC-6F8A-0BA1-010E6EE067E0}"/>
                </a:ext>
              </a:extLst>
            </p:cNvPr>
            <p:cNvSpPr/>
            <p:nvPr/>
          </p:nvSpPr>
          <p:spPr>
            <a:xfrm>
              <a:off x="4001740" y="2111684"/>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3</a:t>
              </a:r>
            </a:p>
          </p:txBody>
        </p:sp>
        <p:sp>
          <p:nvSpPr>
            <p:cNvPr id="266" name="Rectangle 265">
              <a:extLst>
                <a:ext uri="{FF2B5EF4-FFF2-40B4-BE49-F238E27FC236}">
                  <a16:creationId xmlns:a16="http://schemas.microsoft.com/office/drawing/2014/main" id="{569D00A0-CC33-75F5-4446-A596ADE4352F}"/>
                </a:ext>
              </a:extLst>
            </p:cNvPr>
            <p:cNvSpPr/>
            <p:nvPr/>
          </p:nvSpPr>
          <p:spPr>
            <a:xfrm>
              <a:off x="4654949" y="2111684"/>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4</a:t>
              </a:r>
            </a:p>
          </p:txBody>
        </p:sp>
        <p:sp>
          <p:nvSpPr>
            <p:cNvPr id="267" name="Rectangle 266">
              <a:extLst>
                <a:ext uri="{FF2B5EF4-FFF2-40B4-BE49-F238E27FC236}">
                  <a16:creationId xmlns:a16="http://schemas.microsoft.com/office/drawing/2014/main" id="{ACC0D66D-D18E-C431-AA37-49C15CC7EC41}"/>
                </a:ext>
              </a:extLst>
            </p:cNvPr>
            <p:cNvSpPr/>
            <p:nvPr/>
          </p:nvSpPr>
          <p:spPr>
            <a:xfrm>
              <a:off x="2695324" y="2764899"/>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5</a:t>
              </a:r>
            </a:p>
          </p:txBody>
        </p:sp>
        <p:sp>
          <p:nvSpPr>
            <p:cNvPr id="268" name="Rectangle 267">
              <a:extLst>
                <a:ext uri="{FF2B5EF4-FFF2-40B4-BE49-F238E27FC236}">
                  <a16:creationId xmlns:a16="http://schemas.microsoft.com/office/drawing/2014/main" id="{A29CA531-0659-5409-828F-DD6F3284FF20}"/>
                </a:ext>
              </a:extLst>
            </p:cNvPr>
            <p:cNvSpPr/>
            <p:nvPr/>
          </p:nvSpPr>
          <p:spPr>
            <a:xfrm>
              <a:off x="3348532" y="2764899"/>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6</a:t>
              </a:r>
            </a:p>
          </p:txBody>
        </p:sp>
        <p:sp>
          <p:nvSpPr>
            <p:cNvPr id="269" name="Rectangle 268">
              <a:extLst>
                <a:ext uri="{FF2B5EF4-FFF2-40B4-BE49-F238E27FC236}">
                  <a16:creationId xmlns:a16="http://schemas.microsoft.com/office/drawing/2014/main" id="{F2F9797C-CE4F-B9BB-281C-DA3FE25AE0A9}"/>
                </a:ext>
              </a:extLst>
            </p:cNvPr>
            <p:cNvSpPr/>
            <p:nvPr/>
          </p:nvSpPr>
          <p:spPr>
            <a:xfrm>
              <a:off x="4001740" y="2764899"/>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7</a:t>
              </a:r>
            </a:p>
          </p:txBody>
        </p:sp>
        <p:sp>
          <p:nvSpPr>
            <p:cNvPr id="270" name="Rectangle 269">
              <a:extLst>
                <a:ext uri="{FF2B5EF4-FFF2-40B4-BE49-F238E27FC236}">
                  <a16:creationId xmlns:a16="http://schemas.microsoft.com/office/drawing/2014/main" id="{5260F082-0A0A-3985-3FAB-DD757292FF8E}"/>
                </a:ext>
              </a:extLst>
            </p:cNvPr>
            <p:cNvSpPr/>
            <p:nvPr/>
          </p:nvSpPr>
          <p:spPr>
            <a:xfrm>
              <a:off x="4654949" y="2764899"/>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8</a:t>
              </a:r>
            </a:p>
          </p:txBody>
        </p:sp>
        <p:sp>
          <p:nvSpPr>
            <p:cNvPr id="271" name="Rectangle 270">
              <a:extLst>
                <a:ext uri="{FF2B5EF4-FFF2-40B4-BE49-F238E27FC236}">
                  <a16:creationId xmlns:a16="http://schemas.microsoft.com/office/drawing/2014/main" id="{8D3385A8-1686-1E53-4C0A-F729BFF0EA84}"/>
                </a:ext>
              </a:extLst>
            </p:cNvPr>
            <p:cNvSpPr/>
            <p:nvPr/>
          </p:nvSpPr>
          <p:spPr>
            <a:xfrm>
              <a:off x="2695324" y="3418115"/>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9</a:t>
              </a:r>
            </a:p>
          </p:txBody>
        </p:sp>
        <p:sp>
          <p:nvSpPr>
            <p:cNvPr id="272" name="Rectangle 271">
              <a:extLst>
                <a:ext uri="{FF2B5EF4-FFF2-40B4-BE49-F238E27FC236}">
                  <a16:creationId xmlns:a16="http://schemas.microsoft.com/office/drawing/2014/main" id="{5EB78552-7BB3-5601-6FFD-E537D2448EA2}"/>
                </a:ext>
              </a:extLst>
            </p:cNvPr>
            <p:cNvSpPr/>
            <p:nvPr/>
          </p:nvSpPr>
          <p:spPr>
            <a:xfrm>
              <a:off x="3348532" y="3418115"/>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10</a:t>
              </a:r>
            </a:p>
          </p:txBody>
        </p:sp>
        <p:sp>
          <p:nvSpPr>
            <p:cNvPr id="273" name="Rectangle 272">
              <a:extLst>
                <a:ext uri="{FF2B5EF4-FFF2-40B4-BE49-F238E27FC236}">
                  <a16:creationId xmlns:a16="http://schemas.microsoft.com/office/drawing/2014/main" id="{1B25A40A-A26F-7725-07CE-39A7BFF318BE}"/>
                </a:ext>
              </a:extLst>
            </p:cNvPr>
            <p:cNvSpPr/>
            <p:nvPr/>
          </p:nvSpPr>
          <p:spPr>
            <a:xfrm>
              <a:off x="4001740" y="3418115"/>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11</a:t>
              </a:r>
            </a:p>
          </p:txBody>
        </p:sp>
        <p:sp>
          <p:nvSpPr>
            <p:cNvPr id="274" name="Rectangle 273">
              <a:extLst>
                <a:ext uri="{FF2B5EF4-FFF2-40B4-BE49-F238E27FC236}">
                  <a16:creationId xmlns:a16="http://schemas.microsoft.com/office/drawing/2014/main" id="{819EB925-88FA-DC61-7720-C364D646144D}"/>
                </a:ext>
              </a:extLst>
            </p:cNvPr>
            <p:cNvSpPr/>
            <p:nvPr/>
          </p:nvSpPr>
          <p:spPr>
            <a:xfrm>
              <a:off x="4654949" y="3418115"/>
              <a:ext cx="653208" cy="653215"/>
            </a:xfrm>
            <a:prstGeom prst="rect">
              <a:avLst/>
            </a:prstGeom>
            <a:solidFill>
              <a:srgbClr val="DAE8FC"/>
            </a:solidFill>
            <a:ln w="4928" cap="flat">
              <a:solidFill>
                <a:srgbClr val="6C8EBF"/>
              </a:solidFill>
              <a:prstDash val="solid"/>
              <a:miter/>
            </a:ln>
          </p:spPr>
          <p:txBody>
            <a:bodyPr anchor="ctr"/>
            <a:lstStyle/>
            <a:p>
              <a:pPr algn="ctr"/>
              <a:r>
                <a:rPr lang="en-US" sz="2400" dirty="0"/>
                <a:t>12</a:t>
              </a:r>
            </a:p>
          </p:txBody>
        </p:sp>
      </p:grpSp>
      <p:grpSp>
        <p:nvGrpSpPr>
          <p:cNvPr id="275" name="Group 274">
            <a:extLst>
              <a:ext uri="{FF2B5EF4-FFF2-40B4-BE49-F238E27FC236}">
                <a16:creationId xmlns:a16="http://schemas.microsoft.com/office/drawing/2014/main" id="{417B981E-C63C-E124-C567-767FE72B7AAC}"/>
              </a:ext>
            </a:extLst>
          </p:cNvPr>
          <p:cNvGrpSpPr/>
          <p:nvPr/>
        </p:nvGrpSpPr>
        <p:grpSpPr>
          <a:xfrm>
            <a:off x="8610600" y="3988321"/>
            <a:ext cx="1959624" cy="2612861"/>
            <a:chOff x="7267782" y="2111684"/>
            <a:chExt cx="1959624" cy="2612861"/>
          </a:xfrm>
        </p:grpSpPr>
        <p:sp>
          <p:nvSpPr>
            <p:cNvPr id="276" name="Rectangle 275">
              <a:extLst>
                <a:ext uri="{FF2B5EF4-FFF2-40B4-BE49-F238E27FC236}">
                  <a16:creationId xmlns:a16="http://schemas.microsoft.com/office/drawing/2014/main" id="{E432A966-D3D9-4263-BD18-BBCFDC19418B}"/>
                </a:ext>
              </a:extLst>
            </p:cNvPr>
            <p:cNvSpPr/>
            <p:nvPr/>
          </p:nvSpPr>
          <p:spPr>
            <a:xfrm>
              <a:off x="7267782" y="2111684"/>
              <a:ext cx="653208" cy="653215"/>
            </a:xfrm>
            <a:prstGeom prst="rect">
              <a:avLst/>
            </a:prstGeom>
            <a:solidFill>
              <a:srgbClr val="F8CECC"/>
            </a:solidFill>
            <a:ln w="4928" cap="flat">
              <a:solidFill>
                <a:srgbClr val="B85450"/>
              </a:solidFill>
              <a:prstDash val="solid"/>
              <a:miter/>
            </a:ln>
          </p:spPr>
          <p:txBody>
            <a:bodyPr anchor="ctr"/>
            <a:lstStyle/>
            <a:p>
              <a:pPr algn="ctr"/>
              <a:r>
                <a:rPr lang="en-US" sz="2400" dirty="0"/>
                <a:t>1</a:t>
              </a:r>
            </a:p>
          </p:txBody>
        </p:sp>
        <p:sp>
          <p:nvSpPr>
            <p:cNvPr id="277" name="Rectangle 276">
              <a:extLst>
                <a:ext uri="{FF2B5EF4-FFF2-40B4-BE49-F238E27FC236}">
                  <a16:creationId xmlns:a16="http://schemas.microsoft.com/office/drawing/2014/main" id="{6D77121A-E1BE-4D31-20A0-203F0D202B63}"/>
                </a:ext>
              </a:extLst>
            </p:cNvPr>
            <p:cNvSpPr/>
            <p:nvPr/>
          </p:nvSpPr>
          <p:spPr>
            <a:xfrm>
              <a:off x="7920990" y="2111684"/>
              <a:ext cx="653208" cy="653215"/>
            </a:xfrm>
            <a:prstGeom prst="rect">
              <a:avLst/>
            </a:prstGeom>
            <a:solidFill>
              <a:srgbClr val="F8CECC"/>
            </a:solidFill>
            <a:ln w="4928" cap="flat">
              <a:solidFill>
                <a:srgbClr val="B85450"/>
              </a:solidFill>
              <a:prstDash val="solid"/>
              <a:miter/>
            </a:ln>
          </p:spPr>
          <p:txBody>
            <a:bodyPr anchor="ctr"/>
            <a:lstStyle/>
            <a:p>
              <a:pPr algn="ctr"/>
              <a:r>
                <a:rPr lang="en-US" sz="2400" dirty="0"/>
                <a:t>2</a:t>
              </a:r>
            </a:p>
          </p:txBody>
        </p:sp>
        <p:sp>
          <p:nvSpPr>
            <p:cNvPr id="278" name="Rectangle 277">
              <a:extLst>
                <a:ext uri="{FF2B5EF4-FFF2-40B4-BE49-F238E27FC236}">
                  <a16:creationId xmlns:a16="http://schemas.microsoft.com/office/drawing/2014/main" id="{C8419681-EE03-ECC7-F0F2-F2932A667AFE}"/>
                </a:ext>
              </a:extLst>
            </p:cNvPr>
            <p:cNvSpPr/>
            <p:nvPr/>
          </p:nvSpPr>
          <p:spPr>
            <a:xfrm>
              <a:off x="8574198" y="2111684"/>
              <a:ext cx="653208" cy="653215"/>
            </a:xfrm>
            <a:prstGeom prst="rect">
              <a:avLst/>
            </a:prstGeom>
            <a:solidFill>
              <a:srgbClr val="F8CECC"/>
            </a:solidFill>
            <a:ln w="4928" cap="flat">
              <a:solidFill>
                <a:srgbClr val="B85450"/>
              </a:solidFill>
              <a:prstDash val="solid"/>
              <a:miter/>
            </a:ln>
          </p:spPr>
          <p:txBody>
            <a:bodyPr anchor="ctr"/>
            <a:lstStyle/>
            <a:p>
              <a:pPr algn="ctr"/>
              <a:r>
                <a:rPr lang="en-US" sz="2400" dirty="0"/>
                <a:t>3</a:t>
              </a:r>
            </a:p>
          </p:txBody>
        </p:sp>
        <p:sp>
          <p:nvSpPr>
            <p:cNvPr id="279" name="Rectangle 278">
              <a:extLst>
                <a:ext uri="{FF2B5EF4-FFF2-40B4-BE49-F238E27FC236}">
                  <a16:creationId xmlns:a16="http://schemas.microsoft.com/office/drawing/2014/main" id="{F166A70F-73ED-803F-3F0C-71DE3565EDBC}"/>
                </a:ext>
              </a:extLst>
            </p:cNvPr>
            <p:cNvSpPr/>
            <p:nvPr/>
          </p:nvSpPr>
          <p:spPr>
            <a:xfrm>
              <a:off x="7267782" y="2764899"/>
              <a:ext cx="653208" cy="653215"/>
            </a:xfrm>
            <a:prstGeom prst="rect">
              <a:avLst/>
            </a:prstGeom>
            <a:solidFill>
              <a:srgbClr val="F8CECC"/>
            </a:solidFill>
            <a:ln w="4928" cap="flat">
              <a:solidFill>
                <a:srgbClr val="B85450"/>
              </a:solidFill>
              <a:prstDash val="solid"/>
              <a:miter/>
            </a:ln>
          </p:spPr>
          <p:txBody>
            <a:bodyPr anchor="ctr"/>
            <a:lstStyle/>
            <a:p>
              <a:pPr algn="ctr"/>
              <a:r>
                <a:rPr lang="en-US" sz="2400" dirty="0"/>
                <a:t>4</a:t>
              </a:r>
            </a:p>
          </p:txBody>
        </p:sp>
        <p:sp>
          <p:nvSpPr>
            <p:cNvPr id="280" name="Rectangle 279">
              <a:extLst>
                <a:ext uri="{FF2B5EF4-FFF2-40B4-BE49-F238E27FC236}">
                  <a16:creationId xmlns:a16="http://schemas.microsoft.com/office/drawing/2014/main" id="{E15C6862-61A1-8EFD-63CA-3918EB71239D}"/>
                </a:ext>
              </a:extLst>
            </p:cNvPr>
            <p:cNvSpPr/>
            <p:nvPr/>
          </p:nvSpPr>
          <p:spPr>
            <a:xfrm>
              <a:off x="7920990" y="2764899"/>
              <a:ext cx="653208" cy="653215"/>
            </a:xfrm>
            <a:prstGeom prst="rect">
              <a:avLst/>
            </a:prstGeom>
            <a:solidFill>
              <a:srgbClr val="F8CECC"/>
            </a:solidFill>
            <a:ln w="4928" cap="flat">
              <a:solidFill>
                <a:srgbClr val="B85450"/>
              </a:solidFill>
              <a:prstDash val="solid"/>
              <a:miter/>
            </a:ln>
          </p:spPr>
          <p:txBody>
            <a:bodyPr anchor="ctr"/>
            <a:lstStyle/>
            <a:p>
              <a:pPr algn="ctr"/>
              <a:r>
                <a:rPr lang="en-US" sz="2400" dirty="0"/>
                <a:t>5</a:t>
              </a:r>
            </a:p>
          </p:txBody>
        </p:sp>
        <p:sp>
          <p:nvSpPr>
            <p:cNvPr id="281" name="Rectangle 280">
              <a:extLst>
                <a:ext uri="{FF2B5EF4-FFF2-40B4-BE49-F238E27FC236}">
                  <a16:creationId xmlns:a16="http://schemas.microsoft.com/office/drawing/2014/main" id="{972B3B49-62D6-42EF-3FA1-8E655F00AA44}"/>
                </a:ext>
              </a:extLst>
            </p:cNvPr>
            <p:cNvSpPr/>
            <p:nvPr/>
          </p:nvSpPr>
          <p:spPr>
            <a:xfrm>
              <a:off x="8574198" y="2764899"/>
              <a:ext cx="653208" cy="653215"/>
            </a:xfrm>
            <a:prstGeom prst="rect">
              <a:avLst/>
            </a:prstGeom>
            <a:solidFill>
              <a:srgbClr val="F8CECC"/>
            </a:solidFill>
            <a:ln w="4928" cap="flat">
              <a:solidFill>
                <a:srgbClr val="B85450"/>
              </a:solidFill>
              <a:prstDash val="solid"/>
              <a:miter/>
            </a:ln>
          </p:spPr>
          <p:txBody>
            <a:bodyPr anchor="ctr"/>
            <a:lstStyle/>
            <a:p>
              <a:pPr algn="ctr"/>
              <a:r>
                <a:rPr lang="en-US" sz="2400" dirty="0"/>
                <a:t>6</a:t>
              </a:r>
            </a:p>
          </p:txBody>
        </p:sp>
        <p:sp>
          <p:nvSpPr>
            <p:cNvPr id="282" name="Rectangle 281">
              <a:extLst>
                <a:ext uri="{FF2B5EF4-FFF2-40B4-BE49-F238E27FC236}">
                  <a16:creationId xmlns:a16="http://schemas.microsoft.com/office/drawing/2014/main" id="{A1D4053D-B172-78CF-A694-B1E16F5EC418}"/>
                </a:ext>
              </a:extLst>
            </p:cNvPr>
            <p:cNvSpPr/>
            <p:nvPr/>
          </p:nvSpPr>
          <p:spPr>
            <a:xfrm>
              <a:off x="7267782" y="3418115"/>
              <a:ext cx="653208" cy="653215"/>
            </a:xfrm>
            <a:prstGeom prst="rect">
              <a:avLst/>
            </a:prstGeom>
            <a:solidFill>
              <a:srgbClr val="F8CECC"/>
            </a:solidFill>
            <a:ln w="4928" cap="flat">
              <a:solidFill>
                <a:srgbClr val="B85450"/>
              </a:solidFill>
              <a:prstDash val="solid"/>
              <a:miter/>
            </a:ln>
          </p:spPr>
          <p:txBody>
            <a:bodyPr anchor="ctr"/>
            <a:lstStyle/>
            <a:p>
              <a:pPr algn="ctr"/>
              <a:r>
                <a:rPr lang="en-US" sz="2400" dirty="0"/>
                <a:t>7</a:t>
              </a:r>
            </a:p>
          </p:txBody>
        </p:sp>
        <p:sp>
          <p:nvSpPr>
            <p:cNvPr id="283" name="Rectangle 282">
              <a:extLst>
                <a:ext uri="{FF2B5EF4-FFF2-40B4-BE49-F238E27FC236}">
                  <a16:creationId xmlns:a16="http://schemas.microsoft.com/office/drawing/2014/main" id="{80CA5CB3-BDE6-56FD-A424-135F609A4B33}"/>
                </a:ext>
              </a:extLst>
            </p:cNvPr>
            <p:cNvSpPr/>
            <p:nvPr/>
          </p:nvSpPr>
          <p:spPr>
            <a:xfrm>
              <a:off x="7920990" y="3418115"/>
              <a:ext cx="653208" cy="653215"/>
            </a:xfrm>
            <a:prstGeom prst="rect">
              <a:avLst/>
            </a:prstGeom>
            <a:solidFill>
              <a:srgbClr val="F8CECC"/>
            </a:solidFill>
            <a:ln w="4928" cap="flat">
              <a:solidFill>
                <a:srgbClr val="B85450"/>
              </a:solidFill>
              <a:prstDash val="solid"/>
              <a:miter/>
            </a:ln>
          </p:spPr>
          <p:txBody>
            <a:bodyPr anchor="ctr"/>
            <a:lstStyle/>
            <a:p>
              <a:pPr algn="ctr"/>
              <a:r>
                <a:rPr lang="en-US" sz="2400" dirty="0"/>
                <a:t>8</a:t>
              </a:r>
            </a:p>
          </p:txBody>
        </p:sp>
        <p:sp>
          <p:nvSpPr>
            <p:cNvPr id="284" name="Rectangle 283">
              <a:extLst>
                <a:ext uri="{FF2B5EF4-FFF2-40B4-BE49-F238E27FC236}">
                  <a16:creationId xmlns:a16="http://schemas.microsoft.com/office/drawing/2014/main" id="{DCF04BFA-01E3-13E2-55F2-91585F9FC85B}"/>
                </a:ext>
              </a:extLst>
            </p:cNvPr>
            <p:cNvSpPr/>
            <p:nvPr/>
          </p:nvSpPr>
          <p:spPr>
            <a:xfrm>
              <a:off x="8574198" y="3418115"/>
              <a:ext cx="653208" cy="653215"/>
            </a:xfrm>
            <a:prstGeom prst="rect">
              <a:avLst/>
            </a:prstGeom>
            <a:solidFill>
              <a:srgbClr val="F8CECC"/>
            </a:solidFill>
            <a:ln w="4928" cap="flat">
              <a:solidFill>
                <a:srgbClr val="B85450"/>
              </a:solidFill>
              <a:prstDash val="solid"/>
              <a:miter/>
            </a:ln>
          </p:spPr>
          <p:txBody>
            <a:bodyPr anchor="ctr"/>
            <a:lstStyle/>
            <a:p>
              <a:pPr algn="ctr"/>
              <a:r>
                <a:rPr lang="en-US" sz="2400" dirty="0"/>
                <a:t>9</a:t>
              </a:r>
            </a:p>
          </p:txBody>
        </p:sp>
        <p:sp>
          <p:nvSpPr>
            <p:cNvPr id="285" name="Rectangle 284">
              <a:extLst>
                <a:ext uri="{FF2B5EF4-FFF2-40B4-BE49-F238E27FC236}">
                  <a16:creationId xmlns:a16="http://schemas.microsoft.com/office/drawing/2014/main" id="{9D1404AE-BDF6-8EDE-8D97-2B7F5AD57054}"/>
                </a:ext>
              </a:extLst>
            </p:cNvPr>
            <p:cNvSpPr/>
            <p:nvPr/>
          </p:nvSpPr>
          <p:spPr>
            <a:xfrm>
              <a:off x="7267782" y="4071330"/>
              <a:ext cx="653208" cy="653215"/>
            </a:xfrm>
            <a:prstGeom prst="rect">
              <a:avLst/>
            </a:prstGeom>
            <a:solidFill>
              <a:srgbClr val="F8CECC"/>
            </a:solidFill>
            <a:ln w="4928" cap="flat">
              <a:solidFill>
                <a:srgbClr val="B85450"/>
              </a:solidFill>
              <a:prstDash val="solid"/>
              <a:miter/>
            </a:ln>
          </p:spPr>
          <p:txBody>
            <a:bodyPr anchor="ctr"/>
            <a:lstStyle/>
            <a:p>
              <a:pPr algn="ctr"/>
              <a:r>
                <a:rPr lang="en-US" sz="2400" dirty="0"/>
                <a:t>10</a:t>
              </a:r>
            </a:p>
          </p:txBody>
        </p:sp>
        <p:sp>
          <p:nvSpPr>
            <p:cNvPr id="286" name="Rectangle 285">
              <a:extLst>
                <a:ext uri="{FF2B5EF4-FFF2-40B4-BE49-F238E27FC236}">
                  <a16:creationId xmlns:a16="http://schemas.microsoft.com/office/drawing/2014/main" id="{D00AE7D2-DF24-407A-268B-452856AF8CC3}"/>
                </a:ext>
              </a:extLst>
            </p:cNvPr>
            <p:cNvSpPr/>
            <p:nvPr/>
          </p:nvSpPr>
          <p:spPr>
            <a:xfrm>
              <a:off x="7920990" y="4071330"/>
              <a:ext cx="653208" cy="653215"/>
            </a:xfrm>
            <a:prstGeom prst="rect">
              <a:avLst/>
            </a:prstGeom>
            <a:solidFill>
              <a:srgbClr val="F8CECC"/>
            </a:solidFill>
            <a:ln w="4928" cap="flat">
              <a:solidFill>
                <a:srgbClr val="B85450"/>
              </a:solidFill>
              <a:prstDash val="solid"/>
              <a:miter/>
            </a:ln>
          </p:spPr>
          <p:txBody>
            <a:bodyPr anchor="ctr"/>
            <a:lstStyle/>
            <a:p>
              <a:pPr algn="ctr"/>
              <a:r>
                <a:rPr lang="en-US" sz="2400" dirty="0"/>
                <a:t>11</a:t>
              </a:r>
            </a:p>
          </p:txBody>
        </p:sp>
        <p:sp>
          <p:nvSpPr>
            <p:cNvPr id="287" name="Rectangle 286">
              <a:extLst>
                <a:ext uri="{FF2B5EF4-FFF2-40B4-BE49-F238E27FC236}">
                  <a16:creationId xmlns:a16="http://schemas.microsoft.com/office/drawing/2014/main" id="{AB675FF9-4A7E-55C7-0BD7-BB123C923E54}"/>
                </a:ext>
              </a:extLst>
            </p:cNvPr>
            <p:cNvSpPr/>
            <p:nvPr/>
          </p:nvSpPr>
          <p:spPr>
            <a:xfrm>
              <a:off x="8574198" y="4071330"/>
              <a:ext cx="653208" cy="653215"/>
            </a:xfrm>
            <a:prstGeom prst="rect">
              <a:avLst/>
            </a:prstGeom>
            <a:solidFill>
              <a:srgbClr val="F8CECC"/>
            </a:solidFill>
            <a:ln w="4928" cap="flat">
              <a:solidFill>
                <a:srgbClr val="B85450"/>
              </a:solidFill>
              <a:prstDash val="solid"/>
              <a:miter/>
            </a:ln>
          </p:spPr>
          <p:txBody>
            <a:bodyPr anchor="ctr"/>
            <a:lstStyle/>
            <a:p>
              <a:pPr algn="ctr"/>
              <a:r>
                <a:rPr lang="en-US" sz="2400" dirty="0"/>
                <a:t>12</a:t>
              </a:r>
            </a:p>
          </p:txBody>
        </p:sp>
      </p:grpSp>
    </p:spTree>
    <p:extLst>
      <p:ext uri="{BB962C8B-B14F-4D97-AF65-F5344CB8AC3E}">
        <p14:creationId xmlns:p14="http://schemas.microsoft.com/office/powerpoint/2010/main" val="14841515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Results</a:t>
            </a:r>
          </a:p>
        </p:txBody>
      </p:sp>
      <p:pic>
        <p:nvPicPr>
          <p:cNvPr id="7" name="Picture 6">
            <a:extLst>
              <a:ext uri="{FF2B5EF4-FFF2-40B4-BE49-F238E27FC236}">
                <a16:creationId xmlns:a16="http://schemas.microsoft.com/office/drawing/2014/main" id="{1C406B68-4369-7351-330F-FAD27DE0E126}"/>
              </a:ext>
            </a:extLst>
          </p:cNvPr>
          <p:cNvPicPr>
            <a:picLocks noChangeAspect="1"/>
          </p:cNvPicPr>
          <p:nvPr/>
        </p:nvPicPr>
        <p:blipFill>
          <a:blip r:embed="rId3"/>
          <a:srcRect l="2857" r="3096"/>
          <a:stretch>
            <a:fillRect/>
          </a:stretch>
        </p:blipFill>
        <p:spPr>
          <a:xfrm>
            <a:off x="0" y="1690687"/>
            <a:ext cx="12192000" cy="3635695"/>
          </a:xfrm>
          <a:prstGeom prst="rect">
            <a:avLst/>
          </a:prstGeom>
        </p:spPr>
      </p:pic>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noProof="0" smtClean="0"/>
              <a:t>17</a:t>
            </a:fld>
            <a:endParaRPr lang="en-US" noProof="0" dirty="0"/>
          </a:p>
        </p:txBody>
      </p:sp>
    </p:spTree>
    <p:extLst>
      <p:ext uri="{BB962C8B-B14F-4D97-AF65-F5344CB8AC3E}">
        <p14:creationId xmlns:p14="http://schemas.microsoft.com/office/powerpoint/2010/main" val="2024218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3AE25-E132-6DBD-F16F-E9598EA68D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2CBB0C-3BD1-5355-89AC-1EFD3483308F}"/>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DF7B80F5-260D-8A4E-042B-B5377E8270BD}"/>
              </a:ext>
            </a:extLst>
          </p:cNvPr>
          <p:cNvPicPr>
            <a:picLocks noChangeAspect="1"/>
          </p:cNvPicPr>
          <p:nvPr/>
        </p:nvPicPr>
        <p:blipFill>
          <a:blip r:embed="rId3"/>
          <a:srcRect l="3214" t="7184" r="3333" b="5625"/>
          <a:stretch>
            <a:fillRect/>
          </a:stretch>
        </p:blipFill>
        <p:spPr>
          <a:xfrm>
            <a:off x="0" y="1903092"/>
            <a:ext cx="12192000" cy="3867270"/>
          </a:xfrm>
          <a:prstGeom prst="rect">
            <a:avLst/>
          </a:prstGeom>
        </p:spPr>
      </p:pic>
      <p:sp>
        <p:nvSpPr>
          <p:cNvPr id="3" name="Date Placeholder 2">
            <a:extLst>
              <a:ext uri="{FF2B5EF4-FFF2-40B4-BE49-F238E27FC236}">
                <a16:creationId xmlns:a16="http://schemas.microsoft.com/office/drawing/2014/main" id="{28BB4D7E-1AFC-CDF0-9265-FE90CABB0DF6}"/>
              </a:ext>
            </a:extLst>
          </p:cNvPr>
          <p:cNvSpPr>
            <a:spLocks noGrp="1"/>
          </p:cNvSpPr>
          <p:nvPr>
            <p:ph type="dt" sz="half" idx="10"/>
          </p:nvPr>
        </p:nvSpPr>
        <p:spPr/>
        <p:txBody>
          <a:bodyPr/>
          <a:lstStyle/>
          <a:p>
            <a:fld id="{D2B8A75C-05AF-4892-8E0E-22A5D3C1A1D7}"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5F5A869E-F9A0-1579-FBDB-E8F79B3DF8D9}"/>
              </a:ext>
            </a:extLst>
          </p:cNvPr>
          <p:cNvSpPr>
            <a:spLocks noGrp="1"/>
          </p:cNvSpPr>
          <p:nvPr>
            <p:ph type="sldNum" sz="quarter" idx="12"/>
          </p:nvPr>
        </p:nvSpPr>
        <p:spPr/>
        <p:txBody>
          <a:bodyPr/>
          <a:lstStyle/>
          <a:p>
            <a:fld id="{DA0BB241-1B5F-4309-9407-9EEA04D9598D}" type="slidenum">
              <a:rPr lang="en-US" noProof="0" smtClean="0"/>
              <a:t>18</a:t>
            </a:fld>
            <a:endParaRPr lang="en-US" noProof="0" dirty="0"/>
          </a:p>
        </p:txBody>
      </p:sp>
    </p:spTree>
    <p:extLst>
      <p:ext uri="{BB962C8B-B14F-4D97-AF65-F5344CB8AC3E}">
        <p14:creationId xmlns:p14="http://schemas.microsoft.com/office/powerpoint/2010/main" val="39727034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noProof="0" dirty="0"/>
              <a:t>Stencil computation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noProof="0" smtClean="0"/>
              <a:t>19</a:t>
            </a:fld>
            <a:endParaRPr lang="en-US" noProof="0" dirty="0"/>
          </a:p>
        </p:txBody>
      </p:sp>
      <p:grpSp>
        <p:nvGrpSpPr>
          <p:cNvPr id="13" name="Group 12">
            <a:extLst>
              <a:ext uri="{FF2B5EF4-FFF2-40B4-BE49-F238E27FC236}">
                <a16:creationId xmlns:a16="http://schemas.microsoft.com/office/drawing/2014/main" id="{A5BE2021-FCAC-8FB0-E321-D307239CA810}"/>
              </a:ext>
            </a:extLst>
          </p:cNvPr>
          <p:cNvGrpSpPr/>
          <p:nvPr/>
        </p:nvGrpSpPr>
        <p:grpSpPr>
          <a:xfrm>
            <a:off x="3074132" y="1339032"/>
            <a:ext cx="2969064" cy="732656"/>
            <a:chOff x="3417496" y="1428852"/>
            <a:chExt cx="2969064" cy="732656"/>
          </a:xfrm>
        </p:grpSpPr>
        <p:pic>
          <p:nvPicPr>
            <p:cNvPr id="7" name="Graphic 6" descr="Rain with solid fill">
              <a:extLst>
                <a:ext uri="{FF2B5EF4-FFF2-40B4-BE49-F238E27FC236}">
                  <a16:creationId xmlns:a16="http://schemas.microsoft.com/office/drawing/2014/main" id="{C82052E5-5676-1353-12D7-18B167CB27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17496" y="1428852"/>
              <a:ext cx="732656" cy="732656"/>
            </a:xfrm>
            <a:prstGeom prst="rect">
              <a:avLst/>
            </a:prstGeom>
          </p:spPr>
        </p:pic>
        <p:sp>
          <p:nvSpPr>
            <p:cNvPr id="9" name="TextBox 8">
              <a:extLst>
                <a:ext uri="{FF2B5EF4-FFF2-40B4-BE49-F238E27FC236}">
                  <a16:creationId xmlns:a16="http://schemas.microsoft.com/office/drawing/2014/main" id="{9D4FD725-88BE-61BC-EA94-E5BEA6E7C2CD}"/>
                </a:ext>
              </a:extLst>
            </p:cNvPr>
            <p:cNvSpPr txBox="1"/>
            <p:nvPr/>
          </p:nvSpPr>
          <p:spPr>
            <a:xfrm>
              <a:off x="4083685" y="1653739"/>
              <a:ext cx="2302875" cy="400110"/>
            </a:xfrm>
            <a:prstGeom prst="rect">
              <a:avLst/>
            </a:prstGeom>
            <a:noFill/>
          </p:spPr>
          <p:txBody>
            <a:bodyPr wrap="none" rtlCol="0">
              <a:spAutoFit/>
            </a:bodyPr>
            <a:lstStyle/>
            <a:p>
              <a:r>
                <a:rPr lang="en-US" sz="2000" dirty="0"/>
                <a:t>Weather prediction</a:t>
              </a:r>
            </a:p>
          </p:txBody>
        </p:sp>
      </p:grpSp>
      <p:grpSp>
        <p:nvGrpSpPr>
          <p:cNvPr id="10" name="Group 9">
            <a:extLst>
              <a:ext uri="{FF2B5EF4-FFF2-40B4-BE49-F238E27FC236}">
                <a16:creationId xmlns:a16="http://schemas.microsoft.com/office/drawing/2014/main" id="{DCEA82E3-1BE2-3FF6-28C1-ADABA685AC1D}"/>
              </a:ext>
            </a:extLst>
          </p:cNvPr>
          <p:cNvGrpSpPr/>
          <p:nvPr/>
        </p:nvGrpSpPr>
        <p:grpSpPr>
          <a:xfrm>
            <a:off x="6500396" y="1313599"/>
            <a:ext cx="2787375" cy="732656"/>
            <a:chOff x="6373769" y="1459455"/>
            <a:chExt cx="2787375" cy="732656"/>
          </a:xfrm>
        </p:grpSpPr>
        <p:pic>
          <p:nvPicPr>
            <p:cNvPr id="11" name="Graphic 10" descr="Images with solid fill">
              <a:extLst>
                <a:ext uri="{FF2B5EF4-FFF2-40B4-BE49-F238E27FC236}">
                  <a16:creationId xmlns:a16="http://schemas.microsoft.com/office/drawing/2014/main" id="{BCB8AB1E-4038-D3A7-C93F-C113F4A9949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73769" y="1459455"/>
              <a:ext cx="732656" cy="732656"/>
            </a:xfrm>
            <a:prstGeom prst="rect">
              <a:avLst/>
            </a:prstGeom>
          </p:spPr>
        </p:pic>
        <p:sp>
          <p:nvSpPr>
            <p:cNvPr id="12" name="TextBox 11">
              <a:extLst>
                <a:ext uri="{FF2B5EF4-FFF2-40B4-BE49-F238E27FC236}">
                  <a16:creationId xmlns:a16="http://schemas.microsoft.com/office/drawing/2014/main" id="{FDC41653-37C0-2B80-EE45-53468F84FBC7}"/>
                </a:ext>
              </a:extLst>
            </p:cNvPr>
            <p:cNvSpPr txBox="1"/>
            <p:nvPr/>
          </p:nvSpPr>
          <p:spPr>
            <a:xfrm>
              <a:off x="7036845" y="1641117"/>
              <a:ext cx="2124299" cy="400110"/>
            </a:xfrm>
            <a:prstGeom prst="rect">
              <a:avLst/>
            </a:prstGeom>
            <a:noFill/>
          </p:spPr>
          <p:txBody>
            <a:bodyPr wrap="none" rtlCol="0">
              <a:spAutoFit/>
            </a:bodyPr>
            <a:lstStyle/>
            <a:p>
              <a:r>
                <a:rPr lang="en-US" sz="2000" dirty="0"/>
                <a:t>Image processing</a:t>
              </a:r>
            </a:p>
          </p:txBody>
        </p:sp>
      </p:grpSp>
      <p:sp>
        <p:nvSpPr>
          <p:cNvPr id="17" name="TextBox 16">
            <a:extLst>
              <a:ext uri="{FF2B5EF4-FFF2-40B4-BE49-F238E27FC236}">
                <a16:creationId xmlns:a16="http://schemas.microsoft.com/office/drawing/2014/main" id="{EDBA9A01-C547-889B-493B-188DC700AFAE}"/>
              </a:ext>
            </a:extLst>
          </p:cNvPr>
          <p:cNvSpPr txBox="1"/>
          <p:nvPr/>
        </p:nvSpPr>
        <p:spPr>
          <a:xfrm>
            <a:off x="4082596" y="3169452"/>
            <a:ext cx="4026808" cy="461665"/>
          </a:xfrm>
          <a:prstGeom prst="rect">
            <a:avLst/>
          </a:prstGeom>
          <a:noFill/>
        </p:spPr>
        <p:txBody>
          <a:bodyPr wrap="none" rtlCol="0">
            <a:spAutoFit/>
          </a:bodyPr>
          <a:lstStyle/>
          <a:p>
            <a:pPr algn="ctr"/>
            <a:r>
              <a:rPr lang="en-US" sz="2400" dirty="0"/>
              <a:t>Example of an 8-point stencil</a:t>
            </a:r>
          </a:p>
        </p:txBody>
      </p:sp>
      <p:grpSp>
        <p:nvGrpSpPr>
          <p:cNvPr id="8" name="Group 7">
            <a:extLst>
              <a:ext uri="{FF2B5EF4-FFF2-40B4-BE49-F238E27FC236}">
                <a16:creationId xmlns:a16="http://schemas.microsoft.com/office/drawing/2014/main" id="{8EAFD399-C8B3-F2C8-A168-313A709B17A8}"/>
              </a:ext>
            </a:extLst>
          </p:cNvPr>
          <p:cNvGrpSpPr/>
          <p:nvPr/>
        </p:nvGrpSpPr>
        <p:grpSpPr>
          <a:xfrm>
            <a:off x="7556282" y="2210069"/>
            <a:ext cx="4627188" cy="2320646"/>
            <a:chOff x="4042550" y="4991122"/>
            <a:chExt cx="4627188" cy="2320646"/>
          </a:xfrm>
        </p:grpSpPr>
        <p:pic>
          <p:nvPicPr>
            <p:cNvPr id="5" name="Picture 4">
              <a:extLst>
                <a:ext uri="{FF2B5EF4-FFF2-40B4-BE49-F238E27FC236}">
                  <a16:creationId xmlns:a16="http://schemas.microsoft.com/office/drawing/2014/main" id="{DBDA9C2C-E1CC-A951-8389-185C7CDBEF85}"/>
                </a:ext>
              </a:extLst>
            </p:cNvPr>
            <p:cNvPicPr>
              <a:picLocks noChangeAspect="1"/>
            </p:cNvPicPr>
            <p:nvPr/>
          </p:nvPicPr>
          <p:blipFill>
            <a:blip r:embed="rId5"/>
            <a:stretch>
              <a:fillRect/>
            </a:stretch>
          </p:blipFill>
          <p:spPr>
            <a:xfrm>
              <a:off x="6970149" y="5560830"/>
              <a:ext cx="1112954" cy="1298446"/>
            </a:xfrm>
            <a:prstGeom prst="rect">
              <a:avLst/>
            </a:prstGeom>
          </p:spPr>
        </p:pic>
        <p:sp>
          <p:nvSpPr>
            <p:cNvPr id="20" name="TextBox 19">
              <a:extLst>
                <a:ext uri="{FF2B5EF4-FFF2-40B4-BE49-F238E27FC236}">
                  <a16:creationId xmlns:a16="http://schemas.microsoft.com/office/drawing/2014/main" id="{00085155-9776-5628-AC7C-0E24C456238E}"/>
                </a:ext>
              </a:extLst>
            </p:cNvPr>
            <p:cNvSpPr txBox="1"/>
            <p:nvPr/>
          </p:nvSpPr>
          <p:spPr>
            <a:xfrm>
              <a:off x="4042550" y="4991122"/>
              <a:ext cx="3785232" cy="578882"/>
            </a:xfrm>
            <a:prstGeom prst="wedgeRoundRectCallout">
              <a:avLst>
                <a:gd name="adj1" fmla="val 32918"/>
                <a:gd name="adj2" fmla="val 128777"/>
                <a:gd name="adj3" fmla="val 16667"/>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800" dirty="0"/>
                <a:t>Can we abstract more?</a:t>
              </a:r>
            </a:p>
          </p:txBody>
        </p:sp>
        <p:sp>
          <p:nvSpPr>
            <p:cNvPr id="6" name="TextBox 5">
              <a:extLst>
                <a:ext uri="{FF2B5EF4-FFF2-40B4-BE49-F238E27FC236}">
                  <a16:creationId xmlns:a16="http://schemas.microsoft.com/office/drawing/2014/main" id="{A3ED9BA9-7D7E-319D-6BB0-E797117EB5EA}"/>
                </a:ext>
              </a:extLst>
            </p:cNvPr>
            <p:cNvSpPr txBox="1"/>
            <p:nvPr/>
          </p:nvSpPr>
          <p:spPr>
            <a:xfrm>
              <a:off x="6294921" y="6850103"/>
              <a:ext cx="2374817" cy="461665"/>
            </a:xfrm>
            <a:prstGeom prst="rect">
              <a:avLst/>
            </a:prstGeom>
            <a:noFill/>
          </p:spPr>
          <p:txBody>
            <a:bodyPr wrap="none" rtlCol="0">
              <a:spAutoFit/>
            </a:bodyPr>
            <a:lstStyle/>
            <a:p>
              <a:r>
                <a:rPr lang="en-US" sz="2400" dirty="0" err="1"/>
                <a:t>Collegue</a:t>
              </a:r>
              <a:r>
                <a:rPr lang="en-US" sz="2400" dirty="0"/>
                <a:t> Brabec</a:t>
              </a:r>
            </a:p>
          </p:txBody>
        </p:sp>
      </p:grpSp>
      <p:sp>
        <p:nvSpPr>
          <p:cNvPr id="19" name="Rectangle 18">
            <a:extLst>
              <a:ext uri="{FF2B5EF4-FFF2-40B4-BE49-F238E27FC236}">
                <a16:creationId xmlns:a16="http://schemas.microsoft.com/office/drawing/2014/main" id="{6E59B725-5B8D-D594-A1C6-5596E71C41D8}"/>
              </a:ext>
            </a:extLst>
          </p:cNvPr>
          <p:cNvSpPr/>
          <p:nvPr/>
        </p:nvSpPr>
        <p:spPr>
          <a:xfrm>
            <a:off x="4644245" y="3631117"/>
            <a:ext cx="2705100" cy="2705100"/>
          </a:xfrm>
          <a:prstGeom prst="rect">
            <a:avLst/>
          </a:prstGeom>
          <a:solidFill>
            <a:srgbClr val="FFFFFF"/>
          </a:solidFill>
          <a:ln w="9525" cap="flat">
            <a:noFill/>
            <a:prstDash val="solid"/>
            <a:miter/>
          </a:ln>
        </p:spPr>
        <p:txBody>
          <a:bodyPr/>
          <a:lstStyle/>
          <a:p>
            <a:endParaRPr lang="en-US"/>
          </a:p>
        </p:txBody>
      </p:sp>
      <p:grpSp>
        <p:nvGrpSpPr>
          <p:cNvPr id="21" name="Graphic 14">
            <a:extLst>
              <a:ext uri="{FF2B5EF4-FFF2-40B4-BE49-F238E27FC236}">
                <a16:creationId xmlns:a16="http://schemas.microsoft.com/office/drawing/2014/main" id="{131381F6-097A-8BC9-D3A9-020A95F0412B}"/>
              </a:ext>
            </a:extLst>
          </p:cNvPr>
          <p:cNvGrpSpPr/>
          <p:nvPr/>
        </p:nvGrpSpPr>
        <p:grpSpPr>
          <a:xfrm>
            <a:off x="4658532" y="3645404"/>
            <a:ext cx="2667000" cy="2667000"/>
            <a:chOff x="4757737" y="2090737"/>
            <a:chExt cx="2667000" cy="2667000"/>
          </a:xfrm>
        </p:grpSpPr>
        <p:sp>
          <p:nvSpPr>
            <p:cNvPr id="22" name="Rectangle 21">
              <a:extLst>
                <a:ext uri="{FF2B5EF4-FFF2-40B4-BE49-F238E27FC236}">
                  <a16:creationId xmlns:a16="http://schemas.microsoft.com/office/drawing/2014/main" id="{EF7F5BCC-707A-C7A9-26AA-9EBB8EB6FDF3}"/>
                </a:ext>
              </a:extLst>
            </p:cNvPr>
            <p:cNvSpPr/>
            <p:nvPr/>
          </p:nvSpPr>
          <p:spPr>
            <a:xfrm>
              <a:off x="4757737" y="2090737"/>
              <a:ext cx="2667000" cy="2667000"/>
            </a:xfrm>
            <a:prstGeom prst="rect">
              <a:avLst/>
            </a:prstGeom>
            <a:noFill/>
            <a:ln w="28575" cap="flat">
              <a:solidFill>
                <a:srgbClr val="000000"/>
              </a:solidFill>
              <a:prstDash val="solid"/>
              <a:miter/>
            </a:ln>
          </p:spPr>
          <p:txBody>
            <a:bodyPr/>
            <a:lstStyle/>
            <a:p>
              <a:endParaRPr lang="en-US"/>
            </a:p>
          </p:txBody>
        </p:sp>
        <p:sp>
          <p:nvSpPr>
            <p:cNvPr id="23" name="Rectangle 22">
              <a:extLst>
                <a:ext uri="{FF2B5EF4-FFF2-40B4-BE49-F238E27FC236}">
                  <a16:creationId xmlns:a16="http://schemas.microsoft.com/office/drawing/2014/main" id="{6188D0D4-A30F-BF09-D1A4-991195FC2358}"/>
                </a:ext>
              </a:extLst>
            </p:cNvPr>
            <p:cNvSpPr/>
            <p:nvPr/>
          </p:nvSpPr>
          <p:spPr>
            <a:xfrm>
              <a:off x="4757737" y="2090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24" name="Rectangle 23">
              <a:extLst>
                <a:ext uri="{FF2B5EF4-FFF2-40B4-BE49-F238E27FC236}">
                  <a16:creationId xmlns:a16="http://schemas.microsoft.com/office/drawing/2014/main" id="{00188916-92A3-C146-6295-587F5EA3BBA0}"/>
                </a:ext>
              </a:extLst>
            </p:cNvPr>
            <p:cNvSpPr/>
            <p:nvPr/>
          </p:nvSpPr>
          <p:spPr>
            <a:xfrm>
              <a:off x="5138737" y="2090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25" name="Rectangle 24">
              <a:extLst>
                <a:ext uri="{FF2B5EF4-FFF2-40B4-BE49-F238E27FC236}">
                  <a16:creationId xmlns:a16="http://schemas.microsoft.com/office/drawing/2014/main" id="{D565B24B-CFB0-9AF6-2694-250DAAC2D82A}"/>
                </a:ext>
              </a:extLst>
            </p:cNvPr>
            <p:cNvSpPr/>
            <p:nvPr/>
          </p:nvSpPr>
          <p:spPr>
            <a:xfrm>
              <a:off x="4757737" y="2471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26" name="Rectangle 25">
              <a:extLst>
                <a:ext uri="{FF2B5EF4-FFF2-40B4-BE49-F238E27FC236}">
                  <a16:creationId xmlns:a16="http://schemas.microsoft.com/office/drawing/2014/main" id="{CFFB034F-FB02-984D-1C5D-AD7DADD8CCEE}"/>
                </a:ext>
              </a:extLst>
            </p:cNvPr>
            <p:cNvSpPr/>
            <p:nvPr/>
          </p:nvSpPr>
          <p:spPr>
            <a:xfrm>
              <a:off x="5138737" y="2471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27" name="Rectangle 26">
              <a:extLst>
                <a:ext uri="{FF2B5EF4-FFF2-40B4-BE49-F238E27FC236}">
                  <a16:creationId xmlns:a16="http://schemas.microsoft.com/office/drawing/2014/main" id="{016B05D1-22BF-3997-FCC5-A7BF9E1104CC}"/>
                </a:ext>
              </a:extLst>
            </p:cNvPr>
            <p:cNvSpPr/>
            <p:nvPr/>
          </p:nvSpPr>
          <p:spPr>
            <a:xfrm>
              <a:off x="5519737" y="2090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28" name="Rectangle 27">
              <a:extLst>
                <a:ext uri="{FF2B5EF4-FFF2-40B4-BE49-F238E27FC236}">
                  <a16:creationId xmlns:a16="http://schemas.microsoft.com/office/drawing/2014/main" id="{96FDCCAA-F3FB-DF0F-194B-10625614E55E}"/>
                </a:ext>
              </a:extLst>
            </p:cNvPr>
            <p:cNvSpPr/>
            <p:nvPr/>
          </p:nvSpPr>
          <p:spPr>
            <a:xfrm>
              <a:off x="5900737" y="2090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29" name="Rectangle 28">
              <a:extLst>
                <a:ext uri="{FF2B5EF4-FFF2-40B4-BE49-F238E27FC236}">
                  <a16:creationId xmlns:a16="http://schemas.microsoft.com/office/drawing/2014/main" id="{E566E2F5-E6AC-E8BB-DD7C-0DE27F52268C}"/>
                </a:ext>
              </a:extLst>
            </p:cNvPr>
            <p:cNvSpPr/>
            <p:nvPr/>
          </p:nvSpPr>
          <p:spPr>
            <a:xfrm>
              <a:off x="5519737" y="2471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30" name="Rectangle 29">
              <a:extLst>
                <a:ext uri="{FF2B5EF4-FFF2-40B4-BE49-F238E27FC236}">
                  <a16:creationId xmlns:a16="http://schemas.microsoft.com/office/drawing/2014/main" id="{6702C292-D602-F047-6E5D-07963C84A4EB}"/>
                </a:ext>
              </a:extLst>
            </p:cNvPr>
            <p:cNvSpPr/>
            <p:nvPr/>
          </p:nvSpPr>
          <p:spPr>
            <a:xfrm>
              <a:off x="5900737" y="2471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31" name="Rectangle 30">
              <a:extLst>
                <a:ext uri="{FF2B5EF4-FFF2-40B4-BE49-F238E27FC236}">
                  <a16:creationId xmlns:a16="http://schemas.microsoft.com/office/drawing/2014/main" id="{713BC10D-DEEF-977B-5260-48F3EFFA0845}"/>
                </a:ext>
              </a:extLst>
            </p:cNvPr>
            <p:cNvSpPr/>
            <p:nvPr/>
          </p:nvSpPr>
          <p:spPr>
            <a:xfrm>
              <a:off x="6281737" y="2090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32" name="Rectangle 31">
              <a:extLst>
                <a:ext uri="{FF2B5EF4-FFF2-40B4-BE49-F238E27FC236}">
                  <a16:creationId xmlns:a16="http://schemas.microsoft.com/office/drawing/2014/main" id="{8FAA4B6A-CFDE-D085-E468-CE06D057F64F}"/>
                </a:ext>
              </a:extLst>
            </p:cNvPr>
            <p:cNvSpPr/>
            <p:nvPr/>
          </p:nvSpPr>
          <p:spPr>
            <a:xfrm>
              <a:off x="6662737" y="2090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33" name="Rectangle 32">
              <a:extLst>
                <a:ext uri="{FF2B5EF4-FFF2-40B4-BE49-F238E27FC236}">
                  <a16:creationId xmlns:a16="http://schemas.microsoft.com/office/drawing/2014/main" id="{6389750B-27AD-9F2E-3F88-CFA26D7D8A81}"/>
                </a:ext>
              </a:extLst>
            </p:cNvPr>
            <p:cNvSpPr/>
            <p:nvPr/>
          </p:nvSpPr>
          <p:spPr>
            <a:xfrm>
              <a:off x="6281737" y="2471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34" name="Rectangle 33">
              <a:extLst>
                <a:ext uri="{FF2B5EF4-FFF2-40B4-BE49-F238E27FC236}">
                  <a16:creationId xmlns:a16="http://schemas.microsoft.com/office/drawing/2014/main" id="{3C890C6A-2351-89FA-0F19-374AD2365963}"/>
                </a:ext>
              </a:extLst>
            </p:cNvPr>
            <p:cNvSpPr/>
            <p:nvPr/>
          </p:nvSpPr>
          <p:spPr>
            <a:xfrm>
              <a:off x="6662737" y="2471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35" name="Rectangle 34">
              <a:extLst>
                <a:ext uri="{FF2B5EF4-FFF2-40B4-BE49-F238E27FC236}">
                  <a16:creationId xmlns:a16="http://schemas.microsoft.com/office/drawing/2014/main" id="{E5044FC0-207D-AD26-4347-8122E38748B0}"/>
                </a:ext>
              </a:extLst>
            </p:cNvPr>
            <p:cNvSpPr/>
            <p:nvPr/>
          </p:nvSpPr>
          <p:spPr>
            <a:xfrm>
              <a:off x="7043737" y="2090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36" name="Rectangle 35">
              <a:extLst>
                <a:ext uri="{FF2B5EF4-FFF2-40B4-BE49-F238E27FC236}">
                  <a16:creationId xmlns:a16="http://schemas.microsoft.com/office/drawing/2014/main" id="{9E0ADB09-AF36-DF07-D7AB-BB065EDC6924}"/>
                </a:ext>
              </a:extLst>
            </p:cNvPr>
            <p:cNvSpPr/>
            <p:nvPr/>
          </p:nvSpPr>
          <p:spPr>
            <a:xfrm>
              <a:off x="7043737" y="2471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37" name="Rectangle 36">
              <a:extLst>
                <a:ext uri="{FF2B5EF4-FFF2-40B4-BE49-F238E27FC236}">
                  <a16:creationId xmlns:a16="http://schemas.microsoft.com/office/drawing/2014/main" id="{22E54BAB-88FD-1454-1BD8-2B98F80E238A}"/>
                </a:ext>
              </a:extLst>
            </p:cNvPr>
            <p:cNvSpPr/>
            <p:nvPr/>
          </p:nvSpPr>
          <p:spPr>
            <a:xfrm>
              <a:off x="4757737" y="2852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38" name="Rectangle 37">
              <a:extLst>
                <a:ext uri="{FF2B5EF4-FFF2-40B4-BE49-F238E27FC236}">
                  <a16:creationId xmlns:a16="http://schemas.microsoft.com/office/drawing/2014/main" id="{358A08F8-CED6-6152-0F69-34DAEE3D4046}"/>
                </a:ext>
              </a:extLst>
            </p:cNvPr>
            <p:cNvSpPr/>
            <p:nvPr/>
          </p:nvSpPr>
          <p:spPr>
            <a:xfrm>
              <a:off x="5138737" y="2852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39" name="Rectangle 38">
              <a:extLst>
                <a:ext uri="{FF2B5EF4-FFF2-40B4-BE49-F238E27FC236}">
                  <a16:creationId xmlns:a16="http://schemas.microsoft.com/office/drawing/2014/main" id="{5A10A4CB-C35E-F199-070A-4C13EE0AF10C}"/>
                </a:ext>
              </a:extLst>
            </p:cNvPr>
            <p:cNvSpPr/>
            <p:nvPr/>
          </p:nvSpPr>
          <p:spPr>
            <a:xfrm>
              <a:off x="4757737" y="3233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40" name="Rectangle 39">
              <a:extLst>
                <a:ext uri="{FF2B5EF4-FFF2-40B4-BE49-F238E27FC236}">
                  <a16:creationId xmlns:a16="http://schemas.microsoft.com/office/drawing/2014/main" id="{824DB158-9A93-B150-0B6B-4432E7BF3A1D}"/>
                </a:ext>
              </a:extLst>
            </p:cNvPr>
            <p:cNvSpPr/>
            <p:nvPr/>
          </p:nvSpPr>
          <p:spPr>
            <a:xfrm>
              <a:off x="5138737" y="3233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41" name="Rectangle 40">
              <a:extLst>
                <a:ext uri="{FF2B5EF4-FFF2-40B4-BE49-F238E27FC236}">
                  <a16:creationId xmlns:a16="http://schemas.microsoft.com/office/drawing/2014/main" id="{BCDE420E-24C9-F752-1F86-628695037DFB}"/>
                </a:ext>
              </a:extLst>
            </p:cNvPr>
            <p:cNvSpPr/>
            <p:nvPr/>
          </p:nvSpPr>
          <p:spPr>
            <a:xfrm>
              <a:off x="5519737" y="2852737"/>
              <a:ext cx="381000" cy="381000"/>
            </a:xfrm>
            <a:prstGeom prst="rect">
              <a:avLst/>
            </a:prstGeom>
            <a:solidFill>
              <a:srgbClr val="CCCCCC"/>
            </a:solidFill>
            <a:ln w="9525" cap="flat">
              <a:solidFill>
                <a:srgbClr val="000000"/>
              </a:solidFill>
              <a:prstDash val="solid"/>
              <a:miter/>
            </a:ln>
          </p:spPr>
          <p:txBody>
            <a:bodyPr/>
            <a:lstStyle/>
            <a:p>
              <a:endParaRPr lang="en-US"/>
            </a:p>
          </p:txBody>
        </p:sp>
        <p:sp>
          <p:nvSpPr>
            <p:cNvPr id="42" name="Rectangle 41">
              <a:extLst>
                <a:ext uri="{FF2B5EF4-FFF2-40B4-BE49-F238E27FC236}">
                  <a16:creationId xmlns:a16="http://schemas.microsoft.com/office/drawing/2014/main" id="{D2573C6B-914F-6E70-3607-01D6D4AA2171}"/>
                </a:ext>
              </a:extLst>
            </p:cNvPr>
            <p:cNvSpPr/>
            <p:nvPr/>
          </p:nvSpPr>
          <p:spPr>
            <a:xfrm>
              <a:off x="5900737" y="2852737"/>
              <a:ext cx="381000" cy="381000"/>
            </a:xfrm>
            <a:prstGeom prst="rect">
              <a:avLst/>
            </a:prstGeom>
            <a:solidFill>
              <a:srgbClr val="CCCCCC"/>
            </a:solidFill>
            <a:ln w="9525" cap="flat">
              <a:solidFill>
                <a:srgbClr val="000000"/>
              </a:solidFill>
              <a:prstDash val="solid"/>
              <a:miter/>
            </a:ln>
          </p:spPr>
          <p:txBody>
            <a:bodyPr/>
            <a:lstStyle/>
            <a:p>
              <a:endParaRPr lang="en-US"/>
            </a:p>
          </p:txBody>
        </p:sp>
        <p:sp>
          <p:nvSpPr>
            <p:cNvPr id="43" name="Rectangle 42">
              <a:extLst>
                <a:ext uri="{FF2B5EF4-FFF2-40B4-BE49-F238E27FC236}">
                  <a16:creationId xmlns:a16="http://schemas.microsoft.com/office/drawing/2014/main" id="{4E9D0D9C-1D7E-4015-DC4B-F852F0E0E8C5}"/>
                </a:ext>
              </a:extLst>
            </p:cNvPr>
            <p:cNvSpPr/>
            <p:nvPr/>
          </p:nvSpPr>
          <p:spPr>
            <a:xfrm>
              <a:off x="5519737" y="3233737"/>
              <a:ext cx="381000" cy="381000"/>
            </a:xfrm>
            <a:prstGeom prst="rect">
              <a:avLst/>
            </a:prstGeom>
            <a:solidFill>
              <a:srgbClr val="CCCCCC"/>
            </a:solidFill>
            <a:ln w="9525" cap="flat">
              <a:solidFill>
                <a:srgbClr val="000000"/>
              </a:solidFill>
              <a:prstDash val="solid"/>
              <a:miter/>
            </a:ln>
          </p:spPr>
          <p:txBody>
            <a:bodyPr/>
            <a:lstStyle/>
            <a:p>
              <a:endParaRPr lang="en-US"/>
            </a:p>
          </p:txBody>
        </p:sp>
        <p:sp>
          <p:nvSpPr>
            <p:cNvPr id="44" name="Rectangle 43">
              <a:extLst>
                <a:ext uri="{FF2B5EF4-FFF2-40B4-BE49-F238E27FC236}">
                  <a16:creationId xmlns:a16="http://schemas.microsoft.com/office/drawing/2014/main" id="{2009D743-456B-CC33-B852-F2B83A20B667}"/>
                </a:ext>
              </a:extLst>
            </p:cNvPr>
            <p:cNvSpPr/>
            <p:nvPr/>
          </p:nvSpPr>
          <p:spPr>
            <a:xfrm>
              <a:off x="5900737" y="3233737"/>
              <a:ext cx="381000" cy="381000"/>
            </a:xfrm>
            <a:prstGeom prst="rect">
              <a:avLst/>
            </a:prstGeom>
            <a:solidFill>
              <a:srgbClr val="000000"/>
            </a:solidFill>
            <a:ln w="9525" cap="flat">
              <a:solidFill>
                <a:srgbClr val="000000"/>
              </a:solidFill>
              <a:prstDash val="solid"/>
              <a:miter/>
            </a:ln>
          </p:spPr>
          <p:txBody>
            <a:bodyPr/>
            <a:lstStyle/>
            <a:p>
              <a:endParaRPr lang="en-US"/>
            </a:p>
          </p:txBody>
        </p:sp>
        <p:sp>
          <p:nvSpPr>
            <p:cNvPr id="45" name="Rectangle 44">
              <a:extLst>
                <a:ext uri="{FF2B5EF4-FFF2-40B4-BE49-F238E27FC236}">
                  <a16:creationId xmlns:a16="http://schemas.microsoft.com/office/drawing/2014/main" id="{51D6CE2D-EC21-F227-66B9-A82F2F55270F}"/>
                </a:ext>
              </a:extLst>
            </p:cNvPr>
            <p:cNvSpPr/>
            <p:nvPr/>
          </p:nvSpPr>
          <p:spPr>
            <a:xfrm>
              <a:off x="6281737" y="2852737"/>
              <a:ext cx="381000" cy="381000"/>
            </a:xfrm>
            <a:prstGeom prst="rect">
              <a:avLst/>
            </a:prstGeom>
            <a:solidFill>
              <a:srgbClr val="CCCCCC"/>
            </a:solidFill>
            <a:ln w="9525" cap="flat">
              <a:solidFill>
                <a:srgbClr val="000000"/>
              </a:solidFill>
              <a:prstDash val="solid"/>
              <a:miter/>
            </a:ln>
          </p:spPr>
          <p:txBody>
            <a:bodyPr/>
            <a:lstStyle/>
            <a:p>
              <a:endParaRPr lang="en-US"/>
            </a:p>
          </p:txBody>
        </p:sp>
        <p:sp>
          <p:nvSpPr>
            <p:cNvPr id="46" name="Rectangle 45">
              <a:extLst>
                <a:ext uri="{FF2B5EF4-FFF2-40B4-BE49-F238E27FC236}">
                  <a16:creationId xmlns:a16="http://schemas.microsoft.com/office/drawing/2014/main" id="{69D39EEB-9B98-21F0-046F-3C36D161BCCE}"/>
                </a:ext>
              </a:extLst>
            </p:cNvPr>
            <p:cNvSpPr/>
            <p:nvPr/>
          </p:nvSpPr>
          <p:spPr>
            <a:xfrm>
              <a:off x="6662737" y="2852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47" name="Rectangle 46">
              <a:extLst>
                <a:ext uri="{FF2B5EF4-FFF2-40B4-BE49-F238E27FC236}">
                  <a16:creationId xmlns:a16="http://schemas.microsoft.com/office/drawing/2014/main" id="{D8023305-2D4B-C087-55B5-07F10F8019CD}"/>
                </a:ext>
              </a:extLst>
            </p:cNvPr>
            <p:cNvSpPr/>
            <p:nvPr/>
          </p:nvSpPr>
          <p:spPr>
            <a:xfrm>
              <a:off x="6281737" y="3233737"/>
              <a:ext cx="381000" cy="381000"/>
            </a:xfrm>
            <a:prstGeom prst="rect">
              <a:avLst/>
            </a:prstGeom>
            <a:solidFill>
              <a:srgbClr val="CCCCCC"/>
            </a:solidFill>
            <a:ln w="9525" cap="flat">
              <a:solidFill>
                <a:srgbClr val="000000"/>
              </a:solidFill>
              <a:prstDash val="solid"/>
              <a:miter/>
            </a:ln>
          </p:spPr>
          <p:txBody>
            <a:bodyPr/>
            <a:lstStyle/>
            <a:p>
              <a:endParaRPr lang="en-US"/>
            </a:p>
          </p:txBody>
        </p:sp>
        <p:sp>
          <p:nvSpPr>
            <p:cNvPr id="48" name="Rectangle 47">
              <a:extLst>
                <a:ext uri="{FF2B5EF4-FFF2-40B4-BE49-F238E27FC236}">
                  <a16:creationId xmlns:a16="http://schemas.microsoft.com/office/drawing/2014/main" id="{D54D7C03-3CBC-B686-415D-AA21F544ACE7}"/>
                </a:ext>
              </a:extLst>
            </p:cNvPr>
            <p:cNvSpPr/>
            <p:nvPr/>
          </p:nvSpPr>
          <p:spPr>
            <a:xfrm>
              <a:off x="6662737" y="3233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49" name="Rectangle 48">
              <a:extLst>
                <a:ext uri="{FF2B5EF4-FFF2-40B4-BE49-F238E27FC236}">
                  <a16:creationId xmlns:a16="http://schemas.microsoft.com/office/drawing/2014/main" id="{5380EAF7-0F2E-056E-76E7-DF9F1382E993}"/>
                </a:ext>
              </a:extLst>
            </p:cNvPr>
            <p:cNvSpPr/>
            <p:nvPr/>
          </p:nvSpPr>
          <p:spPr>
            <a:xfrm>
              <a:off x="7043737" y="2852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50" name="Rectangle 49">
              <a:extLst>
                <a:ext uri="{FF2B5EF4-FFF2-40B4-BE49-F238E27FC236}">
                  <a16:creationId xmlns:a16="http://schemas.microsoft.com/office/drawing/2014/main" id="{CB5759A0-355A-D02E-5D90-8FC5737A3AA5}"/>
                </a:ext>
              </a:extLst>
            </p:cNvPr>
            <p:cNvSpPr/>
            <p:nvPr/>
          </p:nvSpPr>
          <p:spPr>
            <a:xfrm>
              <a:off x="7043737" y="3233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51" name="Rectangle 50">
              <a:extLst>
                <a:ext uri="{FF2B5EF4-FFF2-40B4-BE49-F238E27FC236}">
                  <a16:creationId xmlns:a16="http://schemas.microsoft.com/office/drawing/2014/main" id="{9DBB0A95-8172-7945-C268-841E3B935C4B}"/>
                </a:ext>
              </a:extLst>
            </p:cNvPr>
            <p:cNvSpPr/>
            <p:nvPr/>
          </p:nvSpPr>
          <p:spPr>
            <a:xfrm>
              <a:off x="4757737" y="3614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52" name="Rectangle 51">
              <a:extLst>
                <a:ext uri="{FF2B5EF4-FFF2-40B4-BE49-F238E27FC236}">
                  <a16:creationId xmlns:a16="http://schemas.microsoft.com/office/drawing/2014/main" id="{D8D4BD9B-EDF0-D194-D15E-B7B21262275A}"/>
                </a:ext>
              </a:extLst>
            </p:cNvPr>
            <p:cNvSpPr/>
            <p:nvPr/>
          </p:nvSpPr>
          <p:spPr>
            <a:xfrm>
              <a:off x="5138737" y="3614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53" name="Rectangle 52">
              <a:extLst>
                <a:ext uri="{FF2B5EF4-FFF2-40B4-BE49-F238E27FC236}">
                  <a16:creationId xmlns:a16="http://schemas.microsoft.com/office/drawing/2014/main" id="{AD785FB2-6A56-DB40-4026-78CF899FE89A}"/>
                </a:ext>
              </a:extLst>
            </p:cNvPr>
            <p:cNvSpPr/>
            <p:nvPr/>
          </p:nvSpPr>
          <p:spPr>
            <a:xfrm>
              <a:off x="4757737" y="3995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54" name="Rectangle 53">
              <a:extLst>
                <a:ext uri="{FF2B5EF4-FFF2-40B4-BE49-F238E27FC236}">
                  <a16:creationId xmlns:a16="http://schemas.microsoft.com/office/drawing/2014/main" id="{6DCBFF32-E6E1-23DE-1749-D186187E8D3B}"/>
                </a:ext>
              </a:extLst>
            </p:cNvPr>
            <p:cNvSpPr/>
            <p:nvPr/>
          </p:nvSpPr>
          <p:spPr>
            <a:xfrm>
              <a:off x="5138737" y="3995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55" name="Rectangle 54">
              <a:extLst>
                <a:ext uri="{FF2B5EF4-FFF2-40B4-BE49-F238E27FC236}">
                  <a16:creationId xmlns:a16="http://schemas.microsoft.com/office/drawing/2014/main" id="{330818D5-1AC3-12B2-BBBE-0FC00ADF755D}"/>
                </a:ext>
              </a:extLst>
            </p:cNvPr>
            <p:cNvSpPr/>
            <p:nvPr/>
          </p:nvSpPr>
          <p:spPr>
            <a:xfrm>
              <a:off x="5519737" y="3614737"/>
              <a:ext cx="381000" cy="381000"/>
            </a:xfrm>
            <a:prstGeom prst="rect">
              <a:avLst/>
            </a:prstGeom>
            <a:solidFill>
              <a:srgbClr val="CCCCCC"/>
            </a:solidFill>
            <a:ln w="9525" cap="flat">
              <a:solidFill>
                <a:srgbClr val="000000"/>
              </a:solidFill>
              <a:prstDash val="solid"/>
              <a:miter/>
            </a:ln>
          </p:spPr>
          <p:txBody>
            <a:bodyPr/>
            <a:lstStyle/>
            <a:p>
              <a:endParaRPr lang="en-US"/>
            </a:p>
          </p:txBody>
        </p:sp>
        <p:sp>
          <p:nvSpPr>
            <p:cNvPr id="56" name="Rectangle 55">
              <a:extLst>
                <a:ext uri="{FF2B5EF4-FFF2-40B4-BE49-F238E27FC236}">
                  <a16:creationId xmlns:a16="http://schemas.microsoft.com/office/drawing/2014/main" id="{97126080-7EA2-8DEC-2EF7-686C0EEBD4C4}"/>
                </a:ext>
              </a:extLst>
            </p:cNvPr>
            <p:cNvSpPr/>
            <p:nvPr/>
          </p:nvSpPr>
          <p:spPr>
            <a:xfrm>
              <a:off x="5900737" y="3614737"/>
              <a:ext cx="381000" cy="381000"/>
            </a:xfrm>
            <a:prstGeom prst="rect">
              <a:avLst/>
            </a:prstGeom>
            <a:solidFill>
              <a:srgbClr val="CCCCCC"/>
            </a:solidFill>
            <a:ln w="9525" cap="flat">
              <a:solidFill>
                <a:srgbClr val="000000"/>
              </a:solidFill>
              <a:prstDash val="solid"/>
              <a:miter/>
            </a:ln>
          </p:spPr>
          <p:txBody>
            <a:bodyPr/>
            <a:lstStyle/>
            <a:p>
              <a:endParaRPr lang="en-US"/>
            </a:p>
          </p:txBody>
        </p:sp>
        <p:sp>
          <p:nvSpPr>
            <p:cNvPr id="57" name="Rectangle 56">
              <a:extLst>
                <a:ext uri="{FF2B5EF4-FFF2-40B4-BE49-F238E27FC236}">
                  <a16:creationId xmlns:a16="http://schemas.microsoft.com/office/drawing/2014/main" id="{AEA4483D-3D15-9D38-0587-882779D8E507}"/>
                </a:ext>
              </a:extLst>
            </p:cNvPr>
            <p:cNvSpPr/>
            <p:nvPr/>
          </p:nvSpPr>
          <p:spPr>
            <a:xfrm>
              <a:off x="5519737" y="3995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58" name="Rectangle 57">
              <a:extLst>
                <a:ext uri="{FF2B5EF4-FFF2-40B4-BE49-F238E27FC236}">
                  <a16:creationId xmlns:a16="http://schemas.microsoft.com/office/drawing/2014/main" id="{84161FC5-3F75-246A-88F7-52C64A2E0528}"/>
                </a:ext>
              </a:extLst>
            </p:cNvPr>
            <p:cNvSpPr/>
            <p:nvPr/>
          </p:nvSpPr>
          <p:spPr>
            <a:xfrm>
              <a:off x="5900737" y="3995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59" name="Rectangle 58">
              <a:extLst>
                <a:ext uri="{FF2B5EF4-FFF2-40B4-BE49-F238E27FC236}">
                  <a16:creationId xmlns:a16="http://schemas.microsoft.com/office/drawing/2014/main" id="{F1EAC736-6456-0CE3-6AEF-2B8E3DA5A09B}"/>
                </a:ext>
              </a:extLst>
            </p:cNvPr>
            <p:cNvSpPr/>
            <p:nvPr/>
          </p:nvSpPr>
          <p:spPr>
            <a:xfrm>
              <a:off x="6281737" y="3614737"/>
              <a:ext cx="381000" cy="381000"/>
            </a:xfrm>
            <a:prstGeom prst="rect">
              <a:avLst/>
            </a:prstGeom>
            <a:solidFill>
              <a:srgbClr val="CCCCCC"/>
            </a:solidFill>
            <a:ln w="9525" cap="flat">
              <a:solidFill>
                <a:srgbClr val="000000"/>
              </a:solidFill>
              <a:prstDash val="solid"/>
              <a:miter/>
            </a:ln>
          </p:spPr>
          <p:txBody>
            <a:bodyPr/>
            <a:lstStyle/>
            <a:p>
              <a:endParaRPr lang="en-US"/>
            </a:p>
          </p:txBody>
        </p:sp>
        <p:sp>
          <p:nvSpPr>
            <p:cNvPr id="60" name="Rectangle 59">
              <a:extLst>
                <a:ext uri="{FF2B5EF4-FFF2-40B4-BE49-F238E27FC236}">
                  <a16:creationId xmlns:a16="http://schemas.microsoft.com/office/drawing/2014/main" id="{EDAC7F04-1BD8-0A14-9AAA-0A3104224F6F}"/>
                </a:ext>
              </a:extLst>
            </p:cNvPr>
            <p:cNvSpPr/>
            <p:nvPr/>
          </p:nvSpPr>
          <p:spPr>
            <a:xfrm>
              <a:off x="6662737" y="3614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61" name="Rectangle 60">
              <a:extLst>
                <a:ext uri="{FF2B5EF4-FFF2-40B4-BE49-F238E27FC236}">
                  <a16:creationId xmlns:a16="http://schemas.microsoft.com/office/drawing/2014/main" id="{D87ED04B-9027-FAA2-A1B8-ED3C9DE2B44B}"/>
                </a:ext>
              </a:extLst>
            </p:cNvPr>
            <p:cNvSpPr/>
            <p:nvPr/>
          </p:nvSpPr>
          <p:spPr>
            <a:xfrm>
              <a:off x="6281737" y="3995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62" name="Rectangle 61">
              <a:extLst>
                <a:ext uri="{FF2B5EF4-FFF2-40B4-BE49-F238E27FC236}">
                  <a16:creationId xmlns:a16="http://schemas.microsoft.com/office/drawing/2014/main" id="{F097E7EE-FDEB-0281-CE11-213C25A9584A}"/>
                </a:ext>
              </a:extLst>
            </p:cNvPr>
            <p:cNvSpPr/>
            <p:nvPr/>
          </p:nvSpPr>
          <p:spPr>
            <a:xfrm>
              <a:off x="6662737" y="3995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63" name="Rectangle 62">
              <a:extLst>
                <a:ext uri="{FF2B5EF4-FFF2-40B4-BE49-F238E27FC236}">
                  <a16:creationId xmlns:a16="http://schemas.microsoft.com/office/drawing/2014/main" id="{A2B744D5-0A39-8D5B-2C2B-1934A69835CE}"/>
                </a:ext>
              </a:extLst>
            </p:cNvPr>
            <p:cNvSpPr/>
            <p:nvPr/>
          </p:nvSpPr>
          <p:spPr>
            <a:xfrm>
              <a:off x="7043737" y="3614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64" name="Rectangle 63">
              <a:extLst>
                <a:ext uri="{FF2B5EF4-FFF2-40B4-BE49-F238E27FC236}">
                  <a16:creationId xmlns:a16="http://schemas.microsoft.com/office/drawing/2014/main" id="{9DDD8BDB-2928-13A7-DA72-4276F995358C}"/>
                </a:ext>
              </a:extLst>
            </p:cNvPr>
            <p:cNvSpPr/>
            <p:nvPr/>
          </p:nvSpPr>
          <p:spPr>
            <a:xfrm>
              <a:off x="7043737" y="3995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65" name="Rectangle 64">
              <a:extLst>
                <a:ext uri="{FF2B5EF4-FFF2-40B4-BE49-F238E27FC236}">
                  <a16:creationId xmlns:a16="http://schemas.microsoft.com/office/drawing/2014/main" id="{96130875-0B1F-A0F1-5C8A-0B597CFA38EF}"/>
                </a:ext>
              </a:extLst>
            </p:cNvPr>
            <p:cNvSpPr/>
            <p:nvPr/>
          </p:nvSpPr>
          <p:spPr>
            <a:xfrm>
              <a:off x="4757737" y="4376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66" name="Rectangle 65">
              <a:extLst>
                <a:ext uri="{FF2B5EF4-FFF2-40B4-BE49-F238E27FC236}">
                  <a16:creationId xmlns:a16="http://schemas.microsoft.com/office/drawing/2014/main" id="{95A17DD4-7EEC-6816-B3AE-965CDD860873}"/>
                </a:ext>
              </a:extLst>
            </p:cNvPr>
            <p:cNvSpPr/>
            <p:nvPr/>
          </p:nvSpPr>
          <p:spPr>
            <a:xfrm>
              <a:off x="5138737" y="4376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67" name="Rectangle 66">
              <a:extLst>
                <a:ext uri="{FF2B5EF4-FFF2-40B4-BE49-F238E27FC236}">
                  <a16:creationId xmlns:a16="http://schemas.microsoft.com/office/drawing/2014/main" id="{9C9136F6-0E96-BCA6-AE37-27E0C1711017}"/>
                </a:ext>
              </a:extLst>
            </p:cNvPr>
            <p:cNvSpPr/>
            <p:nvPr/>
          </p:nvSpPr>
          <p:spPr>
            <a:xfrm>
              <a:off x="5519737" y="4376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68" name="Rectangle 67">
              <a:extLst>
                <a:ext uri="{FF2B5EF4-FFF2-40B4-BE49-F238E27FC236}">
                  <a16:creationId xmlns:a16="http://schemas.microsoft.com/office/drawing/2014/main" id="{8BA9E4EA-B9A7-45EA-6627-6E577E5ABF85}"/>
                </a:ext>
              </a:extLst>
            </p:cNvPr>
            <p:cNvSpPr/>
            <p:nvPr/>
          </p:nvSpPr>
          <p:spPr>
            <a:xfrm>
              <a:off x="5900737" y="4376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69" name="Rectangle 68">
              <a:extLst>
                <a:ext uri="{FF2B5EF4-FFF2-40B4-BE49-F238E27FC236}">
                  <a16:creationId xmlns:a16="http://schemas.microsoft.com/office/drawing/2014/main" id="{3575F222-3D19-8E86-D9EF-648AA78DAFF2}"/>
                </a:ext>
              </a:extLst>
            </p:cNvPr>
            <p:cNvSpPr/>
            <p:nvPr/>
          </p:nvSpPr>
          <p:spPr>
            <a:xfrm>
              <a:off x="6281737" y="4376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70" name="Rectangle 69">
              <a:extLst>
                <a:ext uri="{FF2B5EF4-FFF2-40B4-BE49-F238E27FC236}">
                  <a16:creationId xmlns:a16="http://schemas.microsoft.com/office/drawing/2014/main" id="{0B7B1F17-8648-71C3-9A16-DD3FD0A826A4}"/>
                </a:ext>
              </a:extLst>
            </p:cNvPr>
            <p:cNvSpPr/>
            <p:nvPr/>
          </p:nvSpPr>
          <p:spPr>
            <a:xfrm>
              <a:off x="6662737" y="4376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71" name="Rectangle 70">
              <a:extLst>
                <a:ext uri="{FF2B5EF4-FFF2-40B4-BE49-F238E27FC236}">
                  <a16:creationId xmlns:a16="http://schemas.microsoft.com/office/drawing/2014/main" id="{B0A66F5A-941C-CD39-1FB9-F29D909642CB}"/>
                </a:ext>
              </a:extLst>
            </p:cNvPr>
            <p:cNvSpPr/>
            <p:nvPr/>
          </p:nvSpPr>
          <p:spPr>
            <a:xfrm>
              <a:off x="7043737" y="4376737"/>
              <a:ext cx="381000" cy="381000"/>
            </a:xfrm>
            <a:prstGeom prst="rect">
              <a:avLst/>
            </a:prstGeom>
            <a:solidFill>
              <a:srgbClr val="FFFFFF"/>
            </a:solidFill>
            <a:ln w="9525" cap="flat">
              <a:solidFill>
                <a:srgbClr val="000000"/>
              </a:solidFill>
              <a:prstDash val="solid"/>
              <a:miter/>
            </a:ln>
          </p:spPr>
          <p:txBody>
            <a:bodyPr/>
            <a:lstStyle/>
            <a:p>
              <a:endParaRPr lang="en-US"/>
            </a:p>
          </p:txBody>
        </p:sp>
      </p:grpSp>
      <p:cxnSp>
        <p:nvCxnSpPr>
          <p:cNvPr id="73" name="Straight Arrow Connector 72">
            <a:extLst>
              <a:ext uri="{FF2B5EF4-FFF2-40B4-BE49-F238E27FC236}">
                <a16:creationId xmlns:a16="http://schemas.microsoft.com/office/drawing/2014/main" id="{1C7BF7AF-DC09-34FF-9444-944EDC6A9794}"/>
              </a:ext>
            </a:extLst>
          </p:cNvPr>
          <p:cNvCxnSpPr/>
          <p:nvPr/>
        </p:nvCxnSpPr>
        <p:spPr>
          <a:xfrm flipH="1" flipV="1">
            <a:off x="6006736" y="4996266"/>
            <a:ext cx="1898650" cy="2413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4" name="TextBox 73">
            <a:extLst>
              <a:ext uri="{FF2B5EF4-FFF2-40B4-BE49-F238E27FC236}">
                <a16:creationId xmlns:a16="http://schemas.microsoft.com/office/drawing/2014/main" id="{92165F4C-C28A-EF05-DBA3-80C928C520DD}"/>
              </a:ext>
            </a:extLst>
          </p:cNvPr>
          <p:cNvSpPr txBox="1"/>
          <p:nvPr/>
        </p:nvSpPr>
        <p:spPr>
          <a:xfrm>
            <a:off x="7873837" y="5052285"/>
            <a:ext cx="1599797" cy="400110"/>
          </a:xfrm>
          <a:prstGeom prst="rect">
            <a:avLst/>
          </a:prstGeom>
          <a:noFill/>
        </p:spPr>
        <p:txBody>
          <a:bodyPr wrap="none" rtlCol="0">
            <a:spAutoFit/>
          </a:bodyPr>
          <a:lstStyle/>
          <a:p>
            <a:r>
              <a:rPr lang="en-US" sz="2000" dirty="0"/>
              <a:t>Updated cell</a:t>
            </a:r>
          </a:p>
        </p:txBody>
      </p:sp>
      <p:cxnSp>
        <p:nvCxnSpPr>
          <p:cNvPr id="76" name="Straight Arrow Connector 75">
            <a:extLst>
              <a:ext uri="{FF2B5EF4-FFF2-40B4-BE49-F238E27FC236}">
                <a16:creationId xmlns:a16="http://schemas.microsoft.com/office/drawing/2014/main" id="{C124EAF2-32DC-27D9-87E5-D12E3A32FC6C}"/>
              </a:ext>
            </a:extLst>
          </p:cNvPr>
          <p:cNvCxnSpPr/>
          <p:nvPr/>
        </p:nvCxnSpPr>
        <p:spPr>
          <a:xfrm flipH="1" flipV="1">
            <a:off x="6436905" y="5422232"/>
            <a:ext cx="1258931" cy="8901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7" name="TextBox 76">
            <a:extLst>
              <a:ext uri="{FF2B5EF4-FFF2-40B4-BE49-F238E27FC236}">
                <a16:creationId xmlns:a16="http://schemas.microsoft.com/office/drawing/2014/main" id="{42AA0690-756B-164D-33E4-45263355827E}"/>
              </a:ext>
            </a:extLst>
          </p:cNvPr>
          <p:cNvSpPr txBox="1"/>
          <p:nvPr/>
        </p:nvSpPr>
        <p:spPr>
          <a:xfrm>
            <a:off x="7673180" y="6191593"/>
            <a:ext cx="1766830" cy="400110"/>
          </a:xfrm>
          <a:prstGeom prst="rect">
            <a:avLst/>
          </a:prstGeom>
          <a:noFill/>
        </p:spPr>
        <p:txBody>
          <a:bodyPr wrap="none" rtlCol="0">
            <a:spAutoFit/>
          </a:bodyPr>
          <a:lstStyle/>
          <a:p>
            <a:r>
              <a:rPr lang="en-US" sz="2000" dirty="0"/>
              <a:t>Neighborhood</a:t>
            </a:r>
          </a:p>
        </p:txBody>
      </p:sp>
    </p:spTree>
    <p:extLst>
      <p:ext uri="{BB962C8B-B14F-4D97-AF65-F5344CB8AC3E}">
        <p14:creationId xmlns:p14="http://schemas.microsoft.com/office/powerpoint/2010/main" val="2630539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9" grpId="0" animBg="1"/>
      <p:bldP spid="74" grpId="0"/>
      <p:bldP spid="7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BA40584-E9E1-E05A-DDA2-513A6AB47700}"/>
              </a:ext>
            </a:extLst>
          </p:cNvPr>
          <p:cNvSpPr>
            <a:spLocks noGrp="1"/>
          </p:cNvSpPr>
          <p:nvPr>
            <p:ph type="title"/>
          </p:nvPr>
        </p:nvSpPr>
        <p:spPr/>
        <p:txBody>
          <a:bodyPr/>
          <a:lstStyle/>
          <a:p>
            <a:r>
              <a:rPr lang="en-US" noProof="0" dirty="0"/>
              <a:t>Cellular automata abstraction</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nvPr>
        </p:nvSpPr>
        <p:spPr/>
        <p:txBody>
          <a:bodyPr/>
          <a:lstStyle/>
          <a:p>
            <a:fld id="{3282519B-8553-4EB5-804E-C162E89AEEEB}"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nvPr>
        </p:nvSpPr>
        <p:spPr/>
        <p:txBody>
          <a:bodyPr/>
          <a:lstStyle/>
          <a:p>
            <a:fld id="{DA0BB241-1B5F-4309-9407-9EEA04D9598D}" type="slidenum">
              <a:rPr lang="en-US" noProof="0" smtClean="0"/>
              <a:t>20</a:t>
            </a:fld>
            <a:endParaRPr lang="en-US" noProof="0" dirty="0"/>
          </a:p>
        </p:txBody>
      </p:sp>
      <p:grpSp>
        <p:nvGrpSpPr>
          <p:cNvPr id="11" name="Group 10">
            <a:extLst>
              <a:ext uri="{FF2B5EF4-FFF2-40B4-BE49-F238E27FC236}">
                <a16:creationId xmlns:a16="http://schemas.microsoft.com/office/drawing/2014/main" id="{81B3A7AE-4759-44E5-9C3B-C249E00BEB60}"/>
              </a:ext>
            </a:extLst>
          </p:cNvPr>
          <p:cNvGrpSpPr/>
          <p:nvPr/>
        </p:nvGrpSpPr>
        <p:grpSpPr>
          <a:xfrm>
            <a:off x="118662" y="3084212"/>
            <a:ext cx="5225579" cy="3318028"/>
            <a:chOff x="118662" y="3398116"/>
            <a:chExt cx="5225579" cy="3318028"/>
          </a:xfrm>
        </p:grpSpPr>
        <p:sp>
          <p:nvSpPr>
            <p:cNvPr id="31" name="TextBox 30">
              <a:extLst>
                <a:ext uri="{FF2B5EF4-FFF2-40B4-BE49-F238E27FC236}">
                  <a16:creationId xmlns:a16="http://schemas.microsoft.com/office/drawing/2014/main" id="{77E75B41-9FF8-203F-11A5-F4CDFE22F9AB}"/>
                </a:ext>
              </a:extLst>
            </p:cNvPr>
            <p:cNvSpPr txBox="1"/>
            <p:nvPr/>
          </p:nvSpPr>
          <p:spPr>
            <a:xfrm>
              <a:off x="118662" y="3816761"/>
              <a:ext cx="5225579" cy="2899383"/>
            </a:xfrm>
            <a:prstGeom prst="rect">
              <a:avLst/>
            </a:prstGeom>
            <a:noFill/>
            <a:ln>
              <a:solidFill>
                <a:schemeClr val="tx1"/>
              </a:solidFill>
            </a:ln>
          </p:spPr>
          <p:txBody>
            <a:bodyPr wrap="square">
              <a:spAutoFit/>
            </a:bodyPr>
            <a:lstStyle/>
            <a:p>
              <a:pPr>
                <a:lnSpc>
                  <a:spcPct val="113095"/>
                </a:lnSpc>
                <a:buNone/>
              </a:pPr>
              <a:r>
                <a:rPr lang="en-US" noProof="0" dirty="0">
                  <a:solidFill>
                    <a:srgbClr val="AF00DB"/>
                  </a:solidFill>
                  <a:effectLst/>
                  <a:latin typeface="Fira Code" panose="020B0809050000020004" pitchFamily="49" charset="0"/>
                </a:rPr>
                <a:t>if</a:t>
              </a:r>
              <a:r>
                <a:rPr lang="en-US" noProof="0" dirty="0">
                  <a:solidFill>
                    <a:srgbClr val="000000"/>
                  </a:solidFill>
                  <a:effectLst/>
                  <a:latin typeface="Fira Code" panose="020B0809050000020004" pitchFamily="49" charset="0"/>
                </a:rPr>
                <a:t> (</a:t>
              </a:r>
              <a:r>
                <a:rPr lang="en-US" noProof="0" dirty="0">
                  <a:solidFill>
                    <a:srgbClr val="001080"/>
                  </a:solidFill>
                  <a:effectLst/>
                  <a:latin typeface="Fira Code" panose="020B0809050000020004" pitchFamily="49" charset="0"/>
                </a:rPr>
                <a:t>current</a:t>
              </a:r>
              <a:r>
                <a:rPr lang="en-US" sz="500" noProof="0" dirty="0">
                  <a:solidFill>
                    <a:srgbClr val="000000"/>
                  </a:solidFill>
                  <a:effectLst/>
                  <a:latin typeface="Fira Code" panose="020B0809050000020004" pitchFamily="49" charset="0"/>
                </a:rPr>
                <a:t> </a:t>
              </a:r>
              <a:r>
                <a:rPr lang="en-US" noProof="0" dirty="0">
                  <a:solidFill>
                    <a:srgbClr val="000000"/>
                  </a:solidFill>
                  <a:effectLst/>
                  <a:latin typeface="Fira Code" panose="020B0809050000020004" pitchFamily="49" charset="0"/>
                </a:rPr>
                <a:t>=</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noProof="0" dirty="0">
                  <a:solidFill>
                    <a:srgbClr val="000000"/>
                  </a:solidFill>
                  <a:effectLst/>
                  <a:latin typeface="Fira Code" panose="020B0809050000020004" pitchFamily="49" charset="0"/>
                </a:rPr>
                <a:t>=</a:t>
              </a:r>
              <a:r>
                <a:rPr lang="en-US" sz="500" noProof="0" dirty="0">
                  <a:solidFill>
                    <a:srgbClr val="000000"/>
                  </a:solidFill>
                  <a:effectLst/>
                  <a:latin typeface="Fira Code" panose="020B0809050000020004" pitchFamily="49" charset="0"/>
                </a:rPr>
                <a:t> </a:t>
              </a:r>
              <a:r>
                <a:rPr lang="en-US" noProof="0" dirty="0">
                  <a:solidFill>
                    <a:srgbClr val="0070C1"/>
                  </a:solidFill>
                  <a:effectLst/>
                  <a:latin typeface="Fira Code" panose="020B0809050000020004" pitchFamily="49" charset="0"/>
                </a:rPr>
                <a:t>ALIVE</a:t>
              </a:r>
              <a:r>
                <a:rPr lang="en-US"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2</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 </a:t>
              </a:r>
              <a:r>
                <a:rPr lang="en-US" b="0" noProof="0" dirty="0">
                  <a:solidFill>
                    <a:srgbClr val="000000"/>
                  </a:solidFill>
                  <a:effectLst/>
                  <a:latin typeface="Fira Code" panose="020B0809050000020004" pitchFamily="49" charset="0"/>
                </a:rPr>
                <a:t>=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p:txBody>
        </p:sp>
        <p:sp>
          <p:nvSpPr>
            <p:cNvPr id="40" name="TextBox 39">
              <a:extLst>
                <a:ext uri="{FF2B5EF4-FFF2-40B4-BE49-F238E27FC236}">
                  <a16:creationId xmlns:a16="http://schemas.microsoft.com/office/drawing/2014/main" id="{D1EFD203-2857-53F1-07FC-94B8A741639D}"/>
                </a:ext>
              </a:extLst>
            </p:cNvPr>
            <p:cNvSpPr txBox="1"/>
            <p:nvPr/>
          </p:nvSpPr>
          <p:spPr>
            <a:xfrm>
              <a:off x="781622" y="3398116"/>
              <a:ext cx="3899657" cy="461665"/>
            </a:xfrm>
            <a:prstGeom prst="rect">
              <a:avLst/>
            </a:prstGeom>
            <a:noFill/>
          </p:spPr>
          <p:txBody>
            <a:bodyPr wrap="none" rtlCol="0">
              <a:spAutoFit/>
            </a:bodyPr>
            <a:lstStyle/>
            <a:p>
              <a:pPr algn="ctr"/>
              <a:r>
                <a:rPr lang="en-US" sz="2400" noProof="0" dirty="0"/>
                <a:t>Update rule for Game of Life</a:t>
              </a:r>
            </a:p>
          </p:txBody>
        </p:sp>
      </p:grpSp>
      <p:grpSp>
        <p:nvGrpSpPr>
          <p:cNvPr id="12" name="Group 11">
            <a:extLst>
              <a:ext uri="{FF2B5EF4-FFF2-40B4-BE49-F238E27FC236}">
                <a16:creationId xmlns:a16="http://schemas.microsoft.com/office/drawing/2014/main" id="{0E365D69-516D-0808-8085-F8A462F03D96}"/>
              </a:ext>
            </a:extLst>
          </p:cNvPr>
          <p:cNvGrpSpPr/>
          <p:nvPr/>
        </p:nvGrpSpPr>
        <p:grpSpPr>
          <a:xfrm>
            <a:off x="5426127" y="3607154"/>
            <a:ext cx="6706530" cy="2225552"/>
            <a:chOff x="5703901" y="3724517"/>
            <a:chExt cx="6369437" cy="2225552"/>
          </a:xfrm>
        </p:grpSpPr>
        <p:sp>
          <p:nvSpPr>
            <p:cNvPr id="46" name="TextBox 45">
              <a:extLst>
                <a:ext uri="{FF2B5EF4-FFF2-40B4-BE49-F238E27FC236}">
                  <a16:creationId xmlns:a16="http://schemas.microsoft.com/office/drawing/2014/main" id="{0F7A28B7-7C76-0D69-D0F9-D698CC5C32FC}"/>
                </a:ext>
              </a:extLst>
            </p:cNvPr>
            <p:cNvSpPr txBox="1"/>
            <p:nvPr/>
          </p:nvSpPr>
          <p:spPr>
            <a:xfrm>
              <a:off x="5703901" y="4130212"/>
              <a:ext cx="6369437" cy="1819857"/>
            </a:xfrm>
            <a:prstGeom prst="rect">
              <a:avLst/>
            </a:prstGeom>
            <a:noFill/>
            <a:ln>
              <a:solidFill>
                <a:schemeClr val="tx1"/>
              </a:solidFill>
            </a:ln>
          </p:spPr>
          <p:txBody>
            <a:bodyPr wrap="square">
              <a:spAutoFit/>
            </a:bodyPr>
            <a:lstStyle/>
            <a:p>
              <a:pPr>
                <a:lnSpc>
                  <a:spcPct val="113095"/>
                </a:lnSpc>
                <a:buNone/>
              </a:pP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err="1">
                  <a:solidFill>
                    <a:srgbClr val="001080"/>
                  </a:solidFill>
                  <a:latin typeface="Fira Code" panose="020B0809050000020004" pitchFamily="49" charset="0"/>
                  <a:ea typeface="Fira Code" panose="020B0809050000020004" pitchFamily="49" charset="0"/>
                  <a:cs typeface="Fira Code" panose="020B0809050000020004" pitchFamily="49" charset="0"/>
                </a:rPr>
                <a:t>is_alive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has3_or_2</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endParaRPr lang="en-US" sz="2000" dirty="0">
                <a:solidFill>
                  <a:srgbClr val="000000"/>
                </a:solidFill>
                <a:latin typeface="Fira Code" panose="020B0809050000020004" pitchFamily="49" charset="0"/>
                <a:ea typeface="Fira Code" panose="020B0809050000020004" pitchFamily="49" charset="0"/>
                <a:cs typeface="Fira Code" panose="020B0809050000020004" pitchFamily="49" charset="0"/>
              </a:endParaRP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p:txBody>
        </p:sp>
        <p:sp>
          <p:nvSpPr>
            <p:cNvPr id="50" name="TextBox 49">
              <a:extLst>
                <a:ext uri="{FF2B5EF4-FFF2-40B4-BE49-F238E27FC236}">
                  <a16:creationId xmlns:a16="http://schemas.microsoft.com/office/drawing/2014/main" id="{B0BF9745-75CB-C855-CD93-BB61357ED979}"/>
                </a:ext>
              </a:extLst>
            </p:cNvPr>
            <p:cNvSpPr txBox="1"/>
            <p:nvPr/>
          </p:nvSpPr>
          <p:spPr>
            <a:xfrm>
              <a:off x="6891475" y="3724517"/>
              <a:ext cx="4579776" cy="461665"/>
            </a:xfrm>
            <a:prstGeom prst="rect">
              <a:avLst/>
            </a:prstGeom>
            <a:noFill/>
          </p:spPr>
          <p:txBody>
            <a:bodyPr wrap="none" rtlCol="0">
              <a:spAutoFit/>
            </a:bodyPr>
            <a:lstStyle/>
            <a:p>
              <a:pPr algn="ctr"/>
              <a:r>
                <a:rPr lang="en-US" sz="2400" noProof="0" dirty="0">
                  <a:ea typeface="Fira Code" panose="020B0809050000020004" pitchFamily="49" charset="0"/>
                  <a:cs typeface="Fira Code" panose="020B0809050000020004" pitchFamily="49" charset="0"/>
                </a:rPr>
                <a:t>Type-level expression (</a:t>
              </a:r>
              <a:r>
                <a:rPr lang="en-US" sz="2400" noProof="0" dirty="0" err="1">
                  <a:ea typeface="Fira Code" panose="020B0809050000020004" pitchFamily="49" charset="0"/>
                  <a:cs typeface="Fira Code" panose="020B0809050000020004" pitchFamily="49" charset="0"/>
                </a:rPr>
                <a:t>Cellato</a:t>
              </a:r>
              <a:r>
                <a:rPr lang="en-US" sz="2400" noProof="0" dirty="0">
                  <a:ea typeface="Fira Code" panose="020B0809050000020004" pitchFamily="49" charset="0"/>
                  <a:cs typeface="Fira Code" panose="020B0809050000020004" pitchFamily="49" charset="0"/>
                </a:rPr>
                <a:t> DSL)</a:t>
              </a:r>
            </a:p>
          </p:txBody>
        </p:sp>
      </p:grpSp>
      <p:pic>
        <p:nvPicPr>
          <p:cNvPr id="16" name="Picture 15" descr="Glider Gun">
            <a:extLst>
              <a:ext uri="{FF2B5EF4-FFF2-40B4-BE49-F238E27FC236}">
                <a16:creationId xmlns:a16="http://schemas.microsoft.com/office/drawing/2014/main" id="{82C71BC4-EA06-7F93-2807-F6C8B43B18A3}"/>
              </a:ext>
            </a:extLst>
          </p:cNvPr>
          <p:cNvPicPr>
            <a:picLocks noChangeAspect="1"/>
          </p:cNvPicPr>
          <p:nvPr/>
        </p:nvPicPr>
        <p:blipFill>
          <a:blip r:embed="rId3"/>
          <a:stretch>
            <a:fillRect/>
          </a:stretch>
        </p:blipFill>
        <p:spPr>
          <a:xfrm>
            <a:off x="5123665" y="1797656"/>
            <a:ext cx="1944670" cy="1400161"/>
          </a:xfrm>
          <a:prstGeom prst="rect">
            <a:avLst/>
          </a:prstGeom>
          <a:ln>
            <a:solidFill>
              <a:schemeClr val="tx1"/>
            </a:solidFill>
          </a:ln>
        </p:spPr>
      </p:pic>
      <p:sp>
        <p:nvSpPr>
          <p:cNvPr id="10" name="TextBox 9">
            <a:extLst>
              <a:ext uri="{FF2B5EF4-FFF2-40B4-BE49-F238E27FC236}">
                <a16:creationId xmlns:a16="http://schemas.microsoft.com/office/drawing/2014/main" id="{F87652A6-37F0-2CC7-1FD2-E46D9878EE9E}"/>
              </a:ext>
            </a:extLst>
          </p:cNvPr>
          <p:cNvSpPr txBox="1"/>
          <p:nvPr/>
        </p:nvSpPr>
        <p:spPr>
          <a:xfrm>
            <a:off x="4274091" y="1332348"/>
            <a:ext cx="3643818" cy="461665"/>
          </a:xfrm>
          <a:prstGeom prst="rect">
            <a:avLst/>
          </a:prstGeom>
          <a:noFill/>
        </p:spPr>
        <p:txBody>
          <a:bodyPr wrap="none" rtlCol="0">
            <a:spAutoFit/>
          </a:bodyPr>
          <a:lstStyle/>
          <a:p>
            <a:r>
              <a:rPr lang="en-US" sz="2400" b="1" dirty="0"/>
              <a:t>Discrete cell state space</a:t>
            </a:r>
          </a:p>
        </p:txBody>
      </p:sp>
      <p:grpSp>
        <p:nvGrpSpPr>
          <p:cNvPr id="9" name="Group 8">
            <a:extLst>
              <a:ext uri="{FF2B5EF4-FFF2-40B4-BE49-F238E27FC236}">
                <a16:creationId xmlns:a16="http://schemas.microsoft.com/office/drawing/2014/main" id="{EAE8EF76-1A93-88AD-C40A-2D709F01B4DD}"/>
              </a:ext>
            </a:extLst>
          </p:cNvPr>
          <p:cNvGrpSpPr/>
          <p:nvPr/>
        </p:nvGrpSpPr>
        <p:grpSpPr>
          <a:xfrm>
            <a:off x="961382" y="1387557"/>
            <a:ext cx="1987550" cy="1721883"/>
            <a:chOff x="961382" y="1387557"/>
            <a:chExt cx="1987550" cy="1721883"/>
          </a:xfrm>
        </p:grpSpPr>
        <p:pic>
          <p:nvPicPr>
            <p:cNvPr id="7" name="Picture 6">
              <a:extLst>
                <a:ext uri="{FF2B5EF4-FFF2-40B4-BE49-F238E27FC236}">
                  <a16:creationId xmlns:a16="http://schemas.microsoft.com/office/drawing/2014/main" id="{7108A5DE-946E-A9E3-10F6-09FBA9E4F6EF}"/>
                </a:ext>
              </a:extLst>
            </p:cNvPr>
            <p:cNvPicPr>
              <a:picLocks noChangeAspect="1"/>
            </p:cNvPicPr>
            <p:nvPr/>
          </p:nvPicPr>
          <p:blipFill>
            <a:blip r:embed="rId4"/>
            <a:srcRect l="17499" t="6902" r="15499" b="6587"/>
            <a:stretch>
              <a:fillRect/>
            </a:stretch>
          </p:blipFill>
          <p:spPr>
            <a:xfrm>
              <a:off x="961382" y="1756889"/>
              <a:ext cx="1987550" cy="1352551"/>
            </a:xfrm>
            <a:prstGeom prst="rect">
              <a:avLst/>
            </a:prstGeom>
          </p:spPr>
        </p:pic>
        <p:sp>
          <p:nvSpPr>
            <p:cNvPr id="8" name="TextBox 7">
              <a:extLst>
                <a:ext uri="{FF2B5EF4-FFF2-40B4-BE49-F238E27FC236}">
                  <a16:creationId xmlns:a16="http://schemas.microsoft.com/office/drawing/2014/main" id="{4E387B90-4111-B4C3-051E-DCE556A45748}"/>
                </a:ext>
              </a:extLst>
            </p:cNvPr>
            <p:cNvSpPr txBox="1"/>
            <p:nvPr/>
          </p:nvSpPr>
          <p:spPr>
            <a:xfrm>
              <a:off x="1025254" y="1387557"/>
              <a:ext cx="1859805" cy="400110"/>
            </a:xfrm>
            <a:prstGeom prst="rect">
              <a:avLst/>
            </a:prstGeom>
            <a:noFill/>
          </p:spPr>
          <p:txBody>
            <a:bodyPr wrap="none" rtlCol="0">
              <a:spAutoFit/>
            </a:bodyPr>
            <a:lstStyle/>
            <a:p>
              <a:pPr algn="ctr"/>
              <a:r>
                <a:rPr lang="en-US" sz="2000" dirty="0"/>
                <a:t>Fluid dynamics</a:t>
              </a:r>
            </a:p>
          </p:txBody>
        </p:sp>
      </p:grpSp>
      <p:grpSp>
        <p:nvGrpSpPr>
          <p:cNvPr id="17" name="Group 16">
            <a:extLst>
              <a:ext uri="{FF2B5EF4-FFF2-40B4-BE49-F238E27FC236}">
                <a16:creationId xmlns:a16="http://schemas.microsoft.com/office/drawing/2014/main" id="{36A80210-2057-860D-4D9D-9F92A76239F8}"/>
              </a:ext>
            </a:extLst>
          </p:cNvPr>
          <p:cNvGrpSpPr/>
          <p:nvPr/>
        </p:nvGrpSpPr>
        <p:grpSpPr>
          <a:xfrm>
            <a:off x="8744636" y="1146026"/>
            <a:ext cx="2129109" cy="2171373"/>
            <a:chOff x="8744636" y="1146026"/>
            <a:chExt cx="2129109" cy="2171373"/>
          </a:xfrm>
        </p:grpSpPr>
        <p:pic>
          <p:nvPicPr>
            <p:cNvPr id="13" name="Picture 12" descr="Fig. 15">
              <a:extLst>
                <a:ext uri="{FF2B5EF4-FFF2-40B4-BE49-F238E27FC236}">
                  <a16:creationId xmlns:a16="http://schemas.microsoft.com/office/drawing/2014/main" id="{05595CE9-4B9F-9647-A512-81FF33A227D9}"/>
                </a:ext>
              </a:extLst>
            </p:cNvPr>
            <p:cNvPicPr>
              <a:picLocks noChangeAspect="1"/>
            </p:cNvPicPr>
            <p:nvPr/>
          </p:nvPicPr>
          <p:blipFill>
            <a:blip r:embed="rId5"/>
            <a:stretch>
              <a:fillRect/>
            </a:stretch>
          </p:blipFill>
          <p:spPr>
            <a:xfrm>
              <a:off x="8815416" y="1548928"/>
              <a:ext cx="1987550" cy="1768471"/>
            </a:xfrm>
            <a:prstGeom prst="rect">
              <a:avLst/>
            </a:prstGeom>
          </p:spPr>
        </p:pic>
        <p:sp>
          <p:nvSpPr>
            <p:cNvPr id="15" name="TextBox 14">
              <a:extLst>
                <a:ext uri="{FF2B5EF4-FFF2-40B4-BE49-F238E27FC236}">
                  <a16:creationId xmlns:a16="http://schemas.microsoft.com/office/drawing/2014/main" id="{44BE9838-5D14-20B3-90E2-F30B7471C0D3}"/>
                </a:ext>
              </a:extLst>
            </p:cNvPr>
            <p:cNvSpPr txBox="1"/>
            <p:nvPr/>
          </p:nvSpPr>
          <p:spPr>
            <a:xfrm>
              <a:off x="8744636" y="1146026"/>
              <a:ext cx="2129109" cy="400110"/>
            </a:xfrm>
            <a:prstGeom prst="rect">
              <a:avLst/>
            </a:prstGeom>
            <a:noFill/>
          </p:spPr>
          <p:txBody>
            <a:bodyPr wrap="none" rtlCol="0">
              <a:spAutoFit/>
            </a:bodyPr>
            <a:lstStyle/>
            <a:p>
              <a:pPr algn="ctr"/>
              <a:r>
                <a:rPr lang="en-US" sz="2000" dirty="0"/>
                <a:t>Materials science</a:t>
              </a:r>
            </a:p>
          </p:txBody>
        </p:sp>
      </p:grpSp>
    </p:spTree>
    <p:extLst>
      <p:ext uri="{BB962C8B-B14F-4D97-AF65-F5344CB8AC3E}">
        <p14:creationId xmlns:p14="http://schemas.microsoft.com/office/powerpoint/2010/main" val="1664180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B4367950-8D7A-8F93-A9DA-64D5AC81F27E}"/>
              </a:ext>
            </a:extLst>
          </p:cNvPr>
          <p:cNvSpPr txBox="1"/>
          <p:nvPr/>
        </p:nvSpPr>
        <p:spPr>
          <a:xfrm>
            <a:off x="2787245" y="609035"/>
            <a:ext cx="6617508" cy="2167645"/>
          </a:xfrm>
          <a:prstGeom prst="rect">
            <a:avLst/>
          </a:prstGeom>
          <a:noFill/>
          <a:ln>
            <a:solidFill>
              <a:schemeClr val="tx1"/>
            </a:solidFill>
          </a:ln>
        </p:spPr>
        <p:txBody>
          <a:bodyPr wrap="square">
            <a:spAutoFit/>
          </a:bodyPr>
          <a:lstStyle/>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err="1">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is_alive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has3_or_2</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p:txBody>
      </p:sp>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noProof="0" smtClean="0"/>
              <a:t>21</a:t>
            </a:fld>
            <a:endParaRPr lang="en-US" noProof="0" dirty="0"/>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047003" y="2824126"/>
            <a:ext cx="10286254" cy="3636772"/>
          </a:xfrm>
          <a:prstGeom prst="rect">
            <a:avLst/>
          </a:prstGeom>
          <a:ln>
            <a:solidFill>
              <a:schemeClr val="tx1"/>
            </a:solidFill>
          </a:ln>
        </p:spPr>
      </p:pic>
      <p:cxnSp>
        <p:nvCxnSpPr>
          <p:cNvPr id="10" name="Straight Arrow Connector 9">
            <a:extLst>
              <a:ext uri="{FF2B5EF4-FFF2-40B4-BE49-F238E27FC236}">
                <a16:creationId xmlns:a16="http://schemas.microsoft.com/office/drawing/2014/main" id="{90207B99-7626-B9B7-5B84-847CAB7644E6}"/>
              </a:ext>
            </a:extLst>
          </p:cNvPr>
          <p:cNvCxnSpPr>
            <a:cxnSpLocks/>
          </p:cNvCxnSpPr>
          <p:nvPr/>
        </p:nvCxnSpPr>
        <p:spPr>
          <a:xfrm>
            <a:off x="9148482" y="2326341"/>
            <a:ext cx="909918" cy="100244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3680915" y="166269"/>
            <a:ext cx="4830168" cy="461665"/>
          </a:xfrm>
          <a:prstGeom prst="rect">
            <a:avLst/>
          </a:prstGeom>
          <a:noFill/>
        </p:spPr>
        <p:txBody>
          <a:bodyPr wrap="none" rtlCol="0">
            <a:spAutoFit/>
          </a:bodyPr>
          <a:lstStyle/>
          <a:p>
            <a:pPr algn="ctr"/>
            <a:r>
              <a:rPr lang="en-US" sz="2400" noProof="0" dirty="0"/>
              <a:t>Type-level expression (</a:t>
            </a:r>
            <a:r>
              <a:rPr lang="en-US" sz="2400" noProof="0" dirty="0" err="1"/>
              <a:t>Cellato</a:t>
            </a:r>
            <a:r>
              <a:rPr lang="en-US" sz="2400" noProof="0" dirty="0"/>
              <a:t> DSL)</a:t>
            </a:r>
          </a:p>
        </p:txBody>
      </p:sp>
    </p:spTree>
    <p:extLst>
      <p:ext uri="{BB962C8B-B14F-4D97-AF65-F5344CB8AC3E}">
        <p14:creationId xmlns:p14="http://schemas.microsoft.com/office/powerpoint/2010/main" val="28535449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1207A5E-8CD8-50D6-0F99-3C19D813CE41}"/>
              </a:ext>
            </a:extLst>
          </p:cNvPr>
          <p:cNvPicPr>
            <a:picLocks noChangeAspect="1"/>
          </p:cNvPicPr>
          <p:nvPr/>
        </p:nvPicPr>
        <p:blipFill>
          <a:blip r:embed="rId3"/>
          <a:stretch>
            <a:fillRect/>
          </a:stretch>
        </p:blipFill>
        <p:spPr>
          <a:xfrm>
            <a:off x="0" y="1486810"/>
            <a:ext cx="12192000" cy="4511038"/>
          </a:xfrm>
          <a:prstGeom prst="rect">
            <a:avLst/>
          </a:prstGeom>
        </p:spPr>
      </p:pic>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 (follow-up work)</a:t>
            </a:r>
          </a:p>
        </p:txBody>
      </p:sp>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noProof="0" smtClean="0"/>
              <a:t>22</a:t>
            </a:fld>
            <a:endParaRPr lang="en-US" noProof="0" dirty="0"/>
          </a:p>
        </p:txBody>
      </p:sp>
      <p:sp>
        <p:nvSpPr>
          <p:cNvPr id="6" name="TextBox 5">
            <a:extLst>
              <a:ext uri="{FF2B5EF4-FFF2-40B4-BE49-F238E27FC236}">
                <a16:creationId xmlns:a16="http://schemas.microsoft.com/office/drawing/2014/main" id="{358DA207-69B2-929A-62C9-4DE6DBD7195D}"/>
              </a:ext>
            </a:extLst>
          </p:cNvPr>
          <p:cNvSpPr txBox="1"/>
          <p:nvPr/>
        </p:nvSpPr>
        <p:spPr>
          <a:xfrm>
            <a:off x="1493191" y="6114784"/>
            <a:ext cx="9205020" cy="430887"/>
          </a:xfrm>
          <a:prstGeom prst="rect">
            <a:avLst/>
          </a:prstGeom>
          <a:noFill/>
        </p:spPr>
        <p:txBody>
          <a:bodyPr wrap="none" rtlCol="0">
            <a:spAutoFit/>
          </a:bodyPr>
          <a:lstStyle/>
          <a:p>
            <a:pPr algn="ctr"/>
            <a:r>
              <a:rPr lang="en-US" sz="2200" noProof="0" dirty="0"/>
              <a:t>Comparison of GPU-parallelized computation of various cellular automata</a:t>
            </a:r>
            <a:endParaRPr lang="en-US" sz="2200" i="1" noProof="0" dirty="0"/>
          </a:p>
        </p:txBody>
      </p:sp>
      <p:cxnSp>
        <p:nvCxnSpPr>
          <p:cNvPr id="8" name="Straight Arrow Connector 7">
            <a:extLst>
              <a:ext uri="{FF2B5EF4-FFF2-40B4-BE49-F238E27FC236}">
                <a16:creationId xmlns:a16="http://schemas.microsoft.com/office/drawing/2014/main" id="{B863BE26-2F7A-628C-DE51-549D69E8BAAA}"/>
              </a:ext>
            </a:extLst>
          </p:cNvPr>
          <p:cNvCxnSpPr>
            <a:cxnSpLocks/>
            <a:stCxn id="9" idx="0"/>
          </p:cNvCxnSpPr>
          <p:nvPr/>
        </p:nvCxnSpPr>
        <p:spPr>
          <a:xfrm flipV="1">
            <a:off x="670528" y="5216478"/>
            <a:ext cx="288758" cy="5751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AA33C645-3BF2-0721-A2F4-A1F8BC4B7C33}"/>
              </a:ext>
            </a:extLst>
          </p:cNvPr>
          <p:cNvSpPr txBox="1"/>
          <p:nvPr/>
        </p:nvSpPr>
        <p:spPr>
          <a:xfrm>
            <a:off x="-32549" y="5791618"/>
            <a:ext cx="1406154" cy="646331"/>
          </a:xfrm>
          <a:prstGeom prst="rect">
            <a:avLst/>
          </a:prstGeom>
          <a:noFill/>
        </p:spPr>
        <p:txBody>
          <a:bodyPr wrap="none" rtlCol="0">
            <a:spAutoFit/>
          </a:bodyPr>
          <a:lstStyle/>
          <a:p>
            <a:pPr algn="ctr"/>
            <a:r>
              <a:rPr lang="en-US" dirty="0">
                <a:solidFill>
                  <a:srgbClr val="FF0000"/>
                </a:solidFill>
              </a:rPr>
              <a:t>Byte per cell</a:t>
            </a:r>
          </a:p>
          <a:p>
            <a:pPr algn="ctr"/>
            <a:r>
              <a:rPr lang="en-US" dirty="0">
                <a:solidFill>
                  <a:srgbClr val="FF0000"/>
                </a:solidFill>
              </a:rPr>
              <a:t>baseline</a:t>
            </a:r>
          </a:p>
        </p:txBody>
      </p:sp>
    </p:spTree>
    <p:extLst>
      <p:ext uri="{BB962C8B-B14F-4D97-AF65-F5344CB8AC3E}">
        <p14:creationId xmlns:p14="http://schemas.microsoft.com/office/powerpoint/2010/main" val="13104121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noProof="0"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pPr>
              <a:buFont typeface="Wingdings" panose="05000000000000000000" pitchFamily="2" charset="2"/>
              <a:buChar char="ü"/>
            </a:pPr>
            <a:r>
              <a:rPr lang="en-US" noProof="0" dirty="0"/>
              <a:t> Can transform layouts &amp; traversals</a:t>
            </a:r>
          </a:p>
          <a:p>
            <a:pPr>
              <a:buFont typeface="Wingdings" panose="05000000000000000000" pitchFamily="2" charset="2"/>
              <a:buChar char="ü"/>
            </a:pPr>
            <a:r>
              <a:rPr lang="en-US" noProof="0" dirty="0"/>
              <a:t> Parallel computing CPU, GPU</a:t>
            </a:r>
          </a:p>
          <a:p>
            <a:pPr>
              <a:buFont typeface="Wingdings" panose="05000000000000000000" pitchFamily="2" charset="2"/>
              <a:buChar char="ü"/>
            </a:pPr>
            <a:r>
              <a:rPr lang="en-US" dirty="0"/>
              <a:t> D</a:t>
            </a:r>
            <a:r>
              <a:rPr lang="en-US" noProof="0" dirty="0" err="1"/>
              <a:t>istributed</a:t>
            </a:r>
            <a:r>
              <a:rPr lang="en-US" noProof="0" dirty="0"/>
              <a:t> computing</a:t>
            </a:r>
          </a:p>
          <a:p>
            <a:pPr>
              <a:buFont typeface="Wingdings" panose="05000000000000000000" pitchFamily="2" charset="2"/>
              <a:buChar char="ü"/>
            </a:pPr>
            <a:r>
              <a:rPr lang="en-US" noProof="0" dirty="0"/>
              <a:t> Encoding &amp; Evaluation  in Cellular Automata</a:t>
            </a:r>
          </a:p>
          <a:p>
            <a:pPr marL="0" indent="0">
              <a:buNone/>
            </a:pPr>
            <a:r>
              <a:rPr lang="en-US" noProof="0" dirty="0"/>
              <a:t>Improve</a:t>
            </a:r>
          </a:p>
          <a:p>
            <a:pPr lvl="1">
              <a:buFont typeface="Wingdings" panose="05000000000000000000" pitchFamily="2" charset="2"/>
              <a:buChar char="ü"/>
            </a:pPr>
            <a:r>
              <a:rPr lang="en-US" noProof="0" dirty="0"/>
              <a:t> Simplicity</a:t>
            </a:r>
          </a:p>
          <a:p>
            <a:pPr lvl="1">
              <a:buFont typeface="Wingdings" panose="05000000000000000000" pitchFamily="2" charset="2"/>
              <a:buChar char="ü"/>
            </a:pPr>
            <a:r>
              <a:rPr lang="en-US" noProof="0" dirty="0"/>
              <a:t> Flexibility</a:t>
            </a:r>
          </a:p>
          <a:p>
            <a:pPr lvl="1">
              <a:buFont typeface="Wingdings" panose="05000000000000000000" pitchFamily="2" charset="2"/>
              <a:buChar char="ü"/>
            </a:pPr>
            <a:r>
              <a:rPr lang="en-US" noProof="0" dirty="0"/>
              <a:t> 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noProof="0" smtClean="0"/>
              <a:t>23</a:t>
            </a:fld>
            <a:endParaRPr lang="en-US" noProof="0" dirty="0"/>
          </a:p>
        </p:txBody>
      </p:sp>
      <p:sp>
        <p:nvSpPr>
          <p:cNvPr id="6" name="Right Brace 5">
            <a:extLst>
              <a:ext uri="{FF2B5EF4-FFF2-40B4-BE49-F238E27FC236}">
                <a16:creationId xmlns:a16="http://schemas.microsoft.com/office/drawing/2014/main" id="{78CF35CC-A730-C361-5E7C-62A784D86C38}"/>
              </a:ext>
            </a:extLst>
          </p:cNvPr>
          <p:cNvSpPr/>
          <p:nvPr/>
        </p:nvSpPr>
        <p:spPr>
          <a:xfrm>
            <a:off x="3388659" y="3805519"/>
            <a:ext cx="296553" cy="1268296"/>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pic>
        <p:nvPicPr>
          <p:cNvPr id="8" name="Graphic 7" descr="Robot with solid fill">
            <a:extLst>
              <a:ext uri="{FF2B5EF4-FFF2-40B4-BE49-F238E27FC236}">
                <a16:creationId xmlns:a16="http://schemas.microsoft.com/office/drawing/2014/main" id="{DC3A6F04-0374-7B2A-6A87-FEA92F4C8D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27130" y="3818768"/>
            <a:ext cx="2532229" cy="2532229"/>
          </a:xfrm>
          <a:prstGeom prst="rect">
            <a:avLst/>
          </a:prstGeom>
        </p:spPr>
      </p:pic>
      <p:cxnSp>
        <p:nvCxnSpPr>
          <p:cNvPr id="10" name="Straight Connector 9">
            <a:extLst>
              <a:ext uri="{FF2B5EF4-FFF2-40B4-BE49-F238E27FC236}">
                <a16:creationId xmlns:a16="http://schemas.microsoft.com/office/drawing/2014/main" id="{6A7A7546-AB4B-B0AA-3591-AB55403B6F68}"/>
              </a:ext>
            </a:extLst>
          </p:cNvPr>
          <p:cNvCxnSpPr>
            <a:cxnSpLocks/>
          </p:cNvCxnSpPr>
          <p:nvPr/>
        </p:nvCxnSpPr>
        <p:spPr>
          <a:xfrm>
            <a:off x="3685212" y="4439667"/>
            <a:ext cx="2070129" cy="645215"/>
          </a:xfrm>
          <a:prstGeom prst="line">
            <a:avLst/>
          </a:prstGeom>
          <a:ln>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16" name="Speech Bubble: Rectangle with Corners Rounded 15">
            <a:extLst>
              <a:ext uri="{FF2B5EF4-FFF2-40B4-BE49-F238E27FC236}">
                <a16:creationId xmlns:a16="http://schemas.microsoft.com/office/drawing/2014/main" id="{EEA29218-CBAB-5518-9C50-26809DEFD9F4}"/>
              </a:ext>
            </a:extLst>
          </p:cNvPr>
          <p:cNvSpPr/>
          <p:nvPr/>
        </p:nvSpPr>
        <p:spPr>
          <a:xfrm>
            <a:off x="7412931" y="3543408"/>
            <a:ext cx="4109740" cy="896259"/>
          </a:xfrm>
          <a:prstGeom prst="wedgeRoundRectCallout">
            <a:avLst>
              <a:gd name="adj1" fmla="val -49944"/>
              <a:gd name="adj2" fmla="val 66003"/>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t>I, an LLM, can redesign algorithms</a:t>
            </a:r>
          </a:p>
        </p:txBody>
      </p:sp>
    </p:spTree>
    <p:extLst>
      <p:ext uri="{BB962C8B-B14F-4D97-AF65-F5344CB8AC3E}">
        <p14:creationId xmlns:p14="http://schemas.microsoft.com/office/powerpoint/2010/main" val="3259765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noProof="0" smtClean="0"/>
              <a:t>24</a:t>
            </a:fld>
            <a:endParaRPr lang="en-US" noProof="0" dirty="0"/>
          </a:p>
        </p:txBody>
      </p:sp>
      <p:sp>
        <p:nvSpPr>
          <p:cNvPr id="12" name="TextBox 11">
            <a:extLst>
              <a:ext uri="{FF2B5EF4-FFF2-40B4-BE49-F238E27FC236}">
                <a16:creationId xmlns:a16="http://schemas.microsoft.com/office/drawing/2014/main" id="{3685388B-D88A-850D-5EA1-512834C22715}"/>
              </a:ext>
            </a:extLst>
          </p:cNvPr>
          <p:cNvSpPr txBox="1"/>
          <p:nvPr/>
        </p:nvSpPr>
        <p:spPr>
          <a:xfrm>
            <a:off x="1684587" y="3561854"/>
            <a:ext cx="1135247" cy="923330"/>
          </a:xfrm>
          <a:prstGeom prst="rect">
            <a:avLst/>
          </a:prstGeom>
          <a:noFill/>
        </p:spPr>
        <p:txBody>
          <a:bodyPr wrap="none" rtlCol="0">
            <a:spAutoFit/>
          </a:bodyPr>
          <a:lstStyle/>
          <a:p>
            <a:r>
              <a:rPr lang="en-US" sz="5400" noProof="0" dirty="0"/>
              <a:t>🤖</a:t>
            </a:r>
          </a:p>
        </p:txBody>
      </p:sp>
      <p:sp>
        <p:nvSpPr>
          <p:cNvPr id="17" name="TextBox 16">
            <a:extLst>
              <a:ext uri="{FF2B5EF4-FFF2-40B4-BE49-F238E27FC236}">
                <a16:creationId xmlns:a16="http://schemas.microsoft.com/office/drawing/2014/main" id="{BEC4E4EB-CC11-6E9C-D81F-7F68194B11AB}"/>
              </a:ext>
            </a:extLst>
          </p:cNvPr>
          <p:cNvSpPr txBox="1"/>
          <p:nvPr/>
        </p:nvSpPr>
        <p:spPr>
          <a:xfrm>
            <a:off x="40624" y="1799789"/>
            <a:ext cx="4423175" cy="1168539"/>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400" noProof="0" dirty="0"/>
              <a:t>Implement</a:t>
            </a:r>
            <a:br>
              <a:rPr lang="en-US" sz="2400" noProof="0" dirty="0"/>
            </a:br>
            <a:r>
              <a:rPr lang="en-US" sz="2400" noProof="0" dirty="0"/>
              <a:t>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12" idx="0"/>
          </p:cNvCxnSpPr>
          <p:nvPr/>
        </p:nvCxnSpPr>
        <p:spPr>
          <a:xfrm flipH="1">
            <a:off x="2252211" y="2968328"/>
            <a:ext cx="1" cy="593526"/>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803279" y="5440720"/>
            <a:ext cx="2897864"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12" idx="2"/>
            <a:endCxn id="24" idx="0"/>
          </p:cNvCxnSpPr>
          <p:nvPr/>
        </p:nvCxnSpPr>
        <p:spPr>
          <a:xfrm>
            <a:off x="2252211" y="4485184"/>
            <a:ext cx="0" cy="955536"/>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4D4E8062-9D67-E981-C7E7-CB3905FE099A}"/>
              </a:ext>
            </a:extLst>
          </p:cNvPr>
          <p:cNvSpPr txBox="1"/>
          <p:nvPr/>
        </p:nvSpPr>
        <p:spPr>
          <a:xfrm>
            <a:off x="6051627" y="3637430"/>
            <a:ext cx="1135247" cy="923330"/>
          </a:xfrm>
          <a:prstGeom prst="rect">
            <a:avLst/>
          </a:prstGeom>
          <a:noFill/>
        </p:spPr>
        <p:txBody>
          <a:bodyPr wrap="none" rtlCol="0">
            <a:spAutoFit/>
          </a:bodyPr>
          <a:lstStyle/>
          <a:p>
            <a:r>
              <a:rPr lang="en-US" sz="5400" noProof="0" dirty="0"/>
              <a:t>🤖</a:t>
            </a:r>
          </a:p>
        </p:txBody>
      </p:sp>
      <p:sp>
        <p:nvSpPr>
          <p:cNvPr id="30" name="TextBox 29">
            <a:extLst>
              <a:ext uri="{FF2B5EF4-FFF2-40B4-BE49-F238E27FC236}">
                <a16:creationId xmlns:a16="http://schemas.microsoft.com/office/drawing/2014/main" id="{6FAD4EE1-A685-999A-4B14-45D9D5B9DB08}"/>
              </a:ext>
            </a:extLst>
          </p:cNvPr>
          <p:cNvSpPr txBox="1"/>
          <p:nvPr/>
        </p:nvSpPr>
        <p:spPr>
          <a:xfrm>
            <a:off x="4910430" y="1799788"/>
            <a:ext cx="3417642" cy="1168539"/>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400" noProof="0" dirty="0"/>
              <a:t>… Here are 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29" idx="0"/>
          </p:cNvCxnSpPr>
          <p:nvPr/>
        </p:nvCxnSpPr>
        <p:spPr>
          <a:xfrm>
            <a:off x="6619251" y="2968327"/>
            <a:ext cx="0" cy="669103"/>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5350928" y="5391640"/>
            <a:ext cx="2536646"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29" idx="2"/>
            <a:endCxn id="32" idx="0"/>
          </p:cNvCxnSpPr>
          <p:nvPr/>
        </p:nvCxnSpPr>
        <p:spPr>
          <a:xfrm>
            <a:off x="6619251" y="4560760"/>
            <a:ext cx="0" cy="83088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D29855-3079-7844-981D-E8EB78A92E21}"/>
              </a:ext>
            </a:extLst>
          </p:cNvPr>
          <p:cNvSpPr txBox="1"/>
          <p:nvPr/>
        </p:nvSpPr>
        <p:spPr>
          <a:xfrm>
            <a:off x="9269869" y="1799788"/>
            <a:ext cx="2754452" cy="1168539"/>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400" noProof="0" dirty="0"/>
              <a:t>Follow this 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9378775" y="5391640"/>
            <a:ext cx="2536646"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Efficient code?</a:t>
            </a:r>
          </a:p>
        </p:txBody>
      </p:sp>
      <p:sp>
        <p:nvSpPr>
          <p:cNvPr id="63" name="TextBox 62">
            <a:extLst>
              <a:ext uri="{FF2B5EF4-FFF2-40B4-BE49-F238E27FC236}">
                <a16:creationId xmlns:a16="http://schemas.microsoft.com/office/drawing/2014/main" id="{502E30FE-1D27-B17D-34A3-8D95153D7244}"/>
              </a:ext>
            </a:extLst>
          </p:cNvPr>
          <p:cNvSpPr txBox="1"/>
          <p:nvPr/>
        </p:nvSpPr>
        <p:spPr>
          <a:xfrm>
            <a:off x="10079471" y="3637430"/>
            <a:ext cx="1135247" cy="923330"/>
          </a:xfrm>
          <a:prstGeom prst="rect">
            <a:avLst/>
          </a:prstGeom>
          <a:noFill/>
        </p:spPr>
        <p:txBody>
          <a:bodyPr wrap="none" rtlCol="0">
            <a:spAutoFit/>
          </a:bodyPr>
          <a:lstStyle/>
          <a:p>
            <a:r>
              <a:rPr lang="en-US" sz="5400" noProof="0" dirty="0"/>
              <a:t>🤖</a:t>
            </a:r>
          </a:p>
        </p:txBody>
      </p:sp>
      <p:cxnSp>
        <p:nvCxnSpPr>
          <p:cNvPr id="65" name="Straight Arrow Connector 64">
            <a:extLst>
              <a:ext uri="{FF2B5EF4-FFF2-40B4-BE49-F238E27FC236}">
                <a16:creationId xmlns:a16="http://schemas.microsoft.com/office/drawing/2014/main" id="{1B02E96B-466B-BBC3-B8FB-DB7A29A2BB81}"/>
              </a:ext>
            </a:extLst>
          </p:cNvPr>
          <p:cNvCxnSpPr>
            <a:cxnSpLocks/>
            <a:stCxn id="47" idx="4"/>
            <a:endCxn id="63" idx="0"/>
          </p:cNvCxnSpPr>
          <p:nvPr/>
        </p:nvCxnSpPr>
        <p:spPr>
          <a:xfrm>
            <a:off x="10647095" y="2968327"/>
            <a:ext cx="0" cy="669103"/>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stCxn id="63" idx="2"/>
            <a:endCxn id="61" idx="0"/>
          </p:cNvCxnSpPr>
          <p:nvPr/>
        </p:nvCxnSpPr>
        <p:spPr>
          <a:xfrm>
            <a:off x="10647095" y="4560760"/>
            <a:ext cx="3" cy="83088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45CEB7EB-9DDD-0346-0151-E8B9C95212BD}"/>
              </a:ext>
            </a:extLst>
          </p:cNvPr>
          <p:cNvSpPr txBox="1"/>
          <p:nvPr/>
        </p:nvSpPr>
        <p:spPr>
          <a:xfrm>
            <a:off x="4244813" y="4027370"/>
            <a:ext cx="381836" cy="369332"/>
          </a:xfrm>
          <a:prstGeom prst="rect">
            <a:avLst/>
          </a:prstGeom>
          <a:noFill/>
        </p:spPr>
        <p:txBody>
          <a:bodyPr wrap="none" rtlCol="0">
            <a:spAutoFit/>
          </a:bodyPr>
          <a:lstStyle/>
          <a:p>
            <a:r>
              <a:rPr lang="en-US" noProof="0"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611852" y="4099095"/>
            <a:ext cx="381836" cy="369332"/>
          </a:xfrm>
          <a:prstGeom prst="rect">
            <a:avLst/>
          </a:prstGeom>
          <a:noFill/>
        </p:spPr>
        <p:txBody>
          <a:bodyPr wrap="none" rtlCol="0">
            <a:spAutoFit/>
          </a:bodyPr>
          <a:lstStyle/>
          <a:p>
            <a:r>
              <a:rPr lang="en-US" noProof="0" dirty="0"/>
              <a:t>…</a:t>
            </a:r>
          </a:p>
        </p:txBody>
      </p:sp>
    </p:spTree>
    <p:extLst>
      <p:ext uri="{BB962C8B-B14F-4D97-AF65-F5344CB8AC3E}">
        <p14:creationId xmlns:p14="http://schemas.microsoft.com/office/powerpoint/2010/main" val="2245250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P spid="30" grpId="0" animBg="1"/>
      <p:bldP spid="32" grpId="0" animBg="1"/>
      <p:bldP spid="47" grpId="0" animBg="1"/>
      <p:bldP spid="61" grpId="0" animBg="1"/>
      <p:bldP spid="63" grpId="0"/>
      <p:bldP spid="68" grpId="0"/>
      <p:bldP spid="70"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noProof="0" smtClean="0"/>
              <a:t>25</a:t>
            </a:fld>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3"/>
          <a:stretch>
            <a:fillRect/>
          </a:stretch>
        </p:blipFill>
        <p:spPr>
          <a:xfrm>
            <a:off x="2686607" y="1688227"/>
            <a:ext cx="1490506" cy="1160110"/>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672605" y="2661659"/>
            <a:ext cx="1394934" cy="400110"/>
          </a:xfrm>
          <a:prstGeom prst="rect">
            <a:avLst/>
          </a:prstGeom>
          <a:noFill/>
        </p:spPr>
        <p:txBody>
          <a:bodyPr wrap="none" rtlCol="0">
            <a:spAutoFit/>
          </a:bodyPr>
          <a:lstStyle/>
          <a:p>
            <a:pPr algn="ctr"/>
            <a:r>
              <a:rPr lang="en-US" sz="2000" b="1" noProof="0" dirty="0"/>
              <a:t>Histogram</a:t>
            </a:r>
          </a:p>
        </p:txBody>
      </p:sp>
      <p:pic>
        <p:nvPicPr>
          <p:cNvPr id="8" name="Picture 7" descr="Glider Gun">
            <a:extLst>
              <a:ext uri="{FF2B5EF4-FFF2-40B4-BE49-F238E27FC236}">
                <a16:creationId xmlns:a16="http://schemas.microsoft.com/office/drawing/2014/main" id="{007EFFA6-94C3-4A53-EC11-7EEAAEB3140F}"/>
              </a:ext>
            </a:extLst>
          </p:cNvPr>
          <p:cNvPicPr>
            <a:picLocks noChangeAspect="1"/>
          </p:cNvPicPr>
          <p:nvPr/>
        </p:nvPicPr>
        <p:blipFill>
          <a:blip r:embed="rId4"/>
          <a:stretch>
            <a:fillRect/>
          </a:stretch>
        </p:blipFill>
        <p:spPr>
          <a:xfrm>
            <a:off x="6327969" y="1702122"/>
            <a:ext cx="1490506" cy="1073162"/>
          </a:xfrm>
          <a:prstGeom prst="rect">
            <a:avLst/>
          </a:prstGeom>
          <a:ln>
            <a:solidFill>
              <a:schemeClr val="tx1"/>
            </a:solidFill>
          </a:ln>
        </p:spPr>
      </p:pic>
      <p:sp>
        <p:nvSpPr>
          <p:cNvPr id="9" name="TextBox 8">
            <a:extLst>
              <a:ext uri="{FF2B5EF4-FFF2-40B4-BE49-F238E27FC236}">
                <a16:creationId xmlns:a16="http://schemas.microsoft.com/office/drawing/2014/main" id="{A7A96B6C-4F97-6D9F-8D10-DDB95932C78B}"/>
              </a:ext>
            </a:extLst>
          </p:cNvPr>
          <p:cNvSpPr txBox="1"/>
          <p:nvPr/>
        </p:nvSpPr>
        <p:spPr>
          <a:xfrm>
            <a:off x="6242114" y="2771191"/>
            <a:ext cx="1646606" cy="400110"/>
          </a:xfrm>
          <a:prstGeom prst="rect">
            <a:avLst/>
          </a:prstGeom>
          <a:noFill/>
        </p:spPr>
        <p:txBody>
          <a:bodyPr wrap="none" rtlCol="0">
            <a:spAutoFit/>
          </a:bodyPr>
          <a:lstStyle/>
          <a:p>
            <a:pPr algn="ctr"/>
            <a:r>
              <a:rPr lang="en-US" sz="2000" b="1"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5"/>
          <a:stretch>
            <a:fillRect/>
          </a:stretch>
        </p:blipFill>
        <p:spPr>
          <a:xfrm>
            <a:off x="9745424" y="1699071"/>
            <a:ext cx="1490506" cy="1076668"/>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792470" y="2707826"/>
            <a:ext cx="1386918" cy="707886"/>
          </a:xfrm>
          <a:prstGeom prst="rect">
            <a:avLst/>
          </a:prstGeom>
          <a:noFill/>
        </p:spPr>
        <p:txBody>
          <a:bodyPr wrap="none" rtlCol="0">
            <a:spAutoFit/>
          </a:bodyPr>
          <a:lstStyle/>
          <a:p>
            <a:pPr algn="ctr"/>
            <a:r>
              <a:rPr lang="en-US" sz="2000" b="1" noProof="0" dirty="0"/>
              <a:t>K-Nearest</a:t>
            </a:r>
            <a:br>
              <a:rPr lang="en-US" sz="2000" b="1" noProof="0" dirty="0"/>
            </a:br>
            <a:r>
              <a:rPr lang="en-US" sz="2000" b="1"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252640" y="3334628"/>
            <a:ext cx="4358437" cy="400110"/>
          </a:xfrm>
          <a:prstGeom prst="rect">
            <a:avLst/>
          </a:prstGeom>
          <a:noFill/>
        </p:spPr>
        <p:txBody>
          <a:bodyPr wrap="none" rtlCol="0">
            <a:spAutoFit/>
          </a:bodyPr>
          <a:lstStyle/>
          <a:p>
            <a:pPr algn="ctr"/>
            <a:r>
              <a:rPr lang="en-US" sz="2000"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5923708" y="3334628"/>
            <a:ext cx="2299027" cy="400110"/>
          </a:xfrm>
          <a:prstGeom prst="rect">
            <a:avLst/>
          </a:prstGeom>
          <a:noFill/>
        </p:spPr>
        <p:txBody>
          <a:bodyPr wrap="none" rtlCol="0">
            <a:spAutoFit/>
          </a:bodyPr>
          <a:lstStyle/>
          <a:p>
            <a:pPr algn="ctr"/>
            <a:r>
              <a:rPr lang="en-US" sz="2000" noProof="0" dirty="0"/>
              <a:t>Bit-</a:t>
            </a:r>
            <a:r>
              <a:rPr lang="en-US" sz="2000" noProof="0" dirty="0" err="1"/>
              <a:t>lvl</a:t>
            </a:r>
            <a:r>
              <a:rPr lang="en-US" sz="2000"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841859" y="3334628"/>
            <a:ext cx="3297634" cy="400110"/>
          </a:xfrm>
          <a:prstGeom prst="rect">
            <a:avLst/>
          </a:prstGeom>
          <a:noFill/>
        </p:spPr>
        <p:txBody>
          <a:bodyPr wrap="none" rtlCol="0">
            <a:spAutoFit/>
          </a:bodyPr>
          <a:lstStyle/>
          <a:p>
            <a:pPr algn="ctr"/>
            <a:r>
              <a:rPr lang="en-US" sz="2000" noProof="0"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523384" y="4221539"/>
            <a:ext cx="1874232" cy="400110"/>
          </a:xfrm>
          <a:prstGeom prst="rect">
            <a:avLst/>
          </a:prstGeom>
          <a:noFill/>
        </p:spPr>
        <p:txBody>
          <a:bodyPr wrap="none" rtlCol="0">
            <a:spAutoFit/>
          </a:bodyPr>
          <a:lstStyle/>
          <a:p>
            <a:pPr algn="ctr"/>
            <a:r>
              <a:rPr lang="en-US" sz="2000" noProof="0"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3092662" y="4144595"/>
            <a:ext cx="678391" cy="523220"/>
          </a:xfrm>
          <a:prstGeom prst="rect">
            <a:avLst/>
          </a:prstGeom>
          <a:noFill/>
        </p:spPr>
        <p:txBody>
          <a:bodyPr wrap="none" rtlCol="0">
            <a:spAutoFit/>
          </a:bodyPr>
          <a:lstStyle/>
          <a:p>
            <a:pPr algn="ctr"/>
            <a:r>
              <a:rPr lang="en-US" sz="2800" noProof="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734025" y="4144595"/>
            <a:ext cx="678391" cy="523220"/>
          </a:xfrm>
          <a:prstGeom prst="rect">
            <a:avLst/>
          </a:prstGeom>
          <a:noFill/>
        </p:spPr>
        <p:txBody>
          <a:bodyPr wrap="none" rtlCol="0">
            <a:spAutoFit/>
          </a:bodyPr>
          <a:lstStyle/>
          <a:p>
            <a:pPr algn="ctr"/>
            <a:r>
              <a:rPr lang="en-US" sz="2800" noProof="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10151480" y="4144595"/>
            <a:ext cx="678391" cy="523220"/>
          </a:xfrm>
          <a:prstGeom prst="rect">
            <a:avLst/>
          </a:prstGeom>
          <a:noFill/>
        </p:spPr>
        <p:txBody>
          <a:bodyPr wrap="none" rtlCol="0">
            <a:spAutoFit/>
          </a:bodyPr>
          <a:lstStyle/>
          <a:p>
            <a:pPr algn="ctr"/>
            <a:r>
              <a:rPr lang="en-US" sz="2800" noProof="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775733" y="4880388"/>
            <a:ext cx="1301959" cy="400110"/>
          </a:xfrm>
          <a:prstGeom prst="rect">
            <a:avLst/>
          </a:prstGeom>
          <a:noFill/>
        </p:spPr>
        <p:txBody>
          <a:bodyPr wrap="none" rtlCol="0">
            <a:spAutoFit/>
          </a:bodyPr>
          <a:lstStyle/>
          <a:p>
            <a:pPr algn="ctr"/>
            <a:r>
              <a:rPr lang="en-US" sz="2000" noProof="0"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581400" y="4144595"/>
            <a:ext cx="678391" cy="523220"/>
          </a:xfrm>
          <a:prstGeom prst="rect">
            <a:avLst/>
          </a:prstGeom>
          <a:noFill/>
        </p:spPr>
        <p:txBody>
          <a:bodyPr wrap="none" rtlCol="0">
            <a:spAutoFit/>
          </a:bodyPr>
          <a:lstStyle/>
          <a:p>
            <a:r>
              <a:rPr lang="en-US" sz="2800" noProof="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7188976" y="4144595"/>
            <a:ext cx="678391" cy="523220"/>
          </a:xfrm>
          <a:prstGeom prst="rect">
            <a:avLst/>
          </a:prstGeom>
          <a:noFill/>
        </p:spPr>
        <p:txBody>
          <a:bodyPr wrap="none" rtlCol="0">
            <a:spAutoFit/>
          </a:bodyPr>
          <a:lstStyle/>
          <a:p>
            <a:r>
              <a:rPr lang="en-US" sz="2800" noProof="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609250" y="4144595"/>
            <a:ext cx="678391" cy="523220"/>
          </a:xfrm>
          <a:prstGeom prst="rect">
            <a:avLst/>
          </a:prstGeom>
          <a:noFill/>
        </p:spPr>
        <p:txBody>
          <a:bodyPr wrap="none" rtlCol="0">
            <a:spAutoFit/>
          </a:bodyPr>
          <a:lstStyle/>
          <a:p>
            <a:r>
              <a:rPr lang="en-US" sz="2800" noProof="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581400" y="4734749"/>
            <a:ext cx="678391" cy="523220"/>
          </a:xfrm>
          <a:prstGeom prst="rect">
            <a:avLst/>
          </a:prstGeom>
          <a:noFill/>
        </p:spPr>
        <p:txBody>
          <a:bodyPr wrap="none" rtlCol="0">
            <a:spAutoFit/>
          </a:bodyPr>
          <a:lstStyle/>
          <a:p>
            <a:r>
              <a:rPr lang="en-US" sz="2800" noProof="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3092662" y="4775641"/>
            <a:ext cx="678391" cy="523220"/>
          </a:xfrm>
          <a:prstGeom prst="rect">
            <a:avLst/>
          </a:prstGeom>
          <a:noFill/>
        </p:spPr>
        <p:txBody>
          <a:bodyPr wrap="none" rtlCol="0">
            <a:spAutoFit/>
          </a:bodyPr>
          <a:lstStyle/>
          <a:p>
            <a:pPr algn="ctr"/>
            <a:r>
              <a:rPr lang="en-US" sz="2800" noProof="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219369" y="4734749"/>
            <a:ext cx="678391" cy="523220"/>
          </a:xfrm>
          <a:prstGeom prst="rect">
            <a:avLst/>
          </a:prstGeom>
          <a:noFill/>
        </p:spPr>
        <p:txBody>
          <a:bodyPr wrap="none" rtlCol="0">
            <a:spAutoFit/>
          </a:bodyPr>
          <a:lstStyle/>
          <a:p>
            <a:r>
              <a:rPr lang="en-US" sz="2800" noProof="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730631" y="4775641"/>
            <a:ext cx="678391" cy="523220"/>
          </a:xfrm>
          <a:prstGeom prst="rect">
            <a:avLst/>
          </a:prstGeom>
          <a:noFill/>
        </p:spPr>
        <p:txBody>
          <a:bodyPr wrap="none" rtlCol="0">
            <a:spAutoFit/>
          </a:bodyPr>
          <a:lstStyle/>
          <a:p>
            <a:pPr algn="ctr"/>
            <a:r>
              <a:rPr lang="en-US" sz="2800" noProof="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393195" y="4771180"/>
            <a:ext cx="678391" cy="523220"/>
          </a:xfrm>
          <a:prstGeom prst="rect">
            <a:avLst/>
          </a:prstGeom>
          <a:noFill/>
        </p:spPr>
        <p:txBody>
          <a:bodyPr wrap="none" rtlCol="0">
            <a:spAutoFit/>
          </a:bodyPr>
          <a:lstStyle/>
          <a:p>
            <a:pPr algn="ctr"/>
            <a:r>
              <a:rPr lang="en-US" sz="2800" noProof="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468881" y="5539237"/>
            <a:ext cx="1983235" cy="400110"/>
          </a:xfrm>
          <a:prstGeom prst="rect">
            <a:avLst/>
          </a:prstGeom>
          <a:noFill/>
        </p:spPr>
        <p:txBody>
          <a:bodyPr wrap="none" rtlCol="0">
            <a:spAutoFit/>
          </a:bodyPr>
          <a:lstStyle/>
          <a:p>
            <a:pPr algn="ctr"/>
            <a:r>
              <a:rPr lang="en-US" sz="2000" noProof="0"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581400" y="5344457"/>
            <a:ext cx="678391" cy="523220"/>
          </a:xfrm>
          <a:prstGeom prst="rect">
            <a:avLst/>
          </a:prstGeom>
          <a:noFill/>
        </p:spPr>
        <p:txBody>
          <a:bodyPr wrap="none" rtlCol="0">
            <a:spAutoFit/>
          </a:bodyPr>
          <a:lstStyle/>
          <a:p>
            <a:r>
              <a:rPr lang="en-US" sz="2800" noProof="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3092662" y="5385349"/>
            <a:ext cx="678391" cy="523220"/>
          </a:xfrm>
          <a:prstGeom prst="rect">
            <a:avLst/>
          </a:prstGeom>
          <a:noFill/>
        </p:spPr>
        <p:txBody>
          <a:bodyPr wrap="none" rtlCol="0">
            <a:spAutoFit/>
          </a:bodyPr>
          <a:lstStyle/>
          <a:p>
            <a:pPr algn="ctr"/>
            <a:r>
              <a:rPr lang="en-US" sz="2800" noProof="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219369" y="5303131"/>
            <a:ext cx="678391" cy="523220"/>
          </a:xfrm>
          <a:prstGeom prst="rect">
            <a:avLst/>
          </a:prstGeom>
          <a:noFill/>
        </p:spPr>
        <p:txBody>
          <a:bodyPr wrap="none" rtlCol="0">
            <a:spAutoFit/>
          </a:bodyPr>
          <a:lstStyle/>
          <a:p>
            <a:r>
              <a:rPr lang="en-US" sz="2800" noProof="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730631" y="5344023"/>
            <a:ext cx="678391" cy="523220"/>
          </a:xfrm>
          <a:prstGeom prst="rect">
            <a:avLst/>
          </a:prstGeom>
          <a:noFill/>
        </p:spPr>
        <p:txBody>
          <a:bodyPr wrap="none" rtlCol="0">
            <a:spAutoFit/>
          </a:bodyPr>
          <a:lstStyle/>
          <a:p>
            <a:pPr algn="ctr"/>
            <a:r>
              <a:rPr lang="en-US" sz="2800" noProof="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393195" y="5344023"/>
            <a:ext cx="678391" cy="523220"/>
          </a:xfrm>
          <a:prstGeom prst="rect">
            <a:avLst/>
          </a:prstGeom>
          <a:noFill/>
        </p:spPr>
        <p:txBody>
          <a:bodyPr wrap="none" rtlCol="0">
            <a:spAutoFit/>
          </a:bodyPr>
          <a:lstStyle/>
          <a:p>
            <a:pPr algn="ctr"/>
            <a:r>
              <a:rPr lang="en-US" sz="2800" noProof="0" dirty="0"/>
              <a:t>❌</a:t>
            </a:r>
          </a:p>
        </p:txBody>
      </p:sp>
    </p:spTree>
    <p:extLst>
      <p:ext uri="{BB962C8B-B14F-4D97-AF65-F5344CB8AC3E}">
        <p14:creationId xmlns:p14="http://schemas.microsoft.com/office/powerpoint/2010/main" val="1867703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8" grpId="0"/>
      <p:bldP spid="21" grpId="0"/>
      <p:bldP spid="25" grpId="0"/>
      <p:bldP spid="27" grpId="0"/>
      <p:bldP spid="35" grpId="0"/>
      <p:bldP spid="37" grpId="0"/>
      <p:bldP spid="38" grpId="0"/>
      <p:bldP spid="39" grpId="0"/>
      <p:bldP spid="41" grpId="0"/>
      <p:bldP spid="43" grpId="0"/>
      <p:bldP spid="44" grpId="0"/>
      <p:bldP spid="46" grpId="0"/>
      <p:bldP spid="49" grpId="0"/>
      <p:bldP spid="51" grpId="0"/>
      <p:bldP spid="53" grpId="0"/>
      <p:bldP spid="54" grpId="0"/>
      <p:bldP spid="56" grpId="0"/>
      <p:bldP spid="58" grpId="0"/>
      <p:bldP spid="60" grpId="0"/>
      <p:bldP spid="64" grpId="0"/>
      <p:bldP spid="6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D1A2F12-E0B1-E78D-1174-3E84B38E55D2}"/>
              </a:ext>
            </a:extLst>
          </p:cNvPr>
          <p:cNvPicPr>
            <a:picLocks noChangeAspect="1"/>
          </p:cNvPicPr>
          <p:nvPr/>
        </p:nvPicPr>
        <p:blipFill>
          <a:blip r:embed="rId3"/>
          <a:srcRect r="758"/>
          <a:stretch>
            <a:fillRect/>
          </a:stretch>
        </p:blipFill>
        <p:spPr>
          <a:xfrm>
            <a:off x="5725239" y="2414515"/>
            <a:ext cx="6428662" cy="3400819"/>
          </a:xfrm>
          <a:prstGeom prst="rect">
            <a:avLst/>
          </a:prstGeom>
        </p:spPr>
      </p:pic>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noProof="0" dirty="0"/>
              <a:t>OpenAI o3-mini</a:t>
            </a:r>
            <a:endParaRPr lang="en-US" sz="2400" noProof="0" dirty="0"/>
          </a:p>
        </p:txBody>
      </p:sp>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noProof="0" smtClean="0"/>
              <a:t>26</a:t>
            </a:fld>
            <a:endParaRPr lang="en-US" noProof="0" dirty="0"/>
          </a:p>
        </p:txBody>
      </p:sp>
      <p:sp>
        <p:nvSpPr>
          <p:cNvPr id="9" name="TextBox 8">
            <a:extLst>
              <a:ext uri="{FF2B5EF4-FFF2-40B4-BE49-F238E27FC236}">
                <a16:creationId xmlns:a16="http://schemas.microsoft.com/office/drawing/2014/main" id="{5F4D55C3-3077-8567-A06E-0244BA5AA6CA}"/>
              </a:ext>
            </a:extLst>
          </p:cNvPr>
          <p:cNvSpPr txBox="1"/>
          <p:nvPr/>
        </p:nvSpPr>
        <p:spPr>
          <a:xfrm>
            <a:off x="304855" y="5753021"/>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pic>
        <p:nvPicPr>
          <p:cNvPr id="12" name="Picture 11">
            <a:extLst>
              <a:ext uri="{FF2B5EF4-FFF2-40B4-BE49-F238E27FC236}">
                <a16:creationId xmlns:a16="http://schemas.microsoft.com/office/drawing/2014/main" id="{F37C588F-446D-B5A9-2747-7A8074A7E755}"/>
              </a:ext>
            </a:extLst>
          </p:cNvPr>
          <p:cNvPicPr>
            <a:picLocks noChangeAspect="1"/>
          </p:cNvPicPr>
          <p:nvPr/>
        </p:nvPicPr>
        <p:blipFill>
          <a:blip r:embed="rId4"/>
          <a:stretch>
            <a:fillRect/>
          </a:stretch>
        </p:blipFill>
        <p:spPr>
          <a:xfrm>
            <a:off x="38099" y="1813041"/>
            <a:ext cx="5505218" cy="4002293"/>
          </a:xfrm>
          <a:prstGeom prst="rect">
            <a:avLst/>
          </a:prstGeom>
        </p:spPr>
      </p:pic>
      <p:sp>
        <p:nvSpPr>
          <p:cNvPr id="6" name="TextBox 5">
            <a:extLst>
              <a:ext uri="{FF2B5EF4-FFF2-40B4-BE49-F238E27FC236}">
                <a16:creationId xmlns:a16="http://schemas.microsoft.com/office/drawing/2014/main" id="{72D4F460-314F-F2C1-B648-8D4D93BCB4E5}"/>
              </a:ext>
            </a:extLst>
          </p:cNvPr>
          <p:cNvSpPr txBox="1"/>
          <p:nvPr/>
        </p:nvSpPr>
        <p:spPr>
          <a:xfrm>
            <a:off x="2307365" y="1513149"/>
            <a:ext cx="1330814" cy="400110"/>
          </a:xfrm>
          <a:prstGeom prst="rect">
            <a:avLst/>
          </a:prstGeom>
          <a:noFill/>
        </p:spPr>
        <p:txBody>
          <a:bodyPr wrap="none" rtlCol="0">
            <a:spAutoFit/>
          </a:bodyPr>
          <a:lstStyle/>
          <a:p>
            <a:pPr algn="ctr"/>
            <a:r>
              <a:rPr lang="en-US" sz="2000" noProof="0"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540870" y="2094541"/>
            <a:ext cx="1576073" cy="400110"/>
          </a:xfrm>
          <a:prstGeom prst="rect">
            <a:avLst/>
          </a:prstGeom>
          <a:noFill/>
        </p:spPr>
        <p:txBody>
          <a:bodyPr wrap="none" rtlCol="0">
            <a:spAutoFit/>
          </a:bodyPr>
          <a:lstStyle/>
          <a:p>
            <a:pPr algn="ctr"/>
            <a:r>
              <a:rPr lang="en-US" sz="2000" noProof="0" dirty="0"/>
              <a:t>Game of Life</a:t>
            </a:r>
          </a:p>
        </p:txBody>
      </p:sp>
    </p:spTree>
    <p:extLst>
      <p:ext uri="{BB962C8B-B14F-4D97-AF65-F5344CB8AC3E}">
        <p14:creationId xmlns:p14="http://schemas.microsoft.com/office/powerpoint/2010/main" val="23071661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noProof="0"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521915" y="2091797"/>
            <a:ext cx="5419726" cy="3940140"/>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350972" y="2037561"/>
            <a:ext cx="5494327" cy="3994376"/>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noProof="0" smtClean="0"/>
              <a:t>27</a:t>
            </a:fld>
            <a:endParaRPr lang="en-US" noProof="0" dirty="0"/>
          </a:p>
        </p:txBody>
      </p:sp>
      <p:sp>
        <p:nvSpPr>
          <p:cNvPr id="10" name="TextBox 9">
            <a:extLst>
              <a:ext uri="{FF2B5EF4-FFF2-40B4-BE49-F238E27FC236}">
                <a16:creationId xmlns:a16="http://schemas.microsoft.com/office/drawing/2014/main" id="{EFE45328-838A-47CE-23A0-47149F269933}"/>
              </a:ext>
            </a:extLst>
          </p:cNvPr>
          <p:cNvSpPr txBox="1"/>
          <p:nvPr/>
        </p:nvSpPr>
        <p:spPr>
          <a:xfrm>
            <a:off x="2443741" y="1637451"/>
            <a:ext cx="1576073" cy="400110"/>
          </a:xfrm>
          <a:prstGeom prst="rect">
            <a:avLst/>
          </a:prstGeom>
          <a:noFill/>
        </p:spPr>
        <p:txBody>
          <a:bodyPr wrap="none" rtlCol="0">
            <a:spAutoFit/>
          </a:bodyPr>
          <a:lstStyle/>
          <a:p>
            <a:pPr algn="ctr"/>
            <a:r>
              <a:rPr lang="en-US" sz="2000" noProof="0"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8378779" y="1614554"/>
            <a:ext cx="2460930" cy="400110"/>
          </a:xfrm>
          <a:prstGeom prst="rect">
            <a:avLst/>
          </a:prstGeom>
          <a:noFill/>
        </p:spPr>
        <p:txBody>
          <a:bodyPr wrap="none" rtlCol="0">
            <a:spAutoFit/>
          </a:bodyPr>
          <a:lstStyle/>
          <a:p>
            <a:pPr algn="ctr"/>
            <a:r>
              <a:rPr lang="en-US" sz="2000" noProof="0"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299642" y="6013676"/>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Tree>
    <p:extLst>
      <p:ext uri="{BB962C8B-B14F-4D97-AF65-F5344CB8AC3E}">
        <p14:creationId xmlns:p14="http://schemas.microsoft.com/office/powerpoint/2010/main" val="21285730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2648C3-E8A8-80F5-FFF8-D207F8FAB0B7}"/>
              </a:ext>
            </a:extLst>
          </p:cNvPr>
          <p:cNvSpPr>
            <a:spLocks noGrp="1"/>
          </p:cNvSpPr>
          <p:nvPr>
            <p:ph type="title"/>
          </p:nvPr>
        </p:nvSpPr>
        <p:spPr/>
        <p:txBody>
          <a:bodyPr/>
          <a:lstStyle/>
          <a:p>
            <a:r>
              <a:rPr lang="en-US"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nvPr>
        </p:nvSpPr>
        <p:spPr/>
        <p:txBody>
          <a:bodyPr/>
          <a:lstStyle/>
          <a:p>
            <a:fld id="{1AB26190-46ED-4A0C-A5E8-CDBCA5C2D5C3}" type="datetime1">
              <a:rPr lang="en-US" smtClean="0"/>
              <a:t>9/2/2026</a:t>
            </a:fld>
            <a:endParaRPr lang="en-US"/>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nvPr>
        </p:nvSpPr>
        <p:spPr/>
        <p:txBody>
          <a:bodyPr/>
          <a:lstStyle/>
          <a:p>
            <a:fld id="{DA0BB241-1B5F-4309-9407-9EEA04D9598D}" type="slidenum">
              <a:rPr lang="en-US" smtClean="0"/>
              <a:t>28</a:t>
            </a:fld>
            <a:endParaRPr lang="en-US"/>
          </a:p>
        </p:txBody>
      </p:sp>
      <p:sp>
        <p:nvSpPr>
          <p:cNvPr id="6" name="TextBox 5">
            <a:extLst>
              <a:ext uri="{FF2B5EF4-FFF2-40B4-BE49-F238E27FC236}">
                <a16:creationId xmlns:a16="http://schemas.microsoft.com/office/drawing/2014/main" id="{19E4B8FB-55FB-804F-D918-87CA02061244}"/>
              </a:ext>
            </a:extLst>
          </p:cNvPr>
          <p:cNvSpPr txBox="1"/>
          <p:nvPr/>
        </p:nvSpPr>
        <p:spPr>
          <a:xfrm>
            <a:off x="2598019" y="2790430"/>
            <a:ext cx="2184998" cy="578882"/>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dirty="0"/>
              <a:t>Abstractions</a:t>
            </a:r>
          </a:p>
        </p:txBody>
      </p:sp>
      <p:sp>
        <p:nvSpPr>
          <p:cNvPr id="7" name="TextBox 6">
            <a:extLst>
              <a:ext uri="{FF2B5EF4-FFF2-40B4-BE49-F238E27FC236}">
                <a16:creationId xmlns:a16="http://schemas.microsoft.com/office/drawing/2014/main" id="{11B47FF7-FF2B-E35C-C5DC-D36095FC9DA6}"/>
              </a:ext>
            </a:extLst>
          </p:cNvPr>
          <p:cNvSpPr txBox="1"/>
          <p:nvPr/>
        </p:nvSpPr>
        <p:spPr>
          <a:xfrm>
            <a:off x="8145540" y="2713079"/>
            <a:ext cx="1474203" cy="578882"/>
          </a:xfrm>
          <a:prstGeom prst="roundRect">
            <a:avLst/>
          </a:prstGeom>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800" dirty="0"/>
              <a:t>LLMs</a:t>
            </a:r>
          </a:p>
        </p:txBody>
      </p:sp>
      <p:sp>
        <p:nvSpPr>
          <p:cNvPr id="9" name="TextBox 8">
            <a:extLst>
              <a:ext uri="{FF2B5EF4-FFF2-40B4-BE49-F238E27FC236}">
                <a16:creationId xmlns:a16="http://schemas.microsoft.com/office/drawing/2014/main" id="{ABDD9E2C-DB94-9465-C838-8C4F60DDBD33}"/>
              </a:ext>
            </a:extLst>
          </p:cNvPr>
          <p:cNvSpPr txBox="1"/>
          <p:nvPr/>
        </p:nvSpPr>
        <p:spPr>
          <a:xfrm>
            <a:off x="2758743" y="1672286"/>
            <a:ext cx="6851556" cy="578882"/>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dirty="0"/>
              <a:t>Simplifying algorithm design &amp; optimization</a:t>
            </a:r>
          </a:p>
        </p:txBody>
      </p:sp>
      <p:cxnSp>
        <p:nvCxnSpPr>
          <p:cNvPr id="11" name="Straight Arrow Connector 10">
            <a:extLst>
              <a:ext uri="{FF2B5EF4-FFF2-40B4-BE49-F238E27FC236}">
                <a16:creationId xmlns:a16="http://schemas.microsoft.com/office/drawing/2014/main" id="{BF39B83B-4C76-1D1B-19E8-3F68E2DC03EF}"/>
              </a:ext>
            </a:extLst>
          </p:cNvPr>
          <p:cNvCxnSpPr>
            <a:cxnSpLocks/>
            <a:endCxn id="6" idx="0"/>
          </p:cNvCxnSpPr>
          <p:nvPr/>
        </p:nvCxnSpPr>
        <p:spPr>
          <a:xfrm flipH="1">
            <a:off x="3690518" y="2251168"/>
            <a:ext cx="851867" cy="53926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DC6E5E0-5E49-A14A-1A69-8F74E4643E8D}"/>
              </a:ext>
            </a:extLst>
          </p:cNvPr>
          <p:cNvCxnSpPr>
            <a:cxnSpLocks/>
            <a:endCxn id="7" idx="0"/>
          </p:cNvCxnSpPr>
          <p:nvPr/>
        </p:nvCxnSpPr>
        <p:spPr>
          <a:xfrm>
            <a:off x="7904908" y="2217761"/>
            <a:ext cx="977734" cy="495318"/>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FBC68EF8-2BD7-3EAB-EBBD-E77F253B6551}"/>
              </a:ext>
            </a:extLst>
          </p:cNvPr>
          <p:cNvSpPr txBox="1"/>
          <p:nvPr/>
        </p:nvSpPr>
        <p:spPr>
          <a:xfrm>
            <a:off x="792196" y="3611786"/>
            <a:ext cx="2237285" cy="578882"/>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Interpretable</a:t>
            </a:r>
          </a:p>
        </p:txBody>
      </p:sp>
      <p:sp>
        <p:nvSpPr>
          <p:cNvPr id="16" name="TextBox 15">
            <a:extLst>
              <a:ext uri="{FF2B5EF4-FFF2-40B4-BE49-F238E27FC236}">
                <a16:creationId xmlns:a16="http://schemas.microsoft.com/office/drawing/2014/main" id="{145ED155-D147-8024-5E14-14189388C2EE}"/>
              </a:ext>
            </a:extLst>
          </p:cNvPr>
          <p:cNvSpPr txBox="1"/>
          <p:nvPr/>
        </p:nvSpPr>
        <p:spPr>
          <a:xfrm>
            <a:off x="6906565" y="3619191"/>
            <a:ext cx="1428916" cy="578882"/>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Flexible</a:t>
            </a:r>
          </a:p>
        </p:txBody>
      </p:sp>
      <p:sp>
        <p:nvSpPr>
          <p:cNvPr id="20" name="TextBox 19">
            <a:extLst>
              <a:ext uri="{FF2B5EF4-FFF2-40B4-BE49-F238E27FC236}">
                <a16:creationId xmlns:a16="http://schemas.microsoft.com/office/drawing/2014/main" id="{2BAB4CE5-730D-15C7-FE5D-C7F62D2A14B1}"/>
              </a:ext>
            </a:extLst>
          </p:cNvPr>
          <p:cNvSpPr txBox="1"/>
          <p:nvPr/>
        </p:nvSpPr>
        <p:spPr>
          <a:xfrm>
            <a:off x="6256462" y="4333988"/>
            <a:ext cx="2626180" cy="578882"/>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Fully automatic</a:t>
            </a:r>
          </a:p>
        </p:txBody>
      </p:sp>
      <p:sp>
        <p:nvSpPr>
          <p:cNvPr id="22" name="TextBox 21">
            <a:extLst>
              <a:ext uri="{FF2B5EF4-FFF2-40B4-BE49-F238E27FC236}">
                <a16:creationId xmlns:a16="http://schemas.microsoft.com/office/drawing/2014/main" id="{00AE5E7C-9BCF-9753-06F8-EAF716A55760}"/>
              </a:ext>
            </a:extLst>
          </p:cNvPr>
          <p:cNvSpPr txBox="1"/>
          <p:nvPr/>
        </p:nvSpPr>
        <p:spPr>
          <a:xfrm>
            <a:off x="792196" y="4331346"/>
            <a:ext cx="2134343" cy="578882"/>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Some safety</a:t>
            </a:r>
          </a:p>
        </p:txBody>
      </p:sp>
      <p:sp>
        <p:nvSpPr>
          <p:cNvPr id="24" name="TextBox 23">
            <a:extLst>
              <a:ext uri="{FF2B5EF4-FFF2-40B4-BE49-F238E27FC236}">
                <a16:creationId xmlns:a16="http://schemas.microsoft.com/office/drawing/2014/main" id="{56DFA2B2-D1FB-7E40-AA4F-77E26D5DACCE}"/>
              </a:ext>
            </a:extLst>
          </p:cNvPr>
          <p:cNvSpPr txBox="1"/>
          <p:nvPr/>
        </p:nvSpPr>
        <p:spPr>
          <a:xfrm>
            <a:off x="3585124" y="3612310"/>
            <a:ext cx="2498727" cy="578882"/>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dirty="0"/>
              <a:t>Learning curve</a:t>
            </a:r>
          </a:p>
        </p:txBody>
      </p:sp>
      <p:sp>
        <p:nvSpPr>
          <p:cNvPr id="26" name="TextBox 25">
            <a:extLst>
              <a:ext uri="{FF2B5EF4-FFF2-40B4-BE49-F238E27FC236}">
                <a16:creationId xmlns:a16="http://schemas.microsoft.com/office/drawing/2014/main" id="{FDBFF3EE-C465-006F-A738-B2C3CB9FD4F2}"/>
              </a:ext>
            </a:extLst>
          </p:cNvPr>
          <p:cNvSpPr txBox="1"/>
          <p:nvPr/>
        </p:nvSpPr>
        <p:spPr>
          <a:xfrm>
            <a:off x="3781206" y="4331346"/>
            <a:ext cx="2003622" cy="578882"/>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dirty="0"/>
              <a:t>Not general</a:t>
            </a:r>
          </a:p>
        </p:txBody>
      </p:sp>
      <p:sp>
        <p:nvSpPr>
          <p:cNvPr id="28" name="TextBox 27">
            <a:extLst>
              <a:ext uri="{FF2B5EF4-FFF2-40B4-BE49-F238E27FC236}">
                <a16:creationId xmlns:a16="http://schemas.microsoft.com/office/drawing/2014/main" id="{23290D71-6DEC-174A-0D4C-C5A0334D42F9}"/>
              </a:ext>
            </a:extLst>
          </p:cNvPr>
          <p:cNvSpPr txBox="1"/>
          <p:nvPr/>
        </p:nvSpPr>
        <p:spPr>
          <a:xfrm>
            <a:off x="9549708" y="3615620"/>
            <a:ext cx="1893310" cy="578882"/>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dirty="0"/>
              <a:t>Stochastic</a:t>
            </a:r>
          </a:p>
        </p:txBody>
      </p:sp>
      <p:sp>
        <p:nvSpPr>
          <p:cNvPr id="30" name="TextBox 29">
            <a:extLst>
              <a:ext uri="{FF2B5EF4-FFF2-40B4-BE49-F238E27FC236}">
                <a16:creationId xmlns:a16="http://schemas.microsoft.com/office/drawing/2014/main" id="{52B42A5D-EA70-C360-ADE0-BC629217A2FF}"/>
              </a:ext>
            </a:extLst>
          </p:cNvPr>
          <p:cNvSpPr txBox="1"/>
          <p:nvPr/>
        </p:nvSpPr>
        <p:spPr>
          <a:xfrm>
            <a:off x="9081148" y="4333988"/>
            <a:ext cx="2727489" cy="578882"/>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dirty="0"/>
              <a:t>Complex output</a:t>
            </a:r>
          </a:p>
        </p:txBody>
      </p:sp>
      <p:sp>
        <p:nvSpPr>
          <p:cNvPr id="35" name="Right Brace 34">
            <a:extLst>
              <a:ext uri="{FF2B5EF4-FFF2-40B4-BE49-F238E27FC236}">
                <a16:creationId xmlns:a16="http://schemas.microsoft.com/office/drawing/2014/main" id="{9F09A8EB-ABF6-B6C8-D0BA-80FB857DE93D}"/>
              </a:ext>
            </a:extLst>
          </p:cNvPr>
          <p:cNvSpPr/>
          <p:nvPr/>
        </p:nvSpPr>
        <p:spPr>
          <a:xfrm rot="5400000">
            <a:off x="6014510" y="898475"/>
            <a:ext cx="162980" cy="8496300"/>
          </a:xfrm>
          <a:prstGeom prst="rightBrace">
            <a:avLst/>
          </a:prstGeom>
          <a:ln w="19050">
            <a:solidFill>
              <a:srgbClr val="0D1717"/>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6" name="TextBox 35">
            <a:extLst>
              <a:ext uri="{FF2B5EF4-FFF2-40B4-BE49-F238E27FC236}">
                <a16:creationId xmlns:a16="http://schemas.microsoft.com/office/drawing/2014/main" id="{2389E2B3-4BCB-989F-B436-E7DF27AF788B}"/>
              </a:ext>
            </a:extLst>
          </p:cNvPr>
          <p:cNvSpPr txBox="1"/>
          <p:nvPr/>
        </p:nvSpPr>
        <p:spPr>
          <a:xfrm>
            <a:off x="3673702" y="5222758"/>
            <a:ext cx="4844596" cy="954107"/>
          </a:xfrm>
          <a:prstGeom prst="rect">
            <a:avLst/>
          </a:prstGeom>
          <a:noFill/>
        </p:spPr>
        <p:txBody>
          <a:bodyPr wrap="none" rtlCol="0">
            <a:spAutoFit/>
          </a:bodyPr>
          <a:lstStyle/>
          <a:p>
            <a:pPr algn="ctr"/>
            <a:r>
              <a:rPr lang="en-US" sz="2800" dirty="0"/>
              <a:t>Would abstractions help LLMs</a:t>
            </a:r>
            <a:br>
              <a:rPr lang="en-US" sz="2800" dirty="0"/>
            </a:br>
            <a:r>
              <a:rPr lang="en-US" sz="2800" dirty="0"/>
              <a:t>generate better code?</a:t>
            </a:r>
          </a:p>
        </p:txBody>
      </p:sp>
      <p:cxnSp>
        <p:nvCxnSpPr>
          <p:cNvPr id="38" name="Straight Connector 37">
            <a:extLst>
              <a:ext uri="{FF2B5EF4-FFF2-40B4-BE49-F238E27FC236}">
                <a16:creationId xmlns:a16="http://schemas.microsoft.com/office/drawing/2014/main" id="{89876299-1652-9960-0CF0-FAE18BAA3D39}"/>
              </a:ext>
            </a:extLst>
          </p:cNvPr>
          <p:cNvCxnSpPr>
            <a:cxnSpLocks/>
            <a:stCxn id="14" idx="0"/>
            <a:endCxn id="6" idx="2"/>
          </p:cNvCxnSpPr>
          <p:nvPr/>
        </p:nvCxnSpPr>
        <p:spPr>
          <a:xfrm flipV="1">
            <a:off x="1910839" y="3369312"/>
            <a:ext cx="1779679" cy="242474"/>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9A658A6-462A-721C-919E-76FEB163D5B8}"/>
              </a:ext>
            </a:extLst>
          </p:cNvPr>
          <p:cNvCxnSpPr>
            <a:cxnSpLocks/>
            <a:stCxn id="6" idx="2"/>
            <a:endCxn id="24" idx="0"/>
          </p:cNvCxnSpPr>
          <p:nvPr/>
        </p:nvCxnSpPr>
        <p:spPr>
          <a:xfrm>
            <a:off x="3690518" y="3369312"/>
            <a:ext cx="1143970" cy="242998"/>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BD53AA8-39CA-47DE-F5FA-41E1EE49B24D}"/>
              </a:ext>
            </a:extLst>
          </p:cNvPr>
          <p:cNvCxnSpPr>
            <a:cxnSpLocks/>
            <a:stCxn id="16" idx="0"/>
            <a:endCxn id="7" idx="2"/>
          </p:cNvCxnSpPr>
          <p:nvPr/>
        </p:nvCxnSpPr>
        <p:spPr>
          <a:xfrm flipV="1">
            <a:off x="7621023" y="3291961"/>
            <a:ext cx="1261619" cy="327230"/>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57CF218E-2303-9C34-7EE9-CD93166E4988}"/>
              </a:ext>
            </a:extLst>
          </p:cNvPr>
          <p:cNvCxnSpPr>
            <a:cxnSpLocks/>
            <a:stCxn id="28" idx="0"/>
            <a:endCxn id="7" idx="2"/>
          </p:cNvCxnSpPr>
          <p:nvPr/>
        </p:nvCxnSpPr>
        <p:spPr>
          <a:xfrm flipH="1" flipV="1">
            <a:off x="8882642" y="3291961"/>
            <a:ext cx="1613721" cy="323659"/>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18108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P spid="20" grpId="0" animBg="1"/>
      <p:bldP spid="22" grpId="0" animBg="1"/>
      <p:bldP spid="24" grpId="0" animBg="1"/>
      <p:bldP spid="26" grpId="0" animBg="1"/>
      <p:bldP spid="28" grpId="0" animBg="1"/>
      <p:bldP spid="30" grpId="0" animBg="1"/>
      <p:bldP spid="35" grpId="0" animBg="1"/>
      <p:bldP spid="36"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0FE5F9-EFB1-2C3D-2EB1-4044711DA90C}"/>
              </a:ext>
            </a:extLst>
          </p:cNvPr>
          <p:cNvPicPr>
            <a:picLocks noChangeAspect="1"/>
          </p:cNvPicPr>
          <p:nvPr/>
        </p:nvPicPr>
        <p:blipFill>
          <a:blip r:embed="rId3"/>
          <a:stretch>
            <a:fillRect/>
          </a:stretch>
        </p:blipFill>
        <p:spPr>
          <a:xfrm>
            <a:off x="147523" y="2205523"/>
            <a:ext cx="11896954" cy="3659422"/>
          </a:xfrm>
          <a:prstGeom prst="rect">
            <a:avLst/>
          </a:prstGeom>
        </p:spPr>
      </p:pic>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noProof="0" smtClean="0"/>
              <a:t>29</a:t>
            </a:fld>
            <a:endParaRPr lang="en-US" noProof="0" dirty="0"/>
          </a:p>
        </p:txBody>
      </p:sp>
      <p:sp>
        <p:nvSpPr>
          <p:cNvPr id="7" name="TextBox 6">
            <a:extLst>
              <a:ext uri="{FF2B5EF4-FFF2-40B4-BE49-F238E27FC236}">
                <a16:creationId xmlns:a16="http://schemas.microsoft.com/office/drawing/2014/main" id="{DB9497BC-6D29-1801-EA64-2882313902E4}"/>
              </a:ext>
            </a:extLst>
          </p:cNvPr>
          <p:cNvSpPr txBox="1"/>
          <p:nvPr/>
        </p:nvSpPr>
        <p:spPr>
          <a:xfrm>
            <a:off x="2961639" y="6013588"/>
            <a:ext cx="6016391" cy="830997"/>
          </a:xfrm>
          <a:prstGeom prst="rect">
            <a:avLst/>
          </a:prstGeom>
          <a:noFill/>
        </p:spPr>
        <p:txBody>
          <a:bodyPr wrap="none" rtlCol="0">
            <a:spAutoFit/>
          </a:bodyPr>
          <a:lstStyle/>
          <a:p>
            <a:pPr algn="ctr"/>
            <a:r>
              <a:rPr lang="en-US" sz="2400" noProof="0" dirty="0"/>
              <a:t>Developer guide + abstraction-specific hints</a:t>
            </a:r>
          </a:p>
          <a:p>
            <a:pPr algn="ctr"/>
            <a:r>
              <a:rPr lang="en-US" sz="2400" i="1" noProof="0" dirty="0">
                <a:solidFill>
                  <a:schemeClr val="bg2">
                    <a:lumMod val="50000"/>
                  </a:schemeClr>
                </a:solidFill>
              </a:rPr>
              <a:t>(using OpenAI prompting guidelines)</a:t>
            </a:r>
          </a:p>
        </p:txBody>
      </p:sp>
      <p:cxnSp>
        <p:nvCxnSpPr>
          <p:cNvPr id="9" name="Straight Arrow Connector 8">
            <a:extLst>
              <a:ext uri="{FF2B5EF4-FFF2-40B4-BE49-F238E27FC236}">
                <a16:creationId xmlns:a16="http://schemas.microsoft.com/office/drawing/2014/main" id="{2C2299F2-DF0C-D427-2C21-1F633FD84712}"/>
              </a:ext>
            </a:extLst>
          </p:cNvPr>
          <p:cNvCxnSpPr>
            <a:cxnSpLocks/>
            <a:stCxn id="7" idx="0"/>
          </p:cNvCxnSpPr>
          <p:nvPr/>
        </p:nvCxnSpPr>
        <p:spPr>
          <a:xfrm flipH="1" flipV="1">
            <a:off x="2961639" y="4450976"/>
            <a:ext cx="3008196" cy="156261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55483F73-57FD-ABD7-CCEB-C0641F3C7A69}"/>
              </a:ext>
            </a:extLst>
          </p:cNvPr>
          <p:cNvCxnSpPr>
            <a:cxnSpLocks/>
            <a:stCxn id="7" idx="0"/>
          </p:cNvCxnSpPr>
          <p:nvPr/>
        </p:nvCxnSpPr>
        <p:spPr>
          <a:xfrm flipV="1">
            <a:off x="5969835" y="4652682"/>
            <a:ext cx="2021738" cy="1360906"/>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AC0D334-1CA1-478B-E2DF-FDBB97BA6ED4}"/>
              </a:ext>
            </a:extLst>
          </p:cNvPr>
          <p:cNvCxnSpPr>
            <a:cxnSpLocks/>
            <a:stCxn id="14" idx="2"/>
          </p:cNvCxnSpPr>
          <p:nvPr/>
        </p:nvCxnSpPr>
        <p:spPr>
          <a:xfrm>
            <a:off x="2585951" y="2049544"/>
            <a:ext cx="0" cy="949150"/>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ADB58845-D5C0-EEBE-C5E3-557A6BA41D27}"/>
              </a:ext>
            </a:extLst>
          </p:cNvPr>
          <p:cNvSpPr txBox="1"/>
          <p:nvPr/>
        </p:nvSpPr>
        <p:spPr>
          <a:xfrm>
            <a:off x="1616294" y="1218547"/>
            <a:ext cx="1939313" cy="830997"/>
          </a:xfrm>
          <a:prstGeom prst="rect">
            <a:avLst/>
          </a:prstGeom>
          <a:noFill/>
        </p:spPr>
        <p:txBody>
          <a:bodyPr wrap="none" rtlCol="0">
            <a:spAutoFit/>
          </a:bodyPr>
          <a:lstStyle/>
          <a:p>
            <a:pPr algn="ctr"/>
            <a:r>
              <a:rPr lang="en-US" sz="2400" noProof="0" dirty="0"/>
              <a:t>Example</a:t>
            </a:r>
            <a:br>
              <a:rPr lang="en-US" sz="2400" noProof="0" dirty="0"/>
            </a:br>
            <a:r>
              <a:rPr lang="en-US" sz="2400" noProof="0" dirty="0"/>
              <a:t>of translation</a:t>
            </a:r>
          </a:p>
        </p:txBody>
      </p:sp>
      <p:cxnSp>
        <p:nvCxnSpPr>
          <p:cNvPr id="30" name="Straight Arrow Connector 29">
            <a:extLst>
              <a:ext uri="{FF2B5EF4-FFF2-40B4-BE49-F238E27FC236}">
                <a16:creationId xmlns:a16="http://schemas.microsoft.com/office/drawing/2014/main" id="{92B3DD40-0E3D-BE7E-C1A9-7FE95248193E}"/>
              </a:ext>
            </a:extLst>
          </p:cNvPr>
          <p:cNvCxnSpPr>
            <a:cxnSpLocks/>
            <a:stCxn id="31" idx="2"/>
          </p:cNvCxnSpPr>
          <p:nvPr/>
        </p:nvCxnSpPr>
        <p:spPr>
          <a:xfrm>
            <a:off x="8499278" y="1931503"/>
            <a:ext cx="0" cy="1458531"/>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26AD0EB-FFD7-75B6-7E42-6076085C5AFE}"/>
              </a:ext>
            </a:extLst>
          </p:cNvPr>
          <p:cNvSpPr txBox="1"/>
          <p:nvPr/>
        </p:nvSpPr>
        <p:spPr>
          <a:xfrm>
            <a:off x="7231142" y="1469838"/>
            <a:ext cx="2536272" cy="461665"/>
          </a:xfrm>
          <a:prstGeom prst="rect">
            <a:avLst/>
          </a:prstGeom>
          <a:noFill/>
        </p:spPr>
        <p:txBody>
          <a:bodyPr wrap="none" rtlCol="0">
            <a:spAutoFit/>
          </a:bodyPr>
          <a:lstStyle/>
          <a:p>
            <a:pPr algn="ctr"/>
            <a:r>
              <a:rPr lang="en-US" sz="2400" noProof="0" dirty="0"/>
              <a:t>Different prompts</a:t>
            </a:r>
          </a:p>
        </p:txBody>
      </p:sp>
    </p:spTree>
    <p:extLst>
      <p:ext uri="{BB962C8B-B14F-4D97-AF65-F5344CB8AC3E}">
        <p14:creationId xmlns:p14="http://schemas.microsoft.com/office/powerpoint/2010/main" val="2330282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4" grpId="0"/>
      <p:bldP spid="31"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noProof="0" smtClean="0"/>
              <a:t>30</a:t>
            </a:fld>
            <a:endParaRPr lang="en-US" noProof="0" dirty="0"/>
          </a:p>
        </p:txBody>
      </p:sp>
      <p:pic>
        <p:nvPicPr>
          <p:cNvPr id="5" name="Picture 4">
            <a:extLst>
              <a:ext uri="{FF2B5EF4-FFF2-40B4-BE49-F238E27FC236}">
                <a16:creationId xmlns:a16="http://schemas.microsoft.com/office/drawing/2014/main" id="{25139328-6AF9-13C4-4F3E-6451615DB50E}"/>
              </a:ext>
            </a:extLst>
          </p:cNvPr>
          <p:cNvPicPr>
            <a:picLocks noChangeAspect="1"/>
          </p:cNvPicPr>
          <p:nvPr/>
        </p:nvPicPr>
        <p:blipFill>
          <a:blip r:embed="rId3"/>
          <a:stretch>
            <a:fillRect/>
          </a:stretch>
        </p:blipFill>
        <p:spPr>
          <a:xfrm>
            <a:off x="0" y="339180"/>
            <a:ext cx="12192000" cy="5931408"/>
          </a:xfrm>
          <a:prstGeom prst="rect">
            <a:avLst/>
          </a:prstGeom>
        </p:spPr>
      </p:pic>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224053" y="739290"/>
            <a:ext cx="590330" cy="652813"/>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0" y="339180"/>
            <a:ext cx="2448106" cy="400110"/>
          </a:xfrm>
          <a:prstGeom prst="rect">
            <a:avLst/>
          </a:prstGeom>
          <a:noFill/>
        </p:spPr>
        <p:txBody>
          <a:bodyPr wrap="none" rtlCol="0">
            <a:spAutoFit/>
          </a:bodyPr>
          <a:lstStyle/>
          <a:p>
            <a:pPr algn="ctr"/>
            <a:r>
              <a:rPr lang="en-US" noProof="0" dirty="0"/>
              <a:t>Best </a:t>
            </a:r>
            <a:r>
              <a:rPr lang="en-US" sz="2000" noProof="0" dirty="0"/>
              <a:t>performance</a:t>
            </a:r>
            <a:r>
              <a:rPr lang="en-US" noProof="0" dirty="0"/>
              <a:t> (C)</a:t>
            </a:r>
          </a:p>
        </p:txBody>
      </p:sp>
    </p:spTree>
    <p:extLst>
      <p:ext uri="{BB962C8B-B14F-4D97-AF65-F5344CB8AC3E}">
        <p14:creationId xmlns:p14="http://schemas.microsoft.com/office/powerpoint/2010/main" val="13416658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noProof="0" dirty="0"/>
              <a:t>LLM-guided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a:xfrm>
            <a:off x="838200" y="1635615"/>
            <a:ext cx="10848474" cy="4541348"/>
          </a:xfrm>
        </p:spPr>
        <p:txBody>
          <a:bodyPr>
            <a:noAutofit/>
          </a:bodyPr>
          <a:lstStyle/>
          <a:p>
            <a:r>
              <a:rPr lang="en-US" noProof="0" dirty="0"/>
              <a:t>Prompting specificity ✅</a:t>
            </a:r>
          </a:p>
          <a:p>
            <a:r>
              <a:rPr lang="en-US" noProof="0" dirty="0"/>
              <a:t>Contemporary abstractions ❌</a:t>
            </a:r>
          </a:p>
          <a:p>
            <a:endParaRPr lang="en-US" noProof="0" dirty="0"/>
          </a:p>
          <a:p>
            <a:r>
              <a:rPr lang="en-US" dirty="0"/>
              <a:t>Possible f</a:t>
            </a:r>
            <a:r>
              <a:rPr lang="en-US" noProof="0" dirty="0" err="1"/>
              <a:t>uture</a:t>
            </a:r>
            <a:r>
              <a:rPr lang="en-US" noProof="0" dirty="0"/>
              <a:t> research</a:t>
            </a:r>
          </a:p>
          <a:p>
            <a:pPr lvl="1"/>
            <a:r>
              <a:rPr lang="en-US" noProof="0" dirty="0"/>
              <a:t>Re-evaluate on agentic LLMs</a:t>
            </a:r>
          </a:p>
          <a:p>
            <a:pPr lvl="2"/>
            <a:r>
              <a:rPr lang="en-US" noProof="0" dirty="0"/>
              <a:t>Gather feedback (performance, compile errors, …)</a:t>
            </a:r>
          </a:p>
          <a:p>
            <a:pPr lvl="2"/>
            <a:r>
              <a:rPr lang="en-US" noProof="0" dirty="0"/>
              <a:t>Collect necessary context (e.g., work with an abstraction reference)</a:t>
            </a:r>
          </a:p>
          <a:p>
            <a:pPr lvl="1"/>
            <a:endParaRPr lang="en-US" noProof="0" dirty="0"/>
          </a:p>
          <a:p>
            <a:pPr lvl="1"/>
            <a:r>
              <a:rPr lang="en-US" noProof="0" dirty="0"/>
              <a:t>More LLM-focused abstractions</a:t>
            </a:r>
            <a:r>
              <a:rPr lang="en-US" dirty="0"/>
              <a:t> and scaffolding</a:t>
            </a:r>
          </a:p>
          <a:p>
            <a:r>
              <a:rPr lang="en-US" noProof="0" dirty="0"/>
              <a:t>LLMs still do not replace abstractions (</a:t>
            </a:r>
            <a:r>
              <a:rPr lang="en-US" sz="2400" noProof="0" dirty="0"/>
              <a:t>⬆️flexibility</a:t>
            </a:r>
            <a:r>
              <a:rPr lang="en-US" noProof="0" dirty="0"/>
              <a:t>, </a:t>
            </a:r>
            <a:r>
              <a:rPr lang="en-US" sz="2400" noProof="0" dirty="0"/>
              <a:t>⬇️                                </a:t>
            </a:r>
            <a:r>
              <a:rPr lang="en-US" noProof="0" dirty="0"/>
              <a:t>)</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noProof="0" smtClean="0"/>
              <a:t>31</a:t>
            </a:fld>
            <a:endParaRPr lang="en-US" noProof="0" dirty="0"/>
          </a:p>
        </p:txBody>
      </p:sp>
      <p:sp>
        <p:nvSpPr>
          <p:cNvPr id="4" name="TextBox 3">
            <a:extLst>
              <a:ext uri="{FF2B5EF4-FFF2-40B4-BE49-F238E27FC236}">
                <a16:creationId xmlns:a16="http://schemas.microsoft.com/office/drawing/2014/main" id="{B965D0A2-488C-6AE6-55B4-95CCADB0A059}"/>
              </a:ext>
            </a:extLst>
          </p:cNvPr>
          <p:cNvSpPr txBox="1"/>
          <p:nvPr/>
        </p:nvSpPr>
        <p:spPr>
          <a:xfrm>
            <a:off x="9138232" y="5688871"/>
            <a:ext cx="2125390" cy="461665"/>
          </a:xfrm>
          <a:prstGeom prst="rect">
            <a:avLst/>
          </a:prstGeom>
          <a:noFill/>
        </p:spPr>
        <p:txBody>
          <a:bodyPr wrap="none" rtlCol="0">
            <a:spAutoFit/>
          </a:bodyPr>
          <a:lstStyle/>
          <a:p>
            <a:pPr algn="ctr"/>
            <a:r>
              <a:rPr lang="en-US" sz="2400" dirty="0"/>
              <a:t>interpretability</a:t>
            </a:r>
          </a:p>
        </p:txBody>
      </p:sp>
      <p:sp>
        <p:nvSpPr>
          <p:cNvPr id="8" name="TextBox 7">
            <a:extLst>
              <a:ext uri="{FF2B5EF4-FFF2-40B4-BE49-F238E27FC236}">
                <a16:creationId xmlns:a16="http://schemas.microsoft.com/office/drawing/2014/main" id="{DFEF80E3-6A55-EBC0-500C-3DC766A1C247}"/>
              </a:ext>
            </a:extLst>
          </p:cNvPr>
          <p:cNvSpPr txBox="1"/>
          <p:nvPr/>
        </p:nvSpPr>
        <p:spPr>
          <a:xfrm>
            <a:off x="9258453" y="5397074"/>
            <a:ext cx="1884948" cy="461665"/>
          </a:xfrm>
          <a:prstGeom prst="rect">
            <a:avLst/>
          </a:prstGeom>
          <a:noFill/>
        </p:spPr>
        <p:txBody>
          <a:bodyPr wrap="square">
            <a:spAutoFit/>
          </a:bodyPr>
          <a:lstStyle/>
          <a:p>
            <a:pPr algn="ctr"/>
            <a:r>
              <a:rPr lang="en-US" sz="2400" noProof="0" dirty="0"/>
              <a:t>determinism</a:t>
            </a:r>
            <a:endParaRPr lang="en-US" dirty="0"/>
          </a:p>
        </p:txBody>
      </p:sp>
    </p:spTree>
    <p:extLst>
      <p:ext uri="{BB962C8B-B14F-4D97-AF65-F5344CB8AC3E}">
        <p14:creationId xmlns:p14="http://schemas.microsoft.com/office/powerpoint/2010/main" val="2709945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noProof="0" smtClean="0"/>
              <a:t>32</a:t>
            </a:fld>
            <a:endParaRPr lang="en-US" noProof="0" dirty="0"/>
          </a:p>
        </p:txBody>
      </p:sp>
      <p:sp>
        <p:nvSpPr>
          <p:cNvPr id="6" name="TextBox 5">
            <a:extLst>
              <a:ext uri="{FF2B5EF4-FFF2-40B4-BE49-F238E27FC236}">
                <a16:creationId xmlns:a16="http://schemas.microsoft.com/office/drawing/2014/main" id="{0C2203B1-0F93-3F92-FADF-DA1FA387F65C}"/>
              </a:ext>
            </a:extLst>
          </p:cNvPr>
          <p:cNvSpPr txBox="1"/>
          <p:nvPr/>
        </p:nvSpPr>
        <p:spPr>
          <a:xfrm>
            <a:off x="796339" y="3540214"/>
            <a:ext cx="1337160"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nvSpPr>
        <p:spPr>
          <a:xfrm>
            <a:off x="1578385" y="1964514"/>
            <a:ext cx="1007068"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nvSpPr>
        <p:spPr>
          <a:xfrm>
            <a:off x="2202790" y="2704852"/>
            <a:ext cx="1218131"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nvSpPr>
        <p:spPr>
          <a:xfrm>
            <a:off x="3180692" y="3587248"/>
            <a:ext cx="1310504"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nvSpPr>
        <p:spPr>
          <a:xfrm>
            <a:off x="9394667" y="1602719"/>
            <a:ext cx="2027218" cy="408623"/>
          </a:xfrm>
          <a:prstGeom prst="roundRect">
            <a:avLst>
              <a:gd name="adj" fmla="val 38874"/>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Cellular automata</a:t>
            </a:r>
          </a:p>
        </p:txBody>
      </p:sp>
      <p:sp>
        <p:nvSpPr>
          <p:cNvPr id="24" name="TextBox 23">
            <a:extLst>
              <a:ext uri="{FF2B5EF4-FFF2-40B4-BE49-F238E27FC236}">
                <a16:creationId xmlns:a16="http://schemas.microsoft.com/office/drawing/2014/main" id="{F05BE16C-7358-765B-9F41-391F715E3540}"/>
              </a:ext>
            </a:extLst>
          </p:cNvPr>
          <p:cNvSpPr txBox="1"/>
          <p:nvPr/>
        </p:nvSpPr>
        <p:spPr>
          <a:xfrm>
            <a:off x="9073599" y="2712837"/>
            <a:ext cx="2669353" cy="476488"/>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Bitwise encoding of </a:t>
            </a:r>
            <a:r>
              <a:rPr lang="en-US" noProof="0" dirty="0" err="1"/>
              <a:t>GoL</a:t>
            </a:r>
            <a:endParaRPr lang="en-US" noProof="0" dirty="0"/>
          </a:p>
        </p:txBody>
      </p:sp>
      <p:sp>
        <p:nvSpPr>
          <p:cNvPr id="27" name="TextBox 26">
            <a:extLst>
              <a:ext uri="{FF2B5EF4-FFF2-40B4-BE49-F238E27FC236}">
                <a16:creationId xmlns:a16="http://schemas.microsoft.com/office/drawing/2014/main" id="{4C486DD0-E83D-76B8-FFAB-7DFBC00CF409}"/>
              </a:ext>
            </a:extLst>
          </p:cNvPr>
          <p:cNvSpPr txBox="1"/>
          <p:nvPr/>
        </p:nvSpPr>
        <p:spPr>
          <a:xfrm>
            <a:off x="6617359" y="2114333"/>
            <a:ext cx="1776972" cy="487204"/>
          </a:xfrm>
          <a:prstGeom prst="roundRect">
            <a:avLst>
              <a:gd name="adj" fmla="val 42290"/>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CA abstraction</a:t>
            </a:r>
          </a:p>
        </p:txBody>
      </p:sp>
      <p:sp>
        <p:nvSpPr>
          <p:cNvPr id="28" name="TextBox 27">
            <a:extLst>
              <a:ext uri="{FF2B5EF4-FFF2-40B4-BE49-F238E27FC236}">
                <a16:creationId xmlns:a16="http://schemas.microsoft.com/office/drawing/2014/main" id="{4E10342D-AF4F-9D7A-596A-774C5A75EE80}"/>
              </a:ext>
            </a:extLst>
          </p:cNvPr>
          <p:cNvSpPr txBox="1"/>
          <p:nvPr/>
        </p:nvSpPr>
        <p:spPr>
          <a:xfrm>
            <a:off x="6781927" y="4959624"/>
            <a:ext cx="2529026" cy="369332"/>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Tutoring LLMs for CUDA</a:t>
            </a:r>
          </a:p>
        </p:txBody>
      </p:sp>
      <p:sp>
        <p:nvSpPr>
          <p:cNvPr id="30" name="TextBox 29">
            <a:extLst>
              <a:ext uri="{FF2B5EF4-FFF2-40B4-BE49-F238E27FC236}">
                <a16:creationId xmlns:a16="http://schemas.microsoft.com/office/drawing/2014/main" id="{4AD7395F-5DE8-A141-7F54-EB10905B989D}"/>
              </a:ext>
            </a:extLst>
          </p:cNvPr>
          <p:cNvSpPr txBox="1"/>
          <p:nvPr/>
        </p:nvSpPr>
        <p:spPr>
          <a:xfrm>
            <a:off x="4857296" y="3941654"/>
            <a:ext cx="2433487" cy="369332"/>
          </a:xfrm>
          <a:prstGeom prst="rect">
            <a:avLst/>
          </a:prstGeom>
          <a:gradFill flip="none" rotWithShape="1">
            <a:gsLst>
              <a:gs pos="0">
                <a:schemeClr val="accent2">
                  <a:lumMod val="67000"/>
                </a:schemeClr>
              </a:gs>
              <a:gs pos="48000">
                <a:srgbClr val="AF9A19"/>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LLMs and abstractions</a:t>
            </a:r>
          </a:p>
        </p:txBody>
      </p:sp>
      <p:sp>
        <p:nvSpPr>
          <p:cNvPr id="32" name="TextBox 31">
            <a:extLst>
              <a:ext uri="{FF2B5EF4-FFF2-40B4-BE49-F238E27FC236}">
                <a16:creationId xmlns:a16="http://schemas.microsoft.com/office/drawing/2014/main" id="{575DD392-3AAA-5F2A-363D-37ADF1B2AD3E}"/>
              </a:ext>
            </a:extLst>
          </p:cNvPr>
          <p:cNvSpPr txBox="1"/>
          <p:nvPr/>
        </p:nvSpPr>
        <p:spPr>
          <a:xfrm>
            <a:off x="309634" y="1421002"/>
            <a:ext cx="3497625" cy="369332"/>
          </a:xfrm>
          <a:prstGeom prst="rect">
            <a:avLst/>
          </a:prstGeom>
        </p:spPr>
        <p:style>
          <a:lnRef idx="0">
            <a:schemeClr val="accent6"/>
          </a:lnRef>
          <a:fillRef idx="3">
            <a:schemeClr val="accent6"/>
          </a:fillRef>
          <a:effectRef idx="3">
            <a:schemeClr val="accent6"/>
          </a:effectRef>
          <a:fontRef idx="minor">
            <a:schemeClr val="lt1"/>
          </a:fontRef>
        </p:style>
        <p:txBody>
          <a:bodyPr wrap="none" rtlCol="0">
            <a:spAutoFit/>
          </a:bodyPr>
          <a:lstStyle/>
          <a:p>
            <a:pPr algn="ctr"/>
            <a:r>
              <a:rPr lang="en-US" noProof="0" dirty="0"/>
              <a:t>General-purpose HPC computing</a:t>
            </a:r>
          </a:p>
        </p:txBody>
      </p:sp>
      <p:sp>
        <p:nvSpPr>
          <p:cNvPr id="34" name="TextBox 33">
            <a:extLst>
              <a:ext uri="{FF2B5EF4-FFF2-40B4-BE49-F238E27FC236}">
                <a16:creationId xmlns:a16="http://schemas.microsoft.com/office/drawing/2014/main" id="{18996F6F-87F6-9490-D8CC-27045B68F5E1}"/>
              </a:ext>
            </a:extLst>
          </p:cNvPr>
          <p:cNvSpPr txBox="1"/>
          <p:nvPr/>
        </p:nvSpPr>
        <p:spPr>
          <a:xfrm>
            <a:off x="7421845" y="304329"/>
            <a:ext cx="3457998" cy="369332"/>
          </a:xfrm>
          <a:prstGeom prst="rect">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Domain-specific HPC computing</a:t>
            </a:r>
          </a:p>
        </p:txBody>
      </p:sp>
      <p:sp>
        <p:nvSpPr>
          <p:cNvPr id="5" name="TextBox 4">
            <a:extLst>
              <a:ext uri="{FF2B5EF4-FFF2-40B4-BE49-F238E27FC236}">
                <a16:creationId xmlns:a16="http://schemas.microsoft.com/office/drawing/2014/main" id="{381F1346-871A-D701-3289-C975F8E5768B}"/>
              </a:ext>
            </a:extLst>
          </p:cNvPr>
          <p:cNvSpPr txBox="1"/>
          <p:nvPr/>
        </p:nvSpPr>
        <p:spPr>
          <a:xfrm>
            <a:off x="9296654" y="994391"/>
            <a:ext cx="2223245" cy="408623"/>
          </a:xfrm>
          <a:prstGeom prst="roundRect">
            <a:avLst>
              <a:gd name="adj" fmla="val 35457"/>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Stencil computation</a:t>
            </a:r>
          </a:p>
        </p:txBody>
      </p:sp>
      <p:sp>
        <p:nvSpPr>
          <p:cNvPr id="7" name="TextBox 6">
            <a:extLst>
              <a:ext uri="{FF2B5EF4-FFF2-40B4-BE49-F238E27FC236}">
                <a16:creationId xmlns:a16="http://schemas.microsoft.com/office/drawing/2014/main" id="{F178AC6C-FC18-4019-D6D7-374777F1BAEC}"/>
              </a:ext>
            </a:extLst>
          </p:cNvPr>
          <p:cNvSpPr txBox="1"/>
          <p:nvPr/>
        </p:nvSpPr>
        <p:spPr>
          <a:xfrm>
            <a:off x="8610600" y="5993832"/>
            <a:ext cx="2246769" cy="369332"/>
          </a:xfrm>
          <a:prstGeom prst="rect">
            <a:avLst/>
          </a:prstGeom>
        </p:spPr>
        <p:style>
          <a:lnRef idx="0">
            <a:schemeClr val="accent2"/>
          </a:lnRef>
          <a:fillRef idx="3">
            <a:schemeClr val="accent2"/>
          </a:fillRef>
          <a:effectRef idx="3">
            <a:schemeClr val="accent2"/>
          </a:effectRef>
          <a:fontRef idx="minor">
            <a:schemeClr val="lt1"/>
          </a:fontRef>
        </p:style>
        <p:txBody>
          <a:bodyPr wrap="none" rtlCol="0">
            <a:spAutoFit/>
          </a:bodyPr>
          <a:lstStyle/>
          <a:p>
            <a:r>
              <a:rPr lang="en-US"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1873532" y="5144290"/>
            <a:ext cx="2256197" cy="408623"/>
          </a:xfrm>
          <a:prstGeom prst="roundRect">
            <a:avLst>
              <a:gd name="adj" fmla="val 43999"/>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noProof="0" dirty="0"/>
              <a:t>k-Nearest Neighbors</a:t>
            </a:r>
          </a:p>
        </p:txBody>
      </p:sp>
      <p:sp>
        <p:nvSpPr>
          <p:cNvPr id="11" name="TextBox 10">
            <a:extLst>
              <a:ext uri="{FF2B5EF4-FFF2-40B4-BE49-F238E27FC236}">
                <a16:creationId xmlns:a16="http://schemas.microsoft.com/office/drawing/2014/main" id="{F5FB3F7D-0D2D-953D-31F7-7DD3D9F1427F}"/>
              </a:ext>
            </a:extLst>
          </p:cNvPr>
          <p:cNvSpPr txBox="1"/>
          <p:nvPr/>
        </p:nvSpPr>
        <p:spPr>
          <a:xfrm>
            <a:off x="1561243" y="5903812"/>
            <a:ext cx="3203056" cy="369332"/>
          </a:xfrm>
          <a:prstGeom prst="rect">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noProof="0" dirty="0"/>
              <a:t>GPU-specific algorithm design</a:t>
            </a:r>
          </a:p>
        </p:txBody>
      </p:sp>
      <p:sp>
        <p:nvSpPr>
          <p:cNvPr id="14" name="TextBox 13">
            <a:extLst>
              <a:ext uri="{FF2B5EF4-FFF2-40B4-BE49-F238E27FC236}">
                <a16:creationId xmlns:a16="http://schemas.microsoft.com/office/drawing/2014/main" id="{694A14F9-37A7-558D-DCD1-B6BA288136A3}"/>
              </a:ext>
            </a:extLst>
          </p:cNvPr>
          <p:cNvSpPr txBox="1"/>
          <p:nvPr/>
        </p:nvSpPr>
        <p:spPr>
          <a:xfrm>
            <a:off x="2628617" y="4473316"/>
            <a:ext cx="2397292" cy="501491"/>
          </a:xfrm>
          <a:prstGeom prst="roundRect">
            <a:avLst>
              <a:gd name="adj" fmla="val 45707"/>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en-US" noProof="0" dirty="0" err="1"/>
              <a:t>kNN</a:t>
            </a:r>
            <a:r>
              <a:rPr lang="en-US" noProof="0" dirty="0"/>
              <a:t> with </a:t>
            </a:r>
            <a:r>
              <a:rPr lang="en-US" noProof="0" dirty="0" err="1"/>
              <a:t>bitonic</a:t>
            </a:r>
            <a:r>
              <a:rPr lang="en-US" noProof="0" dirty="0"/>
              <a:t> sort</a:t>
            </a:r>
          </a:p>
        </p:txBody>
      </p: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H="1" flipV="1">
            <a:off x="2058447" y="1790334"/>
            <a:ext cx="23472" cy="17418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2081919" y="2373137"/>
            <a:ext cx="729937" cy="331715"/>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flipH="1">
            <a:off x="1464919" y="3113475"/>
            <a:ext cx="1346937" cy="426739"/>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a:off x="2811856" y="3113475"/>
            <a:ext cx="1024088" cy="47377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6AF8F44-0F6C-B866-8218-A530540B6E98}"/>
              </a:ext>
            </a:extLst>
          </p:cNvPr>
          <p:cNvCxnSpPr>
            <a:stCxn id="34" idx="2"/>
            <a:endCxn id="5" idx="0"/>
          </p:cNvCxnSpPr>
          <p:nvPr/>
        </p:nvCxnSpPr>
        <p:spPr>
          <a:xfrm>
            <a:off x="9150844" y="673661"/>
            <a:ext cx="1257433" cy="320730"/>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EB2F6BFB-AE9D-1000-B08C-FA799A71A0D4}"/>
              </a:ext>
            </a:extLst>
          </p:cNvPr>
          <p:cNvCxnSpPr>
            <a:stCxn id="5" idx="2"/>
            <a:endCxn id="20" idx="0"/>
          </p:cNvCxnSpPr>
          <p:nvPr/>
        </p:nvCxnSpPr>
        <p:spPr>
          <a:xfrm flipH="1">
            <a:off x="10408276" y="1403014"/>
            <a:ext cx="1" cy="199705"/>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stCxn id="20" idx="2"/>
            <a:endCxn id="24" idx="0"/>
          </p:cNvCxnSpPr>
          <p:nvPr/>
        </p:nvCxnSpPr>
        <p:spPr>
          <a:xfrm>
            <a:off x="10408276" y="2011342"/>
            <a:ext cx="0" cy="701495"/>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0" idx="1"/>
            <a:endCxn id="27" idx="3"/>
          </p:cNvCxnSpPr>
          <p:nvPr/>
        </p:nvCxnSpPr>
        <p:spPr>
          <a:xfrm flipH="1">
            <a:off x="8394331" y="1807031"/>
            <a:ext cx="1000336" cy="550904"/>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695E5EAD-8C5F-44D5-24B6-62E7988C0C83}"/>
              </a:ext>
            </a:extLst>
          </p:cNvPr>
          <p:cNvCxnSpPr>
            <a:stCxn id="28" idx="0"/>
            <a:endCxn id="30" idx="2"/>
          </p:cNvCxnSpPr>
          <p:nvPr/>
        </p:nvCxnSpPr>
        <p:spPr>
          <a:xfrm flipH="1" flipV="1">
            <a:off x="6074040" y="4310986"/>
            <a:ext cx="1972400" cy="648638"/>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a:endCxn id="28" idx="2"/>
          </p:cNvCxnSpPr>
          <p:nvPr/>
        </p:nvCxnSpPr>
        <p:spPr>
          <a:xfrm flipH="1" flipV="1">
            <a:off x="8046440" y="5328956"/>
            <a:ext cx="1687545" cy="664876"/>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87E74FF5-B7C7-D011-0BDF-A21E4555D25B}"/>
              </a:ext>
            </a:extLst>
          </p:cNvPr>
          <p:cNvCxnSpPr>
            <a:stCxn id="11" idx="0"/>
            <a:endCxn id="9" idx="2"/>
          </p:cNvCxnSpPr>
          <p:nvPr/>
        </p:nvCxnSpPr>
        <p:spPr>
          <a:xfrm flipH="1" flipV="1">
            <a:off x="3001631" y="5552913"/>
            <a:ext cx="161140" cy="350899"/>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stCxn id="9" idx="0"/>
            <a:endCxn id="14" idx="2"/>
          </p:cNvCxnSpPr>
          <p:nvPr/>
        </p:nvCxnSpPr>
        <p:spPr>
          <a:xfrm flipV="1">
            <a:off x="3001631" y="4974807"/>
            <a:ext cx="825632" cy="169483"/>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stCxn id="14" idx="3"/>
            <a:endCxn id="28" idx="1"/>
          </p:cNvCxnSpPr>
          <p:nvPr/>
        </p:nvCxnSpPr>
        <p:spPr>
          <a:xfrm>
            <a:off x="5025909" y="4724062"/>
            <a:ext cx="1756018" cy="420228"/>
          </a:xfrm>
          <a:prstGeom prst="curvedConnector3">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a:endCxn id="28" idx="0"/>
          </p:cNvCxnSpPr>
          <p:nvPr/>
        </p:nvCxnSpPr>
        <p:spPr>
          <a:xfrm rot="5400000">
            <a:off x="8342209" y="2893556"/>
            <a:ext cx="1770299" cy="2361836"/>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a:endCxn id="30" idx="0"/>
          </p:cNvCxnSpPr>
          <p:nvPr/>
        </p:nvCxnSpPr>
        <p:spPr>
          <a:xfrm>
            <a:off x="3420921" y="2909164"/>
            <a:ext cx="2653119" cy="103249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2" idx="0"/>
            <a:endCxn id="27" idx="0"/>
          </p:cNvCxnSpPr>
          <p:nvPr/>
        </p:nvCxnSpPr>
        <p:spPr>
          <a:xfrm rot="5400000" flipH="1" flipV="1">
            <a:off x="4863591" y="62599"/>
            <a:ext cx="590519" cy="4693989"/>
          </a:xfrm>
          <a:prstGeom prst="curvedConnector3">
            <a:avLst>
              <a:gd name="adj1" fmla="val 138712"/>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105" name="TextBox 104">
            <a:extLst>
              <a:ext uri="{FF2B5EF4-FFF2-40B4-BE49-F238E27FC236}">
                <a16:creationId xmlns:a16="http://schemas.microsoft.com/office/drawing/2014/main" id="{34EEE70E-66B1-DBA0-D563-ADA02418E73F}"/>
              </a:ext>
            </a:extLst>
          </p:cNvPr>
          <p:cNvSpPr txBox="1"/>
          <p:nvPr/>
        </p:nvSpPr>
        <p:spPr>
          <a:xfrm>
            <a:off x="4190498" y="1512671"/>
            <a:ext cx="2095254" cy="369332"/>
          </a:xfrm>
          <a:prstGeom prst="rect">
            <a:avLst/>
          </a:prstGeom>
          <a:noFill/>
        </p:spPr>
        <p:txBody>
          <a:bodyPr wrap="none" rtlCol="0">
            <a:spAutoFit/>
          </a:bodyPr>
          <a:lstStyle/>
          <a:p>
            <a:r>
              <a:rPr lang="en-US"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82109" y="1924917"/>
            <a:ext cx="518025" cy="518025"/>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26784" y="2684666"/>
            <a:ext cx="518025" cy="518025"/>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30762" y="3522977"/>
            <a:ext cx="511973" cy="511973"/>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6827" y="3538609"/>
            <a:ext cx="515297" cy="515297"/>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35039" y="2896199"/>
            <a:ext cx="511973" cy="511973"/>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170633" y="2023201"/>
            <a:ext cx="515297" cy="515297"/>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672790" y="2721461"/>
            <a:ext cx="515297" cy="515297"/>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7561" y="4910959"/>
            <a:ext cx="511973" cy="511973"/>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90335" y="4459198"/>
            <a:ext cx="511973" cy="511973"/>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319894" y="3872085"/>
            <a:ext cx="511973" cy="511973"/>
          </a:xfrm>
          <a:prstGeom prst="rect">
            <a:avLst/>
          </a:prstGeom>
        </p:spPr>
      </p:pic>
      <p:pic>
        <p:nvPicPr>
          <p:cNvPr id="130" name="Graphic 129" descr="Hourglass 90% with solid fill">
            <a:extLst>
              <a:ext uri="{FF2B5EF4-FFF2-40B4-BE49-F238E27FC236}">
                <a16:creationId xmlns:a16="http://schemas.microsoft.com/office/drawing/2014/main" id="{50528A97-8AB5-A140-C267-C37E4D5DCE3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14178" y="3997487"/>
            <a:ext cx="289780" cy="289780"/>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344768" y="4560162"/>
            <a:ext cx="289780" cy="289780"/>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218070" y="2989368"/>
            <a:ext cx="289780" cy="289780"/>
          </a:xfrm>
          <a:prstGeom prst="rect">
            <a:avLst/>
          </a:prstGeom>
        </p:spPr>
      </p:pic>
      <p:pic>
        <p:nvPicPr>
          <p:cNvPr id="137" name="Graphic 136" descr="Gears with solid fill">
            <a:extLst>
              <a:ext uri="{FF2B5EF4-FFF2-40B4-BE49-F238E27FC236}">
                <a16:creationId xmlns:a16="http://schemas.microsoft.com/office/drawing/2014/main" id="{87B9CD5A-2314-3BC0-19F3-4DB9B6E8BA6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341528" y="2973061"/>
            <a:ext cx="324709" cy="324709"/>
          </a:xfrm>
          <a:prstGeom prst="rect">
            <a:avLst/>
          </a:prstGeom>
        </p:spPr>
      </p:pic>
      <p:pic>
        <p:nvPicPr>
          <p:cNvPr id="142" name="Graphic 141" descr="Gears with solid fill">
            <a:extLst>
              <a:ext uri="{FF2B5EF4-FFF2-40B4-BE49-F238E27FC236}">
                <a16:creationId xmlns:a16="http://schemas.microsoft.com/office/drawing/2014/main" id="{8BA176CA-D896-178E-0A65-84C759D3916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280982" y="2418786"/>
            <a:ext cx="324709" cy="324709"/>
          </a:xfrm>
          <a:prstGeom prst="rect">
            <a:avLst/>
          </a:prstGeom>
        </p:spPr>
      </p:pic>
      <p:pic>
        <p:nvPicPr>
          <p:cNvPr id="144" name="Graphic 143" descr="Gears with solid fill">
            <a:extLst>
              <a:ext uri="{FF2B5EF4-FFF2-40B4-BE49-F238E27FC236}">
                <a16:creationId xmlns:a16="http://schemas.microsoft.com/office/drawing/2014/main" id="{E03D2392-BDD9-D1F9-8C3F-1454062E583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412006" y="3816512"/>
            <a:ext cx="324709" cy="324709"/>
          </a:xfrm>
          <a:prstGeom prst="rect">
            <a:avLst/>
          </a:prstGeom>
        </p:spPr>
      </p:pic>
      <p:pic>
        <p:nvPicPr>
          <p:cNvPr id="146" name="Graphic 145" descr="Gears with solid fill">
            <a:extLst>
              <a:ext uri="{FF2B5EF4-FFF2-40B4-BE49-F238E27FC236}">
                <a16:creationId xmlns:a16="http://schemas.microsoft.com/office/drawing/2014/main" id="{C682619D-8374-F943-ACD1-A2A22D038A5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028179" y="3823349"/>
            <a:ext cx="324709" cy="324709"/>
          </a:xfrm>
          <a:prstGeom prst="rect">
            <a:avLst/>
          </a:prstGeom>
        </p:spPr>
      </p:pic>
      <p:pic>
        <p:nvPicPr>
          <p:cNvPr id="148" name="Graphic 147" descr="Gears with solid fill">
            <a:extLst>
              <a:ext uri="{FF2B5EF4-FFF2-40B4-BE49-F238E27FC236}">
                <a16:creationId xmlns:a16="http://schemas.microsoft.com/office/drawing/2014/main" id="{B5B149AE-766F-5F50-86B4-81D50A3A920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476009" y="2226415"/>
            <a:ext cx="324709" cy="324709"/>
          </a:xfrm>
          <a:prstGeom prst="rect">
            <a:avLst/>
          </a:prstGeom>
        </p:spPr>
      </p:pic>
      <p:sp>
        <p:nvSpPr>
          <p:cNvPr id="83" name="TextBox 82">
            <a:extLst>
              <a:ext uri="{FF2B5EF4-FFF2-40B4-BE49-F238E27FC236}">
                <a16:creationId xmlns:a16="http://schemas.microsoft.com/office/drawing/2014/main" id="{B8340993-B06E-A311-6876-6E4CE72B0A74}"/>
              </a:ext>
            </a:extLst>
          </p:cNvPr>
          <p:cNvSpPr txBox="1"/>
          <p:nvPr/>
        </p:nvSpPr>
        <p:spPr>
          <a:xfrm>
            <a:off x="5538944" y="2901016"/>
            <a:ext cx="3137966" cy="476488"/>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Bit-Planes for CA abstraction</a:t>
            </a:r>
          </a:p>
        </p:txBody>
      </p:sp>
      <p:cxnSp>
        <p:nvCxnSpPr>
          <p:cNvPr id="86" name="Straight Connector 85">
            <a:extLst>
              <a:ext uri="{FF2B5EF4-FFF2-40B4-BE49-F238E27FC236}">
                <a16:creationId xmlns:a16="http://schemas.microsoft.com/office/drawing/2014/main" id="{633C5503-8ADB-3112-D468-A9D46C7291F9}"/>
              </a:ext>
            </a:extLst>
          </p:cNvPr>
          <p:cNvCxnSpPr>
            <a:cxnSpLocks/>
            <a:stCxn id="83" idx="0"/>
            <a:endCxn id="27" idx="2"/>
          </p:cNvCxnSpPr>
          <p:nvPr/>
        </p:nvCxnSpPr>
        <p:spPr>
          <a:xfrm flipV="1">
            <a:off x="7107927" y="2601537"/>
            <a:ext cx="397918" cy="29947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DEDBBB33-4558-F22F-1F22-F472582CA31D}"/>
              </a:ext>
            </a:extLst>
          </p:cNvPr>
          <p:cNvCxnSpPr>
            <a:cxnSpLocks/>
            <a:stCxn id="24" idx="1"/>
            <a:endCxn id="83" idx="3"/>
          </p:cNvCxnSpPr>
          <p:nvPr/>
        </p:nvCxnSpPr>
        <p:spPr>
          <a:xfrm flipH="1">
            <a:off x="8676910" y="2951081"/>
            <a:ext cx="396689" cy="18817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pic>
        <p:nvPicPr>
          <p:cNvPr id="94" name="Graphic 93" descr="Gears with solid fill">
            <a:extLst>
              <a:ext uri="{FF2B5EF4-FFF2-40B4-BE49-F238E27FC236}">
                <a16:creationId xmlns:a16="http://schemas.microsoft.com/office/drawing/2014/main" id="{541F1A89-B8F8-9B56-46FB-008EA662398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562773" y="3184491"/>
            <a:ext cx="324709" cy="324709"/>
          </a:xfrm>
          <a:prstGeom prst="rect">
            <a:avLst/>
          </a:prstGeom>
        </p:spPr>
      </p:pic>
    </p:spTree>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32"/>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1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3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28"/>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30"/>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noProof="0" dirty="0"/>
              <a:t>Summary</a:t>
            </a:r>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noProof="0" smtClean="0"/>
              <a:t>33</a:t>
            </a:fld>
            <a:endParaRPr lang="en-US" noProof="0" dirty="0"/>
          </a:p>
        </p:txBody>
      </p:sp>
      <p:pic>
        <p:nvPicPr>
          <p:cNvPr id="6" name="Picture 5">
            <a:extLst>
              <a:ext uri="{FF2B5EF4-FFF2-40B4-BE49-F238E27FC236}">
                <a16:creationId xmlns:a16="http://schemas.microsoft.com/office/drawing/2014/main" id="{B7E9E7E9-B0F2-7688-8691-124AAE9C5637}"/>
              </a:ext>
            </a:extLst>
          </p:cNvPr>
          <p:cNvPicPr>
            <a:picLocks noChangeAspect="1"/>
          </p:cNvPicPr>
          <p:nvPr/>
        </p:nvPicPr>
        <p:blipFill>
          <a:blip r:embed="rId2"/>
          <a:stretch>
            <a:fillRect/>
          </a:stretch>
        </p:blipFill>
        <p:spPr>
          <a:xfrm>
            <a:off x="3409077" y="1874172"/>
            <a:ext cx="7816900" cy="3975196"/>
          </a:xfrm>
          <a:prstGeom prst="rect">
            <a:avLst/>
          </a:prstGeom>
        </p:spPr>
      </p:pic>
      <p:sp>
        <p:nvSpPr>
          <p:cNvPr id="5" name="TextBox 4">
            <a:extLst>
              <a:ext uri="{FF2B5EF4-FFF2-40B4-BE49-F238E27FC236}">
                <a16:creationId xmlns:a16="http://schemas.microsoft.com/office/drawing/2014/main" id="{07460CFD-1ADD-C377-3592-F33BC4F867B6}"/>
              </a:ext>
            </a:extLst>
          </p:cNvPr>
          <p:cNvSpPr txBox="1"/>
          <p:nvPr/>
        </p:nvSpPr>
        <p:spPr>
          <a:xfrm>
            <a:off x="2548168" y="2401805"/>
            <a:ext cx="968535" cy="369332"/>
          </a:xfrm>
          <a:prstGeom prst="rect">
            <a:avLst/>
          </a:prstGeom>
          <a:noFill/>
        </p:spPr>
        <p:txBody>
          <a:bodyPr wrap="none" rtlCol="0">
            <a:spAutoFit/>
          </a:bodyPr>
          <a:lstStyle/>
          <a:p>
            <a:pPr algn="r"/>
            <a:r>
              <a:rPr lang="en-US" dirty="0"/>
              <a:t>Layouts</a:t>
            </a:r>
          </a:p>
        </p:txBody>
      </p:sp>
      <p:sp>
        <p:nvSpPr>
          <p:cNvPr id="8" name="TextBox 7">
            <a:extLst>
              <a:ext uri="{FF2B5EF4-FFF2-40B4-BE49-F238E27FC236}">
                <a16:creationId xmlns:a16="http://schemas.microsoft.com/office/drawing/2014/main" id="{8A890452-B9A2-74CC-8DAA-A01425E62FD3}"/>
              </a:ext>
            </a:extLst>
          </p:cNvPr>
          <p:cNvSpPr txBox="1"/>
          <p:nvPr/>
        </p:nvSpPr>
        <p:spPr>
          <a:xfrm>
            <a:off x="2332917" y="2646315"/>
            <a:ext cx="1183786" cy="369332"/>
          </a:xfrm>
          <a:prstGeom prst="rect">
            <a:avLst/>
          </a:prstGeom>
          <a:noFill/>
        </p:spPr>
        <p:txBody>
          <a:bodyPr wrap="none" rtlCol="0">
            <a:spAutoFit/>
          </a:bodyPr>
          <a:lstStyle/>
          <a:p>
            <a:pPr algn="r"/>
            <a:r>
              <a:rPr lang="en-US" i="1" dirty="0"/>
              <a:t>Traversals</a:t>
            </a:r>
          </a:p>
        </p:txBody>
      </p:sp>
      <p:sp>
        <p:nvSpPr>
          <p:cNvPr id="10" name="TextBox 9">
            <a:extLst>
              <a:ext uri="{FF2B5EF4-FFF2-40B4-BE49-F238E27FC236}">
                <a16:creationId xmlns:a16="http://schemas.microsoft.com/office/drawing/2014/main" id="{BD8A1E1A-6D5A-56E5-F8EC-DE0EA51B3C0D}"/>
              </a:ext>
            </a:extLst>
          </p:cNvPr>
          <p:cNvSpPr txBox="1"/>
          <p:nvPr/>
        </p:nvSpPr>
        <p:spPr>
          <a:xfrm>
            <a:off x="2177426" y="2890825"/>
            <a:ext cx="1339277" cy="369332"/>
          </a:xfrm>
          <a:prstGeom prst="rect">
            <a:avLst/>
          </a:prstGeom>
          <a:noFill/>
        </p:spPr>
        <p:txBody>
          <a:bodyPr wrap="none" rtlCol="0">
            <a:spAutoFit/>
          </a:bodyPr>
          <a:lstStyle/>
          <a:p>
            <a:pPr algn="r"/>
            <a:r>
              <a:rPr lang="en-US" b="1" dirty="0"/>
              <a:t>Autotuning</a:t>
            </a:r>
          </a:p>
        </p:txBody>
      </p:sp>
      <p:sp>
        <p:nvSpPr>
          <p:cNvPr id="12" name="TextBox 11">
            <a:extLst>
              <a:ext uri="{FF2B5EF4-FFF2-40B4-BE49-F238E27FC236}">
                <a16:creationId xmlns:a16="http://schemas.microsoft.com/office/drawing/2014/main" id="{F9277F25-EB33-FBD0-50C1-C49A0970F767}"/>
              </a:ext>
            </a:extLst>
          </p:cNvPr>
          <p:cNvSpPr txBox="1"/>
          <p:nvPr/>
        </p:nvSpPr>
        <p:spPr>
          <a:xfrm>
            <a:off x="2275080" y="3135335"/>
            <a:ext cx="1299459" cy="369332"/>
          </a:xfrm>
          <a:prstGeom prst="rect">
            <a:avLst/>
          </a:prstGeom>
          <a:noFill/>
        </p:spPr>
        <p:txBody>
          <a:bodyPr wrap="none" rtlCol="0">
            <a:spAutoFit/>
          </a:bodyPr>
          <a:lstStyle/>
          <a:p>
            <a:pPr algn="r"/>
            <a:r>
              <a:rPr lang="en-US" dirty="0"/>
              <a:t>Distributed</a:t>
            </a:r>
          </a:p>
        </p:txBody>
      </p:sp>
      <p:sp>
        <p:nvSpPr>
          <p:cNvPr id="14" name="TextBox 13">
            <a:extLst>
              <a:ext uri="{FF2B5EF4-FFF2-40B4-BE49-F238E27FC236}">
                <a16:creationId xmlns:a16="http://schemas.microsoft.com/office/drawing/2014/main" id="{CE8F7A3C-A424-8253-CB99-0B73DC4FE674}"/>
              </a:ext>
            </a:extLst>
          </p:cNvPr>
          <p:cNvSpPr txBox="1"/>
          <p:nvPr/>
        </p:nvSpPr>
        <p:spPr>
          <a:xfrm>
            <a:off x="1837652" y="3359879"/>
            <a:ext cx="1736887" cy="369332"/>
          </a:xfrm>
          <a:prstGeom prst="rect">
            <a:avLst/>
          </a:prstGeom>
          <a:noFill/>
        </p:spPr>
        <p:txBody>
          <a:bodyPr wrap="none" rtlCol="0">
            <a:spAutoFit/>
          </a:bodyPr>
          <a:lstStyle/>
          <a:p>
            <a:pPr algn="r"/>
            <a:r>
              <a:rPr lang="en-US" b="1" dirty="0"/>
              <a:t>CA abstraction</a:t>
            </a:r>
          </a:p>
        </p:txBody>
      </p:sp>
      <p:sp>
        <p:nvSpPr>
          <p:cNvPr id="16" name="TextBox 15">
            <a:extLst>
              <a:ext uri="{FF2B5EF4-FFF2-40B4-BE49-F238E27FC236}">
                <a16:creationId xmlns:a16="http://schemas.microsoft.com/office/drawing/2014/main" id="{92124A68-C53E-11BD-CAF9-0273F97C47FA}"/>
              </a:ext>
            </a:extLst>
          </p:cNvPr>
          <p:cNvSpPr txBox="1"/>
          <p:nvPr/>
        </p:nvSpPr>
        <p:spPr>
          <a:xfrm>
            <a:off x="1045513" y="3612140"/>
            <a:ext cx="2529026" cy="369332"/>
          </a:xfrm>
          <a:prstGeom prst="rect">
            <a:avLst/>
          </a:prstGeom>
          <a:noFill/>
        </p:spPr>
        <p:txBody>
          <a:bodyPr wrap="none" rtlCol="0">
            <a:spAutoFit/>
          </a:bodyPr>
          <a:lstStyle/>
          <a:p>
            <a:pPr algn="r"/>
            <a:r>
              <a:rPr lang="en-US" dirty="0"/>
              <a:t>Tutoring LLMs for CUDA</a:t>
            </a:r>
          </a:p>
        </p:txBody>
      </p:sp>
      <p:sp>
        <p:nvSpPr>
          <p:cNvPr id="18" name="TextBox 17">
            <a:extLst>
              <a:ext uri="{FF2B5EF4-FFF2-40B4-BE49-F238E27FC236}">
                <a16:creationId xmlns:a16="http://schemas.microsoft.com/office/drawing/2014/main" id="{DD278D3E-9071-30B3-5084-67810955D802}"/>
              </a:ext>
            </a:extLst>
          </p:cNvPr>
          <p:cNvSpPr txBox="1"/>
          <p:nvPr/>
        </p:nvSpPr>
        <p:spPr>
          <a:xfrm>
            <a:off x="1141051" y="3868865"/>
            <a:ext cx="2433488" cy="369332"/>
          </a:xfrm>
          <a:prstGeom prst="rect">
            <a:avLst/>
          </a:prstGeom>
          <a:noFill/>
        </p:spPr>
        <p:txBody>
          <a:bodyPr wrap="none" rtlCol="0">
            <a:spAutoFit/>
          </a:bodyPr>
          <a:lstStyle/>
          <a:p>
            <a:pPr algn="r"/>
            <a:r>
              <a:rPr lang="en-US" dirty="0"/>
              <a:t>LLMs and abstractions</a:t>
            </a:r>
          </a:p>
        </p:txBody>
      </p:sp>
      <p:sp>
        <p:nvSpPr>
          <p:cNvPr id="20" name="TextBox 19">
            <a:extLst>
              <a:ext uri="{FF2B5EF4-FFF2-40B4-BE49-F238E27FC236}">
                <a16:creationId xmlns:a16="http://schemas.microsoft.com/office/drawing/2014/main" id="{2EEB6927-BD1C-C0F1-C38D-1A40C72A2497}"/>
              </a:ext>
            </a:extLst>
          </p:cNvPr>
          <p:cNvSpPr txBox="1"/>
          <p:nvPr/>
        </p:nvSpPr>
        <p:spPr>
          <a:xfrm>
            <a:off x="1647280" y="4603720"/>
            <a:ext cx="1869423" cy="369332"/>
          </a:xfrm>
          <a:prstGeom prst="rect">
            <a:avLst/>
          </a:prstGeom>
          <a:noFill/>
        </p:spPr>
        <p:txBody>
          <a:bodyPr wrap="none" rtlCol="0">
            <a:spAutoFit/>
          </a:bodyPr>
          <a:lstStyle/>
          <a:p>
            <a:pPr algn="r"/>
            <a:r>
              <a:rPr lang="en-US" dirty="0"/>
              <a:t>GPU </a:t>
            </a:r>
            <a:r>
              <a:rPr lang="en-US" dirty="0" err="1"/>
              <a:t>EmbedSOM</a:t>
            </a:r>
            <a:endParaRPr lang="en-US" dirty="0"/>
          </a:p>
        </p:txBody>
      </p:sp>
      <p:sp>
        <p:nvSpPr>
          <p:cNvPr id="22" name="TextBox 21">
            <a:extLst>
              <a:ext uri="{FF2B5EF4-FFF2-40B4-BE49-F238E27FC236}">
                <a16:creationId xmlns:a16="http://schemas.microsoft.com/office/drawing/2014/main" id="{35C78A90-FEC1-2DB8-B891-AC8BDA35A2A4}"/>
              </a:ext>
            </a:extLst>
          </p:cNvPr>
          <p:cNvSpPr txBox="1"/>
          <p:nvPr/>
        </p:nvSpPr>
        <p:spPr>
          <a:xfrm>
            <a:off x="946769" y="4859116"/>
            <a:ext cx="2569934" cy="369332"/>
          </a:xfrm>
          <a:prstGeom prst="rect">
            <a:avLst/>
          </a:prstGeom>
          <a:noFill/>
        </p:spPr>
        <p:txBody>
          <a:bodyPr wrap="none" rtlCol="0">
            <a:spAutoFit/>
          </a:bodyPr>
          <a:lstStyle/>
          <a:p>
            <a:pPr algn="r"/>
            <a:r>
              <a:rPr lang="en-US" dirty="0"/>
              <a:t>Bitwise encoding of </a:t>
            </a:r>
            <a:r>
              <a:rPr lang="en-US" dirty="0" err="1"/>
              <a:t>GoL</a:t>
            </a:r>
            <a:endParaRPr lang="en-US" dirty="0"/>
          </a:p>
        </p:txBody>
      </p:sp>
      <p:sp>
        <p:nvSpPr>
          <p:cNvPr id="24" name="TextBox 23">
            <a:extLst>
              <a:ext uri="{FF2B5EF4-FFF2-40B4-BE49-F238E27FC236}">
                <a16:creationId xmlns:a16="http://schemas.microsoft.com/office/drawing/2014/main" id="{1A9FF1FA-5071-1EAC-9BA2-D4E5B82F1A7A}"/>
              </a:ext>
            </a:extLst>
          </p:cNvPr>
          <p:cNvSpPr txBox="1"/>
          <p:nvPr/>
        </p:nvSpPr>
        <p:spPr>
          <a:xfrm>
            <a:off x="1130665" y="5129974"/>
            <a:ext cx="2386038" cy="369332"/>
          </a:xfrm>
          <a:prstGeom prst="rect">
            <a:avLst/>
          </a:prstGeom>
          <a:noFill/>
        </p:spPr>
        <p:txBody>
          <a:bodyPr wrap="none" rtlCol="0">
            <a:spAutoFit/>
          </a:bodyPr>
          <a:lstStyle/>
          <a:p>
            <a:pPr algn="r"/>
            <a:r>
              <a:rPr lang="en-US" b="1" dirty="0" err="1"/>
              <a:t>kNN</a:t>
            </a:r>
            <a:r>
              <a:rPr lang="en-US" b="1" dirty="0"/>
              <a:t> with </a:t>
            </a:r>
            <a:r>
              <a:rPr lang="en-US" b="1" dirty="0" err="1"/>
              <a:t>bitonic</a:t>
            </a:r>
            <a:r>
              <a:rPr lang="en-US" b="1" dirty="0"/>
              <a:t> sort</a:t>
            </a:r>
          </a:p>
        </p:txBody>
      </p:sp>
      <p:sp>
        <p:nvSpPr>
          <p:cNvPr id="25" name="TextBox 24">
            <a:extLst>
              <a:ext uri="{FF2B5EF4-FFF2-40B4-BE49-F238E27FC236}">
                <a16:creationId xmlns:a16="http://schemas.microsoft.com/office/drawing/2014/main" id="{1814196E-42A9-2357-683E-D9B1852BAD1C}"/>
              </a:ext>
            </a:extLst>
          </p:cNvPr>
          <p:cNvSpPr txBox="1"/>
          <p:nvPr/>
        </p:nvSpPr>
        <p:spPr>
          <a:xfrm>
            <a:off x="313967" y="5379130"/>
            <a:ext cx="3202736" cy="369332"/>
          </a:xfrm>
          <a:prstGeom prst="rect">
            <a:avLst/>
          </a:prstGeom>
          <a:noFill/>
        </p:spPr>
        <p:txBody>
          <a:bodyPr wrap="none" rtlCol="0">
            <a:spAutoFit/>
          </a:bodyPr>
          <a:lstStyle/>
          <a:p>
            <a:pPr algn="r"/>
            <a:r>
              <a:rPr lang="en-US" b="1" dirty="0"/>
              <a:t>Bit-Planes for CA abstraction</a:t>
            </a:r>
          </a:p>
        </p:txBody>
      </p:sp>
      <p:sp>
        <p:nvSpPr>
          <p:cNvPr id="7" name="Left Brace 6">
            <a:extLst>
              <a:ext uri="{FF2B5EF4-FFF2-40B4-BE49-F238E27FC236}">
                <a16:creationId xmlns:a16="http://schemas.microsoft.com/office/drawing/2014/main" id="{70FB1660-D075-7B01-57E6-A7BE0BF087E2}"/>
              </a:ext>
            </a:extLst>
          </p:cNvPr>
          <p:cNvSpPr/>
          <p:nvPr/>
        </p:nvSpPr>
        <p:spPr>
          <a:xfrm>
            <a:off x="2142590" y="2468103"/>
            <a:ext cx="132490" cy="932148"/>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074A760B-F774-39E3-E0AC-9B2DEC8AF4DE}"/>
              </a:ext>
            </a:extLst>
          </p:cNvPr>
          <p:cNvSpPr txBox="1"/>
          <p:nvPr/>
        </p:nvSpPr>
        <p:spPr>
          <a:xfrm>
            <a:off x="1435486" y="2727322"/>
            <a:ext cx="752129" cy="369332"/>
          </a:xfrm>
          <a:prstGeom prst="rect">
            <a:avLst/>
          </a:prstGeom>
          <a:noFill/>
        </p:spPr>
        <p:txBody>
          <a:bodyPr wrap="none" rtlCol="0">
            <a:spAutoFit/>
          </a:bodyPr>
          <a:lstStyle/>
          <a:p>
            <a:r>
              <a:rPr lang="en-US" dirty="0" err="1"/>
              <a:t>Noarr</a:t>
            </a:r>
            <a:endParaRPr lang="en-US" dirty="0"/>
          </a:p>
        </p:txBody>
      </p:sp>
      <p:sp>
        <p:nvSpPr>
          <p:cNvPr id="13" name="Left Brace 12">
            <a:extLst>
              <a:ext uri="{FF2B5EF4-FFF2-40B4-BE49-F238E27FC236}">
                <a16:creationId xmlns:a16="http://schemas.microsoft.com/office/drawing/2014/main" id="{6258EB1D-0B46-9D04-4739-FBEC2EF2265A}"/>
              </a:ext>
            </a:extLst>
          </p:cNvPr>
          <p:cNvSpPr/>
          <p:nvPr/>
        </p:nvSpPr>
        <p:spPr>
          <a:xfrm>
            <a:off x="1745305" y="3400250"/>
            <a:ext cx="132490" cy="266393"/>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FD7B44A4-A32D-E3BD-91BE-CB60C63F0094}"/>
              </a:ext>
            </a:extLst>
          </p:cNvPr>
          <p:cNvSpPr txBox="1"/>
          <p:nvPr/>
        </p:nvSpPr>
        <p:spPr>
          <a:xfrm>
            <a:off x="906837" y="3328773"/>
            <a:ext cx="907621" cy="369332"/>
          </a:xfrm>
          <a:prstGeom prst="rect">
            <a:avLst/>
          </a:prstGeom>
          <a:noFill/>
        </p:spPr>
        <p:txBody>
          <a:bodyPr wrap="none" rtlCol="0">
            <a:spAutoFit/>
          </a:bodyPr>
          <a:lstStyle/>
          <a:p>
            <a:r>
              <a:rPr lang="en-US" dirty="0" err="1"/>
              <a:t>Cellato</a:t>
            </a:r>
            <a:endParaRPr lang="en-US" dirty="0"/>
          </a:p>
        </p:txBody>
      </p:sp>
      <p:cxnSp>
        <p:nvCxnSpPr>
          <p:cNvPr id="21" name="Connector: Curved 20">
            <a:extLst>
              <a:ext uri="{FF2B5EF4-FFF2-40B4-BE49-F238E27FC236}">
                <a16:creationId xmlns:a16="http://schemas.microsoft.com/office/drawing/2014/main" id="{4A6707A3-43D2-9F55-8429-53C2D1C044B8}"/>
              </a:ext>
            </a:extLst>
          </p:cNvPr>
          <p:cNvCxnSpPr>
            <a:stCxn id="25" idx="1"/>
            <a:endCxn id="17" idx="1"/>
          </p:cNvCxnSpPr>
          <p:nvPr/>
        </p:nvCxnSpPr>
        <p:spPr>
          <a:xfrm rot="10800000" flipH="1">
            <a:off x="313967" y="3513440"/>
            <a:ext cx="592870" cy="2050357"/>
          </a:xfrm>
          <a:prstGeom prst="curvedConnector3">
            <a:avLst>
              <a:gd name="adj1" fmla="val -38558"/>
            </a:avLst>
          </a:prstGeom>
          <a:ln w="19050">
            <a:solidFill>
              <a:schemeClr val="tx1"/>
            </a:solidFill>
            <a:prstDash val="sysDot"/>
            <a:headEnd type="none" w="med" len="med"/>
            <a:tailEnd type="arrow"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253718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814D937-1CAE-414B-A7D5-018C68698F98}"/>
              </a:ext>
            </a:extLst>
          </p:cNvPr>
          <p:cNvSpPr>
            <a:spLocks noGrp="1"/>
          </p:cNvSpPr>
          <p:nvPr>
            <p:ph type="title"/>
          </p:nvPr>
        </p:nvSpPr>
        <p:spPr/>
        <p:txBody>
          <a:bodyPr/>
          <a:lstStyle/>
          <a:p>
            <a:r>
              <a:rPr lang="en-US" dirty="0"/>
              <a:t>Review comments and questions</a:t>
            </a:r>
          </a:p>
        </p:txBody>
      </p:sp>
      <p:sp>
        <p:nvSpPr>
          <p:cNvPr id="7" name="Text Placeholder 6">
            <a:extLst>
              <a:ext uri="{FF2B5EF4-FFF2-40B4-BE49-F238E27FC236}">
                <a16:creationId xmlns:a16="http://schemas.microsoft.com/office/drawing/2014/main" id="{5130AF46-445A-EA10-5B0A-764E1CA13B08}"/>
              </a:ext>
            </a:extLst>
          </p:cNvPr>
          <p:cNvSpPr>
            <a:spLocks noGrp="1"/>
          </p:cNvSpPr>
          <p:nvPr>
            <p:ph type="body" idx="1"/>
          </p:nvPr>
        </p:nvSpPr>
        <p:spPr/>
        <p:txBody>
          <a:bodyPr/>
          <a:lstStyle/>
          <a:p>
            <a:endParaRPr lang="en-US"/>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noProof="0" smtClean="0"/>
              <a:t>34</a:t>
            </a:fld>
            <a:endParaRPr lang="en-US" noProof="0" dirty="0"/>
          </a:p>
        </p:txBody>
      </p:sp>
    </p:spTree>
    <p:extLst>
      <p:ext uri="{BB962C8B-B14F-4D97-AF65-F5344CB8AC3E}">
        <p14:creationId xmlns:p14="http://schemas.microsoft.com/office/powerpoint/2010/main" val="259538492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5DEE5-750D-2E34-780B-7B30703452C0}"/>
              </a:ext>
            </a:extLst>
          </p:cNvPr>
          <p:cNvSpPr>
            <a:spLocks noGrp="1"/>
          </p:cNvSpPr>
          <p:nvPr>
            <p:ph type="title"/>
          </p:nvPr>
        </p:nvSpPr>
        <p:spPr/>
        <p:txBody>
          <a:bodyPr/>
          <a:lstStyle/>
          <a:p>
            <a:r>
              <a:rPr lang="en-US" dirty="0"/>
              <a:t>Novelty in layout- and traversal-agnosticism</a:t>
            </a:r>
          </a:p>
        </p:txBody>
      </p:sp>
      <p:sp>
        <p:nvSpPr>
          <p:cNvPr id="3" name="Content Placeholder 2">
            <a:extLst>
              <a:ext uri="{FF2B5EF4-FFF2-40B4-BE49-F238E27FC236}">
                <a16:creationId xmlns:a16="http://schemas.microsoft.com/office/drawing/2014/main" id="{7A4C7CE7-A5CF-9AB9-4808-73A235F6B8CE}"/>
              </a:ext>
            </a:extLst>
          </p:cNvPr>
          <p:cNvSpPr>
            <a:spLocks noGrp="1"/>
          </p:cNvSpPr>
          <p:nvPr>
            <p:ph idx="1"/>
          </p:nvPr>
        </p:nvSpPr>
        <p:spPr/>
        <p:txBody>
          <a:bodyPr/>
          <a:lstStyle/>
          <a:p>
            <a:r>
              <a:rPr lang="en-US" dirty="0"/>
              <a:t>We do not claim to invent these two concepts as new paradigms</a:t>
            </a:r>
          </a:p>
          <a:p>
            <a:pPr lvl="1"/>
            <a:r>
              <a:rPr lang="en-US" dirty="0"/>
              <a:t>The thesis explicitly studies the two concepts</a:t>
            </a:r>
          </a:p>
          <a:p>
            <a:pPr lvl="2"/>
            <a:r>
              <a:rPr lang="en-US" dirty="0"/>
              <a:t>introducing them as two identified underexplored principles</a:t>
            </a:r>
          </a:p>
          <a:p>
            <a:pPr lvl="1"/>
            <a:r>
              <a:rPr lang="en-US" dirty="0"/>
              <a:t>Not targeted by prior research or design in HPC algorithms</a:t>
            </a:r>
          </a:p>
          <a:p>
            <a:r>
              <a:rPr lang="en-US" dirty="0"/>
              <a:t>Main novelty</a:t>
            </a:r>
          </a:p>
          <a:p>
            <a:pPr lvl="1"/>
            <a:r>
              <a:rPr lang="en-US" dirty="0"/>
              <a:t>Unified approach for layout &amp; traversal-agnostic algorithm design</a:t>
            </a:r>
          </a:p>
          <a:p>
            <a:pPr lvl="1"/>
            <a:r>
              <a:rPr lang="en-US" dirty="0"/>
              <a:t>Named dimensions and compositional approach</a:t>
            </a:r>
          </a:p>
          <a:p>
            <a:pPr lvl="1"/>
            <a:r>
              <a:rPr lang="en-US" dirty="0"/>
              <a:t>Support for heterogeneous layouts</a:t>
            </a:r>
          </a:p>
          <a:p>
            <a:pPr lvl="1"/>
            <a:r>
              <a:rPr lang="en-US" dirty="0"/>
              <a:t>Abstracting evaluation strategy and encoding for Cellular Automata</a:t>
            </a:r>
          </a:p>
          <a:p>
            <a:endParaRPr lang="en-US" dirty="0"/>
          </a:p>
        </p:txBody>
      </p:sp>
      <p:sp>
        <p:nvSpPr>
          <p:cNvPr id="4" name="Date Placeholder 3">
            <a:extLst>
              <a:ext uri="{FF2B5EF4-FFF2-40B4-BE49-F238E27FC236}">
                <a16:creationId xmlns:a16="http://schemas.microsoft.com/office/drawing/2014/main" id="{948C54E1-6E6D-2E32-65E2-74ED092C4452}"/>
              </a:ext>
            </a:extLst>
          </p:cNvPr>
          <p:cNvSpPr>
            <a:spLocks noGrp="1"/>
          </p:cNvSpPr>
          <p:nvPr>
            <p:ph type="dt" sz="half" idx="10"/>
          </p:nvPr>
        </p:nvSpPr>
        <p:spPr/>
        <p:txBody>
          <a:bodyPr/>
          <a:lstStyle/>
          <a:p>
            <a:fld id="{358C28A6-2969-482E-9A3B-5E13FCD8DD03}" type="datetime1">
              <a:rPr lang="en-US" smtClean="0"/>
              <a:t>9/2/2026</a:t>
            </a:fld>
            <a:endParaRPr lang="en-US"/>
          </a:p>
        </p:txBody>
      </p:sp>
      <p:sp>
        <p:nvSpPr>
          <p:cNvPr id="5" name="Slide Number Placeholder 4">
            <a:extLst>
              <a:ext uri="{FF2B5EF4-FFF2-40B4-BE49-F238E27FC236}">
                <a16:creationId xmlns:a16="http://schemas.microsoft.com/office/drawing/2014/main" id="{4F0AAC9A-8584-05EF-C97F-9A8A4DE36F9D}"/>
              </a:ext>
            </a:extLst>
          </p:cNvPr>
          <p:cNvSpPr>
            <a:spLocks noGrp="1"/>
          </p:cNvSpPr>
          <p:nvPr>
            <p:ph type="sldNum" sz="quarter" idx="12"/>
          </p:nvPr>
        </p:nvSpPr>
        <p:spPr/>
        <p:txBody>
          <a:bodyPr/>
          <a:lstStyle/>
          <a:p>
            <a:fld id="{DA0BB241-1B5F-4309-9407-9EEA04D9598D}" type="slidenum">
              <a:rPr lang="en-US" smtClean="0"/>
              <a:t>35</a:t>
            </a:fld>
            <a:endParaRPr lang="en-US"/>
          </a:p>
        </p:txBody>
      </p:sp>
    </p:spTree>
    <p:extLst>
      <p:ext uri="{BB962C8B-B14F-4D97-AF65-F5344CB8AC3E}">
        <p14:creationId xmlns:p14="http://schemas.microsoft.com/office/powerpoint/2010/main" val="175657136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B94CF-19F9-112D-5812-9019906C4F6E}"/>
              </a:ext>
            </a:extLst>
          </p:cNvPr>
          <p:cNvSpPr>
            <a:spLocks noGrp="1"/>
          </p:cNvSpPr>
          <p:nvPr>
            <p:ph type="title"/>
          </p:nvPr>
        </p:nvSpPr>
        <p:spPr/>
        <p:txBody>
          <a:bodyPr>
            <a:normAutofit/>
          </a:bodyPr>
          <a:lstStyle/>
          <a:p>
            <a:r>
              <a:rPr lang="en-US" dirty="0"/>
              <a:t>Which of these ideas can be found in software like Kokkos or OpenMP's loop transformations?</a:t>
            </a:r>
          </a:p>
        </p:txBody>
      </p:sp>
      <p:sp>
        <p:nvSpPr>
          <p:cNvPr id="3" name="Content Placeholder 2">
            <a:extLst>
              <a:ext uri="{FF2B5EF4-FFF2-40B4-BE49-F238E27FC236}">
                <a16:creationId xmlns:a16="http://schemas.microsoft.com/office/drawing/2014/main" id="{5E30BABB-A5A5-A95D-8DB1-6B93F86A91B6}"/>
              </a:ext>
            </a:extLst>
          </p:cNvPr>
          <p:cNvSpPr>
            <a:spLocks noGrp="1"/>
          </p:cNvSpPr>
          <p:nvPr>
            <p:ph idx="1"/>
          </p:nvPr>
        </p:nvSpPr>
        <p:spPr/>
        <p:txBody>
          <a:bodyPr>
            <a:noAutofit/>
          </a:bodyPr>
          <a:lstStyle/>
          <a:p>
            <a:pPr marL="0" indent="0">
              <a:buNone/>
            </a:pPr>
            <a:r>
              <a:rPr lang="en-US" dirty="0"/>
              <a:t>(reaction to layout- and traversal-agnostic design)</a:t>
            </a:r>
          </a:p>
          <a:p>
            <a:endParaRPr lang="en-US" dirty="0"/>
          </a:p>
          <a:p>
            <a:r>
              <a:rPr lang="en-US" dirty="0"/>
              <a:t>Kokkos Views (and </a:t>
            </a:r>
            <a:r>
              <a:rPr lang="en-US" dirty="0" err="1"/>
              <a:t>mdspans</a:t>
            </a:r>
            <a:r>
              <a:rPr lang="en-US" dirty="0"/>
              <a:t>) abstract physical memory layout</a:t>
            </a:r>
          </a:p>
          <a:p>
            <a:pPr lvl="1"/>
            <a:r>
              <a:rPr lang="en-US" dirty="0"/>
              <a:t>Limited to multidimensional arrays</a:t>
            </a:r>
          </a:p>
          <a:p>
            <a:pPr lvl="1"/>
            <a:r>
              <a:rPr lang="en-US" dirty="0"/>
              <a:t>Mostly focus row-major vs column-major (and custom strides)</a:t>
            </a:r>
          </a:p>
          <a:p>
            <a:pPr lvl="1"/>
            <a:r>
              <a:rPr lang="en-US" dirty="0" err="1"/>
              <a:t>Subview</a:t>
            </a:r>
            <a:r>
              <a:rPr lang="en-US" dirty="0"/>
              <a:t> </a:t>
            </a:r>
            <a:r>
              <a:rPr lang="en-US" dirty="0">
                <a:sym typeface="Wingdings" panose="05000000000000000000" pitchFamily="2" charset="2"/>
              </a:rPr>
              <a:t> the only supported transformation</a:t>
            </a:r>
          </a:p>
          <a:p>
            <a:pPr lvl="1"/>
            <a:r>
              <a:rPr lang="en-US" dirty="0" err="1">
                <a:sym typeface="Wingdings" panose="05000000000000000000" pitchFamily="2" charset="2"/>
              </a:rPr>
              <a:t>CUTe</a:t>
            </a:r>
            <a:r>
              <a:rPr lang="en-US" dirty="0">
                <a:sym typeface="Wingdings" panose="05000000000000000000" pitchFamily="2" charset="2"/>
              </a:rPr>
              <a:t> supports more general layout algebra</a:t>
            </a:r>
          </a:p>
          <a:p>
            <a:r>
              <a:rPr lang="en-US" dirty="0">
                <a:sym typeface="Wingdings" panose="05000000000000000000" pitchFamily="2" charset="2"/>
              </a:rPr>
              <a:t>OpenMP (6.0)  some powerful loop transformation directives</a:t>
            </a:r>
          </a:p>
          <a:p>
            <a:pPr lvl="1"/>
            <a:r>
              <a:rPr lang="en-US" dirty="0"/>
              <a:t>Not exactly traversal-agnostic design; good alternative in many use cases</a:t>
            </a:r>
          </a:p>
          <a:p>
            <a:r>
              <a:rPr lang="en-US" dirty="0"/>
              <a:t>Some traversal-agnostic capabilities in </a:t>
            </a:r>
            <a:r>
              <a:rPr lang="en-US" dirty="0" err="1"/>
              <a:t>GridTools</a:t>
            </a:r>
            <a:r>
              <a:rPr lang="en-US" dirty="0"/>
              <a:t> and RAJA</a:t>
            </a:r>
          </a:p>
        </p:txBody>
      </p:sp>
      <p:sp>
        <p:nvSpPr>
          <p:cNvPr id="4" name="Date Placeholder 3">
            <a:extLst>
              <a:ext uri="{FF2B5EF4-FFF2-40B4-BE49-F238E27FC236}">
                <a16:creationId xmlns:a16="http://schemas.microsoft.com/office/drawing/2014/main" id="{1D30CB14-538F-D9BD-31BC-4BF79D148A24}"/>
              </a:ext>
            </a:extLst>
          </p:cNvPr>
          <p:cNvSpPr>
            <a:spLocks noGrp="1"/>
          </p:cNvSpPr>
          <p:nvPr>
            <p:ph type="dt" sz="half" idx="10"/>
          </p:nvPr>
        </p:nvSpPr>
        <p:spPr/>
        <p:txBody>
          <a:bodyPr/>
          <a:lstStyle/>
          <a:p>
            <a:fld id="{358C28A6-2969-482E-9A3B-5E13FCD8DD03}" type="datetime1">
              <a:rPr lang="en-US" smtClean="0"/>
              <a:t>9/2/2026</a:t>
            </a:fld>
            <a:endParaRPr lang="en-US"/>
          </a:p>
        </p:txBody>
      </p:sp>
      <p:sp>
        <p:nvSpPr>
          <p:cNvPr id="5" name="Slide Number Placeholder 4">
            <a:extLst>
              <a:ext uri="{FF2B5EF4-FFF2-40B4-BE49-F238E27FC236}">
                <a16:creationId xmlns:a16="http://schemas.microsoft.com/office/drawing/2014/main" id="{6CB55591-70A5-4366-E73A-F1A5B371B2E3}"/>
              </a:ext>
            </a:extLst>
          </p:cNvPr>
          <p:cNvSpPr>
            <a:spLocks noGrp="1"/>
          </p:cNvSpPr>
          <p:nvPr>
            <p:ph type="sldNum" sz="quarter" idx="12"/>
          </p:nvPr>
        </p:nvSpPr>
        <p:spPr/>
        <p:txBody>
          <a:bodyPr/>
          <a:lstStyle/>
          <a:p>
            <a:fld id="{DA0BB241-1B5F-4309-9407-9EEA04D9598D}" type="slidenum">
              <a:rPr lang="en-US" smtClean="0"/>
              <a:t>36</a:t>
            </a:fld>
            <a:endParaRPr lang="en-US"/>
          </a:p>
        </p:txBody>
      </p:sp>
    </p:spTree>
    <p:extLst>
      <p:ext uri="{BB962C8B-B14F-4D97-AF65-F5344CB8AC3E}">
        <p14:creationId xmlns:p14="http://schemas.microsoft.com/office/powerpoint/2010/main" val="3901880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C5C75-72D4-F8D1-AAB2-87E7B5F2197D}"/>
              </a:ext>
            </a:extLst>
          </p:cNvPr>
          <p:cNvSpPr>
            <a:spLocks noGrp="1"/>
          </p:cNvSpPr>
          <p:nvPr>
            <p:ph type="title"/>
          </p:nvPr>
        </p:nvSpPr>
        <p:spPr/>
        <p:txBody>
          <a:bodyPr/>
          <a:lstStyle/>
          <a:p>
            <a:r>
              <a:rPr lang="en-US" dirty="0"/>
              <a:t>Comparison table?</a:t>
            </a:r>
          </a:p>
        </p:txBody>
      </p:sp>
      <p:sp>
        <p:nvSpPr>
          <p:cNvPr id="3" name="Content Placeholder 2">
            <a:extLst>
              <a:ext uri="{FF2B5EF4-FFF2-40B4-BE49-F238E27FC236}">
                <a16:creationId xmlns:a16="http://schemas.microsoft.com/office/drawing/2014/main" id="{EFD4FC06-723D-4133-C57B-96E03F8E703F}"/>
              </a:ext>
            </a:extLst>
          </p:cNvPr>
          <p:cNvSpPr>
            <a:spLocks noGrp="1"/>
          </p:cNvSpPr>
          <p:nvPr>
            <p:ph idx="1"/>
          </p:nvPr>
        </p:nvSpPr>
        <p:spPr/>
        <p:txBody>
          <a:bodyPr/>
          <a:lstStyle/>
          <a:p>
            <a:r>
              <a:rPr lang="en-US" dirty="0"/>
              <a:t>Mdspan, Kokkos, Raja, CuTe, </a:t>
            </a:r>
            <a:r>
              <a:rPr lang="en-US" dirty="0" err="1"/>
              <a:t>GridTools</a:t>
            </a:r>
            <a:r>
              <a:rPr lang="en-US" dirty="0"/>
              <a:t>, OpenMP loops, Noarr </a:t>
            </a:r>
            <a:r>
              <a:rPr lang="en-US" dirty="0" err="1"/>
              <a:t>Cellato</a:t>
            </a:r>
            <a:endParaRPr lang="en-US" dirty="0"/>
          </a:p>
        </p:txBody>
      </p:sp>
      <p:sp>
        <p:nvSpPr>
          <p:cNvPr id="4" name="Date Placeholder 3">
            <a:extLst>
              <a:ext uri="{FF2B5EF4-FFF2-40B4-BE49-F238E27FC236}">
                <a16:creationId xmlns:a16="http://schemas.microsoft.com/office/drawing/2014/main" id="{AC63D3EB-3E46-0420-084C-0ABC25889B18}"/>
              </a:ext>
            </a:extLst>
          </p:cNvPr>
          <p:cNvSpPr>
            <a:spLocks noGrp="1"/>
          </p:cNvSpPr>
          <p:nvPr>
            <p:ph type="dt" sz="half" idx="10"/>
          </p:nvPr>
        </p:nvSpPr>
        <p:spPr/>
        <p:txBody>
          <a:bodyPr/>
          <a:lstStyle/>
          <a:p>
            <a:fld id="{358C28A6-2969-482E-9A3B-5E13FCD8DD03}" type="datetime1">
              <a:rPr lang="en-US" smtClean="0"/>
              <a:t>9/2/2026</a:t>
            </a:fld>
            <a:endParaRPr lang="en-US"/>
          </a:p>
        </p:txBody>
      </p:sp>
      <p:sp>
        <p:nvSpPr>
          <p:cNvPr id="5" name="Slide Number Placeholder 4">
            <a:extLst>
              <a:ext uri="{FF2B5EF4-FFF2-40B4-BE49-F238E27FC236}">
                <a16:creationId xmlns:a16="http://schemas.microsoft.com/office/drawing/2014/main" id="{69B0E3B4-2FE9-EF9E-DBB8-AFE3DD090B8B}"/>
              </a:ext>
            </a:extLst>
          </p:cNvPr>
          <p:cNvSpPr>
            <a:spLocks noGrp="1"/>
          </p:cNvSpPr>
          <p:nvPr>
            <p:ph type="sldNum" sz="quarter" idx="12"/>
          </p:nvPr>
        </p:nvSpPr>
        <p:spPr/>
        <p:txBody>
          <a:bodyPr/>
          <a:lstStyle/>
          <a:p>
            <a:fld id="{DA0BB241-1B5F-4309-9407-9EEA04D9598D}" type="slidenum">
              <a:rPr lang="en-US" smtClean="0"/>
              <a:t>37</a:t>
            </a:fld>
            <a:endParaRPr lang="en-US"/>
          </a:p>
        </p:txBody>
      </p:sp>
    </p:spTree>
    <p:extLst>
      <p:ext uri="{BB962C8B-B14F-4D97-AF65-F5344CB8AC3E}">
        <p14:creationId xmlns:p14="http://schemas.microsoft.com/office/powerpoint/2010/main" val="141375254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A9270497-CBB6-D2E1-4D1A-ED2AA0BB7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4ECE5F-2C1C-357D-AE8A-7FA4DA556E91}"/>
              </a:ext>
            </a:extLst>
          </p:cNvPr>
          <p:cNvSpPr>
            <a:spLocks noGrp="1"/>
          </p:cNvSpPr>
          <p:nvPr>
            <p:ph type="title"/>
          </p:nvPr>
        </p:nvSpPr>
        <p:spPr/>
        <p:txBody>
          <a:bodyPr/>
          <a:lstStyle/>
          <a:p>
            <a:r>
              <a:rPr lang="en-US" noProof="0" dirty="0"/>
              <a:t>Template-exclusive statements</a:t>
            </a:r>
          </a:p>
        </p:txBody>
      </p:sp>
      <p:sp>
        <p:nvSpPr>
          <p:cNvPr id="3" name="Content Placeholder 2">
            <a:extLst>
              <a:ext uri="{FF2B5EF4-FFF2-40B4-BE49-F238E27FC236}">
                <a16:creationId xmlns:a16="http://schemas.microsoft.com/office/drawing/2014/main" id="{8FF9516C-E8E3-08CD-1240-AB67A5640919}"/>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201D6062-9A3A-0AD5-574A-E26659D7FBAC}"/>
              </a:ext>
            </a:extLst>
          </p:cNvPr>
          <p:cNvSpPr>
            <a:spLocks noGrp="1"/>
          </p:cNvSpPr>
          <p:nvPr>
            <p:ph type="dt" sz="half" idx="10"/>
          </p:nvPr>
        </p:nvSpPr>
        <p:spPr/>
        <p:txBody>
          <a:bodyPr/>
          <a:lstStyle/>
          <a:p>
            <a:fld id="{0601A530-81CA-410E-A053-EF7BD11F8EF0}"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86B73E9E-8DA4-6D98-F073-7AF2BF2083AC}"/>
              </a:ext>
            </a:extLst>
          </p:cNvPr>
          <p:cNvSpPr>
            <a:spLocks noGrp="1"/>
          </p:cNvSpPr>
          <p:nvPr>
            <p:ph type="sldNum" sz="quarter" idx="12"/>
          </p:nvPr>
        </p:nvSpPr>
        <p:spPr/>
        <p:txBody>
          <a:bodyPr/>
          <a:lstStyle/>
          <a:p>
            <a:fld id="{DA0BB241-1B5F-4309-9407-9EEA04D9598D}" type="slidenum">
              <a:rPr lang="en-US" noProof="0" smtClean="0"/>
              <a:t>38</a:t>
            </a:fld>
            <a:endParaRPr lang="en-US" noProof="0" dirty="0"/>
          </a:p>
        </p:txBody>
      </p:sp>
    </p:spTree>
    <p:extLst>
      <p:ext uri="{BB962C8B-B14F-4D97-AF65-F5344CB8AC3E}">
        <p14:creationId xmlns:p14="http://schemas.microsoft.com/office/powerpoint/2010/main" val="34445210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6181A-2F41-81F5-2007-5244DC687F1D}"/>
              </a:ext>
            </a:extLst>
          </p:cNvPr>
          <p:cNvSpPr>
            <a:spLocks noGrp="1"/>
          </p:cNvSpPr>
          <p:nvPr>
            <p:ph type="title"/>
          </p:nvPr>
        </p:nvSpPr>
        <p:spPr/>
        <p:txBody>
          <a:bodyPr/>
          <a:lstStyle/>
          <a:p>
            <a:r>
              <a:rPr lang="en-US" dirty="0"/>
              <a:t>Why did the abstractions hinder the LLM</a:t>
            </a:r>
          </a:p>
        </p:txBody>
      </p:sp>
      <p:sp>
        <p:nvSpPr>
          <p:cNvPr id="3" name="Content Placeholder 2">
            <a:extLst>
              <a:ext uri="{FF2B5EF4-FFF2-40B4-BE49-F238E27FC236}">
                <a16:creationId xmlns:a16="http://schemas.microsoft.com/office/drawing/2014/main" id="{BFE9388A-2481-EE41-E355-566C2612FC2B}"/>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38A398BB-7A0C-F187-3DAA-0CA6E59EF3D1}"/>
              </a:ext>
            </a:extLst>
          </p:cNvPr>
          <p:cNvSpPr>
            <a:spLocks noGrp="1"/>
          </p:cNvSpPr>
          <p:nvPr>
            <p:ph type="dt" sz="half" idx="10"/>
          </p:nvPr>
        </p:nvSpPr>
        <p:spPr/>
        <p:txBody>
          <a:bodyPr/>
          <a:lstStyle/>
          <a:p>
            <a:fld id="{358C28A6-2969-482E-9A3B-5E13FCD8DD03}" type="datetime1">
              <a:rPr lang="en-US" smtClean="0"/>
              <a:t>9/2/2026</a:t>
            </a:fld>
            <a:endParaRPr lang="en-US"/>
          </a:p>
        </p:txBody>
      </p:sp>
      <p:sp>
        <p:nvSpPr>
          <p:cNvPr id="5" name="Slide Number Placeholder 4">
            <a:extLst>
              <a:ext uri="{FF2B5EF4-FFF2-40B4-BE49-F238E27FC236}">
                <a16:creationId xmlns:a16="http://schemas.microsoft.com/office/drawing/2014/main" id="{A236833A-9918-E7AE-C3D5-650A1C45B68A}"/>
              </a:ext>
            </a:extLst>
          </p:cNvPr>
          <p:cNvSpPr>
            <a:spLocks noGrp="1"/>
          </p:cNvSpPr>
          <p:nvPr>
            <p:ph type="sldNum" sz="quarter" idx="12"/>
          </p:nvPr>
        </p:nvSpPr>
        <p:spPr/>
        <p:txBody>
          <a:bodyPr/>
          <a:lstStyle/>
          <a:p>
            <a:fld id="{DA0BB241-1B5F-4309-9407-9EEA04D9598D}" type="slidenum">
              <a:rPr lang="en-US" smtClean="0"/>
              <a:t>39</a:t>
            </a:fld>
            <a:endParaRPr lang="en-US"/>
          </a:p>
        </p:txBody>
      </p:sp>
    </p:spTree>
    <p:extLst>
      <p:ext uri="{BB962C8B-B14F-4D97-AF65-F5344CB8AC3E}">
        <p14:creationId xmlns:p14="http://schemas.microsoft.com/office/powerpoint/2010/main" val="411395911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17.8|14.2|11.3|16.8|21.6|13"/>
</p:tagLst>
</file>

<file path=ppt/tags/tag2.xml><?xml version="1.0" encoding="utf-8"?>
<p:tagLst xmlns:a="http://schemas.openxmlformats.org/drawingml/2006/main" xmlns:r="http://schemas.openxmlformats.org/officeDocument/2006/relationships" xmlns:p="http://schemas.openxmlformats.org/presentationml/2006/main">
  <p:tag name="TIMING" val="|4"/>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6028</TotalTime>
  <Words>6307</Words>
  <Application>Microsoft Office PowerPoint</Application>
  <PresentationFormat>Widescreen</PresentationFormat>
  <Paragraphs>828</Paragraphs>
  <Slides>39</Slides>
  <Notes>35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39</vt:i4>
      </vt:variant>
    </vt:vector>
  </HeadingPairs>
  <TitlesOfParts>
    <vt:vector size="46" baseType="lpstr">
      <vt:lpstr>Aptos</vt:lpstr>
      <vt:lpstr>Aptos Display</vt:lpstr>
      <vt:lpstr>Arial</vt:lpstr>
      <vt:lpstr>Cambria Math</vt:lpstr>
      <vt:lpstr>Fira Code</vt:lpstr>
      <vt:lpstr>Wingdings</vt:lpstr>
      <vt:lpstr>Office Theme</vt:lpstr>
      <vt:lpstr>Optimizing Memory Layouts and Traversal Orders in HPC</vt:lpstr>
      <vt:lpstr>Motivation</vt:lpstr>
      <vt:lpstr>Illustrative example: matrix initialization</vt:lpstr>
      <vt:lpstr>Layout-agnostic design</vt:lpstr>
      <vt:lpstr>Layout abstractions</vt:lpstr>
      <vt:lpstr>Traversal abstractions</vt:lpstr>
      <vt:lpstr>Structures with different index spaces</vt:lpstr>
      <vt:lpstr>Traversal transformations</vt:lpstr>
      <vt:lpstr>Traversal parallelization</vt:lpstr>
      <vt:lpstr>Autotuning</vt:lpstr>
      <vt:lpstr>Autotuning</vt:lpstr>
      <vt:lpstr>Results</vt:lpstr>
      <vt:lpstr>Results</vt:lpstr>
      <vt:lpstr>Results</vt:lpstr>
      <vt:lpstr>Distributed initialization</vt:lpstr>
      <vt:lpstr>Automatic transformation in communication</vt:lpstr>
      <vt:lpstr>Results</vt:lpstr>
      <vt:lpstr>Results</vt:lpstr>
      <vt:lpstr>Stencil computation abstractions</vt:lpstr>
      <vt:lpstr>Cellular automata abstraction</vt:lpstr>
      <vt:lpstr>PowerPoint Presentation</vt:lpstr>
      <vt:lpstr>Results (follow-up work)</vt:lpstr>
      <vt:lpstr>Abstractions summary</vt:lpstr>
      <vt:lpstr>Tutoring LLMs for CUDA</vt:lpstr>
      <vt:lpstr>Tutoring LLMs for CUDA OpenAI o3-mini</vt:lpstr>
      <vt:lpstr>Tutoring LLMs for CUDA – submission OpenAI o3-mini</vt:lpstr>
      <vt:lpstr>Tutoring LLMs for CUDA – at conference OpenAI GPT-5</vt:lpstr>
      <vt:lpstr>LLMs and abstractions</vt:lpstr>
      <vt:lpstr>LLMs and abstractions</vt:lpstr>
      <vt:lpstr>PowerPoint Presentation</vt:lpstr>
      <vt:lpstr>LLM-guided optimization summary</vt:lpstr>
      <vt:lpstr>Contribution map</vt:lpstr>
      <vt:lpstr>Summary</vt:lpstr>
      <vt:lpstr>Review comments and questions</vt:lpstr>
      <vt:lpstr>Novelty in layout- and traversal-agnosticism</vt:lpstr>
      <vt:lpstr>Which of these ideas can be found in software like Kokkos or OpenMP's loop transformations?</vt:lpstr>
      <vt:lpstr>Comparison table?</vt:lpstr>
      <vt:lpstr>Template-exclusive statements</vt:lpstr>
      <vt:lpstr>Why did the abstractions hinder the LLM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429</cp:revision>
  <dcterms:created xsi:type="dcterms:W3CDTF">2026-08-08T18:10:38Z</dcterms:created>
  <dcterms:modified xsi:type="dcterms:W3CDTF">2026-09-02T18:09:10Z</dcterms:modified>
</cp:coreProperties>
</file>