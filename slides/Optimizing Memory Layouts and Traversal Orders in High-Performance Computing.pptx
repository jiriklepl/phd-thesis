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256" r:id="rId2"/>
    <p:sldId id="293" r:id="rId3"/>
    <p:sldId id="277" r:id="rId4"/>
    <p:sldId id="296" r:id="rId5"/>
    <p:sldId id="297" r:id="rId6"/>
    <p:sldId id="283" r:id="rId7"/>
    <p:sldId id="314" r:id="rId8"/>
    <p:sldId id="284" r:id="rId9"/>
    <p:sldId id="285" r:id="rId10"/>
    <p:sldId id="278" r:id="rId11"/>
    <p:sldId id="300" r:id="rId12"/>
    <p:sldId id="286" r:id="rId13"/>
    <p:sldId id="290" r:id="rId14"/>
    <p:sldId id="279" r:id="rId15"/>
    <p:sldId id="287" r:id="rId16"/>
    <p:sldId id="302" r:id="rId17"/>
    <p:sldId id="280" r:id="rId18"/>
    <p:sldId id="310" r:id="rId19"/>
    <p:sldId id="295" r:id="rId20"/>
    <p:sldId id="288" r:id="rId21"/>
    <p:sldId id="305" r:id="rId22"/>
    <p:sldId id="291" r:id="rId23"/>
    <p:sldId id="306" r:id="rId24"/>
    <p:sldId id="307" r:id="rId25"/>
    <p:sldId id="308" r:id="rId26"/>
    <p:sldId id="309" r:id="rId27"/>
    <p:sldId id="311" r:id="rId28"/>
    <p:sldId id="266" r:id="rId29"/>
    <p:sldId id="312" r:id="rId30"/>
    <p:sldId id="262"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293"/>
            <p14:sldId id="277"/>
          </p14:sldIdLst>
        </p14:section>
        <p14:section name="algorithms" id="{7894E90A-E282-4867-82A4-369CDB973E4E}">
          <p14:sldIdLst>
            <p14:sldId id="296"/>
            <p14:sldId id="297"/>
            <p14:sldId id="283"/>
            <p14:sldId id="314"/>
            <p14:sldId id="284"/>
            <p14:sldId id="285"/>
            <p14:sldId id="278"/>
            <p14:sldId id="300"/>
            <p14:sldId id="286"/>
            <p14:sldId id="290"/>
            <p14:sldId id="279"/>
            <p14:sldId id="287"/>
            <p14:sldId id="302"/>
            <p14:sldId id="280"/>
            <p14:sldId id="310"/>
          </p14:sldIdLst>
        </p14:section>
        <p14:section name="llms" id="{2FE3CF17-CBFB-48E9-A3BF-DD99B7D2F01E}">
          <p14:sldIdLst>
            <p14:sldId id="295"/>
            <p14:sldId id="288"/>
            <p14:sldId id="305"/>
            <p14:sldId id="291"/>
            <p14:sldId id="306"/>
            <p14:sldId id="307"/>
            <p14:sldId id="308"/>
            <p14:sldId id="309"/>
            <p14:sldId id="311"/>
          </p14:sldIdLst>
        </p14:section>
        <p14:section name="summary" id="{D3BAAF83-51D3-4EFD-B7CC-7BA6DAC4A838}">
          <p14:sldIdLst>
            <p14:sldId id="266"/>
            <p14:sldId id="312"/>
          </p14:sldIdLst>
        </p14:section>
        <p14:section name="Reviewers' comments" id="{40190F67-0659-405D-810E-4AC194B72FA5}">
          <p14:sldIdLst>
            <p14:sldId id="262"/>
          </p14:sldIdLst>
        </p14:section>
        <p14:section name="supplementary" id="{5D95F6E9-DF15-476C-BE69-BBEF48AA8B8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ABEED"/>
    <a:srgbClr val="0F9ED5"/>
    <a:srgbClr val="79BEED"/>
    <a:srgbClr val="8DC3EB"/>
    <a:srgbClr val="7BBEED"/>
    <a:srgbClr val="7BBFED"/>
    <a:srgbClr val="8CC3EB"/>
    <a:srgbClr val="9673A6"/>
    <a:srgbClr val="E1D5E7"/>
    <a:srgbClr val="82B3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showOutlineIcons="0">
    <p:restoredLeft sz="34582" autoAdjust="0"/>
    <p:restoredTop sz="86425" autoAdjust="0"/>
  </p:normalViewPr>
  <p:slideViewPr>
    <p:cSldViewPr snapToGrid="0">
      <p:cViewPr varScale="1">
        <p:scale>
          <a:sx n="137" d="100"/>
          <a:sy n="137" d="100"/>
        </p:scale>
        <p:origin x="888" y="12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8/29/2026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very boring, completely off-topic and uninformative start)</a:t>
            </a:r>
            <a:br>
              <a:rPr lang="en-US" dirty="0"/>
            </a:br>
            <a:br>
              <a:rPr lang="en-US" dirty="0"/>
            </a:br>
            <a:r>
              <a:rPr lang="en-US" dirty="0"/>
              <a:t>Our research is in the area of High-Performance Computing (HPC), focusing on exploring and implementing methods for easier and faster development of efficient scientific algorithms.</a:t>
            </a:r>
          </a:p>
          <a:p>
            <a:endParaRPr lang="en-US" dirty="0"/>
          </a:p>
          <a:p>
            <a:r>
              <a:rPr lang="en-US" dirty="0"/>
              <a:t>These algorithms often contain multidimensional structures and computation in regular loops</a:t>
            </a:r>
          </a:p>
          <a:p>
            <a:endParaRPr lang="en-US" dirty="0"/>
          </a:p>
          <a:p>
            <a:r>
              <a:rPr lang="en-US" dirty="0"/>
              <a:t>One of the core problems when optimizing such algorithms for a particular computing system is that their complexity increases with every specific design decision made.</a:t>
            </a:r>
          </a:p>
          <a:p>
            <a:r>
              <a:rPr lang="en-US" dirty="0"/>
              <a:t>These design decisions range from choosing specific algorithm to smaller decisions such as how data structures such as matrices are stored in memory or in what order a computation is performed.</a:t>
            </a:r>
          </a:p>
          <a:p>
            <a:pPr marL="0" indent="0">
              <a:buFontTx/>
              <a:buNone/>
            </a:pPr>
            <a:endParaRPr lang="en-US" dirty="0"/>
          </a:p>
          <a:p>
            <a:pPr marL="0" indent="0">
              <a:buFontTx/>
              <a:buNone/>
            </a:pPr>
            <a:r>
              <a:rPr lang="en-US" dirty="0"/>
              <a:t>It is important to choose the right *memory layout* to achieve the best possible performance (due to various hardware-specific effects such as caching or performance of memory operations); but the right choice is usually not obvious, and it often differs between different hardware architectures.</a:t>
            </a:r>
          </a:p>
          <a:p>
            <a:pPr marL="0" indent="0">
              <a:buFontTx/>
              <a:buNone/>
            </a:pPr>
            <a:endParaRPr lang="en-US" dirty="0"/>
          </a:p>
          <a:p>
            <a:pPr marL="0" indent="0">
              <a:buFontTx/>
              <a:buNone/>
            </a:pPr>
            <a:r>
              <a:rPr lang="en-US" dirty="0"/>
              <a:t>Furthermore, if these choices are hard-coded in the algorithm, the algorithm becomes unreadable and more difficult to port to other hardware.</a:t>
            </a:r>
          </a:p>
        </p:txBody>
      </p:sp>
      <p:sp>
        <p:nvSpPr>
          <p:cNvPr id="4" name="Slide Number Placeholder 3"/>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37235867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let’s look at a simple example of initializing a single matrix elements to values that might depend on their indices.</a:t>
            </a:r>
          </a:p>
          <a:p>
            <a:endParaRPr lang="en-US" dirty="0"/>
          </a:p>
          <a:p>
            <a:r>
              <a:rPr lang="en-US" dirty="0"/>
              <a:t>For a typical *m-by-n matrix*, this is commonly expressed as an assignment nested in a two-dimensional loop nest; in this particular example, the indices are iteratively generated for the elements row by row.</a:t>
            </a:r>
          </a:p>
          <a:p>
            <a:br>
              <a:rPr lang="en-US" dirty="0"/>
            </a:br>
            <a:r>
              <a:rPr lang="en-US" dirty="0"/>
              <a:t>(? cool animation)</a:t>
            </a:r>
            <a:br>
              <a:rPr lang="en-US" dirty="0"/>
            </a:br>
            <a:r>
              <a:rPr lang="en-US" dirty="0"/>
              <a:t>Notice that for the *row-major matrix layout* on the left</a:t>
            </a:r>
            <a:r>
              <a:rPr lang="cs-CZ" dirty="0"/>
              <a:t> (</a:t>
            </a:r>
            <a:r>
              <a:rPr lang="en-US" noProof="0" dirty="0"/>
              <a:t>the</a:t>
            </a:r>
            <a:r>
              <a:rPr lang="cs-CZ" dirty="0"/>
              <a:t> most </a:t>
            </a:r>
            <a:r>
              <a:rPr lang="cs-CZ" dirty="0" err="1"/>
              <a:t>common</a:t>
            </a:r>
            <a:r>
              <a:rPr lang="cs-CZ" dirty="0"/>
              <a:t> matrix layout)</a:t>
            </a:r>
            <a:r>
              <a:rPr lang="en-US" dirty="0"/>
              <a:t>, the algorithm tends to access elements that are close together (as the faster-iterating inner loop generates row indices),</a:t>
            </a:r>
            <a:br>
              <a:rPr lang="en-US" dirty="0"/>
            </a:br>
            <a:r>
              <a:rPr lang="en-US" dirty="0"/>
              <a:t>whereas in the other, *column-major layout*, the successive accesses are spread out further.</a:t>
            </a:r>
            <a:br>
              <a:rPr lang="en-US" dirty="0"/>
            </a:br>
            <a:r>
              <a:rPr lang="en-US" dirty="0"/>
              <a:t>This has effect on hardware mechanisms such as caching. which makes accesses to close-by elements faster.</a:t>
            </a:r>
          </a:p>
          <a:p>
            <a:endParaRPr lang="en-US" dirty="0"/>
          </a:p>
          <a:p>
            <a:r>
              <a:rPr lang="en-US" dirty="0"/>
              <a:t>In real-use algorithms, the situation may be further complicated by factors such as algorithms having more elaborate traversal patterns and accessing multiple data structures at once.</a:t>
            </a:r>
          </a:p>
          <a:p>
            <a:br>
              <a:rPr lang="en-US" dirty="0"/>
            </a:br>
            <a:br>
              <a:rPr lang="en-US" dirty="0"/>
            </a:br>
            <a:r>
              <a:rPr lang="en-US" dirty="0"/>
              <a:t>(ass bridge: we have started our research by finding abstractions to making this simpler to design and easier to experiment with) (?autotuning)</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The start of our research focused on enabling the design of *layout-agnostic* algorithms; algorithms that do not rely on specific memory layouts of the data structures.</a:t>
            </a:r>
            <a:br>
              <a:rPr lang="en-US" dirty="0"/>
            </a:br>
            <a:r>
              <a:rPr lang="en-US" dirty="0"/>
              <a:t>One example of a sufficiently layout-agnostic algorithm is the earlier shown matrix initialization algorithm, which works for any matrix that exposes a</a:t>
            </a:r>
            <a:br>
              <a:rPr lang="en-US" dirty="0"/>
            </a:br>
            <a:r>
              <a:rPr lang="en-US" dirty="0"/>
              <a:t>two-dimensional *logical structure* of the appropriate dimensions regardless of the specific physical *memory layout*.</a:t>
            </a:r>
          </a:p>
          <a:p>
            <a:endParaRPr lang="en-US" dirty="0"/>
          </a:p>
          <a:p>
            <a:r>
              <a:rPr lang="en-US" dirty="0"/>
              <a:t>Note that the logical structure defines the semantics of the layout abstraction, while the physical memory layout is often not functionally relevant in the context of the algorithm.</a:t>
            </a:r>
          </a:p>
          <a:p>
            <a:endParaRPr lang="en-US" dirty="0"/>
          </a:p>
          <a:p>
            <a:r>
              <a:rPr lang="en-US" dirty="0"/>
              <a:t>We call a *layout abstraction* a mapping between these two concepts. It defines the indexation of a data structure and internally specifies how the elements</a:t>
            </a:r>
            <a:br>
              <a:rPr lang="en-US" dirty="0"/>
            </a:br>
            <a:r>
              <a:rPr lang="en-US" dirty="0"/>
              <a:t>are stored in memory (offsets in memory).</a:t>
            </a:r>
          </a:p>
          <a:p>
            <a:endParaRPr lang="en-US" dirty="0"/>
          </a:p>
          <a:p>
            <a:r>
              <a:rPr lang="en-US" dirty="0"/>
              <a:t>During our research, layout abstractions with similar goals were developed for the C++ standard (std::</a:t>
            </a:r>
            <a:r>
              <a:rPr lang="en-US" dirty="0" err="1"/>
              <a:t>mdspan</a:t>
            </a:r>
            <a:r>
              <a:rPr lang="en-US" dirty="0"/>
              <a:t>) and GPU algorithm development (</a:t>
            </a:r>
            <a:r>
              <a:rPr lang="en-US" dirty="0" err="1"/>
              <a:t>CUTe</a:t>
            </a:r>
            <a:r>
              <a:rPr lang="en-US" dirty="0"/>
              <a:t> layouts),</a:t>
            </a:r>
            <a:br>
              <a:rPr lang="en-US" dirty="0"/>
            </a:br>
            <a:r>
              <a:rPr lang="en-US" dirty="0"/>
              <a:t>showing the practical relevance of this research.</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r>
              <a:rPr lang="en-US" dirty="0"/>
              <a:t>Our approach is based on specifying the layouts via composable *building blocks* (such as “scalar” that names a single value or “vector” that extends a given layout with one named dimension).</a:t>
            </a:r>
          </a:p>
          <a:p>
            <a:endParaRPr lang="en-US" dirty="0"/>
          </a:p>
          <a:p>
            <a:r>
              <a:rPr lang="en-US" dirty="0"/>
              <a:t>By iteratively composing these building blocks, we can define derived data structures of arbitrary complexity.</a:t>
            </a:r>
          </a:p>
          <a:p>
            <a:endParaRPr lang="en-US" dirty="0"/>
          </a:p>
          <a:p>
            <a:r>
              <a:rPr lang="en-US" dirty="0"/>
              <a:t>In our approach, all dimensions are named, and they specify the semantic logical structure of the layout, providing a predictable API;</a:t>
            </a:r>
            <a:br>
              <a:rPr lang="en-US" dirty="0"/>
            </a:br>
            <a:r>
              <a:rPr lang="en-US" dirty="0"/>
              <a:t>a data structure with dimensions ‘m’ and ‘n’ can be indexed with an index point with the appropriate dimensions.</a:t>
            </a:r>
          </a:p>
          <a:p>
            <a:endParaRPr lang="en-US" dirty="0"/>
          </a:p>
          <a:p>
            <a:r>
              <a:rPr lang="en-US" dirty="0"/>
              <a:t>In this case, the encoded dimension names ensure that the indices will be paired with the dimensions of the structure correctly.</a:t>
            </a:r>
          </a:p>
          <a:p>
            <a:endParaRPr lang="en-US" dirty="0"/>
          </a:p>
          <a:p>
            <a:endParaRPr lang="en-US" dirty="0"/>
          </a:p>
          <a:p>
            <a:r>
              <a:rPr lang="en-US" dirty="0"/>
              <a:t>And if we want to encode a static constant with a compile-time value, it is as simple as replacing a numeric parameter with a special literal value, with no other modifications.</a:t>
            </a:r>
            <a:br>
              <a:rPr lang="en-US" dirty="0"/>
            </a:br>
            <a:r>
              <a:rPr lang="en-US" dirty="0"/>
              <a:t>This makes the value be directly propagated as a compiler constant instead of being stored in the object representing the layout;</a:t>
            </a:r>
            <a:br>
              <a:rPr lang="en-US" dirty="0"/>
            </a:br>
            <a:r>
              <a:rPr lang="en-US" dirty="0"/>
              <a:t>this might also enable more aggressive compiler optimizations. (</a:t>
            </a:r>
            <a:r>
              <a:rPr lang="en-US" dirty="0" err="1"/>
              <a:t>na</a:t>
            </a:r>
            <a:r>
              <a:rPr lang="en-US" dirty="0"/>
              <a:t> to </a:t>
            </a:r>
            <a:r>
              <a:rPr lang="en-US" dirty="0" err="1"/>
              <a:t>mame</a:t>
            </a:r>
            <a:r>
              <a:rPr lang="en-US" dirty="0"/>
              <a:t> </a:t>
            </a:r>
            <a:r>
              <a:rPr lang="en-US" dirty="0" err="1"/>
              <a:t>grafy</a:t>
            </a:r>
            <a:r>
              <a:rPr lang="en-US" dirty="0"/>
              <a:t> od </a:t>
            </a:r>
            <a:r>
              <a:rPr lang="en-US" dirty="0" err="1"/>
              <a:t>adama</a:t>
            </a:r>
            <a:r>
              <a:rPr lang="en-US" dirty="0"/>
              <a:t>)</a:t>
            </a:r>
          </a:p>
          <a:p>
            <a:endParaRPr lang="en-US" dirty="0"/>
          </a:p>
          <a:p>
            <a:r>
              <a:rPr lang="en-US" dirty="0"/>
              <a:t>---</a:t>
            </a:r>
          </a:p>
          <a:p>
            <a:endParaRPr lang="en-US" dirty="0"/>
          </a:p>
          <a:p>
            <a:r>
              <a:rPr lang="en-US" dirty="0"/>
              <a:t>An important quality of our approach is that the memory layouts are a separate concept from data structures.</a:t>
            </a:r>
            <a:br>
              <a:rPr lang="en-US" dirty="0"/>
            </a:br>
            <a:br>
              <a:rPr lang="en-US" dirty="0"/>
            </a:br>
            <a:r>
              <a:rPr lang="en-US" dirty="0"/>
              <a:t>A data structure can be constructed from a given layout using a simple “bag” constructor. In its simplest use, the constructor creates a data structure that automatically manages an appropriate</a:t>
            </a:r>
            <a:br>
              <a:rPr lang="en-US" dirty="0"/>
            </a:br>
            <a:r>
              <a:rPr lang="en-US" dirty="0"/>
              <a:t>memory buffer.</a:t>
            </a:r>
            <a:br>
              <a:rPr lang="en-US" dirty="0"/>
            </a:br>
            <a:br>
              <a:rPr lang="en-US" dirty="0"/>
            </a:br>
            <a:r>
              <a:rPr lang="en-US" dirty="0"/>
              <a:t>If, instead, we require the memory buffer to reside in a specific memory region or point to an already existing structure, we can supply it ourselves; the constructor then creates a view to the pointed data.</a:t>
            </a:r>
          </a:p>
          <a:p>
            <a:r>
              <a:rPr lang="en-US" dirty="0"/>
              <a:t>Here, for example, we requested the byte-wise size of the layout to allocate it ourselves in GPU device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introducing abstraction for traversal-agnostic algorithms – traversers)</a:t>
            </a:r>
            <a:br>
              <a:rPr lang="en-US" dirty="0"/>
            </a:br>
            <a:br>
              <a:rPr lang="en-US" dirty="0"/>
            </a:br>
            <a:r>
              <a:rPr lang="en-US" dirty="0"/>
              <a:t>After carefully assessing how the principles play into defining layout-agnostic algorithms, we have extended the approach for traversals as well, enabling traversal-agnostic design as well.</a:t>
            </a:r>
          </a:p>
          <a:p>
            <a:endParaRPr lang="en-US" dirty="0"/>
          </a:p>
          <a:p>
            <a:r>
              <a:rPr lang="en-US" dirty="0"/>
              <a:t>For that, we have devised a traverser abstraction. An adaptation of an idea of an iterator for multi-dimensional layouts and traversals.</a:t>
            </a:r>
          </a:p>
          <a:p>
            <a:endParaRPr lang="en-US" dirty="0"/>
          </a:p>
          <a:p>
            <a:r>
              <a:rPr lang="en-US" dirty="0"/>
              <a:t>For a single structure, the traverser offers the functionality of the for-each algorithm – we can thus write the earlier shown initialization algorithm without having to consider the</a:t>
            </a:r>
            <a:br>
              <a:rPr lang="en-US" dirty="0"/>
            </a:br>
            <a:r>
              <a:rPr lang="en-US" dirty="0"/>
              <a:t>dimensions of the structure. The dimensions are traversed automatically, and the traverser automatically generates index points that we can use in a lambda expression specifying the element-specific action.</a:t>
            </a:r>
            <a:br>
              <a:rPr lang="en-US" dirty="0"/>
            </a:br>
            <a:br>
              <a:rPr lang="en-US" dirty="0"/>
            </a:br>
            <a:r>
              <a:rPr lang="en-US" dirty="0"/>
              <a:t>If two structures share the same space, the traverser constructed from them can be used to simply copy the data from one structure to the other. It automatically recognizes that their index spaces fully overlap</a:t>
            </a:r>
            <a:br>
              <a:rPr lang="en-US" dirty="0"/>
            </a:br>
            <a:r>
              <a:rPr lang="en-US" dirty="0"/>
              <a:t>And we simply define a copy action that is to be performed on each pair of elements. If the two structures have different physical memory layouts, this effectively transposes the data.</a:t>
            </a:r>
          </a:p>
          <a:p>
            <a:endParaRPr lang="en-US" dirty="0"/>
          </a:p>
          <a:p>
            <a:endParaRPr lang="en-US" dirty="0"/>
          </a:p>
          <a:p>
            <a:r>
              <a:rPr lang="en-US" dirty="0"/>
              <a:t>If the traversed structures have (partially) independent index spaces, the traverser infers the shared space as the Cartesian product of the unique dimensions of all the structures.</a:t>
            </a:r>
          </a:p>
          <a:p>
            <a:r>
              <a:rPr lang="en-US" dirty="0"/>
              <a:t>This allows us to easily define, for example, the matrix multiplication algorithm. The only requirement of this algorithm is that the data structures have appropriately named dimensions.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introducing abstraction for traversal-agnostic algorithms – traversers)</a:t>
            </a:r>
            <a:br>
              <a:rPr lang="en-US" dirty="0"/>
            </a:br>
            <a:br>
              <a:rPr lang="en-US" dirty="0"/>
            </a:br>
            <a:r>
              <a:rPr lang="en-US" dirty="0"/>
              <a:t>After carefully assessing how the principles play into defining layout-agnostic algorithms, we have extended the approach for traversals as well; thus enabling traversal-agnostic design as well.</a:t>
            </a:r>
          </a:p>
          <a:p>
            <a:endParaRPr lang="en-US" dirty="0"/>
          </a:p>
          <a:p>
            <a:r>
              <a:rPr lang="en-US" dirty="0"/>
              <a:t>For that, we have devised a traverser abstraction. An adaptation of an idea of an iterator for multi-dimensional layouts and traversals.</a:t>
            </a:r>
          </a:p>
          <a:p>
            <a:endParaRPr lang="en-US" dirty="0"/>
          </a:p>
          <a:p>
            <a:r>
              <a:rPr lang="en-US" dirty="0"/>
              <a:t>For a single structure, the traverser offers the functionality of the for-each algorithm – we can thus write the earlier shown initialization algorithm without having to consider the</a:t>
            </a:r>
            <a:br>
              <a:rPr lang="en-US" dirty="0"/>
            </a:br>
            <a:r>
              <a:rPr lang="en-US" dirty="0"/>
              <a:t>dimensions of the structure. The dimensions are traversed automatically, and the traverser automatically generates index points that we can use in a lambda expression specifying the element-specific action.</a:t>
            </a:r>
            <a:br>
              <a:rPr lang="en-US" dirty="0"/>
            </a:br>
            <a:br>
              <a:rPr lang="en-US" dirty="0"/>
            </a:br>
            <a:r>
              <a:rPr lang="en-US" dirty="0"/>
              <a:t>If two structures share the same space, the traverser constructed from them can be used to simply copy the data from one structure to the other. It automatically recognizes that their index spaces fully overlap</a:t>
            </a:r>
            <a:br>
              <a:rPr lang="en-US" dirty="0"/>
            </a:br>
            <a:r>
              <a:rPr lang="en-US" dirty="0"/>
              <a:t>And we simply define a copy action that is to be performed on each pair of elements. If the two structures have different physical memory layouts, this effectively transposes the data.</a:t>
            </a:r>
          </a:p>
          <a:p>
            <a:endParaRPr lang="en-US" dirty="0"/>
          </a:p>
          <a:p>
            <a:endParaRPr lang="en-US" dirty="0"/>
          </a:p>
          <a:p>
            <a:r>
              <a:rPr lang="en-US" dirty="0"/>
              <a:t>If the traversed structures have (partially) independent index spaces, the traverser infers the shared space as the Cartesian product of the unique dimensions of all the structures.</a:t>
            </a:r>
          </a:p>
          <a:p>
            <a:r>
              <a:rPr lang="en-US" dirty="0"/>
              <a:t>This allows us to easily define, for example, the matrix multiplication algorithm. The only requirement of this algorithm is that the data structures have appropriately named dimensions.</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optimizing the traversal)</a:t>
            </a:r>
          </a:p>
          <a:p>
            <a:endParaRPr lang="en-US" dirty="0"/>
          </a:p>
          <a:p>
            <a:r>
              <a:rPr lang="en-US" dirty="0"/>
              <a:t>By itself, this would be nice, but we can do much more.</a:t>
            </a:r>
            <a:br>
              <a:rPr lang="en-US" dirty="0"/>
            </a:br>
            <a:endParaRPr lang="en-US" dirty="0"/>
          </a:p>
          <a:p>
            <a:r>
              <a:rPr lang="en-US" dirty="0"/>
              <a:t>We can use the same principles for building memory layouts to specify transformations of the traversal orders as well.</a:t>
            </a:r>
          </a:p>
          <a:p>
            <a:r>
              <a:rPr lang="en-US" dirty="0"/>
              <a:t>Let’s say we want to perform the matrix multiplication by tiles of the output; we can do so by defining the transformation and then applying it to the traverser.</a:t>
            </a:r>
            <a:br>
              <a:rPr lang="en-US" dirty="0"/>
            </a:br>
            <a:r>
              <a:rPr lang="en-US" dirty="0"/>
              <a:t>We do not need to rewrite the computation logic or change the structures to do that.</a:t>
            </a:r>
          </a:p>
          <a:p>
            <a:endParaRPr lang="en-US" dirty="0"/>
          </a:p>
          <a:p>
            <a:endParaRPr lang="en-US" dirty="0"/>
          </a:p>
          <a:p>
            <a:r>
              <a:rPr lang="en-US" dirty="0"/>
              <a:t>We can also use the traversers as ranges to be parallelized using various parallel backends such as OpenMP or Threading Building Blocks.</a:t>
            </a:r>
          </a:p>
          <a:p>
            <a:endParaRPr lang="en-US" dirty="0"/>
          </a:p>
          <a:p>
            <a:r>
              <a:rPr lang="en-US" dirty="0"/>
              <a:t>For the CUDA framework (used for general-purpose GPU programming), we have shown that the principles pair well with  binding different threads and blocks to the dimensions of the computation</a:t>
            </a:r>
            <a:br>
              <a:rPr lang="en-US" dirty="0"/>
            </a:br>
            <a:r>
              <a:rPr lang="en-US" dirty="0"/>
              <a:t>and privatizing the data in the GPU shared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autotuning made easier &amp; we can switch </a:t>
            </a:r>
            <a:r>
              <a:rPr lang="en-US" dirty="0" err="1"/>
              <a:t>autotuners</a:t>
            </a:r>
            <a:r>
              <a:rPr lang="en-US" dirty="0"/>
              <a:t>)</a:t>
            </a:r>
          </a:p>
          <a:p>
            <a:endParaRPr lang="en-US" dirty="0"/>
          </a:p>
          <a:p>
            <a:r>
              <a:rPr lang="en-US" dirty="0"/>
              <a:t>These two stages have provided the groundwork for enabling seamless and automatable code optimization in C++ that is fully transparent and directable by the user.</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Handle communication with the autotuning framework</a:t>
            </a:r>
          </a:p>
          <a:p>
            <a:pPr marL="171450" indent="-171450">
              <a:buFontTx/>
              <a:buChar char="-"/>
            </a:pPr>
            <a:r>
              <a:rPr lang="en-US" dirty="0"/>
              <a:t>Define the parameter on the </a:t>
            </a:r>
            <a:r>
              <a:rPr lang="en-US" dirty="0" err="1"/>
              <a:t>autotuner’s</a:t>
            </a:r>
            <a:r>
              <a:rPr lang="en-US" dirty="0"/>
              <a:t> side</a:t>
            </a:r>
          </a:p>
          <a:p>
            <a:pPr marL="0" indent="0">
              <a:buFontTx/>
              <a:buNone/>
            </a:pPr>
            <a:endParaRPr lang="en-US" dirty="0"/>
          </a:p>
          <a:p>
            <a:pPr marL="0" indent="0">
              <a:buFontTx/>
              <a:buNone/>
            </a:pPr>
            <a:r>
              <a:rPr lang="en-US" dirty="0"/>
              <a:t>This creates unnecessary amount of boilerplate definitions and communication specification that is difficult to maintain and easy to make mistakes in.</a:t>
            </a:r>
          </a:p>
          <a:p>
            <a:endParaRPr lang="en-US" dirty="0"/>
          </a:p>
          <a:p>
            <a:r>
              <a:rPr lang="en-US" dirty="0"/>
              <a:t>We have implemented an autotuning interface that allows for specifying the tuned parameters in the same code as the algorithm,</a:t>
            </a:r>
            <a:br>
              <a:rPr lang="en-US" dirty="0"/>
            </a:br>
            <a:r>
              <a:rPr lang="en-US" dirty="0"/>
              <a:t>this specification is independent of the autotuning backend, and the whole autotuning process is handled automatically.</a:t>
            </a:r>
          </a:p>
          <a:p>
            <a:endParaRPr lang="en-US" dirty="0"/>
          </a:p>
          <a:p>
            <a:r>
              <a:rPr lang="en-US" dirty="0"/>
              <a:t>Since the specification is independent of the autotuning backend, this also makes switching between different autotuning frameworks easy.</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a:t>
            </a:r>
            <a:r>
              <a:rPr lang="en-US" dirty="0" err="1"/>
              <a:t>PolyBench</a:t>
            </a:r>
            <a:r>
              <a:rPr lang="en-US" dirty="0"/>
              <a:t>/C suite, reimplementing each algorithm using </a:t>
            </a:r>
            <a:r>
              <a:rPr lang="en-US" dirty="0" err="1"/>
              <a:t>Noarr</a:t>
            </a:r>
            <a:r>
              <a:rPr lang="en-US" dirty="0"/>
              <a:t> to confirm they do not pose any runtime overhead.</a:t>
            </a:r>
          </a:p>
          <a:p>
            <a:endParaRPr lang="en-US" dirty="0"/>
          </a:p>
          <a:p>
            <a:r>
              <a:rPr lang="en-US" dirty="0"/>
              <a:t>The plot shows speedups of the </a:t>
            </a:r>
            <a:r>
              <a:rPr lang="en-US" dirty="0" err="1"/>
              <a:t>Noarr</a:t>
            </a:r>
            <a:r>
              <a:rPr lang="en-US" dirty="0"/>
              <a:t> </a:t>
            </a:r>
            <a:r>
              <a:rPr lang="en-US" dirty="0" err="1"/>
              <a:t>reimplementations</a:t>
            </a:r>
            <a:r>
              <a:rPr lang="en-US" dirty="0"/>
              <a:t> compared to the C baselines, most implementations perform exactly the same, showing no runtime overhead;</a:t>
            </a:r>
            <a:br>
              <a:rPr lang="en-US" dirty="0"/>
            </a:br>
            <a:r>
              <a:rPr lang="en-US" dirty="0"/>
              <a:t>there are few minor outliers introduced by differences in compiler optimizations.</a:t>
            </a:r>
          </a:p>
          <a:p>
            <a:endParaRPr lang="en-US" dirty="0"/>
          </a:p>
          <a:p>
            <a:endParaRPr lang="en-US" dirty="0"/>
          </a:p>
          <a:p>
            <a:r>
              <a:rPr lang="en-US" dirty="0"/>
              <a:t>For parallelization, we have reimplemented OpenMP/TBB parallel modifications of some algorithms as well as </a:t>
            </a:r>
            <a:r>
              <a:rPr lang="en-US" dirty="0" err="1"/>
              <a:t>PolyBench</a:t>
            </a:r>
            <a:r>
              <a:rPr lang="en-US" dirty="0"/>
              <a:t>/GPU suite.</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The programming complexity in practical algorithms is kept low enough;</a:t>
            </a:r>
            <a:br>
              <a:rPr lang="en-US" dirty="0"/>
            </a:br>
            <a:r>
              <a:rPr lang="en-US" dirty="0"/>
              <a:t>the code is more verbose, as the abstraction encodes more information overall (such as names of dimensions), but contains slightly less complex control flow, and significantly simpler indexation.</a:t>
            </a:r>
          </a:p>
          <a:p>
            <a:endParaRPr lang="en-US" dirty="0"/>
          </a:p>
          <a:p>
            <a:r>
              <a:rPr lang="en-US" dirty="0"/>
              <a:t>On top of these metrics, the resulting code is more flexible in changing different layouts or traversals,</a:t>
            </a:r>
            <a:br>
              <a:rPr lang="en-US" dirty="0"/>
            </a:br>
            <a:r>
              <a:rPr lang="en-US" dirty="0"/>
              <a:t>and the approach improves type safety of the expressions by checking correctly paired dimensions.</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using MPI; initializing each tile of the data on a separate compute node</a:t>
            </a:r>
            <a:br>
              <a:rPr lang="en-US" dirty="0"/>
            </a:br>
            <a:r>
              <a:rPr lang="en-US" dirty="0"/>
              <a:t>and then gathering the tiles into fully initialized data.</a:t>
            </a:r>
          </a:p>
          <a:p>
            <a:endParaRPr lang="en-US" dirty="0"/>
          </a:p>
          <a:p>
            <a:r>
              <a:rPr lang="en-US" dirty="0"/>
              <a:t>This requires two core pieces:</a:t>
            </a:r>
          </a:p>
          <a:p>
            <a:pPr marL="228600" indent="-228600">
              <a:buAutoNum type="arabicPeriod"/>
            </a:pPr>
            <a:r>
              <a:rPr lang="en-US" dirty="0"/>
              <a:t>Binding </a:t>
            </a:r>
            <a:r>
              <a:rPr lang="en-US" dirty="0" err="1"/>
              <a:t>Noarr</a:t>
            </a:r>
            <a:r>
              <a:rPr lang="en-US" dirty="0"/>
              <a:t> dimensions to MPI communicators that describe the abstract topology of different computation nodes.</a:t>
            </a:r>
          </a:p>
          <a:p>
            <a:pPr marL="228600" indent="-228600">
              <a:buAutoNum type="arabicPeriod"/>
            </a:pPr>
            <a:r>
              <a:rPr lang="en-US" dirty="0"/>
              <a:t>Translating </a:t>
            </a:r>
            <a:r>
              <a:rPr lang="en-US" dirty="0" err="1"/>
              <a:t>Noarr</a:t>
            </a:r>
            <a:r>
              <a:rPr lang="en-US" dirty="0"/>
              <a:t> layouts into appropriate MPI datatypes.</a:t>
            </a:r>
          </a:p>
          <a:p>
            <a:endParaRPr lang="en-US" dirty="0"/>
          </a:p>
          <a:p>
            <a:r>
              <a:rPr lang="en-US" dirty="0"/>
              <a:t>This allows for automatic distribution of data that can then be computed locally, and the local results can be gathered 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r>
              <a:rPr lang="en-US" dirty="0"/>
              <a:t>It also enables automatic transformation of the data if the memory layouts on the opposing end-points differ (perhaps due to optimization).</a:t>
            </a:r>
          </a:p>
          <a:p>
            <a:r>
              <a:rPr lang="en-US" dirty="0"/>
              <a:t>If this was done naively. the MPI backend would corrupt the data by preserving the physical layout and not the logical structure.</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to various state-of-the-art C++ bindings for MPI in terms of how they manage to seamlessly enable layout-agnostic communication of data over MPI.</a:t>
            </a:r>
          </a:p>
          <a:p>
            <a:endParaRPr lang="en-US" dirty="0"/>
          </a:p>
          <a:p>
            <a:r>
              <a:rPr lang="en-US" dirty="0"/>
              <a:t>Our approach is the only one that automatically handles differing physical layouts on opposite endpoints of communication (as shown on the previous slide),</a:t>
            </a:r>
          </a:p>
          <a:p>
            <a:r>
              <a:rPr lang="en-US" dirty="0"/>
              <a:t>And it also handles general multidimensional data layouts.</a:t>
            </a:r>
          </a:p>
          <a:p>
            <a:endParaRPr lang="en-US" dirty="0"/>
          </a:p>
          <a:p>
            <a:r>
              <a:rPr lang="en-US" dirty="0"/>
              <a:t>And, in terms of performance, it does not add overhead compared to a hand-written native MPI distributed computation.</a:t>
            </a:r>
          </a:p>
        </p:txBody>
      </p:sp>
      <p:sp>
        <p:nvSpPr>
          <p:cNvPr id="4" name="Slide Number Placeholder 3"/>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knowledge transfer to cellular automata simulation; what is going on)</a:t>
            </a:r>
          </a:p>
          <a:p>
            <a:endParaRPr lang="en-US" dirty="0"/>
          </a:p>
          <a:p>
            <a:r>
              <a:rPr lang="en-US" dirty="0"/>
              <a:t>Covering all major aspects of general-purpose HPC programming, we studied application of the principles to more specific domains.</a:t>
            </a:r>
          </a:p>
          <a:p>
            <a:endParaRPr lang="en-US" dirty="0"/>
          </a:p>
          <a:p>
            <a:r>
              <a:rPr lang="en-US" dirty="0"/>
              <a:t>One domain from our past research that could adapt the abstractions was cellular automata simulation.</a:t>
            </a:r>
          </a:p>
          <a:p>
            <a:r>
              <a:rPr lang="en-US" dirty="0"/>
              <a:t>It is used for modelling various systems such as fluid dynamics or material sciences.</a:t>
            </a:r>
          </a:p>
          <a:p>
            <a:endParaRPr lang="en-US" dirty="0"/>
          </a:p>
          <a:p>
            <a:r>
              <a:rPr lang="en-US" dirty="0"/>
              <a:t>They are computed on regular grids where each cell has one of a limited number of possible states;</a:t>
            </a:r>
          </a:p>
          <a:p>
            <a:r>
              <a:rPr lang="en-US" dirty="0"/>
              <a:t>The grid is updated in discrete time steps by applying a neighborhood-based rule to each cell.</a:t>
            </a:r>
          </a:p>
          <a:p>
            <a:endParaRPr lang="en-US" dirty="0"/>
          </a:p>
          <a:p>
            <a:r>
              <a:rPr lang="en-US" dirty="0"/>
              <a:t>The rule can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a:t>
            </a:r>
          </a:p>
          <a:p>
            <a:pPr marL="171450" indent="-171450">
              <a:buFontTx/>
              <a:buChar char="-"/>
            </a:pPr>
            <a:r>
              <a:rPr lang="en-US" dirty="0"/>
              <a:t>Memory Layouts that specify how the grid and the single cells are encoded</a:t>
            </a:r>
          </a:p>
          <a:p>
            <a:pPr marL="171450" indent="-171450">
              <a:buFontTx/>
              <a:buChar char="-"/>
            </a:pPr>
            <a:r>
              <a:rPr lang="en-US" dirty="0"/>
              <a:t>Evaluators that specify how the update rules should be computed on the specific Memory Layouts</a:t>
            </a:r>
          </a:p>
          <a:p>
            <a:pPr marL="171450" indent="-171450">
              <a:buFontTx/>
              <a:buChar char="-"/>
            </a:pPr>
            <a:r>
              <a:rPr lang="en-US" dirty="0"/>
              <a:t>And Traversers that specify the evaluation order as well as parallelization of the computation</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a:p>
            <a:pPr marL="0" indent="0">
              <a:buFontTx/>
              <a:buNone/>
            </a:pPr>
            <a:endParaRPr lang="en-US" dirty="0"/>
          </a:p>
          <a:p>
            <a:pPr marL="0" indent="0">
              <a:buFontTx/>
              <a:buNone/>
            </a:pPr>
            <a:r>
              <a:rPr lang="en-US" dirty="0"/>
              <a:t>One of the optimization technique we study in a recently submitted publication is encoding the cell states in efficient bit-packed arrays instead of wasteful encoding in separate machine words.</a:t>
            </a:r>
          </a:p>
          <a:p>
            <a:pPr marL="0" indent="0">
              <a:buFontTx/>
              <a:buNone/>
            </a:pPr>
            <a:r>
              <a:rPr lang="en-US" dirty="0"/>
              <a:t>These bit-packed encodings also allow for bit-level vectorized computation of many cell updates simultaneously.</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it can be </a:t>
            </a:r>
            <a:r>
              <a:rPr lang="en-US" dirty="0" err="1"/>
              <a:t>faaaast</a:t>
            </a:r>
            <a:r>
              <a:rPr lang="en-US" dirty="0"/>
              <a:t>)</a:t>
            </a:r>
          </a:p>
          <a:p>
            <a:endParaRPr lang="en-US" dirty="0"/>
          </a:p>
          <a:p>
            <a:r>
              <a:rPr lang="en-US" dirty="0"/>
              <a:t>If the rule specification is paired with these efficient components, the computation may improve over even already GPU-parallelized baseline performance in one or two decadic orders.</a:t>
            </a:r>
          </a:p>
          <a:p>
            <a:endParaRPr lang="en-US" dirty="0"/>
          </a:p>
          <a:p>
            <a:r>
              <a:rPr lang="en-US" dirty="0"/>
              <a:t>This plot shows possible improvements using different optimization techniques available in our prototype framework on different cellular automata.</a:t>
            </a:r>
          </a:p>
          <a:p>
            <a:endParaRPr lang="en-US" dirty="0"/>
          </a:p>
          <a:p>
            <a:r>
              <a:rPr lang="en-US" dirty="0"/>
              <a:t>(We can see that simple bit-packing is not enough for achieving highly efficient computation; and it is necessary to compute the cells in bit-vectorized manner, which is implemented by Bit Planes and Temporal, which implements temporal blocking on top of these optimizations)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Thus, we have shown that the abstractions offer a practical solution to parallel CPU and GPU, as well as distributed computations in High-Performance Computing,</a:t>
            </a:r>
          </a:p>
          <a:p>
            <a:r>
              <a:rPr lang="en-US" dirty="0"/>
              <a:t>And enable even stronger optimizations for specific domains, such as Cellular Automata simulation</a:t>
            </a:r>
          </a:p>
          <a:p>
            <a:endParaRPr lang="en-US" dirty="0"/>
          </a:p>
          <a:p>
            <a:r>
              <a:rPr lang="en-US" dirty="0"/>
              <a:t>These abstractions make the developed algorithms easier to manage, more flexible to transform, and allow automatic application of advanced optimizations.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we’ve left abstractions to help LLMs generate better para code)</a:t>
            </a:r>
          </a:p>
          <a:p>
            <a:endParaRPr lang="en-US" dirty="0"/>
          </a:p>
          <a:p>
            <a:r>
              <a:rPr lang="en-US" dirty="0"/>
              <a:t>After extending our earlier work to cover distributed computing as well and adapting it for a specific domain,</a:t>
            </a:r>
          </a:p>
          <a:p>
            <a:r>
              <a:rPr lang="en-US" dirty="0"/>
              <a:t>We have started to do research in a different approach for simplifying HPC algorithm design.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work reacts to the recent introduction of LLM models to the area of software design.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the time of the beginning of our research in this area, LLM models were capable of implementing simple algorithms (like data visualization, simple scripting, </a:t>
            </a:r>
            <a:r>
              <a:rPr lang="en-US" dirty="0" err="1"/>
              <a:t>etc</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But not yet that competent at making more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3512362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tutoring; what is it?)</a:t>
            </a:r>
          </a:p>
          <a:p>
            <a:endParaRPr lang="en-US" dirty="0"/>
          </a:p>
          <a:p>
            <a:r>
              <a:rPr lang="en-US" dirty="0"/>
              <a:t>In our first work in this area, we focused on CUDA code generation, which was one of the challenging areas for the contemporary LLMs; more specifically,</a:t>
            </a:r>
            <a:br>
              <a:rPr lang="en-US" dirty="0"/>
            </a:br>
            <a:r>
              <a:rPr lang="en-US" dirty="0"/>
              <a:t>we studied whether adding increasingly more detailed high-level design hints or outright dictating some design decisions significantly helps LLMs generate better code</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how an efficient implementation should be designed.</a:t>
            </a:r>
          </a:p>
          <a:p>
            <a:pPr marL="171450" indent="-171450">
              <a:buFontTx/>
              <a:buChar char="-"/>
            </a:pPr>
            <a:r>
              <a:rPr lang="en-US" dirty="0"/>
              <a:t>Histogram computation</a:t>
            </a:r>
          </a:p>
          <a:p>
            <a:pPr marL="171450" indent="-171450">
              <a:buFontTx/>
              <a:buChar char="-"/>
            </a:pPr>
            <a:r>
              <a:rPr lang="en-US" dirty="0"/>
              <a:t>Conway’s Game of Life cellular automaton simulation</a:t>
            </a:r>
          </a:p>
          <a:p>
            <a:pPr marL="171450" indent="-171450">
              <a:buFontTx/>
              <a:buChar char="-"/>
            </a:pPr>
            <a:r>
              <a:rPr lang="en-US" dirty="0"/>
              <a:t>K-Nearest Neighbors search in 2D Euclidean space</a:t>
            </a:r>
          </a:p>
          <a:p>
            <a:pPr marL="171450" indent="-171450">
              <a:buFontTx/>
              <a:buChar char="-"/>
            </a:pPr>
            <a:endParaRPr lang="en-US" dirty="0"/>
          </a:p>
          <a:p>
            <a:pPr marL="0" indent="0">
              <a:buFontTx/>
              <a:buNone/>
            </a:pPr>
            <a:r>
              <a:rPr lang="en-US" dirty="0"/>
              <a:t>The three algorithms represent implementation problems of increasing complexity.</a:t>
            </a:r>
          </a:p>
          <a:p>
            <a:endParaRPr lang="en-US" dirty="0"/>
          </a:p>
          <a:p>
            <a:r>
              <a:rPr lang="en-US" dirty="0"/>
              <a:t>Efficient implementations of these three algorithms require considering more obscure or CUDA-specific features, such as</a:t>
            </a:r>
          </a:p>
          <a:p>
            <a:pPr marL="171450" indent="-171450">
              <a:buFontTx/>
              <a:buChar char="-"/>
            </a:pPr>
            <a:r>
              <a:rPr lang="en-US" dirty="0"/>
              <a:t>Efficient shared memory</a:t>
            </a:r>
          </a:p>
          <a:p>
            <a:pPr marL="171450" indent="-171450">
              <a:buFontTx/>
              <a:buChar char="-"/>
            </a:pPr>
            <a:r>
              <a:rPr lang="en-US" dirty="0"/>
              <a:t>Bit-level vectorization</a:t>
            </a:r>
          </a:p>
          <a:p>
            <a:pPr marL="171450" indent="-171450">
              <a:buFontTx/>
              <a:buChar char="-"/>
            </a:pPr>
            <a:r>
              <a:rPr lang="en-US" dirty="0"/>
              <a:t>Inter-thread communication</a:t>
            </a:r>
          </a:p>
          <a:p>
            <a:pPr marL="171450" indent="-171450">
              <a:buFontTx/>
              <a:buChar char="-"/>
            </a:pPr>
            <a:endParaRPr lang="en-US" dirty="0"/>
          </a:p>
          <a:p>
            <a:pPr marL="0" indent="0">
              <a:buFontTx/>
              <a:buNone/>
            </a:pPr>
            <a:r>
              <a:rPr lang="en-US" dirty="0"/>
              <a:t>For the easier, Histogram and Game of Life algorithms, GPT-o3-mini, a </a:t>
            </a:r>
            <a:r>
              <a:rPr lang="en-US" dirty="0" err="1"/>
              <a:t>SotA</a:t>
            </a:r>
            <a:r>
              <a:rPr lang="en-US" dirty="0"/>
              <a:t> LLM model at that time, generated progressively better code,</a:t>
            </a:r>
            <a:br>
              <a:rPr lang="en-US" dirty="0"/>
            </a:br>
            <a:r>
              <a:rPr lang="en-US" dirty="0"/>
              <a:t>but for the k-Nearest Neighbors search, it managed to implement only the naïve implementation,</a:t>
            </a:r>
            <a:br>
              <a:rPr lang="en-US" dirty="0"/>
            </a:br>
            <a:r>
              <a:rPr lang="en-US" dirty="0"/>
              <a:t>mostly failing due to making mistakes in inter-thread communication and synchronization semantics.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performance measurements of the generated code for the Histogram and Game of Life algorithms.</a:t>
            </a:r>
          </a:p>
          <a:p>
            <a:endParaRPr lang="en-US" dirty="0"/>
          </a:p>
          <a:p>
            <a:r>
              <a:rPr lang="en-US" dirty="0"/>
              <a:t>Both show wall clock times of the runtime on a representative dataset (on the y-axis), lower is better;</a:t>
            </a:r>
          </a:p>
          <a:p>
            <a:r>
              <a:rPr lang="en-US" dirty="0"/>
              <a:t>And the x-axis of both shows the incrementally more specific prompts.</a:t>
            </a:r>
          </a:p>
          <a:p>
            <a:endParaRPr lang="en-US" dirty="0"/>
          </a:p>
          <a:p>
            <a:r>
              <a:rPr lang="en-US" dirty="0"/>
              <a:t>The horizontal lines show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the LLM state of the art had already shifted;</a:t>
            </a:r>
          </a:p>
          <a:p>
            <a:r>
              <a:rPr lang="en-US" dirty="0"/>
              <a:t>The then-current GPT-5 provided expert-level performance on the Game of Life algorithm for all prompts except the naïve one,</a:t>
            </a:r>
          </a:p>
          <a:p>
            <a:r>
              <a:rPr lang="en-US" dirty="0"/>
              <a:t>And it successfully benefitted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combining the two branches)</a:t>
            </a:r>
          </a:p>
          <a:p>
            <a:endParaRPr lang="en-US" dirty="0"/>
          </a:p>
          <a:p>
            <a:r>
              <a:rPr lang="en-US" dirty="0"/>
              <a:t>Then, we have studied whether the earlier studied abstractions enabling layout- and traversal-agnostic design significantly improve the correctness and efficiency of the generated parallel code during optimization tasks.</a:t>
            </a:r>
          </a:p>
          <a:p>
            <a:endParaRPr lang="en-US" dirty="0"/>
          </a:p>
          <a:p>
            <a:r>
              <a:rPr lang="en-US" dirty="0"/>
              <a:t>For that, we have compared 3 abstractions (Halide, Exo and </a:t>
            </a:r>
            <a:r>
              <a:rPr lang="en-US" dirty="0" err="1"/>
              <a:t>Noarr</a:t>
            </a:r>
            <a:r>
              <a:rPr lang="en-US" dirty="0"/>
              <a:t>) with different designs and principles as well as outputting pure C on the 30 algorithms from the </a:t>
            </a:r>
            <a:r>
              <a:rPr lang="en-US" dirty="0" err="1"/>
              <a:t>PolyBench</a:t>
            </a:r>
            <a:r>
              <a:rPr lang="en-US" dirty="0"/>
              <a:t>/C benchmark suite.</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243619010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we have used a multithreaded datacenter-grade computer, and to avoid many mistakes,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 improving the overall correctness rate.</a:t>
            </a:r>
          </a:p>
          <a:p>
            <a:pPr marL="0" indent="0">
              <a:buFontTx/>
              <a:buNone/>
            </a:pPr>
            <a:endParaRPr lang="en-US" dirty="0"/>
          </a:p>
          <a:p>
            <a:pPr marL="0" indent="0">
              <a:buFontTx/>
              <a:buNone/>
            </a:pPr>
            <a:r>
              <a:rPr lang="en-US" dirty="0"/>
              <a:t>In both generation steps, the prompts were accompanied by official developer guides and custom abstraction-specific hints for the given abstractions</a:t>
            </a:r>
            <a:br>
              <a:rPr lang="en-US" dirty="0"/>
            </a:br>
            <a:r>
              <a:rPr lang="en-US" dirty="0"/>
              <a:t>to give the LLM a good understanding how to use them, and the translation tasks were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endParaRPr lang="en-US" dirty="0"/>
          </a:p>
          <a:p>
            <a:pPr marL="0" indent="0">
              <a:buFontTx/>
              <a:buNone/>
            </a:pPr>
            <a:r>
              <a:rPr lang="en-US" dirty="0"/>
              <a:t>With the 30 </a:t>
            </a:r>
            <a:r>
              <a:rPr lang="en-US" dirty="0" err="1"/>
              <a:t>polybench</a:t>
            </a:r>
            <a:r>
              <a:rPr lang="en-US" dirty="0"/>
              <a:t> algorithms, 4 different abstraction choices, and 4 prompting strategies, this gives almost 500 optimization experiments.</a:t>
            </a:r>
          </a:p>
        </p:txBody>
      </p:sp>
      <p:sp>
        <p:nvSpPr>
          <p:cNvPr id="4" name="Slide Number Placeholder 3"/>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Together with increasing number of optimization attempts from 1to5 to account for LLM generation stochasticity,</a:t>
            </a:r>
            <a:br>
              <a:rPr lang="en-US" dirty="0"/>
            </a:br>
            <a:br>
              <a:rPr lang="en-US" dirty="0"/>
            </a:br>
            <a:r>
              <a:rPr lang="en-US" dirty="0"/>
              <a:t>we observed that contemporary abstractions do not improve the performance nor the correctness of the generated code,</a:t>
            </a:r>
            <a:br>
              <a:rPr lang="en-US" dirty="0"/>
            </a:br>
            <a:r>
              <a:rPr lang="en-US" dirty="0"/>
              <a:t>as generating C code yielded both the best performance and correctness overall.</a:t>
            </a:r>
          </a:p>
          <a:p>
            <a:endParaRPr lang="en-US" dirty="0"/>
          </a:p>
          <a:p>
            <a:r>
              <a:rPr lang="en-US" dirty="0"/>
              <a:t>We didn’t study just the specificity of the hints, but also their </a:t>
            </a:r>
            <a:r>
              <a:rPr lang="en-US" dirty="0" err="1"/>
              <a:t>aggresiveness</a:t>
            </a:r>
            <a:r>
              <a:rPr lang="en-US" dirty="0"/>
              <a:t> (more assertive hints yielding slightly better performance),</a:t>
            </a:r>
          </a:p>
          <a:p>
            <a:r>
              <a:rPr lang="en-US" dirty="0"/>
              <a:t>and an alternative approach that separated the optimization task into two steps, which didn’t improve correctness and significantly limited the performance.</a:t>
            </a:r>
          </a:p>
          <a:p>
            <a:endParaRPr lang="en-US" dirty="0"/>
          </a:p>
          <a:p>
            <a:r>
              <a:rPr lang="en-US" dirty="0"/>
              <a:t>The conclusion of this work is that correct prompting strategy yields better results than using the abstractions for user-directed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the contemporary abstractions do not help.</a:t>
            </a:r>
          </a:p>
          <a:p>
            <a:endParaRPr lang="en-US" dirty="0"/>
          </a:p>
          <a:p>
            <a:r>
              <a:rPr lang="en-US" dirty="0"/>
              <a:t>Future research may re-evaluate our approach to agentic LLMs that can automatically gather feedback</a:t>
            </a:r>
            <a:br>
              <a:rPr lang="en-US" dirty="0"/>
            </a:br>
            <a:r>
              <a:rPr lang="en-US" dirty="0"/>
              <a:t>(from compiling and running the generated implementations) and they can collect the necessary context,</a:t>
            </a:r>
          </a:p>
          <a:p>
            <a:r>
              <a:rPr lang="en-US" dirty="0"/>
              <a:t>So they can, </a:t>
            </a:r>
            <a:r>
              <a:rPr lang="en-US"/>
              <a:t>for example, </a:t>
            </a:r>
            <a:r>
              <a:rPr lang="en-US" dirty="0"/>
              <a:t>look up how to use specific abstractions or what algorithm designs to use.</a:t>
            </a:r>
          </a:p>
        </p:txBody>
      </p:sp>
      <p:sp>
        <p:nvSpPr>
          <p:cNvPr id="4" name="Slide Number Placeholder 3"/>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29110468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t>8/29/2026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8/29/2026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8/29/2026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8/29/2026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8/29/2026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8/29/2026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8/29/2026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8/29/2026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8/29/2026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8/29/2026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8/29/2026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DEB8912-975C-4DE8-9A59-8B9C133AEEC5}" type="datetime1">
              <a:rPr lang="en-US" smtClean="0"/>
              <a:t>8/29/2026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svg"/><Relationship Id="rId7" Type="http://schemas.openxmlformats.org/officeDocument/2006/relationships/image" Target="../media/image21.sv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 Id="rId9" Type="http://schemas.openxmlformats.org/officeDocument/2006/relationships/image" Target="../media/image23.png"/></Relationships>
</file>

<file path=ppt/slides/_rels/slide13.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6.xml"/><Relationship Id="rId5" Type="http://schemas.openxmlformats.org/officeDocument/2006/relationships/image" Target="../media/image32.png"/><Relationship Id="rId4" Type="http://schemas.openxmlformats.org/officeDocument/2006/relationships/image" Target="../media/image31.gif"/></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2.xml"/><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2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36.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44.svg"/><Relationship Id="rId3" Type="http://schemas.openxmlformats.org/officeDocument/2006/relationships/image" Target="../media/image39.svg"/><Relationship Id="rId7" Type="http://schemas.openxmlformats.org/officeDocument/2006/relationships/image" Target="../media/image43.svg"/><Relationship Id="rId2" Type="http://schemas.openxmlformats.org/officeDocument/2006/relationships/notesSlide" Target="../notesSlides/notesSlide28.xml"/><Relationship Id="rId1" Type="http://schemas.openxmlformats.org/officeDocument/2006/relationships/slideLayout" Target="../slideLayouts/slideLayout6.xml"/><Relationship Id="rId6" Type="http://schemas.openxmlformats.org/officeDocument/2006/relationships/image" Target="../media/image42.svg"/><Relationship Id="rId5" Type="http://schemas.openxmlformats.org/officeDocument/2006/relationships/image" Target="../media/image41.svg"/><Relationship Id="rId10" Type="http://schemas.openxmlformats.org/officeDocument/2006/relationships/image" Target="../media/image46.svg"/><Relationship Id="rId4" Type="http://schemas.openxmlformats.org/officeDocument/2006/relationships/image" Target="../media/image40.svg"/><Relationship Id="rId9" Type="http://schemas.openxmlformats.org/officeDocument/2006/relationships/image" Target="../media/image45.svg"/></Relationships>
</file>

<file path=ppt/slides/_rels/slide29.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8/29/2026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32B0F3-07AF-DDF2-75A9-BE53A93E33B4}"/>
              </a:ext>
            </a:extLst>
          </p:cNvPr>
          <p:cNvSpPr>
            <a:spLocks noGrp="1"/>
          </p:cNvSpPr>
          <p:nvPr>
            <p:ph type="title"/>
          </p:nvPr>
        </p:nvSpPr>
        <p:spPr/>
        <p:txBody>
          <a:bodyPr/>
          <a:lstStyle/>
          <a:p>
            <a:r>
              <a:rPr lang="en-US" noProof="0" dirty="0"/>
              <a:t>Motivation for memory layouts</a:t>
            </a:r>
          </a:p>
        </p:txBody>
      </p:sp>
      <p:sp>
        <p:nvSpPr>
          <p:cNvPr id="3" name="Content Placeholder 2">
            <a:extLst>
              <a:ext uri="{FF2B5EF4-FFF2-40B4-BE49-F238E27FC236}">
                <a16:creationId xmlns:a16="http://schemas.microsoft.com/office/drawing/2014/main" id="{9CCFAC94-5637-4468-27F3-D65EF4095823}"/>
              </a:ext>
            </a:extLst>
          </p:cNvPr>
          <p:cNvSpPr>
            <a:spLocks noGrp="1"/>
          </p:cNvSpPr>
          <p:nvPr>
            <p:ph idx="1"/>
          </p:nvPr>
        </p:nvSpPr>
        <p:spPr/>
        <p:txBody>
          <a:bodyPr/>
          <a:lstStyle/>
          <a:p>
            <a:r>
              <a:rPr lang="en-US" noProof="0" dirty="0"/>
              <a:t>Development of algorithms for scientific computing</a:t>
            </a:r>
          </a:p>
          <a:p>
            <a:pPr lvl="1"/>
            <a:r>
              <a:rPr lang="en-US" noProof="0" dirty="0"/>
              <a:t>Multidimensional data structures</a:t>
            </a:r>
          </a:p>
          <a:p>
            <a:pPr lvl="1"/>
            <a:r>
              <a:rPr lang="en-US" noProof="0" dirty="0"/>
              <a:t>Regular loops</a:t>
            </a:r>
          </a:p>
          <a:p>
            <a:r>
              <a:rPr lang="en-US" noProof="0" dirty="0"/>
              <a:t>Complexity rises with every design decision</a:t>
            </a:r>
          </a:p>
          <a:p>
            <a:pPr lvl="1"/>
            <a:r>
              <a:rPr lang="en-US" noProof="0" dirty="0"/>
              <a:t>How to store the data</a:t>
            </a:r>
          </a:p>
          <a:p>
            <a:pPr lvl="1"/>
            <a:r>
              <a:rPr lang="en-US" noProof="0" dirty="0"/>
              <a:t>In what order do the computations</a:t>
            </a:r>
          </a:p>
          <a:p>
            <a:endParaRPr lang="en-US" noProof="0" dirty="0"/>
          </a:p>
          <a:p>
            <a:r>
              <a:rPr lang="en-US" noProof="0" dirty="0"/>
              <a:t>Performance very difficult to predict</a:t>
            </a:r>
          </a:p>
          <a:p>
            <a:endParaRPr lang="en-US" noProof="0" dirty="0"/>
          </a:p>
        </p:txBody>
      </p:sp>
      <p:sp>
        <p:nvSpPr>
          <p:cNvPr id="4" name="Date Placeholder 3">
            <a:extLst>
              <a:ext uri="{FF2B5EF4-FFF2-40B4-BE49-F238E27FC236}">
                <a16:creationId xmlns:a16="http://schemas.microsoft.com/office/drawing/2014/main" id="{C879A157-F47D-07F8-BBBF-9D9647E138A7}"/>
              </a:ext>
            </a:extLst>
          </p:cNvPr>
          <p:cNvSpPr>
            <a:spLocks noGrp="1"/>
          </p:cNvSpPr>
          <p:nvPr>
            <p:ph type="dt" sz="half" idx="10"/>
          </p:nvPr>
        </p:nvSpPr>
        <p:spPr/>
        <p:txBody>
          <a:bodyPr/>
          <a:lstStyle/>
          <a:p>
            <a:fld id="{0DAFEF2F-EB87-44F5-8698-5E050EDDA902}" type="datetime1">
              <a:rPr lang="en-US" noProof="0" smtClean="0"/>
              <a:t>8/29/2026</a:t>
            </a:fld>
            <a:endParaRPr lang="en-US" noProof="0" dirty="0"/>
          </a:p>
        </p:txBody>
      </p:sp>
      <p:sp>
        <p:nvSpPr>
          <p:cNvPr id="5" name="Slide Number Placeholder 4">
            <a:extLst>
              <a:ext uri="{FF2B5EF4-FFF2-40B4-BE49-F238E27FC236}">
                <a16:creationId xmlns:a16="http://schemas.microsoft.com/office/drawing/2014/main" id="{1674A618-B628-9F85-14EF-1E83AA91CA35}"/>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spTree>
    <p:extLst>
      <p:ext uri="{BB962C8B-B14F-4D97-AF65-F5344CB8AC3E}">
        <p14:creationId xmlns:p14="http://schemas.microsoft.com/office/powerpoint/2010/main" val="387481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initialization algorithm</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085645" y="2140197"/>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7356655" y="2140197"/>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1932986" y="1712546"/>
                <a:ext cx="8184164" cy="461665"/>
              </a:xfrm>
              <a:prstGeom prst="rect">
                <a:avLst/>
              </a:prstGeom>
              <a:noFill/>
            </p:spPr>
            <p:txBody>
              <a:bodyPr wrap="none" rtlCol="0">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 row-major and column-major </a:t>
                </a:r>
                <a:r>
                  <a:rPr lang="en-US" sz="2400" i="1" noProof="0" dirty="0"/>
                  <a:t>memory layout</a:t>
                </a:r>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1932986" y="1712546"/>
                <a:ext cx="8184164" cy="461665"/>
              </a:xfrm>
              <a:prstGeom prst="rect">
                <a:avLst/>
              </a:prstGeom>
              <a:blipFill>
                <a:blip r:embed="rId4"/>
                <a:stretch>
                  <a:fillRect t="-10526" r="-745"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3866724" y="4850394"/>
            <a:ext cx="4458551"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M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N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matrix[</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 </a:t>
            </a:r>
            <a:r>
              <a:rPr lang="en-US" sz="1600" b="0" noProof="0" dirty="0" err="1">
                <a:solidFill>
                  <a:srgbClr val="000000"/>
                </a:solidFill>
                <a:effectLst/>
                <a:latin typeface="Fira Code" panose="020B0809050000020004" pitchFamily="49" charset="0"/>
              </a:rPr>
              <a:t>init</a:t>
            </a:r>
            <a:r>
              <a:rPr lang="en-US" sz="1600" b="0" noProof="0" dirty="0">
                <a:solidFill>
                  <a:srgbClr val="000000"/>
                </a:solidFill>
                <a:effectLst/>
                <a:latin typeface="Fira Code" panose="020B0809050000020004" pitchFamily="49" charset="0"/>
              </a:rPr>
              <a:t>(</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8/29/2026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3234121" y="3895948"/>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259785" y="3895948"/>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3712713" y="4265280"/>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7934542" y="4265280"/>
            <a:ext cx="678392" cy="523220"/>
          </a:xfrm>
          <a:prstGeom prst="rect">
            <a:avLst/>
          </a:prstGeom>
          <a:noFill/>
        </p:spPr>
        <p:txBody>
          <a:bodyPr wrap="none" rtlCol="0">
            <a:spAutoFit/>
          </a:bodyPr>
          <a:lstStyle/>
          <a:p>
            <a:pPr algn="ctr"/>
            <a:r>
              <a:rPr lang="en-US" sz="2800" noProof="0" dirty="0"/>
              <a:t>🐌</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548469" y="3424149"/>
            <a:ext cx="2033456" cy="369332"/>
          </a:xfrm>
          <a:prstGeom prst="rect">
            <a:avLst/>
          </a:prstGeom>
          <a:noFill/>
        </p:spPr>
        <p:txBody>
          <a:bodyPr wrap="square" rtlCol="0">
            <a:spAutoFit/>
          </a:bodyPr>
          <a:lstStyle/>
          <a:p>
            <a:r>
              <a:rPr lang="en-US" noProof="0" dirty="0"/>
              <a:t>Logical structure</a:t>
            </a:r>
          </a:p>
        </p:txBody>
      </p:sp>
      <p:cxnSp>
        <p:nvCxnSpPr>
          <p:cNvPr id="7" name="Straight Arrow Connector 6">
            <a:extLst>
              <a:ext uri="{FF2B5EF4-FFF2-40B4-BE49-F238E27FC236}">
                <a16:creationId xmlns:a16="http://schemas.microsoft.com/office/drawing/2014/main" id="{810D43FC-A3D8-FA7F-57C5-AF9023BC6E13}"/>
              </a:ext>
            </a:extLst>
          </p:cNvPr>
          <p:cNvCxnSpPr>
            <a:cxnSpLocks/>
            <a:stCxn id="23" idx="3"/>
            <a:endCxn id="21" idx="1"/>
          </p:cNvCxnSpPr>
          <p:nvPr/>
        </p:nvCxnSpPr>
        <p:spPr>
          <a:xfrm flipV="1">
            <a:off x="3248565" y="3938324"/>
            <a:ext cx="1665433" cy="4359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903235" y="3317744"/>
            <a:ext cx="2612576" cy="369332"/>
          </a:xfrm>
          <a:prstGeom prst="rect">
            <a:avLst/>
          </a:prstGeom>
          <a:noFill/>
        </p:spPr>
        <p:txBody>
          <a:bodyPr wrap="square" rtlCol="0">
            <a:spAutoFit/>
          </a:bodyPr>
          <a:lstStyle/>
          <a:p>
            <a:r>
              <a:rPr lang="en-US"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3544294" y="5875762"/>
            <a:ext cx="3964926" cy="369332"/>
          </a:xfrm>
          <a:prstGeom prst="rect">
            <a:avLst/>
          </a:prstGeom>
          <a:noFill/>
        </p:spPr>
        <p:txBody>
          <a:bodyPr wrap="square" rtlCol="0">
            <a:spAutoFit/>
          </a:bodyPr>
          <a:lstStyle/>
          <a:p>
            <a:pPr algn="ctr"/>
            <a:r>
              <a:rPr lang="en-US"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3"/>
          <a:stretch>
            <a:fillRect/>
          </a:stretch>
        </p:blipFill>
        <p:spPr>
          <a:xfrm>
            <a:off x="9764286" y="2988147"/>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8/29/2026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3866724" y="1771143"/>
            <a:ext cx="4458551"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M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N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matrix[</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 </a:t>
            </a:r>
            <a:r>
              <a:rPr lang="en-US" sz="1600" b="0" noProof="0" dirty="0" err="1">
                <a:solidFill>
                  <a:srgbClr val="000000"/>
                </a:solidFill>
                <a:effectLst/>
                <a:latin typeface="Fira Code" panose="020B0809050000020004" pitchFamily="49" charset="0"/>
              </a:rPr>
              <a:t>init</a:t>
            </a:r>
            <a:r>
              <a:rPr lang="en-US" sz="1600" b="0" noProof="0" dirty="0">
                <a:solidFill>
                  <a:srgbClr val="000000"/>
                </a:solidFill>
                <a:effectLst/>
                <a:latin typeface="Fira Code" panose="020B0809050000020004" pitchFamily="49" charset="0"/>
              </a:rPr>
              <a:t>(</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p:cNvCxnSpPr>
          <p:nvPr/>
        </p:nvCxnSpPr>
        <p:spPr>
          <a:xfrm flipH="1">
            <a:off x="3405690" y="2689023"/>
            <a:ext cx="2690310" cy="8665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9" name="Graphic 18">
            <a:extLst>
              <a:ext uri="{FF2B5EF4-FFF2-40B4-BE49-F238E27FC236}">
                <a16:creationId xmlns:a16="http://schemas.microsoft.com/office/drawing/2014/main" id="{4A0BFCCB-128B-7591-E963-1618B5BB9736}"/>
              </a:ext>
            </a:extLst>
          </p:cNvPr>
          <p:cNvPicPr>
            <a:picLocks noChangeAspect="1"/>
          </p:cNvPicPr>
          <p:nvPr/>
        </p:nvPicPr>
        <p:blipFill>
          <a:blip>
            <a:extLst>
              <a:ext uri="{96DAC541-7B7A-43D3-8B79-37D633B846F1}">
                <asvg:svgBlip xmlns:asvg="http://schemas.microsoft.com/office/drawing/2016/SVG/main" r:embed="rId4"/>
              </a:ext>
            </a:extLst>
          </a:blip>
          <a:srcRect t="81959"/>
          <a:stretch>
            <a:fillRect/>
          </a:stretch>
        </p:blipFill>
        <p:spPr>
          <a:xfrm>
            <a:off x="4913998" y="5028331"/>
            <a:ext cx="4591050" cy="484601"/>
          </a:xfrm>
          <a:prstGeom prst="rect">
            <a:avLst/>
          </a:prstGeom>
        </p:spPr>
      </p:pic>
      <p:pic>
        <p:nvPicPr>
          <p:cNvPr id="21" name="Graphic 20">
            <a:extLst>
              <a:ext uri="{FF2B5EF4-FFF2-40B4-BE49-F238E27FC236}">
                <a16:creationId xmlns:a16="http://schemas.microsoft.com/office/drawing/2014/main" id="{4A08EC48-FD46-BBE4-EFE8-88F7B225B666}"/>
              </a:ext>
            </a:extLst>
          </p:cNvPr>
          <p:cNvPicPr>
            <a:picLocks noChangeAspect="1"/>
          </p:cNvPicPr>
          <p:nvPr/>
        </p:nvPicPr>
        <p:blipFill>
          <a:blip>
            <a:extLst>
              <a:ext uri="{96DAC541-7B7A-43D3-8B79-37D633B846F1}">
                <asvg:svgBlip xmlns:asvg="http://schemas.microsoft.com/office/drawing/2016/SVG/main" r:embed="rId4"/>
              </a:ext>
            </a:extLst>
          </a:blip>
          <a:srcRect t="53786" b="26396"/>
          <a:stretch>
            <a:fillRect/>
          </a:stretch>
        </p:blipFill>
        <p:spPr>
          <a:xfrm>
            <a:off x="4913998" y="3672168"/>
            <a:ext cx="4591050" cy="532311"/>
          </a:xfrm>
          <a:prstGeom prst="rect">
            <a:avLst/>
          </a:prstGeom>
        </p:spPr>
      </p:pic>
      <p:pic>
        <p:nvPicPr>
          <p:cNvPr id="23" name="Graphic 22">
            <a:extLst>
              <a:ext uri="{FF2B5EF4-FFF2-40B4-BE49-F238E27FC236}">
                <a16:creationId xmlns:a16="http://schemas.microsoft.com/office/drawing/2014/main" id="{E715DACF-F81B-CE55-F91D-759F9C6026D3}"/>
              </a:ext>
            </a:extLst>
          </p:cNvPr>
          <p:cNvPicPr>
            <a:picLocks noChangeAspect="1"/>
          </p:cNvPicPr>
          <p:nvPr/>
        </p:nvPicPr>
        <p:blipFill>
          <a:blip>
            <a:extLst>
              <a:ext uri="{96DAC541-7B7A-43D3-8B79-37D633B846F1}">
                <asvg:svgBlip xmlns:asvg="http://schemas.microsoft.com/office/drawing/2016/SVG/main" r:embed="rId4"/>
              </a:ext>
            </a:extLst>
          </a:blip>
          <a:srcRect r="65778" b="56757"/>
          <a:stretch>
            <a:fillRect/>
          </a:stretch>
        </p:blipFill>
        <p:spPr>
          <a:xfrm>
            <a:off x="1677392" y="3793481"/>
            <a:ext cx="1571173" cy="1161511"/>
          </a:xfrm>
          <a:prstGeom prst="rect">
            <a:avLst/>
          </a:prstGeom>
        </p:spPr>
      </p:pic>
      <p:cxnSp>
        <p:nvCxnSpPr>
          <p:cNvPr id="27" name="Straight Arrow Connector 26">
            <a:extLst>
              <a:ext uri="{FF2B5EF4-FFF2-40B4-BE49-F238E27FC236}">
                <a16:creationId xmlns:a16="http://schemas.microsoft.com/office/drawing/2014/main" id="{EDD1A278-7C00-DF7C-219E-946088D75D0E}"/>
              </a:ext>
            </a:extLst>
          </p:cNvPr>
          <p:cNvCxnSpPr>
            <a:cxnSpLocks/>
            <a:stCxn id="23" idx="3"/>
          </p:cNvCxnSpPr>
          <p:nvPr/>
        </p:nvCxnSpPr>
        <p:spPr>
          <a:xfrm>
            <a:off x="3248565" y="4374237"/>
            <a:ext cx="1665433" cy="9359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3"/>
          <a:stretch>
            <a:fillRect/>
          </a:stretch>
        </p:blipFill>
        <p:spPr>
          <a:xfrm rot="16200000" flipH="1">
            <a:off x="9760419" y="4980859"/>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429282" y="1720714"/>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DACE273B-1B57-639E-B0C9-72426A3D7B4A}"/>
                  </a:ext>
                </a:extLst>
              </p:cNvPr>
              <p:cNvSpPr txBox="1"/>
              <p:nvPr/>
            </p:nvSpPr>
            <p:spPr>
              <a:xfrm>
                <a:off x="3637237" y="3704951"/>
                <a:ext cx="1017523" cy="369332"/>
              </a:xfrm>
              <a:prstGeom prst="rect">
                <a:avLst/>
              </a:prstGeom>
              <a:noFill/>
            </p:spPr>
            <p:txBody>
              <a:bodyPr wrap="none" rtlCol="0">
                <a:spAutoFit/>
              </a:bodyPr>
              <a:lstStyle/>
              <a:p>
                <a14:m>
                  <m:oMathPara xmlns:m="http://schemas.openxmlformats.org/officeDocument/2006/math">
                    <m:oMath>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𝑗</m:t>
                      </m:r>
                    </m:oMath>
                  </m:oMathPara>
                </a14:m>
                <a:endParaRPr lang="en-US" dirty="0"/>
              </a:p>
            </p:txBody>
          </p:sp>
        </mc:Choice>
        <mc:Fallback>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637237" y="3704951"/>
                <a:ext cx="1017523" cy="369332"/>
              </a:xfrm>
              <a:prstGeom prst="rect">
                <a:avLst/>
              </a:prstGeom>
              <a:blipFill>
                <a:blip r:embed="rId5"/>
                <a:stretch>
                  <a:fillRect b="-13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26F09D1C-16BB-AE1B-D40F-E19B4A196D17}"/>
                  </a:ext>
                </a:extLst>
              </p:cNvPr>
              <p:cNvSpPr txBox="1"/>
              <p:nvPr/>
            </p:nvSpPr>
            <p:spPr>
              <a:xfrm>
                <a:off x="3403582" y="4915789"/>
                <a:ext cx="1046377"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𝑖</m:t>
                      </m:r>
                    </m:oMath>
                  </m:oMathPara>
                </a14:m>
                <a:endParaRPr lang="en-US" dirty="0"/>
              </a:p>
            </p:txBody>
          </p:sp>
        </mc:Choice>
        <mc:Fallback>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403582" y="4915789"/>
                <a:ext cx="1046377" cy="369332"/>
              </a:xfrm>
              <a:prstGeom prst="rect">
                <a:avLst/>
              </a:prstGeom>
              <a:blipFill>
                <a:blip r:embed="rId6"/>
                <a:stretch>
                  <a:fillRect b="-13115"/>
                </a:stretch>
              </a:blipFill>
            </p:spPr>
            <p:txBody>
              <a:bodyPr/>
              <a:lstStyle/>
              <a:p>
                <a:r>
                  <a:rPr lang="en-US">
                    <a:noFill/>
                  </a:rPr>
                  <a:t> </a:t>
                </a:r>
              </a:p>
            </p:txBody>
          </p:sp>
        </mc:Fallback>
      </mc:AlternateContent>
    </p:spTree>
    <p:extLst>
      <p:ext uri="{BB962C8B-B14F-4D97-AF65-F5344CB8AC3E}">
        <p14:creationId xmlns:p14="http://schemas.microsoft.com/office/powerpoint/2010/main" val="3969746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5ADDBBC2-AFD6-00E5-EC92-B2FBB581AE19}"/>
              </a:ext>
            </a:extLst>
          </p:cNvPr>
          <p:cNvSpPr/>
          <p:nvPr/>
        </p:nvSpPr>
        <p:spPr>
          <a:xfrm>
            <a:off x="6707810" y="3744755"/>
            <a:ext cx="616915"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46810C5D-DD0E-9895-8B05-9203DE3C52FC}"/>
              </a:ext>
            </a:extLst>
          </p:cNvPr>
          <p:cNvSpPr/>
          <p:nvPr/>
        </p:nvSpPr>
        <p:spPr>
          <a:xfrm>
            <a:off x="6707810" y="4245705"/>
            <a:ext cx="616915"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993DAE6-53AF-8D78-063C-7D841E5B5C15}"/>
              </a:ext>
            </a:extLst>
          </p:cNvPr>
          <p:cNvSpPr/>
          <p:nvPr/>
        </p:nvSpPr>
        <p:spPr>
          <a:xfrm>
            <a:off x="10133635" y="3596200"/>
            <a:ext cx="1096340"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810BA74-1063-85B3-2324-103E8E900E55}"/>
              </a:ext>
            </a:extLst>
          </p:cNvPr>
          <p:cNvSpPr/>
          <p:nvPr/>
        </p:nvSpPr>
        <p:spPr>
          <a:xfrm>
            <a:off x="6704635" y="3270983"/>
            <a:ext cx="874244"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785840" y="3531626"/>
            <a:ext cx="3537000" cy="338554"/>
          </a:xfrm>
          <a:prstGeom prst="rect">
            <a:avLst/>
          </a:prstGeom>
          <a:noFill/>
        </p:spPr>
        <p:txBody>
          <a:bodyPr wrap="square">
            <a:spAutoFit/>
          </a:bodyPr>
          <a:lstStyle/>
          <a:p>
            <a:r>
              <a:rPr lang="en-US" sz="1600" noProof="0" dirty="0">
                <a:solidFill>
                  <a:srgbClr val="001080"/>
                </a:solidFill>
                <a:latin typeface="Fira Code" panose="020B0809050000020004" pitchFamily="49" charset="0"/>
              </a:rPr>
              <a:t>matrix</a:t>
            </a:r>
            <a:r>
              <a:rPr lang="en-US" sz="1600" noProof="0" dirty="0">
                <a:solidFill>
                  <a:srgbClr val="000000"/>
                </a:solidFill>
                <a:latin typeface="Fira Code" panose="020B0809050000020004" pitchFamily="49" charset="0"/>
              </a:rPr>
              <a:t>[</a:t>
            </a:r>
            <a:r>
              <a:rPr lang="en-US" sz="1600" noProof="0" dirty="0" err="1">
                <a:solidFill>
                  <a:srgbClr val="0070C1"/>
                </a:solidFill>
                <a:latin typeface="Fira Code" panose="020B0809050000020004" pitchFamily="49" charset="0"/>
              </a:rPr>
              <a:t>idx</a:t>
            </a:r>
            <a:r>
              <a:rPr lang="en-US" sz="400" noProof="0" dirty="0">
                <a:solidFill>
                  <a:srgbClr val="0070C1"/>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noProof="0" dirty="0">
                <a:solidFill>
                  <a:srgbClr val="0070C1"/>
                </a:solidFill>
                <a:latin typeface="Fira Code" panose="020B0809050000020004" pitchFamily="49" charset="0"/>
              </a:rPr>
              <a:t>4</a:t>
            </a:r>
            <a:r>
              <a:rPr lang="en-US" sz="1600" noProof="0" dirty="0">
                <a:solidFill>
                  <a:srgbClr val="000000"/>
                </a:solidFill>
                <a:latin typeface="Fira Code" panose="020B0809050000020004" pitchFamily="49" charset="0"/>
              </a:rPr>
              <a:t>, </a:t>
            </a:r>
            <a:r>
              <a:rPr lang="en-US" sz="1600" noProof="0" dirty="0">
                <a:solidFill>
                  <a:srgbClr val="0070C1"/>
                </a:solidFill>
                <a:latin typeface="Fira Code" panose="020B0809050000020004" pitchFamily="49" charset="0"/>
              </a:rPr>
              <a:t>2</a:t>
            </a:r>
            <a:r>
              <a:rPr lang="en-US" sz="1600" noProof="0" dirty="0">
                <a:solidFill>
                  <a:srgbClr val="000000"/>
                </a:solidFill>
                <a:latin typeface="Fira Code" panose="020B0809050000020004" pitchFamily="49" charset="0"/>
              </a:rPr>
              <a:t>)]</a:t>
            </a:r>
            <a:endParaRPr lang="en-US" sz="20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8079856" y="3700903"/>
            <a:ext cx="70598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4AB64E0-7A98-B19A-964F-1077043B0728}"/>
              </a:ext>
            </a:extLst>
          </p:cNvPr>
          <p:cNvSpPr txBox="1"/>
          <p:nvPr/>
        </p:nvSpPr>
        <p:spPr>
          <a:xfrm>
            <a:off x="7983846" y="3385418"/>
            <a:ext cx="898003" cy="369332"/>
          </a:xfrm>
          <a:prstGeom prst="rect">
            <a:avLst/>
          </a:prstGeom>
          <a:noFill/>
        </p:spPr>
        <p:txBody>
          <a:bodyPr wrap="none" rtlCol="0">
            <a:spAutoFit/>
          </a:bodyPr>
          <a:lstStyle/>
          <a:p>
            <a:r>
              <a:rPr lang="en-US" noProof="0" dirty="0"/>
              <a:t>access</a:t>
            </a:r>
          </a:p>
        </p:txBody>
      </p:sp>
      <p:sp>
        <p:nvSpPr>
          <p:cNvPr id="6" name="TextBox 5">
            <a:extLst>
              <a:ext uri="{FF2B5EF4-FFF2-40B4-BE49-F238E27FC236}">
                <a16:creationId xmlns:a16="http://schemas.microsoft.com/office/drawing/2014/main" id="{A28F9A7A-4E68-17F0-FD80-992DB87E748C}"/>
              </a:ext>
            </a:extLst>
          </p:cNvPr>
          <p:cNvSpPr txBox="1"/>
          <p:nvPr/>
        </p:nvSpPr>
        <p:spPr>
          <a:xfrm>
            <a:off x="4146506" y="3030894"/>
            <a:ext cx="4300406" cy="1506951"/>
          </a:xfrm>
          <a:prstGeom prst="rect">
            <a:avLst/>
          </a:prstGeom>
          <a:noFill/>
        </p:spPr>
        <p:txBody>
          <a:bodyPr wrap="square">
            <a:spAutoFit/>
          </a:bodyPr>
          <a:lstStyle/>
          <a:p>
            <a:pPr>
              <a:lnSpc>
                <a:spcPct val="200000"/>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400" b="0" noProof="0" dirty="0">
                <a:solidFill>
                  <a:srgbClr val="267F99"/>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a:t>
            </a:r>
          </a:p>
        </p:txBody>
      </p:sp>
      <p:sp>
        <p:nvSpPr>
          <p:cNvPr id="8" name="Rectangle 7">
            <a:extLst>
              <a:ext uri="{FF2B5EF4-FFF2-40B4-BE49-F238E27FC236}">
                <a16:creationId xmlns:a16="http://schemas.microsoft.com/office/drawing/2014/main" id="{FA23D42A-BB3F-3EFA-4CCB-5A700F8F468C}"/>
              </a:ext>
            </a:extLst>
          </p:cNvPr>
          <p:cNvSpPr/>
          <p:nvPr/>
        </p:nvSpPr>
        <p:spPr>
          <a:xfrm>
            <a:off x="5925244" y="3140003"/>
            <a:ext cx="1941388"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Rectangle 9">
            <a:extLst>
              <a:ext uri="{FF2B5EF4-FFF2-40B4-BE49-F238E27FC236}">
                <a16:creationId xmlns:a16="http://schemas.microsoft.com/office/drawing/2014/main" id="{99D5C1C8-80D9-8C99-35CE-890BA17FBF13}"/>
              </a:ext>
            </a:extLst>
          </p:cNvPr>
          <p:cNvSpPr/>
          <p:nvPr/>
        </p:nvSpPr>
        <p:spPr>
          <a:xfrm>
            <a:off x="5925244" y="3631744"/>
            <a:ext cx="1815684"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Rectangle 11">
            <a:extLst>
              <a:ext uri="{FF2B5EF4-FFF2-40B4-BE49-F238E27FC236}">
                <a16:creationId xmlns:a16="http://schemas.microsoft.com/office/drawing/2014/main" id="{BC8AC22D-D974-2FFF-B64D-6B0E1C0C6D26}"/>
              </a:ext>
            </a:extLst>
          </p:cNvPr>
          <p:cNvSpPr/>
          <p:nvPr/>
        </p:nvSpPr>
        <p:spPr>
          <a:xfrm>
            <a:off x="5925244" y="4111106"/>
            <a:ext cx="1815684"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Right Brace 17">
            <a:extLst>
              <a:ext uri="{FF2B5EF4-FFF2-40B4-BE49-F238E27FC236}">
                <a16:creationId xmlns:a16="http://schemas.microsoft.com/office/drawing/2014/main" id="{D66E5204-4017-2EAF-4A60-5194514D442A}"/>
              </a:ext>
            </a:extLst>
          </p:cNvPr>
          <p:cNvSpPr/>
          <p:nvPr/>
        </p:nvSpPr>
        <p:spPr>
          <a:xfrm rot="16200000">
            <a:off x="6946970" y="2629816"/>
            <a:ext cx="275785" cy="92136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4756218" y="2637256"/>
            <a:ext cx="5225982" cy="369332"/>
          </a:xfrm>
          <a:prstGeom prst="rect">
            <a:avLst/>
          </a:prstGeom>
          <a:noFill/>
        </p:spPr>
        <p:txBody>
          <a:bodyPr wrap="none" rtlCol="0">
            <a:spAutoFit/>
          </a:bodyPr>
          <a:lstStyle/>
          <a:p>
            <a:r>
              <a:rPr lang="en-US"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588538" y="5417454"/>
            <a:ext cx="3962969" cy="395108"/>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t>
            </a:r>
            <a:r>
              <a:rPr lang="en-US" b="0" noProof="0" dirty="0">
                <a:solidFill>
                  <a:srgbClr val="795E26"/>
                </a:solidFill>
                <a:effectLst/>
                <a:latin typeface="Fira Code" panose="020B0809050000020004" pitchFamily="49" charset="0"/>
              </a:rPr>
              <a:t>bag</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layout</a:t>
            </a:r>
            <a:r>
              <a:rPr lang="en-US"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5476824" y="5451116"/>
            <a:ext cx="5603818" cy="361446"/>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matrix_view</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myBuffer</a:t>
            </a:r>
            <a:r>
              <a:rPr lang="en-US" sz="16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8/29/2026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grpSp>
        <p:nvGrpSpPr>
          <p:cNvPr id="5" name="Group 4">
            <a:extLst>
              <a:ext uri="{FF2B5EF4-FFF2-40B4-BE49-F238E27FC236}">
                <a16:creationId xmlns:a16="http://schemas.microsoft.com/office/drawing/2014/main" id="{EB04C328-850E-09BF-6793-2E064014E5D0}"/>
              </a:ext>
            </a:extLst>
          </p:cNvPr>
          <p:cNvGrpSpPr/>
          <p:nvPr/>
        </p:nvGrpSpPr>
        <p:grpSpPr>
          <a:xfrm>
            <a:off x="1284138" y="2628689"/>
            <a:ext cx="1590800" cy="1764556"/>
            <a:chOff x="735535" y="1909480"/>
            <a:chExt cx="1590800" cy="1764556"/>
          </a:xfrm>
        </p:grpSpPr>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9" name="TextBox 25">
              <a:extLst>
                <a:ext uri="{FF2B5EF4-FFF2-40B4-BE49-F238E27FC236}">
                  <a16:creationId xmlns:a16="http://schemas.microsoft.com/office/drawing/2014/main" id="{D6DCBE23-31F2-9BBA-A3EB-A89F392B59A1}"/>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E5DE4EB8-FEDA-8B4F-4B5A-7D7108614CC2}"/>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cxnSp>
        <p:nvCxnSpPr>
          <p:cNvPr id="15" name="Straight Arrow Connector 14">
            <a:extLst>
              <a:ext uri="{FF2B5EF4-FFF2-40B4-BE49-F238E27FC236}">
                <a16:creationId xmlns:a16="http://schemas.microsoft.com/office/drawing/2014/main" id="{1BF3510A-7AA6-1D61-17F1-1FC3E8CDC948}"/>
              </a:ext>
            </a:extLst>
          </p:cNvPr>
          <p:cNvCxnSpPr>
            <a:cxnSpLocks/>
            <a:stCxn id="7" idx="3"/>
          </p:cNvCxnSpPr>
          <p:nvPr/>
        </p:nvCxnSpPr>
        <p:spPr>
          <a:xfrm flipV="1">
            <a:off x="2874938" y="3428927"/>
            <a:ext cx="1312546" cy="3436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E49BE013-F209-8403-8D5B-F71D68CF5E02}"/>
              </a:ext>
            </a:extLst>
          </p:cNvPr>
          <p:cNvSpPr txBox="1"/>
          <p:nvPr/>
        </p:nvSpPr>
        <p:spPr>
          <a:xfrm>
            <a:off x="7437322" y="4889622"/>
            <a:ext cx="1838587" cy="408623"/>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t>GPU mem. </a:t>
            </a:r>
            <a:r>
              <a:rPr lang="en-US" dirty="0" err="1"/>
              <a:t>alloc</a:t>
            </a:r>
            <a:endParaRPr lang="en-US" dirty="0"/>
          </a:p>
        </p:txBody>
      </p:sp>
      <p:sp>
        <p:nvSpPr>
          <p:cNvPr id="13" name="TextBox 12">
            <a:extLst>
              <a:ext uri="{FF2B5EF4-FFF2-40B4-BE49-F238E27FC236}">
                <a16:creationId xmlns:a16="http://schemas.microsoft.com/office/drawing/2014/main" id="{E43C382B-2568-3BB2-FF89-3DD00349CEA9}"/>
              </a:ext>
            </a:extLst>
          </p:cNvPr>
          <p:cNvSpPr txBox="1"/>
          <p:nvPr/>
        </p:nvSpPr>
        <p:spPr>
          <a:xfrm>
            <a:off x="9584196" y="4884070"/>
            <a:ext cx="1392518" cy="408623"/>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285001" y="4884070"/>
            <a:ext cx="381836" cy="369332"/>
          </a:xfrm>
          <a:prstGeom prst="rect">
            <a:avLst/>
          </a:prstGeom>
          <a:noFill/>
        </p:spPr>
        <p:txBody>
          <a:bodyPr wrap="none" rtlCol="0">
            <a:spAutoFit/>
          </a:bodyPr>
          <a:lstStyle/>
          <a:p>
            <a:r>
              <a:rPr lang="en-US"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559201" y="3174866"/>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1293004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404476" y="3301596"/>
            <a:ext cx="6360084"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noProof="0" dirty="0">
                <a:solidFill>
                  <a:srgbClr val="000000"/>
                </a:solidFill>
                <a:latin typeface="Fira Code" panose="020B0809050000020004" pitchFamily="49" charset="0"/>
              </a:rPr>
              <a:t>(</a:t>
            </a:r>
            <a:r>
              <a:rPr lang="en-US" noProof="0" dirty="0">
                <a:solidFill>
                  <a:srgbClr val="001080"/>
                </a:solidFill>
                <a:latin typeface="Fira Code" panose="020B0809050000020004" pitchFamily="49" charset="0"/>
              </a:rPr>
              <a:t>index</a:t>
            </a:r>
            <a:r>
              <a:rPr lang="en-US" noProof="0"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834968" y="5115191"/>
            <a:ext cx="8314174"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other_matrix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other_matrix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1225416" y="2099095"/>
            <a:ext cx="4979939"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AF00DB"/>
                </a:solidFill>
                <a:effectLst/>
                <a:latin typeface="Fira Code" panose="020B0809050000020004" pitchFamily="49" charset="0"/>
              </a:rPr>
              <a:t>for</a:t>
            </a: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in</a:t>
            </a:r>
            <a:r>
              <a:rPr lang="en-US"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0</a:t>
            </a:r>
            <a:r>
              <a:rPr lang="en-US" b="0" noProof="0" dirty="0">
                <a:solidFill>
                  <a:srgbClr val="000000"/>
                </a:solidFill>
                <a:effectLst/>
                <a:latin typeface="Fira Code" panose="020B0809050000020004" pitchFamily="49" charset="0"/>
              </a:rPr>
              <a:t>,... </a:t>
            </a:r>
            <a:r>
              <a:rPr lang="en-US" noProof="0" dirty="0">
                <a:solidFill>
                  <a:srgbClr val="098658"/>
                </a:solidFill>
                <a:latin typeface="Fira Code" panose="020B0809050000020004" pitchFamily="49" charset="0"/>
              </a:rPr>
              <a:t>M</a:t>
            </a:r>
            <a:r>
              <a:rPr lang="en-US" b="0" noProof="0" dirty="0">
                <a:solidFill>
                  <a:srgbClr val="000000"/>
                </a:solidFill>
                <a:effectLst/>
                <a:latin typeface="Fira Code" panose="020B0809050000020004" pitchFamily="49" charset="0"/>
              </a:rPr>
              <a:t> - </a:t>
            </a:r>
            <a:r>
              <a:rPr lang="en-US" b="0" noProof="0" dirty="0">
                <a:solidFill>
                  <a:srgbClr val="098658"/>
                </a:solidFill>
                <a:effectLst/>
                <a:latin typeface="Fira Code" panose="020B0809050000020004" pitchFamily="49" charset="0"/>
              </a:rPr>
              <a:t>1</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for</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in</a:t>
            </a:r>
            <a:r>
              <a:rPr lang="en-US"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0</a:t>
            </a:r>
            <a:r>
              <a:rPr lang="en-US" b="0" noProof="0" dirty="0">
                <a:solidFill>
                  <a:srgbClr val="000000"/>
                </a:solidFill>
                <a:effectLst/>
                <a:latin typeface="Fira Code" panose="020B0809050000020004" pitchFamily="49" charset="0"/>
              </a:rPr>
              <a:t>,... </a:t>
            </a:r>
            <a:r>
              <a:rPr lang="en-US" noProof="0" dirty="0">
                <a:solidFill>
                  <a:srgbClr val="098658"/>
                </a:solidFill>
                <a:latin typeface="Fira Code" panose="020B0809050000020004" pitchFamily="49" charset="0"/>
              </a:rPr>
              <a:t>N</a:t>
            </a:r>
            <a:r>
              <a:rPr lang="en-US" b="0" noProof="0" dirty="0">
                <a:solidFill>
                  <a:srgbClr val="000000"/>
                </a:solidFill>
                <a:effectLst/>
                <a:latin typeface="Fira Code" panose="020B0809050000020004" pitchFamily="49" charset="0"/>
              </a:rPr>
              <a:t> - </a:t>
            </a:r>
            <a:r>
              <a:rPr lang="en-US" b="0" noProof="0" dirty="0">
                <a:solidFill>
                  <a:srgbClr val="098658"/>
                </a:solidFill>
                <a:effectLst/>
                <a:latin typeface="Fira Code" panose="020B0809050000020004" pitchFamily="49" charset="0"/>
              </a:rPr>
              <a:t>1</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001080"/>
                </a:solidFill>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b="0" noProof="0" dirty="0">
                <a:solidFill>
                  <a:srgbClr val="000000"/>
                </a:solidFill>
                <a:effectLst/>
                <a:latin typeface="Fira Code" panose="020B0809050000020004" pitchFamily="49" charset="0"/>
              </a:rPr>
              <a:t>(</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stCxn id="3" idx="3"/>
            <a:endCxn id="12" idx="0"/>
          </p:cNvCxnSpPr>
          <p:nvPr/>
        </p:nvCxnSpPr>
        <p:spPr>
          <a:xfrm>
            <a:off x="6205355" y="2609684"/>
            <a:ext cx="1379163" cy="691912"/>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8/29/2026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2690771" y="1726004"/>
            <a:ext cx="1781258" cy="369332"/>
          </a:xfrm>
          <a:prstGeom prst="rect">
            <a:avLst/>
          </a:prstGeom>
          <a:noFill/>
        </p:spPr>
        <p:txBody>
          <a:bodyPr wrap="none" rtlCol="0">
            <a:spAutoFit/>
          </a:bodyPr>
          <a:lstStyle/>
          <a:p>
            <a:pPr algn="ctr"/>
            <a:r>
              <a:rPr lang="en-US" b="1" noProof="0" dirty="0"/>
              <a:t>Matrix initialize</a:t>
            </a:r>
          </a:p>
        </p:txBody>
      </p:sp>
      <p:sp>
        <p:nvSpPr>
          <p:cNvPr id="15" name="TextBox 14">
            <a:extLst>
              <a:ext uri="{FF2B5EF4-FFF2-40B4-BE49-F238E27FC236}">
                <a16:creationId xmlns:a16="http://schemas.microsoft.com/office/drawing/2014/main" id="{5AC42510-7505-8080-DACA-010297680AE7}"/>
              </a:ext>
            </a:extLst>
          </p:cNvPr>
          <p:cNvSpPr txBox="1"/>
          <p:nvPr/>
        </p:nvSpPr>
        <p:spPr>
          <a:xfrm>
            <a:off x="3161496" y="4745859"/>
            <a:ext cx="5551456" cy="369332"/>
          </a:xfrm>
          <a:prstGeom prst="rect">
            <a:avLst/>
          </a:prstGeom>
          <a:noFill/>
        </p:spPr>
        <p:txBody>
          <a:bodyPr wrap="none" rtlCol="0">
            <a:spAutoFit/>
          </a:bodyPr>
          <a:lstStyle/>
          <a:p>
            <a:pPr algn="ctr"/>
            <a:r>
              <a:rPr lang="en-US" b="1" noProof="0" dirty="0"/>
              <a:t>Copy</a:t>
            </a:r>
            <a:r>
              <a:rPr lang="en-US" noProof="0" dirty="0"/>
              <a:t> to another matrix with the same logical structure</a:t>
            </a:r>
          </a:p>
        </p:txBody>
      </p:sp>
    </p:spTree>
    <p:extLst>
      <p:ext uri="{BB962C8B-B14F-4D97-AF65-F5344CB8AC3E}">
        <p14:creationId xmlns:p14="http://schemas.microsoft.com/office/powerpoint/2010/main" val="19124478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Traversal abstractions</a:t>
            </a:r>
          </a:p>
        </p:txBody>
      </p:sp>
      <p:sp>
        <p:nvSpPr>
          <p:cNvPr id="8" name="TextBox 7">
            <a:extLst>
              <a:ext uri="{FF2B5EF4-FFF2-40B4-BE49-F238E27FC236}">
                <a16:creationId xmlns:a16="http://schemas.microsoft.com/office/drawing/2014/main" id="{9E2F7AA6-5F7F-99DE-465E-A4472E5548CB}"/>
              </a:ext>
            </a:extLst>
          </p:cNvPr>
          <p:cNvSpPr txBox="1"/>
          <p:nvPr/>
        </p:nvSpPr>
        <p:spPr>
          <a:xfrm>
            <a:off x="4274320" y="4746531"/>
            <a:ext cx="6181949" cy="2032031"/>
          </a:xfrm>
          <a:prstGeom prst="rect">
            <a:avLst/>
          </a:prstGeom>
          <a:noFill/>
          <a:ln>
            <a:solidFill>
              <a:schemeClr val="tx1"/>
            </a:solidFill>
          </a:ln>
        </p:spPr>
        <p:txBody>
          <a:bodyPr wrap="square">
            <a:spAutoFit/>
          </a:bodyPr>
          <a:lstStyle/>
          <a:p>
            <a:pPr>
              <a:lnSpc>
                <a:spcPct val="113095"/>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 = </a:t>
            </a:r>
            <a:r>
              <a:rPr lang="en-US" sz="1400" b="0" noProof="0" dirty="0">
                <a:solidFill>
                  <a:srgbClr val="795E26"/>
                </a:solidFill>
                <a:effectLst/>
                <a:latin typeface="Fira Code" panose="020B0809050000020004" pitchFamily="49" charset="0"/>
              </a:rPr>
              <a:t>bag</a:t>
            </a:r>
            <a:r>
              <a:rPr lang="en-US" sz="1400" b="0" noProof="0" dirty="0">
                <a:solidFill>
                  <a:srgbClr val="000000"/>
                </a:solidFill>
                <a:effectLst/>
                <a:latin typeface="Fira Code" panose="020B0809050000020004" pitchFamily="49" charset="0"/>
              </a:rPr>
              <a:t>(</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 </a:t>
            </a:r>
            <a:r>
              <a:rPr lang="en-US" sz="1400" b="0" noProof="0" dirty="0">
                <a:solidFill>
                  <a:srgbClr val="795E26"/>
                </a:solidFill>
                <a:effectLst/>
                <a:latin typeface="Fira Code" panose="020B0809050000020004" pitchFamily="49" charset="0"/>
              </a:rPr>
              <a:t>vectors</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r>
              <a:rPr lang="en-US" sz="1400" noProof="0" dirty="0">
                <a:solidFill>
                  <a:srgbClr val="A31515"/>
                </a:solidFill>
                <a:latin typeface="Fira Code" panose="020B0809050000020004" pitchFamily="49" charset="0"/>
              </a:rPr>
              <a:t>'</a:t>
            </a:r>
            <a:r>
              <a:rPr lang="en-US" sz="1400" b="0" noProof="0" dirty="0">
                <a:solidFill>
                  <a:srgbClr val="A31515"/>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r>
              <a:rPr lang="en-US" sz="1400" b="0" noProof="0" dirty="0">
                <a:solidFill>
                  <a:srgbClr val="0070C1"/>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 = </a:t>
            </a:r>
            <a:r>
              <a:rPr lang="en-US" sz="1400" b="0" noProof="0" dirty="0">
                <a:solidFill>
                  <a:srgbClr val="795E26"/>
                </a:solidFill>
                <a:effectLst/>
                <a:latin typeface="Fira Code" panose="020B0809050000020004" pitchFamily="49" charset="0"/>
              </a:rPr>
              <a:t>bag</a:t>
            </a:r>
            <a:r>
              <a:rPr lang="en-US" sz="1400" b="0" noProof="0" dirty="0">
                <a:solidFill>
                  <a:srgbClr val="000000"/>
                </a:solidFill>
                <a:effectLst/>
                <a:latin typeface="Fira Code" panose="020B0809050000020004" pitchFamily="49" charset="0"/>
              </a:rPr>
              <a:t>(</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 </a:t>
            </a:r>
            <a:r>
              <a:rPr lang="en-US" sz="1400" b="0" noProof="0" dirty="0">
                <a:solidFill>
                  <a:srgbClr val="795E26"/>
                </a:solidFill>
                <a:effectLst/>
                <a:latin typeface="Fira Code" panose="020B0809050000020004" pitchFamily="49" charset="0"/>
              </a:rPr>
              <a:t>vectors</a:t>
            </a:r>
            <a:r>
              <a:rPr lang="en-US" sz="1400" b="0" noProof="0" dirty="0">
                <a:solidFill>
                  <a:srgbClr val="000000"/>
                </a:solidFill>
                <a:effectLst/>
                <a:latin typeface="Fira Code" panose="020B0809050000020004" pitchFamily="49" charset="0"/>
              </a:rPr>
              <a:t>&lt;</a:t>
            </a:r>
            <a:r>
              <a:rPr lang="en-US" sz="1400" noProof="0" dirty="0">
                <a:solidFill>
                  <a:srgbClr val="A31515"/>
                </a:solidFill>
                <a:latin typeface="Fira Code" panose="020B0809050000020004" pitchFamily="49" charset="0"/>
              </a:rPr>
              <a:t>'</a:t>
            </a:r>
            <a:r>
              <a:rPr lang="en-US" sz="1400" b="0" noProof="0" dirty="0">
                <a:solidFill>
                  <a:srgbClr val="A31515"/>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 </a:t>
            </a:r>
            <a:r>
              <a:rPr lang="en-US" sz="1400" b="0" noProof="0" dirty="0">
                <a:solidFill>
                  <a:srgbClr val="A31515"/>
                </a:solidFill>
                <a:effectLst/>
                <a:latin typeface="Fira Code" panose="020B0809050000020004" pitchFamily="49" charset="0"/>
              </a:rPr>
              <a:t>'n</a:t>
            </a:r>
            <a:r>
              <a:rPr lang="en-US" sz="1400" noProof="0" dirty="0">
                <a:solidFill>
                  <a:srgbClr val="A31515"/>
                </a:solidFill>
                <a:latin typeface="Fira Code" panose="020B0809050000020004" pitchFamily="49" charset="0"/>
              </a:rPr>
              <a:t>'</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 </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a:t>
            </a:r>
          </a:p>
          <a:p>
            <a:pPr>
              <a:lnSpc>
                <a:spcPct val="113095"/>
              </a:lnSpc>
            </a:pPr>
            <a:r>
              <a:rPr lang="en-US" sz="1400" noProof="0" dirty="0">
                <a:solidFill>
                  <a:srgbClr val="267F99"/>
                </a:solidFill>
                <a:latin typeface="Fira Code" panose="020B0809050000020004" pitchFamily="49" charset="0"/>
              </a:rPr>
              <a:t>auto</a:t>
            </a:r>
            <a:r>
              <a:rPr lang="en-US" sz="1400" noProof="0" dirty="0">
                <a:solidFill>
                  <a:srgbClr val="000000"/>
                </a:solidFill>
                <a:latin typeface="Fira Code" panose="020B0809050000020004" pitchFamily="49" charset="0"/>
              </a:rPr>
              <a:t> </a:t>
            </a:r>
            <a:r>
              <a:rPr lang="en-US" sz="1400" noProof="0" dirty="0">
                <a:solidFill>
                  <a:srgbClr val="001080"/>
                </a:solidFill>
                <a:latin typeface="Fira Code" panose="020B0809050000020004" pitchFamily="49" charset="0"/>
              </a:rPr>
              <a:t>C</a:t>
            </a:r>
            <a:r>
              <a:rPr lang="en-US" sz="1400" noProof="0" dirty="0">
                <a:solidFill>
                  <a:srgbClr val="000000"/>
                </a:solidFill>
                <a:latin typeface="Fira Code" panose="020B0809050000020004" pitchFamily="49" charset="0"/>
              </a:rPr>
              <a:t> = </a:t>
            </a:r>
            <a:r>
              <a:rPr lang="en-US" sz="1400" noProof="0" dirty="0">
                <a:solidFill>
                  <a:srgbClr val="795E26"/>
                </a:solidFill>
                <a:latin typeface="Fira Code" panose="020B0809050000020004" pitchFamily="49" charset="0"/>
              </a:rPr>
              <a:t>bag</a:t>
            </a:r>
            <a:r>
              <a:rPr lang="en-US" sz="1400" noProof="0" dirty="0">
                <a:solidFill>
                  <a:srgbClr val="000000"/>
                </a:solidFill>
                <a:latin typeface="Fira Code" panose="020B0809050000020004" pitchFamily="49" charset="0"/>
              </a:rPr>
              <a:t>(</a:t>
            </a:r>
            <a:r>
              <a:rPr lang="en-US" sz="1400" noProof="0" dirty="0">
                <a:solidFill>
                  <a:srgbClr val="267F99"/>
                </a:solidFill>
                <a:latin typeface="Fira Code" panose="020B0809050000020004" pitchFamily="49" charset="0"/>
              </a:rPr>
              <a:t>scalar</a:t>
            </a:r>
            <a:r>
              <a:rPr lang="en-US" sz="1400" noProof="0" dirty="0">
                <a:solidFill>
                  <a:srgbClr val="000000"/>
                </a:solidFill>
                <a:latin typeface="Fira Code" panose="020B0809050000020004" pitchFamily="49" charset="0"/>
              </a:rPr>
              <a:t>&lt;</a:t>
            </a:r>
            <a:r>
              <a:rPr lang="en-US" sz="1400" noProof="0" dirty="0">
                <a:solidFill>
                  <a:srgbClr val="0000FF"/>
                </a:solidFill>
                <a:latin typeface="Fira Code" panose="020B0809050000020004" pitchFamily="49" charset="0"/>
              </a:rPr>
              <a:t>float</a:t>
            </a:r>
            <a:r>
              <a:rPr lang="en-US" sz="1400" noProof="0" dirty="0">
                <a:solidFill>
                  <a:srgbClr val="000000"/>
                </a:solidFill>
                <a:latin typeface="Fira Code" panose="020B0809050000020004" pitchFamily="49" charset="0"/>
              </a:rPr>
              <a:t>&gt;() ^ </a:t>
            </a:r>
            <a:r>
              <a:rPr lang="en-US" sz="1400" noProof="0" dirty="0">
                <a:solidFill>
                  <a:srgbClr val="795E26"/>
                </a:solidFill>
                <a:latin typeface="Fira Code" panose="020B0809050000020004" pitchFamily="49" charset="0"/>
              </a:rPr>
              <a:t>vectors</a:t>
            </a:r>
            <a:r>
              <a:rPr lang="en-US" sz="1400" noProof="0" dirty="0">
                <a:solidFill>
                  <a:srgbClr val="000000"/>
                </a:solidFill>
                <a:latin typeface="Fira Code" panose="020B0809050000020004" pitchFamily="49" charset="0"/>
              </a:rPr>
              <a:t>&lt;</a:t>
            </a:r>
            <a:r>
              <a:rPr lang="en-US" sz="1400" noProof="0" dirty="0">
                <a:solidFill>
                  <a:srgbClr val="A31515"/>
                </a:solidFill>
                <a:latin typeface="Fira Code" panose="020B0809050000020004" pitchFamily="49" charset="0"/>
              </a:rPr>
              <a:t>'m'</a:t>
            </a:r>
            <a:r>
              <a:rPr lang="en-US" sz="1400" noProof="0" dirty="0">
                <a:solidFill>
                  <a:srgbClr val="000000"/>
                </a:solidFill>
                <a:latin typeface="Fira Code" panose="020B0809050000020004" pitchFamily="49" charset="0"/>
              </a:rPr>
              <a:t>, </a:t>
            </a:r>
            <a:r>
              <a:rPr lang="en-US" sz="1400" noProof="0" dirty="0">
                <a:solidFill>
                  <a:srgbClr val="A31515"/>
                </a:solidFill>
                <a:latin typeface="Fira Code" panose="020B0809050000020004" pitchFamily="49" charset="0"/>
              </a:rPr>
              <a:t>'n'</a:t>
            </a:r>
            <a:r>
              <a:rPr lang="en-US" sz="1400" noProof="0" dirty="0">
                <a:solidFill>
                  <a:srgbClr val="000000"/>
                </a:solidFill>
                <a:latin typeface="Fira Code" panose="020B0809050000020004" pitchFamily="49" charset="0"/>
              </a:rPr>
              <a:t>&gt;(</a:t>
            </a:r>
            <a:r>
              <a:rPr lang="en-US" sz="1400" noProof="0" dirty="0">
                <a:solidFill>
                  <a:srgbClr val="0070C1"/>
                </a:solidFill>
                <a:latin typeface="Fira Code" panose="020B0809050000020004" pitchFamily="49" charset="0"/>
              </a:rPr>
              <a:t>M</a:t>
            </a:r>
            <a:r>
              <a:rPr lang="en-US" sz="1400" noProof="0" dirty="0">
                <a:solidFill>
                  <a:srgbClr val="000000"/>
                </a:solidFill>
                <a:latin typeface="Fira Code" panose="020B0809050000020004" pitchFamily="49" charset="0"/>
              </a:rPr>
              <a:t>, </a:t>
            </a:r>
            <a:r>
              <a:rPr lang="en-US" sz="1400" noProof="0" dirty="0">
                <a:solidFill>
                  <a:srgbClr val="0070C1"/>
                </a:solidFill>
                <a:latin typeface="Fira Code" panose="020B0809050000020004" pitchFamily="49" charset="0"/>
              </a:rPr>
              <a:t>N</a:t>
            </a:r>
            <a:r>
              <a:rPr lang="en-US" sz="1400" noProof="0" dirty="0">
                <a:solidFill>
                  <a:srgbClr val="000000"/>
                </a:solidFill>
                <a:latin typeface="Fira Code" panose="020B0809050000020004" pitchFamily="49" charset="0"/>
              </a:rPr>
              <a:t>));</a:t>
            </a:r>
          </a:p>
          <a:p>
            <a:pPr>
              <a:lnSpc>
                <a:spcPct val="113095"/>
              </a:lnSpc>
              <a:buNone/>
            </a:pPr>
            <a:br>
              <a:rPr lang="en-US" sz="1400" b="0" noProof="0" dirty="0">
                <a:solidFill>
                  <a:srgbClr val="000000"/>
                </a:solidFill>
                <a:effectLst/>
                <a:latin typeface="Fira Code" panose="020B0809050000020004" pitchFamily="49" charset="0"/>
              </a:rPr>
            </a:br>
            <a:endParaRPr lang="en-US" sz="1400" b="0" noProof="0" dirty="0">
              <a:solidFill>
                <a:srgbClr val="000000"/>
              </a:solidFill>
              <a:effectLst/>
              <a:latin typeface="Fira Code" panose="020B0809050000020004" pitchFamily="49" charset="0"/>
            </a:endParaRPr>
          </a:p>
          <a:p>
            <a:pPr>
              <a:lnSpc>
                <a:spcPct val="113095"/>
              </a:lnSpc>
              <a:buNone/>
            </a:pP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C</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a:t>
            </a:r>
            <a:r>
              <a:rPr lang="en-US" sz="1400" dirty="0" err="1">
                <a:solidFill>
                  <a:srgbClr val="795E26"/>
                </a:solidFill>
                <a:latin typeface="Fira Code" panose="020B0809050000020004" pitchFamily="49" charset="0"/>
              </a:rPr>
              <a:t>for_each</a:t>
            </a:r>
            <a:r>
              <a:rPr lang="en-US" sz="1400" b="0" noProof="0" dirty="0">
                <a:solidFill>
                  <a:srgbClr val="000000"/>
                </a:solidFill>
                <a:effectLst/>
                <a:latin typeface="Fira Code" panose="020B0809050000020004" pitchFamily="49" charset="0"/>
              </a:rPr>
              <a:t>([&amp;](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C</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pic>
        <p:nvPicPr>
          <p:cNvPr id="7" name="Picture 6">
            <a:extLst>
              <a:ext uri="{FF2B5EF4-FFF2-40B4-BE49-F238E27FC236}">
                <a16:creationId xmlns:a16="http://schemas.microsoft.com/office/drawing/2014/main" id="{DAEC2F36-34A0-C683-8870-B93EE863D813}"/>
              </a:ext>
            </a:extLst>
          </p:cNvPr>
          <p:cNvPicPr>
            <a:picLocks noChangeAspect="1"/>
          </p:cNvPicPr>
          <p:nvPr/>
        </p:nvPicPr>
        <p:blipFill>
          <a:blip r:embed="rId3"/>
          <a:stretch>
            <a:fillRect/>
          </a:stretch>
        </p:blipFill>
        <p:spPr>
          <a:xfrm>
            <a:off x="1810250" y="4922429"/>
            <a:ext cx="2381250" cy="1352550"/>
          </a:xfrm>
          <a:prstGeom prst="rect">
            <a:avLst/>
          </a:prstGeom>
        </p:spPr>
      </p:pic>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8/29/2026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1" name="Rectangle 10">
            <a:extLst>
              <a:ext uri="{FF2B5EF4-FFF2-40B4-BE49-F238E27FC236}">
                <a16:creationId xmlns:a16="http://schemas.microsoft.com/office/drawing/2014/main" id="{BAD4D919-4AB3-4AB4-76B3-B1FAC162167B}"/>
              </a:ext>
            </a:extLst>
          </p:cNvPr>
          <p:cNvSpPr/>
          <p:nvPr/>
        </p:nvSpPr>
        <p:spPr>
          <a:xfrm>
            <a:off x="5276997" y="4610085"/>
            <a:ext cx="5104754" cy="920271"/>
          </a:xfrm>
          <a:prstGeom prst="rect">
            <a:avLst/>
          </a:prstGeom>
          <a:solidFill>
            <a:srgbClr val="FFFFFF">
              <a:alpha val="3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6539590" y="4425419"/>
            <a:ext cx="1651414" cy="369332"/>
          </a:xfrm>
          <a:prstGeom prst="rect">
            <a:avLst/>
          </a:prstGeom>
          <a:noFill/>
        </p:spPr>
        <p:txBody>
          <a:bodyPr wrap="none" rtlCol="0">
            <a:spAutoFit/>
          </a:bodyPr>
          <a:lstStyle/>
          <a:p>
            <a:pPr algn="ctr"/>
            <a:r>
              <a:rPr lang="en-US" noProof="0" dirty="0"/>
              <a:t>Matrix multiply</a:t>
            </a:r>
          </a:p>
        </p:txBody>
      </p:sp>
    </p:spTree>
    <p:extLst>
      <p:ext uri="{BB962C8B-B14F-4D97-AF65-F5344CB8AC3E}">
        <p14:creationId xmlns:p14="http://schemas.microsoft.com/office/powerpoint/2010/main" val="15849151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transformations &amp; parallelization</a:t>
            </a:r>
          </a:p>
        </p:txBody>
      </p:sp>
      <p:sp>
        <p:nvSpPr>
          <p:cNvPr id="8" name="TextBox 7">
            <a:extLst>
              <a:ext uri="{FF2B5EF4-FFF2-40B4-BE49-F238E27FC236}">
                <a16:creationId xmlns:a16="http://schemas.microsoft.com/office/drawing/2014/main" id="{B17E6F97-71C0-E7B6-3913-C7F1E0B84654}"/>
              </a:ext>
            </a:extLst>
          </p:cNvPr>
          <p:cNvSpPr txBox="1"/>
          <p:nvPr/>
        </p:nvSpPr>
        <p:spPr>
          <a:xfrm>
            <a:off x="376823" y="2082114"/>
            <a:ext cx="5464923"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 = </a:t>
            </a:r>
            <a:r>
              <a:rPr lang="en-US" sz="1600" b="0" noProof="0" dirty="0" err="1">
                <a:solidFill>
                  <a:srgbClr val="795E26"/>
                </a:solidFill>
                <a:effectLst/>
                <a:latin typeface="Fira Code" panose="020B0809050000020004" pitchFamily="49" charset="0"/>
              </a:rPr>
              <a:t>into_blocks</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into_blocks</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hoist</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p>
        </p:txBody>
      </p:sp>
      <p:sp>
        <p:nvSpPr>
          <p:cNvPr id="3" name="TextBox 2">
            <a:extLst>
              <a:ext uri="{FF2B5EF4-FFF2-40B4-BE49-F238E27FC236}">
                <a16:creationId xmlns:a16="http://schemas.microsoft.com/office/drawing/2014/main" id="{D494DC07-12F0-E28A-EFF4-4CF7F2299BE3}"/>
              </a:ext>
            </a:extLst>
          </p:cNvPr>
          <p:cNvSpPr txBox="1"/>
          <p:nvPr/>
        </p:nvSpPr>
        <p:spPr>
          <a:xfrm>
            <a:off x="22168" y="3395316"/>
            <a:ext cx="6174234" cy="1196097"/>
          </a:xfrm>
          <a:prstGeom prst="rect">
            <a:avLst/>
          </a:prstGeom>
          <a:noFill/>
          <a:ln>
            <a:solidFill>
              <a:schemeClr val="tx1"/>
            </a:solidFill>
          </a:ln>
        </p:spPr>
        <p:txBody>
          <a:bodyPr wrap="square">
            <a:spAutoFit/>
          </a:bodyPr>
          <a:lstStyle/>
          <a:p>
            <a:pPr>
              <a:lnSpc>
                <a:spcPct val="113095"/>
              </a:lnSpc>
              <a:buNone/>
            </a:pPr>
            <a:r>
              <a:rPr lang="en-US" sz="1600" dirty="0">
                <a:solidFill>
                  <a:srgbClr val="000000"/>
                </a:solidFill>
                <a:latin typeface="Fira Code" panose="020B0809050000020004" pitchFamily="49" charset="0"/>
              </a:rPr>
              <a:t>(</a:t>
            </a: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1"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63E4D446-FA75-8892-1F63-4A50AD51D638}"/>
              </a:ext>
            </a:extLst>
          </p:cNvPr>
          <p:cNvCxnSpPr>
            <a:cxnSpLocks/>
            <a:stCxn id="8" idx="2"/>
            <a:endCxn id="3" idx="0"/>
          </p:cNvCxnSpPr>
          <p:nvPr/>
        </p:nvCxnSpPr>
        <p:spPr>
          <a:xfrm>
            <a:off x="3109285" y="2999994"/>
            <a:ext cx="0" cy="3953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CC491D5F-87A9-86A7-7FCA-6D057EBD3917}"/>
              </a:ext>
            </a:extLst>
          </p:cNvPr>
          <p:cNvSpPr txBox="1"/>
          <p:nvPr/>
        </p:nvSpPr>
        <p:spPr>
          <a:xfrm>
            <a:off x="6779116" y="2080889"/>
            <a:ext cx="4707604" cy="814710"/>
          </a:xfrm>
          <a:prstGeom prst="rect">
            <a:avLst/>
          </a:prstGeom>
          <a:noFill/>
          <a:ln>
            <a:solidFill>
              <a:schemeClr val="tx1"/>
            </a:solidFill>
          </a:ln>
        </p:spPr>
        <p:txBody>
          <a:bodyPr wrap="square">
            <a:spAutoFit/>
          </a:bodyPr>
          <a:lstStyle/>
          <a:p>
            <a:pPr>
              <a:lnSpc>
                <a:spcPct val="113095"/>
              </a:lnSpc>
              <a:buNone/>
            </a:pP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noProof="0" dirty="0" err="1">
                <a:solidFill>
                  <a:srgbClr val="795E26"/>
                </a:solidFill>
                <a:latin typeface="Fira Code" panose="020B0809050000020004" pitchFamily="49" charset="0"/>
              </a:rPr>
              <a:t>init</a:t>
            </a:r>
            <a:r>
              <a:rPr lang="en-US" sz="1400" noProof="0" dirty="0">
                <a:solidFill>
                  <a:srgbClr val="000000"/>
                </a:solidFill>
                <a:latin typeface="Fira Code" panose="020B0809050000020004" pitchFamily="49" charset="0"/>
              </a:rPr>
              <a:t>(</a:t>
            </a:r>
            <a:r>
              <a:rPr lang="en-US" sz="1400" noProof="0" dirty="0">
                <a:solidFill>
                  <a:srgbClr val="001080"/>
                </a:solidFill>
                <a:latin typeface="Fira Code" panose="020B0809050000020004" pitchFamily="49" charset="0"/>
              </a:rPr>
              <a:t>index</a:t>
            </a:r>
            <a:r>
              <a:rPr lang="en-US" sz="1400" noProof="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cxnSp>
        <p:nvCxnSpPr>
          <p:cNvPr id="19" name="Straight Arrow Connector 18">
            <a:extLst>
              <a:ext uri="{FF2B5EF4-FFF2-40B4-BE49-F238E27FC236}">
                <a16:creationId xmlns:a16="http://schemas.microsoft.com/office/drawing/2014/main" id="{4DA75F1C-EAFF-E762-3C05-5DE016DCE536}"/>
              </a:ext>
            </a:extLst>
          </p:cNvPr>
          <p:cNvCxnSpPr>
            <a:cxnSpLocks/>
            <a:stCxn id="17" idx="2"/>
            <a:endCxn id="20" idx="0"/>
          </p:cNvCxnSpPr>
          <p:nvPr/>
        </p:nvCxnSpPr>
        <p:spPr>
          <a:xfrm>
            <a:off x="9132918" y="2895599"/>
            <a:ext cx="0" cy="49971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4915A9C6-A6D8-702B-6337-4504A626F924}"/>
              </a:ext>
            </a:extLst>
          </p:cNvPr>
          <p:cNvGrpSpPr/>
          <p:nvPr/>
        </p:nvGrpSpPr>
        <p:grpSpPr>
          <a:xfrm>
            <a:off x="6303127" y="3395316"/>
            <a:ext cx="5659582" cy="2460566"/>
            <a:chOff x="7021150" y="3108961"/>
            <a:chExt cx="4244962" cy="2460566"/>
          </a:xfrm>
        </p:grpSpPr>
        <p:sp>
          <p:nvSpPr>
            <p:cNvPr id="13" name="TextBox 12">
              <a:extLst>
                <a:ext uri="{FF2B5EF4-FFF2-40B4-BE49-F238E27FC236}">
                  <a16:creationId xmlns:a16="http://schemas.microsoft.com/office/drawing/2014/main" id="{F1D88C1D-F06F-5ACA-392E-B0B03F940713}"/>
                </a:ext>
              </a:extLst>
            </p:cNvPr>
            <p:cNvSpPr txBox="1"/>
            <p:nvPr/>
          </p:nvSpPr>
          <p:spPr>
            <a:xfrm>
              <a:off x="7079772" y="3214970"/>
              <a:ext cx="4106291" cy="814710"/>
            </a:xfrm>
            <a:prstGeom prst="rect">
              <a:avLst/>
            </a:prstGeom>
            <a:noFill/>
            <a:ln>
              <a:solidFill>
                <a:schemeClr val="tx1"/>
              </a:solidFill>
            </a:ln>
          </p:spPr>
          <p:txBody>
            <a:bodyPr wrap="square">
              <a:spAutoFit/>
            </a:bodyPr>
            <a:lstStyle/>
            <a:p>
              <a:pPr>
                <a:lnSpc>
                  <a:spcPct val="113095"/>
                </a:lnSpc>
                <a:buNone/>
              </a:pPr>
              <a:r>
                <a:rPr lang="en-US" sz="1400" b="0" noProof="0" dirty="0" err="1">
                  <a:solidFill>
                    <a:srgbClr val="795E26"/>
                  </a:solidFill>
                  <a:effectLst/>
                  <a:latin typeface="Fira Code" panose="020B0809050000020004" pitchFamily="49" charset="0"/>
                </a:rPr>
                <a:t>omp_for_each</a:t>
              </a:r>
              <a:r>
                <a:rPr lang="en-US" sz="1400" noProof="0" dirty="0">
                  <a:solidFill>
                    <a:srgbClr val="000000"/>
                  </a:solidFill>
                  <a:latin typeface="Fira Code" panose="020B0809050000020004" pitchFamily="49" charset="0"/>
                </a:rPr>
                <a:t>(</a:t>
              </a: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noProof="0" dirty="0" err="1">
                  <a:solidFill>
                    <a:srgbClr val="795E26"/>
                  </a:solidFill>
                  <a:latin typeface="Fira Code" panose="020B0809050000020004" pitchFamily="49" charset="0"/>
                </a:rPr>
                <a:t>init</a:t>
              </a:r>
              <a:r>
                <a:rPr lang="en-US" sz="1400" noProof="0" dirty="0">
                  <a:solidFill>
                    <a:srgbClr val="000000"/>
                  </a:solidFill>
                  <a:latin typeface="Fira Code" panose="020B0809050000020004" pitchFamily="49" charset="0"/>
                </a:rPr>
                <a:t>(</a:t>
              </a:r>
              <a:r>
                <a:rPr lang="en-US" sz="1400" noProof="0" dirty="0">
                  <a:solidFill>
                    <a:srgbClr val="001080"/>
                  </a:solidFill>
                  <a:latin typeface="Fira Code" panose="020B0809050000020004" pitchFamily="49" charset="0"/>
                </a:rPr>
                <a:t>index</a:t>
              </a:r>
              <a:r>
                <a:rPr lang="en-US" sz="1400" noProof="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FC04F895-4DAA-A566-47D4-C9E4F4C00E4B}"/>
                </a:ext>
              </a:extLst>
            </p:cNvPr>
            <p:cNvSpPr txBox="1"/>
            <p:nvPr/>
          </p:nvSpPr>
          <p:spPr>
            <a:xfrm>
              <a:off x="7079772" y="4182753"/>
              <a:ext cx="4106291" cy="814710"/>
            </a:xfrm>
            <a:prstGeom prst="rect">
              <a:avLst/>
            </a:prstGeom>
            <a:noFill/>
            <a:ln>
              <a:solidFill>
                <a:schemeClr val="tx1"/>
              </a:solidFill>
            </a:ln>
          </p:spPr>
          <p:txBody>
            <a:bodyPr wrap="square">
              <a:spAutoFit/>
            </a:bodyPr>
            <a:lstStyle/>
            <a:p>
              <a:pPr>
                <a:lnSpc>
                  <a:spcPct val="113095"/>
                </a:lnSpc>
                <a:buNone/>
              </a:pPr>
              <a:r>
                <a:rPr lang="en-US" sz="1400" b="0" noProof="0" dirty="0" err="1">
                  <a:solidFill>
                    <a:srgbClr val="795E26"/>
                  </a:solidFill>
                  <a:effectLst/>
                  <a:latin typeface="Fira Code" panose="020B0809050000020004" pitchFamily="49" charset="0"/>
                </a:rPr>
                <a:t>tbb_for_each</a:t>
              </a:r>
              <a:r>
                <a:rPr lang="en-US" sz="1400" noProof="0" dirty="0">
                  <a:solidFill>
                    <a:srgbClr val="000000"/>
                  </a:solidFill>
                  <a:latin typeface="Fira Code" panose="020B0809050000020004" pitchFamily="49" charset="0"/>
                </a:rPr>
                <a:t>(</a:t>
              </a: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noProof="0" dirty="0" err="1">
                  <a:solidFill>
                    <a:srgbClr val="795E26"/>
                  </a:solidFill>
                  <a:latin typeface="Fira Code" panose="020B0809050000020004" pitchFamily="49" charset="0"/>
                </a:rPr>
                <a:t>init</a:t>
              </a:r>
              <a:r>
                <a:rPr lang="en-US" sz="1400" noProof="0" dirty="0">
                  <a:solidFill>
                    <a:srgbClr val="000000"/>
                  </a:solidFill>
                  <a:latin typeface="Fira Code" panose="020B0809050000020004" pitchFamily="49" charset="0"/>
                </a:rPr>
                <a:t>(</a:t>
              </a:r>
              <a:r>
                <a:rPr lang="en-US" sz="1400" noProof="0" dirty="0">
                  <a:solidFill>
                    <a:srgbClr val="001080"/>
                  </a:solidFill>
                  <a:latin typeface="Fira Code" panose="020B0809050000020004" pitchFamily="49" charset="0"/>
                </a:rPr>
                <a:t>index</a:t>
              </a:r>
              <a:r>
                <a:rPr lang="en-US" sz="1400" noProof="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20" name="Rectangle 19">
              <a:extLst>
                <a:ext uri="{FF2B5EF4-FFF2-40B4-BE49-F238E27FC236}">
                  <a16:creationId xmlns:a16="http://schemas.microsoft.com/office/drawing/2014/main" id="{E2DC5447-092D-F842-C746-A6D6C5FE1A74}"/>
                </a:ext>
              </a:extLst>
            </p:cNvPr>
            <p:cNvSpPr/>
            <p:nvPr/>
          </p:nvSpPr>
          <p:spPr>
            <a:xfrm>
              <a:off x="7021150" y="3108961"/>
              <a:ext cx="4244962" cy="2460566"/>
            </a:xfrm>
            <a:prstGeom prst="rect">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noProof="0" dirty="0"/>
            </a:p>
          </p:txBody>
        </p:sp>
      </p:gr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8/29/2026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Tree>
    <p:extLst>
      <p:ext uri="{BB962C8B-B14F-4D97-AF65-F5344CB8AC3E}">
        <p14:creationId xmlns:p14="http://schemas.microsoft.com/office/powerpoint/2010/main" val="11176100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D630B5E0-ABB5-8FFF-3D96-A05D108A0A1C}"/>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962939" y="4275380"/>
            <a:ext cx="5573788" cy="2582620"/>
          </a:xfrm>
          <a:prstGeom prst="rect">
            <a:avLst/>
          </a:prstGeom>
        </p:spPr>
      </p:pic>
      <p:pic>
        <p:nvPicPr>
          <p:cNvPr id="17" name="Picture 16" descr="OpenTuner - An extensible framework for program autotuning">
            <a:extLst>
              <a:ext uri="{FF2B5EF4-FFF2-40B4-BE49-F238E27FC236}">
                <a16:creationId xmlns:a16="http://schemas.microsoft.com/office/drawing/2014/main" id="{9B62B548-A2CB-44E7-8C14-94F9EC04F63D}"/>
              </a:ext>
            </a:extLst>
          </p:cNvPr>
          <p:cNvPicPr>
            <a:picLocks noChangeAspect="1"/>
          </p:cNvPicPr>
          <p:nvPr/>
        </p:nvPicPr>
        <p:blipFill>
          <a:blip r:embed="rId4"/>
          <a:stretch>
            <a:fillRect/>
          </a:stretch>
        </p:blipFill>
        <p:spPr>
          <a:xfrm>
            <a:off x="9068399" y="5485816"/>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AF010DE9-B658-4682-CFDF-661E5A062AA0}"/>
              </a:ext>
            </a:extLst>
          </p:cNvPr>
          <p:cNvPicPr>
            <a:picLocks noChangeAspect="1"/>
          </p:cNvPicPr>
          <p:nvPr/>
        </p:nvPicPr>
        <p:blipFill>
          <a:blip r:embed="rId5"/>
          <a:stretch>
            <a:fillRect/>
          </a:stretch>
        </p:blipFill>
        <p:spPr>
          <a:xfrm>
            <a:off x="9315748" y="4521033"/>
            <a:ext cx="2455817" cy="515722"/>
          </a:xfrm>
          <a:prstGeom prst="rect">
            <a:avLst/>
          </a:prstGeom>
        </p:spPr>
      </p:pic>
      <p:pic>
        <p:nvPicPr>
          <p:cNvPr id="19" name="Picture 18" descr="Auto-Tuning Framework (ATF) · GitHub">
            <a:extLst>
              <a:ext uri="{FF2B5EF4-FFF2-40B4-BE49-F238E27FC236}">
                <a16:creationId xmlns:a16="http://schemas.microsoft.com/office/drawing/2014/main" id="{F7F7CFF8-EDA0-77B0-914C-2AD8CCB7F8CA}"/>
              </a:ext>
            </a:extLst>
          </p:cNvPr>
          <p:cNvPicPr>
            <a:picLocks noChangeAspect="1"/>
          </p:cNvPicPr>
          <p:nvPr/>
        </p:nvPicPr>
        <p:blipFill>
          <a:blip r:embed="rId6"/>
          <a:srcRect/>
          <a:stretch>
            <a:fillRect/>
          </a:stretch>
        </p:blipFill>
        <p:spPr>
          <a:xfrm>
            <a:off x="9523323" y="3265015"/>
            <a:ext cx="1099238" cy="1099238"/>
          </a:xfrm>
          <a:prstGeom prst="rect">
            <a:avLst/>
          </a:prstGeom>
        </p:spPr>
      </p:pic>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8/29/2026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
        <p:nvSpPr>
          <p:cNvPr id="4" name="Flowchart: Process 3">
            <a:extLst>
              <a:ext uri="{FF2B5EF4-FFF2-40B4-BE49-F238E27FC236}">
                <a16:creationId xmlns:a16="http://schemas.microsoft.com/office/drawing/2014/main" id="{1A3646A4-0501-E64C-9EBA-2A5D70FCC45E}"/>
              </a:ext>
            </a:extLst>
          </p:cNvPr>
          <p:cNvSpPr/>
          <p:nvPr/>
        </p:nvSpPr>
        <p:spPr>
          <a:xfrm>
            <a:off x="2719349"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6756788"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noProof="0" dirty="0" err="1"/>
              <a:t>autotuner</a:t>
            </a:r>
            <a:r>
              <a:rPr lang="en-US" noProof="0" dirty="0"/>
              <a:t>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4642964"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605927" y="17730"/>
            <a:ext cx="187902" cy="596105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3949108" y="3152109"/>
            <a:ext cx="3501536" cy="369332"/>
          </a:xfrm>
          <a:prstGeom prst="rect">
            <a:avLst/>
          </a:prstGeom>
          <a:noFill/>
        </p:spPr>
        <p:txBody>
          <a:bodyPr wrap="none" rtlCol="0">
            <a:spAutoFit/>
          </a:bodyPr>
          <a:lstStyle/>
          <a:p>
            <a:pPr algn="ctr"/>
            <a:r>
              <a:rPr lang="en-US" noProof="0" dirty="0"/>
              <a:t>Too much boilerplate, error-prone</a:t>
            </a:r>
          </a:p>
        </p:txBody>
      </p:sp>
      <p:sp>
        <p:nvSpPr>
          <p:cNvPr id="15" name="Arrow: Down 14">
            <a:extLst>
              <a:ext uri="{FF2B5EF4-FFF2-40B4-BE49-F238E27FC236}">
                <a16:creationId xmlns:a16="http://schemas.microsoft.com/office/drawing/2014/main" id="{6270A02A-F64D-1590-FA37-729E2E1BC765}"/>
              </a:ext>
            </a:extLst>
          </p:cNvPr>
          <p:cNvSpPr/>
          <p:nvPr/>
        </p:nvSpPr>
        <p:spPr>
          <a:xfrm>
            <a:off x="5200214" y="3664580"/>
            <a:ext cx="1099238" cy="670577"/>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cxnSp>
        <p:nvCxnSpPr>
          <p:cNvPr id="21" name="Straight Arrow Connector 20">
            <a:extLst>
              <a:ext uri="{FF2B5EF4-FFF2-40B4-BE49-F238E27FC236}">
                <a16:creationId xmlns:a16="http://schemas.microsoft.com/office/drawing/2014/main" id="{A517191D-6E0A-AA15-0D0A-F36C9AFA3E26}"/>
              </a:ext>
            </a:extLst>
          </p:cNvPr>
          <p:cNvCxnSpPr>
            <a:endCxn id="19" idx="1"/>
          </p:cNvCxnSpPr>
          <p:nvPr/>
        </p:nvCxnSpPr>
        <p:spPr>
          <a:xfrm flipV="1">
            <a:off x="8306382" y="3814634"/>
            <a:ext cx="1216941" cy="9044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77DDBBE2-A63E-674B-08AE-0EFF57E0FE30}"/>
              </a:ext>
            </a:extLst>
          </p:cNvPr>
          <p:cNvCxnSpPr>
            <a:cxnSpLocks/>
            <a:endCxn id="18" idx="1"/>
          </p:cNvCxnSpPr>
          <p:nvPr/>
        </p:nvCxnSpPr>
        <p:spPr>
          <a:xfrm>
            <a:off x="8306382" y="4719065"/>
            <a:ext cx="1009366" cy="598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DEE38BC2-DE6F-53AE-919A-9277CD5405A3}"/>
              </a:ext>
            </a:extLst>
          </p:cNvPr>
          <p:cNvCxnSpPr>
            <a:endCxn id="17" idx="1"/>
          </p:cNvCxnSpPr>
          <p:nvPr/>
        </p:nvCxnSpPr>
        <p:spPr>
          <a:xfrm>
            <a:off x="8306382" y="4719065"/>
            <a:ext cx="762017" cy="11879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9335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443051" y="2747513"/>
            <a:ext cx="4919167" cy="3074479"/>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2335442" y="5821992"/>
            <a:ext cx="1577676" cy="369332"/>
          </a:xfrm>
          <a:prstGeom prst="rect">
            <a:avLst/>
          </a:prstGeom>
          <a:noFill/>
        </p:spPr>
        <p:txBody>
          <a:bodyPr wrap="none" rtlCol="0">
            <a:spAutoFit/>
          </a:bodyPr>
          <a:lstStyle/>
          <a:p>
            <a:r>
              <a:rPr lang="en-US"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4083984" y="2137112"/>
            <a:ext cx="1626098" cy="369332"/>
          </a:xfrm>
          <a:prstGeom prst="rect">
            <a:avLst/>
          </a:prstGeom>
          <a:noFill/>
        </p:spPr>
        <p:txBody>
          <a:bodyPr wrap="square" rtlCol="0">
            <a:spAutoFit/>
          </a:bodyPr>
          <a:lstStyle/>
          <a:p>
            <a:pPr algn="ctr"/>
            <a:r>
              <a:rPr lang="en-US" noProof="0" dirty="0" err="1"/>
              <a:t>PolyBench</a:t>
            </a:r>
            <a:r>
              <a:rPr lang="en-US" noProof="0" dirty="0"/>
              <a:t>/C</a:t>
            </a:r>
          </a:p>
        </p:txBody>
      </p:sp>
      <p:sp>
        <p:nvSpPr>
          <p:cNvPr id="11" name="Right Brace 10">
            <a:extLst>
              <a:ext uri="{FF2B5EF4-FFF2-40B4-BE49-F238E27FC236}">
                <a16:creationId xmlns:a16="http://schemas.microsoft.com/office/drawing/2014/main" id="{9FEFA2A7-B28D-4893-B5BE-441513E53224}"/>
              </a:ext>
            </a:extLst>
          </p:cNvPr>
          <p:cNvSpPr/>
          <p:nvPr/>
        </p:nvSpPr>
        <p:spPr>
          <a:xfrm rot="16200000">
            <a:off x="4722869" y="-1773373"/>
            <a:ext cx="241068" cy="880070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073698DB-93D9-A5F0-02CC-BCBD40643F77}"/>
              </a:ext>
            </a:extLst>
          </p:cNvPr>
          <p:cNvSpPr txBox="1"/>
          <p:nvPr/>
        </p:nvSpPr>
        <p:spPr>
          <a:xfrm>
            <a:off x="9845901" y="2299485"/>
            <a:ext cx="1903048" cy="369332"/>
          </a:xfrm>
          <a:prstGeom prst="rect">
            <a:avLst/>
          </a:prstGeom>
          <a:noFill/>
        </p:spPr>
        <p:txBody>
          <a:bodyPr wrap="square" rtlCol="0">
            <a:spAutoFit/>
          </a:bodyPr>
          <a:lstStyle/>
          <a:p>
            <a:pPr algn="ctr"/>
            <a:r>
              <a:rPr lang="en-US" noProof="0" dirty="0" err="1"/>
              <a:t>PolyBench</a:t>
            </a:r>
            <a:r>
              <a:rPr lang="en-US" noProof="0" dirty="0"/>
              <a:t>/GPU</a:t>
            </a:r>
          </a:p>
        </p:txBody>
      </p:sp>
      <p:pic>
        <p:nvPicPr>
          <p:cNvPr id="9" name="Picture 8">
            <a:extLst>
              <a:ext uri="{FF2B5EF4-FFF2-40B4-BE49-F238E27FC236}">
                <a16:creationId xmlns:a16="http://schemas.microsoft.com/office/drawing/2014/main" id="{05B9092E-CEC8-7BAA-4EAF-6DF235867735}"/>
              </a:ext>
            </a:extLst>
          </p:cNvPr>
          <p:cNvPicPr>
            <a:picLocks noChangeAspect="1"/>
          </p:cNvPicPr>
          <p:nvPr/>
        </p:nvPicPr>
        <p:blipFill>
          <a:blip r:embed="rId4"/>
          <a:stretch>
            <a:fillRect/>
          </a:stretch>
        </p:blipFill>
        <p:spPr>
          <a:xfrm>
            <a:off x="6189873" y="2868048"/>
            <a:ext cx="1389266" cy="2360849"/>
          </a:xfrm>
          <a:prstGeom prst="rect">
            <a:avLst/>
          </a:prstGeom>
        </p:spPr>
      </p:pic>
      <p:pic>
        <p:nvPicPr>
          <p:cNvPr id="12" name="Picture 11">
            <a:extLst>
              <a:ext uri="{FF2B5EF4-FFF2-40B4-BE49-F238E27FC236}">
                <a16:creationId xmlns:a16="http://schemas.microsoft.com/office/drawing/2014/main" id="{589DFD6F-FACD-00D1-E9AB-84DDD3BD2DC5}"/>
              </a:ext>
            </a:extLst>
          </p:cNvPr>
          <p:cNvPicPr>
            <a:picLocks noChangeAspect="1"/>
          </p:cNvPicPr>
          <p:nvPr/>
        </p:nvPicPr>
        <p:blipFill>
          <a:blip r:embed="rId5"/>
          <a:stretch>
            <a:fillRect/>
          </a:stretch>
        </p:blipFill>
        <p:spPr>
          <a:xfrm>
            <a:off x="8000297" y="2868048"/>
            <a:ext cx="1389266" cy="2360848"/>
          </a:xfrm>
          <a:prstGeom prst="rect">
            <a:avLst/>
          </a:prstGeom>
        </p:spPr>
      </p:pic>
      <p:pic>
        <p:nvPicPr>
          <p:cNvPr id="13" name="Picture 12">
            <a:extLst>
              <a:ext uri="{FF2B5EF4-FFF2-40B4-BE49-F238E27FC236}">
                <a16:creationId xmlns:a16="http://schemas.microsoft.com/office/drawing/2014/main" id="{F1F00E57-C02A-3826-7043-E1771BA4C877}"/>
              </a:ext>
            </a:extLst>
          </p:cNvPr>
          <p:cNvPicPr>
            <a:picLocks noChangeAspect="1"/>
          </p:cNvPicPr>
          <p:nvPr/>
        </p:nvPicPr>
        <p:blipFill>
          <a:blip r:embed="rId6"/>
          <a:stretch>
            <a:fillRect/>
          </a:stretch>
        </p:blipFill>
        <p:spPr>
          <a:xfrm>
            <a:off x="9945226" y="2668817"/>
            <a:ext cx="1476298" cy="2508746"/>
          </a:xfrm>
          <a:prstGeom prst="rect">
            <a:avLst/>
          </a:prstGeom>
        </p:spPr>
      </p:pic>
      <p:sp>
        <p:nvSpPr>
          <p:cNvPr id="14" name="TextBox 13">
            <a:extLst>
              <a:ext uri="{FF2B5EF4-FFF2-40B4-BE49-F238E27FC236}">
                <a16:creationId xmlns:a16="http://schemas.microsoft.com/office/drawing/2014/main" id="{E483A899-FCA6-734B-1BF1-F098BCA106E6}"/>
              </a:ext>
            </a:extLst>
          </p:cNvPr>
          <p:cNvSpPr txBox="1"/>
          <p:nvPr/>
        </p:nvSpPr>
        <p:spPr>
          <a:xfrm>
            <a:off x="6610927" y="5164766"/>
            <a:ext cx="1047082" cy="369332"/>
          </a:xfrm>
          <a:prstGeom prst="rect">
            <a:avLst/>
          </a:prstGeom>
          <a:noFill/>
        </p:spPr>
        <p:txBody>
          <a:bodyPr wrap="none" rtlCol="0">
            <a:spAutoFit/>
          </a:bodyPr>
          <a:lstStyle/>
          <a:p>
            <a:r>
              <a:rPr lang="en-US" dirty="0"/>
              <a:t>OpenMP</a:t>
            </a:r>
          </a:p>
        </p:txBody>
      </p:sp>
      <p:sp>
        <p:nvSpPr>
          <p:cNvPr id="17" name="TextBox 16">
            <a:extLst>
              <a:ext uri="{FF2B5EF4-FFF2-40B4-BE49-F238E27FC236}">
                <a16:creationId xmlns:a16="http://schemas.microsoft.com/office/drawing/2014/main" id="{0964486E-966E-9592-1DC4-84988B7901F0}"/>
              </a:ext>
            </a:extLst>
          </p:cNvPr>
          <p:cNvSpPr txBox="1"/>
          <p:nvPr/>
        </p:nvSpPr>
        <p:spPr>
          <a:xfrm>
            <a:off x="8610600" y="5177563"/>
            <a:ext cx="574196" cy="369332"/>
          </a:xfrm>
          <a:prstGeom prst="rect">
            <a:avLst/>
          </a:prstGeom>
          <a:noFill/>
        </p:spPr>
        <p:txBody>
          <a:bodyPr wrap="none" rtlCol="0">
            <a:spAutoFit/>
          </a:bodyPr>
          <a:lstStyle/>
          <a:p>
            <a:r>
              <a:rPr lang="en-US" dirty="0"/>
              <a:t>TBB</a:t>
            </a:r>
          </a:p>
        </p:txBody>
      </p:sp>
      <p:sp>
        <p:nvSpPr>
          <p:cNvPr id="19" name="TextBox 18">
            <a:extLst>
              <a:ext uri="{FF2B5EF4-FFF2-40B4-BE49-F238E27FC236}">
                <a16:creationId xmlns:a16="http://schemas.microsoft.com/office/drawing/2014/main" id="{FAF2EF67-657C-ADE5-06D6-C5D272407884}"/>
              </a:ext>
            </a:extLst>
          </p:cNvPr>
          <p:cNvSpPr txBox="1"/>
          <p:nvPr/>
        </p:nvSpPr>
        <p:spPr>
          <a:xfrm>
            <a:off x="10432220" y="5072356"/>
            <a:ext cx="790601" cy="369332"/>
          </a:xfrm>
          <a:prstGeom prst="rect">
            <a:avLst/>
          </a:prstGeom>
          <a:noFill/>
        </p:spPr>
        <p:txBody>
          <a:bodyPr wrap="none" rtlCol="0">
            <a:spAutoFit/>
          </a:bodyPr>
          <a:lstStyle/>
          <a:p>
            <a:r>
              <a:rPr lang="en-US" dirty="0"/>
              <a:t>CUDA</a:t>
            </a:r>
          </a:p>
        </p:txBody>
      </p:sp>
    </p:spTree>
    <p:extLst>
      <p:ext uri="{BB962C8B-B14F-4D97-AF65-F5344CB8AC3E}">
        <p14:creationId xmlns:p14="http://schemas.microsoft.com/office/powerpoint/2010/main" val="522048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noProof="0" dirty="0">
                <a:solidFill>
                  <a:srgbClr val="C00000"/>
                </a:solidFill>
              </a:rPr>
              <a:t>Slightly more verbose</a:t>
            </a:r>
          </a:p>
          <a:p>
            <a:r>
              <a:rPr lang="en-US" noProof="0" dirty="0">
                <a:solidFill>
                  <a:schemeClr val="accent6"/>
                </a:solidFill>
              </a:rPr>
              <a:t>Less complex control flow</a:t>
            </a:r>
          </a:p>
          <a:p>
            <a:r>
              <a:rPr lang="en-US" noProof="0" dirty="0">
                <a:solidFill>
                  <a:srgbClr val="0070C0"/>
                </a:solidFill>
              </a:rPr>
              <a:t>Easier indexation</a:t>
            </a:r>
          </a:p>
          <a:p>
            <a:endParaRPr lang="en-US" noProof="0" dirty="0">
              <a:solidFill>
                <a:srgbClr val="0070C0"/>
              </a:solidFill>
            </a:endParaRPr>
          </a:p>
          <a:p>
            <a:pPr>
              <a:buFont typeface="Aptos" panose="020B0004020202020204" pitchFamily="34" charset="0"/>
              <a:buChar char="+"/>
            </a:pPr>
            <a:r>
              <a:rPr lang="en-US" noProof="0" dirty="0"/>
              <a:t>Higher flexibility</a:t>
            </a:r>
          </a:p>
          <a:p>
            <a:pPr>
              <a:buFont typeface="Aptos" panose="020B0004020202020204" pitchFamily="34" charset="0"/>
              <a:buChar char="+"/>
            </a:pPr>
            <a:r>
              <a:rPr lang="en-US" noProof="0"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grpSp>
        <p:nvGrpSpPr>
          <p:cNvPr id="15" name="Group 14">
            <a:extLst>
              <a:ext uri="{FF2B5EF4-FFF2-40B4-BE49-F238E27FC236}">
                <a16:creationId xmlns:a16="http://schemas.microsoft.com/office/drawing/2014/main" id="{06199549-C2F9-0F20-FD16-454B08B67F83}"/>
              </a:ext>
            </a:extLst>
          </p:cNvPr>
          <p:cNvGrpSpPr/>
          <p:nvPr/>
        </p:nvGrpSpPr>
        <p:grpSpPr>
          <a:xfrm>
            <a:off x="5521626" y="1230285"/>
            <a:ext cx="6339251" cy="3310304"/>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Tree>
    <p:extLst>
      <p:ext uri="{BB962C8B-B14F-4D97-AF65-F5344CB8AC3E}">
        <p14:creationId xmlns:p14="http://schemas.microsoft.com/office/powerpoint/2010/main" val="31854666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Rectangle 54">
            <a:extLst>
              <a:ext uri="{FF2B5EF4-FFF2-40B4-BE49-F238E27FC236}">
                <a16:creationId xmlns:a16="http://schemas.microsoft.com/office/drawing/2014/main" id="{EE3B59AB-A2B0-AC08-2ABA-C28A804C1D65}"/>
              </a:ext>
            </a:extLst>
          </p:cNvPr>
          <p:cNvSpPr/>
          <p:nvPr/>
        </p:nvSpPr>
        <p:spPr>
          <a:xfrm>
            <a:off x="7453313" y="2164167"/>
            <a:ext cx="676275" cy="217083"/>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a:t>
            </a:r>
          </a:p>
        </p:txBody>
      </p:sp>
      <p:sp>
        <p:nvSpPr>
          <p:cNvPr id="43" name="TextBox 42">
            <a:extLst>
              <a:ext uri="{FF2B5EF4-FFF2-40B4-BE49-F238E27FC236}">
                <a16:creationId xmlns:a16="http://schemas.microsoft.com/office/drawing/2014/main" id="{3C95CC93-9CA9-7209-C22C-7D083498E953}"/>
              </a:ext>
            </a:extLst>
          </p:cNvPr>
          <p:cNvSpPr txBox="1"/>
          <p:nvPr/>
        </p:nvSpPr>
        <p:spPr>
          <a:xfrm>
            <a:off x="6350978" y="1712569"/>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8/29/2026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sp>
        <p:nvSpPr>
          <p:cNvPr id="21" name="TextBox 20">
            <a:extLst>
              <a:ext uri="{FF2B5EF4-FFF2-40B4-BE49-F238E27FC236}">
                <a16:creationId xmlns:a16="http://schemas.microsoft.com/office/drawing/2014/main" id="{E9081B18-2097-F218-444D-8457FDAFE687}"/>
              </a:ext>
            </a:extLst>
          </p:cNvPr>
          <p:cNvSpPr txBox="1"/>
          <p:nvPr/>
        </p:nvSpPr>
        <p:spPr>
          <a:xfrm>
            <a:off x="6001728" y="4672963"/>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3505200" y="2081901"/>
            <a:ext cx="8584859" cy="2273315"/>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noProof="0" dirty="0" err="1">
                <a:solidFill>
                  <a:srgbClr val="001080"/>
                </a:solidFill>
                <a:effectLst/>
                <a:latin typeface="Fira Code" panose="020B0809050000020004" pitchFamily="49" charset="0"/>
              </a:rPr>
              <a:t>MPItrav</a:t>
            </a:r>
            <a:r>
              <a:rPr lang="en-US" b="0" noProof="0" dirty="0">
                <a:solidFill>
                  <a:srgbClr val="000000"/>
                </a:solidFill>
                <a:effectLst/>
                <a:latin typeface="Fira Code" panose="020B0809050000020004" pitchFamily="49" charset="0"/>
              </a:rPr>
              <a:t> = </a:t>
            </a:r>
            <a:r>
              <a:rPr lang="en-US"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&lt;</a:t>
            </a:r>
            <a:r>
              <a:rPr lang="en-US" b="0" noProof="0" dirty="0">
                <a:solidFill>
                  <a:srgbClr val="A31515"/>
                </a:solidFill>
                <a:effectLst/>
                <a:latin typeface="Fira Code" panose="020B0809050000020004" pitchFamily="49" charset="0"/>
              </a:rPr>
              <a:t>'M'</a:t>
            </a:r>
            <a:r>
              <a:rPr lang="en-US"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b="0" noProof="0" dirty="0">
                <a:solidFill>
                  <a:srgbClr val="000000"/>
                </a:solidFill>
                <a:effectLst/>
                <a:latin typeface="Fira Code" panose="020B0809050000020004" pitchFamily="49" charset="0"/>
              </a:rPr>
              <a:t>);</a:t>
            </a: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r>
              <a:rPr lang="en-US" dirty="0">
                <a:solidFill>
                  <a:srgbClr val="267F99"/>
                </a:solidFill>
                <a:latin typeface="Fira Code" panose="020B0809050000020004" pitchFamily="49" charset="0"/>
              </a:rPr>
              <a:t>auto Tile</a:t>
            </a:r>
            <a:r>
              <a:rPr lang="en-US" dirty="0">
                <a:solidFill>
                  <a:srgbClr val="000000"/>
                </a:solidFill>
                <a:latin typeface="Fira Code" panose="020B0809050000020004" pitchFamily="49" charset="0"/>
              </a:rPr>
              <a:t> = …</a:t>
            </a:r>
            <a:endParaRPr lang="en-US" noProof="0"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r>
              <a:rPr lang="en-US" sz="1800" b="0" noProof="0" dirty="0" err="1">
                <a:solidFill>
                  <a:srgbClr val="001080"/>
                </a:solidFill>
                <a:effectLst/>
                <a:latin typeface="Fira Code" panose="020B0809050000020004" pitchFamily="49" charset="0"/>
              </a:rPr>
              <a:t>MPItrav</a:t>
            </a:r>
            <a:r>
              <a:rPr lang="en-US" sz="1800" b="0" noProof="0" dirty="0">
                <a:solidFill>
                  <a:srgbClr val="000000"/>
                </a:solidFill>
                <a:effectLst/>
                <a:latin typeface="Fira Code" panose="020B0809050000020004" pitchFamily="49" charset="0"/>
              </a:rPr>
              <a:t> | [&amp;](</a:t>
            </a:r>
            <a:r>
              <a:rPr lang="en-US" sz="1800" b="0" noProof="0" dirty="0">
                <a:solidFill>
                  <a:srgbClr val="267F99"/>
                </a:solidFill>
                <a:effectLst/>
                <a:latin typeface="Fira Code" panose="020B0809050000020004" pitchFamily="49" charset="0"/>
              </a:rPr>
              <a:t>auto</a:t>
            </a:r>
            <a:r>
              <a:rPr lang="en-US" sz="1800" b="0" noProof="0" dirty="0">
                <a:solidFill>
                  <a:srgbClr val="000000"/>
                </a:solidFill>
                <a:effectLst/>
                <a:latin typeface="Fira Code" panose="020B0809050000020004" pitchFamily="49" charset="0"/>
              </a:rPr>
              <a:t> </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a:t>
            </a:r>
          </a:p>
          <a:p>
            <a:pPr>
              <a:lnSpc>
                <a:spcPct val="113095"/>
              </a:lnSpc>
              <a:buNone/>
            </a:pPr>
            <a:r>
              <a:rPr lang="en-US" sz="1800" b="0" noProof="0" dirty="0">
                <a:solidFill>
                  <a:srgbClr val="000000"/>
                </a:solidFill>
                <a:effectLst/>
                <a:latin typeface="Fira Code" panose="020B0809050000020004" pitchFamily="49" charset="0"/>
              </a:rPr>
              <a:t>    </a:t>
            </a:r>
            <a:r>
              <a:rPr lang="en-US" sz="1800" b="0" noProof="0" dirty="0">
                <a:solidFill>
                  <a:srgbClr val="0070C1"/>
                </a:solidFill>
                <a:effectLst/>
                <a:latin typeface="Fira Code" panose="020B0809050000020004" pitchFamily="49" charset="0"/>
              </a:rPr>
              <a:t>Tile</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 </a:t>
            </a:r>
            <a:r>
              <a:rPr lang="en-US" sz="1800" b="0" noProof="0" dirty="0" err="1">
                <a:solidFill>
                  <a:srgbClr val="795E26"/>
                </a:solidFill>
                <a:effectLst/>
                <a:latin typeface="Fira Code" panose="020B0809050000020004" pitchFamily="49" charset="0"/>
              </a:rPr>
              <a:t>init</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a:t>
            </a:r>
          </a:p>
          <a:p>
            <a:pPr>
              <a:lnSpc>
                <a:spcPct val="113095"/>
              </a:lnSpc>
              <a:buNone/>
            </a:pPr>
            <a:r>
              <a:rPr lang="en-US" sz="1800" b="0" noProof="0" dirty="0">
                <a:solidFill>
                  <a:srgbClr val="000000"/>
                </a:solidFill>
                <a:effectLst/>
                <a:latin typeface="Fira Code" panose="020B0809050000020004" pitchFamily="49" charset="0"/>
              </a:rPr>
              <a:t>};</a:t>
            </a:r>
          </a:p>
        </p:txBody>
      </p:sp>
      <p:sp>
        <p:nvSpPr>
          <p:cNvPr id="45" name="TextBox 44">
            <a:extLst>
              <a:ext uri="{FF2B5EF4-FFF2-40B4-BE49-F238E27FC236}">
                <a16:creationId xmlns:a16="http://schemas.microsoft.com/office/drawing/2014/main" id="{835AFA3F-B4AF-ABF4-9BB4-CE1EE90FCB8C}"/>
              </a:ext>
            </a:extLst>
          </p:cNvPr>
          <p:cNvSpPr txBox="1"/>
          <p:nvPr/>
        </p:nvSpPr>
        <p:spPr>
          <a:xfrm>
            <a:off x="6020426" y="5042295"/>
            <a:ext cx="4839852" cy="395108"/>
          </a:xfrm>
          <a:prstGeom prst="rect">
            <a:avLst/>
          </a:prstGeom>
          <a:noFill/>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gather</a:t>
            </a:r>
            <a:r>
              <a:rPr lang="en-US" b="0" noProof="0" dirty="0">
                <a:solidFill>
                  <a:srgbClr val="000000"/>
                </a:solidFill>
                <a:effectLst/>
                <a:latin typeface="Fira Code" panose="020B0809050000020004" pitchFamily="49" charset="0"/>
              </a:rPr>
              <a:t>(</a:t>
            </a:r>
            <a:r>
              <a:rPr lang="en-US" noProof="0" dirty="0">
                <a:solidFill>
                  <a:srgbClr val="0070C1"/>
                </a:solidFill>
                <a:latin typeface="Fira Code" panose="020B0809050000020004" pitchFamily="49" charset="0"/>
              </a:rPr>
              <a:t>Tile</a:t>
            </a:r>
            <a:r>
              <a:rPr lang="en-US" noProof="0" dirty="0">
                <a:solidFill>
                  <a:srgbClr val="000000"/>
                </a:solidFill>
                <a:latin typeface="Fira Code" panose="020B0809050000020004" pitchFamily="49" charset="0"/>
              </a:rPr>
              <a:t>, </a:t>
            </a:r>
            <a:r>
              <a:rPr lang="en-US" noProof="0" dirty="0">
                <a:solidFill>
                  <a:srgbClr val="0070C1"/>
                </a:solidFill>
                <a:latin typeface="Fira Code" panose="020B0809050000020004" pitchFamily="49" charset="0"/>
              </a:rPr>
              <a:t>Data</a:t>
            </a:r>
            <a:r>
              <a:rPr lang="en-US" noProof="0" dirty="0">
                <a:solidFill>
                  <a:srgbClr val="000000"/>
                </a:solidFill>
                <a:latin typeface="Fira Code" panose="020B0809050000020004" pitchFamily="49" charset="0"/>
              </a:rPr>
              <a:t>, </a:t>
            </a:r>
            <a:r>
              <a:rPr lang="en-US" b="0" noProof="0" dirty="0">
                <a:solidFill>
                  <a:srgbClr val="0070C1"/>
                </a:solidFill>
                <a:effectLst/>
                <a:latin typeface="Fira Code" panose="020B0809050000020004" pitchFamily="49" charset="0"/>
              </a:rPr>
              <a:t>root</a:t>
            </a:r>
            <a:r>
              <a:rPr lang="en-US" b="0" noProof="0" dirty="0">
                <a:solidFill>
                  <a:srgbClr val="000000"/>
                </a:solidFill>
                <a:effectLst/>
                <a:latin typeface="Fira Code" panose="020B0809050000020004" pitchFamily="49" charset="0"/>
              </a:rPr>
              <a:t>, </a:t>
            </a:r>
            <a:r>
              <a:rPr lang="en-US" noProof="0" dirty="0" err="1">
                <a:solidFill>
                  <a:srgbClr val="001080"/>
                </a:solidFill>
                <a:latin typeface="Fira Code" panose="020B0809050000020004" pitchFamily="49" charset="0"/>
              </a:rPr>
              <a:t>MPItrav</a:t>
            </a:r>
            <a:r>
              <a:rPr lang="en-US" b="0" noProof="0" dirty="0">
                <a:solidFill>
                  <a:srgbClr val="000000"/>
                </a:solidFill>
                <a:effectLst/>
                <a:latin typeface="Fira Code" panose="020B0809050000020004" pitchFamily="49" charset="0"/>
              </a:rPr>
              <a:t>);</a:t>
            </a:r>
          </a:p>
        </p:txBody>
      </p:sp>
      <p:sp>
        <p:nvSpPr>
          <p:cNvPr id="49" name="Right Brace 48">
            <a:extLst>
              <a:ext uri="{FF2B5EF4-FFF2-40B4-BE49-F238E27FC236}">
                <a16:creationId xmlns:a16="http://schemas.microsoft.com/office/drawing/2014/main" id="{329DFC7F-1CD7-D907-ACE7-DF5BC3131277}"/>
              </a:ext>
            </a:extLst>
          </p:cNvPr>
          <p:cNvSpPr/>
          <p:nvPr/>
        </p:nvSpPr>
        <p:spPr>
          <a:xfrm>
            <a:off x="7615841" y="3384350"/>
            <a:ext cx="324197" cy="91350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2" name="TextBox 51">
            <a:extLst>
              <a:ext uri="{FF2B5EF4-FFF2-40B4-BE49-F238E27FC236}">
                <a16:creationId xmlns:a16="http://schemas.microsoft.com/office/drawing/2014/main" id="{BDF331C8-C8ED-B5C4-3373-8B0D250696A0}"/>
              </a:ext>
            </a:extLst>
          </p:cNvPr>
          <p:cNvSpPr txBox="1"/>
          <p:nvPr/>
        </p:nvSpPr>
        <p:spPr>
          <a:xfrm>
            <a:off x="7940038" y="3658171"/>
            <a:ext cx="2392941" cy="369332"/>
          </a:xfrm>
          <a:prstGeom prst="rect">
            <a:avLst/>
          </a:prstGeom>
          <a:noFill/>
        </p:spPr>
        <p:txBody>
          <a:bodyPr wrap="square" rtlCol="0">
            <a:spAutoFit/>
          </a:bodyPr>
          <a:lstStyle/>
          <a:p>
            <a:r>
              <a:rPr lang="en-US" noProof="0" dirty="0"/>
              <a:t>Writes to the local tile </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8357720" y="3180661"/>
            <a:ext cx="169251" cy="463118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6" name="TextBox 55">
            <a:extLst>
              <a:ext uri="{FF2B5EF4-FFF2-40B4-BE49-F238E27FC236}">
                <a16:creationId xmlns:a16="http://schemas.microsoft.com/office/drawing/2014/main" id="{FA4348FA-14AF-AE42-2449-6C4790D0706A}"/>
              </a:ext>
            </a:extLst>
          </p:cNvPr>
          <p:cNvSpPr txBox="1"/>
          <p:nvPr/>
        </p:nvSpPr>
        <p:spPr>
          <a:xfrm>
            <a:off x="6706462" y="5644447"/>
            <a:ext cx="3467779" cy="369332"/>
          </a:xfrm>
          <a:prstGeom prst="rect">
            <a:avLst/>
          </a:prstGeom>
          <a:noFill/>
        </p:spPr>
        <p:txBody>
          <a:bodyPr wrap="square" rtlCol="0">
            <a:spAutoFit/>
          </a:bodyPr>
          <a:lstStyle/>
          <a:p>
            <a:pPr algn="ctr"/>
            <a:r>
              <a:rPr lang="en-US" noProof="0" dirty="0"/>
              <a:t>Gathers the tiles into the result</a:t>
            </a: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843841" y="3178142"/>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1784" y="3056457"/>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843841" y="4004683"/>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843841" y="4712245"/>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843841" y="5423149"/>
            <a:ext cx="521160" cy="521160"/>
          </a:xfrm>
          <a:prstGeom prst="rect">
            <a:avLst/>
          </a:prstGeom>
        </p:spPr>
      </p:pic>
      <p:sp>
        <p:nvSpPr>
          <p:cNvPr id="28" name="Right Brace 27">
            <a:extLst>
              <a:ext uri="{FF2B5EF4-FFF2-40B4-BE49-F238E27FC236}">
                <a16:creationId xmlns:a16="http://schemas.microsoft.com/office/drawing/2014/main" id="{33DFE98B-B773-C0A8-5D8E-16846E420AC9}"/>
              </a:ext>
            </a:extLst>
          </p:cNvPr>
          <p:cNvSpPr/>
          <p:nvPr/>
        </p:nvSpPr>
        <p:spPr>
          <a:xfrm>
            <a:off x="3226915" y="3056457"/>
            <a:ext cx="153563" cy="306705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EE10E03B-CD42-27DC-6DF5-CB9596382EE5}"/>
                  </a:ext>
                </a:extLst>
              </p:cNvPr>
              <p:cNvSpPr txBox="1"/>
              <p:nvPr/>
            </p:nvSpPr>
            <p:spPr>
              <a:xfrm>
                <a:off x="3380478" y="4405316"/>
                <a:ext cx="1567391" cy="369332"/>
              </a:xfrm>
              <a:prstGeom prst="rect">
                <a:avLst/>
              </a:prstGeom>
              <a:noFill/>
            </p:spPr>
            <p:txBody>
              <a:bodyPr wrap="square" rtlCol="0">
                <a:spAutoFit/>
              </a:bodyPr>
              <a:lstStyle/>
              <a:p>
                <a14:m>
                  <m:oMath xmlns:m="http://schemas.openxmlformats.org/officeDocument/2006/math">
                    <m:r>
                      <a:rPr lang="en-US" i="1" dirty="0" smtClean="0">
                        <a:solidFill>
                          <a:srgbClr val="FF0000"/>
                        </a:solidFill>
                        <a:latin typeface="Cambria Math" panose="02040503050406030204" pitchFamily="18" charset="0"/>
                      </a:rPr>
                      <m:t>𝑀</m:t>
                    </m:r>
                  </m:oMath>
                </a14:m>
                <a:r>
                  <a:rPr lang="en-US" dirty="0"/>
                  <a:t> blocks of </a:t>
                </a:r>
                <a14:m>
                  <m:oMath xmlns:m="http://schemas.openxmlformats.org/officeDocument/2006/math">
                    <m:r>
                      <a:rPr lang="en-US" i="1" dirty="0" smtClean="0">
                        <a:solidFill>
                          <a:srgbClr val="FF0000"/>
                        </a:solidFill>
                        <a:latin typeface="Cambria Math" panose="02040503050406030204" pitchFamily="18" charset="0"/>
                      </a:rPr>
                      <m:t>𝑚</m:t>
                    </m:r>
                  </m:oMath>
                </a14:m>
                <a:endParaRPr lang="en-US" dirty="0"/>
              </a:p>
            </p:txBody>
          </p:sp>
        </mc:Choice>
        <mc:Fallback>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3380478" y="4405316"/>
                <a:ext cx="1567391"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830D2A10-C3C9-5980-4B7C-1920E7A6499E}"/>
                  </a:ext>
                </a:extLst>
              </p:cNvPr>
              <p:cNvSpPr txBox="1"/>
              <p:nvPr/>
            </p:nvSpPr>
            <p:spPr>
              <a:xfrm>
                <a:off x="1576604" y="2621556"/>
                <a:ext cx="1567391" cy="369332"/>
              </a:xfrm>
              <a:prstGeom prst="rect">
                <a:avLst/>
              </a:prstGeom>
              <a:noFill/>
            </p:spPr>
            <p:txBody>
              <a:bodyPr wrap="square" rtlCol="0">
                <a:spAutoFit/>
              </a:bodyPr>
              <a:lstStyle/>
              <a:p>
                <a14:m>
                  <m:oMathPara xmlns:m="http://schemas.openxmlformats.org/officeDocument/2006/math">
                    <m:oMath>
                      <m:r>
                        <a:rPr lang="en-US" b="0" i="1" dirty="0" smtClean="0">
                          <a:solidFill>
                            <a:srgbClr val="FF0000"/>
                          </a:solidFill>
                          <a:latin typeface="Cambria Math" panose="02040503050406030204" pitchFamily="18" charset="0"/>
                        </a:rPr>
                        <m:t>𝑛</m:t>
                      </m:r>
                    </m:oMath>
                  </m:oMathPara>
                </a14:m>
                <a:endParaRPr lang="en-US" dirty="0"/>
              </a:p>
            </p:txBody>
          </p:sp>
        </mc:Choice>
        <mc:Fallback>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576604" y="2621556"/>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1336675" y="3422719"/>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1336675" y="4215675"/>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1336675" y="4972825"/>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1336675" y="5735129"/>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2009775" y="6123506"/>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dirty="0"/>
          </a:p>
        </p:txBody>
      </p:sp>
      <p:sp>
        <p:nvSpPr>
          <p:cNvPr id="50" name="Left Brace 49">
            <a:extLst>
              <a:ext uri="{FF2B5EF4-FFF2-40B4-BE49-F238E27FC236}">
                <a16:creationId xmlns:a16="http://schemas.microsoft.com/office/drawing/2014/main" id="{E95766C1-B5D9-13B5-FB19-BBB779E706C4}"/>
              </a:ext>
            </a:extLst>
          </p:cNvPr>
          <p:cNvSpPr/>
          <p:nvPr/>
        </p:nvSpPr>
        <p:spPr>
          <a:xfrm>
            <a:off x="741501" y="3090333"/>
            <a:ext cx="122402" cy="311153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547061" y="4461432"/>
            <a:ext cx="2169440" cy="369332"/>
          </a:xfrm>
          <a:prstGeom prst="rect">
            <a:avLst/>
          </a:prstGeom>
          <a:noFill/>
        </p:spPr>
        <p:txBody>
          <a:bodyPr wrap="none" rtlCol="0">
            <a:spAutoFit/>
          </a:bodyPr>
          <a:lstStyle/>
          <a:p>
            <a:r>
              <a:rPr lang="en-US" dirty="0"/>
              <a:t>Computation nodes</a:t>
            </a:r>
          </a:p>
        </p:txBody>
      </p:sp>
      <p:cxnSp>
        <p:nvCxnSpPr>
          <p:cNvPr id="63" name="Straight Arrow Connector 62">
            <a:extLst>
              <a:ext uri="{FF2B5EF4-FFF2-40B4-BE49-F238E27FC236}">
                <a16:creationId xmlns:a16="http://schemas.microsoft.com/office/drawing/2014/main" id="{9780762E-A23C-5469-71C2-48809E66AA91}"/>
              </a:ext>
            </a:extLst>
          </p:cNvPr>
          <p:cNvCxnSpPr/>
          <p:nvPr/>
        </p:nvCxnSpPr>
        <p:spPr>
          <a:xfrm flipH="1">
            <a:off x="5493380" y="2868843"/>
            <a:ext cx="85759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0589E420-67E2-ACC3-4070-A0BB22EE89A0}"/>
              </a:ext>
            </a:extLst>
          </p:cNvPr>
          <p:cNvSpPr txBox="1"/>
          <p:nvPr/>
        </p:nvSpPr>
        <p:spPr>
          <a:xfrm>
            <a:off x="6350978" y="2671479"/>
            <a:ext cx="3662477" cy="369332"/>
          </a:xfrm>
          <a:prstGeom prst="rect">
            <a:avLst/>
          </a:prstGeom>
          <a:noFill/>
        </p:spPr>
        <p:txBody>
          <a:bodyPr wrap="none" rtlCol="0">
            <a:spAutoFit/>
          </a:bodyPr>
          <a:lstStyle/>
          <a:p>
            <a:r>
              <a:rPr lang="en-US" dirty="0"/>
              <a:t>Define using dimensions of </a:t>
            </a:r>
            <a:r>
              <a:rPr lang="en-US" dirty="0" err="1"/>
              <a:t>MPItrav</a:t>
            </a:r>
            <a:endParaRPr lang="en-US" dirty="0"/>
          </a:p>
        </p:txBody>
      </p:sp>
    </p:spTree>
    <p:extLst>
      <p:ext uri="{BB962C8B-B14F-4D97-AF65-F5344CB8AC3E}">
        <p14:creationId xmlns:p14="http://schemas.microsoft.com/office/powerpoint/2010/main" val="33990220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8/29/2026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grpSp>
        <p:nvGrpSpPr>
          <p:cNvPr id="17" name="Group 16">
            <a:extLst>
              <a:ext uri="{FF2B5EF4-FFF2-40B4-BE49-F238E27FC236}">
                <a16:creationId xmlns:a16="http://schemas.microsoft.com/office/drawing/2014/main" id="{5650573C-B606-1D93-3169-1638F303D228}"/>
              </a:ext>
            </a:extLst>
          </p:cNvPr>
          <p:cNvGrpSpPr/>
          <p:nvPr/>
        </p:nvGrpSpPr>
        <p:grpSpPr>
          <a:xfrm>
            <a:off x="4919971" y="1404368"/>
            <a:ext cx="2631264" cy="2394459"/>
            <a:chOff x="4919971" y="1404368"/>
            <a:chExt cx="2631264" cy="2394459"/>
          </a:xfrm>
        </p:grpSpPr>
        <p:sp>
          <p:nvSpPr>
            <p:cNvPr id="6" name="TextBox 5">
              <a:extLst>
                <a:ext uri="{FF2B5EF4-FFF2-40B4-BE49-F238E27FC236}">
                  <a16:creationId xmlns:a16="http://schemas.microsoft.com/office/drawing/2014/main" id="{C1A4FEEA-F6A5-2F0C-61D6-D842A122ADD5}"/>
                </a:ext>
              </a:extLst>
            </p:cNvPr>
            <p:cNvSpPr txBox="1"/>
            <p:nvPr/>
          </p:nvSpPr>
          <p:spPr>
            <a:xfrm>
              <a:off x="5106102" y="1404368"/>
              <a:ext cx="2390398" cy="369332"/>
            </a:xfrm>
            <a:prstGeom prst="rect">
              <a:avLst/>
            </a:prstGeom>
            <a:noFill/>
          </p:spPr>
          <p:txBody>
            <a:bodyPr wrap="none" rtlCol="0">
              <a:spAutoFit/>
            </a:bodyPr>
            <a:lstStyle/>
            <a:p>
              <a:r>
                <a:rPr lang="en-US" dirty="0">
                  <a:solidFill>
                    <a:srgbClr val="795E26"/>
                  </a:solidFill>
                  <a:latin typeface="Fira Code" panose="020B0809050000020004" pitchFamily="49" charset="0"/>
                </a:rPr>
                <a:t>send</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row_major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pic>
          <p:nvPicPr>
            <p:cNvPr id="18" name="Graphic 17">
              <a:extLst>
                <a:ext uri="{FF2B5EF4-FFF2-40B4-BE49-F238E27FC236}">
                  <a16:creationId xmlns:a16="http://schemas.microsoft.com/office/drawing/2014/main" id="{06EB6A87-C410-9B14-96CD-100480173550}"/>
                </a:ext>
              </a:extLst>
            </p:cNvPr>
            <p:cNvPicPr>
              <a:picLocks noChangeAspect="1"/>
            </p:cNvPicPr>
            <p:nvPr/>
          </p:nvPicPr>
          <p:blipFill>
            <a:blip>
              <a:extLst>
                <a:ext uri="{96DAC541-7B7A-43D3-8B79-37D633B846F1}">
                  <asvg:svgBlip xmlns:asvg="http://schemas.microsoft.com/office/drawing/2016/SVG/main" r:embed="rId3"/>
                </a:ext>
              </a:extLst>
            </a:blip>
            <a:srcRect t="1" r="59919" b="62224"/>
            <a:stretch>
              <a:fillRect/>
            </a:stretch>
          </p:blipFill>
          <p:spPr>
            <a:xfrm>
              <a:off x="4919971" y="1812471"/>
              <a:ext cx="2631264" cy="1986356"/>
            </a:xfrm>
            <a:prstGeom prst="rect">
              <a:avLst/>
            </a:prstGeom>
          </p:spPr>
        </p:pic>
      </p:grpSp>
      <p:grpSp>
        <p:nvGrpSpPr>
          <p:cNvPr id="15" name="Group 14">
            <a:extLst>
              <a:ext uri="{FF2B5EF4-FFF2-40B4-BE49-F238E27FC236}">
                <a16:creationId xmlns:a16="http://schemas.microsoft.com/office/drawing/2014/main" id="{A959BC3A-EAE5-7038-FDF7-CE47FECE7DCB}"/>
              </a:ext>
            </a:extLst>
          </p:cNvPr>
          <p:cNvGrpSpPr/>
          <p:nvPr/>
        </p:nvGrpSpPr>
        <p:grpSpPr>
          <a:xfrm>
            <a:off x="8459256" y="3152001"/>
            <a:ext cx="2390398" cy="3497304"/>
            <a:chOff x="8459256" y="3152001"/>
            <a:chExt cx="2390398" cy="3497304"/>
          </a:xfrm>
        </p:grpSpPr>
        <p:sp>
          <p:nvSpPr>
            <p:cNvPr id="8" name="TextBox 7">
              <a:extLst>
                <a:ext uri="{FF2B5EF4-FFF2-40B4-BE49-F238E27FC236}">
                  <a16:creationId xmlns:a16="http://schemas.microsoft.com/office/drawing/2014/main" id="{C10BA276-D3D5-43CD-BA0F-E78D4E84387D}"/>
                </a:ext>
              </a:extLst>
            </p:cNvPr>
            <p:cNvSpPr txBox="1"/>
            <p:nvPr/>
          </p:nvSpPr>
          <p:spPr>
            <a:xfrm>
              <a:off x="8459256" y="3607132"/>
              <a:ext cx="2390398" cy="369332"/>
            </a:xfrm>
            <a:prstGeom prst="rect">
              <a:avLst/>
            </a:prstGeom>
            <a:noFill/>
          </p:spPr>
          <p:txBody>
            <a:bodyPr wrap="none" rtlCol="0">
              <a:spAutoFit/>
            </a:bodyPr>
            <a:lstStyle/>
            <a:p>
              <a:r>
                <a:rPr lang="en-US" dirty="0" err="1">
                  <a:solidFill>
                    <a:srgbClr val="795E26"/>
                  </a:solidFill>
                  <a:latin typeface="Fira Code" panose="020B0809050000020004" pitchFamily="49" charset="0"/>
                </a:rPr>
                <a:t>recv</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col_major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01870" y="3152001"/>
              <a:ext cx="935064" cy="461665"/>
            </a:xfrm>
            <a:prstGeom prst="rect">
              <a:avLst/>
            </a:prstGeom>
            <a:noFill/>
          </p:spPr>
          <p:txBody>
            <a:bodyPr wrap="none" rtlCol="0">
              <a:spAutoFit/>
            </a:bodyPr>
            <a:lstStyle/>
            <a:p>
              <a:r>
                <a:rPr lang="en-US" sz="2400" b="1" noProof="0" dirty="0"/>
                <a:t>naive</a:t>
              </a:r>
              <a:endParaRPr lang="en-US" b="1" noProof="0" dirty="0"/>
            </a:p>
          </p:txBody>
        </p:sp>
        <p:pic>
          <p:nvPicPr>
            <p:cNvPr id="20" name="Graphic 19">
              <a:extLst>
                <a:ext uri="{FF2B5EF4-FFF2-40B4-BE49-F238E27FC236}">
                  <a16:creationId xmlns:a16="http://schemas.microsoft.com/office/drawing/2014/main" id="{B3AE9794-A1E1-1CB2-4E89-0355A8BF2AAB}"/>
                </a:ext>
              </a:extLst>
            </p:cNvPr>
            <p:cNvPicPr>
              <a:picLocks noChangeAspect="1"/>
            </p:cNvPicPr>
            <p:nvPr/>
          </p:nvPicPr>
          <p:blipFill>
            <a:blip>
              <a:extLst>
                <a:ext uri="{96DAC541-7B7A-43D3-8B79-37D633B846F1}">
                  <asvg:svgBlip xmlns:asvg="http://schemas.microsoft.com/office/drawing/2016/SVG/main" r:embed="rId3"/>
                </a:ext>
              </a:extLst>
            </a:blip>
            <a:srcRect l="69206" b="49586"/>
            <a:stretch>
              <a:fillRect/>
            </a:stretch>
          </p:blipFill>
          <p:spPr>
            <a:xfrm>
              <a:off x="8558652" y="3998343"/>
              <a:ext cx="2021500" cy="2650962"/>
            </a:xfrm>
            <a:prstGeom prst="rect">
              <a:avLst/>
            </a:prstGeom>
          </p:spPr>
        </p:pic>
      </p:grpSp>
      <p:grpSp>
        <p:nvGrpSpPr>
          <p:cNvPr id="16" name="Group 15">
            <a:extLst>
              <a:ext uri="{FF2B5EF4-FFF2-40B4-BE49-F238E27FC236}">
                <a16:creationId xmlns:a16="http://schemas.microsoft.com/office/drawing/2014/main" id="{E5677424-78DF-5606-13A7-A5CE7C02CC88}"/>
              </a:ext>
            </a:extLst>
          </p:cNvPr>
          <p:cNvGrpSpPr/>
          <p:nvPr/>
        </p:nvGrpSpPr>
        <p:grpSpPr>
          <a:xfrm>
            <a:off x="1934048" y="3152001"/>
            <a:ext cx="2390398" cy="3407922"/>
            <a:chOff x="1934048" y="3152001"/>
            <a:chExt cx="2390398" cy="3407922"/>
          </a:xfrm>
        </p:grpSpPr>
        <p:sp>
          <p:nvSpPr>
            <p:cNvPr id="13" name="TextBox 12">
              <a:extLst>
                <a:ext uri="{FF2B5EF4-FFF2-40B4-BE49-F238E27FC236}">
                  <a16:creationId xmlns:a16="http://schemas.microsoft.com/office/drawing/2014/main" id="{439C9CAD-9E1E-7EC1-4429-D017CA1092E1}"/>
                </a:ext>
              </a:extLst>
            </p:cNvPr>
            <p:cNvSpPr txBox="1"/>
            <p:nvPr/>
          </p:nvSpPr>
          <p:spPr>
            <a:xfrm>
              <a:off x="2667595" y="3152001"/>
              <a:ext cx="810030" cy="461665"/>
            </a:xfrm>
            <a:prstGeom prst="rect">
              <a:avLst/>
            </a:prstGeom>
            <a:noFill/>
          </p:spPr>
          <p:txBody>
            <a:bodyPr wrap="none" rtlCol="0">
              <a:spAutoFit/>
            </a:bodyPr>
            <a:lstStyle/>
            <a:p>
              <a:r>
                <a:rPr lang="en-US" sz="2400" b="1" noProof="0" dirty="0"/>
                <a:t>ours</a:t>
              </a:r>
              <a:endParaRPr lang="en-US" b="1" noProof="0" dirty="0"/>
            </a:p>
          </p:txBody>
        </p:sp>
        <p:pic>
          <p:nvPicPr>
            <p:cNvPr id="22" name="Graphic 21">
              <a:extLst>
                <a:ext uri="{FF2B5EF4-FFF2-40B4-BE49-F238E27FC236}">
                  <a16:creationId xmlns:a16="http://schemas.microsoft.com/office/drawing/2014/main" id="{51998753-317E-8821-611A-BAD4E67A202C}"/>
                </a:ext>
              </a:extLst>
            </p:cNvPr>
            <p:cNvPicPr>
              <a:picLocks noChangeAspect="1"/>
            </p:cNvPicPr>
            <p:nvPr/>
          </p:nvPicPr>
          <p:blipFill>
            <a:blip>
              <a:extLst>
                <a:ext uri="{96DAC541-7B7A-43D3-8B79-37D633B846F1}">
                  <asvg:svgBlip xmlns:asvg="http://schemas.microsoft.com/office/drawing/2016/SVG/main" r:embed="rId3"/>
                </a:ext>
              </a:extLst>
            </a:blip>
            <a:srcRect t="49586" r="69685"/>
            <a:stretch>
              <a:fillRect/>
            </a:stretch>
          </p:blipFill>
          <p:spPr>
            <a:xfrm>
              <a:off x="2077559" y="3908961"/>
              <a:ext cx="1990102" cy="2650962"/>
            </a:xfrm>
            <a:prstGeom prst="rect">
              <a:avLst/>
            </a:prstGeom>
          </p:spPr>
        </p:pic>
        <p:sp>
          <p:nvSpPr>
            <p:cNvPr id="26" name="TextBox 25">
              <a:extLst>
                <a:ext uri="{FF2B5EF4-FFF2-40B4-BE49-F238E27FC236}">
                  <a16:creationId xmlns:a16="http://schemas.microsoft.com/office/drawing/2014/main" id="{961FBEC7-CB4A-332B-8305-81A140E2B4BC}"/>
                </a:ext>
              </a:extLst>
            </p:cNvPr>
            <p:cNvSpPr txBox="1"/>
            <p:nvPr/>
          </p:nvSpPr>
          <p:spPr>
            <a:xfrm>
              <a:off x="1934048" y="3530585"/>
              <a:ext cx="2390398" cy="369332"/>
            </a:xfrm>
            <a:prstGeom prst="rect">
              <a:avLst/>
            </a:prstGeom>
            <a:noFill/>
          </p:spPr>
          <p:txBody>
            <a:bodyPr wrap="none" rtlCol="0">
              <a:spAutoFit/>
            </a:bodyPr>
            <a:lstStyle/>
            <a:p>
              <a:r>
                <a:rPr lang="en-US" dirty="0" err="1">
                  <a:solidFill>
                    <a:srgbClr val="795E26"/>
                  </a:solidFill>
                  <a:latin typeface="Fira Code" panose="020B0809050000020004" pitchFamily="49" charset="0"/>
                </a:rPr>
                <a:t>recv</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col_major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grpSp>
      <p:cxnSp>
        <p:nvCxnSpPr>
          <p:cNvPr id="28" name="Straight Arrow Connector 27">
            <a:extLst>
              <a:ext uri="{FF2B5EF4-FFF2-40B4-BE49-F238E27FC236}">
                <a16:creationId xmlns:a16="http://schemas.microsoft.com/office/drawing/2014/main" id="{2045E9BC-7505-AE12-2FF8-B6E23CAD3D28}"/>
              </a:ext>
            </a:extLst>
          </p:cNvPr>
          <p:cNvCxnSpPr>
            <a:stCxn id="18" idx="2"/>
            <a:endCxn id="22" idx="3"/>
          </p:cNvCxnSpPr>
          <p:nvPr/>
        </p:nvCxnSpPr>
        <p:spPr>
          <a:xfrm flipH="1">
            <a:off x="4067661" y="3798827"/>
            <a:ext cx="2167942" cy="14356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stCxn id="18" idx="2"/>
            <a:endCxn id="20" idx="1"/>
          </p:cNvCxnSpPr>
          <p:nvPr/>
        </p:nvCxnSpPr>
        <p:spPr>
          <a:xfrm>
            <a:off x="6235603" y="3798827"/>
            <a:ext cx="2323049" cy="152499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100829" y="4624428"/>
            <a:ext cx="2791342" cy="369332"/>
          </a:xfrm>
          <a:prstGeom prst="rect">
            <a:avLst/>
          </a:prstGeom>
          <a:noFill/>
        </p:spPr>
        <p:txBody>
          <a:bodyPr wrap="none" rtlCol="0">
            <a:spAutoFit/>
          </a:bodyPr>
          <a:lstStyle/>
          <a:p>
            <a:r>
              <a:rPr lang="en-US" noProof="0" dirty="0"/>
              <a:t>Preserves </a:t>
            </a:r>
            <a:r>
              <a:rPr lang="en-US" b="1" noProof="0" dirty="0"/>
              <a:t>physical layout</a:t>
            </a: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3731828" y="4466362"/>
            <a:ext cx="2929648" cy="369332"/>
          </a:xfrm>
          <a:prstGeom prst="rect">
            <a:avLst/>
          </a:prstGeom>
          <a:noFill/>
        </p:spPr>
        <p:txBody>
          <a:bodyPr wrap="none" rtlCol="0">
            <a:spAutoFit/>
          </a:bodyPr>
          <a:lstStyle/>
          <a:p>
            <a:r>
              <a:rPr lang="en-US" noProof="0" dirty="0"/>
              <a:t>Preserves </a:t>
            </a:r>
            <a:r>
              <a:rPr lang="en-US" b="1" noProof="0" dirty="0"/>
              <a:t>logical structure</a:t>
            </a: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8934595" y="1810235"/>
            <a:ext cx="2470005" cy="919943"/>
            <a:chOff x="8934595" y="1810235"/>
            <a:chExt cx="2470005" cy="919943"/>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7688"/>
                <a:gd name="adj2" fmla="val 153247"/>
                <a:gd name="adj3" fmla="val 16667"/>
              </a:avLst>
            </a:prstGeom>
            <a:solidFill>
              <a:srgbClr val="79BEED"/>
            </a:solidFill>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934595" y="1812471"/>
              <a:ext cx="2470005" cy="898064"/>
            </a:xfrm>
            <a:prstGeom prst="wedgeRoundRectCallout">
              <a:avLst>
                <a:gd name="adj1" fmla="val -111916"/>
                <a:gd name="adj2" fmla="val -72812"/>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dirty="0"/>
                <a:t>Same for </a:t>
              </a:r>
              <a:r>
                <a:rPr lang="en-US" dirty="0" err="1">
                  <a:latin typeface="Fira Code" panose="020B0809050000020004" pitchFamily="49" charset="0"/>
                  <a:ea typeface="Fira Code" panose="020B0809050000020004" pitchFamily="49" charset="0"/>
                  <a:cs typeface="Fira Code" panose="020B0809050000020004" pitchFamily="49" charset="0"/>
                </a:rPr>
                <a:t>bcast</a:t>
              </a:r>
              <a:r>
                <a:rPr lang="en-US" dirty="0"/>
                <a:t>, </a:t>
              </a:r>
              <a:r>
                <a:rPr lang="en-US" dirty="0">
                  <a:latin typeface="Fira Code" panose="020B0809050000020004" pitchFamily="49" charset="0"/>
                  <a:ea typeface="Fira Code" panose="020B0809050000020004" pitchFamily="49" charset="0"/>
                  <a:cs typeface="Fira Code" panose="020B0809050000020004" pitchFamily="49" charset="0"/>
                </a:rPr>
                <a:t>scatter</a:t>
              </a:r>
              <a:r>
                <a:rPr lang="en-US" dirty="0"/>
                <a:t>, </a:t>
              </a:r>
              <a:r>
                <a:rPr lang="en-US" dirty="0">
                  <a:latin typeface="Fira Code" panose="020B0809050000020004" pitchFamily="49" charset="0"/>
                  <a:ea typeface="Fira Code" panose="020B0809050000020004" pitchFamily="49" charset="0"/>
                  <a:cs typeface="Fira Code" panose="020B0809050000020004" pitchFamily="49" charset="0"/>
                </a:rPr>
                <a:t>gather</a:t>
              </a:r>
              <a:r>
                <a:rPr lang="en-US"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67962" y="2629269"/>
              <a:ext cx="623887" cy="100909"/>
            </a:xfrm>
            <a:prstGeom prst="roundRect">
              <a:avLst>
                <a:gd name="adj" fmla="val 50000"/>
              </a:avLst>
            </a:prstGeom>
            <a:solidFill>
              <a:srgbClr val="7ABEED"/>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14841515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43B218F-11A7-3C72-B764-CB088CE45925}"/>
              </a:ext>
            </a:extLst>
          </p:cNvPr>
          <p:cNvPicPr>
            <a:picLocks noChangeAspect="1"/>
          </p:cNvPicPr>
          <p:nvPr/>
        </p:nvPicPr>
        <p:blipFill>
          <a:blip r:embed="rId3"/>
          <a:stretch>
            <a:fillRect/>
          </a:stretch>
        </p:blipFill>
        <p:spPr>
          <a:xfrm>
            <a:off x="1794862" y="3305637"/>
            <a:ext cx="8602275" cy="2924583"/>
          </a:xfrm>
          <a:prstGeom prst="rect">
            <a:avLst/>
          </a:prstGeom>
        </p:spPr>
      </p:pic>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4"/>
          <a:stretch>
            <a:fillRect/>
          </a:stretch>
        </p:blipFill>
        <p:spPr>
          <a:xfrm>
            <a:off x="2733204" y="1356359"/>
            <a:ext cx="6725589" cy="1886213"/>
          </a:xfrm>
          <a:prstGeom prst="rect">
            <a:avLst/>
          </a:prstGeom>
        </p:spPr>
      </p:pic>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spTree>
    <p:extLst>
      <p:ext uri="{BB962C8B-B14F-4D97-AF65-F5344CB8AC3E}">
        <p14:creationId xmlns:p14="http://schemas.microsoft.com/office/powerpoint/2010/main" val="2024218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Cellular Automata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8/29/2026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pic>
        <p:nvPicPr>
          <p:cNvPr id="8" name="Graphic 7">
            <a:extLst>
              <a:ext uri="{FF2B5EF4-FFF2-40B4-BE49-F238E27FC236}">
                <a16:creationId xmlns:a16="http://schemas.microsoft.com/office/drawing/2014/main" id="{98E1269E-84AC-DEE2-DB4E-44747500089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7156" y="2248708"/>
            <a:ext cx="1375954" cy="1375954"/>
          </a:xfrm>
          <a:prstGeom prst="rect">
            <a:avLst/>
          </a:prstGeom>
        </p:spPr>
      </p:pic>
      <p:sp>
        <p:nvSpPr>
          <p:cNvPr id="31" name="TextBox 30">
            <a:extLst>
              <a:ext uri="{FF2B5EF4-FFF2-40B4-BE49-F238E27FC236}">
                <a16:creationId xmlns:a16="http://schemas.microsoft.com/office/drawing/2014/main" id="{7F9EF83F-D6D0-6A28-58E5-56F7C20423D4}"/>
              </a:ext>
            </a:extLst>
          </p:cNvPr>
          <p:cNvSpPr txBox="1"/>
          <p:nvPr/>
        </p:nvSpPr>
        <p:spPr>
          <a:xfrm>
            <a:off x="167523" y="3732911"/>
            <a:ext cx="5225579" cy="2587183"/>
          </a:xfrm>
          <a:prstGeom prst="rect">
            <a:avLst/>
          </a:prstGeom>
          <a:noFill/>
          <a:ln>
            <a:solidFill>
              <a:schemeClr val="tx1"/>
            </a:solidFill>
          </a:ln>
        </p:spPr>
        <p:txBody>
          <a:bodyPr wrap="square">
            <a:spAutoFit/>
          </a:bodyPr>
          <a:lstStyle/>
          <a:p>
            <a:pPr>
              <a:lnSpc>
                <a:spcPct val="113095"/>
              </a:lnSpc>
              <a:buNone/>
            </a:pPr>
            <a:r>
              <a:rPr lang="en-US" sz="1600" noProof="0" dirty="0">
                <a:solidFill>
                  <a:srgbClr val="AF00DB"/>
                </a:solidFill>
                <a:effectLst/>
                <a:latin typeface="Fira Code" panose="020B0809050000020004" pitchFamily="49" charset="0"/>
              </a:rPr>
              <a:t>if</a:t>
            </a:r>
            <a:r>
              <a:rPr lang="en-US" sz="1600" noProof="0" dirty="0">
                <a:solidFill>
                  <a:srgbClr val="000000"/>
                </a:solidFill>
                <a:effectLst/>
                <a:latin typeface="Fira Code" panose="020B0809050000020004" pitchFamily="49" charset="0"/>
              </a:rPr>
              <a:t> (</a:t>
            </a:r>
            <a:r>
              <a:rPr lang="en-US" sz="1600" noProof="0" dirty="0">
                <a:solidFill>
                  <a:srgbClr val="001080"/>
                </a:solidFill>
                <a:effectLst/>
                <a:latin typeface="Fira Code" panose="020B0809050000020004" pitchFamily="49" charset="0"/>
              </a:rPr>
              <a:t>current</a:t>
            </a:r>
            <a:r>
              <a:rPr lang="en-US" sz="1600" noProof="0" dirty="0">
                <a:solidFill>
                  <a:srgbClr val="000000"/>
                </a:solidFill>
                <a:effectLst/>
                <a:latin typeface="Fira Code" panose="020B0809050000020004" pitchFamily="49" charset="0"/>
              </a:rPr>
              <a:t> == </a:t>
            </a:r>
            <a:r>
              <a:rPr lang="en-US" sz="1600" noProof="0" dirty="0">
                <a:solidFill>
                  <a:srgbClr val="0070C1"/>
                </a:solidFill>
                <a:effectLst/>
                <a:latin typeface="Fira Code" panose="020B0809050000020004" pitchFamily="49" charset="0"/>
              </a:rPr>
              <a:t>ALIVE</a:t>
            </a:r>
            <a:r>
              <a:rPr lang="en-US" sz="160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if</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 </a:t>
            </a:r>
            <a:r>
              <a:rPr lang="en-US" sz="1600" b="0" noProof="0" dirty="0">
                <a:solidFill>
                  <a:srgbClr val="098658"/>
                </a:solidFill>
                <a:effectLst/>
                <a:latin typeface="Fira Code" panose="020B0809050000020004" pitchFamily="49" charset="0"/>
              </a:rPr>
              <a:t>2</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 </a:t>
            </a:r>
            <a:r>
              <a:rPr lang="en-US" sz="1600" b="0" noProof="0" dirty="0">
                <a:solidFill>
                  <a:srgbClr val="098658"/>
                </a:solidFill>
                <a:effectLst/>
                <a:latin typeface="Fira Code" panose="020B0809050000020004" pitchFamily="49" charset="0"/>
              </a:rPr>
              <a:t>3</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 </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else</a:t>
            </a: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else</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if</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 </a:t>
            </a:r>
            <a:r>
              <a:rPr lang="en-US" sz="1600" b="0" noProof="0" dirty="0">
                <a:solidFill>
                  <a:srgbClr val="098658"/>
                </a:solidFill>
                <a:effectLst/>
                <a:latin typeface="Fira Code" panose="020B0809050000020004" pitchFamily="49" charset="0"/>
              </a:rPr>
              <a:t>3</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AF00DB"/>
                </a:solidFill>
                <a:effectLst/>
                <a:latin typeface="Fira Code" panose="020B0809050000020004" pitchFamily="49" charset="0"/>
              </a:rPr>
              <a:t>else</a:t>
            </a: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a:t>
            </a:r>
          </a:p>
        </p:txBody>
      </p:sp>
      <p:pic>
        <p:nvPicPr>
          <p:cNvPr id="34" name="Graphic 33">
            <a:extLst>
              <a:ext uri="{FF2B5EF4-FFF2-40B4-BE49-F238E27FC236}">
                <a16:creationId xmlns:a16="http://schemas.microsoft.com/office/drawing/2014/main" id="{9EC9903D-7976-AE7F-53EA-DB7D6319B68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5400000">
            <a:off x="3735186" y="2217749"/>
            <a:ext cx="1375954" cy="1375954"/>
          </a:xfrm>
          <a:prstGeom prst="rect">
            <a:avLst/>
          </a:prstGeom>
        </p:spPr>
      </p:pic>
      <p:cxnSp>
        <p:nvCxnSpPr>
          <p:cNvPr id="36" name="Straight Arrow Connector 35">
            <a:extLst>
              <a:ext uri="{FF2B5EF4-FFF2-40B4-BE49-F238E27FC236}">
                <a16:creationId xmlns:a16="http://schemas.microsoft.com/office/drawing/2014/main" id="{73268C98-D978-F28F-D534-A50D31A6583D}"/>
              </a:ext>
            </a:extLst>
          </p:cNvPr>
          <p:cNvCxnSpPr/>
          <p:nvPr/>
        </p:nvCxnSpPr>
        <p:spPr>
          <a:xfrm>
            <a:off x="2685011" y="2936685"/>
            <a:ext cx="96427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7" name="Rectangle 36">
            <a:extLst>
              <a:ext uri="{FF2B5EF4-FFF2-40B4-BE49-F238E27FC236}">
                <a16:creationId xmlns:a16="http://schemas.microsoft.com/office/drawing/2014/main" id="{84762BE1-916C-D601-B954-E9B4996AD7B4}"/>
              </a:ext>
            </a:extLst>
          </p:cNvPr>
          <p:cNvSpPr/>
          <p:nvPr/>
        </p:nvSpPr>
        <p:spPr>
          <a:xfrm>
            <a:off x="1704109" y="2535382"/>
            <a:ext cx="819001" cy="8495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0" name="TextBox 39">
            <a:extLst>
              <a:ext uri="{FF2B5EF4-FFF2-40B4-BE49-F238E27FC236}">
                <a16:creationId xmlns:a16="http://schemas.microsoft.com/office/drawing/2014/main" id="{1DF01CBF-ED82-75C5-B137-525BD0A227B1}"/>
              </a:ext>
            </a:extLst>
          </p:cNvPr>
          <p:cNvSpPr txBox="1"/>
          <p:nvPr/>
        </p:nvSpPr>
        <p:spPr>
          <a:xfrm>
            <a:off x="1876218" y="1771333"/>
            <a:ext cx="2581861" cy="369332"/>
          </a:xfrm>
          <a:prstGeom prst="rect">
            <a:avLst/>
          </a:prstGeom>
          <a:noFill/>
        </p:spPr>
        <p:txBody>
          <a:bodyPr wrap="none" rtlCol="0">
            <a:spAutoFit/>
          </a:bodyPr>
          <a:lstStyle/>
          <a:p>
            <a:r>
              <a:rPr lang="en-US" noProof="0" dirty="0"/>
              <a:t>Game of Life automaton</a:t>
            </a:r>
          </a:p>
        </p:txBody>
      </p:sp>
      <p:sp>
        <p:nvSpPr>
          <p:cNvPr id="46" name="TextBox 45">
            <a:extLst>
              <a:ext uri="{FF2B5EF4-FFF2-40B4-BE49-F238E27FC236}">
                <a16:creationId xmlns:a16="http://schemas.microsoft.com/office/drawing/2014/main" id="{A0DADC12-4478-238B-5B5C-FCD09EE6C61B}"/>
              </a:ext>
            </a:extLst>
          </p:cNvPr>
          <p:cNvSpPr txBox="1"/>
          <p:nvPr/>
        </p:nvSpPr>
        <p:spPr>
          <a:xfrm>
            <a:off x="6040927" y="4150236"/>
            <a:ext cx="6096000" cy="1752531"/>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AF00DB"/>
                </a:solidFill>
                <a:effectLst/>
                <a:latin typeface="Fira Code" panose="020B0809050000020004" pitchFamily="49" charset="0"/>
              </a:rPr>
              <a:t>using</a:t>
            </a:r>
            <a:r>
              <a:rPr lang="en-US" sz="1600" b="0" noProof="0" dirty="0">
                <a:solidFill>
                  <a:srgbClr val="000000"/>
                </a:solidFill>
                <a:effectLst/>
                <a:latin typeface="Fira Code" panose="020B0809050000020004" pitchFamily="49" charset="0"/>
              </a:rPr>
              <a:t> </a:t>
            </a:r>
            <a:r>
              <a:rPr lang="en-US" sz="1600" b="0" noProof="0" dirty="0" err="1">
                <a:solidFill>
                  <a:srgbClr val="267F99"/>
                </a:solidFill>
                <a:effectLst/>
                <a:latin typeface="Fira Code" panose="020B0809050000020004" pitchFamily="49" charset="0"/>
              </a:rPr>
              <a:t>gol_rule</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noProof="0" dirty="0">
                <a:solidFill>
                  <a:srgbClr val="AF00DB"/>
                </a:solidFill>
                <a:latin typeface="Fira Code" panose="020B0809050000020004" pitchFamily="49" charset="0"/>
              </a:rPr>
              <a:t>if_</a:t>
            </a:r>
            <a:r>
              <a:rPr lang="en-US" sz="1600" b="0" noProof="0" dirty="0">
                <a:solidFill>
                  <a:srgbClr val="000000"/>
                </a:solidFill>
                <a:effectLst/>
                <a:latin typeface="Fira Code" panose="020B0809050000020004" pitchFamily="49" charset="0"/>
              </a:rPr>
              <a:t>&lt;</a:t>
            </a:r>
            <a:r>
              <a:rPr lang="en-US" sz="1600" noProof="0" dirty="0" err="1">
                <a:solidFill>
                  <a:srgbClr val="001080"/>
                </a:solidFill>
                <a:latin typeface="Fira Code" panose="020B0809050000020004" pitchFamily="49" charset="0"/>
              </a:rPr>
              <a:t>is_alive</a:t>
            </a:r>
            <a:r>
              <a:rPr lang="en-US" sz="1600" b="0" noProof="0" dirty="0">
                <a:solidFill>
                  <a:srgbClr val="000000"/>
                </a:solidFill>
                <a:effectLst/>
                <a:latin typeface="Fira Code" panose="020B0809050000020004" pitchFamily="49" charset="0"/>
              </a:rPr>
              <a:t>&gt;::</a:t>
            </a:r>
            <a:r>
              <a:rPr lang="en-US" sz="1600" b="0" noProof="0" dirty="0">
                <a:effectLst/>
                <a:latin typeface="Fira Code" panose="020B0809050000020004" pitchFamily="49" charset="0"/>
              </a:rPr>
              <a:t>then_</a:t>
            </a:r>
            <a:r>
              <a:rPr lang="en-US" sz="1600" b="0" noProof="0" dirty="0">
                <a:solidFill>
                  <a:srgbClr val="000000"/>
                </a:solidFill>
                <a:effectLst/>
                <a:latin typeface="Fira Code" panose="020B0809050000020004" pitchFamily="49" charset="0"/>
              </a:rPr>
              <a:t>&lt;</a:t>
            </a:r>
          </a:p>
          <a:p>
            <a:pPr>
              <a:lnSpc>
                <a:spcPct val="113095"/>
              </a:lnSpc>
              <a:buNone/>
            </a:pPr>
            <a:r>
              <a:rPr lang="en-US" sz="1600" b="0" noProof="0" dirty="0">
                <a:solidFill>
                  <a:srgbClr val="000000"/>
                </a:solidFill>
                <a:effectLst/>
                <a:latin typeface="Fira Code" panose="020B0809050000020004" pitchFamily="49" charset="0"/>
              </a:rPr>
              <a:t>    </a:t>
            </a:r>
            <a:r>
              <a:rPr lang="en-US" sz="1600" noProof="0" dirty="0">
                <a:solidFill>
                  <a:srgbClr val="AF00DB"/>
                </a:solidFill>
                <a:latin typeface="Fira Code" panose="020B0809050000020004" pitchFamily="49" charset="0"/>
              </a:rPr>
              <a:t>if_</a:t>
            </a:r>
            <a:r>
              <a:rPr lang="en-US" sz="1600" b="0" noProof="0" dirty="0">
                <a:solidFill>
                  <a:srgbClr val="000000"/>
                </a:solidFill>
                <a:effectLst/>
                <a:latin typeface="Fira Code" panose="020B0809050000020004" pitchFamily="49" charset="0"/>
              </a:rPr>
              <a:t>&lt;</a:t>
            </a:r>
            <a:r>
              <a:rPr lang="en-US" sz="1600" noProof="0" dirty="0">
                <a:solidFill>
                  <a:srgbClr val="001080"/>
                </a:solidFill>
                <a:latin typeface="Fira Code" panose="020B0809050000020004" pitchFamily="49" charset="0"/>
              </a:rPr>
              <a:t>has3_or_2</a:t>
            </a:r>
            <a:r>
              <a:rPr lang="en-US" sz="1600" b="0" noProof="0" dirty="0">
                <a:solidFill>
                  <a:srgbClr val="000000"/>
                </a:solidFill>
                <a:effectLst/>
                <a:latin typeface="Fira Code" panose="020B0809050000020004" pitchFamily="49" charset="0"/>
              </a:rPr>
              <a:t>&gt;::</a:t>
            </a:r>
            <a:r>
              <a:rPr lang="en-US" sz="1600" b="0" noProof="0" dirty="0">
                <a:effectLst/>
                <a:latin typeface="Fira Code" panose="020B0809050000020004" pitchFamily="49" charset="0"/>
              </a:rPr>
              <a:t>then_</a:t>
            </a:r>
            <a:r>
              <a:rPr lang="en-US" sz="1600" b="0" noProof="0" dirty="0">
                <a:solidFill>
                  <a:srgbClr val="000000"/>
                </a:solidFill>
                <a:effectLst/>
                <a:latin typeface="Fira Code" panose="020B0809050000020004" pitchFamily="49" charset="0"/>
              </a:rPr>
              <a:t>&lt;</a:t>
            </a:r>
            <a:r>
              <a:rPr lang="en-US" sz="1600" b="0" noProof="0" dirty="0">
                <a:solidFill>
                  <a:srgbClr val="267F99"/>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&gt;::</a:t>
            </a:r>
            <a:r>
              <a:rPr lang="en-US" sz="1600" noProof="0" dirty="0">
                <a:solidFill>
                  <a:srgbClr val="AF00DB"/>
                </a:solidFill>
                <a:latin typeface="Fira Code" panose="020B0809050000020004" pitchFamily="49" charset="0"/>
              </a:rPr>
              <a:t>else_</a:t>
            </a:r>
            <a:r>
              <a:rPr lang="en-US" sz="1600" b="0" noProof="0" dirty="0">
                <a:solidFill>
                  <a:srgbClr val="000000"/>
                </a:solidFill>
                <a:effectLst/>
                <a:latin typeface="Fira Code" panose="020B0809050000020004" pitchFamily="49" charset="0"/>
              </a:rPr>
              <a:t>&lt;</a:t>
            </a:r>
            <a:r>
              <a:rPr lang="en-US" sz="1600" b="0" noProof="0" dirty="0">
                <a:solidFill>
                  <a:srgbClr val="267F99"/>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&gt;&gt;::</a:t>
            </a:r>
          </a:p>
          <a:p>
            <a:pPr>
              <a:lnSpc>
                <a:spcPct val="113095"/>
              </a:lnSpc>
              <a:buNone/>
            </a:pPr>
            <a:r>
              <a:rPr lang="en-US" sz="1600" b="0" noProof="0" dirty="0">
                <a:solidFill>
                  <a:srgbClr val="000000"/>
                </a:solidFill>
                <a:effectLst/>
                <a:latin typeface="Fira Code" panose="020B0809050000020004" pitchFamily="49" charset="0"/>
              </a:rPr>
              <a:t>  </a:t>
            </a:r>
            <a:r>
              <a:rPr lang="en-US" sz="1600" noProof="0" dirty="0">
                <a:solidFill>
                  <a:srgbClr val="AF00DB"/>
                </a:solidFill>
                <a:latin typeface="Fira Code" panose="020B0809050000020004" pitchFamily="49" charset="0"/>
              </a:rPr>
              <a:t>else_</a:t>
            </a:r>
            <a:r>
              <a:rPr lang="en-US" sz="1600" b="0" noProof="0" dirty="0">
                <a:solidFill>
                  <a:srgbClr val="000000"/>
                </a:solidFill>
                <a:effectLst/>
                <a:latin typeface="Fira Code" panose="020B0809050000020004" pitchFamily="49" charset="0"/>
              </a:rPr>
              <a:t>&lt;</a:t>
            </a:r>
          </a:p>
          <a:p>
            <a:pPr>
              <a:lnSpc>
                <a:spcPct val="113095"/>
              </a:lnSpc>
              <a:buNone/>
            </a:pPr>
            <a:r>
              <a:rPr lang="en-US" sz="1600" b="0" noProof="0" dirty="0">
                <a:solidFill>
                  <a:srgbClr val="000000"/>
                </a:solidFill>
                <a:effectLst/>
                <a:latin typeface="Fira Code" panose="020B0809050000020004" pitchFamily="49" charset="0"/>
              </a:rPr>
              <a:t>    </a:t>
            </a:r>
            <a:r>
              <a:rPr lang="en-US" sz="1600" noProof="0" dirty="0">
                <a:solidFill>
                  <a:srgbClr val="AF00DB"/>
                </a:solidFill>
                <a:latin typeface="Fira Code" panose="020B0809050000020004" pitchFamily="49" charset="0"/>
              </a:rPr>
              <a:t>if_</a:t>
            </a:r>
            <a:r>
              <a:rPr lang="en-US" sz="1600" b="0" noProof="0" dirty="0">
                <a:solidFill>
                  <a:srgbClr val="000000"/>
                </a:solidFill>
                <a:effectLst/>
                <a:latin typeface="Fira Code" panose="020B0809050000020004" pitchFamily="49" charset="0"/>
              </a:rPr>
              <a:t>&lt;</a:t>
            </a:r>
            <a:r>
              <a:rPr lang="en-US" sz="1600" noProof="0" dirty="0">
                <a:solidFill>
                  <a:srgbClr val="001080"/>
                </a:solidFill>
                <a:latin typeface="Fira Code" panose="020B0809050000020004" pitchFamily="49" charset="0"/>
              </a:rPr>
              <a:t>has3</a:t>
            </a:r>
            <a:r>
              <a:rPr lang="en-US" sz="1600" b="0" noProof="0" dirty="0">
                <a:solidFill>
                  <a:srgbClr val="000000"/>
                </a:solidFill>
                <a:effectLst/>
                <a:latin typeface="Fira Code" panose="020B0809050000020004" pitchFamily="49" charset="0"/>
              </a:rPr>
              <a:t>&gt;::</a:t>
            </a:r>
            <a:r>
              <a:rPr lang="en-US" sz="1600" b="0" noProof="0" dirty="0">
                <a:effectLst/>
                <a:latin typeface="Fira Code" panose="020B0809050000020004" pitchFamily="49" charset="0"/>
              </a:rPr>
              <a:t>then_</a:t>
            </a:r>
            <a:r>
              <a:rPr lang="en-US" sz="1600" b="0" noProof="0" dirty="0">
                <a:solidFill>
                  <a:srgbClr val="000000"/>
                </a:solidFill>
                <a:effectLst/>
                <a:latin typeface="Fira Code" panose="020B0809050000020004" pitchFamily="49" charset="0"/>
              </a:rPr>
              <a:t>&lt;</a:t>
            </a:r>
            <a:r>
              <a:rPr lang="en-US" sz="1600" b="0" noProof="0" dirty="0">
                <a:solidFill>
                  <a:srgbClr val="267F99"/>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&gt;::</a:t>
            </a:r>
            <a:r>
              <a:rPr lang="en-US" sz="1600" noProof="0" dirty="0">
                <a:solidFill>
                  <a:srgbClr val="AF00DB"/>
                </a:solidFill>
                <a:latin typeface="Fira Code" panose="020B0809050000020004" pitchFamily="49" charset="0"/>
              </a:rPr>
              <a:t>else_</a:t>
            </a:r>
            <a:r>
              <a:rPr lang="en-US" sz="1600" b="0" noProof="0" dirty="0">
                <a:solidFill>
                  <a:srgbClr val="000000"/>
                </a:solidFill>
                <a:effectLst/>
                <a:latin typeface="Fira Code" panose="020B0809050000020004" pitchFamily="49" charset="0"/>
              </a:rPr>
              <a:t>&lt;</a:t>
            </a:r>
            <a:r>
              <a:rPr lang="en-US" sz="1600" b="0" noProof="0" dirty="0">
                <a:solidFill>
                  <a:srgbClr val="267F99"/>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&gt;</a:t>
            </a:r>
          </a:p>
          <a:p>
            <a:pPr>
              <a:lnSpc>
                <a:spcPct val="113095"/>
              </a:lnSpc>
              <a:buNone/>
            </a:pPr>
            <a:r>
              <a:rPr lang="en-US" sz="1600" b="0" noProof="0" dirty="0">
                <a:solidFill>
                  <a:srgbClr val="000000"/>
                </a:solidFill>
                <a:effectLst/>
                <a:latin typeface="Fira Code" panose="020B0809050000020004" pitchFamily="49" charset="0"/>
              </a:rPr>
              <a:t>  &gt;;</a:t>
            </a:r>
          </a:p>
        </p:txBody>
      </p:sp>
      <p:cxnSp>
        <p:nvCxnSpPr>
          <p:cNvPr id="48" name="Straight Arrow Connector 47">
            <a:extLst>
              <a:ext uri="{FF2B5EF4-FFF2-40B4-BE49-F238E27FC236}">
                <a16:creationId xmlns:a16="http://schemas.microsoft.com/office/drawing/2014/main" id="{28944F7A-9857-3E6D-3641-A00C683DD933}"/>
              </a:ext>
            </a:extLst>
          </p:cNvPr>
          <p:cNvCxnSpPr>
            <a:cxnSpLocks/>
            <a:stCxn id="31" idx="3"/>
            <a:endCxn id="46" idx="1"/>
          </p:cNvCxnSpPr>
          <p:nvPr/>
        </p:nvCxnSpPr>
        <p:spPr>
          <a:xfrm flipV="1">
            <a:off x="5393102" y="5026502"/>
            <a:ext cx="647825"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19394614-4B59-2819-85FD-88921C74BAE7}"/>
              </a:ext>
            </a:extLst>
          </p:cNvPr>
          <p:cNvSpPr txBox="1"/>
          <p:nvPr/>
        </p:nvSpPr>
        <p:spPr>
          <a:xfrm>
            <a:off x="7256341" y="3780904"/>
            <a:ext cx="3665171" cy="369332"/>
          </a:xfrm>
          <a:prstGeom prst="rect">
            <a:avLst/>
          </a:prstGeom>
          <a:noFill/>
        </p:spPr>
        <p:txBody>
          <a:bodyPr wrap="none" rtlCol="0">
            <a:spAutoFit/>
          </a:bodyPr>
          <a:lstStyle/>
          <a:p>
            <a:r>
              <a:rPr lang="en-US" noProof="0" dirty="0"/>
              <a:t>Type-level expression (</a:t>
            </a:r>
            <a:r>
              <a:rPr lang="en-US" noProof="0" dirty="0" err="1"/>
              <a:t>Cellato</a:t>
            </a:r>
            <a:r>
              <a:rPr lang="en-US" noProof="0" dirty="0"/>
              <a:t> DSL)</a:t>
            </a:r>
          </a:p>
        </p:txBody>
      </p:sp>
    </p:spTree>
    <p:extLst>
      <p:ext uri="{BB962C8B-B14F-4D97-AF65-F5344CB8AC3E}">
        <p14:creationId xmlns:p14="http://schemas.microsoft.com/office/powerpoint/2010/main" val="26305399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997447" y="2525655"/>
            <a:ext cx="8197106" cy="2898140"/>
          </a:xfrm>
          <a:prstGeom prst="rect">
            <a:avLst/>
          </a:prstGeom>
          <a:ln>
            <a:solidFill>
              <a:schemeClr val="tx1"/>
            </a:solidFill>
          </a:ln>
        </p:spPr>
      </p:pic>
      <p:sp>
        <p:nvSpPr>
          <p:cNvPr id="8" name="TextBox 7">
            <a:extLst>
              <a:ext uri="{FF2B5EF4-FFF2-40B4-BE49-F238E27FC236}">
                <a16:creationId xmlns:a16="http://schemas.microsoft.com/office/drawing/2014/main" id="{B4367950-8D7A-8F93-A9DA-64D5AC81F27E}"/>
              </a:ext>
            </a:extLst>
          </p:cNvPr>
          <p:cNvSpPr txBox="1"/>
          <p:nvPr/>
        </p:nvSpPr>
        <p:spPr>
          <a:xfrm>
            <a:off x="3339292" y="620089"/>
            <a:ext cx="5513417" cy="1545103"/>
          </a:xfrm>
          <a:prstGeom prst="rect">
            <a:avLst/>
          </a:prstGeom>
          <a:noFill/>
          <a:ln>
            <a:solidFill>
              <a:schemeClr val="tx1"/>
            </a:solidFill>
          </a:ln>
        </p:spPr>
        <p:txBody>
          <a:bodyPr wrap="square">
            <a:spAutoFit/>
          </a:bodyPr>
          <a:lstStyle/>
          <a:p>
            <a:pPr>
              <a:lnSpc>
                <a:spcPct val="113095"/>
              </a:lnSpc>
              <a:buNone/>
            </a:pPr>
            <a:r>
              <a:rPr lang="en-US" sz="1400" noProof="0" dirty="0">
                <a:solidFill>
                  <a:srgbClr val="AF00DB"/>
                </a:solidFill>
                <a:latin typeface="Fira Code" panose="020B0809050000020004" pitchFamily="49" charset="0"/>
              </a:rPr>
              <a:t>using</a:t>
            </a:r>
            <a:r>
              <a:rPr lang="en-US" sz="1400" noProof="0" dirty="0">
                <a:solidFill>
                  <a:srgbClr val="000000"/>
                </a:solidFill>
                <a:latin typeface="Fira Code" panose="020B0809050000020004" pitchFamily="49" charset="0"/>
              </a:rPr>
              <a:t> </a:t>
            </a:r>
            <a:r>
              <a:rPr lang="en-US" sz="1400" noProof="0" dirty="0" err="1">
                <a:solidFill>
                  <a:srgbClr val="267F99"/>
                </a:solidFill>
                <a:latin typeface="Fira Code" panose="020B0809050000020004" pitchFamily="49" charset="0"/>
              </a:rPr>
              <a:t>gol_rule</a:t>
            </a:r>
            <a:r>
              <a:rPr lang="en-US" sz="1400" noProof="0" dirty="0">
                <a:solidFill>
                  <a:srgbClr val="000000"/>
                </a:solidFill>
                <a:latin typeface="Fira Code" panose="020B0809050000020004" pitchFamily="49" charset="0"/>
              </a:rPr>
              <a:t> =</a:t>
            </a:r>
          </a:p>
          <a:p>
            <a:pPr>
              <a:lnSpc>
                <a:spcPct val="113095"/>
              </a:lnSpc>
              <a:buNone/>
            </a:pPr>
            <a:r>
              <a:rPr lang="en-US" sz="1400" noProof="0" dirty="0">
                <a:solidFill>
                  <a:srgbClr val="000000"/>
                </a:solidFill>
                <a:latin typeface="Fira Code" panose="020B0809050000020004" pitchFamily="49" charset="0"/>
              </a:rPr>
              <a:t>  </a:t>
            </a:r>
            <a:r>
              <a:rPr lang="en-US" sz="1400" noProof="0" dirty="0">
                <a:solidFill>
                  <a:srgbClr val="AF00DB"/>
                </a:solidFill>
                <a:latin typeface="Fira Code" panose="020B0809050000020004" pitchFamily="49" charset="0"/>
              </a:rPr>
              <a:t>if_</a:t>
            </a:r>
            <a:r>
              <a:rPr lang="en-US" sz="1400" noProof="0" dirty="0">
                <a:solidFill>
                  <a:srgbClr val="000000"/>
                </a:solidFill>
                <a:latin typeface="Fira Code" panose="020B0809050000020004" pitchFamily="49" charset="0"/>
              </a:rPr>
              <a:t>&lt;</a:t>
            </a:r>
            <a:r>
              <a:rPr lang="en-US" sz="1400" noProof="0" dirty="0" err="1">
                <a:solidFill>
                  <a:srgbClr val="001080"/>
                </a:solidFill>
                <a:latin typeface="Fira Code" panose="020B0809050000020004" pitchFamily="49" charset="0"/>
              </a:rPr>
              <a:t>is_alive</a:t>
            </a:r>
            <a:r>
              <a:rPr lang="en-US" sz="1400" noProof="0" dirty="0">
                <a:solidFill>
                  <a:srgbClr val="000000"/>
                </a:solidFill>
                <a:latin typeface="Fira Code" panose="020B0809050000020004" pitchFamily="49" charset="0"/>
              </a:rPr>
              <a:t>&gt;::</a:t>
            </a:r>
            <a:r>
              <a:rPr lang="en-US" sz="1400" noProof="0" dirty="0">
                <a:latin typeface="Fira Code" panose="020B0809050000020004" pitchFamily="49" charset="0"/>
              </a:rPr>
              <a:t>then_</a:t>
            </a:r>
            <a:r>
              <a:rPr lang="en-US" sz="1400" noProof="0" dirty="0">
                <a:solidFill>
                  <a:srgbClr val="000000"/>
                </a:solidFill>
                <a:latin typeface="Fira Code" panose="020B0809050000020004" pitchFamily="49" charset="0"/>
              </a:rPr>
              <a:t>&lt;</a:t>
            </a:r>
          </a:p>
          <a:p>
            <a:pPr>
              <a:lnSpc>
                <a:spcPct val="113095"/>
              </a:lnSpc>
              <a:buNone/>
            </a:pPr>
            <a:r>
              <a:rPr lang="en-US" sz="1400" noProof="0" dirty="0">
                <a:solidFill>
                  <a:srgbClr val="000000"/>
                </a:solidFill>
                <a:latin typeface="Fira Code" panose="020B0809050000020004" pitchFamily="49" charset="0"/>
              </a:rPr>
              <a:t>    </a:t>
            </a:r>
            <a:r>
              <a:rPr lang="en-US" sz="1400" noProof="0" dirty="0">
                <a:solidFill>
                  <a:srgbClr val="AF00DB"/>
                </a:solidFill>
                <a:latin typeface="Fira Code" panose="020B0809050000020004" pitchFamily="49" charset="0"/>
              </a:rPr>
              <a:t>if_</a:t>
            </a:r>
            <a:r>
              <a:rPr lang="en-US" sz="1400" noProof="0" dirty="0">
                <a:solidFill>
                  <a:srgbClr val="000000"/>
                </a:solidFill>
                <a:latin typeface="Fira Code" panose="020B0809050000020004" pitchFamily="49" charset="0"/>
              </a:rPr>
              <a:t>&lt;</a:t>
            </a:r>
            <a:r>
              <a:rPr lang="en-US" sz="1400" noProof="0" dirty="0">
                <a:solidFill>
                  <a:srgbClr val="001080"/>
                </a:solidFill>
                <a:latin typeface="Fira Code" panose="020B0809050000020004" pitchFamily="49" charset="0"/>
              </a:rPr>
              <a:t>has3_or_2</a:t>
            </a:r>
            <a:r>
              <a:rPr lang="en-US" sz="1400" noProof="0" dirty="0">
                <a:solidFill>
                  <a:srgbClr val="000000"/>
                </a:solidFill>
                <a:latin typeface="Fira Code" panose="020B0809050000020004" pitchFamily="49" charset="0"/>
              </a:rPr>
              <a:t>&gt;::</a:t>
            </a:r>
            <a:r>
              <a:rPr lang="en-US" sz="1400" noProof="0" dirty="0">
                <a:latin typeface="Fira Code" panose="020B0809050000020004" pitchFamily="49" charset="0"/>
              </a:rPr>
              <a:t>then_</a:t>
            </a:r>
            <a:r>
              <a:rPr lang="en-US" sz="1400" noProof="0" dirty="0">
                <a:solidFill>
                  <a:srgbClr val="000000"/>
                </a:solidFill>
                <a:latin typeface="Fira Code" panose="020B0809050000020004" pitchFamily="49" charset="0"/>
              </a:rPr>
              <a:t>&lt;</a:t>
            </a:r>
            <a:r>
              <a:rPr lang="en-US" sz="1400" noProof="0" dirty="0">
                <a:solidFill>
                  <a:srgbClr val="267F99"/>
                </a:solidFill>
                <a:latin typeface="Fira Code" panose="020B0809050000020004" pitchFamily="49" charset="0"/>
              </a:rPr>
              <a:t>alive</a:t>
            </a:r>
            <a:r>
              <a:rPr lang="en-US" sz="1400" noProof="0" dirty="0">
                <a:solidFill>
                  <a:srgbClr val="000000"/>
                </a:solidFill>
                <a:latin typeface="Fira Code" panose="020B0809050000020004" pitchFamily="49" charset="0"/>
              </a:rPr>
              <a:t>&gt;::</a:t>
            </a:r>
            <a:r>
              <a:rPr lang="en-US" sz="1400" noProof="0" dirty="0">
                <a:solidFill>
                  <a:srgbClr val="AF00DB"/>
                </a:solidFill>
                <a:latin typeface="Fira Code" panose="020B0809050000020004" pitchFamily="49" charset="0"/>
              </a:rPr>
              <a:t>else_</a:t>
            </a:r>
            <a:r>
              <a:rPr lang="en-US" sz="1400" noProof="0" dirty="0">
                <a:solidFill>
                  <a:srgbClr val="000000"/>
                </a:solidFill>
                <a:latin typeface="Fira Code" panose="020B0809050000020004" pitchFamily="49" charset="0"/>
              </a:rPr>
              <a:t>&lt;</a:t>
            </a:r>
            <a:r>
              <a:rPr lang="en-US" sz="1400" noProof="0" dirty="0">
                <a:solidFill>
                  <a:srgbClr val="267F99"/>
                </a:solidFill>
                <a:latin typeface="Fira Code" panose="020B0809050000020004" pitchFamily="49" charset="0"/>
              </a:rPr>
              <a:t>dead</a:t>
            </a:r>
            <a:r>
              <a:rPr lang="en-US" sz="1400" noProof="0" dirty="0">
                <a:solidFill>
                  <a:srgbClr val="000000"/>
                </a:solidFill>
                <a:latin typeface="Fira Code" panose="020B0809050000020004" pitchFamily="49" charset="0"/>
              </a:rPr>
              <a:t>&gt;&gt;::</a:t>
            </a:r>
          </a:p>
          <a:p>
            <a:pPr>
              <a:lnSpc>
                <a:spcPct val="113095"/>
              </a:lnSpc>
              <a:buNone/>
            </a:pPr>
            <a:r>
              <a:rPr lang="en-US" sz="1400" noProof="0" dirty="0">
                <a:solidFill>
                  <a:srgbClr val="000000"/>
                </a:solidFill>
                <a:latin typeface="Fira Code" panose="020B0809050000020004" pitchFamily="49" charset="0"/>
              </a:rPr>
              <a:t>  </a:t>
            </a:r>
            <a:r>
              <a:rPr lang="en-US" sz="1400" noProof="0" dirty="0">
                <a:solidFill>
                  <a:srgbClr val="AF00DB"/>
                </a:solidFill>
                <a:latin typeface="Fira Code" panose="020B0809050000020004" pitchFamily="49" charset="0"/>
              </a:rPr>
              <a:t>else_</a:t>
            </a:r>
            <a:r>
              <a:rPr lang="en-US" sz="1400" noProof="0" dirty="0">
                <a:solidFill>
                  <a:srgbClr val="000000"/>
                </a:solidFill>
                <a:latin typeface="Fira Code" panose="020B0809050000020004" pitchFamily="49" charset="0"/>
              </a:rPr>
              <a:t>&lt;</a:t>
            </a:r>
          </a:p>
          <a:p>
            <a:pPr>
              <a:lnSpc>
                <a:spcPct val="113095"/>
              </a:lnSpc>
              <a:buNone/>
            </a:pPr>
            <a:r>
              <a:rPr lang="en-US" sz="1400" noProof="0" dirty="0">
                <a:solidFill>
                  <a:srgbClr val="000000"/>
                </a:solidFill>
                <a:latin typeface="Fira Code" panose="020B0809050000020004" pitchFamily="49" charset="0"/>
              </a:rPr>
              <a:t>    </a:t>
            </a:r>
            <a:r>
              <a:rPr lang="en-US" sz="1400" noProof="0" dirty="0">
                <a:solidFill>
                  <a:srgbClr val="AF00DB"/>
                </a:solidFill>
                <a:latin typeface="Fira Code" panose="020B0809050000020004" pitchFamily="49" charset="0"/>
              </a:rPr>
              <a:t>if_</a:t>
            </a:r>
            <a:r>
              <a:rPr lang="en-US" sz="1400" noProof="0" dirty="0">
                <a:solidFill>
                  <a:srgbClr val="000000"/>
                </a:solidFill>
                <a:latin typeface="Fira Code" panose="020B0809050000020004" pitchFamily="49" charset="0"/>
              </a:rPr>
              <a:t>&lt;</a:t>
            </a:r>
            <a:r>
              <a:rPr lang="en-US" sz="1400" noProof="0" dirty="0">
                <a:solidFill>
                  <a:srgbClr val="001080"/>
                </a:solidFill>
                <a:latin typeface="Fira Code" panose="020B0809050000020004" pitchFamily="49" charset="0"/>
              </a:rPr>
              <a:t>has3</a:t>
            </a:r>
            <a:r>
              <a:rPr lang="en-US" sz="1400" noProof="0" dirty="0">
                <a:solidFill>
                  <a:srgbClr val="000000"/>
                </a:solidFill>
                <a:latin typeface="Fira Code" panose="020B0809050000020004" pitchFamily="49" charset="0"/>
              </a:rPr>
              <a:t>&gt;::</a:t>
            </a:r>
            <a:r>
              <a:rPr lang="en-US" sz="1400" noProof="0" dirty="0">
                <a:latin typeface="Fira Code" panose="020B0809050000020004" pitchFamily="49" charset="0"/>
              </a:rPr>
              <a:t>then_</a:t>
            </a:r>
            <a:r>
              <a:rPr lang="en-US" sz="1400" noProof="0" dirty="0">
                <a:solidFill>
                  <a:srgbClr val="000000"/>
                </a:solidFill>
                <a:latin typeface="Fira Code" panose="020B0809050000020004" pitchFamily="49" charset="0"/>
              </a:rPr>
              <a:t>&lt;</a:t>
            </a:r>
            <a:r>
              <a:rPr lang="en-US" sz="1400" noProof="0" dirty="0">
                <a:solidFill>
                  <a:srgbClr val="267F99"/>
                </a:solidFill>
                <a:latin typeface="Fira Code" panose="020B0809050000020004" pitchFamily="49" charset="0"/>
              </a:rPr>
              <a:t>alive</a:t>
            </a:r>
            <a:r>
              <a:rPr lang="en-US" sz="1400" noProof="0" dirty="0">
                <a:solidFill>
                  <a:srgbClr val="000000"/>
                </a:solidFill>
                <a:latin typeface="Fira Code" panose="020B0809050000020004" pitchFamily="49" charset="0"/>
              </a:rPr>
              <a:t>&gt;::</a:t>
            </a:r>
            <a:r>
              <a:rPr lang="en-US" sz="1400" noProof="0" dirty="0">
                <a:solidFill>
                  <a:srgbClr val="AF00DB"/>
                </a:solidFill>
                <a:latin typeface="Fira Code" panose="020B0809050000020004" pitchFamily="49" charset="0"/>
              </a:rPr>
              <a:t>else_</a:t>
            </a:r>
            <a:r>
              <a:rPr lang="en-US" sz="1400" noProof="0" dirty="0">
                <a:solidFill>
                  <a:srgbClr val="000000"/>
                </a:solidFill>
                <a:latin typeface="Fira Code" panose="020B0809050000020004" pitchFamily="49" charset="0"/>
              </a:rPr>
              <a:t>&lt;</a:t>
            </a:r>
            <a:r>
              <a:rPr lang="en-US" sz="1400" noProof="0" dirty="0">
                <a:solidFill>
                  <a:srgbClr val="267F99"/>
                </a:solidFill>
                <a:latin typeface="Fira Code" panose="020B0809050000020004" pitchFamily="49" charset="0"/>
              </a:rPr>
              <a:t>dead</a:t>
            </a:r>
            <a:r>
              <a:rPr lang="en-US" sz="1400" noProof="0" dirty="0">
                <a:solidFill>
                  <a:srgbClr val="000000"/>
                </a:solidFill>
                <a:latin typeface="Fira Code" panose="020B0809050000020004" pitchFamily="49" charset="0"/>
              </a:rPr>
              <a:t>&gt;</a:t>
            </a:r>
          </a:p>
          <a:p>
            <a:pPr>
              <a:lnSpc>
                <a:spcPct val="113095"/>
              </a:lnSpc>
              <a:buNone/>
            </a:pPr>
            <a:r>
              <a:rPr lang="en-US" sz="1400" noProof="0" dirty="0">
                <a:solidFill>
                  <a:srgbClr val="000000"/>
                </a:solidFill>
                <a:latin typeface="Fira Code" panose="020B0809050000020004" pitchFamily="49" charset="0"/>
              </a:rPr>
              <a:t>  &gt;;</a:t>
            </a:r>
          </a:p>
        </p:txBody>
      </p:sp>
      <p:cxnSp>
        <p:nvCxnSpPr>
          <p:cNvPr id="10" name="Straight Arrow Connector 9">
            <a:extLst>
              <a:ext uri="{FF2B5EF4-FFF2-40B4-BE49-F238E27FC236}">
                <a16:creationId xmlns:a16="http://schemas.microsoft.com/office/drawing/2014/main" id="{90207B99-7626-B9B7-5B84-847CAB7644E6}"/>
              </a:ext>
            </a:extLst>
          </p:cNvPr>
          <p:cNvCxnSpPr>
            <a:cxnSpLocks/>
            <a:stCxn id="8" idx="2"/>
          </p:cNvCxnSpPr>
          <p:nvPr/>
        </p:nvCxnSpPr>
        <p:spPr>
          <a:xfrm>
            <a:off x="6096001" y="2165192"/>
            <a:ext cx="2362720" cy="9103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4263414" y="211557"/>
            <a:ext cx="3665171" cy="369332"/>
          </a:xfrm>
          <a:prstGeom prst="rect">
            <a:avLst/>
          </a:prstGeom>
          <a:noFill/>
        </p:spPr>
        <p:txBody>
          <a:bodyPr wrap="none" rtlCol="0">
            <a:spAutoFit/>
          </a:bodyPr>
          <a:lstStyle/>
          <a:p>
            <a:r>
              <a:rPr lang="en-US" noProof="0" dirty="0"/>
              <a:t>Type-level expression (</a:t>
            </a:r>
            <a:r>
              <a:rPr lang="en-US" noProof="0" dirty="0" err="1"/>
              <a:t>Cellato</a:t>
            </a:r>
            <a:r>
              <a:rPr lang="en-US" noProof="0" dirty="0"/>
              <a:t> DSL)</a:t>
            </a:r>
          </a:p>
        </p:txBody>
      </p:sp>
    </p:spTree>
    <p:extLst>
      <p:ext uri="{BB962C8B-B14F-4D97-AF65-F5344CB8AC3E}">
        <p14:creationId xmlns:p14="http://schemas.microsoft.com/office/powerpoint/2010/main" val="28535449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a:t>
            </a:r>
          </a:p>
        </p:txBody>
      </p:sp>
      <p:pic>
        <p:nvPicPr>
          <p:cNvPr id="7" name="Picture 6">
            <a:extLst>
              <a:ext uri="{FF2B5EF4-FFF2-40B4-BE49-F238E27FC236}">
                <a16:creationId xmlns:a16="http://schemas.microsoft.com/office/drawing/2014/main" id="{CCF58269-9358-8822-BB45-2512FA84847D}"/>
              </a:ext>
            </a:extLst>
          </p:cNvPr>
          <p:cNvPicPr>
            <a:picLocks noChangeAspect="1"/>
          </p:cNvPicPr>
          <p:nvPr/>
        </p:nvPicPr>
        <p:blipFill>
          <a:blip r:embed="rId3"/>
          <a:stretch>
            <a:fillRect/>
          </a:stretch>
        </p:blipFill>
        <p:spPr>
          <a:xfrm>
            <a:off x="310620" y="1524433"/>
            <a:ext cx="11570760" cy="4269538"/>
          </a:xfrm>
          <a:prstGeom prst="rect">
            <a:avLst/>
          </a:prstGeom>
        </p:spPr>
      </p:pic>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2323429" y="5862669"/>
            <a:ext cx="7545142" cy="646331"/>
          </a:xfrm>
          <a:prstGeom prst="rect">
            <a:avLst/>
          </a:prstGeom>
          <a:noFill/>
        </p:spPr>
        <p:txBody>
          <a:bodyPr wrap="none" rtlCol="0">
            <a:spAutoFit/>
          </a:bodyPr>
          <a:lstStyle/>
          <a:p>
            <a:pPr algn="ctr"/>
            <a:r>
              <a:rPr lang="en-US" noProof="0" dirty="0"/>
              <a:t>Comparison of GPU-parallelized computation of various cellular automata</a:t>
            </a:r>
            <a:br>
              <a:rPr lang="en-US" noProof="0" dirty="0"/>
            </a:br>
            <a:r>
              <a:rPr lang="en-US" i="1" noProof="0" dirty="0"/>
              <a:t>baseline encodes each cell as a single machine word</a:t>
            </a:r>
          </a:p>
        </p:txBody>
      </p:sp>
    </p:spTree>
    <p:extLst>
      <p:ext uri="{BB962C8B-B14F-4D97-AF65-F5344CB8AC3E}">
        <p14:creationId xmlns:p14="http://schemas.microsoft.com/office/powerpoint/2010/main" val="13104121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0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r>
              <a:rPr lang="en-US" noProof="0" dirty="0"/>
              <a:t>Abstractions for layout- &amp; traversal-agnostic design are practical</a:t>
            </a:r>
          </a:p>
          <a:p>
            <a:r>
              <a:rPr lang="en-US" noProof="0" dirty="0"/>
              <a:t>Applicable to parallel (CPU/GPU) and distributed HPC computing</a:t>
            </a:r>
          </a:p>
          <a:p>
            <a:r>
              <a:rPr lang="en-US" noProof="0" dirty="0"/>
              <a:t>Abstract even deeper details  in Cellular Automata</a:t>
            </a:r>
          </a:p>
          <a:p>
            <a:r>
              <a:rPr lang="en-US" noProof="0" dirty="0"/>
              <a:t>Improve</a:t>
            </a:r>
          </a:p>
          <a:p>
            <a:pPr lvl="1"/>
            <a:r>
              <a:rPr lang="en-US" noProof="0" dirty="0"/>
              <a:t>Maintainability</a:t>
            </a:r>
          </a:p>
          <a:p>
            <a:pPr lvl="1"/>
            <a:r>
              <a:rPr lang="en-US" noProof="0" dirty="0"/>
              <a:t>Flexibility</a:t>
            </a:r>
          </a:p>
          <a:p>
            <a:pPr lvl="1"/>
            <a:r>
              <a:rPr lang="en-US" noProof="0" dirty="0"/>
              <a:t>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spTree>
    <p:extLst>
      <p:ext uri="{BB962C8B-B14F-4D97-AF65-F5344CB8AC3E}">
        <p14:creationId xmlns:p14="http://schemas.microsoft.com/office/powerpoint/2010/main" val="32597657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BCED2-BEE7-D354-CAE7-2D1D5570855C}"/>
              </a:ext>
            </a:extLst>
          </p:cNvPr>
          <p:cNvSpPr>
            <a:spLocks noGrp="1"/>
          </p:cNvSpPr>
          <p:nvPr>
            <p:ph type="title"/>
          </p:nvPr>
        </p:nvSpPr>
        <p:spPr/>
        <p:txBody>
          <a:bodyPr/>
          <a:lstStyle/>
          <a:p>
            <a:r>
              <a:rPr lang="en-US" noProof="0" dirty="0"/>
              <a:t>Motivation</a:t>
            </a:r>
          </a:p>
        </p:txBody>
      </p:sp>
      <p:sp>
        <p:nvSpPr>
          <p:cNvPr id="5" name="Content Placeholder 4">
            <a:extLst>
              <a:ext uri="{FF2B5EF4-FFF2-40B4-BE49-F238E27FC236}">
                <a16:creationId xmlns:a16="http://schemas.microsoft.com/office/drawing/2014/main" id="{C738426C-F143-A522-DD5E-6B4D3FEAE64E}"/>
              </a:ext>
            </a:extLst>
          </p:cNvPr>
          <p:cNvSpPr>
            <a:spLocks noGrp="1"/>
          </p:cNvSpPr>
          <p:nvPr>
            <p:ph idx="1"/>
          </p:nvPr>
        </p:nvSpPr>
        <p:spPr/>
        <p:txBody>
          <a:bodyPr/>
          <a:lstStyle/>
          <a:p>
            <a:r>
              <a:rPr lang="en-US" noProof="0" dirty="0"/>
              <a:t>LLMs capable of writing simple code</a:t>
            </a:r>
          </a:p>
          <a:p>
            <a:pPr lvl="1"/>
            <a:r>
              <a:rPr lang="en-US" noProof="0" dirty="0"/>
              <a:t>Data visualization, simple scripting, …</a:t>
            </a:r>
          </a:p>
          <a:p>
            <a:r>
              <a:rPr lang="en-US" noProof="0" dirty="0"/>
              <a:t>Not high-</a:t>
            </a:r>
            <a:r>
              <a:rPr lang="en-US" noProof="0" dirty="0" err="1"/>
              <a:t>lvl</a:t>
            </a:r>
            <a:r>
              <a:rPr lang="en-US" noProof="0" dirty="0"/>
              <a:t> decisions and parallel algorithms</a:t>
            </a:r>
          </a:p>
          <a:p>
            <a:endParaRPr lang="en-US" noProof="0" dirty="0"/>
          </a:p>
          <a:p>
            <a:endParaRPr lang="en-US" noProof="0" dirty="0"/>
          </a:p>
          <a:p>
            <a:endParaRPr lang="en-US" noProof="0" dirty="0"/>
          </a:p>
          <a:p>
            <a:r>
              <a:rPr lang="en-US" noProof="0" dirty="0"/>
              <a:t>What helps LLMs generate better code?</a:t>
            </a:r>
          </a:p>
          <a:p>
            <a:pPr lvl="1"/>
            <a:r>
              <a:rPr lang="en-US" noProof="0" dirty="0"/>
              <a:t>And what doesn’t</a:t>
            </a:r>
          </a:p>
        </p:txBody>
      </p:sp>
      <p:sp>
        <p:nvSpPr>
          <p:cNvPr id="3" name="Date Placeholder 2">
            <a:extLst>
              <a:ext uri="{FF2B5EF4-FFF2-40B4-BE49-F238E27FC236}">
                <a16:creationId xmlns:a16="http://schemas.microsoft.com/office/drawing/2014/main" id="{5DCC059B-2575-F82C-34AC-4698211F241C}"/>
              </a:ext>
            </a:extLst>
          </p:cNvPr>
          <p:cNvSpPr>
            <a:spLocks noGrp="1"/>
          </p:cNvSpPr>
          <p:nvPr>
            <p:ph type="dt" sz="half" idx="10"/>
          </p:nvPr>
        </p:nvSpPr>
        <p:spPr/>
        <p:txBody>
          <a:bodyPr/>
          <a:lstStyle/>
          <a:p>
            <a:fld id="{33B56853-0028-4549-B0D0-953613129C64}"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64951596-60B1-E40A-3E74-4B0256A5404A}"/>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spTree>
    <p:extLst>
      <p:ext uri="{BB962C8B-B14F-4D97-AF65-F5344CB8AC3E}">
        <p14:creationId xmlns:p14="http://schemas.microsoft.com/office/powerpoint/2010/main" val="25408518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8/29/2026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sp>
        <p:nvSpPr>
          <p:cNvPr id="12" name="TextBox 11">
            <a:extLst>
              <a:ext uri="{FF2B5EF4-FFF2-40B4-BE49-F238E27FC236}">
                <a16:creationId xmlns:a16="http://schemas.microsoft.com/office/drawing/2014/main" id="{3685388B-D88A-850D-5EA1-512834C22715}"/>
              </a:ext>
            </a:extLst>
          </p:cNvPr>
          <p:cNvSpPr txBox="1"/>
          <p:nvPr/>
        </p:nvSpPr>
        <p:spPr>
          <a:xfrm>
            <a:off x="1913016" y="3837485"/>
            <a:ext cx="678391" cy="523220"/>
          </a:xfrm>
          <a:prstGeom prst="rect">
            <a:avLst/>
          </a:prstGeom>
          <a:noFill/>
        </p:spPr>
        <p:txBody>
          <a:bodyPr wrap="none" rtlCol="0">
            <a:spAutoFit/>
          </a:bodyPr>
          <a:lstStyle/>
          <a:p>
            <a:r>
              <a:rPr lang="en-US" sz="2800" noProof="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2778100"/>
            <a:ext cx="4423175" cy="519351"/>
          </a:xfrm>
          <a:prstGeom prst="wedgeEllipseCallout">
            <a:avLst>
              <a:gd name="adj1" fmla="val -44456"/>
              <a:gd name="adj2" fmla="val 7325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US" noProof="0" dirty="0"/>
              <a:t>Implement 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a:off x="2252211" y="3297451"/>
            <a:ext cx="1" cy="5400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923021" y="5012421"/>
            <a:ext cx="2658380" cy="6639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flipH="1">
            <a:off x="2252211" y="4360705"/>
            <a:ext cx="1" cy="6517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4D4E8062-9D67-E981-C7E7-CB3905FE099A}"/>
              </a:ext>
            </a:extLst>
          </p:cNvPr>
          <p:cNvSpPr txBox="1"/>
          <p:nvPr/>
        </p:nvSpPr>
        <p:spPr>
          <a:xfrm>
            <a:off x="6280056" y="3873482"/>
            <a:ext cx="678391" cy="523220"/>
          </a:xfrm>
          <a:prstGeom prst="rect">
            <a:avLst/>
          </a:prstGeom>
          <a:noFill/>
        </p:spPr>
        <p:txBody>
          <a:bodyPr wrap="none" rtlCol="0">
            <a:spAutoFit/>
          </a:bodyPr>
          <a:lstStyle/>
          <a:p>
            <a:r>
              <a:rPr lang="en-US" sz="2800" noProof="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5029846" y="2778099"/>
            <a:ext cx="3178813" cy="519351"/>
          </a:xfrm>
          <a:prstGeom prst="wedgeEllipseCallout">
            <a:avLst>
              <a:gd name="adj1" fmla="val -44456"/>
              <a:gd name="adj2" fmla="val 7325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US" noProof="0" dirty="0"/>
              <a:t>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flipH="1">
            <a:off x="6619252" y="3297450"/>
            <a:ext cx="1" cy="5760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4963341"/>
            <a:ext cx="2536646" cy="6639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flipH="1">
            <a:off x="6619251" y="4396702"/>
            <a:ext cx="1" cy="5666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9269872" y="2778099"/>
            <a:ext cx="2754452" cy="519351"/>
          </a:xfrm>
          <a:prstGeom prst="wedgeEllipseCallout">
            <a:avLst>
              <a:gd name="adj1" fmla="val -44456"/>
              <a:gd name="adj2" fmla="val 7325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noProof="0"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4963341"/>
            <a:ext cx="2536646" cy="6639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noProof="0" dirty="0"/>
              <a:t>Efficient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307900" y="3837485"/>
            <a:ext cx="678391" cy="523220"/>
          </a:xfrm>
          <a:prstGeom prst="rect">
            <a:avLst/>
          </a:prstGeom>
          <a:noFill/>
        </p:spPr>
        <p:txBody>
          <a:bodyPr wrap="none" rtlCol="0">
            <a:spAutoFit/>
          </a:bodyPr>
          <a:lstStyle/>
          <a:p>
            <a:r>
              <a:rPr lang="en-US" sz="2800" noProof="0" dirty="0"/>
              <a:t>🤖</a:t>
            </a:r>
          </a:p>
        </p:txBody>
      </p:sp>
      <p:cxnSp>
        <p:nvCxnSpPr>
          <p:cNvPr id="65" name="Straight Arrow Connector 64">
            <a:extLst>
              <a:ext uri="{FF2B5EF4-FFF2-40B4-BE49-F238E27FC236}">
                <a16:creationId xmlns:a16="http://schemas.microsoft.com/office/drawing/2014/main" id="{1B02E96B-466B-BBC3-B8FB-DB7A29A2BB81}"/>
              </a:ext>
            </a:extLst>
          </p:cNvPr>
          <p:cNvCxnSpPr>
            <a:stCxn id="47" idx="4"/>
            <a:endCxn id="63" idx="0"/>
          </p:cNvCxnSpPr>
          <p:nvPr/>
        </p:nvCxnSpPr>
        <p:spPr>
          <a:xfrm flipH="1">
            <a:off x="10647096" y="3297450"/>
            <a:ext cx="2" cy="5400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6" y="4360705"/>
            <a:ext cx="2" cy="6026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noProof="0" dirty="0"/>
              <a:t>…</a:t>
            </a:r>
          </a:p>
        </p:txBody>
      </p:sp>
    </p:spTree>
    <p:extLst>
      <p:ext uri="{BB962C8B-B14F-4D97-AF65-F5344CB8AC3E}">
        <p14:creationId xmlns:p14="http://schemas.microsoft.com/office/powerpoint/2010/main" val="22452505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GPT-o3-mini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8/29/2026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880282" y="1690688"/>
            <a:ext cx="1103155" cy="858622"/>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823231" y="2398622"/>
            <a:ext cx="1217256" cy="369332"/>
          </a:xfrm>
          <a:prstGeom prst="rect">
            <a:avLst/>
          </a:prstGeom>
          <a:noFill/>
        </p:spPr>
        <p:txBody>
          <a:bodyPr wrap="none" rtlCol="0">
            <a:spAutoFit/>
          </a:bodyPr>
          <a:lstStyle/>
          <a:p>
            <a:r>
              <a:rPr lang="en-US" noProof="0"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521644" y="1693284"/>
            <a:ext cx="1103155" cy="794271"/>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6354787" y="2487555"/>
            <a:ext cx="1436868" cy="369332"/>
          </a:xfrm>
          <a:prstGeom prst="rect">
            <a:avLst/>
          </a:prstGeom>
          <a:noFill/>
        </p:spPr>
        <p:txBody>
          <a:bodyPr wrap="none" rtlCol="0">
            <a:spAutoFit/>
          </a:bodyPr>
          <a:lstStyle/>
          <a:p>
            <a:r>
              <a:rPr lang="en-US"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939099" y="1690688"/>
            <a:ext cx="1103155" cy="796867"/>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939099" y="2484959"/>
            <a:ext cx="1206741" cy="646331"/>
          </a:xfrm>
          <a:prstGeom prst="rect">
            <a:avLst/>
          </a:prstGeom>
          <a:noFill/>
        </p:spPr>
        <p:txBody>
          <a:bodyPr wrap="none" rtlCol="0">
            <a:spAutoFit/>
          </a:bodyPr>
          <a:lstStyle/>
          <a:p>
            <a:pPr algn="ctr"/>
            <a:r>
              <a:rPr lang="en-US" noProof="0" dirty="0"/>
              <a:t>K-Nearest</a:t>
            </a:r>
            <a:br>
              <a:rPr lang="en-US" noProof="0" dirty="0"/>
            </a:br>
            <a:r>
              <a:rPr lang="en-US"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473598" y="3557054"/>
            <a:ext cx="3916521" cy="369332"/>
          </a:xfrm>
          <a:prstGeom prst="rect">
            <a:avLst/>
          </a:prstGeom>
          <a:noFill/>
        </p:spPr>
        <p:txBody>
          <a:bodyPr wrap="none" rtlCol="0">
            <a:spAutoFit/>
          </a:bodyPr>
          <a:lstStyle/>
          <a:p>
            <a:pPr algn="ctr"/>
            <a:r>
              <a:rPr lang="en-US"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6032039" y="3557054"/>
            <a:ext cx="2082365" cy="369332"/>
          </a:xfrm>
          <a:prstGeom prst="rect">
            <a:avLst/>
          </a:prstGeom>
          <a:noFill/>
        </p:spPr>
        <p:txBody>
          <a:bodyPr wrap="none" rtlCol="0">
            <a:spAutoFit/>
          </a:bodyPr>
          <a:lstStyle/>
          <a:p>
            <a:pPr algn="ctr"/>
            <a:r>
              <a:rPr lang="en-US" noProof="0" dirty="0"/>
              <a:t>Bit-</a:t>
            </a:r>
            <a:r>
              <a:rPr lang="en-US" noProof="0" dirty="0" err="1"/>
              <a:t>lvl</a:t>
            </a:r>
            <a:r>
              <a:rPr lang="en-US"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950703" y="3557054"/>
            <a:ext cx="3079946" cy="369332"/>
          </a:xfrm>
          <a:prstGeom prst="rect">
            <a:avLst/>
          </a:prstGeom>
          <a:noFill/>
        </p:spPr>
        <p:txBody>
          <a:bodyPr wrap="none" rtlCol="0">
            <a:spAutoFit/>
          </a:bodyPr>
          <a:lstStyle/>
          <a:p>
            <a:pPr algn="ctr"/>
            <a:r>
              <a:rPr lang="en-US"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14887" y="4530820"/>
            <a:ext cx="1706173" cy="369332"/>
          </a:xfrm>
          <a:prstGeom prst="rect">
            <a:avLst/>
          </a:prstGeom>
          <a:noFill/>
        </p:spPr>
        <p:txBody>
          <a:bodyPr wrap="none" rtlCol="0">
            <a:spAutoFit/>
          </a:bodyPr>
          <a:lstStyle/>
          <a:p>
            <a:r>
              <a:rPr lang="en-US"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3092662" y="4453876"/>
            <a:ext cx="678391" cy="523220"/>
          </a:xfrm>
          <a:prstGeom prst="rect">
            <a:avLst/>
          </a:prstGeom>
          <a:noFill/>
        </p:spPr>
        <p:txBody>
          <a:bodyPr wrap="none" rtlCol="0">
            <a:spAutoFit/>
          </a:bodyPr>
          <a:lstStyle/>
          <a:p>
            <a:pPr algn="ctr"/>
            <a:r>
              <a:rPr lang="en-US" sz="28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734025" y="4453876"/>
            <a:ext cx="678391" cy="523220"/>
          </a:xfrm>
          <a:prstGeom prst="rect">
            <a:avLst/>
          </a:prstGeom>
          <a:noFill/>
        </p:spPr>
        <p:txBody>
          <a:bodyPr wrap="none" rtlCol="0">
            <a:spAutoFit/>
          </a:bodyPr>
          <a:lstStyle/>
          <a:p>
            <a:pPr algn="ctr"/>
            <a:r>
              <a:rPr lang="en-US" sz="28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10151480" y="4453876"/>
            <a:ext cx="678391" cy="523220"/>
          </a:xfrm>
          <a:prstGeom prst="rect">
            <a:avLst/>
          </a:prstGeom>
          <a:noFill/>
        </p:spPr>
        <p:txBody>
          <a:bodyPr wrap="none" rtlCol="0">
            <a:spAutoFit/>
          </a:bodyPr>
          <a:lstStyle/>
          <a:p>
            <a:pPr algn="ctr"/>
            <a:r>
              <a:rPr lang="en-US" sz="28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210788" y="5189669"/>
            <a:ext cx="1187248" cy="369332"/>
          </a:xfrm>
          <a:prstGeom prst="rect">
            <a:avLst/>
          </a:prstGeom>
          <a:noFill/>
        </p:spPr>
        <p:txBody>
          <a:bodyPr wrap="none" rtlCol="0">
            <a:spAutoFit/>
          </a:bodyPr>
          <a:lstStyle/>
          <a:p>
            <a:r>
              <a:rPr lang="en-US"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581400" y="4453876"/>
            <a:ext cx="678391" cy="523220"/>
          </a:xfrm>
          <a:prstGeom prst="rect">
            <a:avLst/>
          </a:prstGeom>
          <a:noFill/>
        </p:spPr>
        <p:txBody>
          <a:bodyPr wrap="none" rtlCol="0">
            <a:spAutoFit/>
          </a:bodyPr>
          <a:lstStyle/>
          <a:p>
            <a:r>
              <a:rPr lang="en-US" sz="28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7188976" y="4453876"/>
            <a:ext cx="678391" cy="523220"/>
          </a:xfrm>
          <a:prstGeom prst="rect">
            <a:avLst/>
          </a:prstGeom>
          <a:noFill/>
        </p:spPr>
        <p:txBody>
          <a:bodyPr wrap="none" rtlCol="0">
            <a:spAutoFit/>
          </a:bodyPr>
          <a:lstStyle/>
          <a:p>
            <a:r>
              <a:rPr lang="en-US" sz="28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609250" y="4453876"/>
            <a:ext cx="678391" cy="523220"/>
          </a:xfrm>
          <a:prstGeom prst="rect">
            <a:avLst/>
          </a:prstGeom>
          <a:noFill/>
        </p:spPr>
        <p:txBody>
          <a:bodyPr wrap="none" rtlCol="0">
            <a:spAutoFit/>
          </a:bodyPr>
          <a:lstStyle/>
          <a:p>
            <a:r>
              <a:rPr lang="en-US" sz="28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581400" y="5044030"/>
            <a:ext cx="678391" cy="523220"/>
          </a:xfrm>
          <a:prstGeom prst="rect">
            <a:avLst/>
          </a:prstGeom>
          <a:noFill/>
        </p:spPr>
        <p:txBody>
          <a:bodyPr wrap="none" rtlCol="0">
            <a:spAutoFit/>
          </a:bodyPr>
          <a:lstStyle/>
          <a:p>
            <a:r>
              <a:rPr lang="en-US" sz="28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3092662" y="5084922"/>
            <a:ext cx="678391" cy="523220"/>
          </a:xfrm>
          <a:prstGeom prst="rect">
            <a:avLst/>
          </a:prstGeom>
          <a:noFill/>
        </p:spPr>
        <p:txBody>
          <a:bodyPr wrap="none" rtlCol="0">
            <a:spAutoFit/>
          </a:bodyPr>
          <a:lstStyle/>
          <a:p>
            <a:pPr algn="ctr"/>
            <a:r>
              <a:rPr lang="en-US" sz="28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219369" y="5044030"/>
            <a:ext cx="678391" cy="523220"/>
          </a:xfrm>
          <a:prstGeom prst="rect">
            <a:avLst/>
          </a:prstGeom>
          <a:noFill/>
        </p:spPr>
        <p:txBody>
          <a:bodyPr wrap="none" rtlCol="0">
            <a:spAutoFit/>
          </a:bodyPr>
          <a:lstStyle/>
          <a:p>
            <a:r>
              <a:rPr lang="en-US" sz="28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730631" y="5084922"/>
            <a:ext cx="678391" cy="523220"/>
          </a:xfrm>
          <a:prstGeom prst="rect">
            <a:avLst/>
          </a:prstGeom>
          <a:noFill/>
        </p:spPr>
        <p:txBody>
          <a:bodyPr wrap="none" rtlCol="0">
            <a:spAutoFit/>
          </a:bodyPr>
          <a:lstStyle/>
          <a:p>
            <a:pPr algn="ctr"/>
            <a:r>
              <a:rPr lang="en-US" sz="28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393195" y="5080461"/>
            <a:ext cx="678391" cy="523220"/>
          </a:xfrm>
          <a:prstGeom prst="rect">
            <a:avLst/>
          </a:prstGeom>
          <a:noFill/>
        </p:spPr>
        <p:txBody>
          <a:bodyPr wrap="none" rtlCol="0">
            <a:spAutoFit/>
          </a:bodyPr>
          <a:lstStyle/>
          <a:p>
            <a:pPr algn="ctr"/>
            <a:r>
              <a:rPr lang="en-US" sz="28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62048" y="5848518"/>
            <a:ext cx="1800493" cy="369332"/>
          </a:xfrm>
          <a:prstGeom prst="rect">
            <a:avLst/>
          </a:prstGeom>
          <a:noFill/>
        </p:spPr>
        <p:txBody>
          <a:bodyPr wrap="none" rtlCol="0">
            <a:spAutoFit/>
          </a:bodyPr>
          <a:lstStyle/>
          <a:p>
            <a:r>
              <a:rPr lang="en-US"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581400" y="5653738"/>
            <a:ext cx="678391" cy="523220"/>
          </a:xfrm>
          <a:prstGeom prst="rect">
            <a:avLst/>
          </a:prstGeom>
          <a:noFill/>
        </p:spPr>
        <p:txBody>
          <a:bodyPr wrap="none" rtlCol="0">
            <a:spAutoFit/>
          </a:bodyPr>
          <a:lstStyle/>
          <a:p>
            <a:r>
              <a:rPr lang="en-US" sz="28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3092662" y="5694630"/>
            <a:ext cx="678391" cy="523220"/>
          </a:xfrm>
          <a:prstGeom prst="rect">
            <a:avLst/>
          </a:prstGeom>
          <a:noFill/>
        </p:spPr>
        <p:txBody>
          <a:bodyPr wrap="none" rtlCol="0">
            <a:spAutoFit/>
          </a:bodyPr>
          <a:lstStyle/>
          <a:p>
            <a:pPr algn="ctr"/>
            <a:r>
              <a:rPr lang="en-US" sz="28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219369" y="5612412"/>
            <a:ext cx="678391" cy="523220"/>
          </a:xfrm>
          <a:prstGeom prst="rect">
            <a:avLst/>
          </a:prstGeom>
          <a:noFill/>
        </p:spPr>
        <p:txBody>
          <a:bodyPr wrap="none" rtlCol="0">
            <a:spAutoFit/>
          </a:bodyPr>
          <a:lstStyle/>
          <a:p>
            <a:r>
              <a:rPr lang="en-US" sz="28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730631" y="5653304"/>
            <a:ext cx="678391" cy="523220"/>
          </a:xfrm>
          <a:prstGeom prst="rect">
            <a:avLst/>
          </a:prstGeom>
          <a:noFill/>
        </p:spPr>
        <p:txBody>
          <a:bodyPr wrap="none" rtlCol="0">
            <a:spAutoFit/>
          </a:bodyPr>
          <a:lstStyle/>
          <a:p>
            <a:pPr algn="ctr"/>
            <a:r>
              <a:rPr lang="en-US" sz="28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393195" y="5653304"/>
            <a:ext cx="678391" cy="523220"/>
          </a:xfrm>
          <a:prstGeom prst="rect">
            <a:avLst/>
          </a:prstGeom>
          <a:noFill/>
        </p:spPr>
        <p:txBody>
          <a:bodyPr wrap="none" rtlCol="0">
            <a:spAutoFit/>
          </a:bodyPr>
          <a:lstStyle/>
          <a:p>
            <a:pPr algn="ctr"/>
            <a:r>
              <a:rPr lang="en-US" sz="2800" noProof="0" dirty="0"/>
              <a:t>❌</a:t>
            </a:r>
          </a:p>
        </p:txBody>
      </p:sp>
    </p:spTree>
    <p:extLst>
      <p:ext uri="{BB962C8B-B14F-4D97-AF65-F5344CB8AC3E}">
        <p14:creationId xmlns:p14="http://schemas.microsoft.com/office/powerpoint/2010/main" val="18677034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GPT-o3-mini</a:t>
            </a:r>
            <a:endParaRPr lang="en-US" sz="2400" noProof="0" dirty="0"/>
          </a:p>
        </p:txBody>
      </p:sp>
      <p:pic>
        <p:nvPicPr>
          <p:cNvPr id="5" name="Picture 4">
            <a:extLst>
              <a:ext uri="{FF2B5EF4-FFF2-40B4-BE49-F238E27FC236}">
                <a16:creationId xmlns:a16="http://schemas.microsoft.com/office/drawing/2014/main" id="{E6A81DD4-BEB3-BF92-82A9-0AB5CDC695F4}"/>
              </a:ext>
            </a:extLst>
          </p:cNvPr>
          <p:cNvPicPr>
            <a:picLocks noChangeAspect="1"/>
          </p:cNvPicPr>
          <p:nvPr/>
        </p:nvPicPr>
        <p:blipFill>
          <a:blip r:embed="rId3"/>
          <a:srcRect l="2698" r="47262"/>
          <a:stretch>
            <a:fillRect/>
          </a:stretch>
        </p:blipFill>
        <p:spPr>
          <a:xfrm>
            <a:off x="408393" y="2599181"/>
            <a:ext cx="4680138" cy="3692232"/>
          </a:xfrm>
          <a:prstGeom prst="rect">
            <a:avLst/>
          </a:prstGeom>
        </p:spPr>
      </p:pic>
      <p:pic>
        <p:nvPicPr>
          <p:cNvPr id="24" name="Picture 23">
            <a:extLst>
              <a:ext uri="{FF2B5EF4-FFF2-40B4-BE49-F238E27FC236}">
                <a16:creationId xmlns:a16="http://schemas.microsoft.com/office/drawing/2014/main" id="{E6E2995D-9749-CB57-94D9-B9971BDA4A9C}"/>
              </a:ext>
            </a:extLst>
          </p:cNvPr>
          <p:cNvPicPr>
            <a:picLocks noChangeAspect="1"/>
          </p:cNvPicPr>
          <p:nvPr/>
        </p:nvPicPr>
        <p:blipFill>
          <a:blip r:embed="rId4"/>
          <a:srcRect l="5830" t="5264" r="1424" b="4017"/>
          <a:stretch>
            <a:fillRect/>
          </a:stretch>
        </p:blipFill>
        <p:spPr>
          <a:xfrm>
            <a:off x="5934239" y="2761577"/>
            <a:ext cx="5849368" cy="2994486"/>
          </a:xfrm>
          <a:prstGeom prst="rect">
            <a:avLst/>
          </a:prstGeom>
        </p:spPr>
      </p:pic>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sp>
        <p:nvSpPr>
          <p:cNvPr id="6" name="TextBox 5">
            <a:extLst>
              <a:ext uri="{FF2B5EF4-FFF2-40B4-BE49-F238E27FC236}">
                <a16:creationId xmlns:a16="http://schemas.microsoft.com/office/drawing/2014/main" id="{72D4F460-314F-F2C1-B648-8D4D93BCB4E5}"/>
              </a:ext>
            </a:extLst>
          </p:cNvPr>
          <p:cNvSpPr txBox="1"/>
          <p:nvPr/>
        </p:nvSpPr>
        <p:spPr>
          <a:xfrm>
            <a:off x="2364144" y="2229849"/>
            <a:ext cx="1217256" cy="369332"/>
          </a:xfrm>
          <a:prstGeom prst="rect">
            <a:avLst/>
          </a:prstGeom>
          <a:noFill/>
        </p:spPr>
        <p:txBody>
          <a:bodyPr wrap="none" rtlCol="0">
            <a:spAutoFit/>
          </a:bodyPr>
          <a:lstStyle/>
          <a:p>
            <a:r>
              <a:rPr lang="en-US"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391244" y="2229849"/>
            <a:ext cx="1436612" cy="369332"/>
          </a:xfrm>
          <a:prstGeom prst="rect">
            <a:avLst/>
          </a:prstGeom>
          <a:noFill/>
        </p:spPr>
        <p:txBody>
          <a:bodyPr wrap="none" rtlCol="0">
            <a:spAutoFit/>
          </a:bodyPr>
          <a:lstStyle/>
          <a:p>
            <a:r>
              <a:rPr lang="en-US" noProof="0" dirty="0"/>
              <a:t>Game of Life</a:t>
            </a:r>
          </a:p>
        </p:txBody>
      </p:sp>
      <p:sp>
        <p:nvSpPr>
          <p:cNvPr id="9" name="TextBox 8">
            <a:extLst>
              <a:ext uri="{FF2B5EF4-FFF2-40B4-BE49-F238E27FC236}">
                <a16:creationId xmlns:a16="http://schemas.microsoft.com/office/drawing/2014/main" id="{5F4D55C3-3077-8567-A06E-0244BA5AA6CA}"/>
              </a:ext>
            </a:extLst>
          </p:cNvPr>
          <p:cNvSpPr txBox="1"/>
          <p:nvPr/>
        </p:nvSpPr>
        <p:spPr>
          <a:xfrm>
            <a:off x="236845" y="6084477"/>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3071661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838200" y="2654734"/>
            <a:ext cx="4620279" cy="3358942"/>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733521" y="2654733"/>
            <a:ext cx="4620279" cy="3358943"/>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569508" y="2285401"/>
            <a:ext cx="1436868" cy="369332"/>
          </a:xfrm>
          <a:prstGeom prst="rect">
            <a:avLst/>
          </a:prstGeom>
          <a:noFill/>
        </p:spPr>
        <p:txBody>
          <a:bodyPr wrap="none" rtlCol="0">
            <a:spAutoFit/>
          </a:bodyPr>
          <a:lstStyle/>
          <a:p>
            <a:r>
              <a:rPr lang="en-US"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083017" y="2285401"/>
            <a:ext cx="2233304" cy="369332"/>
          </a:xfrm>
          <a:prstGeom prst="rect">
            <a:avLst/>
          </a:prstGeom>
          <a:noFill/>
        </p:spPr>
        <p:txBody>
          <a:bodyPr wrap="none" rtlCol="0">
            <a:spAutoFit/>
          </a:bodyPr>
          <a:lstStyle/>
          <a:p>
            <a:r>
              <a:rPr lang="en-US"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C00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F8F2B-8096-7E9E-AA5F-7F72726C819C}"/>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7C9DDCDD-E57A-60CF-F6C1-98722252234C}"/>
              </a:ext>
            </a:extLst>
          </p:cNvPr>
          <p:cNvSpPr>
            <a:spLocks noGrp="1"/>
          </p:cNvSpPr>
          <p:nvPr>
            <p:ph type="dt" sz="half" idx="10"/>
          </p:nvPr>
        </p:nvSpPr>
        <p:spPr/>
        <p:txBody>
          <a:bodyPr/>
          <a:lstStyle/>
          <a:p>
            <a:fld id="{1AB26190-46ED-4A0C-A5E8-CDBCA5C2D5C3}"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EB15584F-9C46-0B94-52F1-15D64D9E529C}"/>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6" name="TextBox 5">
            <a:extLst>
              <a:ext uri="{FF2B5EF4-FFF2-40B4-BE49-F238E27FC236}">
                <a16:creationId xmlns:a16="http://schemas.microsoft.com/office/drawing/2014/main" id="{F931F0D3-62D6-B790-92EE-5989B4C2DE90}"/>
              </a:ext>
            </a:extLst>
          </p:cNvPr>
          <p:cNvSpPr txBox="1"/>
          <p:nvPr/>
        </p:nvSpPr>
        <p:spPr>
          <a:xfrm>
            <a:off x="5898155" y="3285794"/>
            <a:ext cx="678391" cy="523220"/>
          </a:xfrm>
          <a:prstGeom prst="rect">
            <a:avLst/>
          </a:prstGeom>
          <a:noFill/>
        </p:spPr>
        <p:txBody>
          <a:bodyPr wrap="none" rtlCol="0">
            <a:spAutoFit/>
          </a:bodyPr>
          <a:lstStyle/>
          <a:p>
            <a:pPr algn="ctr"/>
            <a:r>
              <a:rPr lang="en-US" sz="2800" noProof="0" dirty="0"/>
              <a:t>🤖</a:t>
            </a:r>
          </a:p>
        </p:txBody>
      </p:sp>
      <p:sp>
        <p:nvSpPr>
          <p:cNvPr id="7" name="TextBox 6">
            <a:extLst>
              <a:ext uri="{FF2B5EF4-FFF2-40B4-BE49-F238E27FC236}">
                <a16:creationId xmlns:a16="http://schemas.microsoft.com/office/drawing/2014/main" id="{9FA49B44-DE06-06BD-B7AF-75B04E4D7F06}"/>
              </a:ext>
            </a:extLst>
          </p:cNvPr>
          <p:cNvSpPr txBox="1"/>
          <p:nvPr/>
        </p:nvSpPr>
        <p:spPr>
          <a:xfrm>
            <a:off x="5447840" y="3809014"/>
            <a:ext cx="1579022" cy="369332"/>
          </a:xfrm>
          <a:prstGeom prst="rect">
            <a:avLst/>
          </a:prstGeom>
          <a:noFill/>
        </p:spPr>
        <p:txBody>
          <a:bodyPr wrap="none" rtlCol="0">
            <a:spAutoFit/>
          </a:bodyPr>
          <a:lstStyle/>
          <a:p>
            <a:pPr algn="ctr"/>
            <a:r>
              <a:rPr lang="en-US" noProof="0" dirty="0"/>
              <a:t>LLM optimizer</a:t>
            </a:r>
          </a:p>
        </p:txBody>
      </p:sp>
      <p:sp>
        <p:nvSpPr>
          <p:cNvPr id="9" name="TextBox 8">
            <a:extLst>
              <a:ext uri="{FF2B5EF4-FFF2-40B4-BE49-F238E27FC236}">
                <a16:creationId xmlns:a16="http://schemas.microsoft.com/office/drawing/2014/main" id="{493CFFAC-E147-8EA9-0CFB-C6E6643CF311}"/>
              </a:ext>
            </a:extLst>
          </p:cNvPr>
          <p:cNvSpPr txBox="1"/>
          <p:nvPr/>
        </p:nvSpPr>
        <p:spPr>
          <a:xfrm>
            <a:off x="3864099" y="3285794"/>
            <a:ext cx="678391" cy="523220"/>
          </a:xfrm>
          <a:prstGeom prst="rect">
            <a:avLst/>
          </a:prstGeom>
          <a:noFill/>
        </p:spPr>
        <p:txBody>
          <a:bodyPr wrap="none" rtlCol="0">
            <a:spAutoFit/>
          </a:bodyPr>
          <a:lstStyle/>
          <a:p>
            <a:r>
              <a:rPr lang="en-US" sz="2800" noProof="0" dirty="0"/>
              <a:t>🐌</a:t>
            </a:r>
          </a:p>
        </p:txBody>
      </p:sp>
      <p:cxnSp>
        <p:nvCxnSpPr>
          <p:cNvPr id="11" name="Straight Arrow Connector 10">
            <a:extLst>
              <a:ext uri="{FF2B5EF4-FFF2-40B4-BE49-F238E27FC236}">
                <a16:creationId xmlns:a16="http://schemas.microsoft.com/office/drawing/2014/main" id="{36C96701-4992-BFFC-E886-D8DF71533624}"/>
              </a:ext>
            </a:extLst>
          </p:cNvPr>
          <p:cNvCxnSpPr>
            <a:stCxn id="9" idx="3"/>
            <a:endCxn id="6" idx="1"/>
          </p:cNvCxnSpPr>
          <p:nvPr/>
        </p:nvCxnSpPr>
        <p:spPr>
          <a:xfrm>
            <a:off x="4542490" y="3547404"/>
            <a:ext cx="135566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D17F6E4F-7D25-96B8-1EA2-2A31E82074AB}"/>
              </a:ext>
            </a:extLst>
          </p:cNvPr>
          <p:cNvCxnSpPr>
            <a:cxnSpLocks/>
            <a:endCxn id="15" idx="1"/>
          </p:cNvCxnSpPr>
          <p:nvPr/>
        </p:nvCxnSpPr>
        <p:spPr>
          <a:xfrm>
            <a:off x="6576546" y="3547404"/>
            <a:ext cx="135566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509495A2-2783-83D7-9F8A-49ECA60DA476}"/>
              </a:ext>
            </a:extLst>
          </p:cNvPr>
          <p:cNvSpPr txBox="1"/>
          <p:nvPr/>
        </p:nvSpPr>
        <p:spPr>
          <a:xfrm>
            <a:off x="7932209" y="3285794"/>
            <a:ext cx="678391" cy="523220"/>
          </a:xfrm>
          <a:prstGeom prst="rect">
            <a:avLst/>
          </a:prstGeom>
          <a:noFill/>
        </p:spPr>
        <p:txBody>
          <a:bodyPr wrap="none" rtlCol="0">
            <a:spAutoFit/>
          </a:bodyPr>
          <a:lstStyle/>
          <a:p>
            <a:pPr algn="ctr"/>
            <a:r>
              <a:rPr lang="en-US" sz="2800" noProof="0" dirty="0"/>
              <a:t>🚀</a:t>
            </a:r>
          </a:p>
        </p:txBody>
      </p:sp>
      <p:sp>
        <p:nvSpPr>
          <p:cNvPr id="17" name="TextBox 16">
            <a:extLst>
              <a:ext uri="{FF2B5EF4-FFF2-40B4-BE49-F238E27FC236}">
                <a16:creationId xmlns:a16="http://schemas.microsoft.com/office/drawing/2014/main" id="{C0057DF1-75D1-ABD6-14BF-FA343EC6D033}"/>
              </a:ext>
            </a:extLst>
          </p:cNvPr>
          <p:cNvSpPr txBox="1"/>
          <p:nvPr/>
        </p:nvSpPr>
        <p:spPr>
          <a:xfrm>
            <a:off x="5276959" y="4928729"/>
            <a:ext cx="1910459" cy="369332"/>
          </a:xfrm>
          <a:prstGeom prst="rect">
            <a:avLst/>
          </a:prstGeom>
          <a:noFill/>
        </p:spPr>
        <p:txBody>
          <a:bodyPr wrap="none" rtlCol="0">
            <a:spAutoFit/>
          </a:bodyPr>
          <a:lstStyle/>
          <a:p>
            <a:r>
              <a:rPr lang="en-US" noProof="0" dirty="0"/>
              <a:t>What Abstraction</a:t>
            </a:r>
          </a:p>
        </p:txBody>
      </p:sp>
      <p:sp>
        <p:nvSpPr>
          <p:cNvPr id="18" name="TextBox 17">
            <a:extLst>
              <a:ext uri="{FF2B5EF4-FFF2-40B4-BE49-F238E27FC236}">
                <a16:creationId xmlns:a16="http://schemas.microsoft.com/office/drawing/2014/main" id="{BC787B5C-F15D-E453-E0C2-74F32811444B}"/>
              </a:ext>
            </a:extLst>
          </p:cNvPr>
          <p:cNvSpPr txBox="1"/>
          <p:nvPr/>
        </p:nvSpPr>
        <p:spPr>
          <a:xfrm>
            <a:off x="4077934" y="5555516"/>
            <a:ext cx="837089" cy="369332"/>
          </a:xfrm>
          <a:prstGeom prst="rect">
            <a:avLst/>
          </a:prstGeom>
          <a:noFill/>
        </p:spPr>
        <p:txBody>
          <a:bodyPr wrap="none" rtlCol="0">
            <a:spAutoFit/>
          </a:bodyPr>
          <a:lstStyle/>
          <a:p>
            <a:r>
              <a:rPr lang="en-US" noProof="0" dirty="0"/>
              <a:t>Halide</a:t>
            </a:r>
          </a:p>
        </p:txBody>
      </p:sp>
      <p:sp>
        <p:nvSpPr>
          <p:cNvPr id="19" name="TextBox 18">
            <a:extLst>
              <a:ext uri="{FF2B5EF4-FFF2-40B4-BE49-F238E27FC236}">
                <a16:creationId xmlns:a16="http://schemas.microsoft.com/office/drawing/2014/main" id="{23358F22-F533-1C7C-D8C5-74ED702D9FF3}"/>
              </a:ext>
            </a:extLst>
          </p:cNvPr>
          <p:cNvSpPr txBox="1"/>
          <p:nvPr/>
        </p:nvSpPr>
        <p:spPr>
          <a:xfrm>
            <a:off x="5538167" y="5555516"/>
            <a:ext cx="538417" cy="369332"/>
          </a:xfrm>
          <a:prstGeom prst="rect">
            <a:avLst/>
          </a:prstGeom>
          <a:noFill/>
        </p:spPr>
        <p:txBody>
          <a:bodyPr wrap="none" rtlCol="0">
            <a:spAutoFit/>
          </a:bodyPr>
          <a:lstStyle/>
          <a:p>
            <a:r>
              <a:rPr lang="en-US" noProof="0" dirty="0"/>
              <a:t>Exo</a:t>
            </a:r>
          </a:p>
        </p:txBody>
      </p:sp>
      <p:sp>
        <p:nvSpPr>
          <p:cNvPr id="20" name="TextBox 19">
            <a:extLst>
              <a:ext uri="{FF2B5EF4-FFF2-40B4-BE49-F238E27FC236}">
                <a16:creationId xmlns:a16="http://schemas.microsoft.com/office/drawing/2014/main" id="{09544EDC-8C17-AE4B-036F-97A08EF7C98C}"/>
              </a:ext>
            </a:extLst>
          </p:cNvPr>
          <p:cNvSpPr txBox="1"/>
          <p:nvPr/>
        </p:nvSpPr>
        <p:spPr>
          <a:xfrm>
            <a:off x="6699728" y="5555516"/>
            <a:ext cx="752129" cy="369332"/>
          </a:xfrm>
          <a:prstGeom prst="rect">
            <a:avLst/>
          </a:prstGeom>
          <a:noFill/>
        </p:spPr>
        <p:txBody>
          <a:bodyPr wrap="none" rtlCol="0">
            <a:spAutoFit/>
          </a:bodyPr>
          <a:lstStyle/>
          <a:p>
            <a:r>
              <a:rPr lang="en-US" noProof="0" dirty="0" err="1"/>
              <a:t>Noarr</a:t>
            </a:r>
            <a:endParaRPr lang="en-US" noProof="0" dirty="0"/>
          </a:p>
        </p:txBody>
      </p:sp>
      <p:sp>
        <p:nvSpPr>
          <p:cNvPr id="21" name="TextBox 20">
            <a:extLst>
              <a:ext uri="{FF2B5EF4-FFF2-40B4-BE49-F238E27FC236}">
                <a16:creationId xmlns:a16="http://schemas.microsoft.com/office/drawing/2014/main" id="{0A41B583-F767-91B8-538B-75DE9DE7AF66}"/>
              </a:ext>
            </a:extLst>
          </p:cNvPr>
          <p:cNvSpPr txBox="1"/>
          <p:nvPr/>
        </p:nvSpPr>
        <p:spPr>
          <a:xfrm>
            <a:off x="8079505" y="5555516"/>
            <a:ext cx="344966" cy="369332"/>
          </a:xfrm>
          <a:prstGeom prst="rect">
            <a:avLst/>
          </a:prstGeom>
          <a:noFill/>
        </p:spPr>
        <p:txBody>
          <a:bodyPr wrap="none" rtlCol="0">
            <a:spAutoFit/>
          </a:bodyPr>
          <a:lstStyle/>
          <a:p>
            <a:r>
              <a:rPr lang="en-US" noProof="0" dirty="0">
                <a:solidFill>
                  <a:schemeClr val="bg2">
                    <a:lumMod val="50000"/>
                  </a:schemeClr>
                </a:solidFill>
              </a:rPr>
              <a:t>C</a:t>
            </a:r>
          </a:p>
        </p:txBody>
      </p:sp>
      <p:sp>
        <p:nvSpPr>
          <p:cNvPr id="22" name="Right Brace 21">
            <a:extLst>
              <a:ext uri="{FF2B5EF4-FFF2-40B4-BE49-F238E27FC236}">
                <a16:creationId xmlns:a16="http://schemas.microsoft.com/office/drawing/2014/main" id="{F8913E04-5267-66BC-CE21-BB61AA117287}"/>
              </a:ext>
            </a:extLst>
          </p:cNvPr>
          <p:cNvSpPr/>
          <p:nvPr/>
        </p:nvSpPr>
        <p:spPr>
          <a:xfrm rot="16200000">
            <a:off x="6122237" y="3315566"/>
            <a:ext cx="230225" cy="424967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cxnSp>
        <p:nvCxnSpPr>
          <p:cNvPr id="24" name="Straight Arrow Connector 23">
            <a:extLst>
              <a:ext uri="{FF2B5EF4-FFF2-40B4-BE49-F238E27FC236}">
                <a16:creationId xmlns:a16="http://schemas.microsoft.com/office/drawing/2014/main" id="{5FBD808A-C60E-D2B4-AE81-67F52D4FA591}"/>
              </a:ext>
            </a:extLst>
          </p:cNvPr>
          <p:cNvCxnSpPr>
            <a:cxnSpLocks/>
            <a:stCxn id="17" idx="0"/>
            <a:endCxn id="7" idx="2"/>
          </p:cNvCxnSpPr>
          <p:nvPr/>
        </p:nvCxnSpPr>
        <p:spPr>
          <a:xfrm flipV="1">
            <a:off x="6232189" y="4178346"/>
            <a:ext cx="5162" cy="7503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A37A6BF4-23D3-4BC4-D822-08D7F02A8E4A}"/>
              </a:ext>
            </a:extLst>
          </p:cNvPr>
          <p:cNvSpPr txBox="1"/>
          <p:nvPr/>
        </p:nvSpPr>
        <p:spPr>
          <a:xfrm>
            <a:off x="1864701" y="3224238"/>
            <a:ext cx="1542410" cy="646331"/>
          </a:xfrm>
          <a:prstGeom prst="rect">
            <a:avLst/>
          </a:prstGeom>
          <a:noFill/>
          <a:ln>
            <a:solidFill>
              <a:schemeClr val="tx1"/>
            </a:solidFill>
          </a:ln>
        </p:spPr>
        <p:txBody>
          <a:bodyPr wrap="none" rtlCol="0">
            <a:spAutoFit/>
          </a:bodyPr>
          <a:lstStyle/>
          <a:p>
            <a:pPr algn="ctr"/>
            <a:r>
              <a:rPr lang="en-US" noProof="0" dirty="0" err="1"/>
              <a:t>PolyBench</a:t>
            </a:r>
            <a:r>
              <a:rPr lang="en-US" noProof="0" dirty="0"/>
              <a:t>/C</a:t>
            </a:r>
          </a:p>
          <a:p>
            <a:pPr algn="ctr"/>
            <a:r>
              <a:rPr lang="en-US" i="1" noProof="0" dirty="0"/>
              <a:t>30 algorithms</a:t>
            </a:r>
          </a:p>
        </p:txBody>
      </p:sp>
      <p:cxnSp>
        <p:nvCxnSpPr>
          <p:cNvPr id="31" name="Straight Arrow Connector 30">
            <a:extLst>
              <a:ext uri="{FF2B5EF4-FFF2-40B4-BE49-F238E27FC236}">
                <a16:creationId xmlns:a16="http://schemas.microsoft.com/office/drawing/2014/main" id="{3563A0DB-403A-ADCF-C3F1-0F9C8265FE3F}"/>
              </a:ext>
            </a:extLst>
          </p:cNvPr>
          <p:cNvCxnSpPr>
            <a:stCxn id="29" idx="3"/>
            <a:endCxn id="9" idx="1"/>
          </p:cNvCxnSpPr>
          <p:nvPr/>
        </p:nvCxnSpPr>
        <p:spPr>
          <a:xfrm>
            <a:off x="3407111" y="3547404"/>
            <a:ext cx="45698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3" name="Left Brace 32">
            <a:extLst>
              <a:ext uri="{FF2B5EF4-FFF2-40B4-BE49-F238E27FC236}">
                <a16:creationId xmlns:a16="http://schemas.microsoft.com/office/drawing/2014/main" id="{6C2941FF-F0FF-E5E0-7D40-1745F519E03E}"/>
              </a:ext>
            </a:extLst>
          </p:cNvPr>
          <p:cNvSpPr/>
          <p:nvPr/>
        </p:nvSpPr>
        <p:spPr>
          <a:xfrm>
            <a:off x="8610600" y="3259030"/>
            <a:ext cx="114804" cy="54998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34" name="TextBox 33">
            <a:extLst>
              <a:ext uri="{FF2B5EF4-FFF2-40B4-BE49-F238E27FC236}">
                <a16:creationId xmlns:a16="http://schemas.microsoft.com/office/drawing/2014/main" id="{C17EFA50-E483-F872-FFF7-0042EB900CD4}"/>
              </a:ext>
            </a:extLst>
          </p:cNvPr>
          <p:cNvSpPr txBox="1"/>
          <p:nvPr/>
        </p:nvSpPr>
        <p:spPr>
          <a:xfrm>
            <a:off x="8725404" y="3164074"/>
            <a:ext cx="1414233" cy="369332"/>
          </a:xfrm>
          <a:prstGeom prst="rect">
            <a:avLst/>
          </a:prstGeom>
          <a:noFill/>
        </p:spPr>
        <p:txBody>
          <a:bodyPr wrap="none" rtlCol="0">
            <a:spAutoFit/>
          </a:bodyPr>
          <a:lstStyle/>
          <a:p>
            <a:r>
              <a:rPr lang="en-US" noProof="0" dirty="0"/>
              <a:t>Correctness</a:t>
            </a:r>
          </a:p>
        </p:txBody>
      </p:sp>
      <p:sp>
        <p:nvSpPr>
          <p:cNvPr id="36" name="TextBox 35">
            <a:extLst>
              <a:ext uri="{FF2B5EF4-FFF2-40B4-BE49-F238E27FC236}">
                <a16:creationId xmlns:a16="http://schemas.microsoft.com/office/drawing/2014/main" id="{2F778B3F-0584-FE3C-1B8D-FA252396DDD7}"/>
              </a:ext>
            </a:extLst>
          </p:cNvPr>
          <p:cNvSpPr txBox="1"/>
          <p:nvPr/>
        </p:nvSpPr>
        <p:spPr>
          <a:xfrm>
            <a:off x="8854766" y="3439682"/>
            <a:ext cx="1155509" cy="369332"/>
          </a:xfrm>
          <a:prstGeom prst="rect">
            <a:avLst/>
          </a:prstGeom>
          <a:noFill/>
        </p:spPr>
        <p:txBody>
          <a:bodyPr wrap="none" rtlCol="0">
            <a:spAutoFit/>
          </a:bodyPr>
          <a:lstStyle/>
          <a:p>
            <a:r>
              <a:rPr lang="en-US" noProof="0" dirty="0"/>
              <a:t>Efficiency</a:t>
            </a:r>
          </a:p>
        </p:txBody>
      </p:sp>
    </p:spTree>
    <p:extLst>
      <p:ext uri="{BB962C8B-B14F-4D97-AF65-F5344CB8AC3E}">
        <p14:creationId xmlns:p14="http://schemas.microsoft.com/office/powerpoint/2010/main" val="27077023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4" name="Group 43">
            <a:extLst>
              <a:ext uri="{FF2B5EF4-FFF2-40B4-BE49-F238E27FC236}">
                <a16:creationId xmlns:a16="http://schemas.microsoft.com/office/drawing/2014/main" id="{95571F21-827D-539D-D4E5-DB1BB7B71F43}"/>
              </a:ext>
            </a:extLst>
          </p:cNvPr>
          <p:cNvGrpSpPr/>
          <p:nvPr/>
        </p:nvGrpSpPr>
        <p:grpSpPr>
          <a:xfrm>
            <a:off x="2579748" y="2908938"/>
            <a:ext cx="6725589" cy="2229161"/>
            <a:chOff x="2579748" y="2908938"/>
            <a:chExt cx="6725589" cy="2229161"/>
          </a:xfrm>
        </p:grpSpPr>
        <p:pic>
          <p:nvPicPr>
            <p:cNvPr id="6" name="Picture 5">
              <a:extLst>
                <a:ext uri="{FF2B5EF4-FFF2-40B4-BE49-F238E27FC236}">
                  <a16:creationId xmlns:a16="http://schemas.microsoft.com/office/drawing/2014/main" id="{0D4C5F21-8011-3C8D-D688-5EAD5518EC37}"/>
                </a:ext>
              </a:extLst>
            </p:cNvPr>
            <p:cNvPicPr>
              <a:picLocks noChangeAspect="1"/>
            </p:cNvPicPr>
            <p:nvPr/>
          </p:nvPicPr>
          <p:blipFill>
            <a:blip r:embed="rId3"/>
            <a:stretch>
              <a:fillRect/>
            </a:stretch>
          </p:blipFill>
          <p:spPr>
            <a:xfrm>
              <a:off x="2579748" y="2908938"/>
              <a:ext cx="6725589" cy="2229161"/>
            </a:xfrm>
            <a:prstGeom prst="rect">
              <a:avLst/>
            </a:prstGeom>
          </p:spPr>
        </p:pic>
        <p:sp>
          <p:nvSpPr>
            <p:cNvPr id="16" name="Oval 15">
              <a:extLst>
                <a:ext uri="{FF2B5EF4-FFF2-40B4-BE49-F238E27FC236}">
                  <a16:creationId xmlns:a16="http://schemas.microsoft.com/office/drawing/2014/main" id="{10B03CF7-C5DD-D42F-BE83-737ACAF8269B}"/>
                </a:ext>
              </a:extLst>
            </p:cNvPr>
            <p:cNvSpPr/>
            <p:nvPr/>
          </p:nvSpPr>
          <p:spPr>
            <a:xfrm>
              <a:off x="4127127" y="3526657"/>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2" name="Oval 31">
              <a:extLst>
                <a:ext uri="{FF2B5EF4-FFF2-40B4-BE49-F238E27FC236}">
                  <a16:creationId xmlns:a16="http://schemas.microsoft.com/office/drawing/2014/main" id="{FBA743B9-2D84-0FA8-5F12-F601E209A913}"/>
                </a:ext>
              </a:extLst>
            </p:cNvPr>
            <p:cNvSpPr/>
            <p:nvPr/>
          </p:nvSpPr>
          <p:spPr>
            <a:xfrm>
              <a:off x="7232277" y="3748064"/>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5" name="Oval 34">
              <a:extLst>
                <a:ext uri="{FF2B5EF4-FFF2-40B4-BE49-F238E27FC236}">
                  <a16:creationId xmlns:a16="http://schemas.microsoft.com/office/drawing/2014/main" id="{9B153F27-549E-59FD-49DD-71B68B6AF1E2}"/>
                </a:ext>
              </a:extLst>
            </p:cNvPr>
            <p:cNvSpPr/>
            <p:nvPr/>
          </p:nvSpPr>
          <p:spPr>
            <a:xfrm>
              <a:off x="2832521" y="3767114"/>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sp>
        <p:nvSpPr>
          <p:cNvPr id="7" name="TextBox 6">
            <a:extLst>
              <a:ext uri="{FF2B5EF4-FFF2-40B4-BE49-F238E27FC236}">
                <a16:creationId xmlns:a16="http://schemas.microsoft.com/office/drawing/2014/main" id="{DB9497BC-6D29-1801-EA64-2882313902E4}"/>
              </a:ext>
            </a:extLst>
          </p:cNvPr>
          <p:cNvSpPr txBox="1"/>
          <p:nvPr/>
        </p:nvSpPr>
        <p:spPr>
          <a:xfrm>
            <a:off x="3818164" y="5562558"/>
            <a:ext cx="4555671" cy="646331"/>
          </a:xfrm>
          <a:prstGeom prst="rect">
            <a:avLst/>
          </a:prstGeom>
          <a:noFill/>
        </p:spPr>
        <p:txBody>
          <a:bodyPr wrap="none" rtlCol="0">
            <a:spAutoFit/>
          </a:bodyPr>
          <a:lstStyle/>
          <a:p>
            <a:r>
              <a:rPr lang="en-US" noProof="0" dirty="0"/>
              <a:t>Developer guide + abstraction-specific hints</a:t>
            </a:r>
          </a:p>
          <a:p>
            <a:pPr algn="ctr"/>
            <a:r>
              <a:rPr lang="en-US" i="1" noProof="0"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stCxn id="7" idx="0"/>
          </p:cNvCxnSpPr>
          <p:nvPr/>
        </p:nvCxnSpPr>
        <p:spPr>
          <a:xfrm flipH="1" flipV="1">
            <a:off x="4292794" y="4292794"/>
            <a:ext cx="1803206" cy="12697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stCxn id="7" idx="0"/>
          </p:cNvCxnSpPr>
          <p:nvPr/>
        </p:nvCxnSpPr>
        <p:spPr>
          <a:xfrm flipV="1">
            <a:off x="6096000" y="4544079"/>
            <a:ext cx="1030736" cy="10184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a:endCxn id="16" idx="0"/>
          </p:cNvCxnSpPr>
          <p:nvPr/>
        </p:nvCxnSpPr>
        <p:spPr>
          <a:xfrm>
            <a:off x="4127128" y="2906562"/>
            <a:ext cx="0" cy="6200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3378012" y="2260231"/>
            <a:ext cx="1498231" cy="646331"/>
          </a:xfrm>
          <a:prstGeom prst="rect">
            <a:avLst/>
          </a:prstGeom>
          <a:noFill/>
        </p:spPr>
        <p:txBody>
          <a:bodyPr wrap="none" rtlCol="0">
            <a:spAutoFit/>
          </a:bodyPr>
          <a:lstStyle/>
          <a:p>
            <a:pPr algn="ctr"/>
            <a:r>
              <a:rPr lang="en-US" noProof="0" dirty="0"/>
              <a:t>Example</a:t>
            </a:r>
            <a:br>
              <a:rPr lang="en-US" noProof="0" dirty="0"/>
            </a:br>
            <a:r>
              <a:rPr lang="en-US" noProof="0"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a:endCxn id="32" idx="0"/>
          </p:cNvCxnSpPr>
          <p:nvPr/>
        </p:nvCxnSpPr>
        <p:spPr>
          <a:xfrm flipH="1">
            <a:off x="7232278" y="2850970"/>
            <a:ext cx="10" cy="8970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6260964" y="2481638"/>
            <a:ext cx="1942648" cy="369332"/>
          </a:xfrm>
          <a:prstGeom prst="rect">
            <a:avLst/>
          </a:prstGeom>
          <a:noFill/>
        </p:spPr>
        <p:txBody>
          <a:bodyPr wrap="none" rtlCol="0">
            <a:spAutoFit/>
          </a:bodyPr>
          <a:lstStyle/>
          <a:p>
            <a:pPr algn="ctr"/>
            <a:r>
              <a:rPr lang="en-US" noProof="0" dirty="0"/>
              <a:t>Different prompts</a:t>
            </a:r>
          </a:p>
        </p:txBody>
      </p:sp>
      <p:sp>
        <p:nvSpPr>
          <p:cNvPr id="33" name="TextBox 32">
            <a:extLst>
              <a:ext uri="{FF2B5EF4-FFF2-40B4-BE49-F238E27FC236}">
                <a16:creationId xmlns:a16="http://schemas.microsoft.com/office/drawing/2014/main" id="{E478173F-E0BD-D141-B2EC-92BF7ABBA2AE}"/>
              </a:ext>
            </a:extLst>
          </p:cNvPr>
          <p:cNvSpPr txBox="1"/>
          <p:nvPr/>
        </p:nvSpPr>
        <p:spPr>
          <a:xfrm>
            <a:off x="838052" y="3582449"/>
            <a:ext cx="1540743" cy="369332"/>
          </a:xfrm>
          <a:prstGeom prst="rect">
            <a:avLst/>
          </a:prstGeom>
          <a:noFill/>
        </p:spPr>
        <p:txBody>
          <a:bodyPr wrap="none" rtlCol="0">
            <a:spAutoFit/>
          </a:bodyPr>
          <a:lstStyle/>
          <a:p>
            <a:r>
              <a:rPr lang="en-US" noProof="0" dirty="0"/>
              <a:t>30 algorithms</a:t>
            </a:r>
          </a:p>
        </p:txBody>
      </p:sp>
      <p:cxnSp>
        <p:nvCxnSpPr>
          <p:cNvPr id="41" name="Straight Arrow Connector 40">
            <a:extLst>
              <a:ext uri="{FF2B5EF4-FFF2-40B4-BE49-F238E27FC236}">
                <a16:creationId xmlns:a16="http://schemas.microsoft.com/office/drawing/2014/main" id="{38E56F74-4621-B7C9-7EE3-98B378CB490A}"/>
              </a:ext>
            </a:extLst>
          </p:cNvPr>
          <p:cNvCxnSpPr>
            <a:stCxn id="33" idx="3"/>
            <a:endCxn id="35" idx="2"/>
          </p:cNvCxnSpPr>
          <p:nvPr/>
        </p:nvCxnSpPr>
        <p:spPr>
          <a:xfrm>
            <a:off x="2378795" y="3767115"/>
            <a:ext cx="45372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5" name="Right Brace 44">
            <a:extLst>
              <a:ext uri="{FF2B5EF4-FFF2-40B4-BE49-F238E27FC236}">
                <a16:creationId xmlns:a16="http://schemas.microsoft.com/office/drawing/2014/main" id="{76E7C66C-E514-E140-0598-9B479403FA00}"/>
              </a:ext>
            </a:extLst>
          </p:cNvPr>
          <p:cNvSpPr/>
          <p:nvPr/>
        </p:nvSpPr>
        <p:spPr>
          <a:xfrm>
            <a:off x="9182100" y="2443163"/>
            <a:ext cx="300661" cy="282892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46" name="TextBox 45">
            <a:extLst>
              <a:ext uri="{FF2B5EF4-FFF2-40B4-BE49-F238E27FC236}">
                <a16:creationId xmlns:a16="http://schemas.microsoft.com/office/drawing/2014/main" id="{B681D359-D348-006D-B5F6-3F7D47199734}"/>
              </a:ext>
            </a:extLst>
          </p:cNvPr>
          <p:cNvSpPr txBox="1"/>
          <p:nvPr/>
        </p:nvSpPr>
        <p:spPr>
          <a:xfrm>
            <a:off x="9482156" y="3526657"/>
            <a:ext cx="2709844" cy="646331"/>
          </a:xfrm>
          <a:prstGeom prst="rect">
            <a:avLst/>
          </a:prstGeom>
          <a:noFill/>
        </p:spPr>
        <p:txBody>
          <a:bodyPr wrap="none" rtlCol="0">
            <a:spAutoFit/>
          </a:bodyPr>
          <a:lstStyle/>
          <a:p>
            <a:pPr algn="ctr"/>
            <a:r>
              <a:rPr lang="en-US" noProof="0" dirty="0"/>
              <a:t>Almost 500</a:t>
            </a:r>
            <a:br>
              <a:rPr lang="en-US" noProof="0" dirty="0"/>
            </a:br>
            <a:r>
              <a:rPr lang="en-US" noProof="0" dirty="0"/>
              <a:t>optimization experiments</a:t>
            </a:r>
          </a:p>
        </p:txBody>
      </p:sp>
    </p:spTree>
    <p:extLst>
      <p:ext uri="{BB962C8B-B14F-4D97-AF65-F5344CB8AC3E}">
        <p14:creationId xmlns:p14="http://schemas.microsoft.com/office/powerpoint/2010/main" val="23302827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480467" y="622007"/>
            <a:ext cx="11231066" cy="5463914"/>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371093" y="956745"/>
            <a:ext cx="590330" cy="683591"/>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216385" y="587413"/>
            <a:ext cx="2309415" cy="369332"/>
          </a:xfrm>
          <a:prstGeom prst="rect">
            <a:avLst/>
          </a:prstGeom>
          <a:noFill/>
        </p:spPr>
        <p:txBody>
          <a:bodyPr wrap="none" rtlCol="0">
            <a:spAutoFit/>
          </a:bodyPr>
          <a:lstStyle/>
          <a:p>
            <a:r>
              <a:rPr lang="en-US" noProof="0" dirty="0"/>
              <a:t>Best performance (C)</a:t>
            </a:r>
          </a:p>
        </p:txBody>
      </p:sp>
    </p:spTree>
    <p:extLst>
      <p:ext uri="{BB962C8B-B14F-4D97-AF65-F5344CB8AC3E}">
        <p14:creationId xmlns:p14="http://schemas.microsoft.com/office/powerpoint/2010/main" val="13416658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LLM-directed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p:txBody>
          <a:bodyPr/>
          <a:lstStyle/>
          <a:p>
            <a:r>
              <a:rPr lang="en-US" noProof="0" dirty="0"/>
              <a:t>Prompting specificity</a:t>
            </a:r>
          </a:p>
          <a:p>
            <a:r>
              <a:rPr lang="en-US" noProof="0" dirty="0"/>
              <a:t>Contemporary abstractions do not help</a:t>
            </a:r>
          </a:p>
          <a:p>
            <a:endParaRPr lang="en-US" noProof="0" dirty="0"/>
          </a:p>
          <a:p>
            <a:r>
              <a:rPr lang="en-US" noProof="0" dirty="0"/>
              <a:t>Future research</a:t>
            </a:r>
          </a:p>
          <a:p>
            <a:pPr lvl="1"/>
            <a:r>
              <a:rPr lang="en-US" noProof="0" dirty="0"/>
              <a:t>Re-evaluate on agentic LLMs</a:t>
            </a:r>
          </a:p>
          <a:p>
            <a:pPr lvl="2"/>
            <a:r>
              <a:rPr lang="en-US" noProof="0" dirty="0"/>
              <a:t>Automatically gather feedback</a:t>
            </a:r>
          </a:p>
          <a:p>
            <a:pPr lvl="2"/>
            <a:r>
              <a:rPr lang="en-US" noProof="0" dirty="0"/>
              <a:t>Can collect necessary context (e.g., work with abstraction reference)</a:t>
            </a:r>
          </a:p>
          <a:p>
            <a:pPr lvl="1"/>
            <a:r>
              <a:rPr lang="en-US" noProof="0" dirty="0"/>
              <a:t>More LLM-focused abstractions or scaffolding</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8/29/2026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spTree>
    <p:extLst>
      <p:ext uri="{BB962C8B-B14F-4D97-AF65-F5344CB8AC3E}">
        <p14:creationId xmlns:p14="http://schemas.microsoft.com/office/powerpoint/2010/main" val="270994585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sp>
        <p:nvSpPr>
          <p:cNvPr id="6" name="TextBox 5">
            <a:extLst>
              <a:ext uri="{FF2B5EF4-FFF2-40B4-BE49-F238E27FC236}">
                <a16:creationId xmlns:a16="http://schemas.microsoft.com/office/drawing/2014/main" id="{0C2203B1-0F93-3F92-FADF-DA1FA387F65C}"/>
              </a:ext>
            </a:extLst>
          </p:cNvPr>
          <p:cNvSpPr txBox="1"/>
          <p:nvPr/>
        </p:nvSpPr>
        <p:spPr>
          <a:xfrm>
            <a:off x="-20481" y="3707894"/>
            <a:ext cx="2441744"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Distributed computing</a:t>
            </a:r>
          </a:p>
        </p:txBody>
      </p:sp>
      <p:sp>
        <p:nvSpPr>
          <p:cNvPr id="8" name="TextBox 7">
            <a:extLst>
              <a:ext uri="{FF2B5EF4-FFF2-40B4-BE49-F238E27FC236}">
                <a16:creationId xmlns:a16="http://schemas.microsoft.com/office/drawing/2014/main" id="{0C1F297F-A46E-4127-A44D-943053748AAD}"/>
              </a:ext>
            </a:extLst>
          </p:cNvPr>
          <p:cNvSpPr txBox="1"/>
          <p:nvPr/>
        </p:nvSpPr>
        <p:spPr>
          <a:xfrm>
            <a:off x="1050704" y="1964514"/>
            <a:ext cx="2062430"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Layout abstraction</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407869" y="2519945"/>
            <a:ext cx="2277820"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Traversal abstraction</a:t>
            </a:r>
          </a:p>
        </p:txBody>
      </p:sp>
      <p:sp>
        <p:nvSpPr>
          <p:cNvPr id="16" name="TextBox 15">
            <a:extLst>
              <a:ext uri="{FF2B5EF4-FFF2-40B4-BE49-F238E27FC236}">
                <a16:creationId xmlns:a16="http://schemas.microsoft.com/office/drawing/2014/main" id="{DFE9A3AF-209B-AE12-2963-A07256AC3AD8}"/>
              </a:ext>
            </a:extLst>
          </p:cNvPr>
          <p:cNvSpPr txBox="1"/>
          <p:nvPr/>
        </p:nvSpPr>
        <p:spPr>
          <a:xfrm>
            <a:off x="2276742" y="3179715"/>
            <a:ext cx="2481752"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Autotuning abstraction</a:t>
            </a:r>
          </a:p>
        </p:txBody>
      </p:sp>
      <p:sp>
        <p:nvSpPr>
          <p:cNvPr id="20" name="TextBox 19">
            <a:extLst>
              <a:ext uri="{FF2B5EF4-FFF2-40B4-BE49-F238E27FC236}">
                <a16:creationId xmlns:a16="http://schemas.microsoft.com/office/drawing/2014/main" id="{EBEA25C6-5912-033A-1DD3-AE5CB2BC4AB3}"/>
              </a:ext>
            </a:extLst>
          </p:cNvPr>
          <p:cNvSpPr txBox="1"/>
          <p:nvPr/>
        </p:nvSpPr>
        <p:spPr>
          <a:xfrm>
            <a:off x="9271328" y="1703501"/>
            <a:ext cx="2027218" cy="408623"/>
          </a:xfrm>
          <a:prstGeom prst="roundRect">
            <a:avLst>
              <a:gd name="adj" fmla="val 38874"/>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8530735" y="2245918"/>
            <a:ext cx="3508404" cy="408623"/>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Bit-level encoding and evaluation</a:t>
            </a:r>
          </a:p>
        </p:txBody>
      </p:sp>
      <p:sp>
        <p:nvSpPr>
          <p:cNvPr id="27" name="TextBox 26">
            <a:extLst>
              <a:ext uri="{FF2B5EF4-FFF2-40B4-BE49-F238E27FC236}">
                <a16:creationId xmlns:a16="http://schemas.microsoft.com/office/drawing/2014/main" id="{4C486DD0-E83D-76B8-FFAB-7DFBC00CF409}"/>
              </a:ext>
            </a:extLst>
          </p:cNvPr>
          <p:cNvSpPr txBox="1"/>
          <p:nvPr/>
        </p:nvSpPr>
        <p:spPr>
          <a:xfrm>
            <a:off x="6275060" y="2821747"/>
            <a:ext cx="3610369" cy="408623"/>
          </a:xfrm>
          <a:prstGeom prst="roundRect">
            <a:avLst>
              <a:gd name="adj" fmla="val 42290"/>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Abstractions for cellular automata</a:t>
            </a:r>
          </a:p>
        </p:txBody>
      </p:sp>
      <p:sp>
        <p:nvSpPr>
          <p:cNvPr id="28" name="TextBox 27">
            <a:extLst>
              <a:ext uri="{FF2B5EF4-FFF2-40B4-BE49-F238E27FC236}">
                <a16:creationId xmlns:a16="http://schemas.microsoft.com/office/drawing/2014/main" id="{4E10342D-AF4F-9D7A-596A-774C5A75EE80}"/>
              </a:ext>
            </a:extLst>
          </p:cNvPr>
          <p:cNvSpPr txBox="1"/>
          <p:nvPr/>
        </p:nvSpPr>
        <p:spPr>
          <a:xfrm>
            <a:off x="6854601" y="4108664"/>
            <a:ext cx="2529026" cy="369332"/>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Tutoring LLMs for CUDA</a:t>
            </a:r>
          </a:p>
        </p:txBody>
      </p:sp>
      <p:sp>
        <p:nvSpPr>
          <p:cNvPr id="30" name="TextBox 29">
            <a:extLst>
              <a:ext uri="{FF2B5EF4-FFF2-40B4-BE49-F238E27FC236}">
                <a16:creationId xmlns:a16="http://schemas.microsoft.com/office/drawing/2014/main" id="{4AD7395F-5DE8-A141-7F54-EB10905B989D}"/>
              </a:ext>
            </a:extLst>
          </p:cNvPr>
          <p:cNvSpPr txBox="1"/>
          <p:nvPr/>
        </p:nvSpPr>
        <p:spPr>
          <a:xfrm>
            <a:off x="4605836" y="3600524"/>
            <a:ext cx="2433487" cy="369332"/>
          </a:xfrm>
          <a:prstGeom prst="rect">
            <a:avLst/>
          </a:prstGeom>
          <a:gradFill flip="none" rotWithShape="1">
            <a:gsLst>
              <a:gs pos="0">
                <a:schemeClr val="accent2">
                  <a:lumMod val="67000"/>
                </a:schemeClr>
              </a:gs>
              <a:gs pos="48000">
                <a:srgbClr val="AF9A19"/>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LLMs and abstractions</a:t>
            </a:r>
          </a:p>
        </p:txBody>
      </p:sp>
      <p:sp>
        <p:nvSpPr>
          <p:cNvPr id="32" name="TextBox 31">
            <a:extLst>
              <a:ext uri="{FF2B5EF4-FFF2-40B4-BE49-F238E27FC236}">
                <a16:creationId xmlns:a16="http://schemas.microsoft.com/office/drawing/2014/main" id="{575DD392-3AAA-5F2A-363D-37ADF1B2AD3E}"/>
              </a:ext>
            </a:extLst>
          </p:cNvPr>
          <p:cNvSpPr txBox="1"/>
          <p:nvPr/>
        </p:nvSpPr>
        <p:spPr>
          <a:xfrm>
            <a:off x="82007" y="1421002"/>
            <a:ext cx="3952877" cy="369332"/>
          </a:xfrm>
          <a:prstGeom prst="rect">
            <a:avLst/>
          </a:prstGeom>
        </p:spPr>
        <p:style>
          <a:lnRef idx="0">
            <a:schemeClr val="accent6"/>
          </a:lnRef>
          <a:fillRef idx="3">
            <a:schemeClr val="accent6"/>
          </a:fillRef>
          <a:effectRef idx="3">
            <a:schemeClr val="accent6"/>
          </a:effectRef>
          <a:fontRef idx="minor">
            <a:schemeClr val="lt1"/>
          </a:fontRef>
        </p:style>
        <p:txBody>
          <a:bodyPr wrap="none" rtlCol="0">
            <a:spAutoFit/>
          </a:bodyPr>
          <a:lstStyle/>
          <a:p>
            <a:pPr algn="ctr"/>
            <a:r>
              <a:rPr lang="en-US" noProof="0" dirty="0"/>
              <a:t>General-purpose scientific computing</a:t>
            </a:r>
          </a:p>
        </p:txBody>
      </p:sp>
      <p:sp>
        <p:nvSpPr>
          <p:cNvPr id="34" name="TextBox 33">
            <a:extLst>
              <a:ext uri="{FF2B5EF4-FFF2-40B4-BE49-F238E27FC236}">
                <a16:creationId xmlns:a16="http://schemas.microsoft.com/office/drawing/2014/main" id="{18996F6F-87F6-9490-D8CC-27045B68F5E1}"/>
              </a:ext>
            </a:extLst>
          </p:cNvPr>
          <p:cNvSpPr txBox="1"/>
          <p:nvPr/>
        </p:nvSpPr>
        <p:spPr>
          <a:xfrm>
            <a:off x="7070880" y="405111"/>
            <a:ext cx="3913251" cy="369332"/>
          </a:xfrm>
          <a:prstGeom prst="rect">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Domain-specific scientific computing</a:t>
            </a:r>
          </a:p>
        </p:txBody>
      </p:sp>
      <p:sp>
        <p:nvSpPr>
          <p:cNvPr id="5" name="TextBox 4">
            <a:extLst>
              <a:ext uri="{FF2B5EF4-FFF2-40B4-BE49-F238E27FC236}">
                <a16:creationId xmlns:a16="http://schemas.microsoft.com/office/drawing/2014/main" id="{381F1346-871A-D701-3289-C975F8E5768B}"/>
              </a:ext>
            </a:extLst>
          </p:cNvPr>
          <p:cNvSpPr txBox="1"/>
          <p:nvPr/>
        </p:nvSpPr>
        <p:spPr>
          <a:xfrm>
            <a:off x="9173315" y="1095173"/>
            <a:ext cx="2223245" cy="408623"/>
          </a:xfrm>
          <a:prstGeom prst="roundRect">
            <a:avLst>
              <a:gd name="adj" fmla="val 35457"/>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Stencil computation</a:t>
            </a:r>
          </a:p>
        </p:txBody>
      </p:sp>
      <p:sp>
        <p:nvSpPr>
          <p:cNvPr id="7" name="TextBox 6">
            <a:extLst>
              <a:ext uri="{FF2B5EF4-FFF2-40B4-BE49-F238E27FC236}">
                <a16:creationId xmlns:a16="http://schemas.microsoft.com/office/drawing/2014/main" id="{F178AC6C-FC18-4019-D6D7-374777F1BAEC}"/>
              </a:ext>
            </a:extLst>
          </p:cNvPr>
          <p:cNvSpPr txBox="1"/>
          <p:nvPr/>
        </p:nvSpPr>
        <p:spPr>
          <a:xfrm>
            <a:off x="9860746" y="4702220"/>
            <a:ext cx="2246769" cy="369332"/>
          </a:xfrm>
          <a:prstGeom prst="rect">
            <a:avLst/>
          </a:prstGeom>
        </p:spPr>
        <p:style>
          <a:lnRef idx="0">
            <a:schemeClr val="accent2"/>
          </a:lnRef>
          <a:fillRef idx="3">
            <a:schemeClr val="accent2"/>
          </a:fillRef>
          <a:effectRef idx="3">
            <a:schemeClr val="accent2"/>
          </a:effectRef>
          <a:fontRef idx="minor">
            <a:schemeClr val="lt1"/>
          </a:fontRef>
        </p:style>
        <p:txBody>
          <a:bodyPr wrap="none" rtlCol="0">
            <a:spAutoFit/>
          </a:bodyPr>
          <a:lstStyle/>
          <a:p>
            <a:r>
              <a:rPr lang="en-US"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1873532" y="5144290"/>
            <a:ext cx="2256197" cy="408623"/>
          </a:xfrm>
          <a:prstGeom prst="roundRect">
            <a:avLst>
              <a:gd name="adj" fmla="val 43999"/>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k-Nearest Neighbors</a:t>
            </a:r>
          </a:p>
        </p:txBody>
      </p:sp>
      <p:sp>
        <p:nvSpPr>
          <p:cNvPr id="11" name="TextBox 10">
            <a:extLst>
              <a:ext uri="{FF2B5EF4-FFF2-40B4-BE49-F238E27FC236}">
                <a16:creationId xmlns:a16="http://schemas.microsoft.com/office/drawing/2014/main" id="{F5FB3F7D-0D2D-953D-31F7-7DD3D9F1427F}"/>
              </a:ext>
            </a:extLst>
          </p:cNvPr>
          <p:cNvSpPr txBox="1"/>
          <p:nvPr/>
        </p:nvSpPr>
        <p:spPr>
          <a:xfrm>
            <a:off x="1561243" y="5903812"/>
            <a:ext cx="2339038" cy="369332"/>
          </a:xfrm>
          <a:prstGeom prst="rect">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GPU algorithm design</a:t>
            </a:r>
          </a:p>
        </p:txBody>
      </p:sp>
      <p:sp>
        <p:nvSpPr>
          <p:cNvPr id="14" name="TextBox 13">
            <a:extLst>
              <a:ext uri="{FF2B5EF4-FFF2-40B4-BE49-F238E27FC236}">
                <a16:creationId xmlns:a16="http://schemas.microsoft.com/office/drawing/2014/main" id="{694A14F9-37A7-558D-DCD1-B6BA288136A3}"/>
              </a:ext>
            </a:extLst>
          </p:cNvPr>
          <p:cNvSpPr txBox="1"/>
          <p:nvPr/>
        </p:nvSpPr>
        <p:spPr>
          <a:xfrm>
            <a:off x="2628617" y="4473316"/>
            <a:ext cx="3338136" cy="408623"/>
          </a:xfrm>
          <a:prstGeom prst="roundRect">
            <a:avLst>
              <a:gd name="adj" fmla="val 45707"/>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noProof="0" dirty="0"/>
              <a:t>Utilizing efficient </a:t>
            </a:r>
            <a:r>
              <a:rPr lang="en-US" noProof="0" dirty="0" err="1"/>
              <a:t>bitonic</a:t>
            </a:r>
            <a:r>
              <a:rPr lang="en-US" noProof="0" dirty="0"/>
              <a:t> sorting</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H="1" flipV="1">
            <a:off x="2058446" y="1790334"/>
            <a:ext cx="23473" cy="17418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2081919" y="2373137"/>
            <a:ext cx="464860" cy="14680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flipH="1">
            <a:off x="1200391" y="2928568"/>
            <a:ext cx="1346388" cy="77932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a:off x="2546779" y="2928568"/>
            <a:ext cx="970839" cy="251147"/>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6AF8F44-0F6C-B866-8218-A530540B6E98}"/>
              </a:ext>
            </a:extLst>
          </p:cNvPr>
          <p:cNvCxnSpPr>
            <a:stCxn id="34" idx="2"/>
            <a:endCxn id="5" idx="0"/>
          </p:cNvCxnSpPr>
          <p:nvPr/>
        </p:nvCxnSpPr>
        <p:spPr>
          <a:xfrm>
            <a:off x="9027506" y="774443"/>
            <a:ext cx="1257432" cy="320730"/>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EB2F6BFB-AE9D-1000-B08C-FA799A71A0D4}"/>
              </a:ext>
            </a:extLst>
          </p:cNvPr>
          <p:cNvCxnSpPr>
            <a:stCxn id="5" idx="2"/>
            <a:endCxn id="20" idx="0"/>
          </p:cNvCxnSpPr>
          <p:nvPr/>
        </p:nvCxnSpPr>
        <p:spPr>
          <a:xfrm flipH="1">
            <a:off x="10284937" y="1503796"/>
            <a:ext cx="1" cy="19970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stCxn id="20" idx="2"/>
            <a:endCxn id="24" idx="0"/>
          </p:cNvCxnSpPr>
          <p:nvPr/>
        </p:nvCxnSpPr>
        <p:spPr>
          <a:xfrm>
            <a:off x="10284937" y="2112124"/>
            <a:ext cx="0" cy="133794"/>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4" idx="1"/>
            <a:endCxn id="27" idx="0"/>
          </p:cNvCxnSpPr>
          <p:nvPr/>
        </p:nvCxnSpPr>
        <p:spPr>
          <a:xfrm flipH="1">
            <a:off x="8080245" y="2450230"/>
            <a:ext cx="450490" cy="37151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a:stCxn id="28" idx="0"/>
            <a:endCxn id="30" idx="2"/>
          </p:cNvCxnSpPr>
          <p:nvPr/>
        </p:nvCxnSpPr>
        <p:spPr>
          <a:xfrm flipH="1" flipV="1">
            <a:off x="5822580" y="3969856"/>
            <a:ext cx="2296534" cy="138808"/>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a:endCxn id="28" idx="3"/>
          </p:cNvCxnSpPr>
          <p:nvPr/>
        </p:nvCxnSpPr>
        <p:spPr>
          <a:xfrm flipH="1" flipV="1">
            <a:off x="9383627" y="4293330"/>
            <a:ext cx="1600504" cy="408890"/>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7E74FF5-B7C7-D011-0BDF-A21E4555D25B}"/>
              </a:ext>
            </a:extLst>
          </p:cNvPr>
          <p:cNvCxnSpPr>
            <a:stCxn id="11" idx="0"/>
            <a:endCxn id="9" idx="2"/>
          </p:cNvCxnSpPr>
          <p:nvPr/>
        </p:nvCxnSpPr>
        <p:spPr>
          <a:xfrm flipV="1">
            <a:off x="2730762" y="5552913"/>
            <a:ext cx="270869" cy="350899"/>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stCxn id="9" idx="0"/>
            <a:endCxn id="14" idx="2"/>
          </p:cNvCxnSpPr>
          <p:nvPr/>
        </p:nvCxnSpPr>
        <p:spPr>
          <a:xfrm flipV="1">
            <a:off x="3001631" y="4881939"/>
            <a:ext cx="1296054" cy="262351"/>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stCxn id="14" idx="3"/>
            <a:endCxn id="28" idx="1"/>
          </p:cNvCxnSpPr>
          <p:nvPr/>
        </p:nvCxnSpPr>
        <p:spPr>
          <a:xfrm flipV="1">
            <a:off x="5966753" y="4293330"/>
            <a:ext cx="887848" cy="384298"/>
          </a:xfrm>
          <a:prstGeom prst="curvedConnector3">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a:endCxn id="28" idx="3"/>
          </p:cNvCxnSpPr>
          <p:nvPr/>
        </p:nvCxnSpPr>
        <p:spPr>
          <a:xfrm rot="5400000">
            <a:off x="9014888" y="3023280"/>
            <a:ext cx="1638789" cy="901310"/>
          </a:xfrm>
          <a:prstGeom prst="curvedConnector2">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a:endCxn id="30" idx="0"/>
          </p:cNvCxnSpPr>
          <p:nvPr/>
        </p:nvCxnSpPr>
        <p:spPr>
          <a:xfrm>
            <a:off x="3685689" y="2724257"/>
            <a:ext cx="2136891" cy="876267"/>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6" idx="3"/>
            <a:endCxn id="27" idx="1"/>
          </p:cNvCxnSpPr>
          <p:nvPr/>
        </p:nvCxnSpPr>
        <p:spPr>
          <a:xfrm flipV="1">
            <a:off x="4758494" y="3026059"/>
            <a:ext cx="1516566" cy="357968"/>
          </a:xfrm>
          <a:prstGeom prst="curvedConnector3">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rot="20522865">
            <a:off x="4607719" y="2705785"/>
            <a:ext cx="2095254" cy="369332"/>
          </a:xfrm>
          <a:prstGeom prst="rect">
            <a:avLst/>
          </a:prstGeom>
          <a:noFill/>
        </p:spPr>
        <p:txBody>
          <a:bodyPr wrap="none" rtlCol="0">
            <a:spAutoFit/>
          </a:bodyPr>
          <a:lstStyle/>
          <a:p>
            <a:r>
              <a:rPr lang="en-US"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50779" y="1811313"/>
            <a:ext cx="324709" cy="324709"/>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87130" y="2338417"/>
            <a:ext cx="324709" cy="324709"/>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54741" y="3039689"/>
            <a:ext cx="324709" cy="324709"/>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80212" y="3591698"/>
            <a:ext cx="324709" cy="324709"/>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23667" y="2936973"/>
            <a:ext cx="324709" cy="324709"/>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702587" y="2645743"/>
            <a:ext cx="324709" cy="324709"/>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796994" y="2083563"/>
            <a:ext cx="324709" cy="324709"/>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796" y="3897548"/>
            <a:ext cx="324709" cy="324709"/>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642044" y="4289021"/>
            <a:ext cx="324709" cy="324709"/>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832377" y="3405129"/>
            <a:ext cx="324709" cy="324709"/>
          </a:xfrm>
          <a:prstGeom prst="rect">
            <a:avLst/>
          </a:prstGeom>
        </p:spPr>
      </p:pic>
      <p:pic>
        <p:nvPicPr>
          <p:cNvPr id="130" name="Graphic 129" descr="Hourglass 90% with solid fill">
            <a:extLst>
              <a:ext uri="{FF2B5EF4-FFF2-40B4-BE49-F238E27FC236}">
                <a16:creationId xmlns:a16="http://schemas.microsoft.com/office/drawing/2014/main" id="{50528A97-8AB5-A140-C267-C37E4D5DCE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070880" y="3451566"/>
            <a:ext cx="231833" cy="231833"/>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890858" y="4340520"/>
            <a:ext cx="231833" cy="231833"/>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969186" y="2998537"/>
            <a:ext cx="231833" cy="231833"/>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277096" y="3451566"/>
            <a:ext cx="324709" cy="324709"/>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9398365" y="3113049"/>
            <a:ext cx="324709" cy="324709"/>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299539" y="3943433"/>
            <a:ext cx="324709" cy="324709"/>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487129" y="2750531"/>
            <a:ext cx="324709" cy="324709"/>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933159" y="2149117"/>
            <a:ext cx="324709" cy="324709"/>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3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2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noProof="0" dirty="0"/>
              <a:t>Thank you for your attention!</a:t>
            </a:r>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8/29/2026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pic>
        <p:nvPicPr>
          <p:cNvPr id="6" name="Picture 5">
            <a:extLst>
              <a:ext uri="{FF2B5EF4-FFF2-40B4-BE49-F238E27FC236}">
                <a16:creationId xmlns:a16="http://schemas.microsoft.com/office/drawing/2014/main" id="{B7E9E7E9-B0F2-7688-8691-124AAE9C5637}"/>
              </a:ext>
            </a:extLst>
          </p:cNvPr>
          <p:cNvPicPr>
            <a:picLocks noChangeAspect="1"/>
          </p:cNvPicPr>
          <p:nvPr/>
        </p:nvPicPr>
        <p:blipFill>
          <a:blip r:embed="rId2"/>
          <a:stretch>
            <a:fillRect/>
          </a:stretch>
        </p:blipFill>
        <p:spPr>
          <a:xfrm>
            <a:off x="2187550" y="1790410"/>
            <a:ext cx="7816900" cy="3975196"/>
          </a:xfrm>
          <a:prstGeom prst="rect">
            <a:avLst/>
          </a:prstGeom>
        </p:spPr>
      </p:pic>
    </p:spTree>
    <p:extLst>
      <p:ext uri="{BB962C8B-B14F-4D97-AF65-F5344CB8AC3E}">
        <p14:creationId xmlns:p14="http://schemas.microsoft.com/office/powerpoint/2010/main" val="20253718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CD7CC-C2D6-52E6-02D5-F41FC5389A5C}"/>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950373B6-1B3D-2E32-D54A-18C124620153}"/>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8/29/2026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3867</TotalTime>
  <Words>5113</Words>
  <Application>Microsoft Office PowerPoint</Application>
  <PresentationFormat>Widescreen</PresentationFormat>
  <Paragraphs>600</Paragraphs>
  <Slides>30</Slides>
  <Notes>28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30</vt:i4>
      </vt:variant>
    </vt:vector>
  </HeadingPairs>
  <TitlesOfParts>
    <vt:vector size="38" baseType="lpstr">
      <vt:lpstr>Aptos</vt:lpstr>
      <vt:lpstr>Aptos Display</vt:lpstr>
      <vt:lpstr>Arial</vt:lpstr>
      <vt:lpstr>Blackadder ITC</vt:lpstr>
      <vt:lpstr>Cambria Math</vt:lpstr>
      <vt:lpstr>Fira Code</vt:lpstr>
      <vt:lpstr>Wingdings</vt:lpstr>
      <vt:lpstr>Office Theme</vt:lpstr>
      <vt:lpstr>Optimizing Memory Layouts and Traversal Orders in HPC</vt:lpstr>
      <vt:lpstr>Motivation for memory layouts</vt:lpstr>
      <vt:lpstr>Illustrative example: initialization algorithm</vt:lpstr>
      <vt:lpstr>Layout-agnostic design</vt:lpstr>
      <vt:lpstr>Layout abstractions</vt:lpstr>
      <vt:lpstr>Traversal abstractions</vt:lpstr>
      <vt:lpstr>Traversal abstractions</vt:lpstr>
      <vt:lpstr>Traversal transformations &amp; parallelization</vt:lpstr>
      <vt:lpstr>Autotuning</vt:lpstr>
      <vt:lpstr>Results</vt:lpstr>
      <vt:lpstr>Results</vt:lpstr>
      <vt:lpstr>Distributed initialization</vt:lpstr>
      <vt:lpstr>Automatic transformation in communication</vt:lpstr>
      <vt:lpstr>Results</vt:lpstr>
      <vt:lpstr>Cellular Automata abstractions</vt:lpstr>
      <vt:lpstr>PowerPoint Presentation</vt:lpstr>
      <vt:lpstr>Results</vt:lpstr>
      <vt:lpstr>Abstractions summary</vt:lpstr>
      <vt:lpstr>Motivation</vt:lpstr>
      <vt:lpstr>Tutoring LLMs for CUDA</vt:lpstr>
      <vt:lpstr>Tutoring LLMs for CUDA OpenAI GPT-o3-mini</vt:lpstr>
      <vt:lpstr>Tutoring LLMs for CUDA – submission OpenAI GPT-o3-mini</vt:lpstr>
      <vt:lpstr>Tutoring LLMs for CUDA – at conference OpenAI GPT-5</vt:lpstr>
      <vt:lpstr>LLMs and Abstractions</vt:lpstr>
      <vt:lpstr>LLMs and Abstractions</vt:lpstr>
      <vt:lpstr>PowerPoint Presentation</vt:lpstr>
      <vt:lpstr>LLM-directed optimization summary</vt:lpstr>
      <vt:lpstr>Contribution map</vt:lpstr>
      <vt:lpstr>Thank you for your attention!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149</cp:revision>
  <dcterms:created xsi:type="dcterms:W3CDTF">2026-08-08T18:10:38Z</dcterms:created>
  <dcterms:modified xsi:type="dcterms:W3CDTF">2026-08-29T15:03:15Z</dcterms:modified>
</cp:coreProperties>
</file>