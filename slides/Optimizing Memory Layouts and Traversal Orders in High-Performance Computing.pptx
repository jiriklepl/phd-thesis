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22" r:id="rId3"/>
    <p:sldId id="277" r:id="rId4"/>
    <p:sldId id="296" r:id="rId5"/>
    <p:sldId id="297" r:id="rId6"/>
    <p:sldId id="283" r:id="rId7"/>
    <p:sldId id="314" r:id="rId8"/>
    <p:sldId id="284" r:id="rId9"/>
    <p:sldId id="285" r:id="rId10"/>
    <p:sldId id="323" r:id="rId11"/>
    <p:sldId id="278" r:id="rId12"/>
    <p:sldId id="300" r:id="rId13"/>
    <p:sldId id="286" r:id="rId14"/>
    <p:sldId id="290" r:id="rId15"/>
    <p:sldId id="279" r:id="rId16"/>
    <p:sldId id="287" r:id="rId17"/>
    <p:sldId id="316" r:id="rId18"/>
    <p:sldId id="302" r:id="rId19"/>
    <p:sldId id="280" r:id="rId20"/>
    <p:sldId id="310" r:id="rId21"/>
    <p:sldId id="295" r:id="rId22"/>
    <p:sldId id="288" r:id="rId23"/>
    <p:sldId id="305" r:id="rId24"/>
    <p:sldId id="291" r:id="rId25"/>
    <p:sldId id="306" r:id="rId26"/>
    <p:sldId id="315" r:id="rId27"/>
    <p:sldId id="308" r:id="rId28"/>
    <p:sldId id="309" r:id="rId29"/>
    <p:sldId id="311" r:id="rId30"/>
    <p:sldId id="266" r:id="rId31"/>
    <p:sldId id="312" r:id="rId32"/>
    <p:sldId id="262" r:id="rId33"/>
    <p:sldId id="320" r:id="rId34"/>
    <p:sldId id="318" r:id="rId35"/>
    <p:sldId id="319" r:id="rId36"/>
    <p:sldId id="317" r:id="rId37"/>
    <p:sldId id="321"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00"/>
            <p14:sldId id="286"/>
            <p14:sldId id="290"/>
            <p14:sldId id="279"/>
            <p14:sldId id="287"/>
            <p14:sldId id="316"/>
            <p14:sldId id="302"/>
            <p14:sldId id="280"/>
            <p14:sldId id="310"/>
          </p14:sldIdLst>
        </p14:section>
        <p14:section name="llms" id="{2FE3CF17-CBFB-48E9-A3BF-DD99B7D2F01E}">
          <p14:sldIdLst>
            <p14:sldId id="295"/>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5000" autoAdjust="0"/>
  </p:normalViewPr>
  <p:slideViewPr>
    <p:cSldViewPr snapToGrid="0">
      <p:cViewPr varScale="1">
        <p:scale>
          <a:sx n="119" d="100"/>
          <a:sy n="119" d="100"/>
        </p:scale>
        <p:origin x="4032"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Implementing efficient HPC algorithms is challenging.</a:t>
            </a:r>
          </a:p>
          <a:p>
            <a:r>
              <a:rPr lang="en-US" dirty="0"/>
              <a:t>Apart from ensuring the functionality and the right high-level algorithm design so it scales well for the expected use cases, the design must also ensure efficient evaluation.</a:t>
            </a:r>
          </a:p>
          <a:p>
            <a:endParaRPr lang="en-US" dirty="0"/>
          </a:p>
          <a:p>
            <a:r>
              <a:rPr lang="en-US" dirty="0"/>
              <a:t>Most algorithms that we consider perform computations on large, often multidimensional data.</a:t>
            </a:r>
          </a:p>
          <a:p>
            <a:r>
              <a:rPr lang="en-US" dirty="0"/>
              <a:t>These data are operated on using multi-level nested loops that iteratively perform reads and writes.</a:t>
            </a:r>
          </a:p>
          <a:p>
            <a:endParaRPr lang="en-US" dirty="0"/>
          </a:p>
          <a:p>
            <a:r>
              <a:rPr lang="en-US" dirty="0"/>
              <a:t>In such algorithms, the data and the loops may often be rearranged without changing the functionality,</a:t>
            </a:r>
            <a:br>
              <a:rPr lang="en-US" dirty="0"/>
            </a:br>
            <a:r>
              <a:rPr lang="en-US" dirty="0"/>
              <a:t>but doing so may influence the performance. The right choice of the data layouts and loop traversals can</a:t>
            </a:r>
            <a:br>
              <a:rPr lang="en-US" dirty="0"/>
            </a:br>
            <a:r>
              <a:rPr lang="en-US" dirty="0"/>
              <a:t>significantly speed up computation, especially if it is memory-bound (limited by memory access speed).</a:t>
            </a:r>
          </a:p>
          <a:p>
            <a:endParaRPr lang="en-US" dirty="0"/>
          </a:p>
          <a:p>
            <a:r>
              <a:rPr lang="en-US" dirty="0"/>
              <a:t>This problem is especially pronounced on modern, massively parallel systems that process large datasets –</a:t>
            </a:r>
            <a:br>
              <a:rPr lang="en-US" dirty="0"/>
            </a:br>
            <a:r>
              <a:rPr lang="en-US" dirty="0"/>
              <a:t>for example, modern AI systems.</a:t>
            </a:r>
          </a:p>
          <a:p>
            <a:endParaRPr lang="en-US" dirty="0"/>
          </a:p>
          <a:p>
            <a:r>
              <a:rPr lang="en-US" dirty="0"/>
              <a:t>In many cases, the right choice of data layouts and traversals requires an empirical approach of trial and error,</a:t>
            </a:r>
          </a:p>
          <a:p>
            <a:r>
              <a:rPr lang="en-US" dirty="0"/>
              <a:t>And finding the most efficient implementation may require re-evaluating the algorithm with many</a:t>
            </a:r>
            <a:br>
              <a:rPr lang="en-US" dirty="0"/>
            </a:br>
            <a:r>
              <a:rPr lang="en-US" dirty="0"/>
              <a:t>different choices of layouts and traversals. Furthermore, it may be necessary to repeat the process on each target system.</a:t>
            </a:r>
          </a:p>
          <a:p>
            <a:endParaRPr lang="en-US" dirty="0"/>
          </a:p>
          <a:p>
            <a:r>
              <a:rPr lang="en-US" dirty="0"/>
              <a:t>Our research starts by decoupling layouts from the algorithm design so they can be optimized independently,</a:t>
            </a:r>
            <a:br>
              <a:rPr lang="en-US" dirty="0"/>
            </a:br>
            <a:r>
              <a:rPr lang="en-US" dirty="0"/>
              <a:t>which we then iterate on to also consider traversals, and then enable full automation.</a:t>
            </a:r>
          </a:p>
          <a:p>
            <a:r>
              <a:rPr lang="en-US" dirty="0"/>
              <a:t>This may simplify the implementation of efficient algorithms for domain experts who do not </a:t>
            </a:r>
            <a:r>
              <a:rPr lang="en-US"/>
              <a:t>have the resources to study and iterate</a:t>
            </a:r>
            <a:br>
              <a:rPr lang="en-US"/>
            </a:br>
            <a:r>
              <a:rPr lang="en-US"/>
              <a:t>different optimization decisions.</a:t>
            </a:r>
            <a:endParaRPr lang="en-US" dirty="0"/>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single matrix elements to some values.</a:t>
            </a:r>
          </a:p>
          <a:p>
            <a:endParaRPr lang="en-US" dirty="0"/>
          </a:p>
          <a:p>
            <a:r>
              <a:rPr lang="en-US" dirty="0"/>
              <a:t>For a typical *m-by-n matrix*, this is commonly expressed as an assignment nested in a two-dimensional loop nest; in this particular example, the indices are generated iteratively for the elements, row by row.</a:t>
            </a:r>
          </a:p>
          <a:p>
            <a:br>
              <a:rPr lang="en-US" dirty="0"/>
            </a:br>
            <a:r>
              <a:rPr lang="en-US" dirty="0"/>
              <a:t>(? cool animation)</a:t>
            </a:r>
            <a:br>
              <a:rPr lang="en-US" dirty="0"/>
            </a:br>
            <a:r>
              <a:rPr lang="en-US" dirty="0"/>
              <a:t>Notice that for the *row-major matrix layout* on the left</a:t>
            </a:r>
            <a:r>
              <a:rPr lang="cs-CZ" dirty="0"/>
              <a:t> (</a:t>
            </a:r>
            <a:r>
              <a:rPr lang="en-US" noProof="0" dirty="0"/>
              <a:t>the</a:t>
            </a:r>
            <a:r>
              <a:rPr lang="cs-CZ" dirty="0"/>
              <a:t> most </a:t>
            </a:r>
            <a:r>
              <a:rPr lang="cs-CZ" dirty="0" err="1"/>
              <a:t>common</a:t>
            </a:r>
            <a:r>
              <a:rPr lang="cs-CZ" dirty="0"/>
              <a:t> matrix layout)</a:t>
            </a:r>
            <a:r>
              <a:rPr lang="en-US" dirty="0"/>
              <a: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affects hardware mechanisms such as caching, which makes accesses to close-by elements faster.</a:t>
            </a:r>
          </a:p>
          <a:p>
            <a:endParaRPr lang="en-US" dirty="0"/>
          </a:p>
          <a:p>
            <a:r>
              <a:rPr lang="en-US" dirty="0"/>
              <a:t>In real-world algorithms, the situation may be further complicated by factors such as algorithms with more elaborate traversal patterns and accessing multiple data structures at once.</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 (memory offsets).</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a:t>
            </a:r>
            <a:br>
              <a:rPr lang="en-US" dirty="0"/>
            </a:br>
            <a:r>
              <a:rPr lang="en-US" dirty="0"/>
              <a:t>This makes the value directly propagated as a compiler constant instead of being stored in the object representing the layout, which might also enable more aggressive compiler optimizations.</a:t>
            </a:r>
          </a:p>
          <a:p>
            <a:endParaRPr lang="en-US" dirty="0"/>
          </a:p>
          <a:p>
            <a:r>
              <a:rPr lang="en-US" dirty="0"/>
              <a:t>---</a:t>
            </a:r>
          </a:p>
          <a:p>
            <a:endParaRPr lang="en-US" dirty="0"/>
          </a:p>
          <a:p>
            <a:r>
              <a:rPr lang="en-US" dirty="0"/>
              <a:t>An important quality of our approach is that the layouts are a separate concept from complete data structures.</a:t>
            </a:r>
            <a:br>
              <a:rPr lang="en-US" dirty="0"/>
            </a:br>
            <a:r>
              <a:rPr lang="en-US" dirty="0"/>
              <a:t>A data structure can be constructed from a given layout using a simple “bag” constructor. The constructor creates a data structure that automatically manages an appropriate memory buffer.</a:t>
            </a:r>
            <a:br>
              <a:rPr lang="en-US" dirty="0"/>
            </a:br>
            <a:br>
              <a:rPr lang="en-US" dirty="0"/>
            </a:br>
            <a:r>
              <a:rPr lang="en-US" dirty="0"/>
              <a:t>If we require the buffer to reside in a specific memory region, for example, we can supply it ourselves; the constructor then creates a non-owning view to the data. This is useful if the structure must reside in GPU device memory or a mapped file.</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two structures have different physical memory layouts, this effectively transposes the data.</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C, it doesn’t further extend the traversal, as its dimensions (m and n) are already covered by the three loops.</a:t>
            </a:r>
            <a:endParaRPr lang="en-US" dirty="0"/>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exactly the same, showing the abstraction does not introduce any runtime overhead; there are a few minor outliers introduced by differences in compiler optimizations.</a:t>
            </a:r>
          </a:p>
          <a:p>
            <a:endParaRPr lang="en-US" dirty="0"/>
          </a:p>
          <a:p>
            <a:r>
              <a:rPr lang="en-US" dirty="0"/>
              <a:t>For parallelization, we have reimplemented OpenMP/TBB parallel modifications of some algorithms, as well as the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on a separate compute node and then gathering the tiles into fully initialized data.</a:t>
            </a:r>
          </a:p>
          <a:p>
            <a:endParaRPr lang="en-US" dirty="0"/>
          </a:p>
          <a:p>
            <a:r>
              <a:rPr lang="en-US" dirty="0"/>
              <a:t>This requires two core pieces:</a:t>
            </a:r>
          </a:p>
          <a:p>
            <a:pPr marL="228600" indent="-228600">
              <a:buAutoNum type="arabicPeriod"/>
            </a:pPr>
            <a:r>
              <a:rPr lang="en-US" dirty="0"/>
              <a:t>Binding the traversal to the MPI communicator that describes the abstract topology of the nodes.</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logical structure.</a:t>
            </a:r>
          </a:p>
          <a:p>
            <a:r>
              <a:rPr lang="en-US" dirty="0"/>
              <a:t>If such communication was done naively, the MPI backend could corrupt the data by following the physical layout instead of the intended logical structure.</a:t>
            </a:r>
          </a:p>
          <a:p>
            <a:endParaRPr lang="en-US" dirty="0"/>
          </a:p>
          <a:p>
            <a:r>
              <a:rPr lang="en-US" dirty="0"/>
              <a:t>This, of course, works in group communication primitives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seamlessly enable layout-agnostic communication of data over MPI. For that, we have identified 6 main characteristics.</a:t>
            </a:r>
          </a:p>
          <a:p>
            <a:endParaRPr lang="en-US" dirty="0"/>
          </a:p>
          <a:p>
            <a:r>
              <a:rPr lang="en-US" dirty="0"/>
              <a:t>Most importantly, our approach is the only one that automatically handles differing physical layouts on opposite endpoints of communication (as shown on the previous slide).</a:t>
            </a:r>
          </a:p>
          <a:p>
            <a:r>
              <a:rPr lang="en-US" dirty="0"/>
              <a:t>We also compared supporting general multidimensional data layouts, the necessity for explicit packing and unpacking of data elements, and whether the approach chosen by the bindings performs some type safety checks.</a:t>
            </a:r>
          </a:p>
          <a:p>
            <a:endParaRPr lang="en-US" dirty="0"/>
          </a:p>
          <a:p>
            <a:r>
              <a:rPr lang="en-US" dirty="0"/>
              <a:t>(Many of the bindings do not even fully support scatter and gather instructions that can distribute/collect data into/from smaller chunks)</a:t>
            </a:r>
          </a:p>
          <a:p>
            <a:endParaRPr lang="en-US" dirty="0"/>
          </a:p>
          <a:p>
            <a:r>
              <a:rPr lang="en-US" dirty="0"/>
              <a:t>And, in terms of performance, it does not add overhead compared to a hand-written native MPI distributed computation.</a:t>
            </a:r>
          </a:p>
          <a:p>
            <a:endParaRPr lang="en-US" dirty="0"/>
          </a:p>
          <a:p>
            <a:r>
              <a:rPr lang="en-US" dirty="0"/>
              <a:t>The plot on the left computes on small data of various layouts and highlights the possible performance overhead introduced by the MPI bindings,</a:t>
            </a:r>
            <a:br>
              <a:rPr lang="en-US" dirty="0"/>
            </a:br>
            <a:r>
              <a:rPr lang="en-US" dirty="0"/>
              <a:t>while the one on the  right highlights the performance overhead introduced by the abstractions used for computation</a:t>
            </a:r>
            <a:br>
              <a:rPr lang="en-US" dirty="0"/>
            </a:br>
            <a:r>
              <a:rPr lang="en-US" dirty="0"/>
              <a:t>as well as the differences between efficient layouts of data structures (shown on the x-axis).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 sciences.</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 of magnitude.</a:t>
            </a:r>
          </a:p>
          <a:p>
            <a:endParaRPr lang="en-US" dirty="0"/>
          </a:p>
          <a:p>
            <a:r>
              <a:rPr lang="en-US" dirty="0"/>
              <a:t>This plot shows possible improvements using different optimization techniques available in our prototype framework on multiple different cellular automata.</a:t>
            </a:r>
          </a:p>
          <a:p>
            <a:endParaRPr lang="en-US" dirty="0"/>
          </a:p>
          <a:p>
            <a:r>
              <a:rPr lang="en-US" dirty="0"/>
              <a:t>(We can see that simple bit-packing is not enough for achieving highly efficient computation; and it is necessary to compute the cells in a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application of advanced optimizations.</a:t>
            </a:r>
          </a:p>
          <a:p>
            <a:endParaRPr lang="en-US" dirty="0"/>
          </a:p>
          <a:p>
            <a:r>
              <a:rPr lang="en-US" dirty="0"/>
              <a:t>But we can make the development even simpler and more automatic!</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our next work, we react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During our work, LLM models were capable of implementing simple algorithms (like data visualization, simple scripting, </a:t>
            </a:r>
            <a:r>
              <a:rPr lang="en-US" dirty="0" err="1"/>
              <a:t>etc</a:t>
            </a:r>
            <a:r>
              <a:rPr lang="en-US" dirty="0"/>
              <a:t>), but not yet competent enough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First, we focused on CUDA code generation, which was one of the challenging areas for contemporary LLMs; more specifically, 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 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a:t>
            </a:r>
            <a:r>
              <a:rPr lang="en-US" dirty="0" err="1"/>
              <a:t>EuroPar</a:t>
            </a:r>
            <a:r>
              <a:rPr lang="en-US" dirty="0"/>
              <a:t>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We have then applied this workflow to the 30 PolyBench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The first two columns differ in whether the LLM is told to consider a set of optimization hints or explicitly told to choose the appropriate ones to study whether the directness affects the performance as well, and an alternative approach that separated the optimization task into two steps, which didn’t improve correctness and significantly limited the performance.</a:t>
            </a:r>
          </a:p>
          <a:p>
            <a:endParaRPr lang="en-US" dirty="0"/>
          </a:p>
          <a:p>
            <a:r>
              <a:rPr lang="en-US" dirty="0"/>
              <a:t>The conclusion of this work is that a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the contemporary abstractions do not help.</a:t>
            </a:r>
          </a:p>
          <a:p>
            <a:endParaRPr lang="en-US" dirty="0"/>
          </a:p>
          <a:p>
            <a:r>
              <a:rPr lang="en-US" dirty="0"/>
              <a:t>Future research may re-evaluate our approach on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a:t>
            </a:r>
            <a:r>
              <a:rPr lang="en-US" dirty="0" err="1"/>
              <a:t>thatrisks</a:t>
            </a:r>
            <a:r>
              <a:rPr lang="en-US" dirty="0"/>
              <a:t> giving the impression that the candidate invented the two </a:t>
            </a:r>
            <a:r>
              <a:rPr lang="en-US" dirty="0" err="1"/>
              <a:t>optimisation</a:t>
            </a:r>
            <a:r>
              <a:rPr lang="en-US" dirty="0"/>
              <a:t> paradigms (lay-out-agnostic and traversal-agnostic design) outright. This is misleading and, notably, does </a:t>
            </a:r>
            <a:r>
              <a:rPr lang="en-US" dirty="0" err="1"/>
              <a:t>notserve</a:t>
            </a:r>
            <a:r>
              <a:rPr lang="en-US" dirty="0"/>
              <a:t> the candidate's own case well: the candidate's contribution here is best </a:t>
            </a:r>
            <a:r>
              <a:rPr lang="en-US" dirty="0" err="1"/>
              <a:t>characterised</a:t>
            </a:r>
            <a:r>
              <a:rPr lang="en-US" dirty="0"/>
              <a:t> </a:t>
            </a:r>
            <a:r>
              <a:rPr lang="en-US" dirty="0" err="1"/>
              <a:t>asa</a:t>
            </a:r>
            <a:r>
              <a:rPr lang="en-US" dirty="0"/>
              <a:t> minor, incremental one within an existing landscape of </a:t>
            </a:r>
            <a:r>
              <a:rPr lang="en-US" dirty="0" err="1"/>
              <a:t>optimisations</a:t>
            </a:r>
            <a:r>
              <a:rPr lang="en-US" dirty="0"/>
              <a:t>. Which of these </a:t>
            </a:r>
            <a:r>
              <a:rPr lang="en-US" dirty="0" err="1"/>
              <a:t>ideascan</a:t>
            </a:r>
            <a:r>
              <a:rPr lang="en-US" dirty="0"/>
              <a:t> also be found in software like </a:t>
            </a:r>
            <a:r>
              <a:rPr lang="en-US" dirty="0" err="1"/>
              <a:t>Kokkos</a:t>
            </a:r>
            <a:r>
              <a:rPr lang="en-US" dirty="0"/>
              <a:t> or OpenMP's loop transformations?</a:t>
            </a:r>
          </a:p>
          <a:p>
            <a:pPr marL="171450" indent="-171450">
              <a:buFont typeface="Wingdings" panose="05000000000000000000" pitchFamily="2" charset="2"/>
              <a:buChar char="Ø"/>
            </a:pPr>
            <a:endParaRPr lang="en-US" dirty="0"/>
          </a:p>
          <a:p>
            <a:pPr marL="0" indent="0">
              <a:buFont typeface="Wingdings" panose="05000000000000000000" pitchFamily="2" charset="2"/>
              <a:buNone/>
            </a:pPr>
            <a:r>
              <a:rPr lang="en-US" dirty="0" err="1"/>
              <a:t>Kokkos</a:t>
            </a:r>
            <a:r>
              <a:rPr lang="en-US" dirty="0"/>
              <a:t>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t>
            </a:r>
            <a:r>
              <a:rPr lang="en-US" dirty="0" err="1"/>
              <a:t>CUTe</a:t>
            </a:r>
            <a:r>
              <a:rPr lang="en-US" dirty="0"/>
              <a:t> layouts even support more general layout algebra and thus come</a:t>
            </a:r>
            <a:r>
              <a:rPr lang="en-US" baseline="0" dirty="0"/>
              <a:t> very close to our approach. This might help, for example, define other derived views or temporary memory buffers in layout-agnostic way. However, their use is limited to Tensors and the design primarily focuses GPU computation.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9/1/2026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9/1/2026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9/1/2026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9/1/2026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9/1/2026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9/1/2026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9/1/2026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9/1/2026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9/1/2026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9/1/2026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9/1/2026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45.png"/><Relationship Id="rId4" Type="http://schemas.openxmlformats.org/officeDocument/2006/relationships/image" Target="../media/image39.gif"/></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55.svg"/><Relationship Id="rId5" Type="http://schemas.openxmlformats.org/officeDocument/2006/relationships/image" Target="../media/image54.sv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3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9/1/2026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lstStyle/>
          <a:p>
            <a:r>
              <a:rPr lang="en-US" noProof="0" dirty="0"/>
              <a:t>Designing efficient HPC algorithms is challenging</a:t>
            </a:r>
          </a:p>
          <a:p>
            <a:r>
              <a:rPr lang="en-US" dirty="0"/>
              <a:t>Multidimensional data processed in multi-level loops</a:t>
            </a:r>
          </a:p>
          <a:p>
            <a:pPr lvl="1"/>
            <a:r>
              <a:rPr lang="en-US" dirty="0"/>
              <a:t>Changing data layouts and traversals often preserves functionality</a:t>
            </a:r>
          </a:p>
          <a:p>
            <a:pPr lvl="1"/>
            <a:r>
              <a:rPr lang="en-US" b="1" dirty="0"/>
              <a:t>Right</a:t>
            </a:r>
            <a:r>
              <a:rPr lang="en-US" dirty="0"/>
              <a:t> </a:t>
            </a:r>
            <a:r>
              <a:rPr lang="en-US" b="1" dirty="0"/>
              <a:t>data layouts</a:t>
            </a:r>
            <a:r>
              <a:rPr lang="en-US" dirty="0"/>
              <a:t> and </a:t>
            </a:r>
            <a:r>
              <a:rPr lang="en-US" b="1" dirty="0"/>
              <a:t>traversals</a:t>
            </a:r>
            <a:r>
              <a:rPr lang="en-US" dirty="0"/>
              <a:t> </a:t>
            </a:r>
            <a:r>
              <a:rPr lang="en-US" dirty="0">
                <a:sym typeface="Wingdings" panose="05000000000000000000" pitchFamily="2" charset="2"/>
              </a:rPr>
              <a:t> </a:t>
            </a:r>
            <a:r>
              <a:rPr lang="en-US" dirty="0"/>
              <a:t>significant </a:t>
            </a:r>
            <a:r>
              <a:rPr lang="en-US" b="1" dirty="0"/>
              <a:t>speedup</a:t>
            </a:r>
          </a:p>
          <a:p>
            <a:r>
              <a:rPr lang="en-US" dirty="0"/>
              <a:t>Massively parallel systems processing large datasets</a:t>
            </a:r>
          </a:p>
          <a:p>
            <a:r>
              <a:rPr lang="en-US" dirty="0"/>
              <a:t>Trial-and-error evaluation of many different choices</a:t>
            </a:r>
          </a:p>
          <a:p>
            <a:r>
              <a:rPr lang="en-US" dirty="0"/>
              <a:t>Different optima on different systems</a:t>
            </a:r>
          </a:p>
          <a:p>
            <a:endParaRPr lang="en-US" dirty="0"/>
          </a:p>
          <a:p>
            <a:r>
              <a:rPr lang="en-US" dirty="0"/>
              <a:t>Decoupling data layouts, then traversals, then full automation</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3"/>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4"/>
          <a:stretch>
            <a:fillRect/>
          </a:stretch>
        </p:blipFill>
        <p:spPr>
          <a:xfrm>
            <a:off x="9144000" y="4061022"/>
            <a:ext cx="1269681" cy="1269681"/>
          </a:xfrm>
          <a:prstGeom prst="rect">
            <a:avLst/>
          </a:prstGeom>
        </p:spPr>
      </p:pic>
    </p:spTree>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9/1/2026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9/1/2026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5"/>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8"/>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spTree>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9/1/2026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437322" y="4889622"/>
            <a:ext cx="1838587"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 </a:t>
            </a:r>
            <a:r>
              <a:rPr lang="en-US" dirty="0" err="1"/>
              <a:t>alloc</a:t>
            </a:r>
            <a:endParaRPr lang="en-US" dirty="0"/>
          </a:p>
        </p:txBody>
      </p:sp>
      <p:sp>
        <p:nvSpPr>
          <p:cNvPr id="13" name="TextBox 12">
            <a:extLst>
              <a:ext uri="{FF2B5EF4-FFF2-40B4-BE49-F238E27FC236}">
                <a16:creationId xmlns:a16="http://schemas.microsoft.com/office/drawing/2014/main" id="{E43C382B-2568-3BB2-FF89-3DD00349CEA9}"/>
              </a:ext>
            </a:extLst>
          </p:cNvPr>
          <p:cNvSpPr txBox="1"/>
          <p:nvPr/>
        </p:nvSpPr>
        <p:spPr>
          <a:xfrm>
            <a:off x="9584196" y="4884070"/>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9/1/2026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9/1/2026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9/1/2026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547061" y="4461432"/>
            <a:ext cx="2169440" cy="369332"/>
          </a:xfrm>
          <a:prstGeom prst="rect">
            <a:avLst/>
          </a:prstGeom>
          <a:noFill/>
        </p:spPr>
        <p:txBody>
          <a:bodyPr wrap="none" rtlCol="0">
            <a:spAutoFit/>
          </a:bodyPr>
          <a:lstStyle/>
          <a:p>
            <a:r>
              <a:rPr lang="en-US" dirty="0"/>
              <a:t>Computation nodes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9/1/2026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BF11FBE-6E66-AF47-90FB-A53F1CB69841}"/>
                  </a:ext>
                </a:extLst>
              </p:cNvPr>
              <p:cNvSpPr txBox="1"/>
              <p:nvPr/>
            </p:nvSpPr>
            <p:spPr>
              <a:xfrm>
                <a:off x="2796373" y="4555293"/>
                <a:ext cx="7440307" cy="400110"/>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−1, </m:t>
                          </m:r>
                          <m:r>
                            <a:rPr lang="en-US" sz="2000" b="0" i="1" smtClean="0">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b="0" i="1" smtClean="0">
                              <a:latin typeface="Cambria Math" panose="02040503050406030204" pitchFamily="18" charset="0"/>
                            </a:rPr>
                            <m:t>+</m:t>
                          </m:r>
                          <m:r>
                            <a:rPr lang="en-US" sz="2000" i="1">
                              <a:latin typeface="Cambria Math" panose="02040503050406030204" pitchFamily="18" charset="0"/>
                            </a:rPr>
                            <m:t>1, </m:t>
                          </m:r>
                          <m:r>
                            <a:rPr lang="en-US" sz="2000" i="1">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b="0" i="1" smtClean="0">
                          <a:latin typeface="Cambria Math" panose="02040503050406030204" pitchFamily="18" charset="0"/>
                        </a:rPr>
                        <m:t>)</m:t>
                      </m:r>
                    </m:oMath>
                  </m:oMathPara>
                </a14:m>
                <a:endParaRPr lang="en-US" sz="2000" dirty="0"/>
              </a:p>
            </p:txBody>
          </p:sp>
        </mc:Choice>
        <mc:Fallback xmlns="">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796373" y="4555293"/>
                <a:ext cx="7440307" cy="400110"/>
              </a:xfrm>
              <a:prstGeom prst="rect">
                <a:avLst/>
              </a:prstGeom>
              <a:blipFill>
                <a:blip r:embed="rId6"/>
                <a:stretch>
                  <a:fillRect b="-15152"/>
                </a:stretch>
              </a:blipFill>
            </p:spPr>
            <p:txBody>
              <a:bodyPr/>
              <a:lstStyle/>
              <a:p>
                <a:r>
                  <a:rPr lang="en-US">
                    <a:noFill/>
                  </a:rPr>
                  <a:t> </a:t>
                </a:r>
              </a:p>
            </p:txBody>
          </p:sp>
        </mc:Fallback>
      </mc:AlternateContent>
      <p:sp>
        <p:nvSpPr>
          <p:cNvPr id="21" name="Right Brace 20">
            <a:extLst>
              <a:ext uri="{FF2B5EF4-FFF2-40B4-BE49-F238E27FC236}">
                <a16:creationId xmlns:a16="http://schemas.microsoft.com/office/drawing/2014/main" id="{C73A5AD1-03E6-CD93-3B91-D5DCCF46A030}"/>
              </a:ext>
            </a:extLst>
          </p:cNvPr>
          <p:cNvSpPr/>
          <p:nvPr/>
        </p:nvSpPr>
        <p:spPr>
          <a:xfrm rot="5400000">
            <a:off x="3305691" y="4542125"/>
            <a:ext cx="144035" cy="909386"/>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4BB9BD25-7E57-6F2D-B662-1ACB582FE972}"/>
              </a:ext>
            </a:extLst>
          </p:cNvPr>
          <p:cNvSpPr txBox="1"/>
          <p:nvPr/>
        </p:nvSpPr>
        <p:spPr>
          <a:xfrm>
            <a:off x="2649237" y="5112321"/>
            <a:ext cx="1513556" cy="461665"/>
          </a:xfrm>
          <a:prstGeom prst="rect">
            <a:avLst/>
          </a:prstGeom>
          <a:noFill/>
        </p:spPr>
        <p:txBody>
          <a:bodyPr wrap="none" rtlCol="0">
            <a:spAutoFit/>
          </a:bodyPr>
          <a:lstStyle/>
          <a:p>
            <a:pPr algn="ctr"/>
            <a:r>
              <a:rPr lang="en-US" sz="2400" dirty="0"/>
              <a:t>New state</a:t>
            </a:r>
          </a:p>
        </p:txBody>
      </p:sp>
      <p:sp>
        <p:nvSpPr>
          <p:cNvPr id="24" name="Right Brace 23">
            <a:extLst>
              <a:ext uri="{FF2B5EF4-FFF2-40B4-BE49-F238E27FC236}">
                <a16:creationId xmlns:a16="http://schemas.microsoft.com/office/drawing/2014/main" id="{A48C4219-DFA0-5DD8-DCCF-EA1DB2C00267}"/>
              </a:ext>
            </a:extLst>
          </p:cNvPr>
          <p:cNvSpPr/>
          <p:nvPr/>
        </p:nvSpPr>
        <p:spPr>
          <a:xfrm rot="5400000">
            <a:off x="7103520" y="2302480"/>
            <a:ext cx="113433" cy="5419279"/>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524F2AB9-0539-93C8-AA71-D93418571E47}"/>
              </a:ext>
            </a:extLst>
          </p:cNvPr>
          <p:cNvSpPr txBox="1"/>
          <p:nvPr/>
        </p:nvSpPr>
        <p:spPr>
          <a:xfrm>
            <a:off x="5035976" y="5112321"/>
            <a:ext cx="3781805" cy="461665"/>
          </a:xfrm>
          <a:prstGeom prst="rect">
            <a:avLst/>
          </a:prstGeom>
          <a:noFill/>
        </p:spPr>
        <p:txBody>
          <a:bodyPr wrap="none" rtlCol="0">
            <a:spAutoFit/>
          </a:bodyPr>
          <a:lstStyle/>
          <a:p>
            <a:pPr algn="ctr"/>
            <a:r>
              <a:rPr lang="en-US" sz="2400" dirty="0"/>
              <a:t>Current states of neighbors</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7"/>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animBg="1"/>
      <p:bldP spid="22" grpId="0"/>
      <p:bldP spid="24"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a:t>
            </a:r>
            <a:br>
              <a:rPr lang="en-US" sz="2400" dirty="0"/>
            </a:br>
            <a:r>
              <a:rPr lang="en-US" sz="2400" dirty="0"/>
              <a:t>can do that too</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noProof="0" dirty="0"/>
              <a:t>LLMs in HPC</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noProof="0" dirty="0"/>
              <a:t>LLMs capable of writing simple code</a:t>
            </a:r>
          </a:p>
          <a:p>
            <a:pPr lvl="1"/>
            <a:r>
              <a:rPr lang="en-US" noProof="0" dirty="0"/>
              <a:t>Data visualization, simple scripting, …</a:t>
            </a:r>
          </a:p>
          <a:p>
            <a:r>
              <a:rPr lang="en-US" noProof="0" dirty="0"/>
              <a:t>But not high-</a:t>
            </a:r>
            <a:r>
              <a:rPr lang="en-US" noProof="0" dirty="0" err="1"/>
              <a:t>lvl</a:t>
            </a:r>
            <a:r>
              <a:rPr lang="en-US" noProof="0" dirty="0"/>
              <a:t> decisions and parallel algorithms</a:t>
            </a:r>
          </a:p>
          <a:p>
            <a:endParaRPr lang="en-US" noProof="0" dirty="0"/>
          </a:p>
          <a:p>
            <a:endParaRPr lang="en-US" noProof="0" dirty="0"/>
          </a:p>
          <a:p>
            <a:endParaRPr lang="en-US" noProof="0" dirty="0"/>
          </a:p>
          <a:p>
            <a:r>
              <a:rPr lang="en-US" noProof="0" dirty="0"/>
              <a:t>What helps LLMs generate better code?</a:t>
            </a:r>
          </a:p>
          <a:p>
            <a:pPr lvl="1"/>
            <a:r>
              <a:rPr lang="en-US" noProof="0"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11" name="Graphic 10" descr="Robot with solid fill">
            <a:extLst>
              <a:ext uri="{FF2B5EF4-FFF2-40B4-BE49-F238E27FC236}">
                <a16:creationId xmlns:a16="http://schemas.microsoft.com/office/drawing/2014/main" id="{41CECEA7-3178-756D-41C4-D6B0C12E3D7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90046" y="4035437"/>
            <a:ext cx="1788083" cy="1788083"/>
          </a:xfrm>
          <a:prstGeom prst="rect">
            <a:avLst/>
          </a:prstGeom>
        </p:spPr>
      </p:pic>
    </p:spTree>
    <p:extLst>
      <p:ext uri="{BB962C8B-B14F-4D97-AF65-F5344CB8AC3E}">
        <p14:creationId xmlns:p14="http://schemas.microsoft.com/office/powerpoint/2010/main" val="2540851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GPT-o3-mini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9/1/2026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26</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a:off x="1774482" y="3590512"/>
            <a:ext cx="43929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P spid="3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abstraction reference)</a:t>
            </a:r>
          </a:p>
          <a:p>
            <a:pPr lvl="1"/>
            <a:endParaRPr lang="en-US" noProof="0" dirty="0"/>
          </a:p>
          <a:p>
            <a:pPr lvl="1"/>
            <a:r>
              <a:rPr lang="en-US" noProof="0" dirty="0"/>
              <a:t>More LLM-focused abstractions</a:t>
            </a:r>
            <a:r>
              <a:rPr lang="en-US" dirty="0"/>
              <a:t> and scaffolding</a:t>
            </a:r>
            <a:endParaRPr lang="en-US" noProof="0" dirty="0"/>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17565713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a:t>
            </a:r>
            <a:r>
              <a:rPr lang="en-US" dirty="0" err="1"/>
              <a:t>Kokkos</a:t>
            </a:r>
            <a:r>
              <a:rPr lang="en-US" dirty="0"/>
              <a:t>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err="1"/>
              <a:t>Kokkos</a:t>
            </a:r>
            <a:r>
              <a:rPr lang="en-US" dirty="0"/>
              <a:t>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3901880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err="1"/>
              <a:t>Mdspan</a:t>
            </a:r>
            <a:r>
              <a:rPr lang="en-US" dirty="0"/>
              <a:t>, </a:t>
            </a:r>
            <a:r>
              <a:rPr lang="en-US" dirty="0" err="1"/>
              <a:t>Kokkos</a:t>
            </a:r>
            <a:r>
              <a:rPr lang="en-US" dirty="0"/>
              <a:t>, Raja, </a:t>
            </a:r>
            <a:r>
              <a:rPr lang="en-US" dirty="0" err="1"/>
              <a:t>CuTe</a:t>
            </a:r>
            <a:r>
              <a:rPr lang="en-US" dirty="0"/>
              <a:t>, </a:t>
            </a:r>
            <a:r>
              <a:rPr lang="en-US" dirty="0" err="1"/>
              <a:t>GridTools</a:t>
            </a:r>
            <a:r>
              <a:rPr lang="en-US" dirty="0"/>
              <a:t>, OpenMP loops, </a:t>
            </a:r>
            <a:r>
              <a:rPr lang="en-US" dirty="0" err="1"/>
              <a:t>Noarr</a:t>
            </a:r>
            <a:r>
              <a:rPr lang="en-US" dirty="0"/>
              <a:t>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1413752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41139591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5125</TotalTime>
  <Words>6198</Words>
  <Application>Microsoft Office PowerPoint</Application>
  <PresentationFormat>Widescreen</PresentationFormat>
  <Paragraphs>768</Paragraphs>
  <Slides>37</Slides>
  <Notes>33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initialization algorithm</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vt:lpstr>
      <vt:lpstr>Abstractions summary</vt:lpstr>
      <vt:lpstr>LLMs in HPC</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324</cp:revision>
  <dcterms:created xsi:type="dcterms:W3CDTF">2026-08-08T18:10:38Z</dcterms:created>
  <dcterms:modified xsi:type="dcterms:W3CDTF">2026-08-31T22:31:00Z</dcterms:modified>
</cp:coreProperties>
</file>