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68" r:id="rId3"/>
    <p:sldId id="277" r:id="rId4"/>
    <p:sldId id="269" r:id="rId5"/>
    <p:sldId id="270" r:id="rId6"/>
    <p:sldId id="281" r:id="rId7"/>
    <p:sldId id="282" r:id="rId8"/>
    <p:sldId id="263" r:id="rId9"/>
    <p:sldId id="271" r:id="rId10"/>
    <p:sldId id="283" r:id="rId11"/>
    <p:sldId id="284" r:id="rId12"/>
    <p:sldId id="272" r:id="rId13"/>
    <p:sldId id="285" r:id="rId14"/>
    <p:sldId id="278" r:id="rId15"/>
    <p:sldId id="265" r:id="rId16"/>
    <p:sldId id="258" r:id="rId17"/>
    <p:sldId id="273" r:id="rId18"/>
    <p:sldId id="286" r:id="rId19"/>
    <p:sldId id="279" r:id="rId20"/>
    <p:sldId id="274" r:id="rId21"/>
    <p:sldId id="287" r:id="rId22"/>
    <p:sldId id="280" r:id="rId23"/>
    <p:sldId id="259" r:id="rId24"/>
    <p:sldId id="275" r:id="rId25"/>
    <p:sldId id="288" r:id="rId26"/>
    <p:sldId id="276" r:id="rId27"/>
    <p:sldId id="260" r:id="rId28"/>
    <p:sldId id="266" r:id="rId29"/>
    <p:sldId id="261" r:id="rId30"/>
    <p:sldId id="262"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82"/>
            <p14:sldId id="263"/>
            <p14:sldId id="271"/>
            <p14:sldId id="283"/>
            <p14:sldId id="284"/>
            <p14:sldId id="272"/>
            <p14:sldId id="285"/>
            <p14:sldId id="278"/>
            <p14:sldId id="265"/>
            <p14:sldId id="258"/>
            <p14:sldId id="273"/>
            <p14:sldId id="286"/>
            <p14:sldId id="279"/>
            <p14:sldId id="274"/>
            <p14:sldId id="287"/>
            <p14:sldId id="280"/>
          </p14:sldIdLst>
        </p14:section>
        <p14:section name="llms" id="{2FE3CF17-CBFB-48E9-A3BF-DD99B7D2F01E}">
          <p14:sldIdLst>
            <p14:sldId id="259"/>
            <p14:sldId id="275"/>
            <p14:sldId id="288"/>
            <p14:sldId id="276"/>
          </p14:sldIdLst>
        </p14:section>
        <p14:section name="sw artifacts" id="{C643FBD2-A5DD-453D-B5B5-69D3884A4C2F}">
          <p14:sldIdLst>
            <p14:sldId id="260"/>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115" d="100"/>
          <a:sy n="115" d="100"/>
        </p:scale>
        <p:origin x="34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[v without runtime overhead]</a:t>
            </a:r>
            <a:br>
              <a:rPr lang="en-US" dirty="0"/>
            </a:br>
            <a:endParaRPr lang="en-US" dirty="0"/>
          </a:p>
          <a:p>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Our research is not the only effort on this, as nowadays,</a:t>
            </a:r>
            <a:br>
              <a:rPr lang="en-US" dirty="0"/>
            </a:br>
            <a:r>
              <a:rPr lang="en-US" dirty="0"/>
              <a:t>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shared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471300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carefully assessing how the principles play into defining layout-agnostic algorithms, we have extended the approach for traversals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A traverser is created from one or multiple data structures and then generates index points for accessing their shared space.</a:t>
            </a:r>
            <a:br>
              <a:rPr lang="en-US" dirty="0"/>
            </a:br>
            <a:br>
              <a:rPr lang="en-US" dirty="0"/>
            </a:br>
            <a:r>
              <a:rPr lang="en-US" dirty="0"/>
              <a:t>For a single structure, this mirrors a simple for-each algorithm;</a:t>
            </a:r>
            <a:br>
              <a:rPr lang="en-US" dirty="0"/>
            </a:br>
            <a:br>
              <a:rPr lang="en-US" dirty="0"/>
            </a:br>
            <a:r>
              <a:rPr lang="en-US" dirty="0"/>
              <a:t>If two structures share the same space, the traverser can be used to simply copy the data from one structure to the other</a:t>
            </a:r>
          </a:p>
          <a:p>
            <a:endParaRPr lang="en-US" dirty="0"/>
          </a:p>
          <a:p>
            <a:r>
              <a:rPr lang="en-US" dirty="0"/>
              <a:t>If the traversed structures have (partially) independent index spaces, the traverser infers the shared space as the cartesian product of the unique dimensions of all the </a:t>
            </a:r>
            <a:r>
              <a:rPr lang="en-US" dirty="0" err="1"/>
              <a:t>structurtes</a:t>
            </a:r>
            <a:r>
              <a:rPr lang="en-US" dirty="0"/>
              <a:t>. This can define, for example, the matrix multiplication algorithm.</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wouldn’t be very useful just like that.</a:t>
            </a:r>
            <a:br>
              <a:rPr lang="en-US" dirty="0"/>
            </a:br>
            <a:br>
              <a:rPr lang="en-US" dirty="0"/>
            </a:br>
            <a:r>
              <a:rPr lang="en-US" dirty="0"/>
              <a:t>The important part is that we can use the same principles for building memory layouts to specify transformations of the traversal orders as well.</a:t>
            </a:r>
          </a:p>
          <a:p>
            <a:r>
              <a:rPr lang="en-US" dirty="0"/>
              <a:t>This significantly improves the </a:t>
            </a:r>
            <a:r>
              <a:rPr lang="en-US" dirty="0" err="1"/>
              <a:t>expressibility</a:t>
            </a:r>
            <a:r>
              <a:rPr lang="en-US" dirty="0"/>
              <a:t> of the earlier work for optimizations, because oftentimes it is much easier to modify the (internal) traversal order of an algorithm</a:t>
            </a:r>
            <a:br>
              <a:rPr lang="en-US" dirty="0"/>
            </a:br>
            <a:r>
              <a:rPr lang="en-US" dirty="0"/>
              <a:t>rather than the memory layouts of the data structures that might be prescribed by the expected API.</a:t>
            </a:r>
          </a:p>
          <a:p>
            <a:endParaRPr lang="en-US" dirty="0"/>
          </a:p>
          <a:p>
            <a:r>
              <a:rPr lang="en-US" dirty="0"/>
              <a:t>We have also shown that this approach is very useful for specifying parallelization of the computation. We have showcased this on frameworks such as OpenMP and TBB,</a:t>
            </a:r>
            <a:br>
              <a:rPr lang="en-US" dirty="0"/>
            </a:br>
            <a:r>
              <a:rPr lang="en-US" dirty="0"/>
              <a:t>and in more detail in the CUDA framework for general-purpose GPU programming. There, we have shown that the principles pair well with multiple design specifics of</a:t>
            </a:r>
            <a:br>
              <a:rPr lang="en-US" dirty="0"/>
            </a:br>
            <a:r>
              <a:rPr lang="en-US" dirty="0"/>
              <a:t>CUDA programming, such as binding different threads and blocks to the dimensions of the computation 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9366052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and whether the quality improves with more suggestions or even specific instructions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a:br>
            <a:r>
              <a:rPr lang="en-US"/>
              <a:t>pure C </a:t>
            </a:r>
            <a:r>
              <a:rPr lang="en-US" dirty="0"/>
              <a:t>optimization attempts performed better than </a:t>
            </a:r>
            <a:r>
              <a:rPr lang="en-US"/>
              <a:t>any abstraction.</a:t>
            </a:r>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150312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t> matrix in row-major and column-major </a:t>
                </a:r>
                <a:r>
                  <a:rPr lang="en-US" i="1"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m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n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matrix[</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0000"/>
                </a:solidFill>
                <a:effectLst/>
                <a:latin typeface="Fira Code" panose="020B0809050000020004" pitchFamily="49" charset="0"/>
              </a:rPr>
              <a:t>init</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dirty="0"/>
              <a:t>A row-wise </a:t>
            </a:r>
            <a:r>
              <a:rPr lang="en-US" i="1"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267F99"/>
                </a:solidFill>
                <a:effectLst/>
                <a:latin typeface="Fira Code" panose="020B0809050000020004" pitchFamily="49" charset="0"/>
              </a:rPr>
              <a:t>Traversal</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795E26"/>
                </a:solidFill>
                <a:effectLst/>
                <a:latin typeface="Fira Code" panose="020B0809050000020004" pitchFamily="49" charset="0"/>
              </a:rPr>
              <a:t>order</a:t>
            </a:r>
            <a:r>
              <a:rPr lang="en-US" sz="1050" b="0" dirty="0">
                <a:solidFill>
                  <a:srgbClr val="000000"/>
                </a:solidFill>
                <a:effectLst/>
                <a:latin typeface="Fira Code" panose="020B0809050000020004" pitchFamily="49" charset="0"/>
              </a:rPr>
              <a:t>(</a:t>
            </a:r>
            <a:r>
              <a:rPr lang="en-US" sz="1050" b="0" dirty="0" err="1">
                <a:solidFill>
                  <a:srgbClr val="267F99"/>
                </a:solidFill>
                <a:effectLst/>
                <a:latin typeface="Fira Code" panose="020B0809050000020004" pitchFamily="49" charset="0"/>
              </a:rPr>
              <a:t>ByTiles</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795E26"/>
                </a:solidFill>
                <a:effectLst/>
                <a:latin typeface="Fira Code" panose="020B0809050000020004" pitchFamily="49" charset="0"/>
              </a:rPr>
              <a:t>for_each</a:t>
            </a:r>
            <a:r>
              <a:rPr lang="en-US" sz="1050" dirty="0">
                <a:solidFill>
                  <a:srgbClr val="000000"/>
                </a:solidFill>
                <a:latin typeface="Fira Code" panose="020B0809050000020004" pitchFamily="49" charset="0"/>
              </a:rPr>
              <a:t>(</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[&amp;](</a:t>
            </a: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accessC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b="0" dirty="0">
                <a:solidFill>
                  <a:srgbClr val="098658"/>
                </a:solidFill>
                <a:effectLst/>
                <a:latin typeface="Fira Code" panose="020B0809050000020004" pitchFamily="49" charset="0"/>
              </a:rPr>
              <a:t>4</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5</a:t>
            </a:r>
            <a:r>
              <a:rPr lang="en-US" sz="1050" b="0" dirty="0">
                <a:solidFill>
                  <a:srgbClr val="000000"/>
                </a:solidFill>
                <a:effectLst/>
                <a:latin typeface="Fira Code" panose="020B0809050000020004" pitchFamily="49" charset="0"/>
              </a:rPr>
              <a:t>);</a:t>
            </a:r>
          </a:p>
          <a:p>
            <a:pPr>
              <a:lnSpc>
                <a:spcPct val="113095"/>
              </a:lnSpc>
              <a:buNone/>
            </a:pPr>
            <a:endParaRPr lang="en-US" sz="1050" b="0" dirty="0">
              <a:solidFill>
                <a:srgbClr val="001080"/>
              </a:solidFill>
              <a:effectLst/>
              <a:latin typeface="Fira Code" panose="020B0809050000020004" pitchFamily="49" charset="0"/>
            </a:endParaRPr>
          </a:p>
          <a:p>
            <a:pPr>
              <a:lnSpc>
                <a:spcPct val="113095"/>
              </a:lnSpc>
              <a:buNone/>
            </a:pP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1593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C81CB-0D4D-015E-A6C7-6724860C9F8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F3BADD0-775D-00AB-6065-683027A95B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2447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67ECF-9BA1-2BE7-0036-A36004137A2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95407F-A5F5-76A5-4E06-750FA9FB53D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17610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2CDF9-1A11-349C-B79A-D01E2C32766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99F6D3-B032-B769-4CDC-FF1CDC6915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9335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3F49C5DC-F250-ABEE-8BA5-C59E6ABD627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2204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DF7620-7AA1-EF30-FDC7-27AAC7FFE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42AB4-1D66-61B5-41F3-D1C814D6D79F}"/>
              </a:ext>
            </a:extLst>
          </p:cNvPr>
          <p:cNvSpPr>
            <a:spLocks noGrp="1"/>
          </p:cNvSpPr>
          <p:nvPr>
            <p:ph type="title"/>
          </p:nvPr>
        </p:nvSpPr>
        <p:spPr/>
        <p:txBody>
          <a:bodyPr/>
          <a:lstStyle/>
          <a:p>
            <a:r>
              <a:rPr lang="en-US" noProof="0" dirty="0"/>
              <a:t>M &amp; S</a:t>
            </a:r>
          </a:p>
        </p:txBody>
      </p:sp>
      <p:sp>
        <p:nvSpPr>
          <p:cNvPr id="3" name="Content Placeholder 2">
            <a:extLst>
              <a:ext uri="{FF2B5EF4-FFF2-40B4-BE49-F238E27FC236}">
                <a16:creationId xmlns:a16="http://schemas.microsoft.com/office/drawing/2014/main" id="{7FC71ADE-62E2-F5C5-38A6-5FA51E07F94E}"/>
              </a:ext>
            </a:extLst>
          </p:cNvPr>
          <p:cNvSpPr>
            <a:spLocks noGrp="1"/>
          </p:cNvSpPr>
          <p:nvPr>
            <p:ph idx="1"/>
          </p:nvPr>
        </p:nvSpPr>
        <p:spPr/>
        <p:txBody>
          <a:bodyPr/>
          <a:lstStyle/>
          <a:p>
            <a:r>
              <a:rPr lang="en-US" noProof="0" dirty="0"/>
              <a:t>Motivation: GPU &amp; Cluster computing</a:t>
            </a:r>
          </a:p>
          <a:p>
            <a:pPr lvl="1"/>
            <a:r>
              <a:rPr lang="en-US" noProof="0" dirty="0"/>
              <a:t>Too many decisions, complex code (you don’t know) </a:t>
            </a:r>
            <a:r>
              <a:rPr lang="en-US" noProof="0" dirty="0">
                <a:sym typeface="Wingdings" panose="05000000000000000000" pitchFamily="2" charset="2"/>
              </a:rPr>
              <a:t> the problem, it is hard</a:t>
            </a:r>
            <a:endParaRPr lang="en-US" noProof="0" dirty="0"/>
          </a:p>
          <a:p>
            <a:pPr lvl="2"/>
            <a:r>
              <a:rPr lang="en-US" noProof="0" dirty="0"/>
              <a:t>layout options, traversal options, parallelization (Matice, </a:t>
            </a:r>
            <a:r>
              <a:rPr lang="en-US" noProof="0" dirty="0" err="1"/>
              <a:t>pruchod</a:t>
            </a:r>
            <a:r>
              <a:rPr lang="en-US" noProof="0" dirty="0"/>
              <a:t>; </a:t>
            </a:r>
            <a:r>
              <a:rPr lang="en-US" noProof="0" dirty="0" err="1"/>
              <a:t>nasobeni</a:t>
            </a:r>
            <a:r>
              <a:rPr lang="en-US" noProof="0" dirty="0"/>
              <a:t>?)</a:t>
            </a:r>
          </a:p>
          <a:p>
            <a:pPr lvl="2"/>
            <a:r>
              <a:rPr lang="en-US" noProof="0" dirty="0"/>
              <a:t>parameters for the above (block sizes, …)</a:t>
            </a:r>
          </a:p>
          <a:p>
            <a:r>
              <a:rPr lang="en-US" noProof="0" dirty="0"/>
              <a:t>Our solution: Abstraction &amp; automatization </a:t>
            </a:r>
            <a:r>
              <a:rPr lang="en-US" noProof="0" dirty="0">
                <a:sym typeface="Wingdings" panose="05000000000000000000" pitchFamily="2" charset="2"/>
              </a:rPr>
              <a:t> we offer a solution</a:t>
            </a:r>
            <a:endParaRPr lang="en-US" noProof="0" dirty="0"/>
          </a:p>
          <a:p>
            <a:pPr lvl="1"/>
            <a:r>
              <a:rPr lang="en-US" noProof="0" dirty="0"/>
              <a:t>Separation of concerns, independent aspects</a:t>
            </a:r>
          </a:p>
          <a:p>
            <a:pPr lvl="1"/>
            <a:r>
              <a:rPr lang="en-US" noProof="0" dirty="0"/>
              <a:t>Introducing layout-agnostic and traversal-agnostic algorithm design</a:t>
            </a:r>
          </a:p>
          <a:p>
            <a:pPr lvl="1"/>
            <a:r>
              <a:rPr lang="en-US" noProof="0" dirty="0"/>
              <a:t>How the world is saved</a:t>
            </a:r>
          </a:p>
        </p:txBody>
      </p:sp>
    </p:spTree>
    <p:extLst>
      <p:ext uri="{BB962C8B-B14F-4D97-AF65-F5344CB8AC3E}">
        <p14:creationId xmlns:p14="http://schemas.microsoft.com/office/powerpoint/2010/main" val="1408920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D8EA-565C-C8A0-F333-6EBD085AC735}"/>
              </a:ext>
            </a:extLst>
          </p:cNvPr>
          <p:cNvSpPr>
            <a:spLocks noGrp="1"/>
          </p:cNvSpPr>
          <p:nvPr>
            <p:ph type="title"/>
          </p:nvPr>
        </p:nvSpPr>
        <p:spPr/>
        <p:txBody>
          <a:bodyPr/>
          <a:lstStyle/>
          <a:p>
            <a:r>
              <a:rPr lang="en-US" noProof="0" dirty="0"/>
              <a:t>Proposed abstractions</a:t>
            </a:r>
          </a:p>
        </p:txBody>
      </p:sp>
      <p:sp>
        <p:nvSpPr>
          <p:cNvPr id="3" name="Content Placeholder 2">
            <a:extLst>
              <a:ext uri="{FF2B5EF4-FFF2-40B4-BE49-F238E27FC236}">
                <a16:creationId xmlns:a16="http://schemas.microsoft.com/office/drawing/2014/main" id="{0B0BC514-DFF4-C541-7399-85275B2EB075}"/>
              </a:ext>
            </a:extLst>
          </p:cNvPr>
          <p:cNvSpPr>
            <a:spLocks noGrp="1"/>
          </p:cNvSpPr>
          <p:nvPr>
            <p:ph idx="1"/>
          </p:nvPr>
        </p:nvSpPr>
        <p:spPr/>
        <p:txBody>
          <a:bodyPr/>
          <a:lstStyle/>
          <a:p>
            <a:r>
              <a:rPr lang="en-US" noProof="0" dirty="0"/>
              <a:t>Layout abstractions</a:t>
            </a:r>
          </a:p>
          <a:p>
            <a:r>
              <a:rPr lang="en-US" noProof="0" dirty="0"/>
              <a:t>Traversal abstractions</a:t>
            </a:r>
          </a:p>
          <a:p>
            <a:endParaRPr lang="en-US" noProof="0" dirty="0"/>
          </a:p>
          <a:p>
            <a:r>
              <a:rPr lang="en-US" noProof="0" dirty="0"/>
              <a:t>Extensions</a:t>
            </a:r>
          </a:p>
          <a:p>
            <a:pPr lvl="1"/>
            <a:r>
              <a:rPr lang="en-US" noProof="0" dirty="0"/>
              <a:t>? Practical aspects; </a:t>
            </a:r>
            <a:r>
              <a:rPr lang="en-US" noProof="0" dirty="0">
                <a:sym typeface="Wingdings" panose="05000000000000000000" pitchFamily="2" charset="2"/>
              </a:rPr>
              <a:t> autotuning</a:t>
            </a:r>
            <a:endParaRPr lang="en-US" noProof="0" dirty="0"/>
          </a:p>
          <a:p>
            <a:pPr lvl="1"/>
            <a:r>
              <a:rPr lang="en-US" noProof="0" dirty="0"/>
              <a:t>Distributed computing</a:t>
            </a:r>
          </a:p>
          <a:p>
            <a:endParaRPr lang="en-US" noProof="0" dirty="0"/>
          </a:p>
          <a:p>
            <a:r>
              <a:rPr lang="en-US" noProof="0" dirty="0"/>
              <a:t>Knowledge </a:t>
            </a:r>
            <a:r>
              <a:rPr lang="en-US" noProof="0" dirty="0" err="1"/>
              <a:t>neco</a:t>
            </a:r>
            <a:r>
              <a:rPr lang="en-US" noProof="0" dirty="0"/>
              <a:t> (</a:t>
            </a:r>
            <a:r>
              <a:rPr lang="en-US" noProof="0" dirty="0" err="1"/>
              <a:t>metaprogramovani</a:t>
            </a:r>
            <a:r>
              <a:rPr lang="en-US" noProof="0" dirty="0"/>
              <a:t>, </a:t>
            </a:r>
            <a:r>
              <a:rPr lang="en-US" noProof="0" dirty="0" err="1"/>
              <a:t>stavebni</a:t>
            </a:r>
            <a:r>
              <a:rPr lang="en-US" noProof="0" dirty="0"/>
              <a:t> </a:t>
            </a:r>
            <a:r>
              <a:rPr lang="en-US" noProof="0" dirty="0" err="1"/>
              <a:t>bloky</a:t>
            </a:r>
            <a:r>
              <a:rPr lang="en-US" noProof="0" dirty="0"/>
              <a:t>, </a:t>
            </a:r>
            <a:r>
              <a:rPr lang="en-US" noProof="0" dirty="0" err="1"/>
              <a:t>traversery</a:t>
            </a:r>
            <a:r>
              <a:rPr lang="en-US" noProof="0" dirty="0"/>
              <a:t>?)</a:t>
            </a:r>
          </a:p>
          <a:p>
            <a:pPr lvl="1"/>
            <a:r>
              <a:rPr lang="en-US" noProof="0" dirty="0"/>
              <a:t>CA computations (</a:t>
            </a:r>
          </a:p>
        </p:txBody>
      </p:sp>
    </p:spTree>
    <p:extLst>
      <p:ext uri="{BB962C8B-B14F-4D97-AF65-F5344CB8AC3E}">
        <p14:creationId xmlns:p14="http://schemas.microsoft.com/office/powerpoint/2010/main" val="21951909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dirty="0"/>
              <a:t>Enables optimizing the layouts on each computation node seamlessly</a:t>
            </a:r>
            <a:endParaRPr lang="en-US" noProof="0" dirty="0"/>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76DF5-558B-3919-32B0-4F3084964F7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0667283-B3C4-C4F1-4079-B937054AF85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99022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DBE9D86D-018E-4C50-0EFA-D7C5876605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421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dirty="0"/>
              <a:t>Layout &amp; encoding options (! bit-packing)</a:t>
            </a:r>
          </a:p>
          <a:p>
            <a:pPr lvl="1"/>
            <a:r>
              <a:rPr lang="en-US" dirty="0"/>
              <a:t>Evaluation options (! bit-wise vectorization)</a:t>
            </a:r>
          </a:p>
          <a:p>
            <a:pPr lvl="1"/>
            <a:r>
              <a:rPr lang="en-US" noProof="0" dirty="0"/>
              <a:t>Traversal options (incl. parallelism)</a:t>
            </a:r>
          </a:p>
          <a:p>
            <a:r>
              <a:rPr lang="en-US" noProof="0" dirty="0"/>
              <a:t>Agnostic design of CA computation rules</a:t>
            </a:r>
          </a:p>
          <a:p>
            <a:r>
              <a:rPr lang="en-US" dirty="0"/>
              <a:t>Faster development, experimentation (optimization)</a:t>
            </a:r>
            <a:endParaRPr lang="en-US" noProof="0" dirty="0"/>
          </a:p>
        </p:txBody>
      </p:sp>
    </p:spTree>
    <p:extLst>
      <p:ext uri="{BB962C8B-B14F-4D97-AF65-F5344CB8AC3E}">
        <p14:creationId xmlns:p14="http://schemas.microsoft.com/office/powerpoint/2010/main" val="3466036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8227E-92C1-58EB-DF13-B5786997FFC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BA74A47-DB48-A852-0AED-B35ABEBAE0A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30539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F1E705A3-4FDF-AB1A-A2C5-33B72A01596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D8E19-FCBD-3C1F-9804-55F9EF315364}"/>
              </a:ext>
            </a:extLst>
          </p:cNvPr>
          <p:cNvSpPr>
            <a:spLocks noGrp="1"/>
          </p:cNvSpPr>
          <p:nvPr>
            <p:ph type="title"/>
          </p:nvPr>
        </p:nvSpPr>
        <p:spPr/>
        <p:txBody>
          <a:bodyPr/>
          <a:lstStyle/>
          <a:p>
            <a:r>
              <a:rPr lang="en-US" noProof="0" dirty="0"/>
              <a:t>LLMs in algorithm design</a:t>
            </a:r>
          </a:p>
        </p:txBody>
      </p:sp>
      <p:sp>
        <p:nvSpPr>
          <p:cNvPr id="3" name="Content Placeholder 2">
            <a:extLst>
              <a:ext uri="{FF2B5EF4-FFF2-40B4-BE49-F238E27FC236}">
                <a16:creationId xmlns:a16="http://schemas.microsoft.com/office/drawing/2014/main" id="{64F2D09B-2F00-3457-9D41-D2EAB2BD84E5}"/>
              </a:ext>
            </a:extLst>
          </p:cNvPr>
          <p:cNvSpPr>
            <a:spLocks noGrp="1"/>
          </p:cNvSpPr>
          <p:nvPr>
            <p:ph idx="1"/>
          </p:nvPr>
        </p:nvSpPr>
        <p:spPr/>
        <p:txBody>
          <a:bodyPr/>
          <a:lstStyle/>
          <a:p>
            <a:r>
              <a:rPr lang="en-US" noProof="0" dirty="0"/>
              <a:t>Tutoring LLMs for CUDA optimization</a:t>
            </a:r>
          </a:p>
          <a:p>
            <a:r>
              <a:rPr lang="en-US" noProof="0" dirty="0"/>
              <a:t>LLMs and abstractions</a:t>
            </a:r>
          </a:p>
        </p:txBody>
      </p:sp>
    </p:spTree>
    <p:extLst>
      <p:ext uri="{BB962C8B-B14F-4D97-AF65-F5344CB8AC3E}">
        <p14:creationId xmlns:p14="http://schemas.microsoft.com/office/powerpoint/2010/main" val="645810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4D79-2E52-80F7-0541-30A0EEC45CA4}"/>
              </a:ext>
            </a:extLst>
          </p:cNvPr>
          <p:cNvSpPr>
            <a:spLocks noGrp="1"/>
          </p:cNvSpPr>
          <p:nvPr>
            <p:ph type="title"/>
          </p:nvPr>
        </p:nvSpPr>
        <p:spPr/>
        <p:txBody>
          <a:bodyPr/>
          <a:lstStyle/>
          <a:p>
            <a:r>
              <a:rPr lang="en-US" noProof="0" dirty="0"/>
              <a:t>Tutoring LLMs</a:t>
            </a:r>
          </a:p>
        </p:txBody>
      </p:sp>
      <p:sp>
        <p:nvSpPr>
          <p:cNvPr id="3" name="Content Placeholder 2">
            <a:extLst>
              <a:ext uri="{FF2B5EF4-FFF2-40B4-BE49-F238E27FC236}">
                <a16:creationId xmlns:a16="http://schemas.microsoft.com/office/drawing/2014/main" id="{5EC62719-077B-686B-2F9B-914035C8221C}"/>
              </a:ext>
            </a:extLst>
          </p:cNvPr>
          <p:cNvSpPr>
            <a:spLocks noGrp="1"/>
          </p:cNvSpPr>
          <p:nvPr>
            <p:ph idx="1"/>
          </p:nvPr>
        </p:nvSpPr>
        <p:spPr/>
        <p:txBody>
          <a:bodyPr>
            <a:normAutofit fontScale="92500" lnSpcReduction="20000"/>
          </a:bodyPr>
          <a:lstStyle/>
          <a:p>
            <a:r>
              <a:rPr lang="en-US" noProof="0" dirty="0"/>
              <a:t>The goal was always better automation/generalization of design and tuning</a:t>
            </a:r>
          </a:p>
          <a:p>
            <a:r>
              <a:rPr lang="en-US" dirty="0"/>
              <a:t>LLMs started to be surprisingly competent code generators</a:t>
            </a:r>
          </a:p>
          <a:p>
            <a:pPr lvl="1"/>
            <a:r>
              <a:rPr lang="en-US" noProof="0" dirty="0"/>
              <a:t>Not reliable, but extremely flexible, generalizable, simple to use (e.g., understanding natural language)</a:t>
            </a:r>
          </a:p>
          <a:p>
            <a:r>
              <a:rPr lang="en-US" dirty="0"/>
              <a:t>Core assumption for the study: LLMs are not very good in high-</a:t>
            </a:r>
            <a:r>
              <a:rPr lang="en-US" dirty="0" err="1"/>
              <a:t>lvl</a:t>
            </a:r>
            <a:r>
              <a:rPr lang="en-US" dirty="0"/>
              <a:t> decisions</a:t>
            </a:r>
          </a:p>
          <a:p>
            <a:r>
              <a:rPr lang="en-US" noProof="0" dirty="0"/>
              <a:t>Tutoring = improving quality of generated code by design suggestions/directions</a:t>
            </a:r>
          </a:p>
          <a:p>
            <a:r>
              <a:rPr lang="en-US" dirty="0"/>
              <a:t>Key findings:</a:t>
            </a:r>
          </a:p>
          <a:p>
            <a:pPr lvl="1"/>
            <a:r>
              <a:rPr lang="en-US" dirty="0"/>
              <a:t>Intricate relationship between algorithm complexity and this effect on an LLM</a:t>
            </a:r>
          </a:p>
          <a:p>
            <a:pPr lvl="1"/>
            <a:r>
              <a:rPr lang="en-US" noProof="0" dirty="0"/>
              <a:t>Improvement over time: the effect changes with each new model</a:t>
            </a:r>
          </a:p>
        </p:txBody>
      </p:sp>
    </p:spTree>
    <p:extLst>
      <p:ext uri="{BB962C8B-B14F-4D97-AF65-F5344CB8AC3E}">
        <p14:creationId xmlns:p14="http://schemas.microsoft.com/office/powerpoint/2010/main" val="26671222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98A8FBF-DBBB-B9D8-3585-DB6EB62FE7E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452505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dirty="0"/>
              <a:t>Key findings:</a:t>
            </a:r>
          </a:p>
          <a:p>
            <a:pPr lvl="1"/>
            <a:r>
              <a:rPr lang="en-US" noProof="0" dirty="0"/>
              <a:t>Prompt specificity improves results much more</a:t>
            </a:r>
          </a:p>
          <a:p>
            <a:pPr lvl="1"/>
            <a:r>
              <a:rPr lang="en-US"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BD501-0287-7E9D-6C52-A86B98F9EB52}"/>
              </a:ext>
            </a:extLst>
          </p:cNvPr>
          <p:cNvSpPr>
            <a:spLocks noGrp="1"/>
          </p:cNvSpPr>
          <p:nvPr>
            <p:ph type="title"/>
          </p:nvPr>
        </p:nvSpPr>
        <p:spPr/>
        <p:txBody>
          <a:bodyPr/>
          <a:lstStyle/>
          <a:p>
            <a:r>
              <a:rPr lang="en-US" noProof="0" dirty="0" err="1"/>
              <a:t>Zahodit</a:t>
            </a:r>
            <a:endParaRPr lang="en-US" noProof="0" dirty="0"/>
          </a:p>
        </p:txBody>
      </p:sp>
      <p:sp>
        <p:nvSpPr>
          <p:cNvPr id="3" name="Content Placeholder 2">
            <a:extLst>
              <a:ext uri="{FF2B5EF4-FFF2-40B4-BE49-F238E27FC236}">
                <a16:creationId xmlns:a16="http://schemas.microsoft.com/office/drawing/2014/main" id="{369E5D67-EA03-A5CA-2D82-199F178CE89C}"/>
              </a:ext>
            </a:extLst>
          </p:cNvPr>
          <p:cNvSpPr>
            <a:spLocks noGrp="1"/>
          </p:cNvSpPr>
          <p:nvPr>
            <p:ph idx="1"/>
          </p:nvPr>
        </p:nvSpPr>
        <p:spPr/>
        <p:txBody>
          <a:bodyPr/>
          <a:lstStyle/>
          <a:p>
            <a:r>
              <a:rPr lang="en-US" noProof="0" dirty="0" err="1"/>
              <a:t>Noarr</a:t>
            </a:r>
            <a:endParaRPr lang="en-US" noProof="0" dirty="0"/>
          </a:p>
          <a:p>
            <a:r>
              <a:rPr lang="en-US" noProof="0" dirty="0" err="1"/>
              <a:t>Cellato</a:t>
            </a:r>
            <a:endParaRPr lang="en-US" noProof="0" dirty="0"/>
          </a:p>
        </p:txBody>
      </p:sp>
    </p:spTree>
    <p:extLst>
      <p:ext uri="{BB962C8B-B14F-4D97-AF65-F5344CB8AC3E}">
        <p14:creationId xmlns:p14="http://schemas.microsoft.com/office/powerpoint/2010/main" val="40851222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2548</TotalTime>
  <Words>3666</Words>
  <Application>Microsoft Office PowerPoint</Application>
  <PresentationFormat>Widescreen</PresentationFormat>
  <Paragraphs>299</Paragraphs>
  <Slides>30</Slides>
  <Notes>14</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Layout- and Traversal-agnostic design</vt:lpstr>
      <vt:lpstr>PowerPoint Presentation</vt:lpstr>
      <vt:lpstr>Layout-agnostic design</vt:lpstr>
      <vt:lpstr>?? Traversal agnostic design</vt:lpstr>
      <vt:lpstr>PowerPoint Presentation</vt:lpstr>
      <vt:lpstr>PowerPoint Presentation</vt:lpstr>
      <vt:lpstr>Finalizing the automation: Autotuning</vt:lpstr>
      <vt:lpstr>PowerPoint Presentation</vt:lpstr>
      <vt:lpstr>Results</vt:lpstr>
      <vt:lpstr>M &amp; S</vt:lpstr>
      <vt:lpstr>Proposed abstractions</vt:lpstr>
      <vt:lpstr>Distributed computing</vt:lpstr>
      <vt:lpstr>PowerPoint Presentation</vt:lpstr>
      <vt:lpstr>Results</vt:lpstr>
      <vt:lpstr>Cellular automata</vt:lpstr>
      <vt:lpstr>PowerPoint Presentation</vt:lpstr>
      <vt:lpstr>Results</vt:lpstr>
      <vt:lpstr>LLMs in algorithm design</vt:lpstr>
      <vt:lpstr>Tutoring LLMs</vt:lpstr>
      <vt:lpstr>PowerPoint Presentation</vt:lpstr>
      <vt:lpstr>LLMs and abstractions</vt:lpstr>
      <vt:lpstr>Zahodit</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37</cp:revision>
  <dcterms:created xsi:type="dcterms:W3CDTF">2026-08-08T18:10:38Z</dcterms:created>
  <dcterms:modified xsi:type="dcterms:W3CDTF">2026-08-25T21:04:23Z</dcterms:modified>
</cp:coreProperties>
</file>