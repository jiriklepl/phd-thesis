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2" r:id="rId17"/>
    <p:sldId id="280" r:id="rId18"/>
    <p:sldId id="310" r:id="rId19"/>
    <p:sldId id="295" r:id="rId20"/>
    <p:sldId id="288" r:id="rId21"/>
    <p:sldId id="305" r:id="rId22"/>
    <p:sldId id="291" r:id="rId23"/>
    <p:sldId id="306" r:id="rId24"/>
    <p:sldId id="307" r:id="rId25"/>
    <p:sldId id="308" r:id="rId26"/>
    <p:sldId id="309" r:id="rId27"/>
    <p:sldId id="311" r:id="rId28"/>
    <p:sldId id="266" r:id="rId29"/>
    <p:sldId id="262" r:id="rId30"/>
    <p:sldId id="299" r:id="rId31"/>
    <p:sldId id="276" r:id="rId32"/>
    <p:sldId id="292" r:id="rId33"/>
    <p:sldId id="304" r:id="rId34"/>
    <p:sldId id="303" r:id="rId35"/>
    <p:sldId id="301" r:id="rId36"/>
    <p:sldId id="268" r:id="rId37"/>
    <p:sldId id="269" r:id="rId38"/>
    <p:sldId id="270" r:id="rId39"/>
    <p:sldId id="281" r:id="rId40"/>
    <p:sldId id="282" r:id="rId41"/>
    <p:sldId id="263" r:id="rId42"/>
    <p:sldId id="271" r:id="rId43"/>
    <p:sldId id="294" r:id="rId44"/>
    <p:sldId id="272" r:id="rId45"/>
    <p:sldId id="273" r:id="rId46"/>
    <p:sldId id="274" r:id="rId47"/>
    <p:sldId id="261"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2"/>
            <p14:sldId id="280"/>
            <p14:sldId id="310"/>
          </p14:sldIdLst>
        </p14:section>
        <p14:section name="llms" id="{2FE3CF17-CBFB-48E9-A3BF-DD99B7D2F01E}">
          <p14:sldIdLst>
            <p14:sldId id="295"/>
            <p14:sldId id="288"/>
            <p14:sldId id="305"/>
            <p14:sldId id="291"/>
            <p14:sldId id="306"/>
            <p14:sldId id="307"/>
            <p14:sldId id="308"/>
            <p14:sldId id="309"/>
            <p14:sldId id="311"/>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76"/>
            <p14:sldId id="292"/>
            <p14:sldId id="304"/>
            <p14:sldId id="303"/>
            <p14:sldId id="301"/>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86509" autoAdjust="0"/>
  </p:normalViewPr>
  <p:slideViewPr>
    <p:cSldViewPr snapToGrid="0">
      <p:cViewPr varScale="1">
        <p:scale>
          <a:sx n="137" d="100"/>
          <a:sy n="137" d="100"/>
        </p:scale>
        <p:origin x="2496" y="13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These algorithms often contain multidimensional structures and computation in regular loops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 such as:</a:t>
            </a:r>
          </a:p>
          <a:p>
            <a:pPr marL="171450" indent="-171450">
              <a:buFontTx/>
              <a:buChar char="-"/>
            </a:pPr>
            <a:r>
              <a:rPr lang="en-US" dirty="0"/>
              <a:t>row-major, which stores the rows of elements sequentially</a:t>
            </a:r>
          </a:p>
          <a:p>
            <a:pPr marL="171450" indent="-171450">
              <a:buFontTx/>
              <a:buChar char="-"/>
            </a:pPr>
            <a:r>
              <a:rPr lang="en-US" dirty="0"/>
              <a:t>Column-major, which stores the columns sequentially</a:t>
            </a:r>
          </a:p>
          <a:p>
            <a:pPr marL="0" indent="0">
              <a:buFontTx/>
              <a:buNone/>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 what is going 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automata simulation.</a:t>
            </a:r>
          </a:p>
          <a:p>
            <a:r>
              <a:rPr lang="en-US" dirty="0"/>
              <a:t>It is used for modelling various systems such as fluid dynamics or material sciences.</a:t>
            </a:r>
          </a:p>
          <a:p>
            <a:endParaRPr lang="en-US" dirty="0"/>
          </a:p>
          <a:p>
            <a:r>
              <a:rPr lang="en-US" dirty="0"/>
              <a:t>They are computed on regular grids where each cell has one of a limited number of possible states;</a:t>
            </a:r>
          </a:p>
          <a:p>
            <a:r>
              <a:rPr lang="en-US" dirty="0"/>
              <a:t>The grid is updated in discrete time steps by applying a neighborhood-based rule to each cell.</a:t>
            </a:r>
          </a:p>
          <a:p>
            <a:endParaRPr lang="en-US" dirty="0"/>
          </a:p>
          <a:p>
            <a:r>
              <a:rPr lang="en-US" dirty="0"/>
              <a:t>The rule can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a:t>
            </a:r>
          </a:p>
          <a:p>
            <a:pPr marL="171450" indent="-171450">
              <a:buFontTx/>
              <a:buChar char="-"/>
            </a:pPr>
            <a:r>
              <a:rPr lang="en-US" dirty="0"/>
              <a:t>Memory Layouts that specify how the grid and the single cells are encoded</a:t>
            </a:r>
          </a:p>
          <a:p>
            <a:pPr marL="171450" indent="-171450">
              <a:buFontTx/>
              <a:buChar char="-"/>
            </a:pPr>
            <a:r>
              <a:rPr lang="en-US" dirty="0"/>
              <a:t>Evaluators that specify how the update rules should be computed on the specific Memory Layouts</a:t>
            </a:r>
          </a:p>
          <a:p>
            <a:pPr marL="171450" indent="-171450">
              <a:buFontTx/>
              <a:buChar char="-"/>
            </a:pPr>
            <a:r>
              <a:rPr lang="en-US" dirty="0"/>
              <a:t>And Traversers that specify the evaluation order as well as parallelization of the computation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r>
              <a:rPr lang="en-US" dirty="0"/>
              <a:t>After extending our earlier work to cover distributed computing as well and adapting it for a specific domain,</a:t>
            </a:r>
          </a:p>
          <a:p>
            <a:r>
              <a:rPr lang="en-US" dirty="0"/>
              <a:t>We have started to do research in a different approach for simplifying HPC algorithm design.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work reacts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the time of the beginning of our research in this area, LLM models were capable of implementing simple algorithms (like data visualization, simple scripting, </a:t>
            </a:r>
            <a:r>
              <a:rPr lang="en-US" dirty="0" err="1"/>
              <a:t>etc</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not yet that competent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In our first work in this area, we focused on CUDA code generation, which was one of the challenging areas for the contemporary LLMs; more specifically,</a:t>
            </a:r>
            <a:br>
              <a:rPr lang="en-US" dirty="0"/>
            </a:br>
            <a:r>
              <a:rPr lang="en-US" dirty="0"/>
              <a:t>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the LLM generated progressively better code,</a:t>
            </a:r>
            <a:br>
              <a:rPr lang="en-US" dirty="0"/>
            </a:br>
            <a:r>
              <a:rPr lang="en-US" dirty="0"/>
              <a:t>but for the k-</a:t>
            </a:r>
            <a:r>
              <a:rPr lang="en-US" dirty="0" err="1"/>
              <a:t>Nearnearest</a:t>
            </a:r>
            <a:r>
              <a:rPr lang="en-US" dirty="0"/>
              <a: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(TODO)</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(TODO)</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combining the two branches)</a:t>
            </a:r>
          </a:p>
          <a:p>
            <a:endParaRPr lang="en-US" dirty="0"/>
          </a:p>
          <a:p>
            <a:r>
              <a:rPr lang="en-US" dirty="0"/>
              <a:t>Then, we have studied whether the earlier studied abstractions enabling layout- and traversal-agnostic design significantly improve the correctness and efficiency of the generated parallel code during optimization tasks.</a:t>
            </a:r>
          </a:p>
          <a:p>
            <a:endParaRPr lang="en-US" dirty="0"/>
          </a:p>
          <a:p>
            <a:r>
              <a:rPr lang="en-US" dirty="0"/>
              <a:t>For that, we have compared 3 abstractions (Halide, Exo and </a:t>
            </a:r>
            <a:r>
              <a:rPr lang="en-US" dirty="0" err="1"/>
              <a:t>Noarr</a:t>
            </a:r>
            <a:r>
              <a:rPr lang="en-US" dirty="0"/>
              <a:t>) with different designs and principles as well as outputting pure C on the 30 algorithms from the </a:t>
            </a:r>
            <a:r>
              <a:rPr lang="en-US" dirty="0" err="1"/>
              <a:t>PolyBench</a:t>
            </a:r>
            <a:r>
              <a:rPr lang="en-US" dirty="0"/>
              <a:t>/C benchmark suite.</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4361901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we have used a multithreaded datacenter-grade computer, and to avoid many mistakes,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 improving the overall correctness rate.</a:t>
            </a:r>
          </a:p>
          <a:p>
            <a:pPr marL="0" indent="0">
              <a:buFontTx/>
              <a:buNone/>
            </a:pPr>
            <a:endParaRPr lang="en-US" dirty="0"/>
          </a:p>
          <a:p>
            <a:pPr marL="0" indent="0">
              <a:buFontTx/>
              <a:buNone/>
            </a:pPr>
            <a:r>
              <a:rPr lang="en-US" dirty="0"/>
              <a:t>In both generation steps, the prompts were accompanied by official developer guides and custom abstraction-specific hints for the given abstractions</a:t>
            </a:r>
            <a:br>
              <a:rPr lang="en-US" dirty="0"/>
            </a:br>
            <a:r>
              <a:rPr lang="en-US" dirty="0"/>
              <a:t>to give the LLM a good understanding how to use them, and the translation tasks were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With the 30 </a:t>
            </a:r>
            <a:r>
              <a:rPr lang="en-US" dirty="0" err="1"/>
              <a:t>polybench</a:t>
            </a:r>
            <a:r>
              <a:rPr lang="en-US" dirty="0"/>
              <a:t> algorithms, 4 different abstraction choices, and 4 prompting strategies, this gives almost 500 optimization experiments.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with increasing number of optimization attempts from 1to5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We didn’t study just the specificity of the hints, but also their </a:t>
            </a:r>
            <a:r>
              <a:rPr lang="en-US" dirty="0" err="1"/>
              <a:t>aggresiveness</a:t>
            </a:r>
            <a:r>
              <a:rPr lang="en-US" dirty="0"/>
              <a:t> (more assertive hints yielding slightly better performance),</a:t>
            </a:r>
          </a:p>
          <a:p>
            <a:r>
              <a:rPr lang="en-US" dirty="0"/>
              <a:t>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7F3B2-C0BA-B51C-5F65-FC97C70D1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7F5B3-54C8-B364-0A4B-751F99A6F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88A7D1-473A-1E94-89A2-9ACDE994B24D}"/>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a:extLst>
              <a:ext uri="{FF2B5EF4-FFF2-40B4-BE49-F238E27FC236}">
                <a16:creationId xmlns:a16="http://schemas.microsoft.com/office/drawing/2014/main" id="{DF52FF92-2640-B0CB-A128-127996A7EFCD}"/>
              </a:ext>
            </a:extLst>
          </p:cNvPr>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2542639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57641-FE9C-3D6C-D5F5-91017F617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A7B2E-A4E0-6E25-FBA8-01CDD4101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A7019-B96B-BE1F-AE0F-2ED099339F4F}"/>
              </a:ext>
            </a:extLst>
          </p:cNvPr>
          <p:cNvSpPr>
            <a:spLocks noGrp="1"/>
          </p:cNvSpPr>
          <p:nvPr>
            <p:ph type="body" idx="1"/>
          </p:nvPr>
        </p:nvSpPr>
        <p:spPr/>
        <p:txBody>
          <a:bodyPr/>
          <a:lstStyle/>
          <a:p>
            <a:r>
              <a:rPr lang="en-US" dirty="0"/>
              <a:t>Still haven’t done this one </a:t>
            </a:r>
            <a:r>
              <a:rPr lang="en-US" dirty="0">
                <a:sym typeface="Wingdings" panose="05000000000000000000" pitchFamily="2" charset="2"/>
              </a:rPr>
              <a:t></a:t>
            </a:r>
            <a:endParaRPr lang="en-US" dirty="0"/>
          </a:p>
        </p:txBody>
      </p:sp>
      <p:sp>
        <p:nvSpPr>
          <p:cNvPr id="4" name="Slide Number Placeholder 3">
            <a:extLst>
              <a:ext uri="{FF2B5EF4-FFF2-40B4-BE49-F238E27FC236}">
                <a16:creationId xmlns:a16="http://schemas.microsoft.com/office/drawing/2014/main" id="{69C488B9-61C0-2702-9A75-5A42AC4F98D1}"/>
              </a:ext>
            </a:extLst>
          </p:cNvPr>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24596632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14531557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37</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38</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39</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43</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8/28/2026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8/28/2026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8/28/2026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8/28/2026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8/28/2026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8/28/2026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8/28/2026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8/28/2026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8/28/2026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8/28/2026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gif"/></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6.xml"/><Relationship Id="rId5" Type="http://schemas.openxmlformats.org/officeDocument/2006/relationships/image" Target="../media/image36.png"/><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8/28/2026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r>
              <a:rPr lang="en-US" dirty="0"/>
              <a:t>Development of algorithms for scientific computing</a:t>
            </a:r>
          </a:p>
          <a:p>
            <a:pPr lvl="1"/>
            <a:r>
              <a:rPr lang="en-US" dirty="0"/>
              <a:t>Multidimensional data structures</a:t>
            </a:r>
          </a:p>
          <a:p>
            <a:pPr lvl="1"/>
            <a:r>
              <a:rPr lang="en-US" dirty="0"/>
              <a:t>Regular loops</a:t>
            </a:r>
          </a:p>
          <a:p>
            <a:r>
              <a:rPr lang="en-US" dirty="0"/>
              <a:t>Complexity rises with every design decision</a:t>
            </a:r>
          </a:p>
          <a:p>
            <a:pPr lvl="1"/>
            <a:r>
              <a:rPr lang="en-US" dirty="0"/>
              <a:t>How to store the data</a:t>
            </a:r>
          </a:p>
          <a:p>
            <a:pPr lvl="1"/>
            <a:r>
              <a:rPr lang="en-US" dirty="0"/>
              <a:t>In what order do the computations</a:t>
            </a:r>
          </a:p>
          <a:p>
            <a:endParaRPr lang="en-US" dirty="0"/>
          </a:p>
          <a:p>
            <a:r>
              <a:rPr lang="en-US" dirty="0"/>
              <a:t>Performance very difficult to predict</a:t>
            </a:r>
          </a:p>
          <a:p>
            <a:endParaRPr lang="en-US" dirty="0"/>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8/28/2026</a:t>
            </a:fld>
            <a:endParaRPr lang="en-US" dirty="0"/>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grpSp>
        <p:nvGrpSpPr>
          <p:cNvPr id="20" name="Group 19">
            <a:extLst>
              <a:ext uri="{FF2B5EF4-FFF2-40B4-BE49-F238E27FC236}">
                <a16:creationId xmlns:a16="http://schemas.microsoft.com/office/drawing/2014/main" id="{D31BF4A6-7253-D11D-84B7-D42F1AD2EF67}"/>
              </a:ext>
            </a:extLst>
          </p:cNvPr>
          <p:cNvGrpSpPr/>
          <p:nvPr/>
        </p:nvGrpSpPr>
        <p:grpSpPr>
          <a:xfrm>
            <a:off x="7917292" y="4385692"/>
            <a:ext cx="1392432" cy="1551380"/>
            <a:chOff x="7917292" y="4385692"/>
            <a:chExt cx="1392432" cy="1551380"/>
          </a:xfrm>
        </p:grpSpPr>
        <p:pic>
          <p:nvPicPr>
            <p:cNvPr id="7" name="Graphic 6">
              <a:extLst>
                <a:ext uri="{FF2B5EF4-FFF2-40B4-BE49-F238E27FC236}">
                  <a16:creationId xmlns:a16="http://schemas.microsoft.com/office/drawing/2014/main" id="{20834440-26BB-F283-4FB8-38CBF311FAB3}"/>
                </a:ext>
              </a:extLst>
            </p:cNvPr>
            <p:cNvPicPr>
              <a:picLocks noChangeAspect="1"/>
            </p:cNvPicPr>
            <p:nvPr/>
          </p:nvPicPr>
          <p:blipFill>
            <a:blip>
              <a:extLst>
                <a:ext uri="{96DAC541-7B7A-43D3-8B79-37D633B846F1}">
                  <asvg:svgBlip xmlns:asvg="http://schemas.microsoft.com/office/drawing/2016/SVG/main" r:embed="rId3"/>
                </a:ext>
              </a:extLst>
            </a:blip>
            <a:srcRect l="11516" t="5324" r="66027" b="77812"/>
            <a:stretch>
              <a:fillRect/>
            </a:stretch>
          </p:blipFill>
          <p:spPr>
            <a:xfrm>
              <a:off x="8069057" y="4385692"/>
              <a:ext cx="1088904" cy="1156549"/>
            </a:xfrm>
            <a:prstGeom prst="rect">
              <a:avLst/>
            </a:prstGeom>
          </p:spPr>
        </p:pic>
        <p:sp>
          <p:nvSpPr>
            <p:cNvPr id="12" name="TextBox 11">
              <a:extLst>
                <a:ext uri="{FF2B5EF4-FFF2-40B4-BE49-F238E27FC236}">
                  <a16:creationId xmlns:a16="http://schemas.microsoft.com/office/drawing/2014/main" id="{B3674D75-42D7-D92A-C7F7-F9D2FF083A67}"/>
                </a:ext>
              </a:extLst>
            </p:cNvPr>
            <p:cNvSpPr txBox="1"/>
            <p:nvPr/>
          </p:nvSpPr>
          <p:spPr>
            <a:xfrm>
              <a:off x="7917292" y="5536962"/>
              <a:ext cx="1392432" cy="400110"/>
            </a:xfrm>
            <a:prstGeom prst="rect">
              <a:avLst/>
            </a:prstGeom>
            <a:noFill/>
          </p:spPr>
          <p:txBody>
            <a:bodyPr wrap="none" rtlCol="0">
              <a:spAutoFit/>
            </a:bodyPr>
            <a:lstStyle/>
            <a:p>
              <a:pPr algn="ctr"/>
              <a:r>
                <a:rPr lang="en-US" sz="2000" dirty="0"/>
                <a:t>Row-major</a:t>
              </a:r>
              <a:endParaRPr lang="en-US" dirty="0"/>
            </a:p>
          </p:txBody>
        </p:sp>
      </p:grpSp>
      <p:grpSp>
        <p:nvGrpSpPr>
          <p:cNvPr id="21" name="Group 20">
            <a:extLst>
              <a:ext uri="{FF2B5EF4-FFF2-40B4-BE49-F238E27FC236}">
                <a16:creationId xmlns:a16="http://schemas.microsoft.com/office/drawing/2014/main" id="{4BD46A3F-D0F6-ECEE-6E08-8C4902E89C78}"/>
              </a:ext>
            </a:extLst>
          </p:cNvPr>
          <p:cNvGrpSpPr/>
          <p:nvPr/>
        </p:nvGrpSpPr>
        <p:grpSpPr>
          <a:xfrm>
            <a:off x="9400882" y="4385692"/>
            <a:ext cx="1802096" cy="1551380"/>
            <a:chOff x="9685588" y="4410422"/>
            <a:chExt cx="1802096" cy="1551380"/>
          </a:xfrm>
        </p:grpSpPr>
        <p:pic>
          <p:nvPicPr>
            <p:cNvPr id="9" name="Graphic 8">
              <a:extLst>
                <a:ext uri="{FF2B5EF4-FFF2-40B4-BE49-F238E27FC236}">
                  <a16:creationId xmlns:a16="http://schemas.microsoft.com/office/drawing/2014/main" id="{F717ED1E-4878-0E07-7465-3F66C082FD59}"/>
                </a:ext>
              </a:extLst>
            </p:cNvPr>
            <p:cNvPicPr>
              <a:picLocks noChangeAspect="1"/>
            </p:cNvPicPr>
            <p:nvPr/>
          </p:nvPicPr>
          <p:blipFill>
            <a:blip>
              <a:extLst>
                <a:ext uri="{96DAC541-7B7A-43D3-8B79-37D633B846F1}">
                  <asvg:svgBlip xmlns:asvg="http://schemas.microsoft.com/office/drawing/2016/SVG/main" r:embed="rId4"/>
                </a:ext>
              </a:extLst>
            </a:blip>
            <a:srcRect l="11494" t="5314" r="66092" b="77854"/>
            <a:stretch>
              <a:fillRect/>
            </a:stretch>
          </p:blipFill>
          <p:spPr>
            <a:xfrm>
              <a:off x="10042184" y="4410422"/>
              <a:ext cx="1088904" cy="1156549"/>
            </a:xfrm>
            <a:prstGeom prst="rect">
              <a:avLst/>
            </a:prstGeom>
          </p:spPr>
        </p:pic>
        <p:sp>
          <p:nvSpPr>
            <p:cNvPr id="14" name="TextBox 13">
              <a:extLst>
                <a:ext uri="{FF2B5EF4-FFF2-40B4-BE49-F238E27FC236}">
                  <a16:creationId xmlns:a16="http://schemas.microsoft.com/office/drawing/2014/main" id="{2793AF0B-9B42-D6E4-4BC9-0BDA37B37DE2}"/>
                </a:ext>
              </a:extLst>
            </p:cNvPr>
            <p:cNvSpPr txBox="1"/>
            <p:nvPr/>
          </p:nvSpPr>
          <p:spPr>
            <a:xfrm>
              <a:off x="9685588" y="5561692"/>
              <a:ext cx="1802096" cy="400110"/>
            </a:xfrm>
            <a:prstGeom prst="rect">
              <a:avLst/>
            </a:prstGeom>
            <a:noFill/>
          </p:spPr>
          <p:txBody>
            <a:bodyPr wrap="none" rtlCol="0">
              <a:spAutoFit/>
            </a:bodyPr>
            <a:lstStyle/>
            <a:p>
              <a:pPr algn="ctr"/>
              <a:r>
                <a:rPr lang="en-US" sz="2000" dirty="0"/>
                <a:t>Column-major</a:t>
              </a:r>
              <a:endParaRPr lang="en-US" dirty="0"/>
            </a:p>
          </p:txBody>
        </p:sp>
      </p:grpSp>
      <p:sp>
        <p:nvSpPr>
          <p:cNvPr id="17" name="Right Brace 16">
            <a:extLst>
              <a:ext uri="{FF2B5EF4-FFF2-40B4-BE49-F238E27FC236}">
                <a16:creationId xmlns:a16="http://schemas.microsoft.com/office/drawing/2014/main" id="{816700F3-DB4A-EE30-E277-3B57DB485047}"/>
              </a:ext>
            </a:extLst>
          </p:cNvPr>
          <p:cNvSpPr/>
          <p:nvPr/>
        </p:nvSpPr>
        <p:spPr>
          <a:xfrm rot="16200000">
            <a:off x="9944493" y="2400051"/>
            <a:ext cx="199900" cy="395076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0EB5D9BA-3BCE-1552-AA92-B473A6CD520E}"/>
              </a:ext>
            </a:extLst>
          </p:cNvPr>
          <p:cNvSpPr txBox="1"/>
          <p:nvPr/>
        </p:nvSpPr>
        <p:spPr>
          <a:xfrm>
            <a:off x="8444966" y="3813819"/>
            <a:ext cx="3198954" cy="461665"/>
          </a:xfrm>
          <a:prstGeom prst="rect">
            <a:avLst/>
          </a:prstGeom>
          <a:noFill/>
        </p:spPr>
        <p:txBody>
          <a:bodyPr wrap="none" rtlCol="0">
            <a:spAutoFit/>
          </a:bodyPr>
          <a:lstStyle/>
          <a:p>
            <a:pPr algn="ctr"/>
            <a:r>
              <a:rPr lang="en-US" sz="2400" dirty="0"/>
              <a:t>Matrix memory layouts</a:t>
            </a:r>
          </a:p>
        </p:txBody>
      </p:sp>
      <p:sp>
        <p:nvSpPr>
          <p:cNvPr id="19" name="TextBox 18">
            <a:extLst>
              <a:ext uri="{FF2B5EF4-FFF2-40B4-BE49-F238E27FC236}">
                <a16:creationId xmlns:a16="http://schemas.microsoft.com/office/drawing/2014/main" id="{F316CE26-0320-4A8D-A1BC-6DFC9282AE6F}"/>
              </a:ext>
            </a:extLst>
          </p:cNvPr>
          <p:cNvSpPr txBox="1"/>
          <p:nvPr/>
        </p:nvSpPr>
        <p:spPr>
          <a:xfrm>
            <a:off x="11571481" y="4779300"/>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8/28/2026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dirty="0"/>
              <a:t>Row-major</a:t>
            </a:r>
            <a:endParaRPr lang="en-US"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dirty="0"/>
              <a:t>Column-major</a:t>
            </a:r>
            <a:endParaRPr lang="en-US"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9" y="3424149"/>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dirty="0"/>
              <a:t>Layout abstraction 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8/28/2026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m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for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in</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0</a:t>
            </a:r>
            <a:r>
              <a:rPr lang="en-US" sz="1600" b="0" noProof="0" dirty="0">
                <a:solidFill>
                  <a:srgbClr val="000000"/>
                </a:solidFill>
                <a:effectLst/>
                <a:latin typeface="Fira Code" panose="020B0809050000020004" pitchFamily="49" charset="0"/>
              </a:rPr>
              <a:t>,... n - </a:t>
            </a:r>
            <a:r>
              <a:rPr lang="en-US" sz="1600" b="0" noProof="0" dirty="0">
                <a:solidFill>
                  <a:srgbClr val="098658"/>
                </a:solidFill>
                <a:effectLst/>
                <a:latin typeface="Fira Code" panose="020B0809050000020004" pitchFamily="49" charset="0"/>
              </a:rPr>
              <a:t>1</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matrix[</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 = </a:t>
            </a:r>
            <a:r>
              <a:rPr lang="en-US" sz="1600" b="0" noProof="0" dirty="0" err="1">
                <a:solidFill>
                  <a:srgbClr val="000000"/>
                </a:solidFill>
                <a:effectLst/>
                <a:latin typeface="Fira Code" panose="020B0809050000020004" pitchFamily="49" charset="0"/>
              </a:rPr>
              <a:t>init</a:t>
            </a:r>
            <a:r>
              <a:rPr lang="en-US" sz="1600" b="0" noProof="0" dirty="0">
                <a:solidFill>
                  <a:srgbClr val="000000"/>
                </a:solidFill>
                <a:effectLst/>
                <a:latin typeface="Fira Code" panose="020B0809050000020004" pitchFamily="49" charset="0"/>
              </a:rPr>
              <a:t>(</a:t>
            </a:r>
            <a:r>
              <a:rPr lang="en-US" sz="1600" b="0" noProof="0" dirty="0" err="1">
                <a:solidFill>
                  <a:srgbClr val="001080"/>
                </a:solidFill>
                <a:effectLst/>
                <a:latin typeface="Fira Code" panose="020B0809050000020004" pitchFamily="49" charset="0"/>
              </a:rPr>
              <a:t>i</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j</a:t>
            </a:r>
            <a:r>
              <a:rPr lang="en-US" sz="1600" b="0" noProof="0" dirty="0">
                <a:solidFill>
                  <a:srgbClr val="000000"/>
                </a:solidFill>
                <a:effectLst/>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endParaRPr lang="en-US"/>
          </a:p>
        </p:txBody>
      </p:sp>
      <p:sp>
        <p:nvSpPr>
          <p:cNvPr id="14" name="TextBox 13">
            <a:extLst>
              <a:ext uri="{FF2B5EF4-FFF2-40B4-BE49-F238E27FC236}">
                <a16:creationId xmlns:a16="http://schemas.microsoft.com/office/drawing/2014/main" id="{0B525AC7-FE02-6AD7-8040-C0A6A642009E}"/>
              </a:ext>
            </a:extLst>
          </p:cNvPr>
          <p:cNvSpPr txBox="1"/>
          <p:nvPr/>
        </p:nvSpPr>
        <p:spPr>
          <a:xfrm>
            <a:off x="8915592" y="3547821"/>
            <a:ext cx="3169227" cy="307777"/>
          </a:xfrm>
          <a:prstGeom prst="rect">
            <a:avLst/>
          </a:prstGeom>
          <a:noFill/>
        </p:spPr>
        <p:txBody>
          <a:bodyPr wrap="square">
            <a:spAutoFit/>
          </a:bodyPr>
          <a:lstStyle/>
          <a:p>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dirty="0"/>
          </a:p>
        </p:txBody>
      </p:sp>
      <p:cxnSp>
        <p:nvCxnSpPr>
          <p:cNvPr id="16" name="Straight Arrow Connector 15">
            <a:extLst>
              <a:ext uri="{FF2B5EF4-FFF2-40B4-BE49-F238E27FC236}">
                <a16:creationId xmlns:a16="http://schemas.microsoft.com/office/drawing/2014/main" id="{B5102DA4-367F-2E7C-4748-5E5A83284E85}"/>
              </a:ext>
            </a:extLst>
          </p:cNvPr>
          <p:cNvCxnSpPr/>
          <p:nvPr/>
        </p:nvCxnSpPr>
        <p:spPr>
          <a:xfrm>
            <a:off x="8204662" y="3695948"/>
            <a:ext cx="6483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8079856" y="3346960"/>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543100" y="3030894"/>
            <a:ext cx="3903812" cy="1444798"/>
            <a:chOff x="4543100" y="3030894"/>
            <a:chExt cx="3903812" cy="1444798"/>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layout</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037812" y="3113605"/>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037811" y="3571000"/>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037811" y="404026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58495" y="2820887"/>
              <a:ext cx="156743" cy="68917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5001672" y="265888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p:nvPr/>
        </p:nvCxnSpPr>
        <p:spPr>
          <a:xfrm flipH="1" flipV="1">
            <a:off x="7614663" y="4361002"/>
            <a:ext cx="589999" cy="410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204662" y="4667567"/>
            <a:ext cx="906087" cy="307777"/>
          </a:xfrm>
          <a:prstGeom prst="rect">
            <a:avLst/>
          </a:prstGeom>
          <a:noFill/>
        </p:spPr>
        <p:txBody>
          <a:bodyPr wrap="square">
            <a:spAutoFit/>
          </a:bodyPr>
          <a:lstStyle/>
          <a:p>
            <a:r>
              <a:rPr lang="en-US" sz="1400" dirty="0">
                <a:solidFill>
                  <a:srgbClr val="0070C1"/>
                </a:solidFill>
                <a:latin typeface="Fira Code" panose="020B0809050000020004" pitchFamily="49" charset="0"/>
              </a:rPr>
              <a:t>lit</a:t>
            </a:r>
            <a:r>
              <a:rPr lang="en-US" sz="1400" dirty="0">
                <a:solidFill>
                  <a:srgbClr val="000000"/>
                </a:solidFill>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endParaRPr lang="en-US" sz="28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7167247" y="4611764"/>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8/28/2026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grpSp>
        <p:nvGrpSpPr>
          <p:cNvPr id="5" name="Group 4">
            <a:extLst>
              <a:ext uri="{FF2B5EF4-FFF2-40B4-BE49-F238E27FC236}">
                <a16:creationId xmlns:a16="http://schemas.microsoft.com/office/drawing/2014/main" id="{EB04C328-850E-09BF-6793-2E064014E5D0}"/>
              </a:ext>
            </a:extLst>
          </p:cNvPr>
          <p:cNvGrpSpPr/>
          <p:nvPr/>
        </p:nvGrpSpPr>
        <p:grpSpPr>
          <a:xfrm>
            <a:off x="1639754" y="2546722"/>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cxnSp>
        <p:nvCxnSpPr>
          <p:cNvPr id="15" name="Straight Arrow Connector 14">
            <a:extLst>
              <a:ext uri="{FF2B5EF4-FFF2-40B4-BE49-F238E27FC236}">
                <a16:creationId xmlns:a16="http://schemas.microsoft.com/office/drawing/2014/main" id="{1BF3510A-7AA6-1D61-17F1-1FC3E8CDC948}"/>
              </a:ext>
            </a:extLst>
          </p:cNvPr>
          <p:cNvCxnSpPr>
            <a:cxnSpLocks/>
            <a:stCxn id="7" idx="3"/>
          </p:cNvCxnSpPr>
          <p:nvPr/>
        </p:nvCxnSpPr>
        <p:spPr>
          <a:xfrm flipV="1">
            <a:off x="3230554" y="3346960"/>
            <a:ext cx="1312546" cy="3436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8/28/2026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4274320" y="4582689"/>
            <a:ext cx="6181949" cy="2032031"/>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 </a:t>
            </a:r>
            <a:r>
              <a:rPr lang="en-US" sz="1400" b="0" noProof="0" dirty="0">
                <a:solidFill>
                  <a:srgbClr val="795E26"/>
                </a:solidFill>
                <a:effectLst/>
                <a:latin typeface="Fira Code" panose="020B0809050000020004" pitchFamily="49" charset="0"/>
              </a:rPr>
              <a:t>bag</a:t>
            </a:r>
            <a:r>
              <a:rPr lang="en-US" sz="1400" b="0" noProof="0" dirty="0">
                <a:solidFill>
                  <a:srgbClr val="000000"/>
                </a:solidFill>
                <a:effectLst/>
                <a:latin typeface="Fira Code" panose="020B0809050000020004" pitchFamily="49" charset="0"/>
              </a:rPr>
              <a:t>(</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 </a:t>
            </a:r>
            <a:r>
              <a:rPr lang="en-US" sz="1400" b="0" noProof="0" dirty="0">
                <a:solidFill>
                  <a:srgbClr val="795E26"/>
                </a:solidFill>
                <a:effectLst/>
                <a:latin typeface="Fira Code" panose="020B0809050000020004" pitchFamily="49" charset="0"/>
              </a:rPr>
              <a:t>vectors</a:t>
            </a:r>
            <a:r>
              <a:rPr lang="en-US" sz="1400" b="0" noProof="0" dirty="0">
                <a:solidFill>
                  <a:srgbClr val="000000"/>
                </a:solidFill>
                <a:effectLst/>
                <a:latin typeface="Fira Code" panose="020B0809050000020004" pitchFamily="49" charset="0"/>
              </a:rPr>
              <a:t>&lt;</a:t>
            </a:r>
            <a:r>
              <a:rPr lang="en-US" sz="1400" dirty="0">
                <a:solidFill>
                  <a:srgbClr val="A31515"/>
                </a:solidFill>
                <a:latin typeface="Fira Code" panose="020B0809050000020004" pitchFamily="49" charset="0"/>
              </a:rPr>
              <a:t>'</a:t>
            </a:r>
            <a:r>
              <a:rPr lang="en-US" sz="1400" b="0" noProof="0" dirty="0">
                <a:solidFill>
                  <a:srgbClr val="A31515"/>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A31515"/>
                </a:solidFill>
                <a:effectLst/>
                <a:latin typeface="Fira Code" panose="020B0809050000020004" pitchFamily="49" charset="0"/>
              </a:rPr>
              <a:t>'n</a:t>
            </a:r>
            <a:r>
              <a:rPr lang="en-US" sz="1400" dirty="0">
                <a:solidFill>
                  <a:srgbClr val="A31515"/>
                </a:solidFill>
                <a:latin typeface="Fira Code" panose="020B0809050000020004" pitchFamily="49" charset="0"/>
              </a:rPr>
              <a:t>'</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P</a:t>
            </a:r>
            <a:r>
              <a:rPr lang="en-US" sz="1400" b="0" noProof="0" dirty="0">
                <a:solidFill>
                  <a:srgbClr val="000000"/>
                </a:solidFill>
                <a:effectLst/>
                <a:latin typeface="Fira Code" panose="020B0809050000020004" pitchFamily="49" charset="0"/>
              </a:rPr>
              <a:t>, </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a:p>
            <a:pPr>
              <a:lnSpc>
                <a:spcPct val="113095"/>
              </a:lnSpc>
            </a:pPr>
            <a:r>
              <a:rPr lang="en-US" sz="1400" dirty="0">
                <a:solidFill>
                  <a:srgbClr val="267F99"/>
                </a:solidFill>
                <a:latin typeface="Fira Code" panose="020B0809050000020004" pitchFamily="49" charset="0"/>
              </a:rPr>
              <a:t>auto</a:t>
            </a:r>
            <a:r>
              <a:rPr lang="en-US" sz="1400" dirty="0">
                <a:solidFill>
                  <a:srgbClr val="000000"/>
                </a:solidFill>
                <a:latin typeface="Fira Code" panose="020B0809050000020004" pitchFamily="49" charset="0"/>
              </a:rPr>
              <a:t> </a:t>
            </a:r>
            <a:r>
              <a:rPr lang="en-US" sz="1400" dirty="0">
                <a:solidFill>
                  <a:srgbClr val="001080"/>
                </a:solidFill>
                <a:latin typeface="Fira Code" panose="020B0809050000020004" pitchFamily="49" charset="0"/>
              </a:rPr>
              <a:t>C</a:t>
            </a:r>
            <a:r>
              <a:rPr lang="en-US" sz="1400" dirty="0">
                <a:solidFill>
                  <a:srgbClr val="000000"/>
                </a:solidFill>
                <a:latin typeface="Fira Code" panose="020B0809050000020004" pitchFamily="49" charset="0"/>
              </a:rPr>
              <a:t> = </a:t>
            </a:r>
            <a:r>
              <a:rPr lang="en-US" sz="1400" dirty="0">
                <a:solidFill>
                  <a:srgbClr val="795E26"/>
                </a:solidFill>
                <a:latin typeface="Fira Code" panose="020B0809050000020004" pitchFamily="49" charset="0"/>
              </a:rPr>
              <a:t>bag</a:t>
            </a:r>
            <a:r>
              <a:rPr lang="en-US" sz="1400" dirty="0">
                <a:solidFill>
                  <a:srgbClr val="000000"/>
                </a:solidFill>
                <a:latin typeface="Fira Code" panose="020B0809050000020004" pitchFamily="49" charset="0"/>
              </a:rPr>
              <a:t>(</a:t>
            </a:r>
            <a:r>
              <a:rPr lang="en-US" sz="1400" dirty="0">
                <a:solidFill>
                  <a:srgbClr val="267F99"/>
                </a:solidFill>
                <a:latin typeface="Fira Code" panose="020B0809050000020004" pitchFamily="49" charset="0"/>
              </a:rPr>
              <a:t>scalar</a:t>
            </a:r>
            <a:r>
              <a:rPr lang="en-US" sz="1400" dirty="0">
                <a:solidFill>
                  <a:srgbClr val="000000"/>
                </a:solidFill>
                <a:latin typeface="Fira Code" panose="020B0809050000020004" pitchFamily="49" charset="0"/>
              </a:rPr>
              <a:t>&lt;</a:t>
            </a:r>
            <a:r>
              <a:rPr lang="en-US" sz="1400" dirty="0">
                <a:solidFill>
                  <a:srgbClr val="0000FF"/>
                </a:solidFill>
                <a:latin typeface="Fira Code" panose="020B0809050000020004" pitchFamily="49" charset="0"/>
              </a:rPr>
              <a:t>float</a:t>
            </a:r>
            <a:r>
              <a:rPr lang="en-US" sz="1400" dirty="0">
                <a:solidFill>
                  <a:srgbClr val="000000"/>
                </a:solidFill>
                <a:latin typeface="Fira Code" panose="020B0809050000020004" pitchFamily="49" charset="0"/>
              </a:rPr>
              <a:t>&gt;() ^ </a:t>
            </a:r>
            <a:r>
              <a:rPr lang="en-US" sz="1400" dirty="0">
                <a:solidFill>
                  <a:srgbClr val="795E26"/>
                </a:solidFill>
                <a:latin typeface="Fira Code" panose="020B0809050000020004" pitchFamily="49" charset="0"/>
              </a:rPr>
              <a:t>vectors</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N</a:t>
            </a:r>
            <a:r>
              <a:rPr lang="en-US" sz="1400" dirty="0">
                <a:solidFill>
                  <a:srgbClr val="000000"/>
                </a:solidFill>
                <a:latin typeface="Fira Code" panose="020B0809050000020004" pitchFamily="49" charset="0"/>
              </a:rPr>
              <a:t>));</a:t>
            </a:r>
          </a:p>
          <a:p>
            <a:pPr>
              <a:lnSpc>
                <a:spcPct val="113095"/>
              </a:lnSpc>
              <a:buNone/>
            </a:pPr>
            <a:br>
              <a:rPr lang="en-US" sz="1400" b="0" noProof="0" dirty="0">
                <a:solidFill>
                  <a:srgbClr val="000000"/>
                </a:solidFill>
                <a:effectLst/>
                <a:latin typeface="Fira Code" panose="020B0809050000020004" pitchFamily="49" charset="0"/>
              </a:rPr>
            </a:br>
            <a:endParaRPr lang="en-US" sz="1400" b="0" noProof="0" dirty="0">
              <a:solidFill>
                <a:srgbClr val="000000"/>
              </a:solidFill>
              <a:effectLst/>
              <a:latin typeface="Fira Code" panose="020B0809050000020004" pitchFamily="49" charset="0"/>
            </a:endParaRPr>
          </a:p>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C</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A</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b="0" noProof="0" dirty="0">
                <a:solidFill>
                  <a:srgbClr val="001080"/>
                </a:solidFill>
                <a:effectLst/>
                <a:latin typeface="Fira Code" panose="020B0809050000020004" pitchFamily="49" charset="0"/>
              </a:rPr>
              <a:t>B</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88464" y="3356717"/>
            <a:ext cx="5397050"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dirty="0" err="1">
                <a:solidFill>
                  <a:srgbClr val="795E26"/>
                </a:solidFill>
                <a:latin typeface="Fira Code" panose="020B0809050000020004" pitchFamily="49" charset="0"/>
              </a:rPr>
              <a:t>init</a:t>
            </a:r>
            <a:r>
              <a:rPr lang="en-US" dirty="0">
                <a:solidFill>
                  <a:srgbClr val="000000"/>
                </a:solidFill>
                <a:latin typeface="Fira Code" panose="020B0809050000020004" pitchFamily="49" charset="0"/>
              </a:rPr>
              <a:t>(</a:t>
            </a:r>
            <a:r>
              <a:rPr lang="en-US" dirty="0">
                <a:solidFill>
                  <a:srgbClr val="001080"/>
                </a:solidFill>
                <a:latin typeface="Fira Code" panose="020B0809050000020004" pitchFamily="49" charset="0"/>
              </a:rPr>
              <a:t>index</a:t>
            </a:r>
            <a:r>
              <a:rPr lang="en-US"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455828" y="3384113"/>
            <a:ext cx="6052605"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 | [&amp;](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to</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from</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0" y="2026812"/>
            <a:ext cx="4979939"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m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for</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in</a:t>
            </a:r>
            <a:r>
              <a:rPr lang="en-US"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0</a:t>
            </a:r>
            <a:r>
              <a:rPr lang="en-US" b="0" noProof="0" dirty="0">
                <a:solidFill>
                  <a:srgbClr val="000000"/>
                </a:solidFill>
                <a:effectLst/>
                <a:latin typeface="Fira Code" panose="020B0809050000020004" pitchFamily="49" charset="0"/>
              </a:rPr>
              <a:t>,... n - </a:t>
            </a:r>
            <a:r>
              <a:rPr lang="en-US" b="0" noProof="0" dirty="0">
                <a:solidFill>
                  <a:srgbClr val="098658"/>
                </a:solidFill>
                <a:effectLst/>
                <a:latin typeface="Fira Code" panose="020B0809050000020004" pitchFamily="49" charset="0"/>
              </a:rPr>
              <a:t>1</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matrix[</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 = </a:t>
            </a:r>
            <a:r>
              <a:rPr lang="en-US" b="0" noProof="0" dirty="0" err="1">
                <a:solidFill>
                  <a:srgbClr val="000000"/>
                </a:solidFill>
                <a:effectLst/>
                <a:latin typeface="Fira Code" panose="020B0809050000020004" pitchFamily="49" charset="0"/>
              </a:rPr>
              <a:t>init</a:t>
            </a:r>
            <a:r>
              <a:rPr lang="en-US" b="0" noProof="0" dirty="0">
                <a:solidFill>
                  <a:srgbClr val="000000"/>
                </a:solidFill>
                <a:effectLst/>
                <a:latin typeface="Fira Code" panose="020B0809050000020004" pitchFamily="49" charset="0"/>
              </a:rPr>
              <a:t>(</a:t>
            </a:r>
            <a:r>
              <a:rPr lang="en-US" b="0" noProof="0" dirty="0" err="1">
                <a:solidFill>
                  <a:srgbClr val="001080"/>
                </a:solidFill>
                <a:effectLst/>
                <a:latin typeface="Fira Code" panose="020B0809050000020004" pitchFamily="49" charset="0"/>
              </a:rPr>
              <a:t>i</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j</a:t>
            </a:r>
            <a:r>
              <a:rPr lang="en-US"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1"/>
          </p:cNvCxnSpPr>
          <p:nvPr/>
        </p:nvCxnSpPr>
        <p:spPr>
          <a:xfrm rot="10800000" flipV="1">
            <a:off x="1612416" y="2537401"/>
            <a:ext cx="255175" cy="81931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1810250" y="4922429"/>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8/28/2026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
        <p:nvSpPr>
          <p:cNvPr id="11" name="Rectangle 10">
            <a:extLst>
              <a:ext uri="{FF2B5EF4-FFF2-40B4-BE49-F238E27FC236}">
                <a16:creationId xmlns:a16="http://schemas.microsoft.com/office/drawing/2014/main" id="{430E17CC-3182-0DFD-4C83-E3654869F0F4}"/>
              </a:ext>
            </a:extLst>
          </p:cNvPr>
          <p:cNvSpPr/>
          <p:nvPr/>
        </p:nvSpPr>
        <p:spPr>
          <a:xfrm>
            <a:off x="5276997" y="4610085"/>
            <a:ext cx="5104754" cy="920271"/>
          </a:xfrm>
          <a:prstGeom prst="rect">
            <a:avLst/>
          </a:prstGeom>
          <a:solidFill>
            <a:srgbClr val="FFFFFF">
              <a:alpha val="34902"/>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B17E6F97-71C0-E7B6-3913-C7F1E0B84654}"/>
              </a:ext>
            </a:extLst>
          </p:cNvPr>
          <p:cNvSpPr txBox="1"/>
          <p:nvPr/>
        </p:nvSpPr>
        <p:spPr>
          <a:xfrm>
            <a:off x="376823" y="2082114"/>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22168" y="3395316"/>
            <a:ext cx="6174234"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a:off x="3109285" y="2999994"/>
            <a:ext cx="0" cy="39532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6779116" y="2080889"/>
            <a:ext cx="4707604" cy="814710"/>
          </a:xfrm>
          <a:prstGeom prst="rect">
            <a:avLst/>
          </a:prstGeom>
          <a:noFill/>
          <a:ln>
            <a:solidFill>
              <a:schemeClr val="tx1"/>
            </a:solidFill>
          </a:ln>
        </p:spPr>
        <p:txBody>
          <a:bodyPr wrap="square">
            <a:spAutoFit/>
          </a:bodyPr>
          <a:lstStyle/>
          <a:p>
            <a:pPr>
              <a:lnSpc>
                <a:spcPct val="113095"/>
              </a:lnSpc>
              <a:buNone/>
            </a:pP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32918" y="2895599"/>
            <a:ext cx="0" cy="4997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303127" y="3395316"/>
            <a:ext cx="5659582" cy="2460566"/>
            <a:chOff x="7021150" y="3108961"/>
            <a:chExt cx="4244962" cy="2460566"/>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omp_for_each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814710"/>
            </a:xfrm>
            <a:prstGeom prst="rect">
              <a:avLst/>
            </a:prstGeom>
            <a:noFill/>
            <a:ln>
              <a:solidFill>
                <a:schemeClr val="tx1"/>
              </a:solidFill>
            </a:ln>
          </p:spPr>
          <p:txBody>
            <a:bodyPr wrap="square">
              <a:spAutoFit/>
            </a:bodyPr>
            <a:lstStyle/>
            <a:p>
              <a:pPr>
                <a:lnSpc>
                  <a:spcPct val="113095"/>
                </a:lnSpc>
                <a:buNone/>
              </a:pPr>
              <a:r>
                <a:rPr lang="en-US" sz="1400" b="0" dirty="0" err="1">
                  <a:solidFill>
                    <a:srgbClr val="795E26"/>
                  </a:solidFill>
                  <a:effectLst/>
                  <a:latin typeface="Fira Code" panose="020B0809050000020004" pitchFamily="49" charset="0"/>
                </a:rPr>
                <a:t>tbb_for_each</a:t>
              </a:r>
              <a:r>
                <a:rPr lang="en-US" sz="1400" dirty="0">
                  <a:solidFill>
                    <a:srgbClr val="000000"/>
                  </a:solidFill>
                  <a:latin typeface="Fira Code" panose="020B0809050000020004" pitchFamily="49" charset="0"/>
                </a:rPr>
                <a:t>(</a:t>
              </a:r>
              <a:r>
                <a:rPr lang="en-US" sz="1400" b="0" noProof="0" dirty="0">
                  <a:solidFill>
                    <a:srgbClr val="795E26"/>
                  </a:solidFill>
                  <a:effectLst/>
                  <a:latin typeface="Fira Code" panose="020B0809050000020004" pitchFamily="49" charset="0"/>
                </a:rPr>
                <a:t>traverser</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[&amp;](</a:t>
              </a: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a:t>
              </a:r>
            </a:p>
            <a:p>
              <a:pPr>
                <a:lnSpc>
                  <a:spcPct val="113095"/>
                </a:lnSpc>
                <a:buNone/>
              </a:pP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a:t>
              </a:r>
              <a:r>
                <a:rPr lang="en-US" sz="1400" b="0" noProof="0" dirty="0">
                  <a:solidFill>
                    <a:srgbClr val="001080"/>
                  </a:solidFill>
                  <a:effectLst/>
                  <a:latin typeface="Fira Code" panose="020B0809050000020004" pitchFamily="49" charset="0"/>
                </a:rPr>
                <a:t>index</a:t>
              </a:r>
              <a:r>
                <a:rPr lang="en-US" sz="1400" b="0" noProof="0" dirty="0">
                  <a:solidFill>
                    <a:srgbClr val="000000"/>
                  </a:solidFill>
                  <a:effectLst/>
                  <a:latin typeface="Fira Code" panose="020B0809050000020004" pitchFamily="49" charset="0"/>
                </a:rPr>
                <a:t>] = </a:t>
              </a:r>
              <a:r>
                <a:rPr lang="en-US" sz="1400" dirty="0" err="1">
                  <a:solidFill>
                    <a:srgbClr val="795E26"/>
                  </a:solidFill>
                  <a:latin typeface="Fira Code" panose="020B0809050000020004" pitchFamily="49" charset="0"/>
                </a:rPr>
                <a:t>init</a:t>
              </a:r>
              <a:r>
                <a:rPr lang="en-US" sz="1400" dirty="0">
                  <a:solidFill>
                    <a:srgbClr val="000000"/>
                  </a:solidFill>
                  <a:latin typeface="Fira Code" panose="020B0809050000020004" pitchFamily="49" charset="0"/>
                </a:rPr>
                <a:t>(</a:t>
              </a:r>
              <a:r>
                <a:rPr lang="en-US" sz="1400" dirty="0">
                  <a:solidFill>
                    <a:srgbClr val="001080"/>
                  </a:solidFill>
                  <a:latin typeface="Fira Code" panose="020B0809050000020004" pitchFamily="49" charset="0"/>
                </a:rPr>
                <a:t>index</a:t>
              </a:r>
              <a:r>
                <a:rPr lang="en-US" sz="1400" dirty="0">
                  <a:solidFill>
                    <a:srgbClr val="000000"/>
                  </a:solidFill>
                  <a:latin typeface="Fira Code" panose="020B0809050000020004" pitchFamily="49" charset="0"/>
                </a:rPr>
                <a:t>)</a:t>
              </a:r>
              <a:r>
                <a:rPr lang="en-US" sz="1400" b="0" noProof="0" dirty="0">
                  <a:solidFill>
                    <a:srgbClr val="000000"/>
                  </a:solidFill>
                  <a:effectLst/>
                  <a:latin typeface="Fira Code" panose="020B0809050000020004" pitchFamily="49" charset="0"/>
                </a:rPr>
                <a:t>;</a:t>
              </a:r>
            </a:p>
            <a:p>
              <a:pPr>
                <a:lnSpc>
                  <a:spcPct val="113095"/>
                </a:lnSpc>
                <a:buNone/>
              </a:pPr>
              <a:r>
                <a:rPr lang="en-US" sz="140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7021150" y="3108961"/>
              <a:ext cx="4244962" cy="2460566"/>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8/28/2026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8/28/2026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8/28/2026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8/28/2026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8/28/2026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8/28/2026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8/28/2026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pic>
        <p:nvPicPr>
          <p:cNvPr id="8" name="Graphic 7">
            <a:extLst>
              <a:ext uri="{FF2B5EF4-FFF2-40B4-BE49-F238E27FC236}">
                <a16:creationId xmlns:a16="http://schemas.microsoft.com/office/drawing/2014/main" id="{98E1269E-84AC-DEE2-DB4E-447475000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7156" y="2248708"/>
            <a:ext cx="1375954" cy="1375954"/>
          </a:xfrm>
          <a:prstGeom prst="rect">
            <a:avLst/>
          </a:prstGeom>
        </p:spPr>
      </p:pic>
      <p:sp>
        <p:nvSpPr>
          <p:cNvPr id="31" name="TextBox 30">
            <a:extLst>
              <a:ext uri="{FF2B5EF4-FFF2-40B4-BE49-F238E27FC236}">
                <a16:creationId xmlns:a16="http://schemas.microsoft.com/office/drawing/2014/main" id="{7F9EF83F-D6D0-6A28-58E5-56F7C20423D4}"/>
              </a:ext>
            </a:extLst>
          </p:cNvPr>
          <p:cNvSpPr txBox="1"/>
          <p:nvPr/>
        </p:nvSpPr>
        <p:spPr>
          <a:xfrm>
            <a:off x="706581" y="3732911"/>
            <a:ext cx="4686522" cy="2275495"/>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effectLst/>
                <a:latin typeface="Fira Code" panose="020B0809050000020004" pitchFamily="49" charset="0"/>
              </a:rPr>
              <a:t>if</a:t>
            </a:r>
            <a:r>
              <a:rPr lang="en-US" sz="1400" dirty="0">
                <a:solidFill>
                  <a:srgbClr val="000000"/>
                </a:solidFill>
                <a:effectLst/>
                <a:latin typeface="Fira Code" panose="020B0809050000020004" pitchFamily="49" charset="0"/>
              </a:rPr>
              <a:t> (</a:t>
            </a:r>
            <a:r>
              <a:rPr lang="en-US" sz="1400" dirty="0">
                <a:solidFill>
                  <a:srgbClr val="001080"/>
                </a:solidFill>
                <a:effectLst/>
                <a:latin typeface="Fira Code" panose="020B0809050000020004" pitchFamily="49" charset="0"/>
              </a:rPr>
              <a:t>current</a:t>
            </a:r>
            <a:r>
              <a:rPr lang="en-US" sz="1400" dirty="0">
                <a:solidFill>
                  <a:srgbClr val="000000"/>
                </a:solidFill>
                <a:effectLst/>
                <a:latin typeface="Fira Code" panose="020B0809050000020004" pitchFamily="49" charset="0"/>
              </a:rPr>
              <a:t> == </a:t>
            </a:r>
            <a:r>
              <a:rPr lang="en-US" sz="1400" dirty="0">
                <a:solidFill>
                  <a:srgbClr val="0070C1"/>
                </a:solidFill>
                <a:effectLst/>
                <a:latin typeface="Fira Code" panose="020B0809050000020004" pitchFamily="49" charset="0"/>
              </a:rPr>
              <a:t>ALIVE</a:t>
            </a:r>
            <a:r>
              <a:rPr lang="en-US" sz="1400" dirty="0">
                <a:solidFill>
                  <a:srgbClr val="000000"/>
                </a:solidFill>
                <a:effectLst/>
                <a:latin typeface="Fira Code" panose="020B0809050000020004" pitchFamily="49" charset="0"/>
              </a:rPr>
              <a:t>) {</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if</a:t>
            </a: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2</a:t>
            </a:r>
            <a:r>
              <a:rPr lang="en-US" sz="1400" b="0" dirty="0">
                <a:solidFill>
                  <a:srgbClr val="000000"/>
                </a:solidFill>
                <a:effectLst/>
                <a:latin typeface="Fira Code" panose="020B0809050000020004" pitchFamily="49" charset="0"/>
              </a:rPr>
              <a:t> ||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3</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 </a:t>
            </a:r>
            <a:r>
              <a:rPr lang="en-US" sz="1400" b="0" dirty="0">
                <a:solidFill>
                  <a:srgbClr val="000000"/>
                </a:solidFill>
                <a:effectLst/>
                <a:latin typeface="Fira Code" panose="020B0809050000020004" pitchFamily="49" charset="0"/>
              </a:rPr>
              <a:t>= </a:t>
            </a:r>
            <a:r>
              <a:rPr lang="en-US" sz="1400" b="0" dirty="0">
                <a:solidFill>
                  <a:srgbClr val="0070C1"/>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else</a:t>
            </a:r>
            <a:endParaRPr lang="en-US" sz="1400" b="0" dirty="0">
              <a:solidFill>
                <a:srgbClr val="000000"/>
              </a:solidFill>
              <a:effectLst/>
              <a:latin typeface="Fira Code" panose="020B0809050000020004" pitchFamily="49" charset="0"/>
            </a:endParaRP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else</a:t>
            </a:r>
            <a:r>
              <a:rPr lang="en-US" sz="1400" b="0" dirty="0">
                <a:solidFill>
                  <a:srgbClr val="000000"/>
                </a:solidFill>
                <a:effectLst/>
                <a:latin typeface="Fira Code" panose="020B0809050000020004" pitchFamily="49" charset="0"/>
              </a:rPr>
              <a:t> </a:t>
            </a:r>
            <a:r>
              <a:rPr lang="en-US" sz="1400" b="0" dirty="0">
                <a:solidFill>
                  <a:srgbClr val="AF00DB"/>
                </a:solidFill>
                <a:effectLst/>
                <a:latin typeface="Fira Code" panose="020B0809050000020004" pitchFamily="49" charset="0"/>
              </a:rPr>
              <a:t>if</a:t>
            </a: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neighbors</a:t>
            </a:r>
            <a:r>
              <a:rPr lang="en-US" sz="1400" b="0" dirty="0">
                <a:solidFill>
                  <a:srgbClr val="000000"/>
                </a:solidFill>
                <a:effectLst/>
                <a:latin typeface="Fira Code" panose="020B0809050000020004" pitchFamily="49" charset="0"/>
              </a:rPr>
              <a:t> == </a:t>
            </a:r>
            <a:r>
              <a:rPr lang="en-US" sz="1400" b="0" dirty="0">
                <a:solidFill>
                  <a:srgbClr val="098658"/>
                </a:solidFill>
                <a:effectLst/>
                <a:latin typeface="Fira Code" panose="020B0809050000020004" pitchFamily="49" charset="0"/>
              </a:rPr>
              <a:t>3</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a:t>
            </a:r>
          </a:p>
          <a:p>
            <a:pPr>
              <a:lnSpc>
                <a:spcPct val="113095"/>
              </a:lnSpc>
              <a:buNone/>
            </a:pPr>
            <a:r>
              <a:rPr lang="en-US" sz="1400" b="0" dirty="0">
                <a:solidFill>
                  <a:srgbClr val="AF00DB"/>
                </a:solidFill>
                <a:effectLst/>
                <a:latin typeface="Fira Code" panose="020B0809050000020004" pitchFamily="49" charset="0"/>
              </a:rPr>
              <a:t>else</a:t>
            </a:r>
            <a:endParaRPr lang="en-US" sz="1400" b="0" dirty="0">
              <a:solidFill>
                <a:srgbClr val="000000"/>
              </a:solidFill>
              <a:effectLst/>
              <a:latin typeface="Fira Code" panose="020B0809050000020004" pitchFamily="49" charset="0"/>
            </a:endParaRPr>
          </a:p>
          <a:p>
            <a:pPr>
              <a:lnSpc>
                <a:spcPct val="113095"/>
              </a:lnSpc>
              <a:buNone/>
            </a:pPr>
            <a:r>
              <a:rPr lang="en-US" sz="1400" b="0" dirty="0">
                <a:solidFill>
                  <a:srgbClr val="000000"/>
                </a:solidFill>
                <a:effectLst/>
                <a:latin typeface="Fira Code" panose="020B0809050000020004" pitchFamily="49" charset="0"/>
              </a:rPr>
              <a:t>    </a:t>
            </a:r>
            <a:r>
              <a:rPr lang="en-US" sz="1400" b="0" dirty="0">
                <a:solidFill>
                  <a:srgbClr val="001080"/>
                </a:solidFill>
                <a:effectLst/>
                <a:latin typeface="Fira Code" panose="020B0809050000020004" pitchFamily="49" charset="0"/>
              </a:rPr>
              <a:t>next</a:t>
            </a:r>
            <a:r>
              <a:rPr lang="en-US" sz="1400" b="0" dirty="0">
                <a:solidFill>
                  <a:srgbClr val="000000"/>
                </a:solidFill>
                <a:effectLst/>
                <a:latin typeface="Fira Code" panose="020B0809050000020004" pitchFamily="49" charset="0"/>
              </a:rPr>
              <a:t> = </a:t>
            </a:r>
            <a:r>
              <a:rPr lang="en-US" sz="1400" b="0" dirty="0">
                <a:solidFill>
                  <a:srgbClr val="0070C1"/>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a:t>
            </a:r>
          </a:p>
        </p:txBody>
      </p:sp>
      <p:pic>
        <p:nvPicPr>
          <p:cNvPr id="34" name="Graphic 33">
            <a:extLst>
              <a:ext uri="{FF2B5EF4-FFF2-40B4-BE49-F238E27FC236}">
                <a16:creationId xmlns:a16="http://schemas.microsoft.com/office/drawing/2014/main" id="{9EC9903D-7976-AE7F-53EA-DB7D6319B6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3735186" y="2217749"/>
            <a:ext cx="1375954" cy="1375954"/>
          </a:xfrm>
          <a:prstGeom prst="rect">
            <a:avLst/>
          </a:prstGeom>
        </p:spPr>
      </p:pic>
      <p:cxnSp>
        <p:nvCxnSpPr>
          <p:cNvPr id="36" name="Straight Arrow Connector 35">
            <a:extLst>
              <a:ext uri="{FF2B5EF4-FFF2-40B4-BE49-F238E27FC236}">
                <a16:creationId xmlns:a16="http://schemas.microsoft.com/office/drawing/2014/main" id="{73268C98-D978-F28F-D534-A50D31A6583D}"/>
              </a:ext>
            </a:extLst>
          </p:cNvPr>
          <p:cNvCxnSpPr/>
          <p:nvPr/>
        </p:nvCxnSpPr>
        <p:spPr>
          <a:xfrm>
            <a:off x="2685011" y="2936685"/>
            <a:ext cx="96427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Rectangle 36">
            <a:extLst>
              <a:ext uri="{FF2B5EF4-FFF2-40B4-BE49-F238E27FC236}">
                <a16:creationId xmlns:a16="http://schemas.microsoft.com/office/drawing/2014/main" id="{84762BE1-916C-D601-B954-E9B4996AD7B4}"/>
              </a:ext>
            </a:extLst>
          </p:cNvPr>
          <p:cNvSpPr/>
          <p:nvPr/>
        </p:nvSpPr>
        <p:spPr>
          <a:xfrm>
            <a:off x="1704109" y="2535382"/>
            <a:ext cx="819001" cy="8495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1DF01CBF-ED82-75C5-B137-525BD0A227B1}"/>
              </a:ext>
            </a:extLst>
          </p:cNvPr>
          <p:cNvSpPr txBox="1"/>
          <p:nvPr/>
        </p:nvSpPr>
        <p:spPr>
          <a:xfrm>
            <a:off x="1876218" y="1771333"/>
            <a:ext cx="2581861" cy="369332"/>
          </a:xfrm>
          <a:prstGeom prst="rect">
            <a:avLst/>
          </a:prstGeom>
          <a:noFill/>
        </p:spPr>
        <p:txBody>
          <a:bodyPr wrap="none" rtlCol="0">
            <a:spAutoFit/>
          </a:bodyPr>
          <a:lstStyle/>
          <a:p>
            <a:r>
              <a:rPr lang="en-US" dirty="0"/>
              <a:t>Game of Life automaton</a:t>
            </a:r>
          </a:p>
        </p:txBody>
      </p:sp>
      <p:sp>
        <p:nvSpPr>
          <p:cNvPr id="46" name="TextBox 45">
            <a:extLst>
              <a:ext uri="{FF2B5EF4-FFF2-40B4-BE49-F238E27FC236}">
                <a16:creationId xmlns:a16="http://schemas.microsoft.com/office/drawing/2014/main" id="{A0DADC12-4478-238B-5B5C-FCD09EE6C61B}"/>
              </a:ext>
            </a:extLst>
          </p:cNvPr>
          <p:cNvSpPr txBox="1"/>
          <p:nvPr/>
        </p:nvSpPr>
        <p:spPr>
          <a:xfrm>
            <a:off x="6332220" y="4098107"/>
            <a:ext cx="5513417" cy="1545103"/>
          </a:xfrm>
          <a:prstGeom prst="rect">
            <a:avLst/>
          </a:prstGeom>
          <a:noFill/>
          <a:ln>
            <a:solidFill>
              <a:schemeClr val="tx1"/>
            </a:solidFill>
          </a:ln>
        </p:spPr>
        <p:txBody>
          <a:bodyPr wrap="square">
            <a:spAutoFit/>
          </a:bodyPr>
          <a:lstStyle/>
          <a:p>
            <a:pPr>
              <a:lnSpc>
                <a:spcPct val="113095"/>
              </a:lnSpc>
              <a:buNone/>
            </a:pPr>
            <a:r>
              <a:rPr lang="en-US" sz="1400" b="0" dirty="0">
                <a:solidFill>
                  <a:srgbClr val="AF00DB"/>
                </a:solidFill>
                <a:effectLst/>
                <a:latin typeface="Fira Code" panose="020B0809050000020004" pitchFamily="49" charset="0"/>
              </a:rPr>
              <a:t>using</a:t>
            </a:r>
            <a:r>
              <a:rPr lang="en-US" sz="1400" b="0" dirty="0">
                <a:solidFill>
                  <a:srgbClr val="000000"/>
                </a:solidFill>
                <a:effectLst/>
                <a:latin typeface="Fira Code" panose="020B0809050000020004" pitchFamily="49" charset="0"/>
              </a:rPr>
              <a:t> </a:t>
            </a:r>
            <a:r>
              <a:rPr lang="en-US" sz="1400" b="0" dirty="0" err="1">
                <a:solidFill>
                  <a:srgbClr val="267F99"/>
                </a:solidFill>
                <a:effectLst/>
                <a:latin typeface="Fira Code" panose="020B0809050000020004" pitchFamily="49" charset="0"/>
              </a:rPr>
              <a:t>gol_rule</a:t>
            </a:r>
            <a:r>
              <a:rPr lang="en-US" sz="1400" b="0" dirty="0">
                <a:solidFill>
                  <a:srgbClr val="000000"/>
                </a:solidFill>
                <a:effectLst/>
                <a:latin typeface="Fira Code" panose="020B0809050000020004" pitchFamily="49" charset="0"/>
              </a:rPr>
              <a:t> =</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&gt;&gt;::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p>
          <a:p>
            <a:pPr>
              <a:lnSpc>
                <a:spcPct val="113095"/>
              </a:lnSpc>
              <a:buNone/>
            </a:pPr>
            <a:r>
              <a:rPr lang="en-US" sz="1400" b="0" dirty="0">
                <a:solidFill>
                  <a:srgbClr val="000000"/>
                </a:solidFill>
                <a:effectLst/>
                <a:latin typeface="Fira Code" panose="020B0809050000020004" pitchFamily="49" charset="0"/>
              </a:rPr>
              <a:t>    </a:t>
            </a:r>
            <a:r>
              <a:rPr lang="en-US" sz="1400" dirty="0">
                <a:solidFill>
                  <a:srgbClr val="AF00DB"/>
                </a:solidFill>
                <a:latin typeface="Fira Code" panose="020B0809050000020004" pitchFamily="49" charset="0"/>
              </a:rPr>
              <a:t>if_</a:t>
            </a:r>
            <a:r>
              <a:rPr lang="en-US" sz="1400" b="0" dirty="0">
                <a:solidFill>
                  <a:srgbClr val="000000"/>
                </a:solidFill>
                <a:effectLst/>
                <a:latin typeface="Fira Code" panose="020B0809050000020004" pitchFamily="49" charset="0"/>
              </a:rPr>
              <a:t>&lt;</a:t>
            </a:r>
            <a:r>
              <a:rPr lang="en-US" sz="1400" dirty="0">
                <a:solidFill>
                  <a:srgbClr val="001080"/>
                </a:solidFill>
                <a:latin typeface="Fira Code" panose="020B0809050000020004" pitchFamily="49" charset="0"/>
              </a:rPr>
              <a:t>has3</a:t>
            </a:r>
            <a:r>
              <a:rPr lang="en-US" sz="1400" b="0" dirty="0">
                <a:solidFill>
                  <a:srgbClr val="000000"/>
                </a:solidFill>
                <a:effectLst/>
                <a:latin typeface="Fira Code" panose="020B0809050000020004" pitchFamily="49" charset="0"/>
              </a:rPr>
              <a:t>&gt;::</a:t>
            </a:r>
            <a:r>
              <a:rPr lang="en-US" sz="1400" b="0" dirty="0">
                <a:effectLst/>
                <a:latin typeface="Fira Code" panose="020B0809050000020004" pitchFamily="49" charset="0"/>
              </a:rPr>
              <a:t>then_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alive</a:t>
            </a:r>
            <a:r>
              <a:rPr lang="en-US" sz="1400" b="0" dirty="0">
                <a:solidFill>
                  <a:srgbClr val="000000"/>
                </a:solidFill>
                <a:effectLst/>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b="0" dirty="0">
                <a:solidFill>
                  <a:srgbClr val="000000"/>
                </a:solidFill>
                <a:effectLst/>
                <a:latin typeface="Fira Code" panose="020B0809050000020004" pitchFamily="49" charset="0"/>
              </a:rPr>
              <a:t>&lt;</a:t>
            </a:r>
            <a:r>
              <a:rPr lang="en-US" sz="1400" b="0" dirty="0">
                <a:solidFill>
                  <a:srgbClr val="267F99"/>
                </a:solidFill>
                <a:effectLst/>
                <a:latin typeface="Fira Code" panose="020B0809050000020004" pitchFamily="49" charset="0"/>
              </a:rPr>
              <a:t>dead</a:t>
            </a:r>
            <a:r>
              <a:rPr lang="en-US" sz="1400" b="0" dirty="0">
                <a:solidFill>
                  <a:srgbClr val="000000"/>
                </a:solidFill>
                <a:effectLst/>
                <a:latin typeface="Fira Code" panose="020B0809050000020004" pitchFamily="49" charset="0"/>
              </a:rPr>
              <a:t>&gt;</a:t>
            </a:r>
          </a:p>
          <a:p>
            <a:pPr>
              <a:lnSpc>
                <a:spcPct val="113095"/>
              </a:lnSpc>
              <a:buNone/>
            </a:pPr>
            <a:r>
              <a:rPr lang="en-US" sz="1400" b="0" dirty="0">
                <a:solidFill>
                  <a:srgbClr val="000000"/>
                </a:solidFill>
                <a:effectLst/>
                <a:latin typeface="Fira Code" panose="020B0809050000020004" pitchFamily="49" charset="0"/>
              </a:rPr>
              <a:t>  &gt;;</a:t>
            </a:r>
          </a:p>
        </p:txBody>
      </p:sp>
      <p:cxnSp>
        <p:nvCxnSpPr>
          <p:cNvPr id="48" name="Straight Arrow Connector 47">
            <a:extLst>
              <a:ext uri="{FF2B5EF4-FFF2-40B4-BE49-F238E27FC236}">
                <a16:creationId xmlns:a16="http://schemas.microsoft.com/office/drawing/2014/main" id="{28944F7A-9857-3E6D-3641-A00C683DD933}"/>
              </a:ext>
            </a:extLst>
          </p:cNvPr>
          <p:cNvCxnSpPr>
            <a:cxnSpLocks/>
            <a:stCxn id="31" idx="3"/>
            <a:endCxn id="46" idx="1"/>
          </p:cNvCxnSpPr>
          <p:nvPr/>
        </p:nvCxnSpPr>
        <p:spPr>
          <a:xfrm>
            <a:off x="5393103" y="4870659"/>
            <a:ext cx="9391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19394614-4B59-2819-85FD-88921C74BAE7}"/>
              </a:ext>
            </a:extLst>
          </p:cNvPr>
          <p:cNvSpPr txBox="1"/>
          <p:nvPr/>
        </p:nvSpPr>
        <p:spPr>
          <a:xfrm>
            <a:off x="7256342" y="365418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smtClean="0"/>
              <a:t>16</a:t>
            </a:fld>
            <a:endParaRPr lang="en-US"/>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7" y="2525655"/>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3339292" y="620089"/>
            <a:ext cx="5513417" cy="1545103"/>
          </a:xfrm>
          <a:prstGeom prst="rect">
            <a:avLst/>
          </a:prstGeom>
          <a:noFill/>
          <a:ln>
            <a:solidFill>
              <a:schemeClr val="tx1"/>
            </a:solidFill>
          </a:ln>
        </p:spPr>
        <p:txBody>
          <a:bodyPr wrap="square">
            <a:spAutoFit/>
          </a:bodyPr>
          <a:lstStyle/>
          <a:p>
            <a:pPr>
              <a:lnSpc>
                <a:spcPct val="113095"/>
              </a:lnSpc>
              <a:buNone/>
            </a:pPr>
            <a:r>
              <a:rPr lang="en-US" sz="1400" dirty="0">
                <a:solidFill>
                  <a:srgbClr val="AF00DB"/>
                </a:solidFill>
                <a:latin typeface="Fira Code" panose="020B0809050000020004" pitchFamily="49" charset="0"/>
              </a:rPr>
              <a:t>using</a:t>
            </a:r>
            <a:r>
              <a:rPr lang="en-US" sz="1400" dirty="0">
                <a:solidFill>
                  <a:srgbClr val="000000"/>
                </a:solidFill>
                <a:latin typeface="Fira Code" panose="020B0809050000020004" pitchFamily="49" charset="0"/>
              </a:rPr>
              <a:t> </a:t>
            </a:r>
            <a:r>
              <a:rPr lang="en-US" sz="1400" dirty="0" err="1">
                <a:solidFill>
                  <a:srgbClr val="267F99"/>
                </a:solidFill>
                <a:latin typeface="Fira Code" panose="020B0809050000020004" pitchFamily="49" charset="0"/>
              </a:rPr>
              <a:t>gol_rule</a:t>
            </a:r>
            <a:r>
              <a:rPr lang="en-US" sz="1400" dirty="0">
                <a:solidFill>
                  <a:srgbClr val="000000"/>
                </a:solidFill>
                <a:latin typeface="Fira Code" panose="020B0809050000020004" pitchFamily="49" charset="0"/>
              </a:rPr>
              <a:t> =</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err="1">
                <a:solidFill>
                  <a:srgbClr val="001080"/>
                </a:solidFill>
                <a:latin typeface="Fira Code" panose="020B0809050000020004" pitchFamily="49" charset="0"/>
              </a:rPr>
              <a:t>is_alive</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has3_or_2</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&gt;&gt;::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p>
          <a:p>
            <a:pPr>
              <a:lnSpc>
                <a:spcPct val="113095"/>
              </a:lnSpc>
              <a:buNone/>
            </a:pPr>
            <a:r>
              <a:rPr lang="en-US" sz="1400" dirty="0">
                <a:solidFill>
                  <a:srgbClr val="000000"/>
                </a:solidFill>
                <a:latin typeface="Fira Code" panose="020B0809050000020004" pitchFamily="49" charset="0"/>
              </a:rPr>
              <a:t>    </a:t>
            </a:r>
            <a:r>
              <a:rPr lang="en-US" sz="1400" dirty="0">
                <a:solidFill>
                  <a:srgbClr val="AF00DB"/>
                </a:solidFill>
                <a:latin typeface="Fira Code" panose="020B0809050000020004" pitchFamily="49" charset="0"/>
              </a:rPr>
              <a:t>if_</a:t>
            </a:r>
            <a:r>
              <a:rPr lang="en-US" sz="1400" dirty="0">
                <a:solidFill>
                  <a:srgbClr val="000000"/>
                </a:solidFill>
                <a:latin typeface="Fira Code" panose="020B0809050000020004" pitchFamily="49" charset="0"/>
              </a:rPr>
              <a:t>&lt;</a:t>
            </a:r>
            <a:r>
              <a:rPr lang="en-US" sz="1400" dirty="0">
                <a:solidFill>
                  <a:srgbClr val="001080"/>
                </a:solidFill>
                <a:latin typeface="Fira Code" panose="020B0809050000020004" pitchFamily="49" charset="0"/>
              </a:rPr>
              <a:t>has3</a:t>
            </a:r>
            <a:r>
              <a:rPr lang="en-US" sz="1400" dirty="0">
                <a:solidFill>
                  <a:srgbClr val="000000"/>
                </a:solidFill>
                <a:latin typeface="Fira Code" panose="020B0809050000020004" pitchFamily="49" charset="0"/>
              </a:rPr>
              <a:t>&gt;::</a:t>
            </a:r>
            <a:r>
              <a:rPr lang="en-US" sz="1400" dirty="0">
                <a:latin typeface="Fira Code" panose="020B0809050000020004" pitchFamily="49" charset="0"/>
              </a:rPr>
              <a:t>then_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alive</a:t>
            </a:r>
            <a:r>
              <a:rPr lang="en-US" sz="1400" dirty="0">
                <a:solidFill>
                  <a:srgbClr val="000000"/>
                </a:solidFill>
                <a:latin typeface="Fira Code" panose="020B0809050000020004" pitchFamily="49" charset="0"/>
              </a:rPr>
              <a:t>&gt;::</a:t>
            </a:r>
            <a:r>
              <a:rPr lang="en-US" sz="1400" dirty="0">
                <a:solidFill>
                  <a:srgbClr val="AF00DB"/>
                </a:solidFill>
                <a:latin typeface="Fira Code" panose="020B0809050000020004" pitchFamily="49" charset="0"/>
              </a:rPr>
              <a:t>else_</a:t>
            </a:r>
            <a:r>
              <a:rPr lang="en-US" sz="1400" dirty="0">
                <a:solidFill>
                  <a:srgbClr val="000000"/>
                </a:solidFill>
                <a:latin typeface="Fira Code" panose="020B0809050000020004" pitchFamily="49" charset="0"/>
              </a:rPr>
              <a:t>&lt;</a:t>
            </a:r>
            <a:r>
              <a:rPr lang="en-US" sz="1400" dirty="0">
                <a:solidFill>
                  <a:srgbClr val="267F99"/>
                </a:solidFill>
                <a:latin typeface="Fira Code" panose="020B0809050000020004" pitchFamily="49" charset="0"/>
              </a:rPr>
              <a:t>dead</a:t>
            </a:r>
            <a:r>
              <a:rPr lang="en-US" sz="1400" dirty="0">
                <a:solidFill>
                  <a:srgbClr val="000000"/>
                </a:solidFill>
                <a:latin typeface="Fira Code" panose="020B0809050000020004" pitchFamily="49" charset="0"/>
              </a:rPr>
              <a:t>&gt;</a:t>
            </a:r>
          </a:p>
          <a:p>
            <a:pPr>
              <a:lnSpc>
                <a:spcPct val="113095"/>
              </a:lnSpc>
              <a:buNone/>
            </a:pPr>
            <a:r>
              <a:rPr lang="en-US" sz="140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a:stCxn id="8" idx="2"/>
          </p:cNvCxnSpPr>
          <p:nvPr/>
        </p:nvCxnSpPr>
        <p:spPr>
          <a:xfrm>
            <a:off x="6096001" y="2165192"/>
            <a:ext cx="2362720" cy="9103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263414" y="211557"/>
            <a:ext cx="3665171" cy="369332"/>
          </a:xfrm>
          <a:prstGeom prst="rect">
            <a:avLst/>
          </a:prstGeom>
          <a:noFill/>
        </p:spPr>
        <p:txBody>
          <a:bodyPr wrap="none" rtlCol="0">
            <a:spAutoFit/>
          </a:bodyPr>
          <a:lstStyle/>
          <a:p>
            <a:r>
              <a:rPr lang="en-US" dirty="0"/>
              <a:t>Type-level expression (</a:t>
            </a:r>
            <a:r>
              <a:rPr lang="en-US" dirty="0" err="1"/>
              <a:t>Cellato</a:t>
            </a:r>
            <a:r>
              <a:rPr lang="en-US" dirty="0"/>
              <a:t> DSL)</a:t>
            </a:r>
          </a:p>
        </p:txBody>
      </p:sp>
      <p:pic>
        <p:nvPicPr>
          <p:cNvPr id="17" name="Picture 16">
            <a:extLst>
              <a:ext uri="{FF2B5EF4-FFF2-40B4-BE49-F238E27FC236}">
                <a16:creationId xmlns:a16="http://schemas.microsoft.com/office/drawing/2014/main" id="{D49D01EB-6B87-A8AF-C645-0C7149AF3B52}"/>
              </a:ext>
            </a:extLst>
          </p:cNvPr>
          <p:cNvPicPr>
            <a:picLocks noChangeAspect="1"/>
          </p:cNvPicPr>
          <p:nvPr/>
        </p:nvPicPr>
        <p:blipFill>
          <a:blip r:embed="rId4"/>
          <a:srcRect/>
          <a:stretch>
            <a:fillRect/>
          </a:stretch>
        </p:blipFill>
        <p:spPr>
          <a:xfrm>
            <a:off x="1908279" y="5120530"/>
            <a:ext cx="3346242" cy="1737470"/>
          </a:xfrm>
          <a:prstGeom prst="rect">
            <a:avLst/>
          </a:prstGeom>
        </p:spPr>
      </p:pic>
      <p:pic>
        <p:nvPicPr>
          <p:cNvPr id="19" name="Picture 18">
            <a:extLst>
              <a:ext uri="{FF2B5EF4-FFF2-40B4-BE49-F238E27FC236}">
                <a16:creationId xmlns:a16="http://schemas.microsoft.com/office/drawing/2014/main" id="{F062BBCA-4E21-63C7-EDFF-E1D5A3C3D6D5}"/>
              </a:ext>
            </a:extLst>
          </p:cNvPr>
          <p:cNvPicPr>
            <a:picLocks noChangeAspect="1"/>
          </p:cNvPicPr>
          <p:nvPr/>
        </p:nvPicPr>
        <p:blipFill>
          <a:blip r:embed="rId5"/>
          <a:srcRect/>
          <a:stretch>
            <a:fillRect/>
          </a:stretch>
        </p:blipFill>
        <p:spPr>
          <a:xfrm>
            <a:off x="6155232" y="5029201"/>
            <a:ext cx="4606977" cy="1828799"/>
          </a:xfrm>
          <a:prstGeom prst="rect">
            <a:avLst/>
          </a:prstGeom>
        </p:spPr>
      </p:pic>
    </p:spTree>
    <p:extLst>
      <p:ext uri="{BB962C8B-B14F-4D97-AF65-F5344CB8AC3E}">
        <p14:creationId xmlns:p14="http://schemas.microsoft.com/office/powerpoint/2010/main" val="2853544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3"/>
          <a:stretch>
            <a:fillRect/>
          </a:stretch>
        </p:blipFill>
        <p:spPr>
          <a:xfrm>
            <a:off x="310620" y="1524433"/>
            <a:ext cx="11570760" cy="426953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8/28/2026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dirty="0"/>
              <a:t>Comparison of GPU-parallelized computation of various cellular automata</a:t>
            </a:r>
            <a:br>
              <a:rPr lang="en-US" dirty="0"/>
            </a:br>
            <a:r>
              <a:rPr lang="en-US" i="1"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r>
              <a:rPr lang="en-US" dirty="0"/>
              <a:t>Abstractions for layout- &amp; traversal-agnostic design are practical</a:t>
            </a:r>
          </a:p>
          <a:p>
            <a:r>
              <a:rPr lang="en-US" dirty="0"/>
              <a:t>Applicable to parallel and distributed HPC computing</a:t>
            </a:r>
          </a:p>
          <a:p>
            <a:r>
              <a:rPr lang="en-US" dirty="0"/>
              <a:t>Abstract even deeper details  in Cellular Automata</a:t>
            </a:r>
          </a:p>
          <a:p>
            <a:r>
              <a:rPr lang="en-US" dirty="0"/>
              <a:t>Improve</a:t>
            </a:r>
          </a:p>
          <a:p>
            <a:pPr lvl="1"/>
            <a:r>
              <a:rPr lang="en-US" dirty="0"/>
              <a:t>Maintainability</a:t>
            </a:r>
          </a:p>
          <a:p>
            <a:pPr lvl="1"/>
            <a:r>
              <a:rPr lang="en-US" dirty="0"/>
              <a:t>Flexibility</a:t>
            </a:r>
          </a:p>
          <a:p>
            <a:pPr lvl="1"/>
            <a:r>
              <a:rPr lang="en-US" dirty="0"/>
              <a:t>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smtClean="0"/>
              <a:t>8/28/2026</a:t>
            </a:fld>
            <a:endParaRPr lang="en-US"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32597657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dirty="0"/>
              <a:t>LLMs capable of writing simple code</a:t>
            </a:r>
          </a:p>
          <a:p>
            <a:pPr lvl="1"/>
            <a:r>
              <a:rPr lang="en-US" dirty="0"/>
              <a:t>Data visualization, simple scripting, …</a:t>
            </a:r>
          </a:p>
          <a:p>
            <a:r>
              <a:rPr lang="en-US" dirty="0"/>
              <a:t>Not high-</a:t>
            </a:r>
            <a:r>
              <a:rPr lang="en-US" dirty="0" err="1"/>
              <a:t>lvl</a:t>
            </a:r>
            <a:r>
              <a:rPr lang="en-US" dirty="0"/>
              <a:t> decisions and parallel algorithms</a:t>
            </a:r>
          </a:p>
          <a:p>
            <a:endParaRPr lang="en-US" dirty="0"/>
          </a:p>
          <a:p>
            <a:endParaRPr lang="en-US" dirty="0"/>
          </a:p>
          <a:p>
            <a:endParaRPr lang="en-US" dirty="0"/>
          </a:p>
          <a:p>
            <a:r>
              <a:rPr lang="en-US" dirty="0"/>
              <a:t>What helps LLMs generate better code?</a:t>
            </a:r>
          </a:p>
          <a:p>
            <a:pPr lvl="1"/>
            <a:r>
              <a:rPr lang="en-US"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8/28/2026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5408518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20</a:t>
            </a:fld>
            <a:endParaRPr lang="en-US"/>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Expert-</a:t>
            </a:r>
            <a:r>
              <a:rPr lang="en-US" dirty="0" err="1"/>
              <a:t>lvl</a:t>
            </a:r>
            <a:r>
              <a:rPr lang="en-US" dirty="0"/>
              <a: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dirty="0"/>
              <a:t>🤖</a:t>
            </a:r>
          </a:p>
        </p:txBody>
      </p:sp>
      <p:cxnSp>
        <p:nvCxnSpPr>
          <p:cNvPr id="65" name="Straight Arrow Connector 64">
            <a:extLst>
              <a:ext uri="{FF2B5EF4-FFF2-40B4-BE49-F238E27FC236}">
                <a16:creationId xmlns:a16="http://schemas.microsoft.com/office/drawing/2014/main" id="{1B02E96B-466B-BBC3-B8FB-DB7A29A2BB81}"/>
              </a:ext>
            </a:extLst>
          </p:cNvPr>
          <p:cNvCxnSpPr>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2245250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smtClean="0"/>
              <a:t>21</a:t>
            </a:fld>
            <a:endParaRPr lang="en-US"/>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880282" y="1690688"/>
            <a:ext cx="1103155" cy="858622"/>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823231" y="2398622"/>
            <a:ext cx="1217256" cy="369332"/>
          </a:xfrm>
          <a:prstGeom prst="rect">
            <a:avLst/>
          </a:prstGeom>
          <a:noFill/>
        </p:spPr>
        <p:txBody>
          <a:bodyPr wrap="none" rtlCol="0">
            <a:spAutoFit/>
          </a:bodyPr>
          <a:lstStyle/>
          <a:p>
            <a:r>
              <a:rPr lang="en-US"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521644" y="1693284"/>
            <a:ext cx="1103155" cy="794271"/>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354787" y="2487555"/>
            <a:ext cx="1436868" cy="369332"/>
          </a:xfrm>
          <a:prstGeom prst="rect">
            <a:avLst/>
          </a:prstGeom>
          <a:noFill/>
        </p:spPr>
        <p:txBody>
          <a:bodyPr wrap="none" rtlCol="0">
            <a:spAutoFit/>
          </a:bodyPr>
          <a:lstStyle/>
          <a:p>
            <a:r>
              <a:rPr lang="en-US"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939099" y="1690688"/>
            <a:ext cx="1103155" cy="796867"/>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939099" y="2484959"/>
            <a:ext cx="1206741" cy="646331"/>
          </a:xfrm>
          <a:prstGeom prst="rect">
            <a:avLst/>
          </a:prstGeom>
          <a:noFill/>
        </p:spPr>
        <p:txBody>
          <a:bodyPr wrap="none" rtlCol="0">
            <a:spAutoFit/>
          </a:bodyPr>
          <a:lstStyle/>
          <a:p>
            <a:pPr algn="ctr"/>
            <a:r>
              <a:rPr lang="en-US" dirty="0"/>
              <a:t>K-Nearest</a:t>
            </a:r>
            <a:br>
              <a:rPr lang="en-US" dirty="0"/>
            </a:br>
            <a:r>
              <a:rPr lang="en-US"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473598" y="3557054"/>
            <a:ext cx="3916521" cy="369332"/>
          </a:xfrm>
          <a:prstGeom prst="rect">
            <a:avLst/>
          </a:prstGeom>
          <a:noFill/>
        </p:spPr>
        <p:txBody>
          <a:bodyPr wrap="none" rtlCol="0">
            <a:spAutoFit/>
          </a:bodyPr>
          <a:lstStyle/>
          <a:p>
            <a:pPr algn="ctr"/>
            <a:r>
              <a:rPr lang="en-US"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6032039" y="3557054"/>
            <a:ext cx="2082365" cy="369332"/>
          </a:xfrm>
          <a:prstGeom prst="rect">
            <a:avLst/>
          </a:prstGeom>
          <a:noFill/>
        </p:spPr>
        <p:txBody>
          <a:bodyPr wrap="none" rtlCol="0">
            <a:spAutoFit/>
          </a:bodyPr>
          <a:lstStyle/>
          <a:p>
            <a:pPr algn="ctr"/>
            <a:r>
              <a:rPr lang="en-US" dirty="0"/>
              <a:t>Bit-</a:t>
            </a:r>
            <a:r>
              <a:rPr lang="en-US" dirty="0" err="1"/>
              <a:t>lvl</a:t>
            </a:r>
            <a:r>
              <a:rPr lang="en-US"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950703" y="3557054"/>
            <a:ext cx="3079946" cy="369332"/>
          </a:xfrm>
          <a:prstGeom prst="rect">
            <a:avLst/>
          </a:prstGeom>
          <a:noFill/>
        </p:spPr>
        <p:txBody>
          <a:bodyPr wrap="none" rtlCol="0">
            <a:spAutoFit/>
          </a:bodyPr>
          <a:lstStyle/>
          <a:p>
            <a:pPr algn="ctr"/>
            <a:r>
              <a:rPr lang="en-US"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14887" y="4530820"/>
            <a:ext cx="1706173" cy="369332"/>
          </a:xfrm>
          <a:prstGeom prst="rect">
            <a:avLst/>
          </a:prstGeom>
          <a:noFill/>
        </p:spPr>
        <p:txBody>
          <a:bodyPr wrap="none" rtlCol="0">
            <a:spAutoFit/>
          </a:bodyPr>
          <a:lstStyle/>
          <a:p>
            <a:r>
              <a:rPr lang="en-US"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210788" y="5189669"/>
            <a:ext cx="1187248" cy="369332"/>
          </a:xfrm>
          <a:prstGeom prst="rect">
            <a:avLst/>
          </a:prstGeom>
          <a:noFill/>
        </p:spPr>
        <p:txBody>
          <a:bodyPr wrap="none" rtlCol="0">
            <a:spAutoFit/>
          </a:bodyPr>
          <a:lstStyle/>
          <a:p>
            <a:r>
              <a:rPr lang="en-US"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62048" y="5848518"/>
            <a:ext cx="1800493" cy="369332"/>
          </a:xfrm>
          <a:prstGeom prst="rect">
            <a:avLst/>
          </a:prstGeom>
          <a:noFill/>
        </p:spPr>
        <p:txBody>
          <a:bodyPr wrap="none" rtlCol="0">
            <a:spAutoFit/>
          </a:bodyPr>
          <a:lstStyle/>
          <a:p>
            <a:r>
              <a:rPr lang="en-US"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dirty="0"/>
              <a:t>❌</a:t>
            </a:r>
          </a:p>
        </p:txBody>
      </p:sp>
    </p:spTree>
    <p:extLst>
      <p:ext uri="{BB962C8B-B14F-4D97-AF65-F5344CB8AC3E}">
        <p14:creationId xmlns:p14="http://schemas.microsoft.com/office/powerpoint/2010/main" val="18677034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rcRect l="2698" r="47262"/>
          <a:stretch>
            <a:fillRect/>
          </a:stretch>
        </p:blipFill>
        <p:spPr>
          <a:xfrm>
            <a:off x="408393" y="2599181"/>
            <a:ext cx="4680138" cy="3692232"/>
          </a:xfrm>
          <a:prstGeom prst="rect">
            <a:avLst/>
          </a:prstGeom>
        </p:spPr>
      </p:pic>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4"/>
          <a:srcRect l="5830" t="5264" r="1424" b="4017"/>
          <a:stretch>
            <a:fillRect/>
          </a:stretch>
        </p:blipFill>
        <p:spPr>
          <a:xfrm>
            <a:off x="5934239" y="2761577"/>
            <a:ext cx="5849368" cy="2994486"/>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22</a:t>
            </a:fld>
            <a:endParaRPr lang="en-US"/>
          </a:p>
        </p:txBody>
      </p:sp>
      <p:sp>
        <p:nvSpPr>
          <p:cNvPr id="6" name="TextBox 5">
            <a:extLst>
              <a:ext uri="{FF2B5EF4-FFF2-40B4-BE49-F238E27FC236}">
                <a16:creationId xmlns:a16="http://schemas.microsoft.com/office/drawing/2014/main" id="{72D4F460-314F-F2C1-B648-8D4D93BCB4E5}"/>
              </a:ext>
            </a:extLst>
          </p:cNvPr>
          <p:cNvSpPr txBox="1"/>
          <p:nvPr/>
        </p:nvSpPr>
        <p:spPr>
          <a:xfrm>
            <a:off x="2364144" y="2229849"/>
            <a:ext cx="1217256" cy="369332"/>
          </a:xfrm>
          <a:prstGeom prst="rect">
            <a:avLst/>
          </a:prstGeom>
          <a:noFill/>
        </p:spPr>
        <p:txBody>
          <a:bodyPr wrap="none" rtlCol="0">
            <a:spAutoFit/>
          </a:bodyPr>
          <a:lstStyle/>
          <a:p>
            <a:r>
              <a:rPr lang="en-US"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391244" y="2229849"/>
            <a:ext cx="1436612" cy="369332"/>
          </a:xfrm>
          <a:prstGeom prst="rect">
            <a:avLst/>
          </a:prstGeom>
          <a:noFill/>
        </p:spPr>
        <p:txBody>
          <a:bodyPr wrap="none" rtlCol="0">
            <a:spAutoFit/>
          </a:bodyPr>
          <a:lstStyle/>
          <a:p>
            <a:r>
              <a:rPr lang="en-US" dirty="0"/>
              <a:t>Game of Life</a:t>
            </a:r>
          </a:p>
        </p:txBody>
      </p:sp>
    </p:spTree>
    <p:extLst>
      <p:ext uri="{BB962C8B-B14F-4D97-AF65-F5344CB8AC3E}">
        <p14:creationId xmlns:p14="http://schemas.microsoft.com/office/powerpoint/2010/main" val="2307166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smtClean="0"/>
              <a:t>8/28/2026</a:t>
            </a:fld>
            <a:endParaRPr lang="en-US"/>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smtClean="0"/>
              <a:t>23</a:t>
            </a:fld>
            <a:endParaRPr lang="en-US"/>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dirty="0"/>
              <a:t>k-Nearest Neighbors</a:t>
            </a:r>
          </a:p>
        </p:txBody>
      </p:sp>
    </p:spTree>
    <p:extLst>
      <p:ext uri="{BB962C8B-B14F-4D97-AF65-F5344CB8AC3E}">
        <p14:creationId xmlns:p14="http://schemas.microsoft.com/office/powerpoint/2010/main" val="21285730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F8F2B-8096-7E9E-AA5F-7F72726C819C}"/>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7C9DDCDD-E57A-60CF-F6C1-98722252234C}"/>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EB15584F-9C46-0B94-52F1-15D64D9E529C}"/>
              </a:ext>
            </a:extLst>
          </p:cNvPr>
          <p:cNvSpPr>
            <a:spLocks noGrp="1"/>
          </p:cNvSpPr>
          <p:nvPr>
            <p:ph type="sldNum" sz="quarter" idx="12"/>
          </p:nvPr>
        </p:nvSpPr>
        <p:spPr/>
        <p:txBody>
          <a:bodyPr/>
          <a:lstStyle/>
          <a:p>
            <a:fld id="{DA0BB241-1B5F-4309-9407-9EEA04D9598D}" type="slidenum">
              <a:rPr lang="en-US" smtClean="0"/>
              <a:t>24</a:t>
            </a:fld>
            <a:endParaRPr lang="en-US"/>
          </a:p>
        </p:txBody>
      </p:sp>
      <p:sp>
        <p:nvSpPr>
          <p:cNvPr id="6" name="TextBox 5">
            <a:extLst>
              <a:ext uri="{FF2B5EF4-FFF2-40B4-BE49-F238E27FC236}">
                <a16:creationId xmlns:a16="http://schemas.microsoft.com/office/drawing/2014/main" id="{F931F0D3-62D6-B790-92EE-5989B4C2DE90}"/>
              </a:ext>
            </a:extLst>
          </p:cNvPr>
          <p:cNvSpPr txBox="1"/>
          <p:nvPr/>
        </p:nvSpPr>
        <p:spPr>
          <a:xfrm>
            <a:off x="5898155" y="3285794"/>
            <a:ext cx="678391" cy="523220"/>
          </a:xfrm>
          <a:prstGeom prst="rect">
            <a:avLst/>
          </a:prstGeom>
          <a:noFill/>
        </p:spPr>
        <p:txBody>
          <a:bodyPr wrap="none" rtlCol="0">
            <a:spAutoFit/>
          </a:bodyPr>
          <a:lstStyle/>
          <a:p>
            <a:pPr algn="ctr"/>
            <a:r>
              <a:rPr lang="en-US" sz="2800" dirty="0"/>
              <a:t>🤖</a:t>
            </a:r>
          </a:p>
        </p:txBody>
      </p:sp>
      <p:sp>
        <p:nvSpPr>
          <p:cNvPr id="7" name="TextBox 6">
            <a:extLst>
              <a:ext uri="{FF2B5EF4-FFF2-40B4-BE49-F238E27FC236}">
                <a16:creationId xmlns:a16="http://schemas.microsoft.com/office/drawing/2014/main" id="{9FA49B44-DE06-06BD-B7AF-75B04E4D7F06}"/>
              </a:ext>
            </a:extLst>
          </p:cNvPr>
          <p:cNvSpPr txBox="1"/>
          <p:nvPr/>
        </p:nvSpPr>
        <p:spPr>
          <a:xfrm>
            <a:off x="5447840" y="3809014"/>
            <a:ext cx="1579022" cy="369332"/>
          </a:xfrm>
          <a:prstGeom prst="rect">
            <a:avLst/>
          </a:prstGeom>
          <a:noFill/>
        </p:spPr>
        <p:txBody>
          <a:bodyPr wrap="none" rtlCol="0">
            <a:spAutoFit/>
          </a:bodyPr>
          <a:lstStyle/>
          <a:p>
            <a:pPr algn="ctr"/>
            <a:r>
              <a:rPr lang="en-US" dirty="0"/>
              <a:t>LLM optimizer</a:t>
            </a:r>
          </a:p>
        </p:txBody>
      </p:sp>
      <p:sp>
        <p:nvSpPr>
          <p:cNvPr id="9" name="TextBox 8">
            <a:extLst>
              <a:ext uri="{FF2B5EF4-FFF2-40B4-BE49-F238E27FC236}">
                <a16:creationId xmlns:a16="http://schemas.microsoft.com/office/drawing/2014/main" id="{493CFFAC-E147-8EA9-0CFB-C6E6643CF311}"/>
              </a:ext>
            </a:extLst>
          </p:cNvPr>
          <p:cNvSpPr txBox="1"/>
          <p:nvPr/>
        </p:nvSpPr>
        <p:spPr>
          <a:xfrm>
            <a:off x="3864099" y="3285794"/>
            <a:ext cx="678391" cy="523220"/>
          </a:xfrm>
          <a:prstGeom prst="rect">
            <a:avLst/>
          </a:prstGeom>
          <a:noFill/>
        </p:spPr>
        <p:txBody>
          <a:bodyPr wrap="none" rtlCol="0">
            <a:spAutoFit/>
          </a:bodyPr>
          <a:lstStyle/>
          <a:p>
            <a:r>
              <a:rPr lang="en-US" sz="2800" dirty="0"/>
              <a:t>🐌</a:t>
            </a:r>
          </a:p>
        </p:txBody>
      </p:sp>
      <p:cxnSp>
        <p:nvCxnSpPr>
          <p:cNvPr id="11" name="Straight Arrow Connector 10">
            <a:extLst>
              <a:ext uri="{FF2B5EF4-FFF2-40B4-BE49-F238E27FC236}">
                <a16:creationId xmlns:a16="http://schemas.microsoft.com/office/drawing/2014/main" id="{36C96701-4992-BFFC-E886-D8DF71533624}"/>
              </a:ext>
            </a:extLst>
          </p:cNvPr>
          <p:cNvCxnSpPr>
            <a:stCxn id="9" idx="3"/>
            <a:endCxn id="6" idx="1"/>
          </p:cNvCxnSpPr>
          <p:nvPr/>
        </p:nvCxnSpPr>
        <p:spPr>
          <a:xfrm>
            <a:off x="4542490" y="3547404"/>
            <a:ext cx="135566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17F6E4F-7D25-96B8-1EA2-2A31E82074AB}"/>
              </a:ext>
            </a:extLst>
          </p:cNvPr>
          <p:cNvCxnSpPr>
            <a:cxnSpLocks/>
            <a:endCxn id="15" idx="1"/>
          </p:cNvCxnSpPr>
          <p:nvPr/>
        </p:nvCxnSpPr>
        <p:spPr>
          <a:xfrm>
            <a:off x="6576546" y="3547404"/>
            <a:ext cx="135566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09495A2-2783-83D7-9F8A-49ECA60DA476}"/>
              </a:ext>
            </a:extLst>
          </p:cNvPr>
          <p:cNvSpPr txBox="1"/>
          <p:nvPr/>
        </p:nvSpPr>
        <p:spPr>
          <a:xfrm>
            <a:off x="7932209" y="3285794"/>
            <a:ext cx="678391" cy="523220"/>
          </a:xfrm>
          <a:prstGeom prst="rect">
            <a:avLst/>
          </a:prstGeom>
          <a:noFill/>
        </p:spPr>
        <p:txBody>
          <a:bodyPr wrap="none" rtlCol="0">
            <a:spAutoFit/>
          </a:bodyPr>
          <a:lstStyle/>
          <a:p>
            <a:pPr algn="ctr"/>
            <a:r>
              <a:rPr lang="en-US" sz="2800" dirty="0"/>
              <a:t>🚀</a:t>
            </a:r>
          </a:p>
        </p:txBody>
      </p:sp>
      <p:sp>
        <p:nvSpPr>
          <p:cNvPr id="17" name="TextBox 16">
            <a:extLst>
              <a:ext uri="{FF2B5EF4-FFF2-40B4-BE49-F238E27FC236}">
                <a16:creationId xmlns:a16="http://schemas.microsoft.com/office/drawing/2014/main" id="{C0057DF1-75D1-ABD6-14BF-FA343EC6D033}"/>
              </a:ext>
            </a:extLst>
          </p:cNvPr>
          <p:cNvSpPr txBox="1"/>
          <p:nvPr/>
        </p:nvSpPr>
        <p:spPr>
          <a:xfrm>
            <a:off x="5276959" y="4928729"/>
            <a:ext cx="1910459" cy="369332"/>
          </a:xfrm>
          <a:prstGeom prst="rect">
            <a:avLst/>
          </a:prstGeom>
          <a:noFill/>
        </p:spPr>
        <p:txBody>
          <a:bodyPr wrap="none" rtlCol="0">
            <a:spAutoFit/>
          </a:bodyPr>
          <a:lstStyle/>
          <a:p>
            <a:r>
              <a:rPr lang="en-US" dirty="0"/>
              <a:t>What Abstraction</a:t>
            </a:r>
          </a:p>
        </p:txBody>
      </p:sp>
      <p:sp>
        <p:nvSpPr>
          <p:cNvPr id="18" name="TextBox 17">
            <a:extLst>
              <a:ext uri="{FF2B5EF4-FFF2-40B4-BE49-F238E27FC236}">
                <a16:creationId xmlns:a16="http://schemas.microsoft.com/office/drawing/2014/main" id="{BC787B5C-F15D-E453-E0C2-74F32811444B}"/>
              </a:ext>
            </a:extLst>
          </p:cNvPr>
          <p:cNvSpPr txBox="1"/>
          <p:nvPr/>
        </p:nvSpPr>
        <p:spPr>
          <a:xfrm>
            <a:off x="4077934" y="5555516"/>
            <a:ext cx="837089" cy="369332"/>
          </a:xfrm>
          <a:prstGeom prst="rect">
            <a:avLst/>
          </a:prstGeom>
          <a:noFill/>
        </p:spPr>
        <p:txBody>
          <a:bodyPr wrap="none" rtlCol="0">
            <a:spAutoFit/>
          </a:bodyPr>
          <a:lstStyle/>
          <a:p>
            <a:r>
              <a:rPr lang="en-US" dirty="0"/>
              <a:t>Halide</a:t>
            </a:r>
          </a:p>
        </p:txBody>
      </p:sp>
      <p:sp>
        <p:nvSpPr>
          <p:cNvPr id="19" name="TextBox 18">
            <a:extLst>
              <a:ext uri="{FF2B5EF4-FFF2-40B4-BE49-F238E27FC236}">
                <a16:creationId xmlns:a16="http://schemas.microsoft.com/office/drawing/2014/main" id="{23358F22-F533-1C7C-D8C5-74ED702D9FF3}"/>
              </a:ext>
            </a:extLst>
          </p:cNvPr>
          <p:cNvSpPr txBox="1"/>
          <p:nvPr/>
        </p:nvSpPr>
        <p:spPr>
          <a:xfrm>
            <a:off x="5538167" y="5555516"/>
            <a:ext cx="538417" cy="369332"/>
          </a:xfrm>
          <a:prstGeom prst="rect">
            <a:avLst/>
          </a:prstGeom>
          <a:noFill/>
        </p:spPr>
        <p:txBody>
          <a:bodyPr wrap="none" rtlCol="0">
            <a:spAutoFit/>
          </a:bodyPr>
          <a:lstStyle/>
          <a:p>
            <a:r>
              <a:rPr lang="en-US" dirty="0"/>
              <a:t>Exo</a:t>
            </a:r>
          </a:p>
        </p:txBody>
      </p:sp>
      <p:sp>
        <p:nvSpPr>
          <p:cNvPr id="20" name="TextBox 19">
            <a:extLst>
              <a:ext uri="{FF2B5EF4-FFF2-40B4-BE49-F238E27FC236}">
                <a16:creationId xmlns:a16="http://schemas.microsoft.com/office/drawing/2014/main" id="{09544EDC-8C17-AE4B-036F-97A08EF7C98C}"/>
              </a:ext>
            </a:extLst>
          </p:cNvPr>
          <p:cNvSpPr txBox="1"/>
          <p:nvPr/>
        </p:nvSpPr>
        <p:spPr>
          <a:xfrm>
            <a:off x="6699728" y="5555516"/>
            <a:ext cx="752129" cy="369332"/>
          </a:xfrm>
          <a:prstGeom prst="rect">
            <a:avLst/>
          </a:prstGeom>
          <a:noFill/>
        </p:spPr>
        <p:txBody>
          <a:bodyPr wrap="none" rtlCol="0">
            <a:spAutoFit/>
          </a:bodyPr>
          <a:lstStyle/>
          <a:p>
            <a:r>
              <a:rPr lang="en-US" dirty="0" err="1"/>
              <a:t>Noarr</a:t>
            </a:r>
            <a:endParaRPr lang="en-US" dirty="0"/>
          </a:p>
        </p:txBody>
      </p:sp>
      <p:sp>
        <p:nvSpPr>
          <p:cNvPr id="21" name="TextBox 20">
            <a:extLst>
              <a:ext uri="{FF2B5EF4-FFF2-40B4-BE49-F238E27FC236}">
                <a16:creationId xmlns:a16="http://schemas.microsoft.com/office/drawing/2014/main" id="{0A41B583-F767-91B8-538B-75DE9DE7AF66}"/>
              </a:ext>
            </a:extLst>
          </p:cNvPr>
          <p:cNvSpPr txBox="1"/>
          <p:nvPr/>
        </p:nvSpPr>
        <p:spPr>
          <a:xfrm>
            <a:off x="8079505" y="5555516"/>
            <a:ext cx="344966" cy="369332"/>
          </a:xfrm>
          <a:prstGeom prst="rect">
            <a:avLst/>
          </a:prstGeom>
          <a:noFill/>
        </p:spPr>
        <p:txBody>
          <a:bodyPr wrap="none" rtlCol="0">
            <a:spAutoFit/>
          </a:bodyPr>
          <a:lstStyle/>
          <a:p>
            <a:r>
              <a:rPr lang="en-US" dirty="0">
                <a:solidFill>
                  <a:schemeClr val="bg2">
                    <a:lumMod val="50000"/>
                  </a:schemeClr>
                </a:solidFill>
              </a:rPr>
              <a:t>C</a:t>
            </a:r>
          </a:p>
        </p:txBody>
      </p:sp>
      <p:sp>
        <p:nvSpPr>
          <p:cNvPr id="22" name="Right Brace 21">
            <a:extLst>
              <a:ext uri="{FF2B5EF4-FFF2-40B4-BE49-F238E27FC236}">
                <a16:creationId xmlns:a16="http://schemas.microsoft.com/office/drawing/2014/main" id="{F8913E04-5267-66BC-CE21-BB61AA117287}"/>
              </a:ext>
            </a:extLst>
          </p:cNvPr>
          <p:cNvSpPr/>
          <p:nvPr/>
        </p:nvSpPr>
        <p:spPr>
          <a:xfrm rot="16200000">
            <a:off x="6122237" y="3315566"/>
            <a:ext cx="230225" cy="424967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FBD808A-C60E-D2B4-AE81-67F52D4FA591}"/>
              </a:ext>
            </a:extLst>
          </p:cNvPr>
          <p:cNvCxnSpPr>
            <a:cxnSpLocks/>
            <a:stCxn id="17" idx="0"/>
            <a:endCxn id="7" idx="2"/>
          </p:cNvCxnSpPr>
          <p:nvPr/>
        </p:nvCxnSpPr>
        <p:spPr>
          <a:xfrm flipV="1">
            <a:off x="6232189" y="4178346"/>
            <a:ext cx="5162" cy="7503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A37A6BF4-23D3-4BC4-D822-08D7F02A8E4A}"/>
              </a:ext>
            </a:extLst>
          </p:cNvPr>
          <p:cNvSpPr txBox="1"/>
          <p:nvPr/>
        </p:nvSpPr>
        <p:spPr>
          <a:xfrm>
            <a:off x="1864701" y="3224238"/>
            <a:ext cx="1542410" cy="646331"/>
          </a:xfrm>
          <a:prstGeom prst="rect">
            <a:avLst/>
          </a:prstGeom>
          <a:noFill/>
          <a:ln>
            <a:solidFill>
              <a:schemeClr val="tx1"/>
            </a:solidFill>
          </a:ln>
        </p:spPr>
        <p:txBody>
          <a:bodyPr wrap="none" rtlCol="0">
            <a:spAutoFit/>
          </a:bodyPr>
          <a:lstStyle/>
          <a:p>
            <a:pPr algn="ctr"/>
            <a:r>
              <a:rPr lang="en-US" dirty="0" err="1"/>
              <a:t>PolyBench</a:t>
            </a:r>
            <a:r>
              <a:rPr lang="en-US" dirty="0"/>
              <a:t>/C</a:t>
            </a:r>
          </a:p>
          <a:p>
            <a:pPr algn="ctr"/>
            <a:r>
              <a:rPr lang="en-US" i="1" dirty="0"/>
              <a:t>30 algorithms</a:t>
            </a:r>
          </a:p>
        </p:txBody>
      </p:sp>
      <p:cxnSp>
        <p:nvCxnSpPr>
          <p:cNvPr id="31" name="Straight Arrow Connector 30">
            <a:extLst>
              <a:ext uri="{FF2B5EF4-FFF2-40B4-BE49-F238E27FC236}">
                <a16:creationId xmlns:a16="http://schemas.microsoft.com/office/drawing/2014/main" id="{3563A0DB-403A-ADCF-C3F1-0F9C8265FE3F}"/>
              </a:ext>
            </a:extLst>
          </p:cNvPr>
          <p:cNvCxnSpPr>
            <a:stCxn id="29" idx="3"/>
            <a:endCxn id="9" idx="1"/>
          </p:cNvCxnSpPr>
          <p:nvPr/>
        </p:nvCxnSpPr>
        <p:spPr>
          <a:xfrm>
            <a:off x="3407111" y="3547404"/>
            <a:ext cx="45698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Left Brace 32">
            <a:extLst>
              <a:ext uri="{FF2B5EF4-FFF2-40B4-BE49-F238E27FC236}">
                <a16:creationId xmlns:a16="http://schemas.microsoft.com/office/drawing/2014/main" id="{6C2941FF-F0FF-E5E0-7D40-1745F519E03E}"/>
              </a:ext>
            </a:extLst>
          </p:cNvPr>
          <p:cNvSpPr/>
          <p:nvPr/>
        </p:nvSpPr>
        <p:spPr>
          <a:xfrm>
            <a:off x="8610600" y="3259030"/>
            <a:ext cx="114804" cy="54998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C17EFA50-E483-F872-FFF7-0042EB900CD4}"/>
              </a:ext>
            </a:extLst>
          </p:cNvPr>
          <p:cNvSpPr txBox="1"/>
          <p:nvPr/>
        </p:nvSpPr>
        <p:spPr>
          <a:xfrm>
            <a:off x="8725404" y="3164074"/>
            <a:ext cx="1414233" cy="369332"/>
          </a:xfrm>
          <a:prstGeom prst="rect">
            <a:avLst/>
          </a:prstGeom>
          <a:noFill/>
        </p:spPr>
        <p:txBody>
          <a:bodyPr wrap="none" rtlCol="0">
            <a:spAutoFit/>
          </a:bodyPr>
          <a:lstStyle/>
          <a:p>
            <a:r>
              <a:rPr lang="en-US" dirty="0"/>
              <a:t>Correctness</a:t>
            </a:r>
          </a:p>
        </p:txBody>
      </p:sp>
      <p:sp>
        <p:nvSpPr>
          <p:cNvPr id="36" name="TextBox 35">
            <a:extLst>
              <a:ext uri="{FF2B5EF4-FFF2-40B4-BE49-F238E27FC236}">
                <a16:creationId xmlns:a16="http://schemas.microsoft.com/office/drawing/2014/main" id="{2F778B3F-0584-FE3C-1B8D-FA252396DDD7}"/>
              </a:ext>
            </a:extLst>
          </p:cNvPr>
          <p:cNvSpPr txBox="1"/>
          <p:nvPr/>
        </p:nvSpPr>
        <p:spPr>
          <a:xfrm>
            <a:off x="8854766" y="3439682"/>
            <a:ext cx="1155509" cy="369332"/>
          </a:xfrm>
          <a:prstGeom prst="rect">
            <a:avLst/>
          </a:prstGeom>
          <a:noFill/>
        </p:spPr>
        <p:txBody>
          <a:bodyPr wrap="none" rtlCol="0">
            <a:spAutoFit/>
          </a:bodyPr>
          <a:lstStyle/>
          <a:p>
            <a:r>
              <a:rPr lang="en-US" dirty="0"/>
              <a:t>Efficiency</a:t>
            </a:r>
          </a:p>
        </p:txBody>
      </p:sp>
    </p:spTree>
    <p:extLst>
      <p:ext uri="{BB962C8B-B14F-4D97-AF65-F5344CB8AC3E}">
        <p14:creationId xmlns:p14="http://schemas.microsoft.com/office/powerpoint/2010/main" val="2707702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4" name="Group 43">
            <a:extLst>
              <a:ext uri="{FF2B5EF4-FFF2-40B4-BE49-F238E27FC236}">
                <a16:creationId xmlns:a16="http://schemas.microsoft.com/office/drawing/2014/main" id="{95571F21-827D-539D-D4E5-DB1BB7B71F43}"/>
              </a:ext>
            </a:extLst>
          </p:cNvPr>
          <p:cNvGrpSpPr/>
          <p:nvPr/>
        </p:nvGrpSpPr>
        <p:grpSpPr>
          <a:xfrm>
            <a:off x="2579748" y="2908938"/>
            <a:ext cx="6725589" cy="2229161"/>
            <a:chOff x="2579748" y="2908938"/>
            <a:chExt cx="6725589" cy="2229161"/>
          </a:xfrm>
        </p:grpSpPr>
        <p:pic>
          <p:nvPicPr>
            <p:cNvPr id="6" name="Picture 5">
              <a:extLst>
                <a:ext uri="{FF2B5EF4-FFF2-40B4-BE49-F238E27FC236}">
                  <a16:creationId xmlns:a16="http://schemas.microsoft.com/office/drawing/2014/main" id="{0D4C5F21-8011-3C8D-D688-5EAD5518EC37}"/>
                </a:ext>
              </a:extLst>
            </p:cNvPr>
            <p:cNvPicPr>
              <a:picLocks noChangeAspect="1"/>
            </p:cNvPicPr>
            <p:nvPr/>
          </p:nvPicPr>
          <p:blipFill>
            <a:blip r:embed="rId3"/>
            <a:stretch>
              <a:fillRect/>
            </a:stretch>
          </p:blipFill>
          <p:spPr>
            <a:xfrm>
              <a:off x="2579748" y="2908938"/>
              <a:ext cx="6725589" cy="2229161"/>
            </a:xfrm>
            <a:prstGeom prst="rect">
              <a:avLst/>
            </a:prstGeom>
          </p:spPr>
        </p:pic>
        <p:sp>
          <p:nvSpPr>
            <p:cNvPr id="16" name="Oval 15">
              <a:extLst>
                <a:ext uri="{FF2B5EF4-FFF2-40B4-BE49-F238E27FC236}">
                  <a16:creationId xmlns:a16="http://schemas.microsoft.com/office/drawing/2014/main" id="{10B03CF7-C5DD-D42F-BE83-737ACAF8269B}"/>
                </a:ext>
              </a:extLst>
            </p:cNvPr>
            <p:cNvSpPr/>
            <p:nvPr/>
          </p:nvSpPr>
          <p:spPr>
            <a:xfrm>
              <a:off x="4127127" y="3526657"/>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BA743B9-2D84-0FA8-5F12-F601E209A913}"/>
                </a:ext>
              </a:extLst>
            </p:cNvPr>
            <p:cNvSpPr/>
            <p:nvPr/>
          </p:nvSpPr>
          <p:spPr>
            <a:xfrm>
              <a:off x="7232277" y="374806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B153F27-549E-59FD-49DD-71B68B6AF1E2}"/>
                </a:ext>
              </a:extLst>
            </p:cNvPr>
            <p:cNvSpPr/>
            <p:nvPr/>
          </p:nvSpPr>
          <p:spPr>
            <a:xfrm>
              <a:off x="2832521" y="3767114"/>
              <a:ext cx="0" cy="0"/>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7" name="TextBox 6">
            <a:extLst>
              <a:ext uri="{FF2B5EF4-FFF2-40B4-BE49-F238E27FC236}">
                <a16:creationId xmlns:a16="http://schemas.microsoft.com/office/drawing/2014/main" id="{DB9497BC-6D29-1801-EA64-2882313902E4}"/>
              </a:ext>
            </a:extLst>
          </p:cNvPr>
          <p:cNvSpPr txBox="1"/>
          <p:nvPr/>
        </p:nvSpPr>
        <p:spPr>
          <a:xfrm>
            <a:off x="3818164" y="5562558"/>
            <a:ext cx="4555671" cy="646331"/>
          </a:xfrm>
          <a:prstGeom prst="rect">
            <a:avLst/>
          </a:prstGeom>
          <a:noFill/>
        </p:spPr>
        <p:txBody>
          <a:bodyPr wrap="none" rtlCol="0">
            <a:spAutoFit/>
          </a:bodyPr>
          <a:lstStyle/>
          <a:p>
            <a:r>
              <a:rPr lang="en-US" dirty="0"/>
              <a:t>Developer guide + abstraction-specific hints</a:t>
            </a:r>
          </a:p>
          <a:p>
            <a:pPr algn="ctr"/>
            <a:r>
              <a:rPr lang="en-US" i="1"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stCxn id="7" idx="0"/>
          </p:cNvCxnSpPr>
          <p:nvPr/>
        </p:nvCxnSpPr>
        <p:spPr>
          <a:xfrm flipH="1" flipV="1">
            <a:off x="4292794" y="4292794"/>
            <a:ext cx="1803206" cy="12697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stCxn id="7" idx="0"/>
          </p:cNvCxnSpPr>
          <p:nvPr/>
        </p:nvCxnSpPr>
        <p:spPr>
          <a:xfrm flipV="1">
            <a:off x="6096000" y="4544079"/>
            <a:ext cx="1030736" cy="1018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a:endCxn id="16" idx="0"/>
          </p:cNvCxnSpPr>
          <p:nvPr/>
        </p:nvCxnSpPr>
        <p:spPr>
          <a:xfrm>
            <a:off x="4127128" y="2906562"/>
            <a:ext cx="0" cy="6200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3378012" y="2260231"/>
            <a:ext cx="1498231" cy="646331"/>
          </a:xfrm>
          <a:prstGeom prst="rect">
            <a:avLst/>
          </a:prstGeom>
          <a:noFill/>
        </p:spPr>
        <p:txBody>
          <a:bodyPr wrap="none" rtlCol="0">
            <a:spAutoFit/>
          </a:bodyPr>
          <a:lstStyle/>
          <a:p>
            <a:pPr algn="ctr"/>
            <a:r>
              <a:rPr lang="en-US" dirty="0"/>
              <a:t>Example</a:t>
            </a:r>
            <a:br>
              <a:rPr lang="en-US" dirty="0"/>
            </a:br>
            <a:r>
              <a:rPr lang="en-US"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a:endCxn id="32" idx="0"/>
          </p:cNvCxnSpPr>
          <p:nvPr/>
        </p:nvCxnSpPr>
        <p:spPr>
          <a:xfrm flipH="1">
            <a:off x="7232278" y="2850970"/>
            <a:ext cx="10" cy="8970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260964" y="2481638"/>
            <a:ext cx="1942648" cy="369332"/>
          </a:xfrm>
          <a:prstGeom prst="rect">
            <a:avLst/>
          </a:prstGeom>
          <a:noFill/>
        </p:spPr>
        <p:txBody>
          <a:bodyPr wrap="none" rtlCol="0">
            <a:spAutoFit/>
          </a:bodyPr>
          <a:lstStyle/>
          <a:p>
            <a:pPr algn="ctr"/>
            <a:r>
              <a:rPr lang="en-US"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38052" y="3582449"/>
            <a:ext cx="1540743" cy="369332"/>
          </a:xfrm>
          <a:prstGeom prst="rect">
            <a:avLst/>
          </a:prstGeom>
          <a:noFill/>
        </p:spPr>
        <p:txBody>
          <a:bodyPr wrap="none" rtlCol="0">
            <a:spAutoFit/>
          </a:bodyPr>
          <a:lstStyle/>
          <a:p>
            <a:r>
              <a:rPr lang="en-US"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stCxn id="33" idx="3"/>
            <a:endCxn id="35" idx="2"/>
          </p:cNvCxnSpPr>
          <p:nvPr/>
        </p:nvCxnSpPr>
        <p:spPr>
          <a:xfrm>
            <a:off x="2378795" y="3767115"/>
            <a:ext cx="45372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Right Brace 44">
            <a:extLst>
              <a:ext uri="{FF2B5EF4-FFF2-40B4-BE49-F238E27FC236}">
                <a16:creationId xmlns:a16="http://schemas.microsoft.com/office/drawing/2014/main" id="{76E7C66C-E514-E140-0598-9B479403FA00}"/>
              </a:ext>
            </a:extLst>
          </p:cNvPr>
          <p:cNvSpPr/>
          <p:nvPr/>
        </p:nvSpPr>
        <p:spPr>
          <a:xfrm>
            <a:off x="9182100" y="2443163"/>
            <a:ext cx="300661" cy="282892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6" name="TextBox 45">
            <a:extLst>
              <a:ext uri="{FF2B5EF4-FFF2-40B4-BE49-F238E27FC236}">
                <a16:creationId xmlns:a16="http://schemas.microsoft.com/office/drawing/2014/main" id="{B681D359-D348-006D-B5F6-3F7D47199734}"/>
              </a:ext>
            </a:extLst>
          </p:cNvPr>
          <p:cNvSpPr txBox="1"/>
          <p:nvPr/>
        </p:nvSpPr>
        <p:spPr>
          <a:xfrm>
            <a:off x="9482156" y="3526657"/>
            <a:ext cx="2709844" cy="646331"/>
          </a:xfrm>
          <a:prstGeom prst="rect">
            <a:avLst/>
          </a:prstGeom>
          <a:noFill/>
        </p:spPr>
        <p:txBody>
          <a:bodyPr wrap="none" rtlCol="0">
            <a:spAutoFit/>
          </a:bodyPr>
          <a:lstStyle/>
          <a:p>
            <a:pPr algn="ctr"/>
            <a:r>
              <a:rPr lang="en-US" dirty="0"/>
              <a:t>Almost 500</a:t>
            </a:r>
            <a:br>
              <a:rPr lang="en-US" dirty="0"/>
            </a:br>
            <a:r>
              <a:rPr lang="en-US" dirty="0"/>
              <a:t>optimization experiments</a:t>
            </a:r>
          </a:p>
        </p:txBody>
      </p:sp>
    </p:spTree>
    <p:extLst>
      <p:ext uri="{BB962C8B-B14F-4D97-AF65-F5344CB8AC3E}">
        <p14:creationId xmlns:p14="http://schemas.microsoft.com/office/powerpoint/2010/main" val="23302827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smtClean="0"/>
              <a:t>8/28/2026</a:t>
            </a:fld>
            <a:endParaRPr lang="en-US"/>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smtClean="0"/>
              <a:t>26</a:t>
            </a:fld>
            <a:endParaRPr lang="en-US"/>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00373" y="956745"/>
            <a:ext cx="761050" cy="683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216385" y="587413"/>
            <a:ext cx="1967975" cy="369332"/>
          </a:xfrm>
          <a:prstGeom prst="rect">
            <a:avLst/>
          </a:prstGeom>
          <a:noFill/>
        </p:spPr>
        <p:txBody>
          <a:bodyPr wrap="none" rtlCol="0">
            <a:spAutoFit/>
          </a:bodyPr>
          <a:lstStyle/>
          <a:p>
            <a:r>
              <a:rPr lang="en-US" dirty="0"/>
              <a:t>Best performance</a:t>
            </a:r>
          </a:p>
        </p:txBody>
      </p:sp>
    </p:spTree>
    <p:extLst>
      <p:ext uri="{BB962C8B-B14F-4D97-AF65-F5344CB8AC3E}">
        <p14:creationId xmlns:p14="http://schemas.microsoft.com/office/powerpoint/2010/main" val="134166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dirty="0"/>
              <a:t>Prompting specificity</a:t>
            </a:r>
          </a:p>
          <a:p>
            <a:r>
              <a:rPr lang="en-US" dirty="0"/>
              <a:t>Contemporary abstractions do not help</a:t>
            </a:r>
          </a:p>
          <a:p>
            <a:endParaRPr lang="en-US" dirty="0"/>
          </a:p>
          <a:p>
            <a:r>
              <a:rPr lang="en-US" dirty="0"/>
              <a:t>Future research</a:t>
            </a:r>
          </a:p>
          <a:p>
            <a:pPr lvl="1"/>
            <a:r>
              <a:rPr lang="en-US" dirty="0"/>
              <a:t>Re-evaluate on agentic LLMs</a:t>
            </a:r>
          </a:p>
          <a:p>
            <a:pPr lvl="2"/>
            <a:r>
              <a:rPr lang="en-US" dirty="0"/>
              <a:t>Automatically gather feedback</a:t>
            </a:r>
          </a:p>
          <a:p>
            <a:pPr lvl="2"/>
            <a:r>
              <a:rPr lang="en-US" dirty="0"/>
              <a:t>Can collect necessary context (e.g., work with abstraction reference)</a:t>
            </a:r>
          </a:p>
          <a:p>
            <a:pPr lvl="1"/>
            <a:r>
              <a:rPr lang="en-US" dirty="0"/>
              <a:t>More LLM-focused abstractions or scaffolding</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smtClean="0"/>
              <a:t>8/28/2026</a:t>
            </a:fld>
            <a:endParaRPr lang="en-US"/>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27099458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28</a:t>
            </a:fld>
            <a:endParaRPr lang="en-US"/>
          </a:p>
        </p:txBody>
      </p:sp>
      <p:sp>
        <p:nvSpPr>
          <p:cNvPr id="6" name="TextBox 5">
            <a:extLst>
              <a:ext uri="{FF2B5EF4-FFF2-40B4-BE49-F238E27FC236}">
                <a16:creationId xmlns:a16="http://schemas.microsoft.com/office/drawing/2014/main" id="{0C2203B1-0F93-3F92-FADF-DA1FA387F65C}"/>
              </a:ext>
            </a:extLst>
          </p:cNvPr>
          <p:cNvSpPr txBox="1"/>
          <p:nvPr/>
        </p:nvSpPr>
        <p:spPr>
          <a:xfrm>
            <a:off x="210263" y="3548774"/>
            <a:ext cx="2418354" cy="369332"/>
          </a:xfrm>
          <a:prstGeom prst="rect">
            <a:avLst/>
          </a:prstGeom>
          <a:noFill/>
        </p:spPr>
        <p:txBody>
          <a:bodyPr wrap="none" rtlCol="0">
            <a:spAutoFit/>
          </a:bodyPr>
          <a:lstStyle/>
          <a:p>
            <a:r>
              <a:rPr lang="en-US" dirty="0"/>
              <a:t>Distributed computing</a:t>
            </a:r>
          </a:p>
        </p:txBody>
      </p:sp>
      <p:sp>
        <p:nvSpPr>
          <p:cNvPr id="8" name="TextBox 7">
            <a:extLst>
              <a:ext uri="{FF2B5EF4-FFF2-40B4-BE49-F238E27FC236}">
                <a16:creationId xmlns:a16="http://schemas.microsoft.com/office/drawing/2014/main" id="{0C1F297F-A46E-4127-A44D-943053748AAD}"/>
              </a:ext>
            </a:extLst>
          </p:cNvPr>
          <p:cNvSpPr txBox="1"/>
          <p:nvPr/>
        </p:nvSpPr>
        <p:spPr>
          <a:xfrm>
            <a:off x="398102" y="2284970"/>
            <a:ext cx="2042675" cy="369332"/>
          </a:xfrm>
          <a:prstGeom prst="rect">
            <a:avLst/>
          </a:prstGeom>
          <a:noFill/>
        </p:spPr>
        <p:txBody>
          <a:bodyPr wrap="none" rtlCol="0">
            <a:spAutoFit/>
          </a:bodyPr>
          <a:lstStyle/>
          <a:p>
            <a:r>
              <a:rPr lang="en-US" dirty="0"/>
              <a:t>Layout abstraction</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766623" y="2916872"/>
            <a:ext cx="2256002" cy="369332"/>
          </a:xfrm>
          <a:prstGeom prst="rect">
            <a:avLst/>
          </a:prstGeom>
          <a:noFill/>
        </p:spPr>
        <p:txBody>
          <a:bodyPr wrap="none" rtlCol="0">
            <a:spAutoFit/>
          </a:bodyPr>
          <a:lstStyle/>
          <a:p>
            <a:r>
              <a:rPr lang="en-US" dirty="0"/>
              <a:t>Traversal abstraction</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001631" y="3548774"/>
            <a:ext cx="2457981" cy="369332"/>
          </a:xfrm>
          <a:prstGeom prst="rect">
            <a:avLst/>
          </a:prstGeom>
          <a:noFill/>
        </p:spPr>
        <p:txBody>
          <a:bodyPr wrap="none" rtlCol="0">
            <a:spAutoFit/>
          </a:bodyPr>
          <a:lstStyle/>
          <a:p>
            <a:r>
              <a:rPr lang="en-US" dirty="0"/>
              <a:t>Autotuning abstraction</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926114" y="1618497"/>
            <a:ext cx="1988750" cy="369332"/>
          </a:xfrm>
          <a:prstGeom prst="rect">
            <a:avLst/>
          </a:prstGeom>
          <a:noFill/>
        </p:spPr>
        <p:txBody>
          <a:bodyPr wrap="none" rtlCol="0">
            <a:spAutoFit/>
          </a:bodyPr>
          <a:lstStyle/>
          <a:p>
            <a:r>
              <a:rPr lang="en-US"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7183091" y="2241468"/>
            <a:ext cx="3474797" cy="369332"/>
          </a:xfrm>
          <a:prstGeom prst="rect">
            <a:avLst/>
          </a:prstGeom>
          <a:noFill/>
        </p:spPr>
        <p:txBody>
          <a:bodyPr wrap="none" rtlCol="0">
            <a:spAutoFit/>
          </a:bodyPr>
          <a:lstStyle/>
          <a:p>
            <a:r>
              <a:rPr lang="en-US" dirty="0"/>
              <a:t>Bit-level encoding and evaluation</a:t>
            </a:r>
          </a:p>
        </p:txBody>
      </p:sp>
      <p:sp>
        <p:nvSpPr>
          <p:cNvPr id="27" name="TextBox 26">
            <a:extLst>
              <a:ext uri="{FF2B5EF4-FFF2-40B4-BE49-F238E27FC236}">
                <a16:creationId xmlns:a16="http://schemas.microsoft.com/office/drawing/2014/main" id="{4C486DD0-E83D-76B8-FFAB-7DFBC00CF409}"/>
              </a:ext>
            </a:extLst>
          </p:cNvPr>
          <p:cNvSpPr txBox="1"/>
          <p:nvPr/>
        </p:nvSpPr>
        <p:spPr>
          <a:xfrm>
            <a:off x="7070880" y="3009465"/>
            <a:ext cx="3699218" cy="369332"/>
          </a:xfrm>
          <a:prstGeom prst="rect">
            <a:avLst/>
          </a:prstGeom>
          <a:noFill/>
        </p:spPr>
        <p:txBody>
          <a:bodyPr wrap="none" rtlCol="0">
            <a:spAutoFit/>
          </a:bodyPr>
          <a:lstStyle/>
          <a:p>
            <a:r>
              <a:rPr lang="en-US" dirty="0"/>
              <a:t>Abstractions for cellular automata</a:t>
            </a:r>
          </a:p>
        </p:txBody>
      </p:sp>
      <p:sp>
        <p:nvSpPr>
          <p:cNvPr id="28" name="TextBox 27">
            <a:extLst>
              <a:ext uri="{FF2B5EF4-FFF2-40B4-BE49-F238E27FC236}">
                <a16:creationId xmlns:a16="http://schemas.microsoft.com/office/drawing/2014/main" id="{4E10342D-AF4F-9D7A-596A-774C5A75EE80}"/>
              </a:ext>
            </a:extLst>
          </p:cNvPr>
          <p:cNvSpPr txBox="1"/>
          <p:nvPr/>
        </p:nvSpPr>
        <p:spPr>
          <a:xfrm>
            <a:off x="4138188" y="5617686"/>
            <a:ext cx="3915624" cy="369332"/>
          </a:xfrm>
          <a:prstGeom prst="rect">
            <a:avLst/>
          </a:prstGeom>
          <a:noFill/>
        </p:spPr>
        <p:txBody>
          <a:bodyPr wrap="none" rtlCol="0">
            <a:spAutoFit/>
          </a:bodyPr>
          <a:lstStyle/>
          <a:p>
            <a:r>
              <a:rPr lang="en-US" dirty="0"/>
              <a:t>LLM generation with user-suggestions</a:t>
            </a:r>
          </a:p>
        </p:txBody>
      </p:sp>
      <p:sp>
        <p:nvSpPr>
          <p:cNvPr id="30" name="TextBox 29">
            <a:extLst>
              <a:ext uri="{FF2B5EF4-FFF2-40B4-BE49-F238E27FC236}">
                <a16:creationId xmlns:a16="http://schemas.microsoft.com/office/drawing/2014/main" id="{4AD7395F-5DE8-A141-7F54-EB10905B989D}"/>
              </a:ext>
            </a:extLst>
          </p:cNvPr>
          <p:cNvSpPr txBox="1"/>
          <p:nvPr/>
        </p:nvSpPr>
        <p:spPr>
          <a:xfrm>
            <a:off x="3070460" y="4912935"/>
            <a:ext cx="6051080" cy="369332"/>
          </a:xfrm>
          <a:prstGeom prst="rect">
            <a:avLst/>
          </a:prstGeom>
          <a:noFill/>
        </p:spPr>
        <p:txBody>
          <a:bodyPr wrap="none" rtlCol="0">
            <a:spAutoFit/>
          </a:bodyPr>
          <a:lstStyle/>
          <a:p>
            <a:r>
              <a:rPr lang="en-US" dirty="0"/>
              <a:t>Effect of layout and traversal abstraction on LLM generation</a:t>
            </a:r>
          </a:p>
        </p:txBody>
      </p:sp>
      <p:sp>
        <p:nvSpPr>
          <p:cNvPr id="32" name="TextBox 31">
            <a:extLst>
              <a:ext uri="{FF2B5EF4-FFF2-40B4-BE49-F238E27FC236}">
                <a16:creationId xmlns:a16="http://schemas.microsoft.com/office/drawing/2014/main" id="{575DD392-3AAA-5F2A-363D-37ADF1B2AD3E}"/>
              </a:ext>
            </a:extLst>
          </p:cNvPr>
          <p:cNvSpPr txBox="1"/>
          <p:nvPr/>
        </p:nvSpPr>
        <p:spPr>
          <a:xfrm>
            <a:off x="1506735" y="1583926"/>
            <a:ext cx="3952877" cy="369332"/>
          </a:xfrm>
          <a:prstGeom prst="rect">
            <a:avLst/>
          </a:prstGeom>
          <a:noFill/>
        </p:spPr>
        <p:txBody>
          <a:bodyPr wrap="none" rtlCol="0">
            <a:spAutoFit/>
          </a:bodyPr>
          <a:lstStyle/>
          <a:p>
            <a:r>
              <a:rPr lang="en-US" dirty="0"/>
              <a:t>General-purpose scientific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6963863" y="937680"/>
            <a:ext cx="3913251" cy="369332"/>
          </a:xfrm>
          <a:prstGeom prst="rect">
            <a:avLst/>
          </a:prstGeom>
          <a:noFill/>
        </p:spPr>
        <p:txBody>
          <a:bodyPr wrap="none" rtlCol="0">
            <a:spAutoFit/>
          </a:bodyPr>
          <a:lstStyle/>
          <a:p>
            <a:r>
              <a:rPr lang="en-US" dirty="0"/>
              <a:t>Domain-specific scientific computing</a:t>
            </a:r>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8/28/2026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5953849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tretch>
            <a:fillRect/>
          </a:stretch>
        </p:blipFill>
        <p:spPr>
          <a:xfrm>
            <a:off x="108065" y="4043553"/>
            <a:ext cx="12192000" cy="2727753"/>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8/28/2026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202652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8/28/2026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9656531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8/28/2026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2135555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B380223-B8BC-B06B-26FD-BACB2406C5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C8BF10-D9E5-C2D2-C14B-AE08DE190880}"/>
              </a:ext>
            </a:extLst>
          </p:cNvPr>
          <p:cNvSpPr>
            <a:spLocks noGrp="1"/>
          </p:cNvSpPr>
          <p:nvPr>
            <p:ph type="title"/>
          </p:nvPr>
        </p:nvSpPr>
        <p:spPr/>
        <p:txBody>
          <a:bodyPr/>
          <a:lstStyle/>
          <a:p>
            <a:r>
              <a:rPr lang="en-US" noProof="0" dirty="0"/>
              <a:t>Tutoring LLMs</a:t>
            </a:r>
          </a:p>
        </p:txBody>
      </p:sp>
      <p:sp>
        <p:nvSpPr>
          <p:cNvPr id="3" name="Date Placeholder 2">
            <a:extLst>
              <a:ext uri="{FF2B5EF4-FFF2-40B4-BE49-F238E27FC236}">
                <a16:creationId xmlns:a16="http://schemas.microsoft.com/office/drawing/2014/main" id="{25501E3A-53FD-7F73-FE1F-BE3B46E4FEA1}"/>
              </a:ext>
            </a:extLst>
          </p:cNvPr>
          <p:cNvSpPr>
            <a:spLocks noGrp="1"/>
          </p:cNvSpPr>
          <p:nvPr>
            <p:ph type="dt" sz="half" idx="10"/>
          </p:nvPr>
        </p:nvSpPr>
        <p:spPr/>
        <p:txBody>
          <a:bodyPr/>
          <a:lstStyle/>
          <a:p>
            <a:fld id="{472E5813-EC9F-4C36-A7F2-49C469A5F96E}" type="datetime1">
              <a:rPr lang="en-US" smtClean="0"/>
              <a:t>8/28/2026</a:t>
            </a:fld>
            <a:endParaRPr lang="en-US"/>
          </a:p>
        </p:txBody>
      </p:sp>
      <p:sp>
        <p:nvSpPr>
          <p:cNvPr id="5" name="Slide Number Placeholder 4">
            <a:extLst>
              <a:ext uri="{FF2B5EF4-FFF2-40B4-BE49-F238E27FC236}">
                <a16:creationId xmlns:a16="http://schemas.microsoft.com/office/drawing/2014/main" id="{17A23FB0-51F7-DB78-6FB9-7A6B2F7D7FB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355507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ADF4BF-6586-65DA-E4AE-94974FA48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1904B-BA21-4C39-5543-AF0149EAA50F}"/>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5975214-AC4C-A49D-BC8B-C47C4F29430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17D3F221-1897-9F91-8106-4AB40FC8824B}"/>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A87F2CD0-D7DC-A89C-B50D-9C02F6A9A1C1}"/>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B9978723-63B3-F831-A469-C2EB38EA7A3A}"/>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54569B5D-4CD1-0C2E-6528-AC2EBC62DEFC}"/>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5C76D1C5-B831-26B6-969B-E02EC22ADBB3}"/>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9423DF13-4C59-855B-8C3C-DC8E41C53600}"/>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1E81745A-AC23-57C9-F2BB-457BC41EDBA8}"/>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4A5AC241-1B06-DE15-6134-6FE9A53F439A}"/>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22CFEFF4-674A-79BC-91E4-1633A8CE6825}"/>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E71FF61B-8A94-69A1-B479-73445DBDA620}"/>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7BE052C3-48BB-4223-A762-0A9228BFB21B}"/>
              </a:ext>
            </a:extLst>
          </p:cNvPr>
          <p:cNvSpPr>
            <a:spLocks noGrp="1"/>
          </p:cNvSpPr>
          <p:nvPr>
            <p:ph type="dt" sz="half" idx="10"/>
          </p:nvPr>
        </p:nvSpPr>
        <p:spPr/>
        <p:txBody>
          <a:bodyPr/>
          <a:lstStyle/>
          <a:p>
            <a:fld id="{6DAC1E11-C476-4762-AFFB-C3D6ECD7A44E}" type="datetime1">
              <a:rPr lang="en-US" smtClean="0"/>
              <a:t>8/28/2026</a:t>
            </a:fld>
            <a:endParaRPr lang="en-US"/>
          </a:p>
        </p:txBody>
      </p:sp>
      <p:sp>
        <p:nvSpPr>
          <p:cNvPr id="4" name="Slide Number Placeholder 3">
            <a:extLst>
              <a:ext uri="{FF2B5EF4-FFF2-40B4-BE49-F238E27FC236}">
                <a16:creationId xmlns:a16="http://schemas.microsoft.com/office/drawing/2014/main" id="{7A21066E-E7D3-494D-8439-A46941714C1C}"/>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4200850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8/28/2026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2946456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8/28/2026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34915964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8/28/2026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1294901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8/28/2026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38</a:t>
            </a:fld>
            <a:endParaRPr lang="en-US"/>
          </a:p>
        </p:txBody>
      </p:sp>
    </p:spTree>
    <p:extLst>
      <p:ext uri="{BB962C8B-B14F-4D97-AF65-F5344CB8AC3E}">
        <p14:creationId xmlns:p14="http://schemas.microsoft.com/office/powerpoint/2010/main" val="3329706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8/28/2026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39</a:t>
            </a:fld>
            <a:endParaRPr lang="en-US"/>
          </a:p>
        </p:txBody>
      </p:sp>
    </p:spTree>
    <p:extLst>
      <p:ext uri="{BB962C8B-B14F-4D97-AF65-F5344CB8AC3E}">
        <p14:creationId xmlns:p14="http://schemas.microsoft.com/office/powerpoint/2010/main" val="24478208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8/28/2026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40</a:t>
            </a:fld>
            <a:endParaRPr lang="en-US"/>
          </a:p>
        </p:txBody>
      </p:sp>
    </p:spTree>
    <p:extLst>
      <p:ext uri="{BB962C8B-B14F-4D97-AF65-F5344CB8AC3E}">
        <p14:creationId xmlns:p14="http://schemas.microsoft.com/office/powerpoint/2010/main" val="32268061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8/28/2026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41</a:t>
            </a:fld>
            <a:endParaRPr lang="en-US"/>
          </a:p>
        </p:txBody>
      </p:sp>
    </p:spTree>
    <p:extLst>
      <p:ext uri="{BB962C8B-B14F-4D97-AF65-F5344CB8AC3E}">
        <p14:creationId xmlns:p14="http://schemas.microsoft.com/office/powerpoint/2010/main" val="10726623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8/28/2026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42</a:t>
            </a:fld>
            <a:endParaRPr lang="en-US"/>
          </a:p>
        </p:txBody>
      </p:sp>
    </p:spTree>
    <p:extLst>
      <p:ext uri="{BB962C8B-B14F-4D97-AF65-F5344CB8AC3E}">
        <p14:creationId xmlns:p14="http://schemas.microsoft.com/office/powerpoint/2010/main" val="3229808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8/28/2026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43</a:t>
            </a:fld>
            <a:endParaRPr lang="en-US"/>
          </a:p>
        </p:txBody>
      </p:sp>
    </p:spTree>
    <p:extLst>
      <p:ext uri="{BB962C8B-B14F-4D97-AF65-F5344CB8AC3E}">
        <p14:creationId xmlns:p14="http://schemas.microsoft.com/office/powerpoint/2010/main" val="20435546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8/28/2026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44</a:t>
            </a:fld>
            <a:endParaRPr lang="en-US"/>
          </a:p>
        </p:txBody>
      </p:sp>
    </p:spTree>
    <p:extLst>
      <p:ext uri="{BB962C8B-B14F-4D97-AF65-F5344CB8AC3E}">
        <p14:creationId xmlns:p14="http://schemas.microsoft.com/office/powerpoint/2010/main" val="218768858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8/28/2026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45</a:t>
            </a:fld>
            <a:endParaRPr lang="en-US"/>
          </a:p>
        </p:txBody>
      </p:sp>
    </p:spTree>
    <p:extLst>
      <p:ext uri="{BB962C8B-B14F-4D97-AF65-F5344CB8AC3E}">
        <p14:creationId xmlns:p14="http://schemas.microsoft.com/office/powerpoint/2010/main" val="37678986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8/28/2026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46</a:t>
            </a:fld>
            <a:endParaRPr lang="en-US"/>
          </a:p>
        </p:txBody>
      </p:sp>
    </p:spTree>
    <p:extLst>
      <p:ext uri="{BB962C8B-B14F-4D97-AF65-F5344CB8AC3E}">
        <p14:creationId xmlns:p14="http://schemas.microsoft.com/office/powerpoint/2010/main" val="5515698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8/28/2026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47</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3404</TotalTime>
  <Words>7807</Words>
  <Application>Microsoft Office PowerPoint</Application>
  <PresentationFormat>Widescreen</PresentationFormat>
  <Paragraphs>886</Paragraphs>
  <Slides>47</Slides>
  <Notes>37</Notes>
  <HiddenSlides>17</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PowerPoint Presentation</vt:lpstr>
      <vt:lpstr>PowerPoint Presentation</vt:lpstr>
      <vt:lpstr>PowerPoint Presentation</vt:lpstr>
      <vt:lpstr>PowerPoint Presentation</vt:lpstr>
      <vt:lpstr>PowerPoint Presentation</vt:lpstr>
      <vt:lpstr>Results</vt:lpstr>
      <vt:lpstr>Results</vt:lpstr>
      <vt:lpstr>Distributed initialization</vt:lpstr>
      <vt:lpstr>PowerPoint Presentation</vt:lpstr>
      <vt:lpstr>Results</vt:lpstr>
      <vt:lpstr>PowerPoint Presentation</vt:lpstr>
      <vt:lpstr>PowerPoint Presentation</vt:lpstr>
      <vt:lpstr>Results</vt:lpstr>
      <vt:lpstr>Abstractions summary</vt:lpstr>
      <vt:lpstr>Motivation</vt:lpstr>
      <vt:lpstr>Tutoring LLMs for CUDA</vt:lpstr>
      <vt:lpstr>Tutoring LLMs for CUDA</vt:lpstr>
      <vt:lpstr>Tutoring LLMs for CUDA – submission</vt:lpstr>
      <vt:lpstr>Tutoring LLMs for CUDA – at conference</vt:lpstr>
      <vt:lpstr>LLMs and Abstractions</vt:lpstr>
      <vt:lpstr>LLMs and Abstractions</vt:lpstr>
      <vt:lpstr>PowerPoint Presentation</vt:lpstr>
      <vt:lpstr>LLM-directed optimization summary</vt:lpstr>
      <vt:lpstr>Contribution map</vt:lpstr>
      <vt:lpstr>PowerPoint Presentation</vt:lpstr>
      <vt:lpstr>PowerPoint Presentation</vt:lpstr>
      <vt:lpstr>LLMs and abstractions</vt:lpstr>
      <vt:lpstr>LLMs and abstractions</vt:lpstr>
      <vt:lpstr>Tutoring LLMs</vt:lpstr>
      <vt:lpstr>Contribution map</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116</cp:revision>
  <dcterms:created xsi:type="dcterms:W3CDTF">2026-08-08T18:10:38Z</dcterms:created>
  <dcterms:modified xsi:type="dcterms:W3CDTF">2026-08-28T10:30:51Z</dcterms:modified>
</cp:coreProperties>
</file>