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1"/>
  </p:notesMasterIdLst>
  <p:sldIdLst>
    <p:sldId id="256" r:id="rId2"/>
    <p:sldId id="293" r:id="rId3"/>
    <p:sldId id="277" r:id="rId4"/>
    <p:sldId id="296" r:id="rId5"/>
    <p:sldId id="297" r:id="rId6"/>
    <p:sldId id="298" r:id="rId7"/>
    <p:sldId id="283" r:id="rId8"/>
    <p:sldId id="284" r:id="rId9"/>
    <p:sldId id="285" r:id="rId10"/>
    <p:sldId id="278" r:id="rId11"/>
    <p:sldId id="300" r:id="rId12"/>
    <p:sldId id="286" r:id="rId13"/>
    <p:sldId id="290" r:id="rId14"/>
    <p:sldId id="279" r:id="rId15"/>
    <p:sldId id="287" r:id="rId16"/>
    <p:sldId id="302" r:id="rId17"/>
    <p:sldId id="280" r:id="rId18"/>
    <p:sldId id="295" r:id="rId19"/>
    <p:sldId id="288" r:id="rId20"/>
    <p:sldId id="291" r:id="rId21"/>
    <p:sldId id="276" r:id="rId22"/>
    <p:sldId id="292" r:id="rId23"/>
    <p:sldId id="266" r:id="rId24"/>
    <p:sldId id="262" r:id="rId25"/>
    <p:sldId id="299" r:id="rId26"/>
    <p:sldId id="303" r:id="rId27"/>
    <p:sldId id="301" r:id="rId28"/>
    <p:sldId id="268" r:id="rId29"/>
    <p:sldId id="269" r:id="rId30"/>
    <p:sldId id="270" r:id="rId31"/>
    <p:sldId id="281" r:id="rId32"/>
    <p:sldId id="282" r:id="rId33"/>
    <p:sldId id="263" r:id="rId34"/>
    <p:sldId id="271" r:id="rId35"/>
    <p:sldId id="294" r:id="rId36"/>
    <p:sldId id="272" r:id="rId37"/>
    <p:sldId id="273" r:id="rId38"/>
    <p:sldId id="274" r:id="rId39"/>
    <p:sldId id="261"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293"/>
            <p14:sldId id="277"/>
          </p14:sldIdLst>
        </p14:section>
        <p14:section name="algorithms" id="{7894E90A-E282-4867-82A4-369CDB973E4E}">
          <p14:sldIdLst>
            <p14:sldId id="296"/>
            <p14:sldId id="297"/>
            <p14:sldId id="298"/>
            <p14:sldId id="283"/>
            <p14:sldId id="284"/>
            <p14:sldId id="285"/>
            <p14:sldId id="278"/>
            <p14:sldId id="300"/>
            <p14:sldId id="286"/>
            <p14:sldId id="290"/>
            <p14:sldId id="279"/>
            <p14:sldId id="287"/>
            <p14:sldId id="302"/>
            <p14:sldId id="280"/>
          </p14:sldIdLst>
        </p14:section>
        <p14:section name="llms" id="{2FE3CF17-CBFB-48E9-A3BF-DD99B7D2F01E}">
          <p14:sldIdLst>
            <p14:sldId id="295"/>
            <p14:sldId id="288"/>
            <p14:sldId id="291"/>
            <p14:sldId id="276"/>
            <p14:sldId id="292"/>
          </p14:sldIdLst>
        </p14:section>
        <p14:section name="summary" id="{D3BAAF83-51D3-4EFD-B7CC-7BA6DAC4A838}">
          <p14:sldIdLst>
            <p14:sldId id="266"/>
          </p14:sldIdLst>
        </p14:section>
        <p14:section name="Reviewers' comments" id="{40190F67-0659-405D-810E-4AC194B72FA5}">
          <p14:sldIdLst>
            <p14:sldId id="262"/>
          </p14:sldIdLst>
        </p14:section>
        <p14:section name="supplementary" id="{5D95F6E9-DF15-476C-BE69-BBEF48AA8B86}">
          <p14:sldIdLst>
            <p14:sldId id="299"/>
          </p14:sldIdLst>
        </p14:section>
        <p14:section name="trash" id="{9E73F699-6D69-4F72-99C9-E6CBFA9D1A36}">
          <p14:sldIdLst>
            <p14:sldId id="303"/>
            <p14:sldId id="301"/>
            <p14:sldId id="268"/>
            <p14:sldId id="269"/>
            <p14:sldId id="270"/>
            <p14:sldId id="281"/>
            <p14:sldId id="282"/>
            <p14:sldId id="263"/>
            <p14:sldId id="271"/>
            <p14:sldId id="294"/>
            <p14:sldId id="272"/>
            <p14:sldId id="273"/>
            <p14:sldId id="274"/>
            <p14:sldId id="26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showOutlineIcons="0">
    <p:restoredLeft sz="34582" autoAdjust="0"/>
    <p:restoredTop sz="86425" autoAdjust="0"/>
  </p:normalViewPr>
  <p:slideViewPr>
    <p:cSldViewPr snapToGrid="0">
      <p:cViewPr varScale="1">
        <p:scale>
          <a:sx n="137" d="100"/>
          <a:sy n="137" d="100"/>
        </p:scale>
        <p:origin x="888" y="12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8/27/2026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very boring, completely off-topic and uninformative start)</a:t>
            </a:r>
            <a:br>
              <a:rPr lang="en-US" dirty="0"/>
            </a:br>
            <a:br>
              <a:rPr lang="en-US" dirty="0"/>
            </a:br>
            <a:r>
              <a:rPr lang="en-US" dirty="0"/>
              <a:t>Our research is in the area of High-Performance Computing (HPC), focusing on exploring and implementing methods for easier and faster development of efficient scientific algorithms.</a:t>
            </a:r>
          </a:p>
          <a:p>
            <a:endParaRPr lang="en-US" dirty="0"/>
          </a:p>
          <a:p>
            <a:r>
              <a:rPr lang="en-US" dirty="0"/>
              <a:t>One of the core problems when optimizing such algorithms for a particular computing system is that their complexity increases with every specific design decision made.</a:t>
            </a:r>
          </a:p>
          <a:p>
            <a:r>
              <a:rPr lang="en-US" dirty="0"/>
              <a:t>These design decisions range from choosing specific algorithm to smaller decisions such as how data structures such as matrices are stored in memory or in what order a computation is performed.</a:t>
            </a:r>
          </a:p>
          <a:p>
            <a:endParaRPr lang="en-US" dirty="0"/>
          </a:p>
          <a:p>
            <a:r>
              <a:rPr lang="en-US" dirty="0"/>
              <a:t>Even simple data structures such as matrices can be stored in many different ways:</a:t>
            </a:r>
          </a:p>
          <a:p>
            <a:pPr marL="171450" indent="-171450">
              <a:buFontTx/>
              <a:buChar char="-"/>
            </a:pPr>
            <a:r>
              <a:rPr lang="en-US" dirty="0"/>
              <a:t>row-major</a:t>
            </a:r>
          </a:p>
          <a:p>
            <a:pPr marL="171450" indent="-171450">
              <a:buFontTx/>
              <a:buChar char="-"/>
            </a:pPr>
            <a:r>
              <a:rPr lang="en-US" dirty="0"/>
              <a:t>Column-major</a:t>
            </a:r>
          </a:p>
          <a:p>
            <a:pPr marL="171450" indent="-171450">
              <a:buFontTx/>
              <a:buChar char="-"/>
            </a:pPr>
            <a:r>
              <a:rPr lang="en-US" dirty="0"/>
              <a:t>(tiled) variants</a:t>
            </a:r>
          </a:p>
          <a:p>
            <a:pPr marL="171450" indent="-171450">
              <a:buFontTx/>
              <a:buChar char="-"/>
            </a:pPr>
            <a:endParaRPr lang="en-US" dirty="0"/>
          </a:p>
          <a:p>
            <a:pPr marL="0" indent="0">
              <a:buFontTx/>
              <a:buNone/>
            </a:pPr>
            <a:r>
              <a:rPr lang="en-US" dirty="0"/>
              <a:t>It is important to choose the right *memory layout* to achieve the best possible performance (due to various hardware-specific effects such as caching or performance of memory operations); but the right choice is usually not obvious, and it often differs between different hardware architectures.</a:t>
            </a:r>
          </a:p>
          <a:p>
            <a:pPr marL="0" indent="0">
              <a:buFontTx/>
              <a:buNone/>
            </a:pPr>
            <a:endParaRPr lang="en-US" dirty="0"/>
          </a:p>
          <a:p>
            <a:pPr marL="0" indent="0">
              <a:buFontTx/>
              <a:buNone/>
            </a:pPr>
            <a:r>
              <a:rPr lang="en-US" dirty="0"/>
              <a:t>Furthermore, if these choices are hard-coded in the algorithm, the algorithm becomes unreadable and more difficult to port to other hardware.</a:t>
            </a:r>
          </a:p>
        </p:txBody>
      </p:sp>
      <p:sp>
        <p:nvSpPr>
          <p:cNvPr id="4" name="Slide Number Placeholder 3"/>
          <p:cNvSpPr>
            <a:spLocks noGrp="1"/>
          </p:cNvSpPr>
          <p:nvPr>
            <p:ph type="sldNum" sz="quarter" idx="5"/>
          </p:nvPr>
        </p:nvSpPr>
        <p:spPr/>
        <p:txBody>
          <a:bodyPr/>
          <a:lstStyle/>
          <a:p>
            <a:fld id="{FA8FD632-245B-410D-BCC4-8BF8D37AB67F}" type="slidenum">
              <a:rPr lang="en-US" smtClean="0"/>
              <a:t>2</a:t>
            </a:fld>
            <a:endParaRPr lang="en-US"/>
          </a:p>
        </p:txBody>
      </p:sp>
    </p:spTree>
    <p:extLst>
      <p:ext uri="{BB962C8B-B14F-4D97-AF65-F5344CB8AC3E}">
        <p14:creationId xmlns:p14="http://schemas.microsoft.com/office/powerpoint/2010/main" val="37235867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let’s look at a simple example of initializing a single matrix elements to values that might depend on their indices.</a:t>
            </a:r>
          </a:p>
          <a:p>
            <a:endParaRPr lang="en-US" dirty="0"/>
          </a:p>
          <a:p>
            <a:r>
              <a:rPr lang="en-US" dirty="0"/>
              <a:t>For a typical *m-by-n matrix*, this is commonly expressed as an assignment nested in a two-dimensional loop nest; in this particular example, the indices are iteratively generated for the elements row by row.</a:t>
            </a:r>
          </a:p>
          <a:p>
            <a:br>
              <a:rPr lang="en-US" dirty="0"/>
            </a:br>
            <a:r>
              <a:rPr lang="en-US" dirty="0"/>
              <a:t>(? cool animation)</a:t>
            </a:r>
            <a:br>
              <a:rPr lang="en-US" dirty="0"/>
            </a:br>
            <a:r>
              <a:rPr lang="en-US" dirty="0"/>
              <a:t>Notice that for the *row-major matrix layout* on the left, the algorithm tends to access elements that are close together, whereas in the other, *column-major layout*, the successive accesses are spread out further.</a:t>
            </a:r>
            <a:br>
              <a:rPr lang="en-US" dirty="0"/>
            </a:br>
            <a:r>
              <a:rPr lang="en-US" dirty="0"/>
              <a:t>This has effect on hardware mechanisms such as caching that makes accesses to close-by elements faster.</a:t>
            </a:r>
          </a:p>
          <a:p>
            <a:endParaRPr lang="en-US" dirty="0"/>
          </a:p>
          <a:p>
            <a:r>
              <a:rPr lang="en-US" dirty="0"/>
              <a:t>In real-use algorithms, the situation may be further complicated by factors such as algorithms having more elaborate traversal patterns and accessing multiple data structures at once.</a:t>
            </a:r>
          </a:p>
          <a:p>
            <a:br>
              <a:rPr lang="en-US" dirty="0"/>
            </a:br>
            <a:br>
              <a:rPr lang="en-US" dirty="0"/>
            </a:br>
            <a:r>
              <a:rPr lang="en-US" dirty="0"/>
              <a:t>(ass bridge: we have started our research by finding abstractions to making this simpler to design and easier to experiment with) (?autotuning)</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The start of our research focused on enabling the design of *layout-agnostic* algorithms; algorithms that do not rely on specific memory layouts of the data structures.</a:t>
            </a:r>
            <a:br>
              <a:rPr lang="en-US" dirty="0"/>
            </a:br>
            <a:r>
              <a:rPr lang="en-US" dirty="0"/>
              <a:t>One example of a sufficiently layout-agnostic algorithm is the earlier shown matrix initialization algorithm, which works for any matrix that exposes a</a:t>
            </a:r>
            <a:br>
              <a:rPr lang="en-US" dirty="0"/>
            </a:br>
            <a:r>
              <a:rPr lang="en-US" dirty="0"/>
              <a:t>two-dimensional *logical structure* of the appropriate dimensions regardless of the specific physical *memory layout*.</a:t>
            </a:r>
          </a:p>
          <a:p>
            <a:endParaRPr lang="en-US" dirty="0"/>
          </a:p>
          <a:p>
            <a:r>
              <a:rPr lang="en-US" dirty="0"/>
              <a:t>Note that the logical structure defines the semantics of the layout abstraction, while the physical memory layout is often not functionally relevant in the context of the algorithm.</a:t>
            </a:r>
          </a:p>
          <a:p>
            <a:endParaRPr lang="en-US" dirty="0"/>
          </a:p>
          <a:p>
            <a:r>
              <a:rPr lang="en-US" dirty="0"/>
              <a:t>We call a *layout abstraction* a mapping between these two concepts. It defines the indexation of a data structure and internally specifies how the elements</a:t>
            </a:r>
            <a:br>
              <a:rPr lang="en-US" dirty="0"/>
            </a:br>
            <a:r>
              <a:rPr lang="en-US" dirty="0"/>
              <a:t>are stored in memory (offsets in memory).</a:t>
            </a:r>
          </a:p>
          <a:p>
            <a:endParaRPr lang="en-US" dirty="0"/>
          </a:p>
          <a:p>
            <a:r>
              <a:rPr lang="en-US" dirty="0"/>
              <a:t>During our research, layout abstractions with similar goals were developed for the C++ standard (std::</a:t>
            </a:r>
            <a:r>
              <a:rPr lang="en-US" dirty="0" err="1"/>
              <a:t>mdspan</a:t>
            </a:r>
            <a:r>
              <a:rPr lang="en-US" dirty="0"/>
              <a:t>) and GPU algorithm development (</a:t>
            </a:r>
            <a:r>
              <a:rPr lang="en-US" dirty="0" err="1"/>
              <a:t>CUTe</a:t>
            </a:r>
            <a:r>
              <a:rPr lang="en-US" dirty="0"/>
              <a:t> layouts),</a:t>
            </a:r>
            <a:br>
              <a:rPr lang="en-US" dirty="0"/>
            </a:br>
            <a:r>
              <a:rPr lang="en-US" dirty="0"/>
              <a:t>showing the practical relevance of this research.</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r>
              <a:rPr lang="en-US" dirty="0"/>
              <a:t>Our approach is based on specifying the layouts via composable *building blocks* (such as “scalar” that names a single value or “vector” that extends a given layout with one named dimension).</a:t>
            </a:r>
          </a:p>
          <a:p>
            <a:endParaRPr lang="en-US" dirty="0"/>
          </a:p>
          <a:p>
            <a:r>
              <a:rPr lang="en-US" dirty="0"/>
              <a:t>By iteratively composing these building blocks, we can define derived data structures of arbitrary complexity.</a:t>
            </a:r>
          </a:p>
          <a:p>
            <a:endParaRPr lang="en-US" dirty="0"/>
          </a:p>
          <a:p>
            <a:r>
              <a:rPr lang="en-US" dirty="0"/>
              <a:t>In our approach, all dimensions are named, and they specify the semantic logical structure of the layout, providing a predictable API;</a:t>
            </a:r>
            <a:br>
              <a:rPr lang="en-US" dirty="0"/>
            </a:br>
            <a:r>
              <a:rPr lang="en-US" dirty="0"/>
              <a:t>a data structure with dimensions ‘m’ and ‘n’ can be indexed with an index point with the appropriate dimensions.</a:t>
            </a:r>
          </a:p>
          <a:p>
            <a:endParaRPr lang="en-US" dirty="0"/>
          </a:p>
          <a:p>
            <a:r>
              <a:rPr lang="en-US" dirty="0"/>
              <a:t>In this case, the encoded dimension names ensure that the indices will be paired with the dimensions of the structure correctly.</a:t>
            </a:r>
          </a:p>
          <a:p>
            <a:endParaRPr lang="en-US" dirty="0"/>
          </a:p>
          <a:p>
            <a:endParaRPr lang="en-US" dirty="0"/>
          </a:p>
          <a:p>
            <a:r>
              <a:rPr lang="en-US" dirty="0"/>
              <a:t>And if we want to encode a static constant with a compile-time value, it is as simple as replacing a numeric parameter with a special literal value, with no other modifications.</a:t>
            </a:r>
            <a:br>
              <a:rPr lang="en-US" dirty="0"/>
            </a:br>
            <a:r>
              <a:rPr lang="en-US" dirty="0"/>
              <a:t>This makes the value be directly propagated as a compiler constant instead of being stored in the object representing the layout;</a:t>
            </a:r>
            <a:br>
              <a:rPr lang="en-US" dirty="0"/>
            </a:br>
            <a:r>
              <a:rPr lang="en-US" dirty="0"/>
              <a:t>this might also enable more aggressive compiler optimizations. (</a:t>
            </a:r>
            <a:r>
              <a:rPr lang="en-US" dirty="0" err="1"/>
              <a:t>na</a:t>
            </a:r>
            <a:r>
              <a:rPr lang="en-US" dirty="0"/>
              <a:t> to </a:t>
            </a:r>
            <a:r>
              <a:rPr lang="en-US" dirty="0" err="1"/>
              <a:t>mame</a:t>
            </a:r>
            <a:r>
              <a:rPr lang="en-US" dirty="0"/>
              <a:t> </a:t>
            </a:r>
            <a:r>
              <a:rPr lang="en-US" dirty="0" err="1"/>
              <a:t>grafy</a:t>
            </a:r>
            <a:r>
              <a:rPr lang="en-US" dirty="0"/>
              <a:t> od </a:t>
            </a:r>
            <a:r>
              <a:rPr lang="en-US" dirty="0" err="1"/>
              <a:t>adama</a:t>
            </a:r>
            <a:r>
              <a:rPr lang="en-US" dirty="0"/>
              <a:t>)</a:t>
            </a:r>
          </a:p>
          <a:p>
            <a:endParaRPr lang="en-US" dirty="0"/>
          </a:p>
          <a:p>
            <a:r>
              <a:rPr lang="en-US" dirty="0"/>
              <a:t>---</a:t>
            </a:r>
          </a:p>
          <a:p>
            <a:endParaRPr lang="en-US" dirty="0"/>
          </a:p>
          <a:p>
            <a:r>
              <a:rPr lang="en-US" dirty="0"/>
              <a:t>An important quality of our approach is that the memory layouts are a separate concept from data structures.</a:t>
            </a:r>
            <a:br>
              <a:rPr lang="en-US" dirty="0"/>
            </a:br>
            <a:br>
              <a:rPr lang="en-US" dirty="0"/>
            </a:br>
            <a:r>
              <a:rPr lang="en-US" dirty="0"/>
              <a:t>A data structure can be constructed from a given layout using a simple “bag” constructor. In its simplest use, the constructor creates a data structure that automatically manages an appropriate</a:t>
            </a:r>
            <a:br>
              <a:rPr lang="en-US" dirty="0"/>
            </a:br>
            <a:r>
              <a:rPr lang="en-US" dirty="0"/>
              <a:t>memory buffer.</a:t>
            </a:r>
            <a:br>
              <a:rPr lang="en-US" dirty="0"/>
            </a:br>
            <a:br>
              <a:rPr lang="en-US" dirty="0"/>
            </a:br>
            <a:r>
              <a:rPr lang="en-US" dirty="0"/>
              <a:t>If, instead, we require the memory buffer to reside in a specific memory region or point to an already existing structure, we can supply it ourselves; the constructor then creates a view to the pointed data.</a:t>
            </a:r>
          </a:p>
          <a:p>
            <a:r>
              <a:rPr lang="en-US" dirty="0"/>
              <a:t>Here, for example, we requested the byte-wise size of the layout to allocate it ourselves in GPU device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cool things that can help explain some MPI stuff etc. later on; but they are cool on their own too)</a:t>
            </a:r>
          </a:p>
          <a:p>
            <a:endParaRPr lang="en-US" dirty="0"/>
          </a:p>
          <a:p>
            <a:r>
              <a:rPr lang="en-US" dirty="0"/>
              <a:t>The design of the layout abstractions allows us to easily compose simple transformations into more complicated ones and then apply them to some base structure. This is possible due to the full associativity of the composition.</a:t>
            </a:r>
          </a:p>
          <a:p>
            <a:endParaRPr lang="en-US" dirty="0"/>
          </a:p>
          <a:p>
            <a:r>
              <a:rPr lang="en-US" dirty="0"/>
              <a:t>We can also leave out specific sizes of the transformations and thus define abstract layouts that can be later instantiated with specific sizes.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40130703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introducing abstraction for traversal-agnostic algorithms – traversers)</a:t>
            </a:r>
            <a:br>
              <a:rPr lang="en-US" dirty="0"/>
            </a:br>
            <a:br>
              <a:rPr lang="en-US" dirty="0"/>
            </a:br>
            <a:r>
              <a:rPr lang="en-US" dirty="0"/>
              <a:t>After carefully assessing how the principles play into defining layout-agnostic algorithms, we have extended the approach for traversals as well; thus enabling traversal-agnostic design as well.</a:t>
            </a:r>
          </a:p>
          <a:p>
            <a:endParaRPr lang="en-US" dirty="0"/>
          </a:p>
          <a:p>
            <a:r>
              <a:rPr lang="en-US" dirty="0"/>
              <a:t>For that, we have devised a traverser abstraction. An adaptation of an idea of an iterator for multi-dimensional layouts and traversals.</a:t>
            </a:r>
          </a:p>
          <a:p>
            <a:endParaRPr lang="en-US" dirty="0"/>
          </a:p>
          <a:p>
            <a:r>
              <a:rPr lang="en-US" dirty="0"/>
              <a:t>For a single structure, the traverser offers the functionality of the for-each algorithm – we can thus write the earlier shown initialization algorithm without having to consider the</a:t>
            </a:r>
            <a:br>
              <a:rPr lang="en-US" dirty="0"/>
            </a:br>
            <a:r>
              <a:rPr lang="en-US" dirty="0"/>
              <a:t>dimensions of the structure. The dimensions are traversed automatically, and the traverser automatically generates index points that we can use in a lambda expression specifying the element-specific action.</a:t>
            </a:r>
            <a:br>
              <a:rPr lang="en-US" dirty="0"/>
            </a:br>
            <a:br>
              <a:rPr lang="en-US" dirty="0"/>
            </a:br>
            <a:r>
              <a:rPr lang="en-US" dirty="0"/>
              <a:t>If two structures share the same space, the traverser constructed from them can be used to simply copy the data from one structure to the other. It automatically recognizes that their index spaces fully overlap</a:t>
            </a:r>
            <a:br>
              <a:rPr lang="en-US" dirty="0"/>
            </a:br>
            <a:r>
              <a:rPr lang="en-US" dirty="0"/>
              <a:t>And we simply define a copy action that is to be performed on each pair of elements. If the two structures have different physical memory layouts, this effectively transposes the data.</a:t>
            </a:r>
          </a:p>
          <a:p>
            <a:endParaRPr lang="en-US" dirty="0"/>
          </a:p>
          <a:p>
            <a:endParaRPr lang="en-US" dirty="0"/>
          </a:p>
          <a:p>
            <a:r>
              <a:rPr lang="en-US" dirty="0"/>
              <a:t>If the traversed structures have (partially) independent index spaces, the traverser infers the shared space as the Cartesian product of the unique dimensions of all the structures.</a:t>
            </a:r>
          </a:p>
          <a:p>
            <a:r>
              <a:rPr lang="en-US" dirty="0"/>
              <a:t>This allows us to easily define, for example, the matrix multiplication algorithm. The only requirement of this algorithm is that the data structures have appropriately named dimensions.</a:t>
            </a:r>
          </a:p>
        </p:txBody>
      </p:sp>
      <p:sp>
        <p:nvSpPr>
          <p:cNvPr id="4" name="Slide Number Placeholder 3"/>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optimizing the traversal)</a:t>
            </a:r>
          </a:p>
          <a:p>
            <a:endParaRPr lang="en-US" dirty="0"/>
          </a:p>
          <a:p>
            <a:r>
              <a:rPr lang="en-US" dirty="0"/>
              <a:t>By itself, this would be nice, but we can do much more.</a:t>
            </a:r>
            <a:br>
              <a:rPr lang="en-US" dirty="0"/>
            </a:br>
            <a:endParaRPr lang="en-US" dirty="0"/>
          </a:p>
          <a:p>
            <a:r>
              <a:rPr lang="en-US" dirty="0"/>
              <a:t>We can use the same principles for building memory layouts to specify transformations of the traversal orders as well.</a:t>
            </a:r>
          </a:p>
          <a:p>
            <a:r>
              <a:rPr lang="en-US" dirty="0"/>
              <a:t>Let’s say we want to perform the matrix multiplication by tiles of the output; we can do so by defining the transformation and then applying it to the traverser.</a:t>
            </a:r>
            <a:br>
              <a:rPr lang="en-US" dirty="0"/>
            </a:br>
            <a:r>
              <a:rPr lang="en-US" dirty="0"/>
              <a:t>We do not need to rewrite the computation logic or change the structures to do that.</a:t>
            </a:r>
          </a:p>
          <a:p>
            <a:endParaRPr lang="en-US" dirty="0"/>
          </a:p>
          <a:p>
            <a:endParaRPr lang="en-US" dirty="0"/>
          </a:p>
          <a:p>
            <a:r>
              <a:rPr lang="en-US" dirty="0"/>
              <a:t>We can also use the traversers as ranges to be parallelized using various parallel backends such as OpenMP or Threading Building Blocks.</a:t>
            </a:r>
          </a:p>
          <a:p>
            <a:endParaRPr lang="en-US" dirty="0"/>
          </a:p>
          <a:p>
            <a:r>
              <a:rPr lang="en-US" dirty="0"/>
              <a:t>For the CUDA framework (used for general-purpose GPU programming), we have shown that the principles pair well with  binding different threads and blocks to the dimensions of the computation</a:t>
            </a:r>
            <a:br>
              <a:rPr lang="en-US" dirty="0"/>
            </a:br>
            <a:r>
              <a:rPr lang="en-US" dirty="0"/>
              <a:t>and privatizing the data in the GPU shared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these two stages have provided the groundwork for enabling seamless and automatable code optimization in C++ that is fully transparent and directable by the user.</a:t>
            </a:r>
          </a:p>
          <a:p>
            <a:endParaRPr lang="en-US" dirty="0"/>
          </a:p>
          <a:p>
            <a:r>
              <a:rPr lang="en-US" dirty="0"/>
              <a:t>We have finalized this effort by implementing an autotuning interface that allows for specifying the tuned parameters in the same code as the algorithm.</a:t>
            </a:r>
          </a:p>
          <a:p>
            <a:r>
              <a:rPr lang="en-US" dirty="0"/>
              <a:t>This interface was designed to pair well with the abstractions.</a:t>
            </a:r>
          </a:p>
          <a:p>
            <a:endParaRPr lang="en-US" dirty="0"/>
          </a:p>
          <a:p>
            <a:r>
              <a:rPr lang="en-US" dirty="0"/>
              <a:t>(Oh god I don’t know how to continue </a:t>
            </a:r>
            <a:r>
              <a:rPr lang="en-US" dirty="0" err="1"/>
              <a:t>rn</a:t>
            </a: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a:t>
            </a:r>
            <a:r>
              <a:rPr lang="en-US" dirty="0" err="1"/>
              <a:t>PolyBench</a:t>
            </a:r>
            <a:r>
              <a:rPr lang="en-US" dirty="0"/>
              <a:t>/C suite, reimplementing each algorithm using </a:t>
            </a:r>
            <a:r>
              <a:rPr lang="en-US" dirty="0" err="1"/>
              <a:t>Noarr</a:t>
            </a:r>
            <a:r>
              <a:rPr lang="en-US" dirty="0"/>
              <a:t> to confirm they do not pose any runtime overhead.</a:t>
            </a:r>
          </a:p>
          <a:p>
            <a:endParaRPr lang="en-US" dirty="0"/>
          </a:p>
          <a:p>
            <a:r>
              <a:rPr lang="en-US" dirty="0"/>
              <a:t>The plot shows speedups of the </a:t>
            </a:r>
            <a:r>
              <a:rPr lang="en-US" dirty="0" err="1"/>
              <a:t>Noarr</a:t>
            </a:r>
            <a:r>
              <a:rPr lang="en-US" dirty="0"/>
              <a:t> </a:t>
            </a:r>
            <a:r>
              <a:rPr lang="en-US" dirty="0" err="1"/>
              <a:t>reimplementations</a:t>
            </a:r>
            <a:r>
              <a:rPr lang="en-US" dirty="0"/>
              <a:t> compared to the C baselines, most implementations perform exactly the same, showing no runtime overhead;</a:t>
            </a:r>
            <a:br>
              <a:rPr lang="en-US" dirty="0"/>
            </a:br>
            <a:r>
              <a:rPr lang="en-US" dirty="0"/>
              <a:t>there are few minor outliers introduced by differences in compiler optimizations.</a:t>
            </a:r>
          </a:p>
          <a:p>
            <a:endParaRPr lang="en-US" dirty="0"/>
          </a:p>
          <a:p>
            <a:endParaRPr lang="en-US" dirty="0"/>
          </a:p>
          <a:p>
            <a:r>
              <a:rPr lang="en-US" dirty="0"/>
              <a:t>For parallelization, we have reimplemented OpenMP/TBB parallel modifications of some algorithms as well as </a:t>
            </a:r>
            <a:r>
              <a:rPr lang="en-US" dirty="0" err="1"/>
              <a:t>PolyBench</a:t>
            </a:r>
            <a:r>
              <a:rPr lang="en-US" dirty="0"/>
              <a:t>/GPU suite.</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The programming complexity in practical algorithms is kept low enough;</a:t>
            </a:r>
            <a:br>
              <a:rPr lang="en-US" dirty="0"/>
            </a:br>
            <a:r>
              <a:rPr lang="en-US" dirty="0"/>
              <a:t>the code is more verbose, as the abstraction encodes more information overall (such as names of dimensions), but contains slightly less complex control flow, and significantly simpler indexation.</a:t>
            </a:r>
          </a:p>
          <a:p>
            <a:endParaRPr lang="en-US" dirty="0"/>
          </a:p>
          <a:p>
            <a:r>
              <a:rPr lang="en-US" dirty="0"/>
              <a:t>On top of these metrics, the resulting code is more flexible in changing different layouts or traversals,</a:t>
            </a:r>
            <a:br>
              <a:rPr lang="en-US" dirty="0"/>
            </a:br>
            <a:r>
              <a:rPr lang="en-US" dirty="0"/>
              <a:t>and the approach improves type safety of the expressions by checking correctly paired dimensions.</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using MPI; initializing each tile of the data on a separate compute node</a:t>
            </a:r>
            <a:br>
              <a:rPr lang="en-US" dirty="0"/>
            </a:br>
            <a:r>
              <a:rPr lang="en-US" dirty="0"/>
              <a:t>and then gathering the tiles into fully initialized data.</a:t>
            </a:r>
          </a:p>
          <a:p>
            <a:endParaRPr lang="en-US" dirty="0"/>
          </a:p>
          <a:p>
            <a:r>
              <a:rPr lang="en-US" dirty="0"/>
              <a:t>This requires two core pieces:</a:t>
            </a:r>
          </a:p>
          <a:p>
            <a:pPr marL="228600" indent="-228600">
              <a:buAutoNum type="arabicPeriod"/>
            </a:pPr>
            <a:r>
              <a:rPr lang="en-US" dirty="0"/>
              <a:t>Binding </a:t>
            </a:r>
            <a:r>
              <a:rPr lang="en-US" dirty="0" err="1"/>
              <a:t>Noarr</a:t>
            </a:r>
            <a:r>
              <a:rPr lang="en-US" dirty="0"/>
              <a:t> dimensions to MPI communicators that describe the abstract topology of different computation nodes.</a:t>
            </a:r>
          </a:p>
          <a:p>
            <a:pPr marL="228600" indent="-228600">
              <a:buAutoNum type="arabicPeriod"/>
            </a:pPr>
            <a:r>
              <a:rPr lang="en-US" dirty="0"/>
              <a:t>Translating </a:t>
            </a:r>
            <a:r>
              <a:rPr lang="en-US" dirty="0" err="1"/>
              <a:t>Noarr</a:t>
            </a:r>
            <a:r>
              <a:rPr lang="en-US" dirty="0"/>
              <a:t> layouts into appropriate MPI datatypes.</a:t>
            </a:r>
          </a:p>
          <a:p>
            <a:endParaRPr lang="en-US" dirty="0"/>
          </a:p>
          <a:p>
            <a:r>
              <a:rPr lang="en-US" dirty="0"/>
              <a:t>This allows for automatic distribution of data that can then be computed locally, and the local results can be gathered 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a:t>
            </a:r>
          </a:p>
          <a:p>
            <a:endParaRPr lang="en-US" dirty="0"/>
          </a:p>
          <a:p>
            <a:r>
              <a:rPr lang="en-US" dirty="0"/>
              <a:t>It also enables automatic transformation of the data if the memory layouts on the opposing end-points differ (perhaps due to optimization).</a:t>
            </a:r>
          </a:p>
          <a:p>
            <a:r>
              <a:rPr lang="en-US" dirty="0"/>
              <a:t>If this was done naively. the MPI backend would corrupt the data by preserving the physical layout and not the logical structure.</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compared the state of the art C++ bindings for MPI in how they manage to seamlessly enable layout-agnostic communication of data over MPI</a:t>
            </a:r>
          </a:p>
          <a:p>
            <a:endParaRPr lang="en-US" dirty="0"/>
          </a:p>
          <a:p>
            <a:r>
              <a:rPr lang="en-US" dirty="0"/>
              <a:t>This requires that the framework encodes the layout correctly so it is automatically transformed between the two end-points</a:t>
            </a:r>
          </a:p>
        </p:txBody>
      </p:sp>
      <p:sp>
        <p:nvSpPr>
          <p:cNvPr id="4" name="Slide Number Placeholder 3"/>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knowledge transfer to cellular automata simulation; what is going on)</a:t>
            </a:r>
          </a:p>
          <a:p>
            <a:endParaRPr lang="en-US" dirty="0"/>
          </a:p>
          <a:p>
            <a:r>
              <a:rPr lang="en-US" dirty="0"/>
              <a:t>Covering all major aspects of general-purpose HPC programming, we studied application of the principles to more specific domains.</a:t>
            </a:r>
          </a:p>
          <a:p>
            <a:endParaRPr lang="en-US" dirty="0"/>
          </a:p>
          <a:p>
            <a:r>
              <a:rPr lang="en-US" dirty="0"/>
              <a:t>One domain from our past research that could adapt the abstractions was cellular automata simulation.</a:t>
            </a:r>
          </a:p>
          <a:p>
            <a:r>
              <a:rPr lang="en-US" dirty="0"/>
              <a:t>It is used for modelling various systems such as fluid dynamics or material sciences.</a:t>
            </a:r>
          </a:p>
          <a:p>
            <a:endParaRPr lang="en-US" dirty="0"/>
          </a:p>
          <a:p>
            <a:r>
              <a:rPr lang="en-US" dirty="0"/>
              <a:t>They are computed on regular grids where each cell has one of a limited number of possible states;</a:t>
            </a:r>
          </a:p>
          <a:p>
            <a:r>
              <a:rPr lang="en-US" dirty="0"/>
              <a:t>The grid is updated in discrete time steps by applying a neighborhood-based rule to each cell.</a:t>
            </a:r>
          </a:p>
          <a:p>
            <a:endParaRPr lang="en-US" dirty="0"/>
          </a:p>
          <a:p>
            <a:r>
              <a:rPr lang="en-US" dirty="0"/>
              <a:t>The rule can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a:t>
            </a:r>
          </a:p>
          <a:p>
            <a:pPr marL="171450" indent="-171450">
              <a:buFontTx/>
              <a:buChar char="-"/>
            </a:pPr>
            <a:r>
              <a:rPr lang="en-US" dirty="0"/>
              <a:t>Memory Layouts that specify how the grid and the single cells are encoded</a:t>
            </a:r>
          </a:p>
          <a:p>
            <a:pPr marL="171450" indent="-171450">
              <a:buFontTx/>
              <a:buChar char="-"/>
            </a:pPr>
            <a:r>
              <a:rPr lang="en-US" dirty="0"/>
              <a:t>Evaluators that specify how the update rules should be computed on the specific Memory Layouts</a:t>
            </a:r>
          </a:p>
          <a:p>
            <a:pPr marL="171450" indent="-171450">
              <a:buFontTx/>
              <a:buChar char="-"/>
            </a:pPr>
            <a:r>
              <a:rPr lang="en-US" dirty="0"/>
              <a:t>And Traversers that specify the evaluation order as well as parallelization of the computation</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a:p>
            <a:pPr marL="0" indent="0">
              <a:buFontTx/>
              <a:buNone/>
            </a:pPr>
            <a:endParaRPr lang="en-US" dirty="0"/>
          </a:p>
          <a:p>
            <a:pPr marL="0" indent="0">
              <a:buFontTx/>
              <a:buNone/>
            </a:pPr>
            <a:r>
              <a:rPr lang="en-US" dirty="0"/>
              <a:t>One of the optimization technique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it can be </a:t>
            </a:r>
            <a:r>
              <a:rPr lang="en-US" dirty="0" err="1"/>
              <a:t>faaaast</a:t>
            </a:r>
            <a:r>
              <a:rPr lang="en-US" dirty="0"/>
              <a:t>)</a:t>
            </a:r>
          </a:p>
          <a:p>
            <a:endParaRPr lang="en-US" dirty="0"/>
          </a:p>
          <a:p>
            <a:r>
              <a:rPr lang="en-US" dirty="0"/>
              <a:t>If the rule specification is paired with these efficient components, the computation may improve over even already GPU-parallelized baseline performance in one or two decadic orders.</a:t>
            </a:r>
          </a:p>
          <a:p>
            <a:endParaRPr lang="en-US" dirty="0"/>
          </a:p>
          <a:p>
            <a:r>
              <a:rPr lang="en-US" dirty="0"/>
              <a:t>This plot shows possible improvements using different optimization techniques available in our prototype framework on different cellular automata.</a:t>
            </a:r>
          </a:p>
          <a:p>
            <a:endParaRPr lang="en-US" dirty="0"/>
          </a:p>
          <a:p>
            <a:r>
              <a:rPr lang="en-US" dirty="0"/>
              <a:t>(We can see that simple bit-packing is not enough for achieving highly efficient computation; and it is necessary to compute the cells in bit-vectorized manner, which is implemented by Bit Planes and Temporal, which implements temporal blocking on top of these optimizations)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a:t>
            </a:r>
            <a:br>
              <a:rPr lang="en-US" dirty="0"/>
            </a:br>
            <a:r>
              <a:rPr lang="en-US" dirty="0"/>
              <a:t>A slight detour from our regular schedule of abstractions is our study of LLMs in HPC algorithm design. This work reacted to the recent introduction of LLM models in the area of software design.</a:t>
            </a:r>
          </a:p>
          <a:p>
            <a:endParaRPr lang="en-US" dirty="0"/>
          </a:p>
          <a:p>
            <a:r>
              <a:rPr lang="en-US" dirty="0"/>
              <a:t>(?? groundwork for the following work?)</a:t>
            </a:r>
          </a:p>
          <a:p>
            <a:endParaRPr lang="en-US" dirty="0"/>
          </a:p>
          <a:p>
            <a:r>
              <a:rPr lang="en-US" dirty="0"/>
              <a:t>At the time of the study, LLM models were still regarded as incapable of high-level reasoning on efficient algorithm design, roughly fulfilling the role of a junior-level programmer.</a:t>
            </a:r>
            <a:br>
              <a:rPr lang="en-US" dirty="0"/>
            </a:br>
            <a:r>
              <a:rPr lang="en-US" dirty="0"/>
              <a:t>We have evaluated a state of the art reasoning LLM on three well-known algorithms (histogram computation, Game of Life simulation, and </a:t>
            </a:r>
            <a:r>
              <a:rPr lang="en-US" dirty="0" err="1"/>
              <a:t>kNN</a:t>
            </a:r>
            <a:r>
              <a:rPr lang="en-US" dirty="0"/>
              <a:t> search) to find out whether an</a:t>
            </a:r>
            <a:br>
              <a:rPr lang="en-US" dirty="0"/>
            </a:br>
            <a:r>
              <a:rPr lang="en-US" dirty="0"/>
              <a:t>LLM is capable of generating a highly efficient code for them without any hints, and whether the quality improves with more suggestions, and approaches expert-written code with specific instructions for the design (tutoring).</a:t>
            </a:r>
            <a:br>
              <a:rPr lang="en-US" dirty="0"/>
            </a:br>
            <a:br>
              <a:rPr lang="en-US" dirty="0"/>
            </a:br>
            <a:r>
              <a:rPr lang="en-US" dirty="0"/>
              <a:t>We found that histogram and </a:t>
            </a:r>
            <a:r>
              <a:rPr lang="en-US" dirty="0" err="1"/>
              <a:t>GoL</a:t>
            </a:r>
            <a:r>
              <a:rPr lang="en-US" dirty="0"/>
              <a:t> roughly fitted the complexity of algorithms for which the LLM indeed improves with tutoring; however the </a:t>
            </a:r>
            <a:r>
              <a:rPr lang="en-US" dirty="0" err="1"/>
              <a:t>kNN</a:t>
            </a:r>
            <a:r>
              <a:rPr lang="en-US" dirty="0"/>
              <a:t> algorithm was too complex for the LLM to</a:t>
            </a:r>
            <a:br>
              <a:rPr lang="en-US" dirty="0"/>
            </a:br>
            <a:r>
              <a:rPr lang="en-US" dirty="0"/>
              <a:t>implement even with specific instructions. The situation has changed with each new generation of LLMs since then, and GPT-5 has managed to get better with tutoring on the </a:t>
            </a:r>
            <a:r>
              <a:rPr lang="en-US" dirty="0" err="1"/>
              <a:t>kNN</a:t>
            </a:r>
            <a:r>
              <a:rPr lang="en-US" dirty="0"/>
              <a:t> algorithm,</a:t>
            </a:r>
            <a:br>
              <a:rPr lang="en-US" dirty="0"/>
            </a:br>
            <a:r>
              <a:rPr lang="en-US" dirty="0"/>
              <a:t>while fully saturating the </a:t>
            </a:r>
            <a:r>
              <a:rPr lang="en-US" dirty="0" err="1"/>
              <a:t>GoL</a:t>
            </a:r>
            <a:r>
              <a:rPr lang="en-US" dirty="0"/>
              <a:t> algorithm, even with very vague instructions.</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(case study?) </a:t>
            </a:r>
            <a:br>
              <a:rPr lang="en-US" dirty="0"/>
            </a:br>
            <a:r>
              <a:rPr lang="en-US" dirty="0"/>
              <a:t>A slight detour from our regular schedule of abstractions is our study of LLMs in HPC algorithm design. This work reacted to the recent introduction of LLM models in the area of software design.</a:t>
            </a:r>
          </a:p>
          <a:p>
            <a:endParaRPr lang="en-US" dirty="0"/>
          </a:p>
          <a:p>
            <a:r>
              <a:rPr lang="en-US" dirty="0"/>
              <a:t>(?? groundwork for the following work?)</a:t>
            </a:r>
          </a:p>
          <a:p>
            <a:endParaRPr lang="en-US" dirty="0"/>
          </a:p>
          <a:p>
            <a:r>
              <a:rPr lang="en-US" dirty="0"/>
              <a:t>At the time of the study, LLM models were still regarded as incapable of high-level reasoning on efficient algorithm design, roughly fulfilling the role of a junior-level programmer.</a:t>
            </a:r>
            <a:br>
              <a:rPr lang="en-US" dirty="0"/>
            </a:br>
            <a:r>
              <a:rPr lang="en-US" dirty="0"/>
              <a:t>We have evaluated a state of the art reasoning LLM on three well-known algorithms (histogram computation, Game of Life simulation, and </a:t>
            </a:r>
            <a:r>
              <a:rPr lang="en-US" dirty="0" err="1"/>
              <a:t>kNN</a:t>
            </a:r>
            <a:r>
              <a:rPr lang="en-US" dirty="0"/>
              <a:t> search) to find out whether an</a:t>
            </a:r>
            <a:br>
              <a:rPr lang="en-US" dirty="0"/>
            </a:br>
            <a:r>
              <a:rPr lang="en-US" dirty="0"/>
              <a:t>LLM is capable of generating a highly efficient code for them without any hints, and whether the quality improves with more suggestions, and approaches expert-written code with specific instructions for the design (tutoring).</a:t>
            </a:r>
            <a:br>
              <a:rPr lang="en-US" dirty="0"/>
            </a:br>
            <a:br>
              <a:rPr lang="en-US" dirty="0"/>
            </a:br>
            <a:r>
              <a:rPr lang="en-US" dirty="0"/>
              <a:t>We found that histogram and </a:t>
            </a:r>
            <a:r>
              <a:rPr lang="en-US" dirty="0" err="1"/>
              <a:t>GoL</a:t>
            </a:r>
            <a:r>
              <a:rPr lang="en-US" dirty="0"/>
              <a:t> roughly fitted the complexity of algorithms for which the LLM indeed improves with tutoring; however the </a:t>
            </a:r>
            <a:r>
              <a:rPr lang="en-US" dirty="0" err="1"/>
              <a:t>kNN</a:t>
            </a:r>
            <a:r>
              <a:rPr lang="en-US" dirty="0"/>
              <a:t> algorithm was too complex for the LLM to</a:t>
            </a:r>
            <a:br>
              <a:rPr lang="en-US" dirty="0"/>
            </a:br>
            <a:r>
              <a:rPr lang="en-US" dirty="0"/>
              <a:t>implement even with specific instructions. The situation has changed with each new generation of LLMs since then, and GPT-5 has managed to get better with tutoring on the </a:t>
            </a:r>
            <a:r>
              <a:rPr lang="en-US" dirty="0" err="1"/>
              <a:t>kNN</a:t>
            </a:r>
            <a:r>
              <a:rPr lang="en-US" dirty="0"/>
              <a:t> algorithm,</a:t>
            </a:r>
            <a:br>
              <a:rPr lang="en-US" dirty="0"/>
            </a:br>
            <a:r>
              <a:rPr lang="en-US" dirty="0"/>
              <a:t>while fully saturating the </a:t>
            </a:r>
            <a:r>
              <a:rPr lang="en-US" dirty="0" err="1"/>
              <a:t>GoL</a:t>
            </a:r>
            <a:r>
              <a:rPr lang="en-US" dirty="0"/>
              <a:t> algorithm (and, less clearly, the histogram alg.), even with very vague instructions.</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up on the recent improvements of LLMs since our previous work, we have become interested in whether their capability</a:t>
            </a:r>
            <a:br>
              <a:rPr lang="en-US" dirty="0"/>
            </a:br>
            <a:r>
              <a:rPr lang="en-US" dirty="0"/>
              <a:t>further improves with abstractions that allow user-directed optimizations of the code in a similar manner to our abstractions.</a:t>
            </a:r>
          </a:p>
          <a:p>
            <a:endParaRPr lang="en-US" dirty="0"/>
          </a:p>
          <a:p>
            <a:r>
              <a:rPr lang="en-US" dirty="0"/>
              <a:t>We have made a study with 3 different abstractions (Halide, Exo, </a:t>
            </a:r>
            <a:r>
              <a:rPr lang="en-US" dirty="0" err="1"/>
              <a:t>Noarr</a:t>
            </a:r>
            <a:r>
              <a:rPr lang="en-US" dirty="0"/>
              <a:t>), evaluating a state of the art LLM on the </a:t>
            </a:r>
            <a:r>
              <a:rPr lang="en-US" dirty="0" err="1"/>
              <a:t>PolyBench</a:t>
            </a:r>
            <a:r>
              <a:rPr lang="en-US" dirty="0"/>
              <a:t>/C suite;</a:t>
            </a:r>
            <a:br>
              <a:rPr lang="en-US" dirty="0"/>
            </a:br>
            <a:r>
              <a:rPr lang="en-US" dirty="0"/>
              <a:t>the workflow consisted of 2 generation steps (translation and optimization) combined with an algorithmic selection of the best translation.</a:t>
            </a:r>
          </a:p>
          <a:p>
            <a:endParaRPr lang="en-US" dirty="0"/>
          </a:p>
          <a:p>
            <a:r>
              <a:rPr lang="en-US" dirty="0"/>
              <a:t>This was made to ensure that the LLM would have a working translation to use as a basis for its optimization attempt, as, at the time of the study,</a:t>
            </a:r>
          </a:p>
          <a:p>
            <a:r>
              <a:rPr lang="en-US" dirty="0"/>
              <a:t>it wasn’t feasible to put the entire programming reference for the given abstraction within the LLM’s limited context window.</a:t>
            </a:r>
          </a:p>
          <a:p>
            <a:endParaRPr lang="en-US" dirty="0"/>
          </a:p>
          <a:p>
            <a:r>
              <a:rPr lang="en-US" dirty="0"/>
              <a:t>The prompts were supplied with one example of the translation (/optimization?) to further compensate for the limitation of its context window.</a:t>
            </a:r>
          </a:p>
          <a:p>
            <a:endParaRPr lang="en-US" dirty="0"/>
          </a:p>
          <a:p>
            <a:r>
              <a:rPr lang="en-US" dirty="0"/>
              <a:t>We have compared a naïve prompt (just to optimize the given computation) with more specific prompts giving general optimization hints,</a:t>
            </a:r>
            <a:br>
              <a:rPr lang="en-US" dirty="0"/>
            </a:br>
            <a:r>
              <a:rPr lang="en-US" dirty="0"/>
              <a:t>and an alternative approach based on first writing an abstract optimization strategy and then implementing it in the second request.</a:t>
            </a:r>
          </a:p>
          <a:p>
            <a:endParaRPr lang="en-US" dirty="0"/>
          </a:p>
          <a:p>
            <a:r>
              <a:rPr lang="en-US" dirty="0"/>
              <a:t>All these combinations of abstractions and prompts were also compared to applying the same methodology to the C baseline.</a:t>
            </a:r>
          </a:p>
          <a:p>
            <a:endParaRPr lang="en-US" dirty="0"/>
          </a:p>
          <a:p>
            <a:r>
              <a:rPr lang="en-US" dirty="0"/>
              <a:t>Very unsurprisingly, more specific prompts performed better across all abstractions and C, but at the same time,</a:t>
            </a:r>
            <a:br>
              <a:rPr lang="en-US" dirty="0"/>
            </a:br>
            <a:r>
              <a:rPr lang="en-US" dirty="0"/>
              <a:t>pure C optimization attempts performed better than any abstraction.</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21503122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08B9B-DA7C-CEF0-D2F2-45B10F331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BA7740-2DAD-1370-B2CB-228DA08826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E4B22E-1818-E5A6-0350-5F174A750D46}"/>
              </a:ext>
            </a:extLst>
          </p:cNvPr>
          <p:cNvSpPr>
            <a:spLocks noGrp="1"/>
          </p:cNvSpPr>
          <p:nvPr>
            <p:ph type="body" idx="1"/>
          </p:nvPr>
        </p:nvSpPr>
        <p:spPr/>
        <p:txBody>
          <a:bodyPr/>
          <a:lstStyle/>
          <a:p>
            <a:r>
              <a:rPr lang="en-US" dirty="0"/>
              <a:t>Following up on the recent improvements of LLMs since our previous work, we have become interested in whether their capability</a:t>
            </a:r>
            <a:br>
              <a:rPr lang="en-US" dirty="0"/>
            </a:br>
            <a:r>
              <a:rPr lang="en-US" dirty="0"/>
              <a:t>further improves with abstractions that allow user-directed optimizations of the code in a similar manner to our abstractions.</a:t>
            </a:r>
          </a:p>
          <a:p>
            <a:endParaRPr lang="en-US" dirty="0"/>
          </a:p>
          <a:p>
            <a:r>
              <a:rPr lang="en-US" dirty="0"/>
              <a:t>We have made a study with 3 different abstractions (Halide, Exo, </a:t>
            </a:r>
            <a:r>
              <a:rPr lang="en-US" dirty="0" err="1"/>
              <a:t>Noarr</a:t>
            </a:r>
            <a:r>
              <a:rPr lang="en-US" dirty="0"/>
              <a:t>), evaluating a state of the art LLM on the </a:t>
            </a:r>
            <a:r>
              <a:rPr lang="en-US" dirty="0" err="1"/>
              <a:t>PolyBench</a:t>
            </a:r>
            <a:r>
              <a:rPr lang="en-US" dirty="0"/>
              <a:t>/C suite;</a:t>
            </a:r>
            <a:br>
              <a:rPr lang="en-US" dirty="0"/>
            </a:br>
            <a:r>
              <a:rPr lang="en-US" dirty="0"/>
              <a:t>the workflow consisted of 2 generation steps (translation and optimization) combined with an algorithmic selection of the best translation.</a:t>
            </a:r>
          </a:p>
          <a:p>
            <a:endParaRPr lang="en-US" dirty="0"/>
          </a:p>
          <a:p>
            <a:r>
              <a:rPr lang="en-US" dirty="0"/>
              <a:t>This was made to ensure that the LLM would have a working translation to use as a basis for its optimization attempt, as, at the time of the study,</a:t>
            </a:r>
          </a:p>
          <a:p>
            <a:r>
              <a:rPr lang="en-US" dirty="0"/>
              <a:t>it wasn’t feasible to put the entire programming reference for the given abstraction within the LLM’s limited context window.</a:t>
            </a:r>
          </a:p>
          <a:p>
            <a:endParaRPr lang="en-US" dirty="0"/>
          </a:p>
          <a:p>
            <a:r>
              <a:rPr lang="en-US" dirty="0"/>
              <a:t>The prompts were supplied with one example of the translation (/optimization?) and language-specific documentation and hints to further compensate for the limitation of its context window.</a:t>
            </a:r>
          </a:p>
          <a:p>
            <a:endParaRPr lang="en-US" dirty="0"/>
          </a:p>
          <a:p>
            <a:r>
              <a:rPr lang="en-US" dirty="0"/>
              <a:t>We have compared a naïve prompt (just to optimize the given computation) with more specific prompts giving general optimization hints,</a:t>
            </a:r>
            <a:br>
              <a:rPr lang="en-US" dirty="0"/>
            </a:br>
            <a:r>
              <a:rPr lang="en-US" dirty="0"/>
              <a:t>and an alternative approach based on first writing an abstract optimization strategy and then implementing it in the second request.</a:t>
            </a:r>
          </a:p>
          <a:p>
            <a:endParaRPr lang="en-US" dirty="0"/>
          </a:p>
          <a:p>
            <a:r>
              <a:rPr lang="en-US" dirty="0"/>
              <a:t>All these combinations of abstractions and prompts were also compared to applying the same methodology to the C baseline.</a:t>
            </a:r>
          </a:p>
          <a:p>
            <a:endParaRPr lang="en-US" dirty="0"/>
          </a:p>
          <a:p>
            <a:r>
              <a:rPr lang="en-US" dirty="0"/>
              <a:t>Very unsurprisingly, more specific prompts performed better across all abstractions and C, but at the same time,</a:t>
            </a:r>
            <a:br>
              <a:rPr lang="en-US" dirty="0"/>
            </a:br>
            <a:r>
              <a:rPr lang="en-US" dirty="0"/>
              <a:t>pure C optimization attempts performed better than any abstraction.</a:t>
            </a:r>
          </a:p>
        </p:txBody>
      </p:sp>
      <p:sp>
        <p:nvSpPr>
          <p:cNvPr id="4" name="Slide Number Placeholder 3">
            <a:extLst>
              <a:ext uri="{FF2B5EF4-FFF2-40B4-BE49-F238E27FC236}">
                <a16:creationId xmlns:a16="http://schemas.microsoft.com/office/drawing/2014/main" id="{EC9A10B2-2AAB-DC98-721D-F9B66A801B35}"/>
              </a:ext>
            </a:extLst>
          </p:cNvPr>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360855540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haven’t done this one </a:t>
            </a:r>
            <a:r>
              <a:rPr lang="en-US" dirty="0">
                <a:sym typeface="Wingdings" panose="05000000000000000000" pitchFamily="2" charset="2"/>
              </a:rPr>
              <a:t></a:t>
            </a:r>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do not forget to copy from upward)---</a:t>
            </a:r>
            <a:br>
              <a:rPr lang="en-US" dirty="0"/>
            </a:br>
            <a:br>
              <a:rPr lang="en-US" dirty="0"/>
            </a:br>
            <a:r>
              <a:rPr lang="en-US" dirty="0"/>
              <a:t>(key idea: optimizing the traversal)</a:t>
            </a:r>
          </a:p>
          <a:p>
            <a:endParaRPr lang="en-US" dirty="0"/>
          </a:p>
          <a:p>
            <a:r>
              <a:rPr lang="en-US" dirty="0"/>
              <a:t>By itself, this would be nice, but we can do much more.</a:t>
            </a:r>
            <a:br>
              <a:rPr lang="en-US" dirty="0"/>
            </a:br>
            <a:endParaRPr lang="en-US" dirty="0"/>
          </a:p>
          <a:p>
            <a:r>
              <a:rPr lang="en-US" dirty="0"/>
              <a:t>We can use the same principles for building memory layouts to specify transformations of the traversal orders as well.</a:t>
            </a:r>
          </a:p>
          <a:p>
            <a:r>
              <a:rPr lang="en-US" dirty="0"/>
              <a:t>Let’s say we want to perform the matrix multiplication by tiles of the output; we can do so by defining the transformation and then applying it to the traverser.</a:t>
            </a:r>
            <a:br>
              <a:rPr lang="en-US" dirty="0"/>
            </a:br>
            <a:r>
              <a:rPr lang="en-US" dirty="0"/>
              <a:t>We do not need to rewrite the computation logic or change the structures to do that.</a:t>
            </a:r>
          </a:p>
          <a:p>
            <a:endParaRPr lang="en-US" dirty="0"/>
          </a:p>
          <a:p>
            <a:endParaRPr lang="en-US" dirty="0"/>
          </a:p>
          <a:p>
            <a:r>
              <a:rPr lang="en-US" dirty="0"/>
              <a:t>We can also use the traversers as ranges to be parallelized using various parallel backends such as OpenMP or Threading Building Blocks.</a:t>
            </a:r>
          </a:p>
          <a:p>
            <a:endParaRPr lang="en-US" dirty="0"/>
          </a:p>
          <a:p>
            <a:r>
              <a:rPr lang="en-US" dirty="0"/>
              <a:t>For the CUDA framework (used for general-purpose GPU programming), we have shown that the principles pair well with  binding different threads and blocks to the dimensions of the computation</a:t>
            </a:r>
            <a:br>
              <a:rPr lang="en-US" dirty="0"/>
            </a:br>
            <a:r>
              <a:rPr lang="en-US" dirty="0"/>
              <a:t>and privatizing the data in the GPU shared memory.</a:t>
            </a:r>
          </a:p>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253962248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57641-FE9C-3D6C-D5F5-91017F617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AA7B2E-A4E0-6E25-FBA8-01CDD41015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5A7019-B96B-BE1F-AE0F-2ED099339F4F}"/>
              </a:ext>
            </a:extLst>
          </p:cNvPr>
          <p:cNvSpPr>
            <a:spLocks noGrp="1"/>
          </p:cNvSpPr>
          <p:nvPr>
            <p:ph type="body" idx="1"/>
          </p:nvPr>
        </p:nvSpPr>
        <p:spPr/>
        <p:txBody>
          <a:bodyPr/>
          <a:lstStyle/>
          <a:p>
            <a:r>
              <a:rPr lang="en-US" dirty="0"/>
              <a:t>Still haven’t done this one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69C488B9-61C0-2702-9A75-5A42AC4F98D1}"/>
              </a:ext>
            </a:extLst>
          </p:cNvPr>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245966326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C8EC8-C761-6316-9007-65774C0EF9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6D4C2F-ECB5-B564-853A-3799BCE82E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6ABE99-5BBC-6BD4-946D-2A3F2D9A892F}"/>
              </a:ext>
            </a:extLst>
          </p:cNvPr>
          <p:cNvSpPr>
            <a:spLocks noGrp="1"/>
          </p:cNvSpPr>
          <p:nvPr>
            <p:ph type="body" idx="1"/>
          </p:nvPr>
        </p:nvSpPr>
        <p:spPr/>
        <p:txBody>
          <a:bodyPr/>
          <a:lstStyle/>
          <a:p>
            <a:r>
              <a:rPr lang="en-US" dirty="0"/>
              <a:t>In parallel with the earlier development, we have looked into whether the same design principles can be applied to more specific domains.</a:t>
            </a:r>
          </a:p>
          <a:p>
            <a:endParaRPr lang="en-US" dirty="0"/>
          </a:p>
          <a:p>
            <a:r>
              <a:rPr lang="en-US" dirty="0"/>
              <a:t>(Why are they cool? Is that just a random area?)</a:t>
            </a:r>
          </a:p>
          <a:p>
            <a:r>
              <a:rPr lang="en-US" dirty="0"/>
              <a:t>One domain of our particular interest was Cellular Automata simulation. These can be characterized as stencil computations on grids where each cell has a discrete state space.</a:t>
            </a:r>
          </a:p>
          <a:p>
            <a:r>
              <a:rPr lang="en-US" dirty="0"/>
              <a:t>Such computations are characterized by the following properties:</a:t>
            </a:r>
          </a:p>
          <a:p>
            <a:pPr marL="171450" indent="-171450">
              <a:buFontTx/>
              <a:buChar char="-"/>
            </a:pPr>
            <a:r>
              <a:rPr lang="en-US" dirty="0"/>
              <a:t>The grid (may be multidimensional; commonly 2D or 3D rectangular) &lt;- image</a:t>
            </a:r>
          </a:p>
          <a:p>
            <a:pPr marL="171450" indent="-171450">
              <a:buFontTx/>
              <a:buChar char="-"/>
            </a:pPr>
            <a:r>
              <a:rPr lang="en-US" dirty="0"/>
              <a:t>Definition of the neighborhood of each cell (typically Moore or von Neumann neighborhood) &lt;- image</a:t>
            </a:r>
          </a:p>
          <a:p>
            <a:pPr marL="171450" indent="-171450">
              <a:buFontTx/>
              <a:buChar char="-"/>
            </a:pPr>
            <a:r>
              <a:rPr lang="en-US" dirty="0"/>
              <a:t>Definition of the computation – this involves defining the state space for the cells and the update rule that depends on the neighborhood and updates the cell state</a:t>
            </a:r>
          </a:p>
          <a:p>
            <a:pPr marL="171450" indent="-171450">
              <a:buFontTx/>
              <a:buChar char="-"/>
            </a:pPr>
            <a:endParaRPr lang="en-US" dirty="0"/>
          </a:p>
          <a:p>
            <a:pPr marL="0" indent="0">
              <a:buFontTx/>
              <a:buNone/>
            </a:pPr>
            <a:r>
              <a:rPr lang="en-US" dirty="0"/>
              <a:t>The computation then involves updates of the grid in discrete time steps.</a:t>
            </a:r>
          </a:p>
          <a:p>
            <a:pPr marL="0" indent="0">
              <a:buFontTx/>
              <a:buNone/>
            </a:pPr>
            <a:endParaRPr lang="en-US" dirty="0"/>
          </a:p>
          <a:p>
            <a:pPr marL="0" indent="0">
              <a:buFontTx/>
              <a:buNone/>
            </a:pPr>
            <a:r>
              <a:rPr lang="en-US" dirty="0"/>
              <a:t>(In our earlier work on Cellular automata, we have improved on </a:t>
            </a:r>
            <a:r>
              <a:rPr lang="en-US" dirty="0" err="1"/>
              <a:t>sota</a:t>
            </a:r>
            <a:r>
              <a:rPr lang="en-US" dirty="0"/>
              <a:t> using bit-level encoding of the states and bitwise evaluation)</a:t>
            </a:r>
          </a:p>
          <a:p>
            <a:pPr marL="0" indent="0">
              <a:buFontTx/>
              <a:buNone/>
            </a:pPr>
            <a:endParaRPr lang="en-US" dirty="0"/>
          </a:p>
          <a:p>
            <a:pPr marL="0" indent="0">
              <a:buFontTx/>
              <a:buNone/>
            </a:pPr>
            <a:r>
              <a:rPr lang="en-US" dirty="0"/>
              <a:t>---</a:t>
            </a:r>
          </a:p>
          <a:p>
            <a:pPr marL="0" indent="0">
              <a:buFontTx/>
              <a:buNone/>
            </a:pPr>
            <a:endParaRPr lang="en-US" dirty="0"/>
          </a:p>
          <a:p>
            <a:pPr marL="0" indent="0">
              <a:buFontTx/>
              <a:buNone/>
            </a:pPr>
            <a:r>
              <a:rPr lang="en-US" dirty="0"/>
              <a:t>We have found out that a very impressive speedup of these computations can be achieved by applying the earlier principles of layout- and traversal-agnostic design on a slightly deeper level.</a:t>
            </a:r>
          </a:p>
          <a:p>
            <a:pPr marL="0" indent="0">
              <a:buFontTx/>
              <a:buNone/>
            </a:pPr>
            <a:endParaRPr lang="en-US" dirty="0"/>
          </a:p>
          <a:p>
            <a:pPr marL="0" indent="0">
              <a:buFontTx/>
              <a:buNone/>
            </a:pPr>
            <a:r>
              <a:rPr lang="en-US" dirty="0"/>
              <a:t>We can specify the update rule in an abstract way that is agnostic to the whole evaluation (including layouts as well as specific instructions), then we can pair this specification with templated components that automatically implement an efficient computation of the automaton.</a:t>
            </a:r>
          </a:p>
          <a:p>
            <a:pPr marL="0" indent="0">
              <a:buFontTx/>
              <a:buNone/>
            </a:pPr>
            <a:r>
              <a:rPr lang="en-US" dirty="0"/>
              <a:t>For this, we have devised 4 separate abstractions (components):</a:t>
            </a:r>
          </a:p>
          <a:p>
            <a:pPr marL="171450" indent="-171450">
              <a:buFontTx/>
              <a:buChar char="-"/>
            </a:pPr>
            <a:r>
              <a:rPr lang="en-US" dirty="0"/>
              <a:t>Memory layout:</a:t>
            </a:r>
          </a:p>
          <a:p>
            <a:pPr marL="171450" indent="-171450">
              <a:buFontTx/>
              <a:buChar char="-"/>
            </a:pPr>
            <a:r>
              <a:rPr lang="en-US" dirty="0"/>
              <a:t>Evaluator:</a:t>
            </a:r>
          </a:p>
          <a:p>
            <a:pPr marL="171450" indent="-171450">
              <a:buFontTx/>
              <a:buChar char="-"/>
            </a:pPr>
            <a:r>
              <a:rPr lang="en-US" dirty="0"/>
              <a:t>Traverser:</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p:txBody>
      </p:sp>
      <p:sp>
        <p:nvSpPr>
          <p:cNvPr id="4" name="Slide Number Placeholder 3">
            <a:extLst>
              <a:ext uri="{FF2B5EF4-FFF2-40B4-BE49-F238E27FC236}">
                <a16:creationId xmlns:a16="http://schemas.microsoft.com/office/drawing/2014/main" id="{81D4FAE5-6724-7186-6EBE-71006EA2D593}"/>
              </a:ext>
            </a:extLst>
          </p:cNvPr>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145315577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our research focused on two (something like compatible) directions</a:t>
            </a:r>
          </a:p>
          <a:p>
            <a:endParaRPr lang="en-US" dirty="0"/>
          </a:p>
          <a:p>
            <a:r>
              <a:rPr lang="en-US" dirty="0"/>
              <a:t>The first one was investigating and implementing abstractions that offer composable building blocks that can be used to design efficient memory layouts and traversal orders; the choices can be algorithmically automatized by techniques such as autotuning</a:t>
            </a:r>
          </a:p>
          <a:p>
            <a:endParaRPr lang="en-US" dirty="0"/>
          </a:p>
          <a:p>
            <a:r>
              <a:rPr lang="en-US" dirty="0"/>
              <a:t>The other direction has opened with the introduction of Large Language Models (LLMs), where the LLM can provide efficient implementation details fulfilling a given API requirement</a:t>
            </a:r>
          </a:p>
          <a:p>
            <a:endParaRPr lang="en-US" dirty="0"/>
          </a:p>
          <a:p>
            <a:r>
              <a:rPr lang="en-US" dirty="0"/>
              <a:t>(?? More yapping?</a:t>
            </a:r>
          </a:p>
          <a:p>
            <a:r>
              <a:rPr lang="en-US" dirty="0"/>
              <a:t>- We have investigated how to … (tutoring)</a:t>
            </a:r>
          </a:p>
          <a:p>
            <a:r>
              <a:rPr lang="en-US" dirty="0"/>
              <a:t>)</a:t>
            </a:r>
          </a:p>
          <a:p>
            <a:endParaRPr lang="en-US" dirty="0"/>
          </a:p>
          <a:p>
            <a:r>
              <a:rPr lang="en-US" dirty="0"/>
              <a:t>?? Since this research area is quite broad, we have mostly focused solely on dense data structures and algorithms utilizing regular loops, as even with this limitation, the area offers interesting challenges and many opportunities for improving the state of the art</a:t>
            </a:r>
          </a:p>
          <a:p>
            <a:endParaRPr lang="en-US" dirty="0"/>
          </a:p>
          <a:p>
            <a:r>
              <a:rPr lang="en-US" dirty="0"/>
              <a:t>(ass bridge: now focusing on the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381046909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10673656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introducing </a:t>
            </a:r>
            <a:r>
              <a:rPr lang="en-US" dirty="0" err="1"/>
              <a:t>Noarr</a:t>
            </a:r>
            <a:r>
              <a:rPr lang="en-US" dirty="0"/>
              <a:t> Structures; or abstractions for layout-agnostic design)</a:t>
            </a:r>
            <a:br>
              <a:rPr lang="en-US" dirty="0"/>
            </a:br>
            <a:br>
              <a:rPr lang="en-US" dirty="0"/>
            </a:br>
            <a:r>
              <a:rPr lang="en-US" dirty="0"/>
              <a:t>/*</a:t>
            </a:r>
          </a:p>
          <a:p>
            <a:r>
              <a:rPr lang="en-US" dirty="0"/>
              <a:t>As the first contribution of our research, we have devised an abstraction for building and transforming memory layouts that enable the design of layout-agnostic algorithms as well as the reuse of the defined layouts.</a:t>
            </a:r>
          </a:p>
          <a:p>
            <a:endParaRPr lang="en-US" dirty="0"/>
          </a:p>
          <a:p>
            <a:r>
              <a:rPr lang="en-US" dirty="0"/>
              <a:t>In real-use algorithms</a:t>
            </a:r>
            <a:br>
              <a:rPr lang="en-US" dirty="0"/>
            </a:br>
            <a:r>
              <a:rPr lang="en-US" dirty="0"/>
              <a:t>- dimensions have semantic value</a:t>
            </a:r>
            <a:br>
              <a:rPr lang="en-US" dirty="0"/>
            </a:br>
            <a:r>
              <a:rPr lang="en-US" dirty="0"/>
              <a:t>- a data access more often depends on the semantic (logic) structure than on a specific memory offset</a:t>
            </a:r>
            <a:br>
              <a:rPr lang="en-US" dirty="0"/>
            </a:br>
            <a:r>
              <a:rPr lang="en-US" dirty="0"/>
              <a:t>- traversals cover the semantic space rather than a set of abstract coordinates</a:t>
            </a:r>
          </a:p>
          <a:p>
            <a:r>
              <a:rPr lang="en-US" dirty="0"/>
              <a:t>*/</a:t>
            </a:r>
          </a:p>
          <a:p>
            <a:endParaRPr lang="en-US" dirty="0"/>
          </a:p>
          <a:p>
            <a:r>
              <a:rPr lang="en-US" dirty="0"/>
              <a:t>At the beginning of our research, we focused on devising abstractions that would enable a more seamless design of algorithms amenable to source-level optimizations allowing for user-direction and automation.</a:t>
            </a:r>
          </a:p>
          <a:p>
            <a:endParaRPr lang="en-US" dirty="0"/>
          </a:p>
          <a:p>
            <a:r>
              <a:rPr lang="en-US" dirty="0"/>
              <a:t>If we slightly optimize a standard matrix multiplication algorithm, we might end up with something similar to the shown code.</a:t>
            </a:r>
          </a:p>
          <a:p>
            <a:r>
              <a:rPr lang="en-US" dirty="0"/>
              <a:t>At first view, it is difficult to see that it is actually a three-dimensional traversal performed in a tiled manner, accessing elements in row-major or column-major layouts.</a:t>
            </a:r>
          </a:p>
          <a:p>
            <a:br>
              <a:rPr lang="en-US" dirty="0"/>
            </a:br>
            <a:br>
              <a:rPr lang="en-US" dirty="0"/>
            </a:br>
            <a:r>
              <a:rPr lang="en-US" dirty="0"/>
              <a:t>[without runtime overhead]</a:t>
            </a:r>
            <a:br>
              <a:rPr lang="en-US" dirty="0"/>
            </a:br>
            <a:r>
              <a:rPr lang="en-US" dirty="0"/>
              <a:t>Our research iteratively progressed to a point where we can encode the semantic logical structure of layouts independently of the physical layout, naming the dimensions for specifying the logical API that is common to the layouts sharing the same dimensions.</a:t>
            </a:r>
          </a:p>
          <a:p>
            <a:r>
              <a:rPr lang="en-US" dirty="0"/>
              <a:t>This makes the structures more resistant to simple errors and encodes further information that then allows using these names to either identify common dimensions of different structures and thus automatically infer traversals over them, or specify transformations of these traversals.</a:t>
            </a:r>
            <a:br>
              <a:rPr lang="en-US" dirty="0"/>
            </a:br>
            <a:r>
              <a:rPr lang="en-US" dirty="0"/>
              <a:t>This then allows us to compact the difficult-to-maintain version of the matrix multiplication algorithm into a more compact and semantic code.</a:t>
            </a:r>
            <a:br>
              <a:rPr lang="en-US" dirty="0"/>
            </a:br>
            <a:r>
              <a:rPr lang="en-US" dirty="0"/>
              <a:t>(The first three rows directly match, then we simply specify we want to traverse the combined space of the three structures, and specify the action that should happen for each point of the space; the order directive then specifies the tiling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357761374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first contribution, we focused on abstractions for encoding the memory layouts so that they separate the logical structure used in the algorithms from the physical memory layout (offsets). Our research is not the only effort on this, as nowadays, we can see similar efforts in the C++ standard with the introduction of </a:t>
            </a:r>
            <a:r>
              <a:rPr lang="en-US" dirty="0" err="1"/>
              <a:t>mdspans</a:t>
            </a:r>
            <a:r>
              <a:rPr lang="en-US" dirty="0"/>
              <a:t> that offer flexible interfaces for later introduced linear algebra functions, or </a:t>
            </a:r>
            <a:r>
              <a:rPr lang="en-US" dirty="0" err="1"/>
              <a:t>CUTe</a:t>
            </a:r>
            <a:r>
              <a:rPr lang="en-US" dirty="0"/>
              <a:t> layouts used for optimizing GPU kernels in the CUTLASS framework.</a:t>
            </a:r>
          </a:p>
          <a:p>
            <a:endParaRPr lang="en-US" dirty="0"/>
          </a:p>
          <a:p>
            <a:r>
              <a:rPr lang="en-US" dirty="0"/>
              <a:t>?? Should I avoid </a:t>
            </a:r>
            <a:r>
              <a:rPr lang="en-US" dirty="0" err="1"/>
              <a:t>Noarr</a:t>
            </a:r>
            <a:r>
              <a:rPr lang="en-US" dirty="0"/>
              <a:t> structures and proto-structures?</a:t>
            </a:r>
          </a:p>
          <a:p>
            <a:endParaRPr lang="en-US" dirty="0"/>
          </a:p>
          <a:p>
            <a:r>
              <a:rPr lang="en-US" dirty="0"/>
              <a:t>(</a:t>
            </a:r>
            <a:r>
              <a:rPr lang="en-US" dirty="0" err="1"/>
              <a:t>animace</a:t>
            </a:r>
            <a:r>
              <a:rPr lang="en-US" dirty="0"/>
              <a:t>)</a:t>
            </a:r>
          </a:p>
          <a:p>
            <a:r>
              <a:rPr lang="en-US" dirty="0"/>
              <a:t>Our approach is characteristic in defining the layouts via semantic building blocks (such as scalar that names a single value or vector that extends a given layout with one named dimension) that are freely composable and allow for defining derived layouts.</a:t>
            </a:r>
          </a:p>
          <a:p>
            <a:r>
              <a:rPr lang="en-US" dirty="0"/>
              <a:t>The abstraction further allows seamlessly encoding static constants as compile-time values that are encoded in the type of the resulting object rather than its runtime representation, which also allows for further optimizations.</a:t>
            </a:r>
          </a:p>
          <a:p>
            <a:endParaRPr lang="en-US" dirty="0"/>
          </a:p>
          <a:p>
            <a:r>
              <a:rPr lang="en-US" dirty="0"/>
              <a:t>Note that these building blocks, as shown, just define the layouts with no implied binding to actual memory (buffer) yet. This is important, as it allows us to pair the layout specification with automatically acquired memory</a:t>
            </a:r>
            <a:br>
              <a:rPr lang="en-US" dirty="0"/>
            </a:br>
            <a:r>
              <a:rPr lang="en-US" dirty="0"/>
              <a:t>as well as with externally managed memory to offer a view of some data that might live in a special memory, such as GPU device memory or a memory-mapped file.</a:t>
            </a:r>
          </a:p>
          <a:p>
            <a:endParaRPr lang="en-US" dirty="0"/>
          </a:p>
          <a:p>
            <a:r>
              <a:rPr lang="en-US" dirty="0"/>
              <a:t>The flexible composability allows us to easily define reusable, more complex transformations, various substructures, or unsized templates for later specified layouts.</a:t>
            </a:r>
          </a:p>
          <a:p>
            <a:endParaRPr lang="en-US" dirty="0"/>
          </a:p>
          <a:p>
            <a:r>
              <a:rPr lang="en-US" dirty="0"/>
              <a:t>Most importantly,  it allows us to achieve layout-agnostic design.</a:t>
            </a:r>
          </a:p>
        </p:txBody>
      </p:sp>
      <p:sp>
        <p:nvSpPr>
          <p:cNvPr id="4" name="Slide Number Placeholder 3"/>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59057898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35</a:t>
            </a:fld>
            <a:endParaRPr lang="en-US"/>
          </a:p>
        </p:txBody>
      </p:sp>
    </p:spTree>
    <p:extLst>
      <p:ext uri="{BB962C8B-B14F-4D97-AF65-F5344CB8AC3E}">
        <p14:creationId xmlns:p14="http://schemas.microsoft.com/office/powerpoint/2010/main" val="21560310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t>8/27/2026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8/27/2026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8/27/2026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8/27/2026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8/27/2026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8/27/2026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8/27/2026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8/27/2026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8/27/2026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8/27/2026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8/27/2026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DEB8912-975C-4DE8-9A59-8B9C133AEEC5}" type="datetime1">
              <a:rPr lang="en-US" smtClean="0"/>
              <a:t>8/27/2026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26.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9.png"/><Relationship Id="rId7"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hyperlink" Target="https://github.com/matyas-brabec/2025-europar-llm/tree/GPT-5-high"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6.xml"/><Relationship Id="rId5" Type="http://schemas.openxmlformats.org/officeDocument/2006/relationships/image" Target="../media/image30.pn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smtClean="0"/>
              <a:t>8/27/2026</a:t>
            </a:fld>
            <a:endParaRPr lang="en-US"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smtClean="0"/>
              <a:t>1</a:t>
            </a:fld>
            <a:endParaRPr lang="en-US"/>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32B0F3-07AF-DDF2-75A9-BE53A93E33B4}"/>
              </a:ext>
            </a:extLst>
          </p:cNvPr>
          <p:cNvSpPr>
            <a:spLocks noGrp="1"/>
          </p:cNvSpPr>
          <p:nvPr>
            <p:ph type="title"/>
          </p:nvPr>
        </p:nvSpPr>
        <p:spPr/>
        <p:txBody>
          <a:bodyPr/>
          <a:lstStyle/>
          <a:p>
            <a:r>
              <a:rPr lang="en-US" dirty="0"/>
              <a:t>Motivation for memory layouts</a:t>
            </a:r>
          </a:p>
        </p:txBody>
      </p:sp>
      <p:sp>
        <p:nvSpPr>
          <p:cNvPr id="3" name="Content Placeholder 2">
            <a:extLst>
              <a:ext uri="{FF2B5EF4-FFF2-40B4-BE49-F238E27FC236}">
                <a16:creationId xmlns:a16="http://schemas.microsoft.com/office/drawing/2014/main" id="{9CCFAC94-5637-4468-27F3-D65EF4095823}"/>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C879A157-F47D-07F8-BBBF-9D9647E138A7}"/>
              </a:ext>
            </a:extLst>
          </p:cNvPr>
          <p:cNvSpPr>
            <a:spLocks noGrp="1"/>
          </p:cNvSpPr>
          <p:nvPr>
            <p:ph type="dt" sz="half" idx="10"/>
          </p:nvPr>
        </p:nvSpPr>
        <p:spPr/>
        <p:txBody>
          <a:bodyPr/>
          <a:lstStyle/>
          <a:p>
            <a:fld id="{0DAFEF2F-EB87-44F5-8698-5E050EDDA902}" type="datetime1">
              <a:rPr lang="en-US" smtClean="0"/>
              <a:t>8/27/2026</a:t>
            </a:fld>
            <a:endParaRPr lang="en-US"/>
          </a:p>
        </p:txBody>
      </p:sp>
      <p:sp>
        <p:nvSpPr>
          <p:cNvPr id="5" name="Slide Number Placeholder 4">
            <a:extLst>
              <a:ext uri="{FF2B5EF4-FFF2-40B4-BE49-F238E27FC236}">
                <a16:creationId xmlns:a16="http://schemas.microsoft.com/office/drawing/2014/main" id="{1674A618-B628-9F85-14EF-1E83AA91CA35}"/>
              </a:ext>
            </a:extLst>
          </p:cNvPr>
          <p:cNvSpPr>
            <a:spLocks noGrp="1"/>
          </p:cNvSpPr>
          <p:nvPr>
            <p:ph type="sldNum" sz="quarter" idx="12"/>
          </p:nvPr>
        </p:nvSpPr>
        <p:spPr/>
        <p:txBody>
          <a:bodyPr/>
          <a:lstStyle/>
          <a:p>
            <a:fld id="{DA0BB241-1B5F-4309-9407-9EEA04D9598D}" type="slidenum">
              <a:rPr lang="en-US" smtClean="0"/>
              <a:t>2</a:t>
            </a:fld>
            <a:endParaRPr lang="en-US"/>
          </a:p>
        </p:txBody>
      </p:sp>
    </p:spTree>
    <p:extLst>
      <p:ext uri="{BB962C8B-B14F-4D97-AF65-F5344CB8AC3E}">
        <p14:creationId xmlns:p14="http://schemas.microsoft.com/office/powerpoint/2010/main" val="387481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initialization algorithm</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206984" y="1998381"/>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5995525" y="1998381"/>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8584B60-09B2-9CFA-E5B6-2949310DA2AF}"/>
                  </a:ext>
                </a:extLst>
              </p:cNvPr>
              <p:cNvSpPr txBox="1"/>
              <p:nvPr/>
            </p:nvSpPr>
            <p:spPr>
              <a:xfrm>
                <a:off x="2959100" y="1712546"/>
                <a:ext cx="6131935" cy="369332"/>
              </a:xfrm>
              <a:prstGeom prst="rect">
                <a:avLst/>
              </a:prstGeom>
              <a:noFill/>
            </p:spPr>
            <p:txBody>
              <a:bodyPr wrap="none" rtlCol="0">
                <a:spAutoFit/>
              </a:bodyPr>
              <a:lstStyle/>
              <a:p>
                <a14:m>
                  <m:oMath xmlns:m="http://schemas.openxmlformats.org/officeDocument/2006/math">
                    <m:r>
                      <a:rPr lang="en-US" b="0" i="1" noProof="0" smtClean="0">
                        <a:latin typeface="Cambria Math" panose="02040503050406030204" pitchFamily="18" charset="0"/>
                      </a:rPr>
                      <m:t>𝑚</m:t>
                    </m:r>
                    <m:r>
                      <a:rPr lang="en-US" b="0" i="1" noProof="0" smtClean="0">
                        <a:latin typeface="Cambria Math" panose="02040503050406030204" pitchFamily="18" charset="0"/>
                      </a:rPr>
                      <m:t>×</m:t>
                    </m:r>
                    <m:r>
                      <a:rPr lang="en-US" b="0" i="1" noProof="0" smtClean="0">
                        <a:latin typeface="Cambria Math" panose="02040503050406030204" pitchFamily="18" charset="0"/>
                      </a:rPr>
                      <m:t>𝑛</m:t>
                    </m:r>
                  </m:oMath>
                </a14:m>
                <a:r>
                  <a:rPr lang="en-US" noProof="0" dirty="0"/>
                  <a:t> matrix in row-major and column-major </a:t>
                </a:r>
                <a:r>
                  <a:rPr lang="en-US" i="1" noProof="0" dirty="0"/>
                  <a:t>memory layout</a:t>
                </a:r>
              </a:p>
            </p:txBody>
          </p:sp>
        </mc:Choice>
        <mc:Fallback xmlns="">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2959100" y="1712546"/>
                <a:ext cx="6131935" cy="369332"/>
              </a:xfrm>
              <a:prstGeom prst="rect">
                <a:avLst/>
              </a:prstGeom>
              <a:blipFill>
                <a:blip r:embed="rId4"/>
                <a:stretch>
                  <a:fillRect t="-8197" r="-795" b="-26230"/>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4379598" y="4388276"/>
            <a:ext cx="2870200"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in</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m - </a:t>
            </a:r>
            <a:r>
              <a:rPr lang="en-US" sz="1050" b="0" noProof="0" dirty="0">
                <a:solidFill>
                  <a:srgbClr val="098658"/>
                </a:solidFill>
                <a:effectLst/>
                <a:latin typeface="Fira Code" panose="020B0809050000020004" pitchFamily="49" charset="0"/>
              </a:rPr>
              <a:t>1</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in</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n - </a:t>
            </a:r>
            <a:r>
              <a:rPr lang="en-US" sz="1050" b="0" noProof="0" dirty="0">
                <a:solidFill>
                  <a:srgbClr val="098658"/>
                </a:solidFill>
                <a:effectLst/>
                <a:latin typeface="Fira Code" panose="020B0809050000020004" pitchFamily="49" charset="0"/>
              </a:rPr>
              <a:t>1</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matrix[</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err="1">
                <a:solidFill>
                  <a:srgbClr val="000000"/>
                </a:solidFill>
                <a:effectLst/>
                <a:latin typeface="Fira Code" panose="020B0809050000020004" pitchFamily="49" charset="0"/>
              </a:rPr>
              <a:t>init</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21" name="TextBox 20">
            <a:extLst>
              <a:ext uri="{FF2B5EF4-FFF2-40B4-BE49-F238E27FC236}">
                <a16:creationId xmlns:a16="http://schemas.microsoft.com/office/drawing/2014/main" id="{0A8B2928-1B7B-BAA4-93AA-EE7D017C718B}"/>
              </a:ext>
            </a:extLst>
          </p:cNvPr>
          <p:cNvSpPr txBox="1"/>
          <p:nvPr/>
        </p:nvSpPr>
        <p:spPr>
          <a:xfrm>
            <a:off x="4727381" y="3997086"/>
            <a:ext cx="2174634" cy="369332"/>
          </a:xfrm>
          <a:prstGeom prst="rect">
            <a:avLst/>
          </a:prstGeom>
          <a:noFill/>
        </p:spPr>
        <p:txBody>
          <a:bodyPr wrap="none" rtlCol="0">
            <a:spAutoFit/>
          </a:bodyPr>
          <a:lstStyle/>
          <a:p>
            <a:r>
              <a:rPr lang="en-US" noProof="0" dirty="0">
                <a:solidFill>
                  <a:srgbClr val="FF0000"/>
                </a:solidFill>
              </a:rPr>
              <a:t>A row-wise </a:t>
            </a:r>
            <a:r>
              <a:rPr lang="en-US" i="1" noProof="0" dirty="0">
                <a:solidFill>
                  <a:srgbClr val="FF0000"/>
                </a:solidFill>
              </a:rPr>
              <a:t>traversal</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smtClean="0"/>
              <a:t>8/27/2026</a:t>
            </a:fld>
            <a:endParaRPr lang="en-US"/>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smtClean="0"/>
              <a:t>3</a:t>
            </a:fld>
            <a:endParaRPr lang="en-US"/>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dirty="0"/>
              <a:t>Layout-agnostic design</a:t>
            </a:r>
          </a:p>
        </p:txBody>
      </p:sp>
      <p:sp>
        <p:nvSpPr>
          <p:cNvPr id="4" name="TextBox 3">
            <a:extLst>
              <a:ext uri="{FF2B5EF4-FFF2-40B4-BE49-F238E27FC236}">
                <a16:creationId xmlns:a16="http://schemas.microsoft.com/office/drawing/2014/main" id="{EDD56177-6F7A-8FD8-4FD4-8B9E1ED7F901}"/>
              </a:ext>
            </a:extLst>
          </p:cNvPr>
          <p:cNvSpPr txBox="1"/>
          <p:nvPr/>
        </p:nvSpPr>
        <p:spPr>
          <a:xfrm>
            <a:off x="4684542" y="1965725"/>
            <a:ext cx="2870200"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in</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m - </a:t>
            </a:r>
            <a:r>
              <a:rPr lang="en-US" sz="1050" b="0" noProof="0" dirty="0">
                <a:solidFill>
                  <a:srgbClr val="098658"/>
                </a:solidFill>
                <a:effectLst/>
                <a:latin typeface="Fira Code" panose="020B0809050000020004" pitchFamily="49" charset="0"/>
              </a:rPr>
              <a:t>1</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in</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n - </a:t>
            </a:r>
            <a:r>
              <a:rPr lang="en-US" sz="1050" b="0" noProof="0" dirty="0">
                <a:solidFill>
                  <a:srgbClr val="098658"/>
                </a:solidFill>
                <a:effectLst/>
                <a:latin typeface="Fira Code" panose="020B0809050000020004" pitchFamily="49" charset="0"/>
              </a:rPr>
              <a:t>1</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matrix[</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err="1">
                <a:solidFill>
                  <a:srgbClr val="000000"/>
                </a:solidFill>
                <a:effectLst/>
                <a:latin typeface="Fira Code" panose="020B0809050000020004" pitchFamily="49" charset="0"/>
              </a:rPr>
              <a:t>init</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5" name="Rectangle 4">
            <a:extLst>
              <a:ext uri="{FF2B5EF4-FFF2-40B4-BE49-F238E27FC236}">
                <a16:creationId xmlns:a16="http://schemas.microsoft.com/office/drawing/2014/main" id="{67AD0472-1446-D1EE-65D4-7843E287E85D}"/>
              </a:ext>
            </a:extLst>
          </p:cNvPr>
          <p:cNvSpPr/>
          <p:nvPr/>
        </p:nvSpPr>
        <p:spPr>
          <a:xfrm>
            <a:off x="3570207" y="3642963"/>
            <a:ext cx="1445623" cy="13255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TextBox 5">
            <a:extLst>
              <a:ext uri="{FF2B5EF4-FFF2-40B4-BE49-F238E27FC236}">
                <a16:creationId xmlns:a16="http://schemas.microsoft.com/office/drawing/2014/main" id="{E5F019B9-B109-FECE-DF5D-017B5ED66C4E}"/>
              </a:ext>
            </a:extLst>
          </p:cNvPr>
          <p:cNvSpPr txBox="1"/>
          <p:nvPr/>
        </p:nvSpPr>
        <p:spPr>
          <a:xfrm flipH="1">
            <a:off x="3398209" y="3273631"/>
            <a:ext cx="2033456" cy="369332"/>
          </a:xfrm>
          <a:prstGeom prst="rect">
            <a:avLst/>
          </a:prstGeom>
          <a:noFill/>
        </p:spPr>
        <p:txBody>
          <a:bodyPr wrap="square" rtlCol="0">
            <a:spAutoFit/>
          </a:bodyPr>
          <a:lstStyle/>
          <a:p>
            <a:r>
              <a:rPr lang="en-US" noProof="0" dirty="0"/>
              <a:t>Logical structure</a:t>
            </a:r>
          </a:p>
        </p:txBody>
      </p:sp>
      <p:cxnSp>
        <p:nvCxnSpPr>
          <p:cNvPr id="7" name="Straight Arrow Connector 6">
            <a:extLst>
              <a:ext uri="{FF2B5EF4-FFF2-40B4-BE49-F238E27FC236}">
                <a16:creationId xmlns:a16="http://schemas.microsoft.com/office/drawing/2014/main" id="{810D43FC-A3D8-FA7F-57C5-AF9023BC6E13}"/>
              </a:ext>
            </a:extLst>
          </p:cNvPr>
          <p:cNvCxnSpPr/>
          <p:nvPr/>
        </p:nvCxnSpPr>
        <p:spPr>
          <a:xfrm>
            <a:off x="5518752" y="4241508"/>
            <a:ext cx="120178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Rectangle 7">
            <a:extLst>
              <a:ext uri="{FF2B5EF4-FFF2-40B4-BE49-F238E27FC236}">
                <a16:creationId xmlns:a16="http://schemas.microsoft.com/office/drawing/2014/main" id="{D28FBD81-E8B9-43F9-2F96-0AD3BCE3481E}"/>
              </a:ext>
            </a:extLst>
          </p:cNvPr>
          <p:cNvSpPr/>
          <p:nvPr/>
        </p:nvSpPr>
        <p:spPr>
          <a:xfrm>
            <a:off x="6903413" y="4121078"/>
            <a:ext cx="1445623"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TextBox 8">
            <a:extLst>
              <a:ext uri="{FF2B5EF4-FFF2-40B4-BE49-F238E27FC236}">
                <a16:creationId xmlns:a16="http://schemas.microsoft.com/office/drawing/2014/main" id="{266F46F6-CF65-0E55-0650-3C9E5AB72670}"/>
              </a:ext>
            </a:extLst>
          </p:cNvPr>
          <p:cNvSpPr txBox="1"/>
          <p:nvPr/>
        </p:nvSpPr>
        <p:spPr>
          <a:xfrm flipH="1">
            <a:off x="6319936" y="3698656"/>
            <a:ext cx="2612576" cy="369332"/>
          </a:xfrm>
          <a:prstGeom prst="rect">
            <a:avLst/>
          </a:prstGeom>
          <a:noFill/>
        </p:spPr>
        <p:txBody>
          <a:bodyPr wrap="square" rtlCol="0">
            <a:spAutoFit/>
          </a:bodyPr>
          <a:lstStyle/>
          <a:p>
            <a:r>
              <a:rPr lang="en-US"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5098305" y="4993082"/>
            <a:ext cx="2177520" cy="369332"/>
          </a:xfrm>
          <a:prstGeom prst="rect">
            <a:avLst/>
          </a:prstGeom>
          <a:noFill/>
        </p:spPr>
        <p:txBody>
          <a:bodyPr wrap="square" rtlCol="0">
            <a:spAutoFit/>
          </a:bodyPr>
          <a:lstStyle/>
          <a:p>
            <a:r>
              <a:rPr lang="en-US" dirty="0"/>
              <a:t>of a d</a:t>
            </a:r>
            <a:r>
              <a:rPr lang="en-US" noProof="0" dirty="0" err="1"/>
              <a:t>ata</a:t>
            </a:r>
            <a:r>
              <a:rPr lang="en-US" noProof="0" dirty="0"/>
              <a:t>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3"/>
          <a:stretch>
            <a:fillRect/>
          </a:stretch>
        </p:blipFill>
        <p:spPr>
          <a:xfrm>
            <a:off x="5471465" y="5362414"/>
            <a:ext cx="1249070" cy="1241336"/>
          </a:xfrm>
          <a:prstGeom prst="rect">
            <a:avLst/>
          </a:prstGeom>
        </p:spPr>
      </p:pic>
      <p:sp>
        <p:nvSpPr>
          <p:cNvPr id="14" name="TextBox 13">
            <a:extLst>
              <a:ext uri="{FF2B5EF4-FFF2-40B4-BE49-F238E27FC236}">
                <a16:creationId xmlns:a16="http://schemas.microsoft.com/office/drawing/2014/main" id="{34E96574-F1F9-F9B5-C8ED-F4E86756F48A}"/>
              </a:ext>
            </a:extLst>
          </p:cNvPr>
          <p:cNvSpPr txBox="1"/>
          <p:nvPr/>
        </p:nvSpPr>
        <p:spPr>
          <a:xfrm>
            <a:off x="5098305" y="4741746"/>
            <a:ext cx="2042675" cy="369332"/>
          </a:xfrm>
          <a:prstGeom prst="rect">
            <a:avLst/>
          </a:prstGeom>
          <a:noFill/>
        </p:spPr>
        <p:txBody>
          <a:bodyPr wrap="none" rtlCol="0">
            <a:spAutoFit/>
          </a:bodyPr>
          <a:lstStyle/>
          <a:p>
            <a:r>
              <a:rPr lang="en-US" dirty="0"/>
              <a:t>Layout abstraction</a:t>
            </a:r>
          </a:p>
        </p:txBody>
      </p:sp>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smtClean="0"/>
              <a:t>8/27/2026</a:t>
            </a:fld>
            <a:endParaRPr lang="en-US"/>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smtClean="0"/>
              <a:t>4</a:t>
            </a:fld>
            <a:endParaRPr lang="en-US"/>
          </a:p>
        </p:txBody>
      </p:sp>
    </p:spTree>
    <p:extLst>
      <p:ext uri="{BB962C8B-B14F-4D97-AF65-F5344CB8AC3E}">
        <p14:creationId xmlns:p14="http://schemas.microsoft.com/office/powerpoint/2010/main" val="3969746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endParaRPr lang="en-US"/>
          </a:p>
        </p:txBody>
      </p:sp>
      <p:pic>
        <p:nvPicPr>
          <p:cNvPr id="4" name="Picture 3">
            <a:extLst>
              <a:ext uri="{FF2B5EF4-FFF2-40B4-BE49-F238E27FC236}">
                <a16:creationId xmlns:a16="http://schemas.microsoft.com/office/drawing/2014/main" id="{1D6E2E00-9803-C984-963B-DD2146109D50}"/>
              </a:ext>
            </a:extLst>
          </p:cNvPr>
          <p:cNvPicPr>
            <a:picLocks noChangeAspect="1"/>
          </p:cNvPicPr>
          <p:nvPr/>
        </p:nvPicPr>
        <p:blipFill>
          <a:blip r:embed="rId3"/>
          <a:stretch>
            <a:fillRect/>
          </a:stretch>
        </p:blipFill>
        <p:spPr>
          <a:xfrm>
            <a:off x="2435155" y="2594039"/>
            <a:ext cx="1249070" cy="1241336"/>
          </a:xfrm>
          <a:prstGeom prst="rect">
            <a:avLst/>
          </a:prstGeom>
        </p:spPr>
      </p:pic>
      <p:sp>
        <p:nvSpPr>
          <p:cNvPr id="14" name="TextBox 13">
            <a:extLst>
              <a:ext uri="{FF2B5EF4-FFF2-40B4-BE49-F238E27FC236}">
                <a16:creationId xmlns:a16="http://schemas.microsoft.com/office/drawing/2014/main" id="{0B525AC7-FE02-6AD7-8040-C0A6A642009E}"/>
              </a:ext>
            </a:extLst>
          </p:cNvPr>
          <p:cNvSpPr txBox="1"/>
          <p:nvPr/>
        </p:nvSpPr>
        <p:spPr>
          <a:xfrm>
            <a:off x="8915592" y="3547821"/>
            <a:ext cx="3169227" cy="307777"/>
          </a:xfrm>
          <a:prstGeom prst="rect">
            <a:avLst/>
          </a:prstGeom>
          <a:noFill/>
        </p:spPr>
        <p:txBody>
          <a:bodyPr wrap="square">
            <a:spAutoFit/>
          </a:bodyPr>
          <a:lstStyle/>
          <a:p>
            <a:r>
              <a:rPr lang="en-US" sz="1400" dirty="0">
                <a:solidFill>
                  <a:srgbClr val="001080"/>
                </a:solidFill>
                <a:latin typeface="Fira Code" panose="020B0809050000020004" pitchFamily="49" charset="0"/>
              </a:rPr>
              <a:t>matrix</a:t>
            </a:r>
            <a:r>
              <a:rPr lang="en-US" sz="1400" dirty="0">
                <a:solidFill>
                  <a:srgbClr val="000000"/>
                </a:solidFill>
                <a:latin typeface="Fira Code" panose="020B0809050000020004" pitchFamily="49" charset="0"/>
              </a:rPr>
              <a:t>[</a:t>
            </a:r>
            <a:r>
              <a:rPr lang="en-US" sz="1400" dirty="0" err="1">
                <a:solidFill>
                  <a:srgbClr val="0070C1"/>
                </a:solidFill>
                <a:latin typeface="Fira Code" panose="020B0809050000020004" pitchFamily="49" charset="0"/>
              </a:rPr>
              <a:t>idx</a:t>
            </a:r>
            <a:r>
              <a:rPr lang="en-US" sz="1400" dirty="0">
                <a:solidFill>
                  <a:srgbClr val="000000"/>
                </a:solidFill>
                <a:latin typeface="Fira Code" panose="020B0809050000020004" pitchFamily="49" charset="0"/>
              </a:rPr>
              <a:t>&lt;</a:t>
            </a:r>
            <a:r>
              <a:rPr lang="en-US" sz="1400" dirty="0">
                <a:solidFill>
                  <a:srgbClr val="A31515"/>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A31515"/>
                </a:solidFill>
                <a:latin typeface="Fira Code" panose="020B0809050000020004" pitchFamily="49" charset="0"/>
              </a:rPr>
              <a:t>'n'</a:t>
            </a:r>
            <a:r>
              <a:rPr lang="en-US" sz="1400" dirty="0">
                <a:solidFill>
                  <a:srgbClr val="000000"/>
                </a:solidFill>
                <a:latin typeface="Fira Code" panose="020B0809050000020004" pitchFamily="49" charset="0"/>
              </a:rPr>
              <a:t>&gt;(</a:t>
            </a:r>
            <a:r>
              <a:rPr lang="en-US" sz="1400" dirty="0">
                <a:solidFill>
                  <a:srgbClr val="0070C1"/>
                </a:solidFill>
                <a:latin typeface="Fira Code" panose="020B0809050000020004" pitchFamily="49" charset="0"/>
              </a:rPr>
              <a:t>4</a:t>
            </a:r>
            <a:r>
              <a:rPr lang="en-US" sz="1400" dirty="0">
                <a:solidFill>
                  <a:srgbClr val="000000"/>
                </a:solidFill>
                <a:latin typeface="Fira Code" panose="020B0809050000020004" pitchFamily="49" charset="0"/>
              </a:rPr>
              <a:t>, </a:t>
            </a:r>
            <a:r>
              <a:rPr lang="en-US" sz="1400" dirty="0">
                <a:solidFill>
                  <a:srgbClr val="0070C1"/>
                </a:solidFill>
                <a:latin typeface="Fira Code" panose="020B0809050000020004" pitchFamily="49" charset="0"/>
              </a:rPr>
              <a:t>2</a:t>
            </a:r>
            <a:r>
              <a:rPr lang="en-US" sz="1400" dirty="0">
                <a:solidFill>
                  <a:srgbClr val="000000"/>
                </a:solidFill>
                <a:latin typeface="Fira Code" panose="020B0809050000020004" pitchFamily="49" charset="0"/>
              </a:rPr>
              <a:t>)]</a:t>
            </a:r>
            <a:endParaRPr lang="en-US" dirty="0"/>
          </a:p>
        </p:txBody>
      </p:sp>
      <p:cxnSp>
        <p:nvCxnSpPr>
          <p:cNvPr id="16" name="Straight Arrow Connector 15">
            <a:extLst>
              <a:ext uri="{FF2B5EF4-FFF2-40B4-BE49-F238E27FC236}">
                <a16:creationId xmlns:a16="http://schemas.microsoft.com/office/drawing/2014/main" id="{B5102DA4-367F-2E7C-4748-5E5A83284E85}"/>
              </a:ext>
            </a:extLst>
          </p:cNvPr>
          <p:cNvCxnSpPr/>
          <p:nvPr/>
        </p:nvCxnSpPr>
        <p:spPr>
          <a:xfrm>
            <a:off x="8204662" y="3695948"/>
            <a:ext cx="6483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4AB64E0-7A98-B19A-964F-1077043B0728}"/>
              </a:ext>
            </a:extLst>
          </p:cNvPr>
          <p:cNvSpPr txBox="1"/>
          <p:nvPr/>
        </p:nvSpPr>
        <p:spPr>
          <a:xfrm>
            <a:off x="8079856" y="3346960"/>
            <a:ext cx="898003" cy="369332"/>
          </a:xfrm>
          <a:prstGeom prst="rect">
            <a:avLst/>
          </a:prstGeom>
          <a:noFill/>
        </p:spPr>
        <p:txBody>
          <a:bodyPr wrap="none" rtlCol="0">
            <a:spAutoFit/>
          </a:bodyPr>
          <a:lstStyle/>
          <a:p>
            <a:r>
              <a:rPr lang="en-US" dirty="0"/>
              <a:t>access</a:t>
            </a:r>
          </a:p>
        </p:txBody>
      </p:sp>
      <p:grpSp>
        <p:nvGrpSpPr>
          <p:cNvPr id="3" name="Group 2">
            <a:extLst>
              <a:ext uri="{FF2B5EF4-FFF2-40B4-BE49-F238E27FC236}">
                <a16:creationId xmlns:a16="http://schemas.microsoft.com/office/drawing/2014/main" id="{EEAADB24-4B4C-362D-862F-891719F80794}"/>
              </a:ext>
            </a:extLst>
          </p:cNvPr>
          <p:cNvGrpSpPr/>
          <p:nvPr/>
        </p:nvGrpSpPr>
        <p:grpSpPr>
          <a:xfrm>
            <a:off x="4543100" y="3030894"/>
            <a:ext cx="3903812" cy="1444798"/>
            <a:chOff x="4543100" y="3030894"/>
            <a:chExt cx="3903812" cy="1444798"/>
          </a:xfrm>
        </p:grpSpPr>
        <p:sp>
          <p:nvSpPr>
            <p:cNvPr id="6" name="TextBox 5">
              <a:extLst>
                <a:ext uri="{FF2B5EF4-FFF2-40B4-BE49-F238E27FC236}">
                  <a16:creationId xmlns:a16="http://schemas.microsoft.com/office/drawing/2014/main" id="{A28F9A7A-4E68-17F0-FD80-992DB87E748C}"/>
                </a:ext>
              </a:extLst>
            </p:cNvPr>
            <p:cNvSpPr txBox="1"/>
            <p:nvPr/>
          </p:nvSpPr>
          <p:spPr>
            <a:xfrm>
              <a:off x="4543100" y="3030894"/>
              <a:ext cx="3903812" cy="1330108"/>
            </a:xfrm>
            <a:prstGeom prst="rect">
              <a:avLst/>
            </a:prstGeom>
            <a:noFill/>
          </p:spPr>
          <p:txBody>
            <a:bodyPr wrap="square">
              <a:spAutoFit/>
            </a:bodyPr>
            <a:lstStyle/>
            <a:p>
              <a:pPr>
                <a:lnSpc>
                  <a:spcPct val="20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layout</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a:t>
              </a:r>
            </a:p>
          </p:txBody>
        </p:sp>
        <p:sp>
          <p:nvSpPr>
            <p:cNvPr id="8" name="Rectangle 7">
              <a:extLst>
                <a:ext uri="{FF2B5EF4-FFF2-40B4-BE49-F238E27FC236}">
                  <a16:creationId xmlns:a16="http://schemas.microsoft.com/office/drawing/2014/main" id="{FA23D42A-BB3F-3EFA-4CCB-5A700F8F468C}"/>
                </a:ext>
              </a:extLst>
            </p:cNvPr>
            <p:cNvSpPr/>
            <p:nvPr/>
          </p:nvSpPr>
          <p:spPr>
            <a:xfrm>
              <a:off x="6037812" y="3113605"/>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Rectangle 9">
              <a:extLst>
                <a:ext uri="{FF2B5EF4-FFF2-40B4-BE49-F238E27FC236}">
                  <a16:creationId xmlns:a16="http://schemas.microsoft.com/office/drawing/2014/main" id="{99D5C1C8-80D9-8C99-35CE-890BA17FBF13}"/>
                </a:ext>
              </a:extLst>
            </p:cNvPr>
            <p:cNvSpPr/>
            <p:nvPr/>
          </p:nvSpPr>
          <p:spPr>
            <a:xfrm>
              <a:off x="6037811" y="3571000"/>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Rectangle 11">
              <a:extLst>
                <a:ext uri="{FF2B5EF4-FFF2-40B4-BE49-F238E27FC236}">
                  <a16:creationId xmlns:a16="http://schemas.microsoft.com/office/drawing/2014/main" id="{BC8AC22D-D974-2FFF-B64D-6B0E1C0C6D26}"/>
                </a:ext>
              </a:extLst>
            </p:cNvPr>
            <p:cNvSpPr/>
            <p:nvPr/>
          </p:nvSpPr>
          <p:spPr>
            <a:xfrm>
              <a:off x="6037811" y="4040264"/>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Right Brace 17">
              <a:extLst>
                <a:ext uri="{FF2B5EF4-FFF2-40B4-BE49-F238E27FC236}">
                  <a16:creationId xmlns:a16="http://schemas.microsoft.com/office/drawing/2014/main" id="{D66E5204-4017-2EAF-4A60-5194514D442A}"/>
                </a:ext>
              </a:extLst>
            </p:cNvPr>
            <p:cNvSpPr/>
            <p:nvPr/>
          </p:nvSpPr>
          <p:spPr>
            <a:xfrm rot="16200000">
              <a:off x="7058495" y="2820887"/>
              <a:ext cx="156743" cy="68917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9" name="TextBox 18">
            <a:extLst>
              <a:ext uri="{FF2B5EF4-FFF2-40B4-BE49-F238E27FC236}">
                <a16:creationId xmlns:a16="http://schemas.microsoft.com/office/drawing/2014/main" id="{35ECBBC8-9EAB-F864-C40F-1C0E855672E6}"/>
              </a:ext>
            </a:extLst>
          </p:cNvPr>
          <p:cNvSpPr txBox="1"/>
          <p:nvPr/>
        </p:nvSpPr>
        <p:spPr>
          <a:xfrm>
            <a:off x="5001672" y="2658886"/>
            <a:ext cx="5225982" cy="369332"/>
          </a:xfrm>
          <a:prstGeom prst="rect">
            <a:avLst/>
          </a:prstGeom>
          <a:noFill/>
        </p:spPr>
        <p:txBody>
          <a:bodyPr wrap="none" rtlCol="0">
            <a:spAutoFit/>
          </a:bodyPr>
          <a:lstStyle/>
          <a:p>
            <a:r>
              <a:rPr lang="en-US"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453670" y="5426698"/>
            <a:ext cx="3962969" cy="395108"/>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t>
            </a:r>
            <a:r>
              <a:rPr lang="en-US" b="0" noProof="0" dirty="0">
                <a:solidFill>
                  <a:srgbClr val="795E26"/>
                </a:solidFill>
                <a:effectLst/>
                <a:latin typeface="Fira Code" panose="020B0809050000020004" pitchFamily="49" charset="0"/>
              </a:rPr>
              <a:t>bag</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layout</a:t>
            </a:r>
            <a:r>
              <a:rPr lang="en-US" b="0" noProof="0" dirty="0">
                <a:solidFill>
                  <a:srgbClr val="000000"/>
                </a:solidFill>
                <a:effectLst/>
                <a:latin typeface="Fira Code" panose="020B0809050000020004" pitchFamily="49" charset="0"/>
              </a:rPr>
              <a:t>);</a:t>
            </a:r>
          </a:p>
        </p:txBody>
      </p:sp>
      <p:cxnSp>
        <p:nvCxnSpPr>
          <p:cNvPr id="23" name="Straight Arrow Connector 22">
            <a:extLst>
              <a:ext uri="{FF2B5EF4-FFF2-40B4-BE49-F238E27FC236}">
                <a16:creationId xmlns:a16="http://schemas.microsoft.com/office/drawing/2014/main" id="{5143A34A-C925-60C5-12C5-823EF15D1727}"/>
              </a:ext>
            </a:extLst>
          </p:cNvPr>
          <p:cNvCxnSpPr/>
          <p:nvPr/>
        </p:nvCxnSpPr>
        <p:spPr>
          <a:xfrm flipH="1" flipV="1">
            <a:off x="7614663" y="4361002"/>
            <a:ext cx="589999" cy="41050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FB532C9E-1658-59EF-E455-A13798945924}"/>
              </a:ext>
            </a:extLst>
          </p:cNvPr>
          <p:cNvSpPr txBox="1"/>
          <p:nvPr/>
        </p:nvSpPr>
        <p:spPr>
          <a:xfrm>
            <a:off x="8204662" y="4667567"/>
            <a:ext cx="906087" cy="307777"/>
          </a:xfrm>
          <a:prstGeom prst="rect">
            <a:avLst/>
          </a:prstGeom>
          <a:noFill/>
        </p:spPr>
        <p:txBody>
          <a:bodyPr wrap="square">
            <a:spAutoFit/>
          </a:bodyPr>
          <a:lstStyle/>
          <a:p>
            <a:r>
              <a:rPr lang="en-US" sz="1400" dirty="0">
                <a:solidFill>
                  <a:srgbClr val="0070C1"/>
                </a:solidFill>
                <a:latin typeface="Fira Code" panose="020B0809050000020004" pitchFamily="49" charset="0"/>
              </a:rPr>
              <a:t>lit</a:t>
            </a:r>
            <a:r>
              <a:rPr lang="en-US" sz="1400" dirty="0">
                <a:solidFill>
                  <a:srgbClr val="000000"/>
                </a:solidFill>
                <a:latin typeface="Fira Code" panose="020B0809050000020004" pitchFamily="49" charset="0"/>
              </a:rPr>
              <a:t>&lt;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endParaRPr lang="en-US" sz="2800" dirty="0"/>
          </a:p>
        </p:txBody>
      </p:sp>
      <p:sp>
        <p:nvSpPr>
          <p:cNvPr id="26" name="TextBox 25">
            <a:extLst>
              <a:ext uri="{FF2B5EF4-FFF2-40B4-BE49-F238E27FC236}">
                <a16:creationId xmlns:a16="http://schemas.microsoft.com/office/drawing/2014/main" id="{6320A0BC-2EC8-4B11-CD62-23DDBADCEF4D}"/>
              </a:ext>
            </a:extLst>
          </p:cNvPr>
          <p:cNvSpPr txBox="1"/>
          <p:nvPr/>
        </p:nvSpPr>
        <p:spPr>
          <a:xfrm>
            <a:off x="7167247" y="4611764"/>
            <a:ext cx="1137469" cy="369332"/>
          </a:xfrm>
          <a:prstGeom prst="rect">
            <a:avLst/>
          </a:prstGeom>
          <a:noFill/>
        </p:spPr>
        <p:txBody>
          <a:bodyPr wrap="square" rtlCol="0">
            <a:spAutoFit/>
          </a:bodyPr>
          <a:lstStyle/>
          <a:p>
            <a:r>
              <a:rPr lang="en-US" dirty="0"/>
              <a:t>replace</a:t>
            </a:r>
          </a:p>
        </p:txBody>
      </p:sp>
      <p:sp>
        <p:nvSpPr>
          <p:cNvPr id="28" name="TextBox 27">
            <a:extLst>
              <a:ext uri="{FF2B5EF4-FFF2-40B4-BE49-F238E27FC236}">
                <a16:creationId xmlns:a16="http://schemas.microsoft.com/office/drawing/2014/main" id="{15DF814E-5685-475F-2990-B570D542C55C}"/>
              </a:ext>
            </a:extLst>
          </p:cNvPr>
          <p:cNvSpPr txBox="1"/>
          <p:nvPr/>
        </p:nvSpPr>
        <p:spPr>
          <a:xfrm>
            <a:off x="5726948" y="5426698"/>
            <a:ext cx="5603818" cy="639662"/>
          </a:xfrm>
          <a:prstGeom prst="rect">
            <a:avLst/>
          </a:prstGeom>
          <a:noFill/>
          <a:ln>
            <a:solidFill>
              <a:schemeClr val="tx1"/>
            </a:solidFill>
          </a:ln>
        </p:spPr>
        <p:txBody>
          <a:bodyPr wrap="square">
            <a:spAutoFit/>
          </a:bodyPr>
          <a:lstStyle/>
          <a:p>
            <a:pPr>
              <a:lnSpc>
                <a:spcPct val="113095"/>
              </a:lnSpc>
              <a:buNone/>
            </a:pPr>
            <a:r>
              <a:rPr lang="en-US" sz="1600" b="0" noProof="0" dirty="0" err="1">
                <a:solidFill>
                  <a:srgbClr val="795E26"/>
                </a:solidFill>
                <a:effectLst/>
                <a:latin typeface="Fira Code" panose="020B0809050000020004" pitchFamily="49" charset="0"/>
              </a:rPr>
              <a:t>cudaMalloc</a:t>
            </a:r>
            <a:r>
              <a:rPr lang="en-US" sz="1600" b="0" noProof="0" dirty="0">
                <a:solidFill>
                  <a:srgbClr val="000000"/>
                </a:solidFill>
                <a:effectLst/>
                <a:latin typeface="Fira Code" panose="020B0809050000020004" pitchFamily="49" charset="0"/>
              </a:rPr>
              <a:t>(&amp;</a:t>
            </a:r>
            <a:r>
              <a:rPr lang="en-US" sz="1600" b="0" noProof="0" dirty="0" err="1">
                <a:solidFill>
                  <a:srgbClr val="001080"/>
                </a:solidFill>
                <a:effectLst/>
                <a:latin typeface="Fira Code" panose="020B0809050000020004" pitchFamily="49" charset="0"/>
              </a:rPr>
              <a:t>cuBuffer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 </a:t>
            </a: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get_size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matrix_view</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cuBuffer</a:t>
            </a:r>
            <a:r>
              <a:rPr lang="en-US" sz="16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smtClean="0"/>
              <a:t>8/27/2026</a:t>
            </a:fld>
            <a:endParaRPr lang="en-US"/>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smtClean="0"/>
              <a:t>5</a:t>
            </a:fld>
            <a:endParaRPr lang="en-US"/>
          </a:p>
        </p:txBody>
      </p:sp>
    </p:spTree>
    <p:extLst>
      <p:ext uri="{BB962C8B-B14F-4D97-AF65-F5344CB8AC3E}">
        <p14:creationId xmlns:p14="http://schemas.microsoft.com/office/powerpoint/2010/main" val="11293004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2BA87-ADA6-CE21-2F9F-65EB68B210BE}"/>
              </a:ext>
            </a:extLst>
          </p:cNvPr>
          <p:cNvSpPr>
            <a:spLocks noGrp="1"/>
          </p:cNvSpPr>
          <p:nvPr>
            <p:ph type="title"/>
          </p:nvPr>
        </p:nvSpPr>
        <p:spPr/>
        <p:txBody>
          <a:bodyPr/>
          <a:lstStyle/>
          <a:p>
            <a:endParaRPr lang="en-US"/>
          </a:p>
        </p:txBody>
      </p:sp>
      <p:sp>
        <p:nvSpPr>
          <p:cNvPr id="4" name="TextBox 3">
            <a:extLst>
              <a:ext uri="{FF2B5EF4-FFF2-40B4-BE49-F238E27FC236}">
                <a16:creationId xmlns:a16="http://schemas.microsoft.com/office/drawing/2014/main" id="{6BEBBAE8-9564-BF75-198B-BAF5152BFACC}"/>
              </a:ext>
            </a:extLst>
          </p:cNvPr>
          <p:cNvSpPr txBox="1"/>
          <p:nvPr/>
        </p:nvSpPr>
        <p:spPr>
          <a:xfrm>
            <a:off x="733939" y="2010220"/>
            <a:ext cx="7454097" cy="1472070"/>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make_mn_layout</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vector</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vector</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2000" dirty="0">
                <a:solidFill>
                  <a:srgbClr val="0070C1"/>
                </a:solidFill>
                <a:latin typeface="Fira Code" panose="020B0809050000020004" pitchFamily="49" charset="0"/>
              </a:rPr>
              <a:t>lit</a:t>
            </a:r>
            <a:r>
              <a:rPr lang="en-US" sz="2000" dirty="0">
                <a:solidFill>
                  <a:srgbClr val="000000"/>
                </a:solidFill>
                <a:latin typeface="Fira Code" panose="020B0809050000020004" pitchFamily="49" charset="0"/>
              </a:rPr>
              <a:t>&lt;</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p>
          <a:p>
            <a:pPr>
              <a:lnSpc>
                <a:spcPct val="113095"/>
              </a:lnSpc>
              <a:buNone/>
            </a:pPr>
            <a:br>
              <a:rPr lang="en-US" sz="2000" b="0" noProof="0" dirty="0">
                <a:solidFill>
                  <a:srgbClr val="000000"/>
                </a:solidFill>
                <a:effectLst/>
                <a:latin typeface="Fira Code" panose="020B0809050000020004" pitchFamily="49" charset="0"/>
              </a:rPr>
            </a:b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267F99"/>
                </a:solidFill>
                <a:effectLst/>
                <a:latin typeface="Fira Code" panose="020B0809050000020004" pitchFamily="49" charset="0"/>
              </a:rPr>
              <a:t>scalar</a:t>
            </a:r>
            <a:r>
              <a:rPr lang="en-US" sz="2000" b="0" noProof="0" dirty="0">
                <a:solidFill>
                  <a:srgbClr val="000000"/>
                </a:solidFill>
                <a:effectLst/>
                <a:latin typeface="Fira Code" panose="020B0809050000020004" pitchFamily="49" charset="0"/>
              </a:rPr>
              <a:t>&lt;</a:t>
            </a:r>
            <a:r>
              <a:rPr lang="en-US" sz="2000" b="0" noProof="0" dirty="0">
                <a:solidFill>
                  <a:srgbClr val="0000FF"/>
                </a:solidFill>
                <a:effectLst/>
                <a:latin typeface="Fira Code" panose="020B0809050000020004" pitchFamily="49" charset="0"/>
              </a:rPr>
              <a:t>float</a:t>
            </a:r>
            <a:r>
              <a:rPr lang="en-US" sz="2000" b="0" noProof="0" dirty="0">
                <a:solidFill>
                  <a:srgbClr val="000000"/>
                </a:solidFill>
                <a:effectLst/>
                <a:latin typeface="Fira Code" panose="020B0809050000020004" pitchFamily="49" charset="0"/>
              </a:rPr>
              <a:t>&gt;() ^ </a:t>
            </a:r>
            <a:r>
              <a:rPr lang="en-US" sz="2000" b="0" noProof="0" dirty="0" err="1">
                <a:solidFill>
                  <a:srgbClr val="001080"/>
                </a:solidFill>
                <a:effectLst/>
                <a:latin typeface="Fira Code" panose="020B0809050000020004" pitchFamily="49" charset="0"/>
              </a:rPr>
              <a:t>make_mn_layout</a:t>
            </a:r>
            <a:r>
              <a:rPr lang="en-US" sz="2000" b="0" noProof="0" dirty="0">
                <a:solidFill>
                  <a:srgbClr val="000000"/>
                </a:solidFill>
                <a:effectLst/>
                <a:latin typeface="Fira Code" panose="020B0809050000020004" pitchFamily="49" charset="0"/>
              </a:rPr>
              <a:t>;</a:t>
            </a:r>
          </a:p>
        </p:txBody>
      </p:sp>
      <p:sp>
        <p:nvSpPr>
          <p:cNvPr id="6" name="TextBox 5">
            <a:extLst>
              <a:ext uri="{FF2B5EF4-FFF2-40B4-BE49-F238E27FC236}">
                <a16:creationId xmlns:a16="http://schemas.microsoft.com/office/drawing/2014/main" id="{11576DD8-80C2-D612-5FC4-AC07F00ECAF2}"/>
              </a:ext>
            </a:extLst>
          </p:cNvPr>
          <p:cNvSpPr txBox="1"/>
          <p:nvPr/>
        </p:nvSpPr>
        <p:spPr>
          <a:xfrm>
            <a:off x="6339643" y="4041543"/>
            <a:ext cx="5280634" cy="2308965"/>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matrix_template</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p>
          <a:p>
            <a:pPr>
              <a:lnSpc>
                <a:spcPct val="113095"/>
              </a:lnSpc>
              <a:buNone/>
            </a:pPr>
            <a:br>
              <a:rPr lang="en-US" sz="1600" b="0" noProof="0" dirty="0">
                <a:solidFill>
                  <a:srgbClr val="000000"/>
                </a:solidFill>
                <a:effectLst/>
                <a:latin typeface="Fira Code" panose="020B0809050000020004" pitchFamily="49" charset="0"/>
              </a:rPr>
            </a:b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matrix</a:t>
            </a:r>
            <a:r>
              <a:rPr lang="en-US" sz="1600" b="0" noProof="0" dirty="0">
                <a:solidFill>
                  <a:srgbClr val="000000"/>
                </a:solidFill>
                <a:effectLst/>
                <a:latin typeface="Fira Code" panose="020B0809050000020004" pitchFamily="49" charset="0"/>
              </a:rPr>
              <a:t> = </a:t>
            </a:r>
            <a:r>
              <a:rPr lang="en-US" sz="1600" b="0" noProof="0" dirty="0" err="1">
                <a:solidFill>
                  <a:srgbClr val="001080"/>
                </a:solidFill>
                <a:effectLst/>
                <a:latin typeface="Fira Code" panose="020B0809050000020004" pitchFamily="49" charset="0"/>
              </a:rPr>
              <a:t>matrix_template</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set_length</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set_length</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a:t>
            </a:r>
          </a:p>
        </p:txBody>
      </p:sp>
      <p:sp>
        <p:nvSpPr>
          <p:cNvPr id="7" name="Date Placeholder 6">
            <a:extLst>
              <a:ext uri="{FF2B5EF4-FFF2-40B4-BE49-F238E27FC236}">
                <a16:creationId xmlns:a16="http://schemas.microsoft.com/office/drawing/2014/main" id="{8167C2A3-A6EB-E986-BB56-227E7CC44045}"/>
              </a:ext>
            </a:extLst>
          </p:cNvPr>
          <p:cNvSpPr>
            <a:spLocks noGrp="1"/>
          </p:cNvSpPr>
          <p:nvPr>
            <p:ph type="dt" sz="half" idx="10"/>
          </p:nvPr>
        </p:nvSpPr>
        <p:spPr/>
        <p:txBody>
          <a:bodyPr/>
          <a:lstStyle/>
          <a:p>
            <a:fld id="{60762CC1-CEC8-4962-8ADE-D01B91546622}" type="datetime1">
              <a:rPr lang="en-US" smtClean="0"/>
              <a:t>8/27/2026</a:t>
            </a:fld>
            <a:endParaRPr lang="en-US"/>
          </a:p>
        </p:txBody>
      </p:sp>
      <p:sp>
        <p:nvSpPr>
          <p:cNvPr id="8" name="Slide Number Placeholder 7">
            <a:extLst>
              <a:ext uri="{FF2B5EF4-FFF2-40B4-BE49-F238E27FC236}">
                <a16:creationId xmlns:a16="http://schemas.microsoft.com/office/drawing/2014/main" id="{1A5672EE-876F-7378-AD5C-9D8F3F5CF486}"/>
              </a:ext>
            </a:extLst>
          </p:cNvPr>
          <p:cNvSpPr>
            <a:spLocks noGrp="1"/>
          </p:cNvSpPr>
          <p:nvPr>
            <p:ph type="sldNum" sz="quarter" idx="12"/>
          </p:nvPr>
        </p:nvSpPr>
        <p:spPr/>
        <p:txBody>
          <a:bodyPr/>
          <a:lstStyle/>
          <a:p>
            <a:fld id="{DA0BB241-1B5F-4309-9407-9EEA04D9598D}" type="slidenum">
              <a:rPr lang="en-US" smtClean="0"/>
              <a:t>6</a:t>
            </a:fld>
            <a:endParaRPr lang="en-US"/>
          </a:p>
        </p:txBody>
      </p:sp>
    </p:spTree>
    <p:extLst>
      <p:ext uri="{BB962C8B-B14F-4D97-AF65-F5344CB8AC3E}">
        <p14:creationId xmlns:p14="http://schemas.microsoft.com/office/powerpoint/2010/main" val="16048448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endParaRPr lang="en-US" noProof="0" dirty="0"/>
          </a:p>
        </p:txBody>
      </p:sp>
      <p:sp>
        <p:nvSpPr>
          <p:cNvPr id="8" name="TextBox 7">
            <a:extLst>
              <a:ext uri="{FF2B5EF4-FFF2-40B4-BE49-F238E27FC236}">
                <a16:creationId xmlns:a16="http://schemas.microsoft.com/office/drawing/2014/main" id="{26810423-91C4-985C-7F32-62943219F93C}"/>
              </a:ext>
            </a:extLst>
          </p:cNvPr>
          <p:cNvSpPr txBox="1"/>
          <p:nvPr/>
        </p:nvSpPr>
        <p:spPr>
          <a:xfrm>
            <a:off x="3872221" y="5250091"/>
            <a:ext cx="4723015" cy="154721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dirty="0">
                <a:solidFill>
                  <a:srgbClr val="A31515"/>
                </a:solidFill>
                <a:latin typeface="Fira Code" panose="020B0809050000020004" pitchFamily="49" charset="0"/>
              </a:rPr>
              <a:t>'</a:t>
            </a:r>
            <a:r>
              <a:rPr lang="en-US" sz="1050" b="0" noProof="0" dirty="0">
                <a:solidFill>
                  <a:srgbClr val="A31515"/>
                </a:solidFill>
                <a:effectLst/>
                <a:latin typeface="Fira Code" panose="020B0809050000020004" pitchFamily="49" charset="0"/>
              </a:rPr>
              <a:t>p'</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P</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dirty="0">
                <a:solidFill>
                  <a:srgbClr val="A31515"/>
                </a:solidFill>
                <a:latin typeface="Fira Code" panose="020B0809050000020004" pitchFamily="49" charset="0"/>
              </a:rPr>
              <a:t>'</a:t>
            </a:r>
            <a:r>
              <a:rPr lang="en-US" sz="1050" b="0" noProof="0" dirty="0">
                <a:solidFill>
                  <a:srgbClr val="A31515"/>
                </a:solidFill>
                <a:effectLst/>
                <a:latin typeface="Fira Code" panose="020B0809050000020004" pitchFamily="49" charset="0"/>
              </a:rPr>
              <a:t>p'</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dirty="0">
                <a:solidFill>
                  <a:srgbClr val="A31515"/>
                </a:solidFill>
                <a:latin typeface="Fira Code" panose="020B0809050000020004" pitchFamily="49" charset="0"/>
              </a:rPr>
              <a:t>'</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P</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pPr>
            <a:r>
              <a:rPr lang="en-US" sz="1050" dirty="0">
                <a:solidFill>
                  <a:srgbClr val="267F99"/>
                </a:solidFill>
                <a:latin typeface="Fira Code" panose="020B0809050000020004" pitchFamily="49" charset="0"/>
              </a:rPr>
              <a:t>auto</a:t>
            </a:r>
            <a:r>
              <a:rPr lang="en-US" sz="1050" dirty="0">
                <a:solidFill>
                  <a:srgbClr val="000000"/>
                </a:solidFill>
                <a:latin typeface="Fira Code" panose="020B0809050000020004" pitchFamily="49" charset="0"/>
              </a:rPr>
              <a:t> </a:t>
            </a:r>
            <a:r>
              <a:rPr lang="en-US" sz="1050" dirty="0">
                <a:solidFill>
                  <a:srgbClr val="001080"/>
                </a:solidFill>
                <a:latin typeface="Fira Code" panose="020B0809050000020004" pitchFamily="49" charset="0"/>
              </a:rPr>
              <a:t>C</a:t>
            </a:r>
            <a:r>
              <a:rPr lang="en-US" sz="1050" dirty="0">
                <a:solidFill>
                  <a:srgbClr val="000000"/>
                </a:solidFill>
                <a:latin typeface="Fira Code" panose="020B0809050000020004" pitchFamily="49" charset="0"/>
              </a:rPr>
              <a:t> = </a:t>
            </a:r>
            <a:r>
              <a:rPr lang="en-US" sz="1050" dirty="0">
                <a:solidFill>
                  <a:srgbClr val="795E26"/>
                </a:solidFill>
                <a:latin typeface="Fira Code" panose="020B0809050000020004" pitchFamily="49" charset="0"/>
              </a:rPr>
              <a:t>bag</a:t>
            </a:r>
            <a:r>
              <a:rPr lang="en-US" sz="1050" dirty="0">
                <a:solidFill>
                  <a:srgbClr val="000000"/>
                </a:solidFill>
                <a:latin typeface="Fira Code" panose="020B0809050000020004" pitchFamily="49" charset="0"/>
              </a:rPr>
              <a:t>(</a:t>
            </a:r>
            <a:r>
              <a:rPr lang="en-US" sz="1050" dirty="0">
                <a:solidFill>
                  <a:srgbClr val="267F99"/>
                </a:solidFill>
                <a:latin typeface="Fira Code" panose="020B0809050000020004" pitchFamily="49" charset="0"/>
              </a:rPr>
              <a:t>scalar</a:t>
            </a:r>
            <a:r>
              <a:rPr lang="en-US" sz="1050" dirty="0">
                <a:solidFill>
                  <a:srgbClr val="000000"/>
                </a:solidFill>
                <a:latin typeface="Fira Code" panose="020B0809050000020004" pitchFamily="49" charset="0"/>
              </a:rPr>
              <a:t>&lt;</a:t>
            </a:r>
            <a:r>
              <a:rPr lang="en-US" sz="1050" dirty="0">
                <a:solidFill>
                  <a:srgbClr val="0000FF"/>
                </a:solidFill>
                <a:latin typeface="Fira Code" panose="020B0809050000020004" pitchFamily="49" charset="0"/>
              </a:rPr>
              <a:t>float</a:t>
            </a:r>
            <a:r>
              <a:rPr lang="en-US" sz="1050" dirty="0">
                <a:solidFill>
                  <a:srgbClr val="000000"/>
                </a:solidFill>
                <a:latin typeface="Fira Code" panose="020B0809050000020004" pitchFamily="49" charset="0"/>
              </a:rPr>
              <a:t>&gt;() ^ </a:t>
            </a:r>
            <a:r>
              <a:rPr lang="en-US" sz="1050" dirty="0">
                <a:solidFill>
                  <a:srgbClr val="795E26"/>
                </a:solidFill>
                <a:latin typeface="Fira Code" panose="020B0809050000020004" pitchFamily="49" charset="0"/>
              </a:rPr>
              <a:t>vectors</a:t>
            </a:r>
            <a:r>
              <a:rPr lang="en-US" sz="1050" dirty="0">
                <a:solidFill>
                  <a:srgbClr val="000000"/>
                </a:solidFill>
                <a:latin typeface="Fira Code" panose="020B0809050000020004" pitchFamily="49" charset="0"/>
              </a:rPr>
              <a:t>&lt;</a:t>
            </a:r>
            <a:r>
              <a:rPr lang="en-US" sz="1050" dirty="0">
                <a:solidFill>
                  <a:srgbClr val="A31515"/>
                </a:solidFill>
                <a:latin typeface="Fira Code" panose="020B0809050000020004" pitchFamily="49" charset="0"/>
              </a:rPr>
              <a:t>'m'</a:t>
            </a:r>
            <a:r>
              <a:rPr lang="en-US" sz="1050" dirty="0">
                <a:solidFill>
                  <a:srgbClr val="000000"/>
                </a:solidFill>
                <a:latin typeface="Fira Code" panose="020B0809050000020004" pitchFamily="49" charset="0"/>
              </a:rPr>
              <a:t>, </a:t>
            </a:r>
            <a:r>
              <a:rPr lang="en-US" sz="1050" dirty="0">
                <a:solidFill>
                  <a:srgbClr val="A31515"/>
                </a:solidFill>
                <a:latin typeface="Fira Code" panose="020B0809050000020004" pitchFamily="49" charset="0"/>
              </a:rPr>
              <a:t>'n'</a:t>
            </a:r>
            <a:r>
              <a:rPr lang="en-US" sz="1050" dirty="0">
                <a:solidFill>
                  <a:srgbClr val="000000"/>
                </a:solidFill>
                <a:latin typeface="Fira Code" panose="020B0809050000020004" pitchFamily="49" charset="0"/>
              </a:rPr>
              <a:t>&gt;(</a:t>
            </a:r>
            <a:r>
              <a:rPr lang="en-US" sz="1050" dirty="0">
                <a:solidFill>
                  <a:srgbClr val="0070C1"/>
                </a:solidFill>
                <a:latin typeface="Fira Code" panose="020B0809050000020004" pitchFamily="49" charset="0"/>
              </a:rPr>
              <a:t>M</a:t>
            </a:r>
            <a:r>
              <a:rPr lang="en-US" sz="1050" dirty="0">
                <a:solidFill>
                  <a:srgbClr val="000000"/>
                </a:solidFill>
                <a:latin typeface="Fira Code" panose="020B0809050000020004" pitchFamily="49" charset="0"/>
              </a:rPr>
              <a:t>, </a:t>
            </a:r>
            <a:r>
              <a:rPr lang="en-US" sz="1050" dirty="0">
                <a:solidFill>
                  <a:srgbClr val="0070C1"/>
                </a:solidFill>
                <a:latin typeface="Fira Code" panose="020B0809050000020004" pitchFamily="49" charset="0"/>
              </a:rPr>
              <a:t>N</a:t>
            </a:r>
            <a:r>
              <a:rPr lang="en-US" sz="1050" dirty="0">
                <a:solidFill>
                  <a:srgbClr val="000000"/>
                </a:solidFill>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12" name="TextBox 11">
            <a:extLst>
              <a:ext uri="{FF2B5EF4-FFF2-40B4-BE49-F238E27FC236}">
                <a16:creationId xmlns:a16="http://schemas.microsoft.com/office/drawing/2014/main" id="{771F4919-C499-3F7D-4116-17B83C53ED34}"/>
              </a:ext>
            </a:extLst>
          </p:cNvPr>
          <p:cNvSpPr txBox="1"/>
          <p:nvPr/>
        </p:nvSpPr>
        <p:spPr>
          <a:xfrm>
            <a:off x="1538051" y="3071899"/>
            <a:ext cx="3530932"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dirty="0" err="1">
                <a:solidFill>
                  <a:srgbClr val="795E26"/>
                </a:solidFill>
                <a:latin typeface="Fira Code" panose="020B0809050000020004" pitchFamily="49" charset="0"/>
              </a:rPr>
              <a:t>init</a:t>
            </a:r>
            <a:r>
              <a:rPr lang="en-US" sz="1050" dirty="0">
                <a:solidFill>
                  <a:srgbClr val="000000"/>
                </a:solidFill>
                <a:latin typeface="Fira Code" panose="020B0809050000020004" pitchFamily="49" charset="0"/>
              </a:rPr>
              <a:t>(</a:t>
            </a:r>
            <a:r>
              <a:rPr lang="en-US" sz="1050" dirty="0">
                <a:solidFill>
                  <a:srgbClr val="001080"/>
                </a:solidFill>
                <a:latin typeface="Fira Code" panose="020B0809050000020004" pitchFamily="49" charset="0"/>
              </a:rPr>
              <a:t>index</a:t>
            </a:r>
            <a:r>
              <a:rPr lang="en-US" sz="1050" dirty="0">
                <a:solidFill>
                  <a:srgbClr val="000000"/>
                </a:solidFill>
                <a:latin typeface="Fira Code" panose="020B0809050000020004" pitchFamily="49" charset="0"/>
              </a:rPr>
              <a:t>)</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6951419" y="3111926"/>
            <a:ext cx="3530932"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from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to</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to</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from</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1867591" y="2026812"/>
            <a:ext cx="2870200"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in</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m - </a:t>
            </a:r>
            <a:r>
              <a:rPr lang="en-US" sz="1050" b="0" noProof="0" dirty="0">
                <a:solidFill>
                  <a:srgbClr val="098658"/>
                </a:solidFill>
                <a:effectLst/>
                <a:latin typeface="Fira Code" panose="020B0809050000020004" pitchFamily="49" charset="0"/>
              </a:rPr>
              <a:t>1</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in</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n - </a:t>
            </a:r>
            <a:r>
              <a:rPr lang="en-US" sz="1050" b="0" noProof="0" dirty="0">
                <a:solidFill>
                  <a:srgbClr val="098658"/>
                </a:solidFill>
                <a:effectLst/>
                <a:latin typeface="Fira Code" panose="020B0809050000020004" pitchFamily="49" charset="0"/>
              </a:rPr>
              <a:t>1</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matrix[</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err="1">
                <a:solidFill>
                  <a:srgbClr val="000000"/>
                </a:solidFill>
                <a:effectLst/>
                <a:latin typeface="Fira Code" panose="020B0809050000020004" pitchFamily="49" charset="0"/>
              </a:rPr>
              <a:t>init</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stCxn id="3" idx="1"/>
          </p:cNvCxnSpPr>
          <p:nvPr/>
        </p:nvCxnSpPr>
        <p:spPr>
          <a:xfrm rot="10800000" flipV="1">
            <a:off x="1662545" y="2343885"/>
            <a:ext cx="205046" cy="728013"/>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pic>
        <p:nvPicPr>
          <p:cNvPr id="7" name="Picture 6">
            <a:extLst>
              <a:ext uri="{FF2B5EF4-FFF2-40B4-BE49-F238E27FC236}">
                <a16:creationId xmlns:a16="http://schemas.microsoft.com/office/drawing/2014/main" id="{8540D793-376A-F83F-C9D7-12E23E131CE5}"/>
              </a:ext>
            </a:extLst>
          </p:cNvPr>
          <p:cNvPicPr>
            <a:picLocks noChangeAspect="1"/>
          </p:cNvPicPr>
          <p:nvPr/>
        </p:nvPicPr>
        <p:blipFill>
          <a:blip r:embed="rId3"/>
          <a:stretch>
            <a:fillRect/>
          </a:stretch>
        </p:blipFill>
        <p:spPr>
          <a:xfrm>
            <a:off x="4905375" y="3920186"/>
            <a:ext cx="2381250" cy="1352550"/>
          </a:xfrm>
          <a:prstGeom prst="rect">
            <a:avLst/>
          </a:prstGeom>
        </p:spPr>
      </p:pic>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smtClean="0"/>
              <a:t>8/27/2026</a:t>
            </a:fld>
            <a:endParaRPr lang="en-US"/>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smtClean="0"/>
              <a:t>7</a:t>
            </a:fld>
            <a:endParaRPr lang="en-US"/>
          </a:p>
        </p:txBody>
      </p:sp>
    </p:spTree>
    <p:extLst>
      <p:ext uri="{BB962C8B-B14F-4D97-AF65-F5344CB8AC3E}">
        <p14:creationId xmlns:p14="http://schemas.microsoft.com/office/powerpoint/2010/main" val="19124478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endParaRPr lang="en-US" noProof="0" dirty="0"/>
          </a:p>
        </p:txBody>
      </p:sp>
      <p:sp>
        <p:nvSpPr>
          <p:cNvPr id="8" name="TextBox 7">
            <a:extLst>
              <a:ext uri="{FF2B5EF4-FFF2-40B4-BE49-F238E27FC236}">
                <a16:creationId xmlns:a16="http://schemas.microsoft.com/office/drawing/2014/main" id="{B17E6F97-71C0-E7B6-3913-C7F1E0B84654}"/>
              </a:ext>
            </a:extLst>
          </p:cNvPr>
          <p:cNvSpPr txBox="1"/>
          <p:nvPr/>
        </p:nvSpPr>
        <p:spPr>
          <a:xfrm>
            <a:off x="376823" y="2082114"/>
            <a:ext cx="5464923"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 = </a:t>
            </a:r>
            <a:r>
              <a:rPr lang="en-US" sz="1600" b="0" noProof="0" dirty="0" err="1">
                <a:solidFill>
                  <a:srgbClr val="795E26"/>
                </a:solidFill>
                <a:effectLst/>
                <a:latin typeface="Fira Code" panose="020B0809050000020004" pitchFamily="49" charset="0"/>
              </a:rPr>
              <a:t>into_blocks</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into_blocks</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hoist</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p>
        </p:txBody>
      </p:sp>
      <p:sp>
        <p:nvSpPr>
          <p:cNvPr id="3" name="TextBox 2">
            <a:extLst>
              <a:ext uri="{FF2B5EF4-FFF2-40B4-BE49-F238E27FC236}">
                <a16:creationId xmlns:a16="http://schemas.microsoft.com/office/drawing/2014/main" id="{D494DC07-12F0-E28A-EFF4-4CF7F2299BE3}"/>
              </a:ext>
            </a:extLst>
          </p:cNvPr>
          <p:cNvSpPr txBox="1"/>
          <p:nvPr/>
        </p:nvSpPr>
        <p:spPr>
          <a:xfrm>
            <a:off x="22168" y="3395316"/>
            <a:ext cx="6174234"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0"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 | [&amp;](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63E4D446-FA75-8892-1F63-4A50AD51D638}"/>
              </a:ext>
            </a:extLst>
          </p:cNvPr>
          <p:cNvCxnSpPr>
            <a:cxnSpLocks/>
            <a:stCxn id="8" idx="2"/>
            <a:endCxn id="3" idx="0"/>
          </p:cNvCxnSpPr>
          <p:nvPr/>
        </p:nvCxnSpPr>
        <p:spPr>
          <a:xfrm>
            <a:off x="3109285" y="2999994"/>
            <a:ext cx="0" cy="3953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CC491D5F-87A9-86A7-7FCA-6D057EBD3917}"/>
              </a:ext>
            </a:extLst>
          </p:cNvPr>
          <p:cNvSpPr txBox="1"/>
          <p:nvPr/>
        </p:nvSpPr>
        <p:spPr>
          <a:xfrm>
            <a:off x="6779116" y="2080889"/>
            <a:ext cx="4707604" cy="814710"/>
          </a:xfrm>
          <a:prstGeom prst="rect">
            <a:avLst/>
          </a:prstGeom>
          <a:noFill/>
          <a:ln>
            <a:solidFill>
              <a:schemeClr val="tx1"/>
            </a:solidFill>
          </a:ln>
        </p:spPr>
        <p:txBody>
          <a:bodyPr wrap="square">
            <a:spAutoFit/>
          </a:bodyPr>
          <a:lstStyle/>
          <a:p>
            <a:pPr>
              <a:lnSpc>
                <a:spcPct val="113095"/>
              </a:lnSpc>
              <a:buNone/>
            </a:pP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dirty="0" err="1">
                <a:solidFill>
                  <a:srgbClr val="795E26"/>
                </a:solidFill>
                <a:latin typeface="Fira Code" panose="020B0809050000020004" pitchFamily="49" charset="0"/>
              </a:rPr>
              <a:t>init</a:t>
            </a:r>
            <a:r>
              <a:rPr lang="en-US" sz="1400" dirty="0">
                <a:solidFill>
                  <a:srgbClr val="000000"/>
                </a:solidFill>
                <a:latin typeface="Fira Code" panose="020B0809050000020004" pitchFamily="49" charset="0"/>
              </a:rPr>
              <a:t>(</a:t>
            </a:r>
            <a:r>
              <a:rPr lang="en-US" sz="1400" dirty="0">
                <a:solidFill>
                  <a:srgbClr val="001080"/>
                </a:solidFill>
                <a:latin typeface="Fira Code" panose="020B0809050000020004" pitchFamily="49" charset="0"/>
              </a:rPr>
              <a:t>index</a:t>
            </a:r>
            <a:r>
              <a:rPr lang="en-US" sz="140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cxnSp>
        <p:nvCxnSpPr>
          <p:cNvPr id="19" name="Straight Arrow Connector 18">
            <a:extLst>
              <a:ext uri="{FF2B5EF4-FFF2-40B4-BE49-F238E27FC236}">
                <a16:creationId xmlns:a16="http://schemas.microsoft.com/office/drawing/2014/main" id="{4DA75F1C-EAFF-E762-3C05-5DE016DCE536}"/>
              </a:ext>
            </a:extLst>
          </p:cNvPr>
          <p:cNvCxnSpPr>
            <a:cxnSpLocks/>
            <a:stCxn id="17" idx="2"/>
            <a:endCxn id="20" idx="0"/>
          </p:cNvCxnSpPr>
          <p:nvPr/>
        </p:nvCxnSpPr>
        <p:spPr>
          <a:xfrm>
            <a:off x="9132918" y="2895599"/>
            <a:ext cx="0" cy="49971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4915A9C6-A6D8-702B-6337-4504A626F924}"/>
              </a:ext>
            </a:extLst>
          </p:cNvPr>
          <p:cNvGrpSpPr/>
          <p:nvPr/>
        </p:nvGrpSpPr>
        <p:grpSpPr>
          <a:xfrm>
            <a:off x="6303127" y="3395316"/>
            <a:ext cx="5659582" cy="2460566"/>
            <a:chOff x="7021150" y="3108961"/>
            <a:chExt cx="4244962" cy="2460566"/>
          </a:xfrm>
        </p:grpSpPr>
        <p:sp>
          <p:nvSpPr>
            <p:cNvPr id="13" name="TextBox 12">
              <a:extLst>
                <a:ext uri="{FF2B5EF4-FFF2-40B4-BE49-F238E27FC236}">
                  <a16:creationId xmlns:a16="http://schemas.microsoft.com/office/drawing/2014/main" id="{F1D88C1D-F06F-5ACA-392E-B0B03F940713}"/>
                </a:ext>
              </a:extLst>
            </p:cNvPr>
            <p:cNvSpPr txBox="1"/>
            <p:nvPr/>
          </p:nvSpPr>
          <p:spPr>
            <a:xfrm>
              <a:off x="7079772" y="3214970"/>
              <a:ext cx="4106291" cy="814710"/>
            </a:xfrm>
            <a:prstGeom prst="rect">
              <a:avLst/>
            </a:prstGeom>
            <a:noFill/>
            <a:ln>
              <a:solidFill>
                <a:schemeClr val="tx1"/>
              </a:solidFill>
            </a:ln>
          </p:spPr>
          <p:txBody>
            <a:bodyPr wrap="square">
              <a:spAutoFit/>
            </a:bodyPr>
            <a:lstStyle/>
            <a:p>
              <a:pPr>
                <a:lnSpc>
                  <a:spcPct val="113095"/>
                </a:lnSpc>
                <a:buNone/>
              </a:pPr>
              <a:r>
                <a:rPr lang="en-US" sz="1400" b="0" dirty="0" err="1">
                  <a:solidFill>
                    <a:srgbClr val="795E26"/>
                  </a:solidFill>
                  <a:effectLst/>
                  <a:latin typeface="Fira Code" panose="020B0809050000020004" pitchFamily="49" charset="0"/>
                </a:rPr>
                <a:t>omp_for_each</a:t>
              </a:r>
              <a:r>
                <a:rPr lang="en-US" sz="1400" dirty="0">
                  <a:solidFill>
                    <a:srgbClr val="000000"/>
                  </a:solidFill>
                  <a:latin typeface="Fira Code" panose="020B0809050000020004" pitchFamily="49" charset="0"/>
                </a:rPr>
                <a:t>(</a:t>
              </a: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dirty="0" err="1">
                  <a:solidFill>
                    <a:srgbClr val="795E26"/>
                  </a:solidFill>
                  <a:latin typeface="Fira Code" panose="020B0809050000020004" pitchFamily="49" charset="0"/>
                </a:rPr>
                <a:t>init</a:t>
              </a:r>
              <a:r>
                <a:rPr lang="en-US" sz="1400" dirty="0">
                  <a:solidFill>
                    <a:srgbClr val="000000"/>
                  </a:solidFill>
                  <a:latin typeface="Fira Code" panose="020B0809050000020004" pitchFamily="49" charset="0"/>
                </a:rPr>
                <a:t>(</a:t>
              </a:r>
              <a:r>
                <a:rPr lang="en-US" sz="1400" dirty="0">
                  <a:solidFill>
                    <a:srgbClr val="001080"/>
                  </a:solidFill>
                  <a:latin typeface="Fira Code" panose="020B0809050000020004" pitchFamily="49" charset="0"/>
                </a:rPr>
                <a:t>index</a:t>
              </a:r>
              <a:r>
                <a:rPr lang="en-US" sz="140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FC04F895-4DAA-A566-47D4-C9E4F4C00E4B}"/>
                </a:ext>
              </a:extLst>
            </p:cNvPr>
            <p:cNvSpPr txBox="1"/>
            <p:nvPr/>
          </p:nvSpPr>
          <p:spPr>
            <a:xfrm>
              <a:off x="7079772" y="4182753"/>
              <a:ext cx="4106291" cy="814710"/>
            </a:xfrm>
            <a:prstGeom prst="rect">
              <a:avLst/>
            </a:prstGeom>
            <a:noFill/>
            <a:ln>
              <a:solidFill>
                <a:schemeClr val="tx1"/>
              </a:solidFill>
            </a:ln>
          </p:spPr>
          <p:txBody>
            <a:bodyPr wrap="square">
              <a:spAutoFit/>
            </a:bodyPr>
            <a:lstStyle/>
            <a:p>
              <a:pPr>
                <a:lnSpc>
                  <a:spcPct val="113095"/>
                </a:lnSpc>
                <a:buNone/>
              </a:pPr>
              <a:r>
                <a:rPr lang="en-US" sz="1400" b="0" dirty="0" err="1">
                  <a:solidFill>
                    <a:srgbClr val="795E26"/>
                  </a:solidFill>
                  <a:effectLst/>
                  <a:latin typeface="Fira Code" panose="020B0809050000020004" pitchFamily="49" charset="0"/>
                </a:rPr>
                <a:t>tbb_for_each</a:t>
              </a:r>
              <a:r>
                <a:rPr lang="en-US" sz="1400" dirty="0">
                  <a:solidFill>
                    <a:srgbClr val="000000"/>
                  </a:solidFill>
                  <a:latin typeface="Fira Code" panose="020B0809050000020004" pitchFamily="49" charset="0"/>
                </a:rPr>
                <a:t>(</a:t>
              </a: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dirty="0" err="1">
                  <a:solidFill>
                    <a:srgbClr val="795E26"/>
                  </a:solidFill>
                  <a:latin typeface="Fira Code" panose="020B0809050000020004" pitchFamily="49" charset="0"/>
                </a:rPr>
                <a:t>init</a:t>
              </a:r>
              <a:r>
                <a:rPr lang="en-US" sz="1400" dirty="0">
                  <a:solidFill>
                    <a:srgbClr val="000000"/>
                  </a:solidFill>
                  <a:latin typeface="Fira Code" panose="020B0809050000020004" pitchFamily="49" charset="0"/>
                </a:rPr>
                <a:t>(</a:t>
              </a:r>
              <a:r>
                <a:rPr lang="en-US" sz="1400" dirty="0">
                  <a:solidFill>
                    <a:srgbClr val="001080"/>
                  </a:solidFill>
                  <a:latin typeface="Fira Code" panose="020B0809050000020004" pitchFamily="49" charset="0"/>
                </a:rPr>
                <a:t>index</a:t>
              </a:r>
              <a:r>
                <a:rPr lang="en-US" sz="140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20" name="Rectangle 19">
              <a:extLst>
                <a:ext uri="{FF2B5EF4-FFF2-40B4-BE49-F238E27FC236}">
                  <a16:creationId xmlns:a16="http://schemas.microsoft.com/office/drawing/2014/main" id="{E2DC5447-092D-F842-C746-A6D6C5FE1A74}"/>
                </a:ext>
              </a:extLst>
            </p:cNvPr>
            <p:cNvSpPr/>
            <p:nvPr/>
          </p:nvSpPr>
          <p:spPr>
            <a:xfrm>
              <a:off x="7021150" y="3108961"/>
              <a:ext cx="4244962" cy="2460566"/>
            </a:xfrm>
            <a:prstGeom prst="rect">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gr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smtClean="0"/>
              <a:t>8/27/2026</a:t>
            </a:fld>
            <a:endParaRPr lang="en-US"/>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smtClean="0"/>
              <a:t>8</a:t>
            </a:fld>
            <a:endParaRPr lang="en-US"/>
          </a:p>
        </p:txBody>
      </p:sp>
    </p:spTree>
    <p:extLst>
      <p:ext uri="{BB962C8B-B14F-4D97-AF65-F5344CB8AC3E}">
        <p14:creationId xmlns:p14="http://schemas.microsoft.com/office/powerpoint/2010/main" val="11176100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0000"/>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endParaRPr lang="en-US" noProof="0" dirty="0"/>
          </a:p>
        </p:txBody>
      </p:sp>
      <p:pic>
        <p:nvPicPr>
          <p:cNvPr id="9" name="Picture 8">
            <a:extLst>
              <a:ext uri="{FF2B5EF4-FFF2-40B4-BE49-F238E27FC236}">
                <a16:creationId xmlns:a16="http://schemas.microsoft.com/office/drawing/2014/main" id="{D630B5E0-ABB5-8FFF-3D96-A05D108A0A1C}"/>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3648473" y="3573561"/>
            <a:ext cx="4208444" cy="1949986"/>
          </a:xfrm>
          <a:prstGeom prst="rect">
            <a:avLst/>
          </a:prstGeom>
        </p:spPr>
      </p:pic>
      <p:sp>
        <p:nvSpPr>
          <p:cNvPr id="10" name="Rectangle 9">
            <a:extLst>
              <a:ext uri="{FF2B5EF4-FFF2-40B4-BE49-F238E27FC236}">
                <a16:creationId xmlns:a16="http://schemas.microsoft.com/office/drawing/2014/main" id="{156176CF-A5A8-202F-6D91-07F22B4C343A}"/>
              </a:ext>
            </a:extLst>
          </p:cNvPr>
          <p:cNvSpPr/>
          <p:nvPr/>
        </p:nvSpPr>
        <p:spPr>
          <a:xfrm>
            <a:off x="838200" y="2467778"/>
            <a:ext cx="2621096" cy="17296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Tuning parameters</a:t>
            </a:r>
          </a:p>
        </p:txBody>
      </p:sp>
      <p:sp>
        <p:nvSpPr>
          <p:cNvPr id="12" name="Rectangle 11">
            <a:extLst>
              <a:ext uri="{FF2B5EF4-FFF2-40B4-BE49-F238E27FC236}">
                <a16:creationId xmlns:a16="http://schemas.microsoft.com/office/drawing/2014/main" id="{EF842F52-719B-B662-4BF8-29ED15AC61DB}"/>
              </a:ext>
            </a:extLst>
          </p:cNvPr>
          <p:cNvSpPr/>
          <p:nvPr/>
        </p:nvSpPr>
        <p:spPr>
          <a:xfrm>
            <a:off x="838200" y="4763226"/>
            <a:ext cx="2621096" cy="17296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code</a:t>
            </a:r>
          </a:p>
        </p:txBody>
      </p:sp>
      <p:cxnSp>
        <p:nvCxnSpPr>
          <p:cNvPr id="14" name="Straight Arrow Connector 13">
            <a:extLst>
              <a:ext uri="{FF2B5EF4-FFF2-40B4-BE49-F238E27FC236}">
                <a16:creationId xmlns:a16="http://schemas.microsoft.com/office/drawing/2014/main" id="{B602A479-F122-7128-33EA-B0468E099110}"/>
              </a:ext>
            </a:extLst>
          </p:cNvPr>
          <p:cNvCxnSpPr/>
          <p:nvPr/>
        </p:nvCxnSpPr>
        <p:spPr>
          <a:xfrm>
            <a:off x="8020594" y="4484914"/>
            <a:ext cx="129757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Rectangle 15">
            <a:extLst>
              <a:ext uri="{FF2B5EF4-FFF2-40B4-BE49-F238E27FC236}">
                <a16:creationId xmlns:a16="http://schemas.microsoft.com/office/drawing/2014/main" id="{C357A183-7240-A9A1-5A5E-E5F000C6DC05}"/>
              </a:ext>
            </a:extLst>
          </p:cNvPr>
          <p:cNvSpPr/>
          <p:nvPr/>
        </p:nvSpPr>
        <p:spPr>
          <a:xfrm>
            <a:off x="9394372" y="3683729"/>
            <a:ext cx="2621096" cy="17296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Optimized application</a:t>
            </a:r>
          </a:p>
        </p:txBody>
      </p:sp>
      <p:pic>
        <p:nvPicPr>
          <p:cNvPr id="17" name="Picture 16" descr="OpenTuner - An extensible framework for program autotuning">
            <a:extLst>
              <a:ext uri="{FF2B5EF4-FFF2-40B4-BE49-F238E27FC236}">
                <a16:creationId xmlns:a16="http://schemas.microsoft.com/office/drawing/2014/main" id="{9B62B548-A2CB-44E7-8C14-94F9EC04F63D}"/>
              </a:ext>
            </a:extLst>
          </p:cNvPr>
          <p:cNvPicPr>
            <a:picLocks noChangeAspect="1"/>
          </p:cNvPicPr>
          <p:nvPr/>
        </p:nvPicPr>
        <p:blipFill>
          <a:blip r:embed="rId4"/>
          <a:stretch>
            <a:fillRect/>
          </a:stretch>
        </p:blipFill>
        <p:spPr>
          <a:xfrm>
            <a:off x="4324489" y="5513019"/>
            <a:ext cx="2856411" cy="979856"/>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AF010DE9-B658-4682-CFDF-661E5A062AA0}"/>
              </a:ext>
            </a:extLst>
          </p:cNvPr>
          <p:cNvPicPr>
            <a:picLocks noChangeAspect="1"/>
          </p:cNvPicPr>
          <p:nvPr/>
        </p:nvPicPr>
        <p:blipFill>
          <a:blip r:embed="rId5"/>
          <a:stretch>
            <a:fillRect/>
          </a:stretch>
        </p:blipFill>
        <p:spPr>
          <a:xfrm>
            <a:off x="7707086" y="5750350"/>
            <a:ext cx="2455817" cy="515722"/>
          </a:xfrm>
          <a:prstGeom prst="rect">
            <a:avLst/>
          </a:prstGeom>
        </p:spPr>
      </p:pic>
      <p:pic>
        <p:nvPicPr>
          <p:cNvPr id="19" name="Picture 18" descr="Auto-Tuning Framework (ATF) · GitHub">
            <a:extLst>
              <a:ext uri="{FF2B5EF4-FFF2-40B4-BE49-F238E27FC236}">
                <a16:creationId xmlns:a16="http://schemas.microsoft.com/office/drawing/2014/main" id="{F7F7CFF8-EDA0-77B0-914C-2AD8CCB7F8CA}"/>
              </a:ext>
            </a:extLst>
          </p:cNvPr>
          <p:cNvPicPr>
            <a:picLocks noChangeAspect="1"/>
          </p:cNvPicPr>
          <p:nvPr/>
        </p:nvPicPr>
        <p:blipFill>
          <a:blip r:embed="rId6"/>
          <a:srcRect/>
          <a:stretch>
            <a:fillRect/>
          </a:stretch>
        </p:blipFill>
        <p:spPr>
          <a:xfrm>
            <a:off x="10474420" y="5500211"/>
            <a:ext cx="1099238" cy="1099238"/>
          </a:xfrm>
          <a:prstGeom prst="rect">
            <a:avLst/>
          </a:prstGeom>
        </p:spPr>
      </p:pic>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smtClean="0"/>
              <a:t>8/27/2026</a:t>
            </a:fld>
            <a:endParaRPr lang="en-US"/>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smtClean="0"/>
              <a:t>9</a:t>
            </a:fld>
            <a:endParaRPr lang="en-US"/>
          </a:p>
        </p:txBody>
      </p:sp>
    </p:spTree>
    <p:extLst>
      <p:ext uri="{BB962C8B-B14F-4D97-AF65-F5344CB8AC3E}">
        <p14:creationId xmlns:p14="http://schemas.microsoft.com/office/powerpoint/2010/main" val="189335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9DEA8950-CA38-AB92-B8E8-AA6307D5641D}"/>
              </a:ext>
            </a:extLst>
          </p:cNvPr>
          <p:cNvPicPr>
            <a:picLocks noChangeAspect="1"/>
          </p:cNvPicPr>
          <p:nvPr/>
        </p:nvPicPr>
        <p:blipFill>
          <a:blip r:embed="rId3"/>
          <a:stretch>
            <a:fillRect/>
          </a:stretch>
        </p:blipFill>
        <p:spPr>
          <a:xfrm>
            <a:off x="412017" y="2181326"/>
            <a:ext cx="4875384" cy="3176386"/>
          </a:xfrm>
          <a:prstGeom prst="rect">
            <a:avLst/>
          </a:prstGeom>
        </p:spPr>
      </p:pic>
      <p:pic>
        <p:nvPicPr>
          <p:cNvPr id="7" name="Picture 6">
            <a:extLst>
              <a:ext uri="{FF2B5EF4-FFF2-40B4-BE49-F238E27FC236}">
                <a16:creationId xmlns:a16="http://schemas.microsoft.com/office/drawing/2014/main" id="{99441161-F869-E92F-AAEA-DABA0E43A58C}"/>
              </a:ext>
            </a:extLst>
          </p:cNvPr>
          <p:cNvPicPr>
            <a:picLocks noChangeAspect="1"/>
          </p:cNvPicPr>
          <p:nvPr/>
        </p:nvPicPr>
        <p:blipFill>
          <a:blip r:embed="rId4"/>
          <a:stretch>
            <a:fillRect/>
          </a:stretch>
        </p:blipFill>
        <p:spPr>
          <a:xfrm>
            <a:off x="5362217" y="2626979"/>
            <a:ext cx="6675976" cy="2668386"/>
          </a:xfrm>
          <a:prstGeom prst="rect">
            <a:avLst/>
          </a:prstGeom>
        </p:spPr>
      </p:pic>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smtClean="0"/>
              <a:t>8/27/2026</a:t>
            </a:fld>
            <a:endParaRPr lang="en-US"/>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smtClean="0"/>
              <a:t>10</a:t>
            </a:fld>
            <a:endParaRPr lang="en-US"/>
          </a:p>
        </p:txBody>
      </p:sp>
      <p:sp>
        <p:nvSpPr>
          <p:cNvPr id="6" name="TextBox 5">
            <a:extLst>
              <a:ext uri="{FF2B5EF4-FFF2-40B4-BE49-F238E27FC236}">
                <a16:creationId xmlns:a16="http://schemas.microsoft.com/office/drawing/2014/main" id="{C48EE12D-A54F-6CFD-63D4-ED8425AA5254}"/>
              </a:ext>
            </a:extLst>
          </p:cNvPr>
          <p:cNvSpPr txBox="1"/>
          <p:nvPr/>
        </p:nvSpPr>
        <p:spPr>
          <a:xfrm>
            <a:off x="2209800" y="1913901"/>
            <a:ext cx="1472775" cy="369332"/>
          </a:xfrm>
          <a:prstGeom prst="rect">
            <a:avLst/>
          </a:prstGeom>
          <a:noFill/>
        </p:spPr>
        <p:txBody>
          <a:bodyPr wrap="none" rtlCol="0">
            <a:spAutoFit/>
          </a:bodyPr>
          <a:lstStyle/>
          <a:p>
            <a:r>
              <a:rPr lang="en-US" dirty="0" err="1"/>
              <a:t>PolyBench</a:t>
            </a:r>
            <a:r>
              <a:rPr lang="en-US" dirty="0"/>
              <a:t>/C</a:t>
            </a:r>
          </a:p>
        </p:txBody>
      </p:sp>
      <p:sp>
        <p:nvSpPr>
          <p:cNvPr id="10" name="TextBox 9">
            <a:extLst>
              <a:ext uri="{FF2B5EF4-FFF2-40B4-BE49-F238E27FC236}">
                <a16:creationId xmlns:a16="http://schemas.microsoft.com/office/drawing/2014/main" id="{5C94ADD4-4CFC-E812-3B36-B6402C655DF5}"/>
              </a:ext>
            </a:extLst>
          </p:cNvPr>
          <p:cNvSpPr txBox="1"/>
          <p:nvPr/>
        </p:nvSpPr>
        <p:spPr>
          <a:xfrm>
            <a:off x="6561938" y="1920380"/>
            <a:ext cx="1626098" cy="646331"/>
          </a:xfrm>
          <a:prstGeom prst="rect">
            <a:avLst/>
          </a:prstGeom>
          <a:noFill/>
        </p:spPr>
        <p:txBody>
          <a:bodyPr wrap="square" rtlCol="0">
            <a:spAutoFit/>
          </a:bodyPr>
          <a:lstStyle/>
          <a:p>
            <a:pPr algn="ctr"/>
            <a:r>
              <a:rPr lang="en-US" dirty="0" err="1"/>
              <a:t>PolyBench</a:t>
            </a:r>
            <a:r>
              <a:rPr lang="en-US" dirty="0"/>
              <a:t>/C</a:t>
            </a:r>
            <a:br>
              <a:rPr lang="en-US" dirty="0"/>
            </a:br>
            <a:r>
              <a:rPr lang="en-US" dirty="0"/>
              <a:t>subset</a:t>
            </a:r>
          </a:p>
        </p:txBody>
      </p:sp>
      <p:sp>
        <p:nvSpPr>
          <p:cNvPr id="11" name="Right Brace 10">
            <a:extLst>
              <a:ext uri="{FF2B5EF4-FFF2-40B4-BE49-F238E27FC236}">
                <a16:creationId xmlns:a16="http://schemas.microsoft.com/office/drawing/2014/main" id="{9FEFA2A7-B28D-4893-B5BE-441513E53224}"/>
              </a:ext>
            </a:extLst>
          </p:cNvPr>
          <p:cNvSpPr/>
          <p:nvPr/>
        </p:nvSpPr>
        <p:spPr>
          <a:xfrm rot="16200000">
            <a:off x="7182452" y="686211"/>
            <a:ext cx="241068" cy="388153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073698DB-93D9-A5F0-02CC-BCBD40643F77}"/>
              </a:ext>
            </a:extLst>
          </p:cNvPr>
          <p:cNvSpPr txBox="1"/>
          <p:nvPr/>
        </p:nvSpPr>
        <p:spPr>
          <a:xfrm>
            <a:off x="10402276" y="2080020"/>
            <a:ext cx="1903048" cy="646331"/>
          </a:xfrm>
          <a:prstGeom prst="rect">
            <a:avLst/>
          </a:prstGeom>
          <a:noFill/>
        </p:spPr>
        <p:txBody>
          <a:bodyPr wrap="square" rtlCol="0">
            <a:spAutoFit/>
          </a:bodyPr>
          <a:lstStyle/>
          <a:p>
            <a:pPr algn="ctr"/>
            <a:r>
              <a:rPr lang="en-US" dirty="0" err="1"/>
              <a:t>PolyBench</a:t>
            </a:r>
            <a:r>
              <a:rPr lang="en-US" dirty="0"/>
              <a:t>/GPU</a:t>
            </a:r>
            <a:br>
              <a:rPr lang="en-US" dirty="0"/>
            </a:br>
            <a:r>
              <a:rPr lang="en-US" dirty="0"/>
              <a:t>subset</a:t>
            </a:r>
          </a:p>
        </p:txBody>
      </p:sp>
    </p:spTree>
    <p:extLst>
      <p:ext uri="{BB962C8B-B14F-4D97-AF65-F5344CB8AC3E}">
        <p14:creationId xmlns:p14="http://schemas.microsoft.com/office/powerpoint/2010/main" val="522048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dirty="0">
                <a:solidFill>
                  <a:srgbClr val="C00000"/>
                </a:solidFill>
              </a:rPr>
              <a:t>Slightly more verbose</a:t>
            </a:r>
          </a:p>
          <a:p>
            <a:r>
              <a:rPr lang="en-US" dirty="0">
                <a:solidFill>
                  <a:schemeClr val="accent6"/>
                </a:solidFill>
              </a:rPr>
              <a:t>Less complex control flow</a:t>
            </a:r>
          </a:p>
          <a:p>
            <a:r>
              <a:rPr lang="en-US" dirty="0">
                <a:solidFill>
                  <a:srgbClr val="0070C0"/>
                </a:solidFill>
              </a:rPr>
              <a:t>Easier indexation</a:t>
            </a:r>
          </a:p>
          <a:p>
            <a:endParaRPr lang="en-US" dirty="0">
              <a:solidFill>
                <a:srgbClr val="0070C0"/>
              </a:solidFill>
            </a:endParaRPr>
          </a:p>
          <a:p>
            <a:pPr>
              <a:buFont typeface="Aptos" panose="020B0004020202020204" pitchFamily="34" charset="0"/>
              <a:buChar char="+"/>
            </a:pPr>
            <a:r>
              <a:rPr lang="en-US" dirty="0"/>
              <a:t>Higher flexibility</a:t>
            </a:r>
          </a:p>
          <a:p>
            <a:pPr>
              <a:buFont typeface="Aptos" panose="020B0004020202020204" pitchFamily="34" charset="0"/>
              <a:buChar char="+"/>
            </a:pPr>
            <a:r>
              <a:rPr lang="en-US"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smtClean="0"/>
              <a:t>8/27/2026</a:t>
            </a:fld>
            <a:endParaRPr lang="en-US"/>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smtClean="0"/>
              <a:t>11</a:t>
            </a:fld>
            <a:endParaRPr lang="en-US"/>
          </a:p>
        </p:txBody>
      </p:sp>
      <p:grpSp>
        <p:nvGrpSpPr>
          <p:cNvPr id="15" name="Group 14">
            <a:extLst>
              <a:ext uri="{FF2B5EF4-FFF2-40B4-BE49-F238E27FC236}">
                <a16:creationId xmlns:a16="http://schemas.microsoft.com/office/drawing/2014/main" id="{06199549-C2F9-0F20-FD16-454B08B67F83}"/>
              </a:ext>
            </a:extLst>
          </p:cNvPr>
          <p:cNvGrpSpPr/>
          <p:nvPr/>
        </p:nvGrpSpPr>
        <p:grpSpPr>
          <a:xfrm>
            <a:off x="5521626" y="1230285"/>
            <a:ext cx="6339251" cy="3310304"/>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1854666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a:t>
            </a:r>
            <a:br>
              <a:rPr lang="en-US" noProof="0" dirty="0"/>
            </a:br>
            <a:r>
              <a:rPr lang="en-US" noProof="0" dirty="0"/>
              <a:t>initialization</a:t>
            </a:r>
          </a:p>
        </p:txBody>
      </p:sp>
      <p:sp>
        <p:nvSpPr>
          <p:cNvPr id="20" name="Rectangle 19">
            <a:extLst>
              <a:ext uri="{FF2B5EF4-FFF2-40B4-BE49-F238E27FC236}">
                <a16:creationId xmlns:a16="http://schemas.microsoft.com/office/drawing/2014/main" id="{68DE49E3-54DC-3782-623E-9216D46CB5CE}"/>
              </a:ext>
            </a:extLst>
          </p:cNvPr>
          <p:cNvSpPr/>
          <p:nvPr/>
        </p:nvSpPr>
        <p:spPr>
          <a:xfrm>
            <a:off x="1075129" y="2865120"/>
            <a:ext cx="3457303" cy="29319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26" name="Straight Connector 25">
            <a:extLst>
              <a:ext uri="{FF2B5EF4-FFF2-40B4-BE49-F238E27FC236}">
                <a16:creationId xmlns:a16="http://schemas.microsoft.com/office/drawing/2014/main" id="{373B90C4-3CC0-EAED-05A7-6CA4FBF81952}"/>
              </a:ext>
            </a:extLst>
          </p:cNvPr>
          <p:cNvCxnSpPr>
            <a:cxnSpLocks/>
            <a:stCxn id="20" idx="0"/>
            <a:endCxn id="20" idx="2"/>
          </p:cNvCxnSpPr>
          <p:nvPr/>
        </p:nvCxnSpPr>
        <p:spPr>
          <a:xfrm>
            <a:off x="2803781" y="2865120"/>
            <a:ext cx="0" cy="293192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154316A-36DD-6CAD-BA3D-6B14B9D4FF2C}"/>
              </a:ext>
            </a:extLst>
          </p:cNvPr>
          <p:cNvCxnSpPr>
            <a:cxnSpLocks/>
          </p:cNvCxnSpPr>
          <p:nvPr/>
        </p:nvCxnSpPr>
        <p:spPr>
          <a:xfrm>
            <a:off x="1075128" y="3838224"/>
            <a:ext cx="345730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5769E367-8977-3525-B957-1C2C939268D0}"/>
              </a:ext>
            </a:extLst>
          </p:cNvPr>
          <p:cNvCxnSpPr>
            <a:cxnSpLocks/>
          </p:cNvCxnSpPr>
          <p:nvPr/>
        </p:nvCxnSpPr>
        <p:spPr>
          <a:xfrm flipH="1" flipV="1">
            <a:off x="838200" y="2485505"/>
            <a:ext cx="938349" cy="113726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43E6A879-F94D-8BAD-DAE3-09369A5F6D70}"/>
              </a:ext>
            </a:extLst>
          </p:cNvPr>
          <p:cNvCxnSpPr>
            <a:cxnSpLocks/>
          </p:cNvCxnSpPr>
          <p:nvPr/>
        </p:nvCxnSpPr>
        <p:spPr>
          <a:xfrm flipV="1">
            <a:off x="3587931" y="2394065"/>
            <a:ext cx="228202" cy="122870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55C2E09E-5B58-FA16-4041-C9FA139933D6}"/>
              </a:ext>
            </a:extLst>
          </p:cNvPr>
          <p:cNvCxnSpPr>
            <a:cxnSpLocks/>
          </p:cNvCxnSpPr>
          <p:nvPr/>
        </p:nvCxnSpPr>
        <p:spPr>
          <a:xfrm flipH="1">
            <a:off x="981516" y="4417583"/>
            <a:ext cx="728828" cy="4267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C95CC93-9CA9-7209-C22C-7D083498E953}"/>
              </a:ext>
            </a:extLst>
          </p:cNvPr>
          <p:cNvSpPr txBox="1"/>
          <p:nvPr/>
        </p:nvSpPr>
        <p:spPr>
          <a:xfrm>
            <a:off x="6776428" y="716132"/>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smtClean="0"/>
              <a:t>8/27/2026</a:t>
            </a:fld>
            <a:endParaRPr lang="en-US"/>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smtClean="0"/>
              <a:t>12</a:t>
            </a:fld>
            <a:endParaRPr lang="en-US"/>
          </a:p>
        </p:txBody>
      </p:sp>
      <p:cxnSp>
        <p:nvCxnSpPr>
          <p:cNvPr id="8" name="Straight Connector 7">
            <a:extLst>
              <a:ext uri="{FF2B5EF4-FFF2-40B4-BE49-F238E27FC236}">
                <a16:creationId xmlns:a16="http://schemas.microsoft.com/office/drawing/2014/main" id="{ED003267-ED43-03B4-278E-5280E26920E3}"/>
              </a:ext>
            </a:extLst>
          </p:cNvPr>
          <p:cNvCxnSpPr>
            <a:cxnSpLocks/>
          </p:cNvCxnSpPr>
          <p:nvPr/>
        </p:nvCxnSpPr>
        <p:spPr>
          <a:xfrm>
            <a:off x="3546388" y="4401480"/>
            <a:ext cx="1020023" cy="6562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5296D5F-A05B-5F58-38B3-8D1590117EB3}"/>
              </a:ext>
            </a:extLst>
          </p:cNvPr>
          <p:cNvSpPr txBox="1"/>
          <p:nvPr/>
        </p:nvSpPr>
        <p:spPr>
          <a:xfrm>
            <a:off x="460852" y="2024733"/>
            <a:ext cx="1253869" cy="369332"/>
          </a:xfrm>
          <a:prstGeom prst="rect">
            <a:avLst/>
          </a:prstGeom>
          <a:noFill/>
        </p:spPr>
        <p:txBody>
          <a:bodyPr wrap="none" rtlCol="0">
            <a:spAutoFit/>
          </a:bodyPr>
          <a:lstStyle/>
          <a:p>
            <a:r>
              <a:rPr lang="en-US" dirty="0"/>
              <a:t>Node 0 tile</a:t>
            </a:r>
          </a:p>
        </p:txBody>
      </p:sp>
      <p:sp>
        <p:nvSpPr>
          <p:cNvPr id="13" name="TextBox 12">
            <a:extLst>
              <a:ext uri="{FF2B5EF4-FFF2-40B4-BE49-F238E27FC236}">
                <a16:creationId xmlns:a16="http://schemas.microsoft.com/office/drawing/2014/main" id="{E01F05D8-0601-7358-07BD-D86E1609A0BD}"/>
              </a:ext>
            </a:extLst>
          </p:cNvPr>
          <p:cNvSpPr txBox="1"/>
          <p:nvPr/>
        </p:nvSpPr>
        <p:spPr>
          <a:xfrm>
            <a:off x="3567424" y="2055580"/>
            <a:ext cx="1253869" cy="369332"/>
          </a:xfrm>
          <a:prstGeom prst="rect">
            <a:avLst/>
          </a:prstGeom>
          <a:noFill/>
        </p:spPr>
        <p:txBody>
          <a:bodyPr wrap="none" rtlCol="0">
            <a:spAutoFit/>
          </a:bodyPr>
          <a:lstStyle/>
          <a:p>
            <a:r>
              <a:rPr lang="en-US" dirty="0"/>
              <a:t>Node 1 tile</a:t>
            </a:r>
          </a:p>
        </p:txBody>
      </p:sp>
      <p:sp>
        <p:nvSpPr>
          <p:cNvPr id="15" name="TextBox 14">
            <a:extLst>
              <a:ext uri="{FF2B5EF4-FFF2-40B4-BE49-F238E27FC236}">
                <a16:creationId xmlns:a16="http://schemas.microsoft.com/office/drawing/2014/main" id="{9F061358-0F0F-A077-E956-FC8F9870197C}"/>
              </a:ext>
            </a:extLst>
          </p:cNvPr>
          <p:cNvSpPr txBox="1"/>
          <p:nvPr/>
        </p:nvSpPr>
        <p:spPr>
          <a:xfrm>
            <a:off x="-76502" y="4166154"/>
            <a:ext cx="1253869" cy="369332"/>
          </a:xfrm>
          <a:prstGeom prst="rect">
            <a:avLst/>
          </a:prstGeom>
          <a:noFill/>
        </p:spPr>
        <p:txBody>
          <a:bodyPr wrap="none" rtlCol="0">
            <a:spAutoFit/>
          </a:bodyPr>
          <a:lstStyle/>
          <a:p>
            <a:r>
              <a:rPr lang="en-US" dirty="0"/>
              <a:t>Node 2 tile</a:t>
            </a:r>
          </a:p>
        </p:txBody>
      </p:sp>
      <p:sp>
        <p:nvSpPr>
          <p:cNvPr id="17" name="TextBox 16">
            <a:extLst>
              <a:ext uri="{FF2B5EF4-FFF2-40B4-BE49-F238E27FC236}">
                <a16:creationId xmlns:a16="http://schemas.microsoft.com/office/drawing/2014/main" id="{C63BF661-92F9-FB3E-6644-A624F3682A41}"/>
              </a:ext>
            </a:extLst>
          </p:cNvPr>
          <p:cNvSpPr txBox="1"/>
          <p:nvPr/>
        </p:nvSpPr>
        <p:spPr>
          <a:xfrm>
            <a:off x="4566411" y="4319175"/>
            <a:ext cx="1253869" cy="369332"/>
          </a:xfrm>
          <a:prstGeom prst="rect">
            <a:avLst/>
          </a:prstGeom>
          <a:noFill/>
        </p:spPr>
        <p:txBody>
          <a:bodyPr wrap="none" rtlCol="0">
            <a:spAutoFit/>
          </a:bodyPr>
          <a:lstStyle/>
          <a:p>
            <a:r>
              <a:rPr lang="en-US" dirty="0"/>
              <a:t>Node 3 tile</a:t>
            </a:r>
          </a:p>
        </p:txBody>
      </p:sp>
      <p:sp>
        <p:nvSpPr>
          <p:cNvPr id="21" name="TextBox 20">
            <a:extLst>
              <a:ext uri="{FF2B5EF4-FFF2-40B4-BE49-F238E27FC236}">
                <a16:creationId xmlns:a16="http://schemas.microsoft.com/office/drawing/2014/main" id="{E9081B18-2097-F218-444D-8457FDAFE687}"/>
              </a:ext>
            </a:extLst>
          </p:cNvPr>
          <p:cNvSpPr txBox="1"/>
          <p:nvPr/>
        </p:nvSpPr>
        <p:spPr>
          <a:xfrm>
            <a:off x="6776428" y="4773837"/>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4807390" y="1085464"/>
            <a:ext cx="7708119" cy="3212418"/>
          </a:xfrm>
          <a:prstGeom prst="rect">
            <a:avLst/>
          </a:prstGeom>
          <a:noFill/>
          <a:ln>
            <a:solidFill>
              <a:schemeClr val="tx1"/>
            </a:solidFill>
          </a:ln>
        </p:spPr>
        <p:txBody>
          <a:bodyPr wrap="square">
            <a:spAutoFit/>
          </a:bodyPr>
          <a:lstStyle/>
          <a:p>
            <a:pPr>
              <a:lnSpc>
                <a:spcPct val="113095"/>
              </a:lnSpc>
              <a:buNone/>
            </a:pPr>
            <a:r>
              <a:rPr lang="en-US" b="0" dirty="0">
                <a:solidFill>
                  <a:srgbClr val="267F99"/>
                </a:solidFill>
                <a:effectLst/>
                <a:latin typeface="Fira Code" panose="020B0809050000020004" pitchFamily="49" charset="0"/>
              </a:rPr>
              <a:t>auto</a:t>
            </a:r>
            <a:r>
              <a:rPr lang="en-US" b="0" dirty="0">
                <a:solidFill>
                  <a:srgbClr val="000000"/>
                </a:solidFill>
                <a:effectLst/>
                <a:latin typeface="Fira Code" panose="020B0809050000020004" pitchFamily="49" charset="0"/>
              </a:rPr>
              <a:t> </a:t>
            </a:r>
            <a:r>
              <a:rPr lang="en-US" b="0" dirty="0" err="1">
                <a:solidFill>
                  <a:srgbClr val="001080"/>
                </a:solidFill>
                <a:effectLst/>
                <a:latin typeface="Fira Code" panose="020B0809050000020004" pitchFamily="49" charset="0"/>
              </a:rPr>
              <a:t>trav</a:t>
            </a:r>
            <a:r>
              <a:rPr lang="en-US" b="0" dirty="0">
                <a:solidFill>
                  <a:srgbClr val="000000"/>
                </a:solidFill>
                <a:effectLst/>
                <a:latin typeface="Fira Code" panose="020B0809050000020004" pitchFamily="49" charset="0"/>
              </a:rPr>
              <a:t> = </a:t>
            </a:r>
            <a:r>
              <a:rPr lang="en-US" b="0" dirty="0">
                <a:solidFill>
                  <a:srgbClr val="795E26"/>
                </a:solidFill>
                <a:effectLst/>
                <a:latin typeface="Fira Code" panose="020B0809050000020004" pitchFamily="49" charset="0"/>
              </a:rPr>
              <a:t>traverser</a:t>
            </a:r>
            <a:r>
              <a:rPr lang="en-US" b="0" dirty="0">
                <a:solidFill>
                  <a:srgbClr val="000000"/>
                </a:solidFill>
                <a:effectLst/>
                <a:latin typeface="Fira Code" panose="020B0809050000020004" pitchFamily="49" charset="0"/>
              </a:rPr>
              <a:t>(</a:t>
            </a:r>
            <a:r>
              <a:rPr lang="en-US" b="0" dirty="0">
                <a:solidFill>
                  <a:srgbClr val="0070C1"/>
                </a:solidFill>
                <a:effectLst/>
                <a:latin typeface="Fira Code" panose="020B0809050000020004" pitchFamily="49" charset="0"/>
              </a:rPr>
              <a:t>Data</a:t>
            </a:r>
            <a:r>
              <a:rPr lang="en-US" b="0" dirty="0">
                <a:solidFill>
                  <a:srgbClr val="000000"/>
                </a:solidFill>
                <a:effectLst/>
                <a:latin typeface="Fira Code" panose="020B0809050000020004" pitchFamily="49" charset="0"/>
              </a:rPr>
              <a:t>)</a:t>
            </a:r>
          </a:p>
          <a:p>
            <a:pPr>
              <a:lnSpc>
                <a:spcPct val="113095"/>
              </a:lnSpc>
              <a:buNone/>
            </a:pP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set_length</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'I'</a:t>
            </a:r>
            <a:r>
              <a:rPr lang="en-US" b="0" dirty="0">
                <a:solidFill>
                  <a:srgbClr val="000000"/>
                </a:solidFill>
                <a:effectLst/>
                <a:latin typeface="Fira Code" panose="020B0809050000020004" pitchFamily="49" charset="0"/>
              </a:rPr>
              <a:t>&gt;(</a:t>
            </a:r>
            <a:r>
              <a:rPr lang="en-US" b="0" dirty="0">
                <a:solidFill>
                  <a:srgbClr val="0070C1"/>
                </a:solidFill>
                <a:effectLst/>
                <a:latin typeface="Fira Code" panose="020B0809050000020004" pitchFamily="49" charset="0"/>
              </a:rPr>
              <a:t>2</a:t>
            </a:r>
            <a:r>
              <a:rPr lang="en-US" b="0" dirty="0">
                <a:solidFill>
                  <a:srgbClr val="000000"/>
                </a:solidFill>
                <a:effectLst/>
                <a:latin typeface="Fira Code" panose="020B0809050000020004" pitchFamily="49" charset="0"/>
              </a:rPr>
              <a:t>)</a:t>
            </a:r>
          </a:p>
          <a:p>
            <a:pPr>
              <a:lnSpc>
                <a:spcPct val="113095"/>
              </a:lnSpc>
              <a:buNone/>
            </a:pP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merge_blocks</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'I'</a:t>
            </a:r>
            <a:r>
              <a:rPr lang="en-US" b="0" dirty="0">
                <a:solidFill>
                  <a:srgbClr val="000000"/>
                </a:solidFill>
                <a:effectLst/>
                <a:latin typeface="Fira Code" panose="020B0809050000020004" pitchFamily="49" charset="0"/>
              </a:rPr>
              <a:t>, </a:t>
            </a:r>
            <a:r>
              <a:rPr lang="en-US" b="0" dirty="0">
                <a:solidFill>
                  <a:srgbClr val="A31515"/>
                </a:solidFill>
                <a:effectLst/>
                <a:latin typeface="Fira Code" panose="020B0809050000020004" pitchFamily="49" charset="0"/>
              </a:rPr>
              <a:t>'J'</a:t>
            </a:r>
            <a:r>
              <a:rPr lang="en-US" b="0" dirty="0">
                <a:solidFill>
                  <a:srgbClr val="000000"/>
                </a:solidFill>
                <a:effectLst/>
                <a:latin typeface="Fira Code" panose="020B0809050000020004" pitchFamily="49" charset="0"/>
              </a:rPr>
              <a:t>, </a:t>
            </a:r>
            <a:r>
              <a:rPr lang="en-US" b="0" dirty="0">
                <a:solidFill>
                  <a:srgbClr val="A31515"/>
                </a:solidFill>
                <a:effectLst/>
                <a:latin typeface="Fira Code" panose="020B0809050000020004" pitchFamily="49" charset="0"/>
              </a:rPr>
              <a:t>'r'</a:t>
            </a:r>
            <a:r>
              <a:rPr lang="en-US" b="0" dirty="0">
                <a:solidFill>
                  <a:srgbClr val="000000"/>
                </a:solidFill>
                <a:effectLst/>
                <a:latin typeface="Fira Code" panose="020B0809050000020004" pitchFamily="49" charset="0"/>
              </a:rPr>
              <a:t>&gt;();</a:t>
            </a:r>
          </a:p>
          <a:p>
            <a:pPr>
              <a:lnSpc>
                <a:spcPct val="113095"/>
              </a:lnSpc>
              <a:buNone/>
            </a:pPr>
            <a:endParaRPr lang="en-US" b="0" dirty="0">
              <a:solidFill>
                <a:srgbClr val="000000"/>
              </a:solidFill>
              <a:effectLst/>
              <a:latin typeface="Fira Code" panose="020B0809050000020004" pitchFamily="49" charset="0"/>
            </a:endParaRPr>
          </a:p>
          <a:p>
            <a:pPr>
              <a:lnSpc>
                <a:spcPct val="113095"/>
              </a:lnSpc>
              <a:buNone/>
            </a:pPr>
            <a:r>
              <a:rPr lang="en-US" b="0" dirty="0">
                <a:solidFill>
                  <a:srgbClr val="267F99"/>
                </a:solidFill>
                <a:effectLst/>
                <a:latin typeface="Fira Code" panose="020B0809050000020004" pitchFamily="49" charset="0"/>
              </a:rPr>
              <a:t>auto</a:t>
            </a:r>
            <a:r>
              <a:rPr lang="en-US" b="0" dirty="0">
                <a:solidFill>
                  <a:srgbClr val="000000"/>
                </a:solidFill>
                <a:effectLst/>
                <a:latin typeface="Fira Code" panose="020B0809050000020004" pitchFamily="49" charset="0"/>
              </a:rPr>
              <a:t> </a:t>
            </a:r>
            <a:r>
              <a:rPr lang="en-US" b="0" dirty="0" err="1">
                <a:solidFill>
                  <a:srgbClr val="001080"/>
                </a:solidFill>
                <a:effectLst/>
                <a:latin typeface="Fira Code" panose="020B0809050000020004" pitchFamily="49" charset="0"/>
              </a:rPr>
              <a:t>MPItrav</a:t>
            </a: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mpi_traverser</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'r'</a:t>
            </a:r>
            <a:r>
              <a:rPr lang="en-US" b="0" dirty="0">
                <a:solidFill>
                  <a:srgbClr val="000000"/>
                </a:solidFill>
                <a:effectLst/>
                <a:latin typeface="Fira Code" panose="020B0809050000020004" pitchFamily="49" charset="0"/>
              </a:rPr>
              <a:t>&gt;(</a:t>
            </a:r>
            <a:r>
              <a:rPr lang="en-US" b="0" dirty="0" err="1">
                <a:solidFill>
                  <a:srgbClr val="001080"/>
                </a:solidFill>
                <a:effectLst/>
                <a:latin typeface="Fira Code" panose="020B0809050000020004" pitchFamily="49" charset="0"/>
              </a:rPr>
              <a:t>trav</a:t>
            </a:r>
            <a:r>
              <a:rPr lang="en-US" b="0" dirty="0">
                <a:solidFill>
                  <a:srgbClr val="000000"/>
                </a:solidFill>
                <a:effectLst/>
                <a:latin typeface="Fira Code" panose="020B0809050000020004" pitchFamily="49" charset="0"/>
              </a:rPr>
              <a:t>, </a:t>
            </a:r>
            <a:r>
              <a:rPr lang="en-US" b="0" dirty="0">
                <a:solidFill>
                  <a:srgbClr val="0000FF"/>
                </a:solidFill>
                <a:effectLst/>
                <a:latin typeface="Fira Code" panose="020B0809050000020004" pitchFamily="49" charset="0"/>
              </a:rPr>
              <a:t>COMM_WORLD</a:t>
            </a:r>
            <a:r>
              <a:rPr lang="en-US" b="0" dirty="0">
                <a:solidFill>
                  <a:srgbClr val="000000"/>
                </a:solidFill>
                <a:effectLst/>
                <a:latin typeface="Fira Code" panose="020B0809050000020004" pitchFamily="49" charset="0"/>
              </a:rPr>
              <a:t>);</a:t>
            </a: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dirty="0">
              <a:solidFill>
                <a:srgbClr val="000000"/>
              </a:solidFill>
              <a:latin typeface="Fira Code" panose="020B0809050000020004" pitchFamily="49" charset="0"/>
            </a:endParaRPr>
          </a:p>
          <a:p>
            <a:pPr>
              <a:lnSpc>
                <a:spcPct val="113095"/>
              </a:lnSpc>
              <a:buNone/>
            </a:pPr>
            <a:r>
              <a:rPr lang="en-US" sz="1800" b="0" dirty="0" err="1">
                <a:solidFill>
                  <a:srgbClr val="001080"/>
                </a:solidFill>
                <a:effectLst/>
                <a:latin typeface="Fira Code" panose="020B0809050000020004" pitchFamily="49" charset="0"/>
              </a:rPr>
              <a:t>MPItrav</a:t>
            </a:r>
            <a:r>
              <a:rPr lang="en-US" sz="1800" b="0" dirty="0">
                <a:solidFill>
                  <a:srgbClr val="000000"/>
                </a:solidFill>
                <a:effectLst/>
                <a:latin typeface="Fira Code" panose="020B0809050000020004" pitchFamily="49" charset="0"/>
              </a:rPr>
              <a:t> | [&amp;](</a:t>
            </a:r>
            <a:r>
              <a:rPr lang="en-US" sz="1800" b="0" dirty="0">
                <a:solidFill>
                  <a:srgbClr val="267F99"/>
                </a:solidFill>
                <a:effectLst/>
                <a:latin typeface="Fira Code" panose="020B0809050000020004" pitchFamily="49" charset="0"/>
              </a:rPr>
              <a:t>auto</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 {</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0070C1"/>
                </a:solidFill>
                <a:effectLst/>
                <a:latin typeface="Fira Code" panose="020B0809050000020004" pitchFamily="49" charset="0"/>
              </a:rPr>
              <a:t>Tile</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 = </a:t>
            </a:r>
            <a:r>
              <a:rPr lang="en-US" sz="1800" b="0" dirty="0" err="1">
                <a:solidFill>
                  <a:srgbClr val="795E26"/>
                </a:solidFill>
                <a:effectLst/>
                <a:latin typeface="Fira Code" panose="020B0809050000020004" pitchFamily="49" charset="0"/>
              </a:rPr>
              <a:t>init</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a:t>
            </a:r>
          </a:p>
        </p:txBody>
      </p:sp>
      <p:sp>
        <p:nvSpPr>
          <p:cNvPr id="27" name="Right Brace 26">
            <a:extLst>
              <a:ext uri="{FF2B5EF4-FFF2-40B4-BE49-F238E27FC236}">
                <a16:creationId xmlns:a16="http://schemas.microsoft.com/office/drawing/2014/main" id="{5FFAABDD-4201-74E7-5C87-B5FE95CC8D61}"/>
              </a:ext>
            </a:extLst>
          </p:cNvPr>
          <p:cNvSpPr/>
          <p:nvPr/>
        </p:nvSpPr>
        <p:spPr>
          <a:xfrm>
            <a:off x="10553111" y="1176246"/>
            <a:ext cx="324197" cy="95403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0" name="TextBox 29">
            <a:extLst>
              <a:ext uri="{FF2B5EF4-FFF2-40B4-BE49-F238E27FC236}">
                <a16:creationId xmlns:a16="http://schemas.microsoft.com/office/drawing/2014/main" id="{F1C7236A-2A5F-5DB5-FFC2-747FA4DCCD3C}"/>
              </a:ext>
            </a:extLst>
          </p:cNvPr>
          <p:cNvSpPr txBox="1"/>
          <p:nvPr/>
        </p:nvSpPr>
        <p:spPr>
          <a:xfrm>
            <a:off x="10857636" y="1284214"/>
            <a:ext cx="1104790" cy="646331"/>
          </a:xfrm>
          <a:prstGeom prst="rect">
            <a:avLst/>
          </a:prstGeom>
          <a:noFill/>
        </p:spPr>
        <p:txBody>
          <a:bodyPr wrap="none" rtlCol="0">
            <a:spAutoFit/>
          </a:bodyPr>
          <a:lstStyle/>
          <a:p>
            <a:r>
              <a:rPr lang="en-US" noProof="0" dirty="0"/>
              <a:t>Encoding</a:t>
            </a:r>
            <a:br>
              <a:rPr lang="en-US" noProof="0" dirty="0"/>
            </a:br>
            <a:r>
              <a:rPr lang="en-US" noProof="0" dirty="0"/>
              <a:t>topology</a:t>
            </a:r>
          </a:p>
        </p:txBody>
      </p:sp>
      <p:sp>
        <p:nvSpPr>
          <p:cNvPr id="38" name="Oval 37">
            <a:extLst>
              <a:ext uri="{FF2B5EF4-FFF2-40B4-BE49-F238E27FC236}">
                <a16:creationId xmlns:a16="http://schemas.microsoft.com/office/drawing/2014/main" id="{865CC931-F0E1-737A-536F-453E24B23690}"/>
              </a:ext>
            </a:extLst>
          </p:cNvPr>
          <p:cNvSpPr/>
          <p:nvPr/>
        </p:nvSpPr>
        <p:spPr>
          <a:xfrm>
            <a:off x="4626043" y="2128305"/>
            <a:ext cx="7554186" cy="85130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835AFA3F-B4AF-ABF4-9BB4-CE1EE90FCB8C}"/>
              </a:ext>
            </a:extLst>
          </p:cNvPr>
          <p:cNvSpPr txBox="1"/>
          <p:nvPr/>
        </p:nvSpPr>
        <p:spPr>
          <a:xfrm>
            <a:off x="6795126" y="5143169"/>
            <a:ext cx="4839852" cy="395108"/>
          </a:xfrm>
          <a:prstGeom prst="rect">
            <a:avLst/>
          </a:prstGeom>
          <a:noFill/>
        </p:spPr>
        <p:txBody>
          <a:bodyPr wrap="square">
            <a:spAutoFit/>
          </a:bodyPr>
          <a:lstStyle/>
          <a:p>
            <a:pPr>
              <a:lnSpc>
                <a:spcPct val="113095"/>
              </a:lnSpc>
              <a:buNone/>
            </a:pPr>
            <a:r>
              <a:rPr lang="en-US" b="0" dirty="0">
                <a:solidFill>
                  <a:srgbClr val="795E26"/>
                </a:solidFill>
                <a:effectLst/>
                <a:latin typeface="Fira Code" panose="020B0809050000020004" pitchFamily="49" charset="0"/>
              </a:rPr>
              <a:t>gather</a:t>
            </a:r>
            <a:r>
              <a:rPr lang="en-US" b="0" dirty="0">
                <a:solidFill>
                  <a:srgbClr val="000000"/>
                </a:solidFill>
                <a:effectLst/>
                <a:latin typeface="Fira Code" panose="020B0809050000020004" pitchFamily="49" charset="0"/>
              </a:rPr>
              <a:t>(</a:t>
            </a:r>
            <a:r>
              <a:rPr lang="en-US" dirty="0">
                <a:solidFill>
                  <a:srgbClr val="0070C1"/>
                </a:solidFill>
                <a:latin typeface="Fira Code" panose="020B0809050000020004" pitchFamily="49" charset="0"/>
              </a:rPr>
              <a:t>Tile</a:t>
            </a:r>
            <a:r>
              <a:rPr lang="en-US" dirty="0">
                <a:solidFill>
                  <a:srgbClr val="000000"/>
                </a:solidFill>
                <a:latin typeface="Fira Code" panose="020B0809050000020004" pitchFamily="49" charset="0"/>
              </a:rPr>
              <a:t>, </a:t>
            </a:r>
            <a:r>
              <a:rPr lang="en-US" dirty="0">
                <a:solidFill>
                  <a:srgbClr val="0070C1"/>
                </a:solidFill>
                <a:latin typeface="Fira Code" panose="020B0809050000020004" pitchFamily="49" charset="0"/>
              </a:rPr>
              <a:t>Data</a:t>
            </a:r>
            <a:r>
              <a:rPr lang="en-US" dirty="0">
                <a:solidFill>
                  <a:srgbClr val="000000"/>
                </a:solidFill>
                <a:latin typeface="Fira Code" panose="020B0809050000020004" pitchFamily="49" charset="0"/>
              </a:rPr>
              <a:t>, </a:t>
            </a:r>
            <a:r>
              <a:rPr lang="en-US" b="0" dirty="0">
                <a:solidFill>
                  <a:srgbClr val="0070C1"/>
                </a:solidFill>
                <a:effectLst/>
                <a:latin typeface="Fira Code" panose="020B0809050000020004" pitchFamily="49" charset="0"/>
              </a:rPr>
              <a:t>root</a:t>
            </a:r>
            <a:r>
              <a:rPr lang="en-US" b="0" dirty="0">
                <a:solidFill>
                  <a:srgbClr val="000000"/>
                </a:solidFill>
                <a:effectLst/>
                <a:latin typeface="Fira Code" panose="020B0809050000020004" pitchFamily="49" charset="0"/>
              </a:rPr>
              <a:t>, </a:t>
            </a:r>
            <a:r>
              <a:rPr lang="en-US" dirty="0" err="1">
                <a:solidFill>
                  <a:srgbClr val="001080"/>
                </a:solidFill>
                <a:latin typeface="Fira Code" panose="020B0809050000020004" pitchFamily="49" charset="0"/>
              </a:rPr>
              <a:t>MPItrav</a:t>
            </a:r>
            <a:r>
              <a:rPr lang="en-US" b="0" dirty="0">
                <a:solidFill>
                  <a:srgbClr val="000000"/>
                </a:solidFill>
                <a:effectLst/>
                <a:latin typeface="Fira Code" panose="020B0809050000020004" pitchFamily="49" charset="0"/>
              </a:rPr>
              <a:t>);</a:t>
            </a:r>
          </a:p>
        </p:txBody>
      </p:sp>
      <p:sp>
        <p:nvSpPr>
          <p:cNvPr id="49" name="Right Brace 48">
            <a:extLst>
              <a:ext uri="{FF2B5EF4-FFF2-40B4-BE49-F238E27FC236}">
                <a16:creationId xmlns:a16="http://schemas.microsoft.com/office/drawing/2014/main" id="{329DFC7F-1CD7-D907-ACE7-DF5BC3131277}"/>
              </a:ext>
            </a:extLst>
          </p:cNvPr>
          <p:cNvSpPr/>
          <p:nvPr/>
        </p:nvSpPr>
        <p:spPr>
          <a:xfrm>
            <a:off x="9001402" y="3348945"/>
            <a:ext cx="324197" cy="91350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2" name="TextBox 51">
            <a:extLst>
              <a:ext uri="{FF2B5EF4-FFF2-40B4-BE49-F238E27FC236}">
                <a16:creationId xmlns:a16="http://schemas.microsoft.com/office/drawing/2014/main" id="{BDF331C8-C8ED-B5C4-3373-8B0D250696A0}"/>
              </a:ext>
            </a:extLst>
          </p:cNvPr>
          <p:cNvSpPr txBox="1"/>
          <p:nvPr/>
        </p:nvSpPr>
        <p:spPr>
          <a:xfrm>
            <a:off x="9325599" y="3622766"/>
            <a:ext cx="2392941" cy="369332"/>
          </a:xfrm>
          <a:prstGeom prst="rect">
            <a:avLst/>
          </a:prstGeom>
          <a:noFill/>
        </p:spPr>
        <p:txBody>
          <a:bodyPr wrap="square" rtlCol="0">
            <a:spAutoFit/>
          </a:bodyPr>
          <a:lstStyle/>
          <a:p>
            <a:r>
              <a:rPr lang="en-US" noProof="0" dirty="0"/>
              <a:t>Writes to the local tile </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9132420" y="3281535"/>
            <a:ext cx="169251" cy="46311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6" name="TextBox 55">
            <a:extLst>
              <a:ext uri="{FF2B5EF4-FFF2-40B4-BE49-F238E27FC236}">
                <a16:creationId xmlns:a16="http://schemas.microsoft.com/office/drawing/2014/main" id="{FA4348FA-14AF-AE42-2449-6C4790D0706A}"/>
              </a:ext>
            </a:extLst>
          </p:cNvPr>
          <p:cNvSpPr txBox="1"/>
          <p:nvPr/>
        </p:nvSpPr>
        <p:spPr>
          <a:xfrm>
            <a:off x="7481162" y="5745321"/>
            <a:ext cx="3467779" cy="369332"/>
          </a:xfrm>
          <a:prstGeom prst="rect">
            <a:avLst/>
          </a:prstGeom>
          <a:noFill/>
        </p:spPr>
        <p:txBody>
          <a:bodyPr wrap="square" rtlCol="0">
            <a:spAutoFit/>
          </a:bodyPr>
          <a:lstStyle/>
          <a:p>
            <a:pPr algn="ctr"/>
            <a:r>
              <a:rPr lang="en-US" noProof="0" dirty="0"/>
              <a:t>Gathers the tiles into the result</a:t>
            </a:r>
          </a:p>
        </p:txBody>
      </p:sp>
      <p:sp>
        <p:nvSpPr>
          <p:cNvPr id="58" name="TextBox 57">
            <a:extLst>
              <a:ext uri="{FF2B5EF4-FFF2-40B4-BE49-F238E27FC236}">
                <a16:creationId xmlns:a16="http://schemas.microsoft.com/office/drawing/2014/main" id="{896E893B-6C24-AD2E-1DF6-311727C79C3C}"/>
              </a:ext>
            </a:extLst>
          </p:cNvPr>
          <p:cNvSpPr txBox="1"/>
          <p:nvPr/>
        </p:nvSpPr>
        <p:spPr>
          <a:xfrm>
            <a:off x="2354911" y="2376056"/>
            <a:ext cx="897740" cy="369332"/>
          </a:xfrm>
          <a:prstGeom prst="rect">
            <a:avLst/>
          </a:prstGeom>
          <a:noFill/>
        </p:spPr>
        <p:txBody>
          <a:bodyPr wrap="square">
            <a:spAutoFit/>
          </a:bodyPr>
          <a:lstStyle/>
          <a:p>
            <a:r>
              <a:rPr lang="en-US" sz="1800" b="0" dirty="0">
                <a:solidFill>
                  <a:srgbClr val="0070C1"/>
                </a:solidFill>
                <a:effectLst/>
                <a:latin typeface="Fira Code" panose="020B0809050000020004" pitchFamily="49" charset="0"/>
              </a:rPr>
              <a:t>Data</a:t>
            </a:r>
            <a:endParaRPr lang="en-US" dirty="0"/>
          </a:p>
        </p:txBody>
      </p:sp>
      <p:cxnSp>
        <p:nvCxnSpPr>
          <p:cNvPr id="59" name="Straight Connector 58">
            <a:extLst>
              <a:ext uri="{FF2B5EF4-FFF2-40B4-BE49-F238E27FC236}">
                <a16:creationId xmlns:a16="http://schemas.microsoft.com/office/drawing/2014/main" id="{8AA48A78-4D0D-D4CE-F1D8-AB2AB7880A21}"/>
              </a:ext>
            </a:extLst>
          </p:cNvPr>
          <p:cNvCxnSpPr>
            <a:cxnSpLocks/>
          </p:cNvCxnSpPr>
          <p:nvPr/>
        </p:nvCxnSpPr>
        <p:spPr>
          <a:xfrm>
            <a:off x="1075127" y="4835623"/>
            <a:ext cx="345730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E011014B-915E-8EB8-9EEA-F373326AF674}"/>
              </a:ext>
            </a:extLst>
          </p:cNvPr>
          <p:cNvCxnSpPr>
            <a:cxnSpLocks/>
          </p:cNvCxnSpPr>
          <p:nvPr/>
        </p:nvCxnSpPr>
        <p:spPr>
          <a:xfrm flipH="1">
            <a:off x="1109108" y="5562873"/>
            <a:ext cx="747410" cy="42062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67" name="TextBox 66">
            <a:extLst>
              <a:ext uri="{FF2B5EF4-FFF2-40B4-BE49-F238E27FC236}">
                <a16:creationId xmlns:a16="http://schemas.microsoft.com/office/drawing/2014/main" id="{F428AF86-07EC-BFD9-FDA1-8725D8AC3848}"/>
              </a:ext>
            </a:extLst>
          </p:cNvPr>
          <p:cNvSpPr txBox="1"/>
          <p:nvPr/>
        </p:nvSpPr>
        <p:spPr>
          <a:xfrm>
            <a:off x="205541" y="5990975"/>
            <a:ext cx="1253869" cy="369332"/>
          </a:xfrm>
          <a:prstGeom prst="rect">
            <a:avLst/>
          </a:prstGeom>
          <a:noFill/>
        </p:spPr>
        <p:txBody>
          <a:bodyPr wrap="none" rtlCol="0">
            <a:spAutoFit/>
          </a:bodyPr>
          <a:lstStyle/>
          <a:p>
            <a:r>
              <a:rPr lang="en-US" dirty="0"/>
              <a:t>Node 4 tile</a:t>
            </a:r>
          </a:p>
        </p:txBody>
      </p:sp>
      <p:sp>
        <p:nvSpPr>
          <p:cNvPr id="70" name="TextBox 69">
            <a:extLst>
              <a:ext uri="{FF2B5EF4-FFF2-40B4-BE49-F238E27FC236}">
                <a16:creationId xmlns:a16="http://schemas.microsoft.com/office/drawing/2014/main" id="{6E3CBF0D-5F3F-C340-AD1E-3E9E4A50D783}"/>
              </a:ext>
            </a:extLst>
          </p:cNvPr>
          <p:cNvSpPr txBox="1"/>
          <p:nvPr/>
        </p:nvSpPr>
        <p:spPr>
          <a:xfrm>
            <a:off x="4125994" y="5938255"/>
            <a:ext cx="1253869" cy="369332"/>
          </a:xfrm>
          <a:prstGeom prst="rect">
            <a:avLst/>
          </a:prstGeom>
          <a:noFill/>
        </p:spPr>
        <p:txBody>
          <a:bodyPr wrap="none" rtlCol="0">
            <a:spAutoFit/>
          </a:bodyPr>
          <a:lstStyle/>
          <a:p>
            <a:r>
              <a:rPr lang="en-US" dirty="0"/>
              <a:t>Node 5 tile</a:t>
            </a:r>
          </a:p>
        </p:txBody>
      </p:sp>
      <p:cxnSp>
        <p:nvCxnSpPr>
          <p:cNvPr id="72" name="Straight Connector 71">
            <a:extLst>
              <a:ext uri="{FF2B5EF4-FFF2-40B4-BE49-F238E27FC236}">
                <a16:creationId xmlns:a16="http://schemas.microsoft.com/office/drawing/2014/main" id="{54C91492-52A6-78AF-5BA4-FE8654664AB4}"/>
              </a:ext>
            </a:extLst>
          </p:cNvPr>
          <p:cNvCxnSpPr>
            <a:cxnSpLocks/>
          </p:cNvCxnSpPr>
          <p:nvPr/>
        </p:nvCxnSpPr>
        <p:spPr>
          <a:xfrm flipH="1" flipV="1">
            <a:off x="3728886" y="5679959"/>
            <a:ext cx="837525" cy="311016"/>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990220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5317591" y="1027906"/>
            <a:ext cx="1924951" cy="369332"/>
          </a:xfrm>
          <a:prstGeom prst="rect">
            <a:avLst/>
          </a:prstGeom>
          <a:noFill/>
        </p:spPr>
        <p:txBody>
          <a:bodyPr wrap="none" rtlCol="0">
            <a:spAutoFit/>
          </a:bodyPr>
          <a:lstStyle/>
          <a:p>
            <a:r>
              <a:rPr lang="en-US" noProof="0" dirty="0"/>
              <a:t>send(</a:t>
            </a:r>
            <a:r>
              <a:rPr lang="en-US" noProof="0" dirty="0" err="1"/>
              <a:t>row_major</a:t>
            </a:r>
            <a:r>
              <a:rPr lang="en-US" noProof="0" dirty="0"/>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530610" y="3220748"/>
            <a:ext cx="1798377" cy="369332"/>
          </a:xfrm>
          <a:prstGeom prst="rect">
            <a:avLst/>
          </a:prstGeom>
          <a:noFill/>
        </p:spPr>
        <p:txBody>
          <a:bodyPr wrap="none" rtlCol="0">
            <a:spAutoFit/>
          </a:bodyPr>
          <a:lstStyle/>
          <a:p>
            <a:r>
              <a:rPr lang="en-US" noProof="0" dirty="0" err="1"/>
              <a:t>recv</a:t>
            </a:r>
            <a:r>
              <a:rPr lang="en-US" noProof="0" dirty="0"/>
              <a:t>(</a:t>
            </a:r>
            <a:r>
              <a:rPr lang="en-US" noProof="0" dirty="0" err="1"/>
              <a:t>col_major</a:t>
            </a:r>
            <a:r>
              <a:rPr lang="en-US" noProof="0" dirty="0"/>
              <a:t>);</a:t>
            </a:r>
          </a:p>
        </p:txBody>
      </p:sp>
      <p:sp>
        <p:nvSpPr>
          <p:cNvPr id="13" name="TextBox 12">
            <a:extLst>
              <a:ext uri="{FF2B5EF4-FFF2-40B4-BE49-F238E27FC236}">
                <a16:creationId xmlns:a16="http://schemas.microsoft.com/office/drawing/2014/main" id="{439C9CAD-9E1E-7EC1-4429-D017CA1092E1}"/>
              </a:ext>
            </a:extLst>
          </p:cNvPr>
          <p:cNvSpPr txBox="1"/>
          <p:nvPr/>
        </p:nvSpPr>
        <p:spPr>
          <a:xfrm>
            <a:off x="1057696" y="4769331"/>
            <a:ext cx="626454" cy="369332"/>
          </a:xfrm>
          <a:prstGeom prst="rect">
            <a:avLst/>
          </a:prstGeom>
          <a:noFill/>
        </p:spPr>
        <p:txBody>
          <a:bodyPr wrap="none" rtlCol="0">
            <a:spAutoFit/>
          </a:bodyPr>
          <a:lstStyle/>
          <a:p>
            <a:r>
              <a:rPr lang="en-US" noProof="0" dirty="0"/>
              <a:t>ours</a:t>
            </a:r>
          </a:p>
        </p:txBody>
      </p:sp>
      <p:sp>
        <p:nvSpPr>
          <p:cNvPr id="14" name="TextBox 13">
            <a:extLst>
              <a:ext uri="{FF2B5EF4-FFF2-40B4-BE49-F238E27FC236}">
                <a16:creationId xmlns:a16="http://schemas.microsoft.com/office/drawing/2014/main" id="{662521EF-5391-2B3B-B4E1-631E6C4FEF95}"/>
              </a:ext>
            </a:extLst>
          </p:cNvPr>
          <p:cNvSpPr txBox="1"/>
          <p:nvPr/>
        </p:nvSpPr>
        <p:spPr>
          <a:xfrm>
            <a:off x="10531434" y="4679949"/>
            <a:ext cx="713016" cy="369332"/>
          </a:xfrm>
          <a:prstGeom prst="rect">
            <a:avLst/>
          </a:prstGeom>
          <a:noFill/>
        </p:spPr>
        <p:txBody>
          <a:bodyPr wrap="none" rtlCol="0">
            <a:spAutoFit/>
          </a:bodyPr>
          <a:lstStyle/>
          <a:p>
            <a:r>
              <a:rPr lang="en-US" noProof="0" dirty="0"/>
              <a:t>naive</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smtClean="0"/>
              <a:t>8/27/2026</a:t>
            </a:fld>
            <a:endParaRPr lang="en-US"/>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smtClean="0"/>
              <a:t>13</a:t>
            </a:fld>
            <a:endParaRPr lang="en-US"/>
          </a:p>
        </p:txBody>
      </p:sp>
      <p:pic>
        <p:nvPicPr>
          <p:cNvPr id="18" name="Graphic 17">
            <a:extLst>
              <a:ext uri="{FF2B5EF4-FFF2-40B4-BE49-F238E27FC236}">
                <a16:creationId xmlns:a16="http://schemas.microsoft.com/office/drawing/2014/main" id="{06EB6A87-C410-9B14-96CD-100480173550}"/>
              </a:ext>
            </a:extLst>
          </p:cNvPr>
          <p:cNvPicPr>
            <a:picLocks noChangeAspect="1"/>
          </p:cNvPicPr>
          <p:nvPr/>
        </p:nvPicPr>
        <p:blipFill>
          <a:blip>
            <a:extLst>
              <a:ext uri="{96DAC541-7B7A-43D3-8B79-37D633B846F1}">
                <asvg:svgBlip xmlns:asvg="http://schemas.microsoft.com/office/drawing/2016/SVG/main" r:embed="rId3"/>
              </a:ext>
            </a:extLst>
          </a:blip>
          <a:srcRect t="1" r="59919" b="62224"/>
          <a:stretch>
            <a:fillRect/>
          </a:stretch>
        </p:blipFill>
        <p:spPr>
          <a:xfrm>
            <a:off x="4780368" y="1442644"/>
            <a:ext cx="2631264" cy="1986356"/>
          </a:xfrm>
          <a:prstGeom prst="rect">
            <a:avLst/>
          </a:prstGeom>
        </p:spPr>
      </p:pic>
      <p:pic>
        <p:nvPicPr>
          <p:cNvPr id="20" name="Graphic 19">
            <a:extLst>
              <a:ext uri="{FF2B5EF4-FFF2-40B4-BE49-F238E27FC236}">
                <a16:creationId xmlns:a16="http://schemas.microsoft.com/office/drawing/2014/main" id="{B3AE9794-A1E1-1CB2-4E89-0355A8BF2AAB}"/>
              </a:ext>
            </a:extLst>
          </p:cNvPr>
          <p:cNvPicPr>
            <a:picLocks noChangeAspect="1"/>
          </p:cNvPicPr>
          <p:nvPr/>
        </p:nvPicPr>
        <p:blipFill>
          <a:blip>
            <a:extLst>
              <a:ext uri="{96DAC541-7B7A-43D3-8B79-37D633B846F1}">
                <asvg:svgBlip xmlns:asvg="http://schemas.microsoft.com/office/drawing/2016/SVG/main" r:embed="rId3"/>
              </a:ext>
            </a:extLst>
          </a:blip>
          <a:srcRect l="69206" b="49586"/>
          <a:stretch>
            <a:fillRect/>
          </a:stretch>
        </p:blipFill>
        <p:spPr>
          <a:xfrm>
            <a:off x="8419049" y="3628516"/>
            <a:ext cx="2021500" cy="2650962"/>
          </a:xfrm>
          <a:prstGeom prst="rect">
            <a:avLst/>
          </a:prstGeom>
        </p:spPr>
      </p:pic>
      <p:pic>
        <p:nvPicPr>
          <p:cNvPr id="22" name="Graphic 21">
            <a:extLst>
              <a:ext uri="{FF2B5EF4-FFF2-40B4-BE49-F238E27FC236}">
                <a16:creationId xmlns:a16="http://schemas.microsoft.com/office/drawing/2014/main" id="{51998753-317E-8821-611A-BAD4E67A202C}"/>
              </a:ext>
            </a:extLst>
          </p:cNvPr>
          <p:cNvPicPr>
            <a:picLocks noChangeAspect="1"/>
          </p:cNvPicPr>
          <p:nvPr/>
        </p:nvPicPr>
        <p:blipFill>
          <a:blip>
            <a:extLst>
              <a:ext uri="{96DAC541-7B7A-43D3-8B79-37D633B846F1}">
                <asvg:svgBlip xmlns:asvg="http://schemas.microsoft.com/office/drawing/2016/SVG/main" r:embed="rId3"/>
              </a:ext>
            </a:extLst>
          </a:blip>
          <a:srcRect t="49586" r="69685"/>
          <a:stretch>
            <a:fillRect/>
          </a:stretch>
        </p:blipFill>
        <p:spPr>
          <a:xfrm>
            <a:off x="1937956" y="3539134"/>
            <a:ext cx="1990102" cy="2650962"/>
          </a:xfrm>
          <a:prstGeom prst="rect">
            <a:avLst/>
          </a:prstGeom>
        </p:spPr>
      </p:pic>
      <p:sp>
        <p:nvSpPr>
          <p:cNvPr id="26" name="TextBox 25">
            <a:extLst>
              <a:ext uri="{FF2B5EF4-FFF2-40B4-BE49-F238E27FC236}">
                <a16:creationId xmlns:a16="http://schemas.microsoft.com/office/drawing/2014/main" id="{961FBEC7-CB4A-332B-8305-81A140E2B4BC}"/>
              </a:ext>
            </a:extLst>
          </p:cNvPr>
          <p:cNvSpPr txBox="1"/>
          <p:nvPr/>
        </p:nvSpPr>
        <p:spPr>
          <a:xfrm>
            <a:off x="2072983" y="3134200"/>
            <a:ext cx="1798377" cy="369332"/>
          </a:xfrm>
          <a:prstGeom prst="rect">
            <a:avLst/>
          </a:prstGeom>
          <a:noFill/>
        </p:spPr>
        <p:txBody>
          <a:bodyPr wrap="none" rtlCol="0">
            <a:spAutoFit/>
          </a:bodyPr>
          <a:lstStyle/>
          <a:p>
            <a:r>
              <a:rPr lang="en-US" noProof="0" dirty="0" err="1"/>
              <a:t>recv</a:t>
            </a:r>
            <a:r>
              <a:rPr lang="en-US" noProof="0" dirty="0"/>
              <a:t>(</a:t>
            </a:r>
            <a:r>
              <a:rPr lang="en-US" noProof="0" dirty="0" err="1"/>
              <a:t>col_major</a:t>
            </a:r>
            <a:r>
              <a:rPr lang="en-US" noProof="0" dirty="0"/>
              <a:t>);</a:t>
            </a:r>
          </a:p>
        </p:txBody>
      </p:sp>
      <p:cxnSp>
        <p:nvCxnSpPr>
          <p:cNvPr id="28" name="Straight Arrow Connector 27">
            <a:extLst>
              <a:ext uri="{FF2B5EF4-FFF2-40B4-BE49-F238E27FC236}">
                <a16:creationId xmlns:a16="http://schemas.microsoft.com/office/drawing/2014/main" id="{2045E9BC-7505-AE12-2FF8-B6E23CAD3D28}"/>
              </a:ext>
            </a:extLst>
          </p:cNvPr>
          <p:cNvCxnSpPr>
            <a:stCxn id="18" idx="2"/>
            <a:endCxn id="22" idx="3"/>
          </p:cNvCxnSpPr>
          <p:nvPr/>
        </p:nvCxnSpPr>
        <p:spPr>
          <a:xfrm flipH="1">
            <a:off x="3928058" y="3429000"/>
            <a:ext cx="2167942" cy="14356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stCxn id="18" idx="2"/>
            <a:endCxn id="20" idx="1"/>
          </p:cNvCxnSpPr>
          <p:nvPr/>
        </p:nvCxnSpPr>
        <p:spPr>
          <a:xfrm>
            <a:off x="6096000" y="3429000"/>
            <a:ext cx="2323049" cy="15249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007681" y="4254601"/>
            <a:ext cx="2698431" cy="369332"/>
          </a:xfrm>
          <a:prstGeom prst="rect">
            <a:avLst/>
          </a:prstGeom>
          <a:noFill/>
        </p:spPr>
        <p:txBody>
          <a:bodyPr wrap="none" rtlCol="0">
            <a:spAutoFit/>
          </a:bodyPr>
          <a:lstStyle/>
          <a:p>
            <a:r>
              <a:rPr lang="en-US" dirty="0"/>
              <a:t>Preserves physical layout</a:t>
            </a: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3645637" y="4096535"/>
            <a:ext cx="2822824" cy="369332"/>
          </a:xfrm>
          <a:prstGeom prst="rect">
            <a:avLst/>
          </a:prstGeom>
          <a:noFill/>
        </p:spPr>
        <p:txBody>
          <a:bodyPr wrap="none" rtlCol="0">
            <a:spAutoFit/>
          </a:bodyPr>
          <a:lstStyle/>
          <a:p>
            <a:r>
              <a:rPr lang="en-US" dirty="0"/>
              <a:t>Preserves logical structure</a:t>
            </a:r>
          </a:p>
        </p:txBody>
      </p:sp>
    </p:spTree>
    <p:extLst>
      <p:ext uri="{BB962C8B-B14F-4D97-AF65-F5344CB8AC3E}">
        <p14:creationId xmlns:p14="http://schemas.microsoft.com/office/powerpoint/2010/main" val="14841515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43B218F-11A7-3C72-B764-CB088CE45925}"/>
              </a:ext>
            </a:extLst>
          </p:cNvPr>
          <p:cNvPicPr>
            <a:picLocks noChangeAspect="1"/>
          </p:cNvPicPr>
          <p:nvPr/>
        </p:nvPicPr>
        <p:blipFill>
          <a:blip r:embed="rId3"/>
          <a:stretch>
            <a:fillRect/>
          </a:stretch>
        </p:blipFill>
        <p:spPr>
          <a:xfrm>
            <a:off x="2940615" y="3429000"/>
            <a:ext cx="8602275" cy="2924583"/>
          </a:xfrm>
          <a:prstGeom prst="rect">
            <a:avLst/>
          </a:prstGeom>
        </p:spPr>
      </p:pic>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4"/>
          <a:stretch>
            <a:fillRect/>
          </a:stretch>
        </p:blipFill>
        <p:spPr>
          <a:xfrm>
            <a:off x="4121330" y="1293295"/>
            <a:ext cx="6725589" cy="1886213"/>
          </a:xfrm>
          <a:prstGeom prst="rect">
            <a:avLst/>
          </a:prstGeom>
        </p:spPr>
      </p:pic>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smtClean="0"/>
              <a:t>8/27/2026</a:t>
            </a:fld>
            <a:endParaRPr lang="en-US"/>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smtClean="0"/>
              <a:t>14</a:t>
            </a:fld>
            <a:endParaRPr lang="en-US"/>
          </a:p>
        </p:txBody>
      </p:sp>
    </p:spTree>
    <p:extLst>
      <p:ext uri="{BB962C8B-B14F-4D97-AF65-F5344CB8AC3E}">
        <p14:creationId xmlns:p14="http://schemas.microsoft.com/office/powerpoint/2010/main" val="2024218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endParaRPr lang="en-US" noProof="0" dirty="0"/>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smtClean="0"/>
              <a:t>8/27/2026</a:t>
            </a:fld>
            <a:endParaRPr lang="en-US"/>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smtClean="0"/>
              <a:t>15</a:t>
            </a:fld>
            <a:endParaRPr lang="en-US"/>
          </a:p>
        </p:txBody>
      </p:sp>
      <p:pic>
        <p:nvPicPr>
          <p:cNvPr id="8" name="Graphic 7">
            <a:extLst>
              <a:ext uri="{FF2B5EF4-FFF2-40B4-BE49-F238E27FC236}">
                <a16:creationId xmlns:a16="http://schemas.microsoft.com/office/drawing/2014/main" id="{98E1269E-84AC-DEE2-DB4E-44747500089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7156" y="2248708"/>
            <a:ext cx="1375954" cy="1375954"/>
          </a:xfrm>
          <a:prstGeom prst="rect">
            <a:avLst/>
          </a:prstGeom>
        </p:spPr>
      </p:pic>
      <p:sp>
        <p:nvSpPr>
          <p:cNvPr id="31" name="TextBox 30">
            <a:extLst>
              <a:ext uri="{FF2B5EF4-FFF2-40B4-BE49-F238E27FC236}">
                <a16:creationId xmlns:a16="http://schemas.microsoft.com/office/drawing/2014/main" id="{7F9EF83F-D6D0-6A28-58E5-56F7C20423D4}"/>
              </a:ext>
            </a:extLst>
          </p:cNvPr>
          <p:cNvSpPr txBox="1"/>
          <p:nvPr/>
        </p:nvSpPr>
        <p:spPr>
          <a:xfrm>
            <a:off x="706581" y="3732911"/>
            <a:ext cx="4686522" cy="2275495"/>
          </a:xfrm>
          <a:prstGeom prst="rect">
            <a:avLst/>
          </a:prstGeom>
          <a:noFill/>
          <a:ln>
            <a:solidFill>
              <a:schemeClr val="tx1"/>
            </a:solidFill>
          </a:ln>
        </p:spPr>
        <p:txBody>
          <a:bodyPr wrap="square">
            <a:spAutoFit/>
          </a:bodyPr>
          <a:lstStyle/>
          <a:p>
            <a:pPr>
              <a:lnSpc>
                <a:spcPct val="113095"/>
              </a:lnSpc>
              <a:buNone/>
            </a:pPr>
            <a:r>
              <a:rPr lang="en-US" sz="1400" dirty="0">
                <a:solidFill>
                  <a:srgbClr val="AF00DB"/>
                </a:solidFill>
                <a:effectLst/>
                <a:latin typeface="Fira Code" panose="020B0809050000020004" pitchFamily="49" charset="0"/>
              </a:rPr>
              <a:t>if</a:t>
            </a:r>
            <a:r>
              <a:rPr lang="en-US" sz="1400" dirty="0">
                <a:solidFill>
                  <a:srgbClr val="000000"/>
                </a:solidFill>
                <a:effectLst/>
                <a:latin typeface="Fira Code" panose="020B0809050000020004" pitchFamily="49" charset="0"/>
              </a:rPr>
              <a:t> (</a:t>
            </a:r>
            <a:r>
              <a:rPr lang="en-US" sz="1400" dirty="0">
                <a:solidFill>
                  <a:srgbClr val="001080"/>
                </a:solidFill>
                <a:effectLst/>
                <a:latin typeface="Fira Code" panose="020B0809050000020004" pitchFamily="49" charset="0"/>
              </a:rPr>
              <a:t>current</a:t>
            </a:r>
            <a:r>
              <a:rPr lang="en-US" sz="1400" dirty="0">
                <a:solidFill>
                  <a:srgbClr val="000000"/>
                </a:solidFill>
                <a:effectLst/>
                <a:latin typeface="Fira Code" panose="020B0809050000020004" pitchFamily="49" charset="0"/>
              </a:rPr>
              <a:t> == </a:t>
            </a:r>
            <a:r>
              <a:rPr lang="en-US" sz="1400" dirty="0">
                <a:solidFill>
                  <a:srgbClr val="0070C1"/>
                </a:solidFill>
                <a:effectLst/>
                <a:latin typeface="Fira Code" panose="020B0809050000020004" pitchFamily="49" charset="0"/>
              </a:rPr>
              <a:t>ALIVE</a:t>
            </a:r>
            <a:r>
              <a:rPr lang="en-US" sz="1400" dirty="0">
                <a:solidFill>
                  <a:srgbClr val="000000"/>
                </a:solidFill>
                <a:effectLst/>
                <a:latin typeface="Fira Code" panose="020B0809050000020004" pitchFamily="49" charset="0"/>
              </a:rPr>
              <a:t>) {</a:t>
            </a:r>
          </a:p>
          <a:p>
            <a:pPr>
              <a:lnSpc>
                <a:spcPct val="113095"/>
              </a:lnSpc>
              <a:buNone/>
            </a:pPr>
            <a:r>
              <a:rPr lang="en-US" sz="1400" b="0" dirty="0">
                <a:solidFill>
                  <a:srgbClr val="000000"/>
                </a:solidFill>
                <a:effectLst/>
                <a:latin typeface="Fira Code" panose="020B0809050000020004" pitchFamily="49" charset="0"/>
              </a:rPr>
              <a:t>    </a:t>
            </a:r>
            <a:r>
              <a:rPr lang="en-US" sz="1400" b="0" dirty="0">
                <a:solidFill>
                  <a:srgbClr val="AF00DB"/>
                </a:solidFill>
                <a:effectLst/>
                <a:latin typeface="Fira Code" panose="020B0809050000020004" pitchFamily="49" charset="0"/>
              </a:rPr>
              <a:t>if</a:t>
            </a:r>
            <a:r>
              <a:rPr lang="en-US" sz="1400" b="0" dirty="0">
                <a:solidFill>
                  <a:srgbClr val="000000"/>
                </a:solidFill>
                <a:effectLst/>
                <a:latin typeface="Fira Code" panose="020B0809050000020004" pitchFamily="49" charset="0"/>
              </a:rPr>
              <a:t> (</a:t>
            </a:r>
            <a:r>
              <a:rPr lang="en-US" sz="1400" b="0" dirty="0">
                <a:solidFill>
                  <a:srgbClr val="001080"/>
                </a:solidFill>
                <a:effectLst/>
                <a:latin typeface="Fira Code" panose="020B0809050000020004" pitchFamily="49" charset="0"/>
              </a:rPr>
              <a:t>neighbors</a:t>
            </a:r>
            <a:r>
              <a:rPr lang="en-US" sz="1400" b="0" dirty="0">
                <a:solidFill>
                  <a:srgbClr val="000000"/>
                </a:solidFill>
                <a:effectLst/>
                <a:latin typeface="Fira Code" panose="020B0809050000020004" pitchFamily="49" charset="0"/>
              </a:rPr>
              <a:t> == </a:t>
            </a:r>
            <a:r>
              <a:rPr lang="en-US" sz="1400" b="0" dirty="0">
                <a:solidFill>
                  <a:srgbClr val="098658"/>
                </a:solidFill>
                <a:effectLst/>
                <a:latin typeface="Fira Code" panose="020B0809050000020004" pitchFamily="49" charset="0"/>
              </a:rPr>
              <a:t>2</a:t>
            </a:r>
            <a:r>
              <a:rPr lang="en-US" sz="1400" b="0" dirty="0">
                <a:solidFill>
                  <a:srgbClr val="000000"/>
                </a:solidFill>
                <a:effectLst/>
                <a:latin typeface="Fira Code" panose="020B0809050000020004" pitchFamily="49" charset="0"/>
              </a:rPr>
              <a:t> || </a:t>
            </a:r>
            <a:r>
              <a:rPr lang="en-US" sz="1400" b="0" dirty="0">
                <a:solidFill>
                  <a:srgbClr val="001080"/>
                </a:solidFill>
                <a:effectLst/>
                <a:latin typeface="Fira Code" panose="020B0809050000020004" pitchFamily="49" charset="0"/>
              </a:rPr>
              <a:t>neighbors</a:t>
            </a:r>
            <a:r>
              <a:rPr lang="en-US" sz="1400" b="0" dirty="0">
                <a:solidFill>
                  <a:srgbClr val="000000"/>
                </a:solidFill>
                <a:effectLst/>
                <a:latin typeface="Fira Code" panose="020B0809050000020004" pitchFamily="49" charset="0"/>
              </a:rPr>
              <a:t> == </a:t>
            </a:r>
            <a:r>
              <a:rPr lang="en-US" sz="1400" b="0" dirty="0">
                <a:solidFill>
                  <a:srgbClr val="098658"/>
                </a:solidFill>
                <a:effectLst/>
                <a:latin typeface="Fira Code" panose="020B0809050000020004" pitchFamily="49" charset="0"/>
              </a:rPr>
              <a:t>3</a:t>
            </a:r>
            <a:r>
              <a:rPr lang="en-US" sz="1400" b="0" dirty="0">
                <a:solidFill>
                  <a:srgbClr val="000000"/>
                </a:solidFill>
                <a:effectLst/>
                <a:latin typeface="Fira Code" panose="020B0809050000020004" pitchFamily="49" charset="0"/>
              </a:rPr>
              <a:t>)</a:t>
            </a:r>
          </a:p>
          <a:p>
            <a:pPr>
              <a:lnSpc>
                <a:spcPct val="113095"/>
              </a:lnSpc>
              <a:buNone/>
            </a:pPr>
            <a:r>
              <a:rPr lang="en-US" sz="1400" b="0" dirty="0">
                <a:solidFill>
                  <a:srgbClr val="000000"/>
                </a:solidFill>
                <a:effectLst/>
                <a:latin typeface="Fira Code" panose="020B0809050000020004" pitchFamily="49" charset="0"/>
              </a:rPr>
              <a:t>        </a:t>
            </a:r>
            <a:r>
              <a:rPr lang="en-US" sz="1400" b="0" dirty="0">
                <a:solidFill>
                  <a:srgbClr val="001080"/>
                </a:solidFill>
                <a:effectLst/>
                <a:latin typeface="Fira Code" panose="020B0809050000020004" pitchFamily="49" charset="0"/>
              </a:rPr>
              <a:t>next </a:t>
            </a:r>
            <a:r>
              <a:rPr lang="en-US" sz="1400" b="0" dirty="0">
                <a:solidFill>
                  <a:srgbClr val="000000"/>
                </a:solidFill>
                <a:effectLst/>
                <a:latin typeface="Fira Code" panose="020B0809050000020004" pitchFamily="49" charset="0"/>
              </a:rPr>
              <a:t>= </a:t>
            </a:r>
            <a:r>
              <a:rPr lang="en-US" sz="1400" b="0" dirty="0">
                <a:solidFill>
                  <a:srgbClr val="0070C1"/>
                </a:solidFill>
                <a:effectLst/>
                <a:latin typeface="Fira Code" panose="020B0809050000020004" pitchFamily="49" charset="0"/>
              </a:rPr>
              <a:t>ALIVE</a:t>
            </a:r>
            <a:r>
              <a:rPr lang="en-US" sz="1400" b="0" dirty="0">
                <a:solidFill>
                  <a:srgbClr val="000000"/>
                </a:solidFill>
                <a:effectLst/>
                <a:latin typeface="Fira Code" panose="020B0809050000020004" pitchFamily="49" charset="0"/>
              </a:rPr>
              <a:t>;</a:t>
            </a:r>
          </a:p>
          <a:p>
            <a:pPr>
              <a:lnSpc>
                <a:spcPct val="113095"/>
              </a:lnSpc>
              <a:buNone/>
            </a:pPr>
            <a:r>
              <a:rPr lang="en-US" sz="1400" b="0" dirty="0">
                <a:solidFill>
                  <a:srgbClr val="000000"/>
                </a:solidFill>
                <a:effectLst/>
                <a:latin typeface="Fira Code" panose="020B0809050000020004" pitchFamily="49" charset="0"/>
              </a:rPr>
              <a:t>    </a:t>
            </a:r>
            <a:r>
              <a:rPr lang="en-US" sz="1400" b="0" dirty="0">
                <a:solidFill>
                  <a:srgbClr val="AF00DB"/>
                </a:solidFill>
                <a:effectLst/>
                <a:latin typeface="Fira Code" panose="020B0809050000020004" pitchFamily="49" charset="0"/>
              </a:rPr>
              <a:t>else</a:t>
            </a:r>
            <a:endParaRPr lang="en-US" sz="1400" b="0" dirty="0">
              <a:solidFill>
                <a:srgbClr val="000000"/>
              </a:solidFill>
              <a:effectLst/>
              <a:latin typeface="Fira Code" panose="020B0809050000020004" pitchFamily="49" charset="0"/>
            </a:endParaRPr>
          </a:p>
          <a:p>
            <a:pPr>
              <a:lnSpc>
                <a:spcPct val="113095"/>
              </a:lnSpc>
              <a:buNone/>
            </a:pPr>
            <a:r>
              <a:rPr lang="en-US" sz="1400" b="0" dirty="0">
                <a:solidFill>
                  <a:srgbClr val="000000"/>
                </a:solidFill>
                <a:effectLst/>
                <a:latin typeface="Fira Code" panose="020B0809050000020004" pitchFamily="49" charset="0"/>
              </a:rPr>
              <a:t>        </a:t>
            </a:r>
            <a:r>
              <a:rPr lang="en-US" sz="1400" b="0" dirty="0">
                <a:solidFill>
                  <a:srgbClr val="001080"/>
                </a:solidFill>
                <a:effectLst/>
                <a:latin typeface="Fira Code" panose="020B0809050000020004" pitchFamily="49" charset="0"/>
              </a:rPr>
              <a:t>next</a:t>
            </a:r>
            <a:r>
              <a:rPr lang="en-US" sz="1400" b="0" dirty="0">
                <a:solidFill>
                  <a:srgbClr val="000000"/>
                </a:solidFill>
                <a:effectLst/>
                <a:latin typeface="Fira Code" panose="020B0809050000020004" pitchFamily="49" charset="0"/>
              </a:rPr>
              <a:t> = </a:t>
            </a:r>
            <a:r>
              <a:rPr lang="en-US" sz="1400" b="0" dirty="0">
                <a:solidFill>
                  <a:srgbClr val="0070C1"/>
                </a:solidFill>
                <a:effectLst/>
                <a:latin typeface="Fira Code" panose="020B0809050000020004" pitchFamily="49" charset="0"/>
              </a:rPr>
              <a:t>DEAD</a:t>
            </a:r>
            <a:r>
              <a:rPr lang="en-US" sz="1400" b="0" dirty="0">
                <a:solidFill>
                  <a:srgbClr val="000000"/>
                </a:solidFill>
                <a:effectLst/>
                <a:latin typeface="Fira Code" panose="020B0809050000020004" pitchFamily="49" charset="0"/>
              </a:rPr>
              <a:t>;</a:t>
            </a:r>
          </a:p>
          <a:p>
            <a:pPr>
              <a:lnSpc>
                <a:spcPct val="113095"/>
              </a:lnSpc>
              <a:buNone/>
            </a:pPr>
            <a:r>
              <a:rPr lang="en-US" sz="1400" b="0" dirty="0">
                <a:solidFill>
                  <a:srgbClr val="000000"/>
                </a:solidFill>
                <a:effectLst/>
                <a:latin typeface="Fira Code" panose="020B0809050000020004" pitchFamily="49" charset="0"/>
              </a:rPr>
              <a:t>} </a:t>
            </a:r>
            <a:r>
              <a:rPr lang="en-US" sz="1400" b="0" dirty="0">
                <a:solidFill>
                  <a:srgbClr val="AF00DB"/>
                </a:solidFill>
                <a:effectLst/>
                <a:latin typeface="Fira Code" panose="020B0809050000020004" pitchFamily="49" charset="0"/>
              </a:rPr>
              <a:t>else</a:t>
            </a:r>
            <a:r>
              <a:rPr lang="en-US" sz="1400" b="0" dirty="0">
                <a:solidFill>
                  <a:srgbClr val="000000"/>
                </a:solidFill>
                <a:effectLst/>
                <a:latin typeface="Fira Code" panose="020B0809050000020004" pitchFamily="49" charset="0"/>
              </a:rPr>
              <a:t> </a:t>
            </a:r>
            <a:r>
              <a:rPr lang="en-US" sz="1400" b="0" dirty="0">
                <a:solidFill>
                  <a:srgbClr val="AF00DB"/>
                </a:solidFill>
                <a:effectLst/>
                <a:latin typeface="Fira Code" panose="020B0809050000020004" pitchFamily="49" charset="0"/>
              </a:rPr>
              <a:t>if</a:t>
            </a:r>
            <a:r>
              <a:rPr lang="en-US" sz="1400" b="0" dirty="0">
                <a:solidFill>
                  <a:srgbClr val="000000"/>
                </a:solidFill>
                <a:effectLst/>
                <a:latin typeface="Fira Code" panose="020B0809050000020004" pitchFamily="49" charset="0"/>
              </a:rPr>
              <a:t> (</a:t>
            </a:r>
            <a:r>
              <a:rPr lang="en-US" sz="1400" b="0" dirty="0">
                <a:solidFill>
                  <a:srgbClr val="001080"/>
                </a:solidFill>
                <a:effectLst/>
                <a:latin typeface="Fira Code" panose="020B0809050000020004" pitchFamily="49" charset="0"/>
              </a:rPr>
              <a:t>neighbors</a:t>
            </a:r>
            <a:r>
              <a:rPr lang="en-US" sz="1400" b="0" dirty="0">
                <a:solidFill>
                  <a:srgbClr val="000000"/>
                </a:solidFill>
                <a:effectLst/>
                <a:latin typeface="Fira Code" panose="020B0809050000020004" pitchFamily="49" charset="0"/>
              </a:rPr>
              <a:t> == </a:t>
            </a:r>
            <a:r>
              <a:rPr lang="en-US" sz="1400" b="0" dirty="0">
                <a:solidFill>
                  <a:srgbClr val="098658"/>
                </a:solidFill>
                <a:effectLst/>
                <a:latin typeface="Fira Code" panose="020B0809050000020004" pitchFamily="49" charset="0"/>
              </a:rPr>
              <a:t>3</a:t>
            </a:r>
            <a:r>
              <a:rPr lang="en-US" sz="1400" b="0" dirty="0">
                <a:solidFill>
                  <a:srgbClr val="000000"/>
                </a:solidFill>
                <a:effectLst/>
                <a:latin typeface="Fira Code" panose="020B0809050000020004" pitchFamily="49" charset="0"/>
              </a:rPr>
              <a:t>)</a:t>
            </a:r>
          </a:p>
          <a:p>
            <a:pPr>
              <a:lnSpc>
                <a:spcPct val="113095"/>
              </a:lnSpc>
              <a:buNone/>
            </a:pPr>
            <a:r>
              <a:rPr lang="en-US" sz="1400" b="0" dirty="0">
                <a:solidFill>
                  <a:srgbClr val="000000"/>
                </a:solidFill>
                <a:effectLst/>
                <a:latin typeface="Fira Code" panose="020B0809050000020004" pitchFamily="49" charset="0"/>
              </a:rPr>
              <a:t>    </a:t>
            </a:r>
            <a:r>
              <a:rPr lang="en-US" sz="1400" b="0" dirty="0">
                <a:solidFill>
                  <a:srgbClr val="001080"/>
                </a:solidFill>
                <a:effectLst/>
                <a:latin typeface="Fira Code" panose="020B0809050000020004" pitchFamily="49" charset="0"/>
              </a:rPr>
              <a:t>next</a:t>
            </a:r>
            <a:r>
              <a:rPr lang="en-US" sz="1400" b="0" dirty="0">
                <a:solidFill>
                  <a:srgbClr val="000000"/>
                </a:solidFill>
                <a:effectLst/>
                <a:latin typeface="Fira Code" panose="020B0809050000020004" pitchFamily="49" charset="0"/>
              </a:rPr>
              <a:t> = </a:t>
            </a:r>
            <a:r>
              <a:rPr lang="en-US" sz="1400" b="0" dirty="0">
                <a:solidFill>
                  <a:srgbClr val="0070C1"/>
                </a:solidFill>
                <a:effectLst/>
                <a:latin typeface="Fira Code" panose="020B0809050000020004" pitchFamily="49" charset="0"/>
              </a:rPr>
              <a:t>ALIVE</a:t>
            </a:r>
            <a:r>
              <a:rPr lang="en-US" sz="1400" b="0" dirty="0">
                <a:solidFill>
                  <a:srgbClr val="000000"/>
                </a:solidFill>
                <a:effectLst/>
                <a:latin typeface="Fira Code" panose="020B0809050000020004" pitchFamily="49" charset="0"/>
              </a:rPr>
              <a:t>;</a:t>
            </a:r>
          </a:p>
          <a:p>
            <a:pPr>
              <a:lnSpc>
                <a:spcPct val="113095"/>
              </a:lnSpc>
              <a:buNone/>
            </a:pPr>
            <a:r>
              <a:rPr lang="en-US" sz="1400" b="0" dirty="0">
                <a:solidFill>
                  <a:srgbClr val="AF00DB"/>
                </a:solidFill>
                <a:effectLst/>
                <a:latin typeface="Fira Code" panose="020B0809050000020004" pitchFamily="49" charset="0"/>
              </a:rPr>
              <a:t>else</a:t>
            </a:r>
            <a:endParaRPr lang="en-US" sz="1400" b="0" dirty="0">
              <a:solidFill>
                <a:srgbClr val="000000"/>
              </a:solidFill>
              <a:effectLst/>
              <a:latin typeface="Fira Code" panose="020B0809050000020004" pitchFamily="49" charset="0"/>
            </a:endParaRPr>
          </a:p>
          <a:p>
            <a:pPr>
              <a:lnSpc>
                <a:spcPct val="113095"/>
              </a:lnSpc>
              <a:buNone/>
            </a:pPr>
            <a:r>
              <a:rPr lang="en-US" sz="1400" b="0" dirty="0">
                <a:solidFill>
                  <a:srgbClr val="000000"/>
                </a:solidFill>
                <a:effectLst/>
                <a:latin typeface="Fira Code" panose="020B0809050000020004" pitchFamily="49" charset="0"/>
              </a:rPr>
              <a:t>    </a:t>
            </a:r>
            <a:r>
              <a:rPr lang="en-US" sz="1400" b="0" dirty="0">
                <a:solidFill>
                  <a:srgbClr val="001080"/>
                </a:solidFill>
                <a:effectLst/>
                <a:latin typeface="Fira Code" panose="020B0809050000020004" pitchFamily="49" charset="0"/>
              </a:rPr>
              <a:t>next</a:t>
            </a:r>
            <a:r>
              <a:rPr lang="en-US" sz="1400" b="0" dirty="0">
                <a:solidFill>
                  <a:srgbClr val="000000"/>
                </a:solidFill>
                <a:effectLst/>
                <a:latin typeface="Fira Code" panose="020B0809050000020004" pitchFamily="49" charset="0"/>
              </a:rPr>
              <a:t> = </a:t>
            </a:r>
            <a:r>
              <a:rPr lang="en-US" sz="1400" b="0" dirty="0">
                <a:solidFill>
                  <a:srgbClr val="0070C1"/>
                </a:solidFill>
                <a:effectLst/>
                <a:latin typeface="Fira Code" panose="020B0809050000020004" pitchFamily="49" charset="0"/>
              </a:rPr>
              <a:t>DEAD</a:t>
            </a:r>
            <a:r>
              <a:rPr lang="en-US" sz="1400" b="0" dirty="0">
                <a:solidFill>
                  <a:srgbClr val="000000"/>
                </a:solidFill>
                <a:effectLst/>
                <a:latin typeface="Fira Code" panose="020B0809050000020004" pitchFamily="49" charset="0"/>
              </a:rPr>
              <a:t>;</a:t>
            </a:r>
          </a:p>
        </p:txBody>
      </p:sp>
      <p:pic>
        <p:nvPicPr>
          <p:cNvPr id="34" name="Graphic 33">
            <a:extLst>
              <a:ext uri="{FF2B5EF4-FFF2-40B4-BE49-F238E27FC236}">
                <a16:creationId xmlns:a16="http://schemas.microsoft.com/office/drawing/2014/main" id="{9EC9903D-7976-AE7F-53EA-DB7D6319B68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5400000">
            <a:off x="3735186" y="2217749"/>
            <a:ext cx="1375954" cy="1375954"/>
          </a:xfrm>
          <a:prstGeom prst="rect">
            <a:avLst/>
          </a:prstGeom>
        </p:spPr>
      </p:pic>
      <p:cxnSp>
        <p:nvCxnSpPr>
          <p:cNvPr id="36" name="Straight Arrow Connector 35">
            <a:extLst>
              <a:ext uri="{FF2B5EF4-FFF2-40B4-BE49-F238E27FC236}">
                <a16:creationId xmlns:a16="http://schemas.microsoft.com/office/drawing/2014/main" id="{73268C98-D978-F28F-D534-A50D31A6583D}"/>
              </a:ext>
            </a:extLst>
          </p:cNvPr>
          <p:cNvCxnSpPr/>
          <p:nvPr/>
        </p:nvCxnSpPr>
        <p:spPr>
          <a:xfrm>
            <a:off x="2685011" y="2936685"/>
            <a:ext cx="96427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Rectangle 36">
            <a:extLst>
              <a:ext uri="{FF2B5EF4-FFF2-40B4-BE49-F238E27FC236}">
                <a16:creationId xmlns:a16="http://schemas.microsoft.com/office/drawing/2014/main" id="{84762BE1-916C-D601-B954-E9B4996AD7B4}"/>
              </a:ext>
            </a:extLst>
          </p:cNvPr>
          <p:cNvSpPr/>
          <p:nvPr/>
        </p:nvSpPr>
        <p:spPr>
          <a:xfrm>
            <a:off x="1704109" y="2535382"/>
            <a:ext cx="819001" cy="8495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1DF01CBF-ED82-75C5-B137-525BD0A227B1}"/>
              </a:ext>
            </a:extLst>
          </p:cNvPr>
          <p:cNvSpPr txBox="1"/>
          <p:nvPr/>
        </p:nvSpPr>
        <p:spPr>
          <a:xfrm>
            <a:off x="1876218" y="1771333"/>
            <a:ext cx="2581861" cy="369332"/>
          </a:xfrm>
          <a:prstGeom prst="rect">
            <a:avLst/>
          </a:prstGeom>
          <a:noFill/>
        </p:spPr>
        <p:txBody>
          <a:bodyPr wrap="none" rtlCol="0">
            <a:spAutoFit/>
          </a:bodyPr>
          <a:lstStyle/>
          <a:p>
            <a:r>
              <a:rPr lang="en-US" dirty="0"/>
              <a:t>Game of Life automaton</a:t>
            </a:r>
          </a:p>
        </p:txBody>
      </p:sp>
      <p:sp>
        <p:nvSpPr>
          <p:cNvPr id="46" name="TextBox 45">
            <a:extLst>
              <a:ext uri="{FF2B5EF4-FFF2-40B4-BE49-F238E27FC236}">
                <a16:creationId xmlns:a16="http://schemas.microsoft.com/office/drawing/2014/main" id="{A0DADC12-4478-238B-5B5C-FCD09EE6C61B}"/>
              </a:ext>
            </a:extLst>
          </p:cNvPr>
          <p:cNvSpPr txBox="1"/>
          <p:nvPr/>
        </p:nvSpPr>
        <p:spPr>
          <a:xfrm>
            <a:off x="6332220" y="4098107"/>
            <a:ext cx="5513417" cy="1545103"/>
          </a:xfrm>
          <a:prstGeom prst="rect">
            <a:avLst/>
          </a:prstGeom>
          <a:noFill/>
          <a:ln>
            <a:solidFill>
              <a:schemeClr val="tx1"/>
            </a:solidFill>
          </a:ln>
        </p:spPr>
        <p:txBody>
          <a:bodyPr wrap="square">
            <a:spAutoFit/>
          </a:bodyPr>
          <a:lstStyle/>
          <a:p>
            <a:pPr>
              <a:lnSpc>
                <a:spcPct val="113095"/>
              </a:lnSpc>
              <a:buNone/>
            </a:pPr>
            <a:r>
              <a:rPr lang="en-US" sz="1400" b="0" dirty="0">
                <a:solidFill>
                  <a:srgbClr val="AF00DB"/>
                </a:solidFill>
                <a:effectLst/>
                <a:latin typeface="Fira Code" panose="020B0809050000020004" pitchFamily="49" charset="0"/>
              </a:rPr>
              <a:t>using</a:t>
            </a:r>
            <a:r>
              <a:rPr lang="en-US" sz="1400" b="0" dirty="0">
                <a:solidFill>
                  <a:srgbClr val="000000"/>
                </a:solidFill>
                <a:effectLst/>
                <a:latin typeface="Fira Code" panose="020B0809050000020004" pitchFamily="49" charset="0"/>
              </a:rPr>
              <a:t> </a:t>
            </a:r>
            <a:r>
              <a:rPr lang="en-US" sz="1400" b="0" dirty="0" err="1">
                <a:solidFill>
                  <a:srgbClr val="267F99"/>
                </a:solidFill>
                <a:effectLst/>
                <a:latin typeface="Fira Code" panose="020B0809050000020004" pitchFamily="49" charset="0"/>
              </a:rPr>
              <a:t>gol_rule</a:t>
            </a:r>
            <a:r>
              <a:rPr lang="en-US" sz="1400" b="0" dirty="0">
                <a:solidFill>
                  <a:srgbClr val="000000"/>
                </a:solidFill>
                <a:effectLst/>
                <a:latin typeface="Fira Code" panose="020B0809050000020004" pitchFamily="49" charset="0"/>
              </a:rPr>
              <a:t> =</a:t>
            </a:r>
          </a:p>
          <a:p>
            <a:pPr>
              <a:lnSpc>
                <a:spcPct val="113095"/>
              </a:lnSpc>
              <a:buNone/>
            </a:pPr>
            <a:r>
              <a:rPr lang="en-US" sz="1400" b="0" dirty="0">
                <a:solidFill>
                  <a:srgbClr val="000000"/>
                </a:solidFill>
                <a:effectLst/>
                <a:latin typeface="Fira Code" panose="020B0809050000020004" pitchFamily="49" charset="0"/>
              </a:rPr>
              <a:t>  </a:t>
            </a:r>
            <a:r>
              <a:rPr lang="en-US" sz="1400" dirty="0">
                <a:solidFill>
                  <a:srgbClr val="AF00DB"/>
                </a:solidFill>
                <a:latin typeface="Fira Code" panose="020B0809050000020004" pitchFamily="49" charset="0"/>
              </a:rPr>
              <a:t>if_</a:t>
            </a:r>
            <a:r>
              <a:rPr lang="en-US" sz="1400" b="0" dirty="0">
                <a:solidFill>
                  <a:srgbClr val="000000"/>
                </a:solidFill>
                <a:effectLst/>
                <a:latin typeface="Fira Code" panose="020B0809050000020004" pitchFamily="49" charset="0"/>
              </a:rPr>
              <a:t>&lt;</a:t>
            </a:r>
            <a:r>
              <a:rPr lang="en-US" sz="1400" dirty="0" err="1">
                <a:solidFill>
                  <a:srgbClr val="001080"/>
                </a:solidFill>
                <a:latin typeface="Fira Code" panose="020B0809050000020004" pitchFamily="49" charset="0"/>
              </a:rPr>
              <a:t>is_alive</a:t>
            </a:r>
            <a:r>
              <a:rPr lang="en-US" sz="1400" b="0" dirty="0">
                <a:solidFill>
                  <a:srgbClr val="000000"/>
                </a:solidFill>
                <a:effectLst/>
                <a:latin typeface="Fira Code" panose="020B0809050000020004" pitchFamily="49" charset="0"/>
              </a:rPr>
              <a:t>&gt;::</a:t>
            </a:r>
            <a:r>
              <a:rPr lang="en-US" sz="1400" b="0" dirty="0">
                <a:effectLst/>
                <a:latin typeface="Fira Code" panose="020B0809050000020004" pitchFamily="49" charset="0"/>
              </a:rPr>
              <a:t>then_</a:t>
            </a:r>
            <a:r>
              <a:rPr lang="en-US" sz="1400" b="0" dirty="0">
                <a:solidFill>
                  <a:srgbClr val="000000"/>
                </a:solidFill>
                <a:effectLst/>
                <a:latin typeface="Fira Code" panose="020B0809050000020004" pitchFamily="49" charset="0"/>
              </a:rPr>
              <a:t>&lt;</a:t>
            </a:r>
          </a:p>
          <a:p>
            <a:pPr>
              <a:lnSpc>
                <a:spcPct val="113095"/>
              </a:lnSpc>
              <a:buNone/>
            </a:pPr>
            <a:r>
              <a:rPr lang="en-US" sz="1400" b="0" dirty="0">
                <a:solidFill>
                  <a:srgbClr val="000000"/>
                </a:solidFill>
                <a:effectLst/>
                <a:latin typeface="Fira Code" panose="020B0809050000020004" pitchFamily="49" charset="0"/>
              </a:rPr>
              <a:t>    </a:t>
            </a:r>
            <a:r>
              <a:rPr lang="en-US" sz="1400" dirty="0">
                <a:solidFill>
                  <a:srgbClr val="AF00DB"/>
                </a:solidFill>
                <a:latin typeface="Fira Code" panose="020B0809050000020004" pitchFamily="49" charset="0"/>
              </a:rPr>
              <a:t>if_</a:t>
            </a:r>
            <a:r>
              <a:rPr lang="en-US" sz="1400" b="0" dirty="0">
                <a:solidFill>
                  <a:srgbClr val="000000"/>
                </a:solidFill>
                <a:effectLst/>
                <a:latin typeface="Fira Code" panose="020B0809050000020004" pitchFamily="49" charset="0"/>
              </a:rPr>
              <a:t>&lt;</a:t>
            </a:r>
            <a:r>
              <a:rPr lang="en-US" sz="1400" dirty="0">
                <a:solidFill>
                  <a:srgbClr val="001080"/>
                </a:solidFill>
                <a:latin typeface="Fira Code" panose="020B0809050000020004" pitchFamily="49" charset="0"/>
              </a:rPr>
              <a:t>has3_or_2</a:t>
            </a:r>
            <a:r>
              <a:rPr lang="en-US" sz="1400" b="0" dirty="0">
                <a:solidFill>
                  <a:srgbClr val="000000"/>
                </a:solidFill>
                <a:effectLst/>
                <a:latin typeface="Fira Code" panose="020B0809050000020004" pitchFamily="49" charset="0"/>
              </a:rPr>
              <a:t>&gt;::</a:t>
            </a:r>
            <a:r>
              <a:rPr lang="en-US" sz="1400" b="0" dirty="0">
                <a:effectLst/>
                <a:latin typeface="Fira Code" panose="020B0809050000020004" pitchFamily="49" charset="0"/>
              </a:rPr>
              <a:t>then_</a:t>
            </a:r>
            <a:r>
              <a:rPr lang="en-US" sz="1400" b="0" dirty="0">
                <a:solidFill>
                  <a:srgbClr val="000000"/>
                </a:solidFill>
                <a:effectLst/>
                <a:latin typeface="Fira Code" panose="020B0809050000020004" pitchFamily="49" charset="0"/>
              </a:rPr>
              <a:t>&lt;</a:t>
            </a:r>
            <a:r>
              <a:rPr lang="en-US" sz="1400" b="0" dirty="0">
                <a:solidFill>
                  <a:srgbClr val="267F99"/>
                </a:solidFill>
                <a:effectLst/>
                <a:latin typeface="Fira Code" panose="020B0809050000020004" pitchFamily="49" charset="0"/>
              </a:rPr>
              <a:t>alive</a:t>
            </a:r>
            <a:r>
              <a:rPr lang="en-US" sz="1400" b="0" dirty="0">
                <a:solidFill>
                  <a:srgbClr val="000000"/>
                </a:solidFill>
                <a:effectLst/>
                <a:latin typeface="Fira Code" panose="020B0809050000020004" pitchFamily="49" charset="0"/>
              </a:rPr>
              <a:t>&gt;::</a:t>
            </a:r>
            <a:r>
              <a:rPr lang="en-US" sz="1400" dirty="0">
                <a:solidFill>
                  <a:srgbClr val="AF00DB"/>
                </a:solidFill>
                <a:latin typeface="Fira Code" panose="020B0809050000020004" pitchFamily="49" charset="0"/>
              </a:rPr>
              <a:t>else_</a:t>
            </a:r>
            <a:r>
              <a:rPr lang="en-US" sz="1400" b="0" dirty="0">
                <a:solidFill>
                  <a:srgbClr val="000000"/>
                </a:solidFill>
                <a:effectLst/>
                <a:latin typeface="Fira Code" panose="020B0809050000020004" pitchFamily="49" charset="0"/>
              </a:rPr>
              <a:t>&lt;</a:t>
            </a:r>
            <a:r>
              <a:rPr lang="en-US" sz="1400" b="0" dirty="0">
                <a:solidFill>
                  <a:srgbClr val="267F99"/>
                </a:solidFill>
                <a:effectLst/>
                <a:latin typeface="Fira Code" panose="020B0809050000020004" pitchFamily="49" charset="0"/>
              </a:rPr>
              <a:t>dead</a:t>
            </a:r>
            <a:r>
              <a:rPr lang="en-US" sz="1400" b="0" dirty="0">
                <a:solidFill>
                  <a:srgbClr val="000000"/>
                </a:solidFill>
                <a:effectLst/>
                <a:latin typeface="Fira Code" panose="020B0809050000020004" pitchFamily="49" charset="0"/>
              </a:rPr>
              <a:t>&gt;&gt;::</a:t>
            </a:r>
          </a:p>
          <a:p>
            <a:pPr>
              <a:lnSpc>
                <a:spcPct val="113095"/>
              </a:lnSpc>
              <a:buNone/>
            </a:pPr>
            <a:r>
              <a:rPr lang="en-US" sz="1400" b="0" dirty="0">
                <a:solidFill>
                  <a:srgbClr val="000000"/>
                </a:solidFill>
                <a:effectLst/>
                <a:latin typeface="Fira Code" panose="020B0809050000020004" pitchFamily="49" charset="0"/>
              </a:rPr>
              <a:t>  </a:t>
            </a:r>
            <a:r>
              <a:rPr lang="en-US" sz="1400" dirty="0">
                <a:solidFill>
                  <a:srgbClr val="AF00DB"/>
                </a:solidFill>
                <a:latin typeface="Fira Code" panose="020B0809050000020004" pitchFamily="49" charset="0"/>
              </a:rPr>
              <a:t>else_</a:t>
            </a:r>
            <a:r>
              <a:rPr lang="en-US" sz="1400" b="0" dirty="0">
                <a:solidFill>
                  <a:srgbClr val="000000"/>
                </a:solidFill>
                <a:effectLst/>
                <a:latin typeface="Fira Code" panose="020B0809050000020004" pitchFamily="49" charset="0"/>
              </a:rPr>
              <a:t>&lt;</a:t>
            </a:r>
          </a:p>
          <a:p>
            <a:pPr>
              <a:lnSpc>
                <a:spcPct val="113095"/>
              </a:lnSpc>
              <a:buNone/>
            </a:pPr>
            <a:r>
              <a:rPr lang="en-US" sz="1400" b="0" dirty="0">
                <a:solidFill>
                  <a:srgbClr val="000000"/>
                </a:solidFill>
                <a:effectLst/>
                <a:latin typeface="Fira Code" panose="020B0809050000020004" pitchFamily="49" charset="0"/>
              </a:rPr>
              <a:t>    </a:t>
            </a:r>
            <a:r>
              <a:rPr lang="en-US" sz="1400" dirty="0">
                <a:solidFill>
                  <a:srgbClr val="AF00DB"/>
                </a:solidFill>
                <a:latin typeface="Fira Code" panose="020B0809050000020004" pitchFamily="49" charset="0"/>
              </a:rPr>
              <a:t>if_</a:t>
            </a:r>
            <a:r>
              <a:rPr lang="en-US" sz="1400" b="0" dirty="0">
                <a:solidFill>
                  <a:srgbClr val="000000"/>
                </a:solidFill>
                <a:effectLst/>
                <a:latin typeface="Fira Code" panose="020B0809050000020004" pitchFamily="49" charset="0"/>
              </a:rPr>
              <a:t>&lt;</a:t>
            </a:r>
            <a:r>
              <a:rPr lang="en-US" sz="1400" dirty="0">
                <a:solidFill>
                  <a:srgbClr val="001080"/>
                </a:solidFill>
                <a:latin typeface="Fira Code" panose="020B0809050000020004" pitchFamily="49" charset="0"/>
              </a:rPr>
              <a:t>has3</a:t>
            </a:r>
            <a:r>
              <a:rPr lang="en-US" sz="1400" b="0" dirty="0">
                <a:solidFill>
                  <a:srgbClr val="000000"/>
                </a:solidFill>
                <a:effectLst/>
                <a:latin typeface="Fira Code" panose="020B0809050000020004" pitchFamily="49" charset="0"/>
              </a:rPr>
              <a:t>&gt;::</a:t>
            </a:r>
            <a:r>
              <a:rPr lang="en-US" sz="1400" b="0" dirty="0">
                <a:effectLst/>
                <a:latin typeface="Fira Code" panose="020B0809050000020004" pitchFamily="49" charset="0"/>
              </a:rPr>
              <a:t>then_</a:t>
            </a:r>
            <a:r>
              <a:rPr lang="en-US" sz="1400" b="0" dirty="0">
                <a:solidFill>
                  <a:srgbClr val="000000"/>
                </a:solidFill>
                <a:effectLst/>
                <a:latin typeface="Fira Code" panose="020B0809050000020004" pitchFamily="49" charset="0"/>
              </a:rPr>
              <a:t>&lt;</a:t>
            </a:r>
            <a:r>
              <a:rPr lang="en-US" sz="1400" b="0" dirty="0">
                <a:solidFill>
                  <a:srgbClr val="267F99"/>
                </a:solidFill>
                <a:effectLst/>
                <a:latin typeface="Fira Code" panose="020B0809050000020004" pitchFamily="49" charset="0"/>
              </a:rPr>
              <a:t>alive</a:t>
            </a:r>
            <a:r>
              <a:rPr lang="en-US" sz="1400" b="0" dirty="0">
                <a:solidFill>
                  <a:srgbClr val="000000"/>
                </a:solidFill>
                <a:effectLst/>
                <a:latin typeface="Fira Code" panose="020B0809050000020004" pitchFamily="49" charset="0"/>
              </a:rPr>
              <a:t>&gt;::</a:t>
            </a:r>
            <a:r>
              <a:rPr lang="en-US" sz="1400" dirty="0">
                <a:solidFill>
                  <a:srgbClr val="AF00DB"/>
                </a:solidFill>
                <a:latin typeface="Fira Code" panose="020B0809050000020004" pitchFamily="49" charset="0"/>
              </a:rPr>
              <a:t>else_</a:t>
            </a:r>
            <a:r>
              <a:rPr lang="en-US" sz="1400" b="0" dirty="0">
                <a:solidFill>
                  <a:srgbClr val="000000"/>
                </a:solidFill>
                <a:effectLst/>
                <a:latin typeface="Fira Code" panose="020B0809050000020004" pitchFamily="49" charset="0"/>
              </a:rPr>
              <a:t>&lt;</a:t>
            </a:r>
            <a:r>
              <a:rPr lang="en-US" sz="1400" b="0" dirty="0">
                <a:solidFill>
                  <a:srgbClr val="267F99"/>
                </a:solidFill>
                <a:effectLst/>
                <a:latin typeface="Fira Code" panose="020B0809050000020004" pitchFamily="49" charset="0"/>
              </a:rPr>
              <a:t>dead</a:t>
            </a:r>
            <a:r>
              <a:rPr lang="en-US" sz="1400" b="0" dirty="0">
                <a:solidFill>
                  <a:srgbClr val="000000"/>
                </a:solidFill>
                <a:effectLst/>
                <a:latin typeface="Fira Code" panose="020B0809050000020004" pitchFamily="49" charset="0"/>
              </a:rPr>
              <a:t>&gt;</a:t>
            </a:r>
          </a:p>
          <a:p>
            <a:pPr>
              <a:lnSpc>
                <a:spcPct val="113095"/>
              </a:lnSpc>
              <a:buNone/>
            </a:pPr>
            <a:r>
              <a:rPr lang="en-US" sz="1400" b="0" dirty="0">
                <a:solidFill>
                  <a:srgbClr val="000000"/>
                </a:solidFill>
                <a:effectLst/>
                <a:latin typeface="Fira Code" panose="020B0809050000020004" pitchFamily="49" charset="0"/>
              </a:rPr>
              <a:t>  &gt;;</a:t>
            </a:r>
          </a:p>
        </p:txBody>
      </p:sp>
      <p:cxnSp>
        <p:nvCxnSpPr>
          <p:cNvPr id="48" name="Straight Arrow Connector 47">
            <a:extLst>
              <a:ext uri="{FF2B5EF4-FFF2-40B4-BE49-F238E27FC236}">
                <a16:creationId xmlns:a16="http://schemas.microsoft.com/office/drawing/2014/main" id="{28944F7A-9857-3E6D-3641-A00C683DD933}"/>
              </a:ext>
            </a:extLst>
          </p:cNvPr>
          <p:cNvCxnSpPr>
            <a:cxnSpLocks/>
            <a:stCxn id="31" idx="3"/>
            <a:endCxn id="46" idx="1"/>
          </p:cNvCxnSpPr>
          <p:nvPr/>
        </p:nvCxnSpPr>
        <p:spPr>
          <a:xfrm>
            <a:off x="5393103" y="4870659"/>
            <a:ext cx="93911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19394614-4B59-2819-85FD-88921C74BAE7}"/>
              </a:ext>
            </a:extLst>
          </p:cNvPr>
          <p:cNvSpPr txBox="1"/>
          <p:nvPr/>
        </p:nvSpPr>
        <p:spPr>
          <a:xfrm>
            <a:off x="7256342" y="3654187"/>
            <a:ext cx="3665171" cy="369332"/>
          </a:xfrm>
          <a:prstGeom prst="rect">
            <a:avLst/>
          </a:prstGeom>
          <a:noFill/>
        </p:spPr>
        <p:txBody>
          <a:bodyPr wrap="none" rtlCol="0">
            <a:spAutoFit/>
          </a:bodyPr>
          <a:lstStyle/>
          <a:p>
            <a:r>
              <a:rPr lang="en-US" dirty="0"/>
              <a:t>Type-level expression (</a:t>
            </a:r>
            <a:r>
              <a:rPr lang="en-US" dirty="0" err="1"/>
              <a:t>Cellato</a:t>
            </a:r>
            <a:r>
              <a:rPr lang="en-US" dirty="0"/>
              <a:t> DSL)</a:t>
            </a:r>
          </a:p>
        </p:txBody>
      </p:sp>
    </p:spTree>
    <p:extLst>
      <p:ext uri="{BB962C8B-B14F-4D97-AF65-F5344CB8AC3E}">
        <p14:creationId xmlns:p14="http://schemas.microsoft.com/office/powerpoint/2010/main" val="26305399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smtClean="0"/>
              <a:t>8/27/2026</a:t>
            </a:fld>
            <a:endParaRPr lang="en-US"/>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smtClean="0"/>
              <a:t>16</a:t>
            </a:fld>
            <a:endParaRPr lang="en-US"/>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997447" y="2525655"/>
            <a:ext cx="8197106" cy="2898140"/>
          </a:xfrm>
          <a:prstGeom prst="rect">
            <a:avLst/>
          </a:prstGeom>
          <a:ln>
            <a:solidFill>
              <a:schemeClr val="tx1"/>
            </a:solidFill>
          </a:ln>
        </p:spPr>
      </p:pic>
      <p:sp>
        <p:nvSpPr>
          <p:cNvPr id="8" name="TextBox 7">
            <a:extLst>
              <a:ext uri="{FF2B5EF4-FFF2-40B4-BE49-F238E27FC236}">
                <a16:creationId xmlns:a16="http://schemas.microsoft.com/office/drawing/2014/main" id="{B4367950-8D7A-8F93-A9DA-64D5AC81F27E}"/>
              </a:ext>
            </a:extLst>
          </p:cNvPr>
          <p:cNvSpPr txBox="1"/>
          <p:nvPr/>
        </p:nvSpPr>
        <p:spPr>
          <a:xfrm>
            <a:off x="3339292" y="620089"/>
            <a:ext cx="5513417" cy="1545103"/>
          </a:xfrm>
          <a:prstGeom prst="rect">
            <a:avLst/>
          </a:prstGeom>
          <a:noFill/>
          <a:ln>
            <a:solidFill>
              <a:schemeClr val="tx1"/>
            </a:solidFill>
          </a:ln>
        </p:spPr>
        <p:txBody>
          <a:bodyPr wrap="square">
            <a:spAutoFit/>
          </a:bodyPr>
          <a:lstStyle/>
          <a:p>
            <a:pPr>
              <a:lnSpc>
                <a:spcPct val="113095"/>
              </a:lnSpc>
              <a:buNone/>
            </a:pPr>
            <a:r>
              <a:rPr lang="en-US" sz="1400" dirty="0">
                <a:solidFill>
                  <a:srgbClr val="AF00DB"/>
                </a:solidFill>
                <a:latin typeface="Fira Code" panose="020B0809050000020004" pitchFamily="49" charset="0"/>
              </a:rPr>
              <a:t>using</a:t>
            </a:r>
            <a:r>
              <a:rPr lang="en-US" sz="1400" dirty="0">
                <a:solidFill>
                  <a:srgbClr val="000000"/>
                </a:solidFill>
                <a:latin typeface="Fira Code" panose="020B0809050000020004" pitchFamily="49" charset="0"/>
              </a:rPr>
              <a:t> </a:t>
            </a:r>
            <a:r>
              <a:rPr lang="en-US" sz="1400" dirty="0" err="1">
                <a:solidFill>
                  <a:srgbClr val="267F99"/>
                </a:solidFill>
                <a:latin typeface="Fira Code" panose="020B0809050000020004" pitchFamily="49" charset="0"/>
              </a:rPr>
              <a:t>gol_rule</a:t>
            </a:r>
            <a:r>
              <a:rPr lang="en-US" sz="1400" dirty="0">
                <a:solidFill>
                  <a:srgbClr val="000000"/>
                </a:solidFill>
                <a:latin typeface="Fira Code" panose="020B0809050000020004" pitchFamily="49" charset="0"/>
              </a:rPr>
              <a:t> =</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if_</a:t>
            </a:r>
            <a:r>
              <a:rPr lang="en-US" sz="1400" dirty="0">
                <a:solidFill>
                  <a:srgbClr val="000000"/>
                </a:solidFill>
                <a:latin typeface="Fira Code" panose="020B0809050000020004" pitchFamily="49" charset="0"/>
              </a:rPr>
              <a:t>&lt;</a:t>
            </a:r>
            <a:r>
              <a:rPr lang="en-US" sz="1400" dirty="0" err="1">
                <a:solidFill>
                  <a:srgbClr val="001080"/>
                </a:solidFill>
                <a:latin typeface="Fira Code" panose="020B0809050000020004" pitchFamily="49" charset="0"/>
              </a:rPr>
              <a:t>is_alive</a:t>
            </a:r>
            <a:r>
              <a:rPr lang="en-US" sz="1400" dirty="0">
                <a:solidFill>
                  <a:srgbClr val="000000"/>
                </a:solidFill>
                <a:latin typeface="Fira Code" panose="020B0809050000020004" pitchFamily="49" charset="0"/>
              </a:rPr>
              <a:t>&gt;::</a:t>
            </a:r>
            <a:r>
              <a:rPr lang="en-US" sz="1400" dirty="0">
                <a:latin typeface="Fira Code" panose="020B0809050000020004" pitchFamily="49" charset="0"/>
              </a:rPr>
              <a:t>then_</a:t>
            </a:r>
            <a:r>
              <a:rPr lang="en-US" sz="1400" dirty="0">
                <a:solidFill>
                  <a:srgbClr val="000000"/>
                </a:solidFill>
                <a:latin typeface="Fira Code" panose="020B0809050000020004" pitchFamily="49" charset="0"/>
              </a:rPr>
              <a:t>&lt;</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if_</a:t>
            </a:r>
            <a:r>
              <a:rPr lang="en-US" sz="1400" dirty="0">
                <a:solidFill>
                  <a:srgbClr val="000000"/>
                </a:solidFill>
                <a:latin typeface="Fira Code" panose="020B0809050000020004" pitchFamily="49" charset="0"/>
              </a:rPr>
              <a:t>&lt;</a:t>
            </a:r>
            <a:r>
              <a:rPr lang="en-US" sz="1400" dirty="0">
                <a:solidFill>
                  <a:srgbClr val="001080"/>
                </a:solidFill>
                <a:latin typeface="Fira Code" panose="020B0809050000020004" pitchFamily="49" charset="0"/>
              </a:rPr>
              <a:t>has3_or_2</a:t>
            </a:r>
            <a:r>
              <a:rPr lang="en-US" sz="1400" dirty="0">
                <a:solidFill>
                  <a:srgbClr val="000000"/>
                </a:solidFill>
                <a:latin typeface="Fira Code" panose="020B0809050000020004" pitchFamily="49" charset="0"/>
              </a:rPr>
              <a:t>&gt;::</a:t>
            </a:r>
            <a:r>
              <a:rPr lang="en-US" sz="1400" dirty="0">
                <a:latin typeface="Fira Code" panose="020B0809050000020004" pitchFamily="49" charset="0"/>
              </a:rPr>
              <a:t>then_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alive</a:t>
            </a:r>
            <a:r>
              <a:rPr lang="en-US" sz="1400" dirty="0">
                <a:solidFill>
                  <a:srgbClr val="000000"/>
                </a:solidFill>
                <a:latin typeface="Fira Code" panose="020B0809050000020004" pitchFamily="49" charset="0"/>
              </a:rPr>
              <a:t>&gt;::</a:t>
            </a:r>
            <a:r>
              <a:rPr lang="en-US" sz="1400" dirty="0">
                <a:solidFill>
                  <a:srgbClr val="AF00DB"/>
                </a:solidFill>
                <a:latin typeface="Fira Code" panose="020B0809050000020004" pitchFamily="49" charset="0"/>
              </a:rPr>
              <a:t>else_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dead</a:t>
            </a:r>
            <a:r>
              <a:rPr lang="en-US" sz="1400" dirty="0">
                <a:solidFill>
                  <a:srgbClr val="000000"/>
                </a:solidFill>
                <a:latin typeface="Fira Code" panose="020B0809050000020004" pitchFamily="49" charset="0"/>
              </a:rPr>
              <a:t>&gt;&gt;::</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else_</a:t>
            </a:r>
            <a:r>
              <a:rPr lang="en-US" sz="1400" dirty="0">
                <a:solidFill>
                  <a:srgbClr val="000000"/>
                </a:solidFill>
                <a:latin typeface="Fira Code" panose="020B0809050000020004" pitchFamily="49" charset="0"/>
              </a:rPr>
              <a:t>&lt;</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if_</a:t>
            </a:r>
            <a:r>
              <a:rPr lang="en-US" sz="1400" dirty="0">
                <a:solidFill>
                  <a:srgbClr val="000000"/>
                </a:solidFill>
                <a:latin typeface="Fira Code" panose="020B0809050000020004" pitchFamily="49" charset="0"/>
              </a:rPr>
              <a:t>&lt;</a:t>
            </a:r>
            <a:r>
              <a:rPr lang="en-US" sz="1400" dirty="0">
                <a:solidFill>
                  <a:srgbClr val="001080"/>
                </a:solidFill>
                <a:latin typeface="Fira Code" panose="020B0809050000020004" pitchFamily="49" charset="0"/>
              </a:rPr>
              <a:t>has3</a:t>
            </a:r>
            <a:r>
              <a:rPr lang="en-US" sz="1400" dirty="0">
                <a:solidFill>
                  <a:srgbClr val="000000"/>
                </a:solidFill>
                <a:latin typeface="Fira Code" panose="020B0809050000020004" pitchFamily="49" charset="0"/>
              </a:rPr>
              <a:t>&gt;::</a:t>
            </a:r>
            <a:r>
              <a:rPr lang="en-US" sz="1400" dirty="0">
                <a:latin typeface="Fira Code" panose="020B0809050000020004" pitchFamily="49" charset="0"/>
              </a:rPr>
              <a:t>then_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alive</a:t>
            </a:r>
            <a:r>
              <a:rPr lang="en-US" sz="1400" dirty="0">
                <a:solidFill>
                  <a:srgbClr val="000000"/>
                </a:solidFill>
                <a:latin typeface="Fira Code" panose="020B0809050000020004" pitchFamily="49" charset="0"/>
              </a:rPr>
              <a:t>&gt;::</a:t>
            </a:r>
            <a:r>
              <a:rPr lang="en-US" sz="1400" dirty="0">
                <a:solidFill>
                  <a:srgbClr val="AF00DB"/>
                </a:solidFill>
                <a:latin typeface="Fira Code" panose="020B0809050000020004" pitchFamily="49" charset="0"/>
              </a:rPr>
              <a:t>else_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dead</a:t>
            </a:r>
            <a:r>
              <a:rPr lang="en-US" sz="1400" dirty="0">
                <a:solidFill>
                  <a:srgbClr val="000000"/>
                </a:solidFill>
                <a:latin typeface="Fira Code" panose="020B0809050000020004" pitchFamily="49" charset="0"/>
              </a:rPr>
              <a:t>&gt;</a:t>
            </a:r>
          </a:p>
          <a:p>
            <a:pPr>
              <a:lnSpc>
                <a:spcPct val="113095"/>
              </a:lnSpc>
              <a:buNone/>
            </a:pPr>
            <a:r>
              <a:rPr lang="en-US" sz="1400" dirty="0">
                <a:solidFill>
                  <a:srgbClr val="000000"/>
                </a:solidFill>
                <a:latin typeface="Fira Code" panose="020B0809050000020004" pitchFamily="49" charset="0"/>
              </a:rPr>
              <a:t>  &gt;;</a:t>
            </a:r>
          </a:p>
        </p:txBody>
      </p:sp>
      <p:cxnSp>
        <p:nvCxnSpPr>
          <p:cNvPr id="10" name="Straight Arrow Connector 9">
            <a:extLst>
              <a:ext uri="{FF2B5EF4-FFF2-40B4-BE49-F238E27FC236}">
                <a16:creationId xmlns:a16="http://schemas.microsoft.com/office/drawing/2014/main" id="{90207B99-7626-B9B7-5B84-847CAB7644E6}"/>
              </a:ext>
            </a:extLst>
          </p:cNvPr>
          <p:cNvCxnSpPr>
            <a:cxnSpLocks/>
            <a:stCxn id="8" idx="2"/>
          </p:cNvCxnSpPr>
          <p:nvPr/>
        </p:nvCxnSpPr>
        <p:spPr>
          <a:xfrm>
            <a:off x="6096001" y="2165192"/>
            <a:ext cx="2362720" cy="9103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4263414" y="211557"/>
            <a:ext cx="3665171" cy="369332"/>
          </a:xfrm>
          <a:prstGeom prst="rect">
            <a:avLst/>
          </a:prstGeom>
          <a:noFill/>
        </p:spPr>
        <p:txBody>
          <a:bodyPr wrap="none" rtlCol="0">
            <a:spAutoFit/>
          </a:bodyPr>
          <a:lstStyle/>
          <a:p>
            <a:r>
              <a:rPr lang="en-US" dirty="0"/>
              <a:t>Type-level expression (</a:t>
            </a:r>
            <a:r>
              <a:rPr lang="en-US" dirty="0" err="1"/>
              <a:t>Cellato</a:t>
            </a:r>
            <a:r>
              <a:rPr lang="en-US" dirty="0"/>
              <a:t> DSL)</a:t>
            </a:r>
          </a:p>
        </p:txBody>
      </p:sp>
      <p:pic>
        <p:nvPicPr>
          <p:cNvPr id="17" name="Picture 16">
            <a:extLst>
              <a:ext uri="{FF2B5EF4-FFF2-40B4-BE49-F238E27FC236}">
                <a16:creationId xmlns:a16="http://schemas.microsoft.com/office/drawing/2014/main" id="{D49D01EB-6B87-A8AF-C645-0C7149AF3B52}"/>
              </a:ext>
            </a:extLst>
          </p:cNvPr>
          <p:cNvPicPr>
            <a:picLocks noChangeAspect="1"/>
          </p:cNvPicPr>
          <p:nvPr/>
        </p:nvPicPr>
        <p:blipFill>
          <a:blip r:embed="rId4"/>
          <a:srcRect/>
          <a:stretch>
            <a:fillRect/>
          </a:stretch>
        </p:blipFill>
        <p:spPr>
          <a:xfrm>
            <a:off x="1908279" y="5120530"/>
            <a:ext cx="3346242" cy="1737470"/>
          </a:xfrm>
          <a:prstGeom prst="rect">
            <a:avLst/>
          </a:prstGeom>
        </p:spPr>
      </p:pic>
      <p:pic>
        <p:nvPicPr>
          <p:cNvPr id="19" name="Picture 18">
            <a:extLst>
              <a:ext uri="{FF2B5EF4-FFF2-40B4-BE49-F238E27FC236}">
                <a16:creationId xmlns:a16="http://schemas.microsoft.com/office/drawing/2014/main" id="{F062BBCA-4E21-63C7-EDFF-E1D5A3C3D6D5}"/>
              </a:ext>
            </a:extLst>
          </p:cNvPr>
          <p:cNvPicPr>
            <a:picLocks noChangeAspect="1"/>
          </p:cNvPicPr>
          <p:nvPr/>
        </p:nvPicPr>
        <p:blipFill>
          <a:blip r:embed="rId5"/>
          <a:srcRect/>
          <a:stretch>
            <a:fillRect/>
          </a:stretch>
        </p:blipFill>
        <p:spPr>
          <a:xfrm>
            <a:off x="6155232" y="5029201"/>
            <a:ext cx="4606977" cy="1828799"/>
          </a:xfrm>
          <a:prstGeom prst="rect">
            <a:avLst/>
          </a:prstGeom>
        </p:spPr>
      </p:pic>
    </p:spTree>
    <p:extLst>
      <p:ext uri="{BB962C8B-B14F-4D97-AF65-F5344CB8AC3E}">
        <p14:creationId xmlns:p14="http://schemas.microsoft.com/office/powerpoint/2010/main" val="28535449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a:t>
            </a:r>
          </a:p>
        </p:txBody>
      </p:sp>
      <p:pic>
        <p:nvPicPr>
          <p:cNvPr id="7" name="Picture 6">
            <a:extLst>
              <a:ext uri="{FF2B5EF4-FFF2-40B4-BE49-F238E27FC236}">
                <a16:creationId xmlns:a16="http://schemas.microsoft.com/office/drawing/2014/main" id="{CCF58269-9358-8822-BB45-2512FA84847D}"/>
              </a:ext>
            </a:extLst>
          </p:cNvPr>
          <p:cNvPicPr>
            <a:picLocks noChangeAspect="1"/>
          </p:cNvPicPr>
          <p:nvPr/>
        </p:nvPicPr>
        <p:blipFill>
          <a:blip r:embed="rId3"/>
          <a:stretch>
            <a:fillRect/>
          </a:stretch>
        </p:blipFill>
        <p:spPr>
          <a:xfrm>
            <a:off x="310620" y="1524433"/>
            <a:ext cx="11570760" cy="4269538"/>
          </a:xfrm>
          <a:prstGeom prst="rect">
            <a:avLst/>
          </a:prstGeom>
        </p:spPr>
      </p:pic>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smtClean="0"/>
              <a:t>8/27/2026</a:t>
            </a:fld>
            <a:endParaRPr lang="en-US"/>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smtClean="0"/>
              <a:t>17</a:t>
            </a:fld>
            <a:endParaRPr lang="en-US"/>
          </a:p>
        </p:txBody>
      </p:sp>
      <p:sp>
        <p:nvSpPr>
          <p:cNvPr id="6" name="TextBox 5">
            <a:extLst>
              <a:ext uri="{FF2B5EF4-FFF2-40B4-BE49-F238E27FC236}">
                <a16:creationId xmlns:a16="http://schemas.microsoft.com/office/drawing/2014/main" id="{358DA207-69B2-929A-62C9-4DE6DBD7195D}"/>
              </a:ext>
            </a:extLst>
          </p:cNvPr>
          <p:cNvSpPr txBox="1"/>
          <p:nvPr/>
        </p:nvSpPr>
        <p:spPr>
          <a:xfrm>
            <a:off x="2323429" y="5862669"/>
            <a:ext cx="7545142" cy="646331"/>
          </a:xfrm>
          <a:prstGeom prst="rect">
            <a:avLst/>
          </a:prstGeom>
          <a:noFill/>
        </p:spPr>
        <p:txBody>
          <a:bodyPr wrap="none" rtlCol="0">
            <a:spAutoFit/>
          </a:bodyPr>
          <a:lstStyle/>
          <a:p>
            <a:pPr algn="ctr"/>
            <a:r>
              <a:rPr lang="en-US" dirty="0"/>
              <a:t>Comparison of GPU-parallelized computation of various cellular automata</a:t>
            </a:r>
            <a:br>
              <a:rPr lang="en-US" dirty="0"/>
            </a:br>
            <a:r>
              <a:rPr lang="en-US" i="1" dirty="0"/>
              <a:t>baseline encodes each cell as a single machine word</a:t>
            </a:r>
          </a:p>
        </p:txBody>
      </p:sp>
    </p:spTree>
    <p:extLst>
      <p:ext uri="{BB962C8B-B14F-4D97-AF65-F5344CB8AC3E}">
        <p14:creationId xmlns:p14="http://schemas.microsoft.com/office/powerpoint/2010/main" val="13104121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BCED2-BEE7-D354-CAE7-2D1D5570855C}"/>
              </a:ext>
            </a:extLst>
          </p:cNvPr>
          <p:cNvSpPr>
            <a:spLocks noGrp="1"/>
          </p:cNvSpPr>
          <p:nvPr>
            <p:ph type="title"/>
          </p:nvPr>
        </p:nvSpPr>
        <p:spPr/>
        <p:txBody>
          <a:bodyPr/>
          <a:lstStyle/>
          <a:p>
            <a:r>
              <a:rPr lang="en-US" dirty="0"/>
              <a:t>Motivation</a:t>
            </a:r>
          </a:p>
        </p:txBody>
      </p:sp>
      <p:sp>
        <p:nvSpPr>
          <p:cNvPr id="3" name="Date Placeholder 2">
            <a:extLst>
              <a:ext uri="{FF2B5EF4-FFF2-40B4-BE49-F238E27FC236}">
                <a16:creationId xmlns:a16="http://schemas.microsoft.com/office/drawing/2014/main" id="{5DCC059B-2575-F82C-34AC-4698211F241C}"/>
              </a:ext>
            </a:extLst>
          </p:cNvPr>
          <p:cNvSpPr>
            <a:spLocks noGrp="1"/>
          </p:cNvSpPr>
          <p:nvPr>
            <p:ph type="dt" sz="half" idx="10"/>
          </p:nvPr>
        </p:nvSpPr>
        <p:spPr/>
        <p:txBody>
          <a:bodyPr/>
          <a:lstStyle/>
          <a:p>
            <a:fld id="{33B56853-0028-4549-B0D0-953613129C64}" type="datetime1">
              <a:rPr lang="en-US" smtClean="0"/>
              <a:t>8/27/2026</a:t>
            </a:fld>
            <a:endParaRPr lang="en-US"/>
          </a:p>
        </p:txBody>
      </p:sp>
      <p:sp>
        <p:nvSpPr>
          <p:cNvPr id="4" name="Slide Number Placeholder 3">
            <a:extLst>
              <a:ext uri="{FF2B5EF4-FFF2-40B4-BE49-F238E27FC236}">
                <a16:creationId xmlns:a16="http://schemas.microsoft.com/office/drawing/2014/main" id="{64951596-60B1-E40A-3E74-4B0256A5404A}"/>
              </a:ext>
            </a:extLst>
          </p:cNvPr>
          <p:cNvSpPr>
            <a:spLocks noGrp="1"/>
          </p:cNvSpPr>
          <p:nvPr>
            <p:ph type="sldNum" sz="quarter" idx="12"/>
          </p:nvPr>
        </p:nvSpPr>
        <p:spPr/>
        <p:txBody>
          <a:bodyPr/>
          <a:lstStyle/>
          <a:p>
            <a:fld id="{DA0BB241-1B5F-4309-9407-9EEA04D9598D}" type="slidenum">
              <a:rPr lang="en-US" smtClean="0"/>
              <a:t>18</a:t>
            </a:fld>
            <a:endParaRPr lang="en-US"/>
          </a:p>
        </p:txBody>
      </p:sp>
    </p:spTree>
    <p:extLst>
      <p:ext uri="{BB962C8B-B14F-4D97-AF65-F5344CB8AC3E}">
        <p14:creationId xmlns:p14="http://schemas.microsoft.com/office/powerpoint/2010/main" val="25408518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0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a:t>
            </a:r>
          </a:p>
        </p:txBody>
      </p:sp>
      <p:sp>
        <p:nvSpPr>
          <p:cNvPr id="4" name="Rectangle 3">
            <a:extLst>
              <a:ext uri="{FF2B5EF4-FFF2-40B4-BE49-F238E27FC236}">
                <a16:creationId xmlns:a16="http://schemas.microsoft.com/office/drawing/2014/main" id="{9EA05739-3E4B-E17F-7391-6E54881710A4}"/>
              </a:ext>
            </a:extLst>
          </p:cNvPr>
          <p:cNvSpPr/>
          <p:nvPr/>
        </p:nvSpPr>
        <p:spPr>
          <a:xfrm>
            <a:off x="838200" y="2082188"/>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Simple prompt</a:t>
            </a:r>
          </a:p>
        </p:txBody>
      </p:sp>
      <p:sp>
        <p:nvSpPr>
          <p:cNvPr id="6" name="Rectangle 5">
            <a:extLst>
              <a:ext uri="{FF2B5EF4-FFF2-40B4-BE49-F238E27FC236}">
                <a16:creationId xmlns:a16="http://schemas.microsoft.com/office/drawing/2014/main" id="{35A7FE4F-4678-B79F-29F3-9F9073D768AF}"/>
              </a:ext>
            </a:extLst>
          </p:cNvPr>
          <p:cNvSpPr/>
          <p:nvPr/>
        </p:nvSpPr>
        <p:spPr>
          <a:xfrm>
            <a:off x="838200" y="3429000"/>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More yapping</a:t>
            </a:r>
          </a:p>
        </p:txBody>
      </p:sp>
      <p:sp>
        <p:nvSpPr>
          <p:cNvPr id="8" name="Rectangle 7">
            <a:extLst>
              <a:ext uri="{FF2B5EF4-FFF2-40B4-BE49-F238E27FC236}">
                <a16:creationId xmlns:a16="http://schemas.microsoft.com/office/drawing/2014/main" id="{4B070CC2-6D63-C785-706C-060808B72ED3}"/>
              </a:ext>
            </a:extLst>
          </p:cNvPr>
          <p:cNvSpPr/>
          <p:nvPr/>
        </p:nvSpPr>
        <p:spPr>
          <a:xfrm>
            <a:off x="838199" y="4756533"/>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Yapception</a:t>
            </a:r>
            <a:endParaRPr lang="en-US" dirty="0"/>
          </a:p>
        </p:txBody>
      </p:sp>
      <p:sp>
        <p:nvSpPr>
          <p:cNvPr id="10" name="Rectangle 9">
            <a:extLst>
              <a:ext uri="{FF2B5EF4-FFF2-40B4-BE49-F238E27FC236}">
                <a16:creationId xmlns:a16="http://schemas.microsoft.com/office/drawing/2014/main" id="{E41AE1CF-3723-30E9-4AFE-0D7D8CEE9886}"/>
              </a:ext>
            </a:extLst>
          </p:cNvPr>
          <p:cNvSpPr/>
          <p:nvPr/>
        </p:nvSpPr>
        <p:spPr>
          <a:xfrm>
            <a:off x="838198" y="5942031"/>
            <a:ext cx="2654147" cy="91596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Just do it like this</a:t>
            </a:r>
          </a:p>
        </p:txBody>
      </p:sp>
      <p:sp>
        <p:nvSpPr>
          <p:cNvPr id="11" name="Rectangle 10">
            <a:extLst>
              <a:ext uri="{FF2B5EF4-FFF2-40B4-BE49-F238E27FC236}">
                <a16:creationId xmlns:a16="http://schemas.microsoft.com/office/drawing/2014/main" id="{F769DA29-E96B-7240-966E-E1F5A9D82C79}"/>
              </a:ext>
            </a:extLst>
          </p:cNvPr>
          <p:cNvSpPr/>
          <p:nvPr/>
        </p:nvSpPr>
        <p:spPr>
          <a:xfrm>
            <a:off x="5827923" y="1167788"/>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API</a:t>
            </a:r>
          </a:p>
        </p:txBody>
      </p:sp>
      <p:cxnSp>
        <p:nvCxnSpPr>
          <p:cNvPr id="13" name="Straight Arrow Connector 12">
            <a:extLst>
              <a:ext uri="{FF2B5EF4-FFF2-40B4-BE49-F238E27FC236}">
                <a16:creationId xmlns:a16="http://schemas.microsoft.com/office/drawing/2014/main" id="{23029008-8D1D-29D0-EF13-1BCDA542EA59}"/>
              </a:ext>
            </a:extLst>
          </p:cNvPr>
          <p:cNvCxnSpPr/>
          <p:nvPr/>
        </p:nvCxnSpPr>
        <p:spPr>
          <a:xfrm>
            <a:off x="4054207" y="3979843"/>
            <a:ext cx="95846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59421C1E-10D9-E6E7-EEB3-8412695CDC12}"/>
              </a:ext>
            </a:extLst>
          </p:cNvPr>
          <p:cNvCxnSpPr/>
          <p:nvPr/>
        </p:nvCxnSpPr>
        <p:spPr>
          <a:xfrm>
            <a:off x="6096000" y="2633031"/>
            <a:ext cx="0" cy="10025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Oval 15">
            <a:extLst>
              <a:ext uri="{FF2B5EF4-FFF2-40B4-BE49-F238E27FC236}">
                <a16:creationId xmlns:a16="http://schemas.microsoft.com/office/drawing/2014/main" id="{4121CBB7-0DD4-DDF7-5FFD-9B0BAE9A85F6}"/>
              </a:ext>
            </a:extLst>
          </p:cNvPr>
          <p:cNvSpPr/>
          <p:nvPr/>
        </p:nvSpPr>
        <p:spPr>
          <a:xfrm>
            <a:off x="5122843" y="3657600"/>
            <a:ext cx="2258458" cy="124490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LLM</a:t>
            </a:r>
          </a:p>
        </p:txBody>
      </p:sp>
      <p:cxnSp>
        <p:nvCxnSpPr>
          <p:cNvPr id="18" name="Straight Arrow Connector 17">
            <a:extLst>
              <a:ext uri="{FF2B5EF4-FFF2-40B4-BE49-F238E27FC236}">
                <a16:creationId xmlns:a16="http://schemas.microsoft.com/office/drawing/2014/main" id="{42AB000A-74E4-9E95-1825-E115CEA48B16}"/>
              </a:ext>
            </a:extLst>
          </p:cNvPr>
          <p:cNvCxnSpPr/>
          <p:nvPr/>
        </p:nvCxnSpPr>
        <p:spPr>
          <a:xfrm>
            <a:off x="7700790" y="4230477"/>
            <a:ext cx="152032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1" name="Rectangle 20">
            <a:extLst>
              <a:ext uri="{FF2B5EF4-FFF2-40B4-BE49-F238E27FC236}">
                <a16:creationId xmlns:a16="http://schemas.microsoft.com/office/drawing/2014/main" id="{5F5F8FC9-89FE-2969-E492-5C11A92D81B7}"/>
              </a:ext>
            </a:extLst>
          </p:cNvPr>
          <p:cNvSpPr/>
          <p:nvPr/>
        </p:nvSpPr>
        <p:spPr>
          <a:xfrm>
            <a:off x="9352400" y="2163829"/>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Simple code</a:t>
            </a:r>
          </a:p>
        </p:txBody>
      </p:sp>
      <p:sp>
        <p:nvSpPr>
          <p:cNvPr id="23" name="Rectangle 22">
            <a:extLst>
              <a:ext uri="{FF2B5EF4-FFF2-40B4-BE49-F238E27FC236}">
                <a16:creationId xmlns:a16="http://schemas.microsoft.com/office/drawing/2014/main" id="{91FE1EB0-1E0B-4567-528C-FE1F5A0FA6FD}"/>
              </a:ext>
            </a:extLst>
          </p:cNvPr>
          <p:cNvSpPr/>
          <p:nvPr/>
        </p:nvSpPr>
        <p:spPr>
          <a:xfrm>
            <a:off x="9352400" y="3429000"/>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Better code</a:t>
            </a:r>
          </a:p>
        </p:txBody>
      </p:sp>
      <p:sp>
        <p:nvSpPr>
          <p:cNvPr id="25" name="Rectangle 24">
            <a:extLst>
              <a:ext uri="{FF2B5EF4-FFF2-40B4-BE49-F238E27FC236}">
                <a16:creationId xmlns:a16="http://schemas.microsoft.com/office/drawing/2014/main" id="{95CB8818-BC08-DAD5-2AF0-09E270F9E284}"/>
              </a:ext>
            </a:extLst>
          </p:cNvPr>
          <p:cNvSpPr/>
          <p:nvPr/>
        </p:nvSpPr>
        <p:spPr>
          <a:xfrm>
            <a:off x="9352400" y="4756532"/>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Even better code</a:t>
            </a:r>
          </a:p>
        </p:txBody>
      </p:sp>
      <p:sp>
        <p:nvSpPr>
          <p:cNvPr id="27" name="Rectangle 26">
            <a:extLst>
              <a:ext uri="{FF2B5EF4-FFF2-40B4-BE49-F238E27FC236}">
                <a16:creationId xmlns:a16="http://schemas.microsoft.com/office/drawing/2014/main" id="{D52D121F-65B9-A611-BD80-4395A0C934F8}"/>
              </a:ext>
            </a:extLst>
          </p:cNvPr>
          <p:cNvSpPr/>
          <p:nvPr/>
        </p:nvSpPr>
        <p:spPr>
          <a:xfrm>
            <a:off x="9352399" y="5942031"/>
            <a:ext cx="2654147" cy="91596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Expert code?</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smtClean="0"/>
              <a:t>8/27/2026</a:t>
            </a:fld>
            <a:endParaRPr lang="en-US"/>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smtClean="0"/>
              <a:t>19</a:t>
            </a:fld>
            <a:endParaRPr lang="en-US"/>
          </a:p>
        </p:txBody>
      </p:sp>
    </p:spTree>
    <p:extLst>
      <p:ext uri="{BB962C8B-B14F-4D97-AF65-F5344CB8AC3E}">
        <p14:creationId xmlns:p14="http://schemas.microsoft.com/office/powerpoint/2010/main" val="22452505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a:t>
            </a:r>
          </a:p>
        </p:txBody>
      </p:sp>
      <p:pic>
        <p:nvPicPr>
          <p:cNvPr id="5" name="Picture 4">
            <a:extLst>
              <a:ext uri="{FF2B5EF4-FFF2-40B4-BE49-F238E27FC236}">
                <a16:creationId xmlns:a16="http://schemas.microsoft.com/office/drawing/2014/main" id="{E6A81DD4-BEB3-BF92-82A9-0AB5CDC695F4}"/>
              </a:ext>
            </a:extLst>
          </p:cNvPr>
          <p:cNvPicPr>
            <a:picLocks noChangeAspect="1"/>
          </p:cNvPicPr>
          <p:nvPr/>
        </p:nvPicPr>
        <p:blipFill>
          <a:blip r:embed="rId3"/>
          <a:stretch>
            <a:fillRect/>
          </a:stretch>
        </p:blipFill>
        <p:spPr>
          <a:xfrm>
            <a:off x="221449" y="2599181"/>
            <a:ext cx="6925642" cy="2734057"/>
          </a:xfrm>
          <a:prstGeom prst="rect">
            <a:avLst/>
          </a:prstGeom>
        </p:spPr>
      </p:pic>
      <p:sp>
        <p:nvSpPr>
          <p:cNvPr id="7" name="TextBox 6">
            <a:extLst>
              <a:ext uri="{FF2B5EF4-FFF2-40B4-BE49-F238E27FC236}">
                <a16:creationId xmlns:a16="http://schemas.microsoft.com/office/drawing/2014/main" id="{4BC2AB0A-809B-4B8F-C3CD-7422568AA6CF}"/>
              </a:ext>
            </a:extLst>
          </p:cNvPr>
          <p:cNvSpPr txBox="1"/>
          <p:nvPr/>
        </p:nvSpPr>
        <p:spPr>
          <a:xfrm>
            <a:off x="2674620" y="2251710"/>
            <a:ext cx="2217017" cy="369332"/>
          </a:xfrm>
          <a:prstGeom prst="rect">
            <a:avLst/>
          </a:prstGeom>
          <a:noFill/>
        </p:spPr>
        <p:txBody>
          <a:bodyPr wrap="none" rtlCol="0">
            <a:spAutoFit/>
          </a:bodyPr>
          <a:lstStyle/>
          <a:p>
            <a:r>
              <a:rPr lang="en-US" dirty="0"/>
              <a:t>At the time of writing</a:t>
            </a:r>
          </a:p>
        </p:txBody>
      </p:sp>
      <p:sp>
        <p:nvSpPr>
          <p:cNvPr id="12" name="TextBox 11">
            <a:extLst>
              <a:ext uri="{FF2B5EF4-FFF2-40B4-BE49-F238E27FC236}">
                <a16:creationId xmlns:a16="http://schemas.microsoft.com/office/drawing/2014/main" id="{6D1D1C5D-C956-7741-15E6-FE8576D2FF5A}"/>
              </a:ext>
            </a:extLst>
          </p:cNvPr>
          <p:cNvSpPr txBox="1"/>
          <p:nvPr/>
        </p:nvSpPr>
        <p:spPr>
          <a:xfrm>
            <a:off x="6552317" y="538905"/>
            <a:ext cx="5400984" cy="646331"/>
          </a:xfrm>
          <a:prstGeom prst="rect">
            <a:avLst/>
          </a:prstGeom>
          <a:noFill/>
        </p:spPr>
        <p:txBody>
          <a:bodyPr wrap="square">
            <a:spAutoFit/>
          </a:bodyPr>
          <a:lstStyle/>
          <a:p>
            <a:r>
              <a:rPr lang="en-US" dirty="0">
                <a:hlinkClick r:id="rId4"/>
              </a:rPr>
              <a:t>https://github.com/matyas-brabec/2025-europar-llm/tree/GPT-5-high</a:t>
            </a:r>
            <a:endParaRPr lang="en-US" dirty="0"/>
          </a:p>
        </p:txBody>
      </p:sp>
      <p:pic>
        <p:nvPicPr>
          <p:cNvPr id="14" name="Picture 13">
            <a:extLst>
              <a:ext uri="{FF2B5EF4-FFF2-40B4-BE49-F238E27FC236}">
                <a16:creationId xmlns:a16="http://schemas.microsoft.com/office/drawing/2014/main" id="{F7771BBA-4D14-6D02-9EFC-CC75E1CBFDC6}"/>
              </a:ext>
            </a:extLst>
          </p:cNvPr>
          <p:cNvPicPr>
            <a:picLocks noChangeAspect="1"/>
          </p:cNvPicPr>
          <p:nvPr/>
        </p:nvPicPr>
        <p:blipFill>
          <a:blip r:embed="rId5"/>
          <a:stretch>
            <a:fillRect/>
          </a:stretch>
        </p:blipFill>
        <p:spPr>
          <a:xfrm>
            <a:off x="8463011" y="2091042"/>
            <a:ext cx="3320595" cy="2414072"/>
          </a:xfrm>
          <a:prstGeom prst="rect">
            <a:avLst/>
          </a:prstGeom>
        </p:spPr>
      </p:pic>
      <p:pic>
        <p:nvPicPr>
          <p:cNvPr id="17" name="Picture 16">
            <a:extLst>
              <a:ext uri="{FF2B5EF4-FFF2-40B4-BE49-F238E27FC236}">
                <a16:creationId xmlns:a16="http://schemas.microsoft.com/office/drawing/2014/main" id="{9B47DDC8-9F5A-3552-7451-858AFB39D903}"/>
              </a:ext>
            </a:extLst>
          </p:cNvPr>
          <p:cNvPicPr>
            <a:picLocks noChangeAspect="1"/>
          </p:cNvPicPr>
          <p:nvPr/>
        </p:nvPicPr>
        <p:blipFill>
          <a:blip r:embed="rId6"/>
          <a:stretch>
            <a:fillRect/>
          </a:stretch>
        </p:blipFill>
        <p:spPr>
          <a:xfrm>
            <a:off x="8720721" y="4818639"/>
            <a:ext cx="2805173" cy="2039361"/>
          </a:xfrm>
          <a:prstGeom prst="rect">
            <a:avLst/>
          </a:prstGeom>
        </p:spPr>
      </p:pic>
      <p:sp>
        <p:nvSpPr>
          <p:cNvPr id="19" name="TextBox 18">
            <a:extLst>
              <a:ext uri="{FF2B5EF4-FFF2-40B4-BE49-F238E27FC236}">
                <a16:creationId xmlns:a16="http://schemas.microsoft.com/office/drawing/2014/main" id="{5540FB4B-F466-4E9B-7925-B88B91FE3834}"/>
              </a:ext>
            </a:extLst>
          </p:cNvPr>
          <p:cNvSpPr txBox="1"/>
          <p:nvPr/>
        </p:nvSpPr>
        <p:spPr>
          <a:xfrm>
            <a:off x="8463011" y="1601867"/>
            <a:ext cx="3703834" cy="369332"/>
          </a:xfrm>
          <a:prstGeom prst="rect">
            <a:avLst/>
          </a:prstGeom>
          <a:noFill/>
        </p:spPr>
        <p:txBody>
          <a:bodyPr wrap="none" rtlCol="0">
            <a:spAutoFit/>
          </a:bodyPr>
          <a:lstStyle/>
          <a:p>
            <a:r>
              <a:rPr lang="en-US" dirty="0"/>
              <a:t>At the time of presenting the results</a:t>
            </a:r>
          </a:p>
        </p:txBody>
      </p:sp>
      <p:sp>
        <p:nvSpPr>
          <p:cNvPr id="20" name="TextBox 19">
            <a:extLst>
              <a:ext uri="{FF2B5EF4-FFF2-40B4-BE49-F238E27FC236}">
                <a16:creationId xmlns:a16="http://schemas.microsoft.com/office/drawing/2014/main" id="{FFA4F385-F597-0110-F8B3-AD03D6F2D503}"/>
              </a:ext>
            </a:extLst>
          </p:cNvPr>
          <p:cNvSpPr txBox="1"/>
          <p:nvPr/>
        </p:nvSpPr>
        <p:spPr>
          <a:xfrm>
            <a:off x="5137532" y="5893812"/>
            <a:ext cx="864339" cy="369332"/>
          </a:xfrm>
          <a:prstGeom prst="rect">
            <a:avLst/>
          </a:prstGeom>
          <a:noFill/>
        </p:spPr>
        <p:txBody>
          <a:bodyPr wrap="none" rtlCol="0">
            <a:spAutoFit/>
          </a:bodyPr>
          <a:lstStyle/>
          <a:p>
            <a:r>
              <a:rPr lang="en-US" dirty="0" err="1"/>
              <a:t>kNN</a:t>
            </a:r>
            <a:r>
              <a:rPr lang="en-US" dirty="0"/>
              <a:t> </a:t>
            </a:r>
            <a:r>
              <a:rPr lang="en-US" dirty="0">
                <a:sym typeface="Wingdings" panose="05000000000000000000" pitchFamily="2" charset="2"/>
              </a:rPr>
              <a:t></a:t>
            </a:r>
            <a:endParaRPr lang="en-US" dirty="0"/>
          </a:p>
        </p:txBody>
      </p:sp>
      <p:pic>
        <p:nvPicPr>
          <p:cNvPr id="24" name="Picture 23">
            <a:extLst>
              <a:ext uri="{FF2B5EF4-FFF2-40B4-BE49-F238E27FC236}">
                <a16:creationId xmlns:a16="http://schemas.microsoft.com/office/drawing/2014/main" id="{E6E2995D-9749-CB57-94D9-B9971BDA4A9C}"/>
              </a:ext>
            </a:extLst>
          </p:cNvPr>
          <p:cNvPicPr>
            <a:picLocks noChangeAspect="1"/>
          </p:cNvPicPr>
          <p:nvPr/>
        </p:nvPicPr>
        <p:blipFill>
          <a:blip r:embed="rId7"/>
          <a:stretch>
            <a:fillRect/>
          </a:stretch>
        </p:blipFill>
        <p:spPr>
          <a:xfrm>
            <a:off x="666106" y="5287742"/>
            <a:ext cx="3036122" cy="1589050"/>
          </a:xfrm>
          <a:prstGeom prst="rect">
            <a:avLst/>
          </a:prstGeom>
        </p:spPr>
      </p:pic>
      <p:pic>
        <p:nvPicPr>
          <p:cNvPr id="26" name="Picture 25">
            <a:extLst>
              <a:ext uri="{FF2B5EF4-FFF2-40B4-BE49-F238E27FC236}">
                <a16:creationId xmlns:a16="http://schemas.microsoft.com/office/drawing/2014/main" id="{C1FEF10D-405B-2C29-E783-6F8BBD010435}"/>
              </a:ext>
            </a:extLst>
          </p:cNvPr>
          <p:cNvPicPr>
            <a:picLocks noChangeAspect="1"/>
          </p:cNvPicPr>
          <p:nvPr/>
        </p:nvPicPr>
        <p:blipFill>
          <a:blip r:embed="rId8"/>
          <a:stretch>
            <a:fillRect/>
          </a:stretch>
        </p:blipFill>
        <p:spPr>
          <a:xfrm>
            <a:off x="7147091" y="2107319"/>
            <a:ext cx="2684569" cy="1951682"/>
          </a:xfrm>
          <a:prstGeom prst="rect">
            <a:avLst/>
          </a:prstGeom>
        </p:spPr>
      </p:pic>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smtClean="0"/>
              <a:t>8/27/2026</a:t>
            </a:fld>
            <a:endParaRPr lang="en-US"/>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smtClean="0"/>
              <a:t>20</a:t>
            </a:fld>
            <a:endParaRPr lang="en-US"/>
          </a:p>
        </p:txBody>
      </p:sp>
    </p:spTree>
    <p:extLst>
      <p:ext uri="{BB962C8B-B14F-4D97-AF65-F5344CB8AC3E}">
        <p14:creationId xmlns:p14="http://schemas.microsoft.com/office/powerpoint/2010/main" val="23071661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0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C7E3E-09C8-2B79-8EE7-B8D1557191BE}"/>
              </a:ext>
            </a:extLst>
          </p:cNvPr>
          <p:cNvSpPr>
            <a:spLocks noGrp="1"/>
          </p:cNvSpPr>
          <p:nvPr>
            <p:ph type="title"/>
          </p:nvPr>
        </p:nvSpPr>
        <p:spPr/>
        <p:txBody>
          <a:bodyPr/>
          <a:lstStyle/>
          <a:p>
            <a:r>
              <a:rPr lang="en-US" noProof="0" dirty="0"/>
              <a:t>LLMs and abstractions</a:t>
            </a:r>
          </a:p>
        </p:txBody>
      </p:sp>
      <p:sp>
        <p:nvSpPr>
          <p:cNvPr id="3" name="Content Placeholder 2">
            <a:extLst>
              <a:ext uri="{FF2B5EF4-FFF2-40B4-BE49-F238E27FC236}">
                <a16:creationId xmlns:a16="http://schemas.microsoft.com/office/drawing/2014/main" id="{DAF33F66-B59C-C15E-3BD1-85602E9A1F9E}"/>
              </a:ext>
            </a:extLst>
          </p:cNvPr>
          <p:cNvSpPr>
            <a:spLocks noGrp="1"/>
          </p:cNvSpPr>
          <p:nvPr>
            <p:ph idx="1"/>
          </p:nvPr>
        </p:nvSpPr>
        <p:spPr/>
        <p:txBody>
          <a:bodyPr/>
          <a:lstStyle/>
          <a:p>
            <a:r>
              <a:rPr lang="en-US" noProof="0" dirty="0"/>
              <a:t>Key question: Layout- and traversal-agnostic abstractions help humans; do they help LLMs as well?</a:t>
            </a:r>
          </a:p>
          <a:p>
            <a:r>
              <a:rPr lang="en-US" noProof="0" dirty="0"/>
              <a:t>Key findings:</a:t>
            </a:r>
          </a:p>
          <a:p>
            <a:pPr lvl="1"/>
            <a:r>
              <a:rPr lang="en-US" noProof="0" dirty="0"/>
              <a:t>Prompt specificity improves results much more</a:t>
            </a:r>
          </a:p>
          <a:p>
            <a:pPr lvl="1"/>
            <a:r>
              <a:rPr lang="en-US" noProof="0" dirty="0"/>
              <a:t>LLMs more competent in pure C/C++</a:t>
            </a:r>
          </a:p>
          <a:p>
            <a:pPr lvl="1"/>
            <a:endParaRPr lang="en-US" noProof="0" dirty="0"/>
          </a:p>
        </p:txBody>
      </p:sp>
      <p:sp>
        <p:nvSpPr>
          <p:cNvPr id="4" name="Date Placeholder 3">
            <a:extLst>
              <a:ext uri="{FF2B5EF4-FFF2-40B4-BE49-F238E27FC236}">
                <a16:creationId xmlns:a16="http://schemas.microsoft.com/office/drawing/2014/main" id="{A904F0BB-D2EB-9C78-4897-D031CD98586E}"/>
              </a:ext>
            </a:extLst>
          </p:cNvPr>
          <p:cNvSpPr>
            <a:spLocks noGrp="1"/>
          </p:cNvSpPr>
          <p:nvPr>
            <p:ph type="dt" sz="half" idx="10"/>
          </p:nvPr>
        </p:nvSpPr>
        <p:spPr/>
        <p:txBody>
          <a:bodyPr/>
          <a:lstStyle/>
          <a:p>
            <a:fld id="{3679F7FC-6925-4E77-836B-08C753873575}" type="datetime1">
              <a:rPr lang="en-US" smtClean="0"/>
              <a:t>8/27/2026</a:t>
            </a:fld>
            <a:endParaRPr lang="en-US"/>
          </a:p>
        </p:txBody>
      </p:sp>
      <p:sp>
        <p:nvSpPr>
          <p:cNvPr id="5" name="Slide Number Placeholder 4">
            <a:extLst>
              <a:ext uri="{FF2B5EF4-FFF2-40B4-BE49-F238E27FC236}">
                <a16:creationId xmlns:a16="http://schemas.microsoft.com/office/drawing/2014/main" id="{FA31281F-1294-6DAE-E3F5-A63E2A037C08}"/>
              </a:ext>
            </a:extLst>
          </p:cNvPr>
          <p:cNvSpPr>
            <a:spLocks noGrp="1"/>
          </p:cNvSpPr>
          <p:nvPr>
            <p:ph type="sldNum" sz="quarter" idx="12"/>
          </p:nvPr>
        </p:nvSpPr>
        <p:spPr/>
        <p:txBody>
          <a:bodyPr/>
          <a:lstStyle/>
          <a:p>
            <a:fld id="{DA0BB241-1B5F-4309-9407-9EEA04D9598D}" type="slidenum">
              <a:rPr lang="en-US" smtClean="0"/>
              <a:t>21</a:t>
            </a:fld>
            <a:endParaRPr lang="en-US"/>
          </a:p>
        </p:txBody>
      </p:sp>
    </p:spTree>
    <p:extLst>
      <p:ext uri="{BB962C8B-B14F-4D97-AF65-F5344CB8AC3E}">
        <p14:creationId xmlns:p14="http://schemas.microsoft.com/office/powerpoint/2010/main" val="9656531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0000"/>
        </a:solidFill>
        <a:effectLst/>
      </p:bgPr>
    </p:bg>
    <p:spTree>
      <p:nvGrpSpPr>
        <p:cNvPr id="1" name="">
          <a:extLst>
            <a:ext uri="{FF2B5EF4-FFF2-40B4-BE49-F238E27FC236}">
              <a16:creationId xmlns:a16="http://schemas.microsoft.com/office/drawing/2014/main" id="{941FC1E0-2FFD-A509-1AF0-959A0AFC5A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B428A2-491C-5FCA-EF3B-F536FBDAC5CA}"/>
              </a:ext>
            </a:extLst>
          </p:cNvPr>
          <p:cNvSpPr>
            <a:spLocks noGrp="1"/>
          </p:cNvSpPr>
          <p:nvPr>
            <p:ph type="title"/>
          </p:nvPr>
        </p:nvSpPr>
        <p:spPr/>
        <p:txBody>
          <a:bodyPr/>
          <a:lstStyle/>
          <a:p>
            <a:r>
              <a:rPr lang="en-US" noProof="0" dirty="0"/>
              <a:t>LLMs and abstractions</a:t>
            </a:r>
          </a:p>
        </p:txBody>
      </p:sp>
      <p:pic>
        <p:nvPicPr>
          <p:cNvPr id="8" name="Picture 7">
            <a:extLst>
              <a:ext uri="{FF2B5EF4-FFF2-40B4-BE49-F238E27FC236}">
                <a16:creationId xmlns:a16="http://schemas.microsoft.com/office/drawing/2014/main" id="{6BEAAA05-114E-208D-DFDE-367639786C54}"/>
              </a:ext>
            </a:extLst>
          </p:cNvPr>
          <p:cNvPicPr>
            <a:picLocks noChangeAspect="1"/>
          </p:cNvPicPr>
          <p:nvPr/>
        </p:nvPicPr>
        <p:blipFill>
          <a:blip r:embed="rId3"/>
          <a:stretch>
            <a:fillRect/>
          </a:stretch>
        </p:blipFill>
        <p:spPr>
          <a:xfrm>
            <a:off x="4894948" y="1912727"/>
            <a:ext cx="6725589" cy="2229161"/>
          </a:xfrm>
          <a:prstGeom prst="rect">
            <a:avLst/>
          </a:prstGeom>
        </p:spPr>
      </p:pic>
      <p:pic>
        <p:nvPicPr>
          <p:cNvPr id="10" name="Picture 9">
            <a:extLst>
              <a:ext uri="{FF2B5EF4-FFF2-40B4-BE49-F238E27FC236}">
                <a16:creationId xmlns:a16="http://schemas.microsoft.com/office/drawing/2014/main" id="{379CBEDB-3399-E476-B2E1-91035860BDD2}"/>
              </a:ext>
            </a:extLst>
          </p:cNvPr>
          <p:cNvPicPr>
            <a:picLocks noChangeAspect="1"/>
          </p:cNvPicPr>
          <p:nvPr/>
        </p:nvPicPr>
        <p:blipFill>
          <a:blip r:embed="rId4"/>
          <a:stretch>
            <a:fillRect/>
          </a:stretch>
        </p:blipFill>
        <p:spPr>
          <a:xfrm>
            <a:off x="5161686" y="4677223"/>
            <a:ext cx="6192114" cy="1286054"/>
          </a:xfrm>
          <a:prstGeom prst="rect">
            <a:avLst/>
          </a:prstGeom>
        </p:spPr>
      </p:pic>
      <p:sp>
        <p:nvSpPr>
          <p:cNvPr id="11" name="TextBox 10">
            <a:extLst>
              <a:ext uri="{FF2B5EF4-FFF2-40B4-BE49-F238E27FC236}">
                <a16:creationId xmlns:a16="http://schemas.microsoft.com/office/drawing/2014/main" id="{6C8FEF91-6DF2-D9C1-3C7C-927FC8555CBE}"/>
              </a:ext>
            </a:extLst>
          </p:cNvPr>
          <p:cNvSpPr txBox="1"/>
          <p:nvPr/>
        </p:nvSpPr>
        <p:spPr>
          <a:xfrm>
            <a:off x="9915828" y="1530781"/>
            <a:ext cx="2036455" cy="369332"/>
          </a:xfrm>
          <a:prstGeom prst="rect">
            <a:avLst/>
          </a:prstGeom>
          <a:noFill/>
        </p:spPr>
        <p:txBody>
          <a:bodyPr wrap="none" rtlCol="0">
            <a:spAutoFit/>
          </a:bodyPr>
          <a:lstStyle/>
          <a:p>
            <a:r>
              <a:rPr lang="en-US" dirty="0"/>
              <a:t>Which result best?</a:t>
            </a:r>
          </a:p>
        </p:txBody>
      </p:sp>
      <p:sp>
        <p:nvSpPr>
          <p:cNvPr id="13" name="TextBox 12">
            <a:extLst>
              <a:ext uri="{FF2B5EF4-FFF2-40B4-BE49-F238E27FC236}">
                <a16:creationId xmlns:a16="http://schemas.microsoft.com/office/drawing/2014/main" id="{13079C7E-EBE6-48C6-EAFC-9F6D960ED3AA}"/>
              </a:ext>
            </a:extLst>
          </p:cNvPr>
          <p:cNvSpPr txBox="1"/>
          <p:nvPr/>
        </p:nvSpPr>
        <p:spPr>
          <a:xfrm>
            <a:off x="8567916" y="4082521"/>
            <a:ext cx="2256387" cy="369332"/>
          </a:xfrm>
          <a:prstGeom prst="rect">
            <a:avLst/>
          </a:prstGeom>
          <a:noFill/>
        </p:spPr>
        <p:txBody>
          <a:bodyPr wrap="none" rtlCol="0">
            <a:spAutoFit/>
          </a:bodyPr>
          <a:lstStyle/>
          <a:p>
            <a:r>
              <a:rPr lang="en-US" dirty="0"/>
              <a:t>What prompt to use?</a:t>
            </a:r>
          </a:p>
        </p:txBody>
      </p:sp>
      <p:sp>
        <p:nvSpPr>
          <p:cNvPr id="15" name="TextBox 14">
            <a:extLst>
              <a:ext uri="{FF2B5EF4-FFF2-40B4-BE49-F238E27FC236}">
                <a16:creationId xmlns:a16="http://schemas.microsoft.com/office/drawing/2014/main" id="{7DBBF6DB-A3F4-9BDA-784B-07863D703169}"/>
              </a:ext>
            </a:extLst>
          </p:cNvPr>
          <p:cNvSpPr txBox="1"/>
          <p:nvPr/>
        </p:nvSpPr>
        <p:spPr>
          <a:xfrm>
            <a:off x="6252538" y="6003981"/>
            <a:ext cx="3840218" cy="369332"/>
          </a:xfrm>
          <a:prstGeom prst="rect">
            <a:avLst/>
          </a:prstGeom>
          <a:noFill/>
        </p:spPr>
        <p:txBody>
          <a:bodyPr wrap="none" rtlCol="0">
            <a:spAutoFit/>
          </a:bodyPr>
          <a:lstStyle/>
          <a:p>
            <a:r>
              <a:rPr lang="en-US" dirty="0"/>
              <a:t>Split the optimization into two steps?</a:t>
            </a:r>
          </a:p>
        </p:txBody>
      </p:sp>
      <p:sp>
        <p:nvSpPr>
          <p:cNvPr id="16" name="Rectangle 15">
            <a:extLst>
              <a:ext uri="{FF2B5EF4-FFF2-40B4-BE49-F238E27FC236}">
                <a16:creationId xmlns:a16="http://schemas.microsoft.com/office/drawing/2014/main" id="{6BB90353-381A-4006-0220-9E9CA9C30D3B}"/>
              </a:ext>
            </a:extLst>
          </p:cNvPr>
          <p:cNvSpPr/>
          <p:nvPr/>
        </p:nvSpPr>
        <p:spPr>
          <a:xfrm>
            <a:off x="2794082" y="1377392"/>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Baseline</a:t>
            </a:r>
          </a:p>
        </p:txBody>
      </p:sp>
      <p:sp>
        <p:nvSpPr>
          <p:cNvPr id="18" name="Rectangle 17">
            <a:extLst>
              <a:ext uri="{FF2B5EF4-FFF2-40B4-BE49-F238E27FC236}">
                <a16:creationId xmlns:a16="http://schemas.microsoft.com/office/drawing/2014/main" id="{0990C0B6-58D9-15D3-CB0B-5D196176BDE0}"/>
              </a:ext>
            </a:extLst>
          </p:cNvPr>
          <p:cNvSpPr/>
          <p:nvPr/>
        </p:nvSpPr>
        <p:spPr>
          <a:xfrm>
            <a:off x="154861" y="3407949"/>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Documentation</a:t>
            </a:r>
            <a:br>
              <a:rPr lang="en-US" dirty="0"/>
            </a:br>
            <a:r>
              <a:rPr lang="en-US" dirty="0"/>
              <a:t>&amp; language hints</a:t>
            </a:r>
          </a:p>
        </p:txBody>
      </p:sp>
      <p:sp>
        <p:nvSpPr>
          <p:cNvPr id="20" name="Rectangle 19">
            <a:extLst>
              <a:ext uri="{FF2B5EF4-FFF2-40B4-BE49-F238E27FC236}">
                <a16:creationId xmlns:a16="http://schemas.microsoft.com/office/drawing/2014/main" id="{3C98BE57-2A38-89A9-7FDE-296070049AA0}"/>
              </a:ext>
            </a:extLst>
          </p:cNvPr>
          <p:cNvSpPr/>
          <p:nvPr/>
        </p:nvSpPr>
        <p:spPr>
          <a:xfrm>
            <a:off x="154861" y="4330022"/>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Example</a:t>
            </a:r>
          </a:p>
        </p:txBody>
      </p:sp>
      <p:sp>
        <p:nvSpPr>
          <p:cNvPr id="22" name="Rectangle 21">
            <a:extLst>
              <a:ext uri="{FF2B5EF4-FFF2-40B4-BE49-F238E27FC236}">
                <a16:creationId xmlns:a16="http://schemas.microsoft.com/office/drawing/2014/main" id="{01DC6561-6C17-08E8-D1C2-54DD23B3B420}"/>
              </a:ext>
            </a:extLst>
          </p:cNvPr>
          <p:cNvSpPr/>
          <p:nvPr/>
        </p:nvSpPr>
        <p:spPr>
          <a:xfrm>
            <a:off x="154861" y="2485876"/>
            <a:ext cx="2100866" cy="71609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Optimization</a:t>
            </a:r>
            <a:br>
              <a:rPr lang="en-US" dirty="0"/>
            </a:br>
            <a:r>
              <a:rPr lang="en-US" dirty="0"/>
              <a:t>hints</a:t>
            </a:r>
          </a:p>
        </p:txBody>
      </p:sp>
      <p:sp>
        <p:nvSpPr>
          <p:cNvPr id="24" name="Rectangle 23">
            <a:extLst>
              <a:ext uri="{FF2B5EF4-FFF2-40B4-BE49-F238E27FC236}">
                <a16:creationId xmlns:a16="http://schemas.microsoft.com/office/drawing/2014/main" id="{0F4FB06D-29AA-ACC7-5573-C05802998A47}"/>
              </a:ext>
            </a:extLst>
          </p:cNvPr>
          <p:cNvSpPr/>
          <p:nvPr/>
        </p:nvSpPr>
        <p:spPr>
          <a:xfrm>
            <a:off x="2783437" y="5776779"/>
            <a:ext cx="2100866" cy="71609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Optimized</a:t>
            </a:r>
          </a:p>
        </p:txBody>
      </p:sp>
      <p:sp>
        <p:nvSpPr>
          <p:cNvPr id="26" name="Right Brace 25">
            <a:extLst>
              <a:ext uri="{FF2B5EF4-FFF2-40B4-BE49-F238E27FC236}">
                <a16:creationId xmlns:a16="http://schemas.microsoft.com/office/drawing/2014/main" id="{119D77B4-5A36-5A3B-B93D-EE6AB9478E3C}"/>
              </a:ext>
            </a:extLst>
          </p:cNvPr>
          <p:cNvSpPr/>
          <p:nvPr/>
        </p:nvSpPr>
        <p:spPr>
          <a:xfrm>
            <a:off x="2335576" y="2485876"/>
            <a:ext cx="649995" cy="271333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D64A32AA-01B4-1559-9337-81C50A0E8F3B}"/>
              </a:ext>
            </a:extLst>
          </p:cNvPr>
          <p:cNvCxnSpPr>
            <a:cxnSpLocks/>
          </p:cNvCxnSpPr>
          <p:nvPr/>
        </p:nvCxnSpPr>
        <p:spPr>
          <a:xfrm>
            <a:off x="3833870" y="2335576"/>
            <a:ext cx="0" cy="10934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A60EB943-7476-58D7-D62F-785FE459D2DD}"/>
              </a:ext>
            </a:extLst>
          </p:cNvPr>
          <p:cNvCxnSpPr/>
          <p:nvPr/>
        </p:nvCxnSpPr>
        <p:spPr>
          <a:xfrm>
            <a:off x="3843051" y="4396123"/>
            <a:ext cx="0" cy="12999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4FED10ED-91FE-8EF9-51E0-AC558579369F}"/>
              </a:ext>
            </a:extLst>
          </p:cNvPr>
          <p:cNvSpPr/>
          <p:nvPr/>
        </p:nvSpPr>
        <p:spPr>
          <a:xfrm>
            <a:off x="3183503" y="3609689"/>
            <a:ext cx="1322024" cy="7287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LLM</a:t>
            </a:r>
          </a:p>
        </p:txBody>
      </p:sp>
      <p:sp>
        <p:nvSpPr>
          <p:cNvPr id="3" name="Date Placeholder 2">
            <a:extLst>
              <a:ext uri="{FF2B5EF4-FFF2-40B4-BE49-F238E27FC236}">
                <a16:creationId xmlns:a16="http://schemas.microsoft.com/office/drawing/2014/main" id="{C891F748-A0F1-3E07-254F-0B68A947F6B7}"/>
              </a:ext>
            </a:extLst>
          </p:cNvPr>
          <p:cNvSpPr>
            <a:spLocks noGrp="1"/>
          </p:cNvSpPr>
          <p:nvPr>
            <p:ph type="dt" sz="half" idx="10"/>
          </p:nvPr>
        </p:nvSpPr>
        <p:spPr/>
        <p:txBody>
          <a:bodyPr/>
          <a:lstStyle/>
          <a:p>
            <a:fld id="{66C26781-F21E-4E26-95C7-6AA65F82040A}" type="datetime1">
              <a:rPr lang="en-US" smtClean="0"/>
              <a:t>8/27/2026</a:t>
            </a:fld>
            <a:endParaRPr lang="en-US"/>
          </a:p>
        </p:txBody>
      </p:sp>
      <p:sp>
        <p:nvSpPr>
          <p:cNvPr id="4" name="Slide Number Placeholder 3">
            <a:extLst>
              <a:ext uri="{FF2B5EF4-FFF2-40B4-BE49-F238E27FC236}">
                <a16:creationId xmlns:a16="http://schemas.microsoft.com/office/drawing/2014/main" id="{56DC48F8-30BE-E488-8FC2-7AD86595955B}"/>
              </a:ext>
            </a:extLst>
          </p:cNvPr>
          <p:cNvSpPr>
            <a:spLocks noGrp="1"/>
          </p:cNvSpPr>
          <p:nvPr>
            <p:ph type="sldNum" sz="quarter" idx="12"/>
          </p:nvPr>
        </p:nvSpPr>
        <p:spPr/>
        <p:txBody>
          <a:bodyPr/>
          <a:lstStyle/>
          <a:p>
            <a:fld id="{DA0BB241-1B5F-4309-9407-9EEA04D9598D}" type="slidenum">
              <a:rPr lang="en-US" smtClean="0"/>
              <a:t>22</a:t>
            </a:fld>
            <a:endParaRPr lang="en-US"/>
          </a:p>
        </p:txBody>
      </p:sp>
    </p:spTree>
    <p:extLst>
      <p:ext uri="{BB962C8B-B14F-4D97-AF65-F5344CB8AC3E}">
        <p14:creationId xmlns:p14="http://schemas.microsoft.com/office/powerpoint/2010/main" val="21355553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smtClean="0"/>
              <a:t>8/27/2026</a:t>
            </a:fld>
            <a:endParaRPr lang="en-US"/>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smtClean="0"/>
              <a:t>23</a:t>
            </a:fld>
            <a:endParaRPr lang="en-US"/>
          </a:p>
        </p:txBody>
      </p:sp>
      <p:sp>
        <p:nvSpPr>
          <p:cNvPr id="6" name="TextBox 5">
            <a:extLst>
              <a:ext uri="{FF2B5EF4-FFF2-40B4-BE49-F238E27FC236}">
                <a16:creationId xmlns:a16="http://schemas.microsoft.com/office/drawing/2014/main" id="{0C2203B1-0F93-3F92-FADF-DA1FA387F65C}"/>
              </a:ext>
            </a:extLst>
          </p:cNvPr>
          <p:cNvSpPr txBox="1"/>
          <p:nvPr/>
        </p:nvSpPr>
        <p:spPr>
          <a:xfrm>
            <a:off x="210263" y="3548774"/>
            <a:ext cx="2418354" cy="369332"/>
          </a:xfrm>
          <a:prstGeom prst="rect">
            <a:avLst/>
          </a:prstGeom>
          <a:noFill/>
        </p:spPr>
        <p:txBody>
          <a:bodyPr wrap="none" rtlCol="0">
            <a:spAutoFit/>
          </a:bodyPr>
          <a:lstStyle/>
          <a:p>
            <a:r>
              <a:rPr lang="en-US" dirty="0"/>
              <a:t>Distributed computing</a:t>
            </a:r>
          </a:p>
        </p:txBody>
      </p:sp>
      <p:sp>
        <p:nvSpPr>
          <p:cNvPr id="8" name="TextBox 7">
            <a:extLst>
              <a:ext uri="{FF2B5EF4-FFF2-40B4-BE49-F238E27FC236}">
                <a16:creationId xmlns:a16="http://schemas.microsoft.com/office/drawing/2014/main" id="{0C1F297F-A46E-4127-A44D-943053748AAD}"/>
              </a:ext>
            </a:extLst>
          </p:cNvPr>
          <p:cNvSpPr txBox="1"/>
          <p:nvPr/>
        </p:nvSpPr>
        <p:spPr>
          <a:xfrm>
            <a:off x="398102" y="2284970"/>
            <a:ext cx="2042675" cy="369332"/>
          </a:xfrm>
          <a:prstGeom prst="rect">
            <a:avLst/>
          </a:prstGeom>
          <a:noFill/>
        </p:spPr>
        <p:txBody>
          <a:bodyPr wrap="none" rtlCol="0">
            <a:spAutoFit/>
          </a:bodyPr>
          <a:lstStyle/>
          <a:p>
            <a:r>
              <a:rPr lang="en-US" dirty="0"/>
              <a:t>Layout abstraction</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766623" y="2916872"/>
            <a:ext cx="2256002" cy="369332"/>
          </a:xfrm>
          <a:prstGeom prst="rect">
            <a:avLst/>
          </a:prstGeom>
          <a:noFill/>
        </p:spPr>
        <p:txBody>
          <a:bodyPr wrap="none" rtlCol="0">
            <a:spAutoFit/>
          </a:bodyPr>
          <a:lstStyle/>
          <a:p>
            <a:r>
              <a:rPr lang="en-US" dirty="0"/>
              <a:t>Traversal abstraction</a:t>
            </a:r>
          </a:p>
        </p:txBody>
      </p:sp>
      <p:sp>
        <p:nvSpPr>
          <p:cNvPr id="16" name="TextBox 15">
            <a:extLst>
              <a:ext uri="{FF2B5EF4-FFF2-40B4-BE49-F238E27FC236}">
                <a16:creationId xmlns:a16="http://schemas.microsoft.com/office/drawing/2014/main" id="{DFE9A3AF-209B-AE12-2963-A07256AC3AD8}"/>
              </a:ext>
            </a:extLst>
          </p:cNvPr>
          <p:cNvSpPr txBox="1"/>
          <p:nvPr/>
        </p:nvSpPr>
        <p:spPr>
          <a:xfrm>
            <a:off x="3001631" y="3548774"/>
            <a:ext cx="2457981" cy="369332"/>
          </a:xfrm>
          <a:prstGeom prst="rect">
            <a:avLst/>
          </a:prstGeom>
          <a:noFill/>
        </p:spPr>
        <p:txBody>
          <a:bodyPr wrap="none" rtlCol="0">
            <a:spAutoFit/>
          </a:bodyPr>
          <a:lstStyle/>
          <a:p>
            <a:r>
              <a:rPr lang="en-US" dirty="0"/>
              <a:t>Autotuning abstraction</a:t>
            </a:r>
          </a:p>
        </p:txBody>
      </p:sp>
      <p:sp>
        <p:nvSpPr>
          <p:cNvPr id="20" name="TextBox 19">
            <a:extLst>
              <a:ext uri="{FF2B5EF4-FFF2-40B4-BE49-F238E27FC236}">
                <a16:creationId xmlns:a16="http://schemas.microsoft.com/office/drawing/2014/main" id="{EBEA25C6-5912-033A-1DD3-AE5CB2BC4AB3}"/>
              </a:ext>
            </a:extLst>
          </p:cNvPr>
          <p:cNvSpPr txBox="1"/>
          <p:nvPr/>
        </p:nvSpPr>
        <p:spPr>
          <a:xfrm>
            <a:off x="7926114" y="1618497"/>
            <a:ext cx="1988750" cy="369332"/>
          </a:xfrm>
          <a:prstGeom prst="rect">
            <a:avLst/>
          </a:prstGeom>
          <a:noFill/>
        </p:spPr>
        <p:txBody>
          <a:bodyPr wrap="none" rtlCol="0">
            <a:spAutoFit/>
          </a:bodyPr>
          <a:lstStyle/>
          <a:p>
            <a:r>
              <a:rPr lang="en-US"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7183091" y="2241468"/>
            <a:ext cx="3474797" cy="369332"/>
          </a:xfrm>
          <a:prstGeom prst="rect">
            <a:avLst/>
          </a:prstGeom>
          <a:noFill/>
        </p:spPr>
        <p:txBody>
          <a:bodyPr wrap="none" rtlCol="0">
            <a:spAutoFit/>
          </a:bodyPr>
          <a:lstStyle/>
          <a:p>
            <a:r>
              <a:rPr lang="en-US" dirty="0"/>
              <a:t>Bit-level encoding and evaluation</a:t>
            </a:r>
          </a:p>
        </p:txBody>
      </p:sp>
      <p:sp>
        <p:nvSpPr>
          <p:cNvPr id="27" name="TextBox 26">
            <a:extLst>
              <a:ext uri="{FF2B5EF4-FFF2-40B4-BE49-F238E27FC236}">
                <a16:creationId xmlns:a16="http://schemas.microsoft.com/office/drawing/2014/main" id="{4C486DD0-E83D-76B8-FFAB-7DFBC00CF409}"/>
              </a:ext>
            </a:extLst>
          </p:cNvPr>
          <p:cNvSpPr txBox="1"/>
          <p:nvPr/>
        </p:nvSpPr>
        <p:spPr>
          <a:xfrm>
            <a:off x="7070880" y="3009465"/>
            <a:ext cx="3699218" cy="369332"/>
          </a:xfrm>
          <a:prstGeom prst="rect">
            <a:avLst/>
          </a:prstGeom>
          <a:noFill/>
        </p:spPr>
        <p:txBody>
          <a:bodyPr wrap="none" rtlCol="0">
            <a:spAutoFit/>
          </a:bodyPr>
          <a:lstStyle/>
          <a:p>
            <a:r>
              <a:rPr lang="en-US" dirty="0"/>
              <a:t>Abstractions for cellular automata</a:t>
            </a:r>
          </a:p>
        </p:txBody>
      </p:sp>
      <p:sp>
        <p:nvSpPr>
          <p:cNvPr id="28" name="TextBox 27">
            <a:extLst>
              <a:ext uri="{FF2B5EF4-FFF2-40B4-BE49-F238E27FC236}">
                <a16:creationId xmlns:a16="http://schemas.microsoft.com/office/drawing/2014/main" id="{4E10342D-AF4F-9D7A-596A-774C5A75EE80}"/>
              </a:ext>
            </a:extLst>
          </p:cNvPr>
          <p:cNvSpPr txBox="1"/>
          <p:nvPr/>
        </p:nvSpPr>
        <p:spPr>
          <a:xfrm>
            <a:off x="4138188" y="5617686"/>
            <a:ext cx="3915624" cy="369332"/>
          </a:xfrm>
          <a:prstGeom prst="rect">
            <a:avLst/>
          </a:prstGeom>
          <a:noFill/>
        </p:spPr>
        <p:txBody>
          <a:bodyPr wrap="none" rtlCol="0">
            <a:spAutoFit/>
          </a:bodyPr>
          <a:lstStyle/>
          <a:p>
            <a:r>
              <a:rPr lang="en-US" dirty="0"/>
              <a:t>LLM generation with user-suggestions</a:t>
            </a:r>
          </a:p>
        </p:txBody>
      </p:sp>
      <p:sp>
        <p:nvSpPr>
          <p:cNvPr id="30" name="TextBox 29">
            <a:extLst>
              <a:ext uri="{FF2B5EF4-FFF2-40B4-BE49-F238E27FC236}">
                <a16:creationId xmlns:a16="http://schemas.microsoft.com/office/drawing/2014/main" id="{4AD7395F-5DE8-A141-7F54-EB10905B989D}"/>
              </a:ext>
            </a:extLst>
          </p:cNvPr>
          <p:cNvSpPr txBox="1"/>
          <p:nvPr/>
        </p:nvSpPr>
        <p:spPr>
          <a:xfrm>
            <a:off x="3070460" y="4912935"/>
            <a:ext cx="6051080" cy="369332"/>
          </a:xfrm>
          <a:prstGeom prst="rect">
            <a:avLst/>
          </a:prstGeom>
          <a:noFill/>
        </p:spPr>
        <p:txBody>
          <a:bodyPr wrap="none" rtlCol="0">
            <a:spAutoFit/>
          </a:bodyPr>
          <a:lstStyle/>
          <a:p>
            <a:r>
              <a:rPr lang="en-US" dirty="0"/>
              <a:t>Effect of layout and traversal abstraction on LLM generation</a:t>
            </a:r>
          </a:p>
        </p:txBody>
      </p:sp>
      <p:sp>
        <p:nvSpPr>
          <p:cNvPr id="32" name="TextBox 31">
            <a:extLst>
              <a:ext uri="{FF2B5EF4-FFF2-40B4-BE49-F238E27FC236}">
                <a16:creationId xmlns:a16="http://schemas.microsoft.com/office/drawing/2014/main" id="{575DD392-3AAA-5F2A-363D-37ADF1B2AD3E}"/>
              </a:ext>
            </a:extLst>
          </p:cNvPr>
          <p:cNvSpPr txBox="1"/>
          <p:nvPr/>
        </p:nvSpPr>
        <p:spPr>
          <a:xfrm>
            <a:off x="1506735" y="1583926"/>
            <a:ext cx="3952877" cy="369332"/>
          </a:xfrm>
          <a:prstGeom prst="rect">
            <a:avLst/>
          </a:prstGeom>
          <a:noFill/>
        </p:spPr>
        <p:txBody>
          <a:bodyPr wrap="none" rtlCol="0">
            <a:spAutoFit/>
          </a:bodyPr>
          <a:lstStyle/>
          <a:p>
            <a:r>
              <a:rPr lang="en-US" dirty="0"/>
              <a:t>General-purpose scientific computing</a:t>
            </a:r>
          </a:p>
        </p:txBody>
      </p:sp>
      <p:sp>
        <p:nvSpPr>
          <p:cNvPr id="34" name="TextBox 33">
            <a:extLst>
              <a:ext uri="{FF2B5EF4-FFF2-40B4-BE49-F238E27FC236}">
                <a16:creationId xmlns:a16="http://schemas.microsoft.com/office/drawing/2014/main" id="{18996F6F-87F6-9490-D8CC-27045B68F5E1}"/>
              </a:ext>
            </a:extLst>
          </p:cNvPr>
          <p:cNvSpPr txBox="1"/>
          <p:nvPr/>
        </p:nvSpPr>
        <p:spPr>
          <a:xfrm>
            <a:off x="6963863" y="937680"/>
            <a:ext cx="3913251" cy="369332"/>
          </a:xfrm>
          <a:prstGeom prst="rect">
            <a:avLst/>
          </a:prstGeom>
          <a:noFill/>
        </p:spPr>
        <p:txBody>
          <a:bodyPr wrap="none" rtlCol="0">
            <a:spAutoFit/>
          </a:bodyPr>
          <a:lstStyle/>
          <a:p>
            <a:r>
              <a:rPr lang="en-US" dirty="0"/>
              <a:t>Domain-specific scientific computing</a:t>
            </a:r>
          </a:p>
        </p:txBody>
      </p:sp>
    </p:spTree>
    <p:extLst>
      <p:ext uri="{BB962C8B-B14F-4D97-AF65-F5344CB8AC3E}">
        <p14:creationId xmlns:p14="http://schemas.microsoft.com/office/powerpoint/2010/main" val="17454896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CD7CC-C2D6-52E6-02D5-F41FC5389A5C}"/>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950373B6-1B3D-2E32-D54A-18C124620153}"/>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smtClean="0"/>
              <a:t>8/27/2026</a:t>
            </a:fld>
            <a:endParaRPr lang="en-US"/>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smtClean="0"/>
              <a:t>24</a:t>
            </a:fld>
            <a:endParaRPr lang="en-US"/>
          </a:p>
        </p:txBody>
      </p:sp>
    </p:spTree>
    <p:extLst>
      <p:ext uri="{BB962C8B-B14F-4D97-AF65-F5344CB8AC3E}">
        <p14:creationId xmlns:p14="http://schemas.microsoft.com/office/powerpoint/2010/main" val="25953849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F60A6E-3187-42F4-D4AF-DBEF792A9C8A}"/>
              </a:ext>
            </a:extLst>
          </p:cNvPr>
          <p:cNvSpPr>
            <a:spLocks noGrp="1"/>
          </p:cNvSpPr>
          <p:nvPr>
            <p:ph type="title"/>
          </p:nvPr>
        </p:nvSpPr>
        <p:spPr/>
        <p:txBody>
          <a:bodyPr/>
          <a:lstStyle/>
          <a:p>
            <a:endParaRPr lang="en-US"/>
          </a:p>
        </p:txBody>
      </p:sp>
      <p:pic>
        <p:nvPicPr>
          <p:cNvPr id="4" name="Picture 3">
            <a:extLst>
              <a:ext uri="{FF2B5EF4-FFF2-40B4-BE49-F238E27FC236}">
                <a16:creationId xmlns:a16="http://schemas.microsoft.com/office/drawing/2014/main" id="{24B00957-7817-24B3-7E38-9A1C4F2058CF}"/>
              </a:ext>
            </a:extLst>
          </p:cNvPr>
          <p:cNvPicPr>
            <a:picLocks noChangeAspect="1"/>
          </p:cNvPicPr>
          <p:nvPr/>
        </p:nvPicPr>
        <p:blipFill>
          <a:blip r:embed="rId3"/>
          <a:stretch>
            <a:fillRect/>
          </a:stretch>
        </p:blipFill>
        <p:spPr>
          <a:xfrm>
            <a:off x="399012" y="1092171"/>
            <a:ext cx="10778836" cy="2722058"/>
          </a:xfrm>
          <a:prstGeom prst="rect">
            <a:avLst/>
          </a:prstGeom>
        </p:spPr>
      </p:pic>
      <p:pic>
        <p:nvPicPr>
          <p:cNvPr id="6" name="Picture 5">
            <a:extLst>
              <a:ext uri="{FF2B5EF4-FFF2-40B4-BE49-F238E27FC236}">
                <a16:creationId xmlns:a16="http://schemas.microsoft.com/office/drawing/2014/main" id="{2A107D04-2167-AED6-424B-AE247F4C77D4}"/>
              </a:ext>
            </a:extLst>
          </p:cNvPr>
          <p:cNvPicPr>
            <a:picLocks noChangeAspect="1"/>
          </p:cNvPicPr>
          <p:nvPr/>
        </p:nvPicPr>
        <p:blipFill>
          <a:blip r:embed="rId4"/>
          <a:stretch>
            <a:fillRect/>
          </a:stretch>
        </p:blipFill>
        <p:spPr>
          <a:xfrm>
            <a:off x="108065" y="4043553"/>
            <a:ext cx="12192000" cy="2727753"/>
          </a:xfrm>
          <a:prstGeom prst="rect">
            <a:avLst/>
          </a:prstGeom>
        </p:spPr>
      </p:pic>
      <p:sp>
        <p:nvSpPr>
          <p:cNvPr id="7" name="Date Placeholder 6">
            <a:extLst>
              <a:ext uri="{FF2B5EF4-FFF2-40B4-BE49-F238E27FC236}">
                <a16:creationId xmlns:a16="http://schemas.microsoft.com/office/drawing/2014/main" id="{7B653C52-BD65-F063-E5AD-F250A08141EA}"/>
              </a:ext>
            </a:extLst>
          </p:cNvPr>
          <p:cNvSpPr>
            <a:spLocks noGrp="1"/>
          </p:cNvSpPr>
          <p:nvPr>
            <p:ph type="dt" sz="half" idx="10"/>
          </p:nvPr>
        </p:nvSpPr>
        <p:spPr/>
        <p:txBody>
          <a:bodyPr/>
          <a:lstStyle/>
          <a:p>
            <a:fld id="{7E613BD8-21F3-4985-8518-9695229365CF}" type="datetime1">
              <a:rPr lang="en-US" smtClean="0"/>
              <a:t>8/27/2026</a:t>
            </a:fld>
            <a:endParaRPr lang="en-US"/>
          </a:p>
        </p:txBody>
      </p:sp>
      <p:sp>
        <p:nvSpPr>
          <p:cNvPr id="8" name="Slide Number Placeholder 7">
            <a:extLst>
              <a:ext uri="{FF2B5EF4-FFF2-40B4-BE49-F238E27FC236}">
                <a16:creationId xmlns:a16="http://schemas.microsoft.com/office/drawing/2014/main" id="{6D5F619E-88BF-2DD0-A199-4353D2206681}"/>
              </a:ext>
            </a:extLst>
          </p:cNvPr>
          <p:cNvSpPr>
            <a:spLocks noGrp="1"/>
          </p:cNvSpPr>
          <p:nvPr>
            <p:ph type="sldNum" sz="quarter" idx="12"/>
          </p:nvPr>
        </p:nvSpPr>
        <p:spPr/>
        <p:txBody>
          <a:bodyPr/>
          <a:lstStyle/>
          <a:p>
            <a:fld id="{DA0BB241-1B5F-4309-9407-9EEA04D9598D}" type="slidenum">
              <a:rPr lang="en-US" smtClean="0"/>
              <a:t>25</a:t>
            </a:fld>
            <a:endParaRPr lang="en-US"/>
          </a:p>
        </p:txBody>
      </p:sp>
    </p:spTree>
    <p:extLst>
      <p:ext uri="{BB962C8B-B14F-4D97-AF65-F5344CB8AC3E}">
        <p14:creationId xmlns:p14="http://schemas.microsoft.com/office/powerpoint/2010/main" val="3202652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2ADF4BF-6586-65DA-E4AE-94974FA481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31904B-BA21-4C39-5543-AF0149EAA50F}"/>
              </a:ext>
            </a:extLst>
          </p:cNvPr>
          <p:cNvSpPr>
            <a:spLocks noGrp="1"/>
          </p:cNvSpPr>
          <p:nvPr>
            <p:ph type="title"/>
          </p:nvPr>
        </p:nvSpPr>
        <p:spPr/>
        <p:txBody>
          <a:bodyPr/>
          <a:lstStyle/>
          <a:p>
            <a:r>
              <a:rPr lang="en-US" noProof="0" dirty="0"/>
              <a:t>Contribution map</a:t>
            </a:r>
          </a:p>
        </p:txBody>
      </p:sp>
      <p:sp>
        <p:nvSpPr>
          <p:cNvPr id="5" name="Rectangle 4">
            <a:extLst>
              <a:ext uri="{FF2B5EF4-FFF2-40B4-BE49-F238E27FC236}">
                <a16:creationId xmlns:a16="http://schemas.microsoft.com/office/drawing/2014/main" id="{C5975214-AC4C-A49D-BC8B-C47C4F294309}"/>
              </a:ext>
            </a:extLst>
          </p:cNvPr>
          <p:cNvSpPr/>
          <p:nvPr/>
        </p:nvSpPr>
        <p:spPr>
          <a:xfrm>
            <a:off x="4240490" y="140673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Separate algorithm design from performance optimization</a:t>
            </a:r>
          </a:p>
        </p:txBody>
      </p:sp>
      <p:sp>
        <p:nvSpPr>
          <p:cNvPr id="7" name="Rectangle 6">
            <a:extLst>
              <a:ext uri="{FF2B5EF4-FFF2-40B4-BE49-F238E27FC236}">
                <a16:creationId xmlns:a16="http://schemas.microsoft.com/office/drawing/2014/main" id="{17D3F221-1897-9F91-8106-4AB40FC8824B}"/>
              </a:ext>
            </a:extLst>
          </p:cNvPr>
          <p:cNvSpPr/>
          <p:nvPr/>
        </p:nvSpPr>
        <p:spPr>
          <a:xfrm>
            <a:off x="150074"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and traversal-agnostic abstractions</a:t>
            </a:r>
          </a:p>
        </p:txBody>
      </p:sp>
      <p:sp>
        <p:nvSpPr>
          <p:cNvPr id="9" name="Rectangle 8">
            <a:extLst>
              <a:ext uri="{FF2B5EF4-FFF2-40B4-BE49-F238E27FC236}">
                <a16:creationId xmlns:a16="http://schemas.microsoft.com/office/drawing/2014/main" id="{A87F2CD0-D7DC-A89C-B50D-9C02F6A9A1C1}"/>
              </a:ext>
            </a:extLst>
          </p:cNvPr>
          <p:cNvSpPr/>
          <p:nvPr/>
        </p:nvSpPr>
        <p:spPr>
          <a:xfrm>
            <a:off x="7840178"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LLM-assisted optimization</a:t>
            </a:r>
          </a:p>
        </p:txBody>
      </p:sp>
      <p:sp>
        <p:nvSpPr>
          <p:cNvPr id="11" name="Rectangle 10">
            <a:extLst>
              <a:ext uri="{FF2B5EF4-FFF2-40B4-BE49-F238E27FC236}">
                <a16:creationId xmlns:a16="http://schemas.microsoft.com/office/drawing/2014/main" id="{B9978723-63B3-F831-A469-C2EB38EA7A3A}"/>
              </a:ext>
            </a:extLst>
          </p:cNvPr>
          <p:cNvSpPr/>
          <p:nvPr/>
        </p:nvSpPr>
        <p:spPr>
          <a:xfrm>
            <a:off x="150074"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abstractions</a:t>
            </a:r>
          </a:p>
        </p:txBody>
      </p:sp>
      <p:sp>
        <p:nvSpPr>
          <p:cNvPr id="13" name="Rectangle 12">
            <a:extLst>
              <a:ext uri="{FF2B5EF4-FFF2-40B4-BE49-F238E27FC236}">
                <a16:creationId xmlns:a16="http://schemas.microsoft.com/office/drawing/2014/main" id="{54569B5D-4CD1-0C2E-6528-AC2EBC62DEFC}"/>
              </a:ext>
            </a:extLst>
          </p:cNvPr>
          <p:cNvSpPr/>
          <p:nvPr/>
        </p:nvSpPr>
        <p:spPr>
          <a:xfrm>
            <a:off x="4240490"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Traversal abstractions</a:t>
            </a:r>
          </a:p>
        </p:txBody>
      </p:sp>
      <p:sp>
        <p:nvSpPr>
          <p:cNvPr id="15" name="Rectangle 14">
            <a:extLst>
              <a:ext uri="{FF2B5EF4-FFF2-40B4-BE49-F238E27FC236}">
                <a16:creationId xmlns:a16="http://schemas.microsoft.com/office/drawing/2014/main" id="{5C76D1C5-B831-26B6-969B-E02EC22ADBB3}"/>
              </a:ext>
            </a:extLst>
          </p:cNvPr>
          <p:cNvSpPr/>
          <p:nvPr/>
        </p:nvSpPr>
        <p:spPr>
          <a:xfrm>
            <a:off x="8330906"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Practical aspects</a:t>
            </a:r>
          </a:p>
        </p:txBody>
      </p:sp>
      <p:sp>
        <p:nvSpPr>
          <p:cNvPr id="17" name="Rectangle 16">
            <a:extLst>
              <a:ext uri="{FF2B5EF4-FFF2-40B4-BE49-F238E27FC236}">
                <a16:creationId xmlns:a16="http://schemas.microsoft.com/office/drawing/2014/main" id="{9423DF13-4C59-855B-8C3C-DC8E41C53600}"/>
              </a:ext>
            </a:extLst>
          </p:cNvPr>
          <p:cNvSpPr/>
          <p:nvPr/>
        </p:nvSpPr>
        <p:spPr>
          <a:xfrm>
            <a:off x="302474" y="53562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structures</a:t>
            </a:r>
          </a:p>
        </p:txBody>
      </p:sp>
      <p:sp>
        <p:nvSpPr>
          <p:cNvPr id="19" name="Rectangle 18">
            <a:extLst>
              <a:ext uri="{FF2B5EF4-FFF2-40B4-BE49-F238E27FC236}">
                <a16:creationId xmlns:a16="http://schemas.microsoft.com/office/drawing/2014/main" id="{1E81745A-AC23-57C9-F2BB-457BC41EDBA8}"/>
              </a:ext>
            </a:extLst>
          </p:cNvPr>
          <p:cNvSpPr/>
          <p:nvPr/>
        </p:nvSpPr>
        <p:spPr>
          <a:xfrm>
            <a:off x="454874" y="55086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traversers</a:t>
            </a:r>
          </a:p>
        </p:txBody>
      </p:sp>
      <p:sp>
        <p:nvSpPr>
          <p:cNvPr id="21" name="Rectangle 20">
            <a:extLst>
              <a:ext uri="{FF2B5EF4-FFF2-40B4-BE49-F238E27FC236}">
                <a16:creationId xmlns:a16="http://schemas.microsoft.com/office/drawing/2014/main" id="{4A5AC241-1B06-DE15-6134-6FE9A53F439A}"/>
              </a:ext>
            </a:extLst>
          </p:cNvPr>
          <p:cNvSpPr/>
          <p:nvPr/>
        </p:nvSpPr>
        <p:spPr>
          <a:xfrm>
            <a:off x="607274" y="56610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tuning</a:t>
            </a:r>
          </a:p>
        </p:txBody>
      </p:sp>
      <p:sp>
        <p:nvSpPr>
          <p:cNvPr id="23" name="Rectangle 22">
            <a:extLst>
              <a:ext uri="{FF2B5EF4-FFF2-40B4-BE49-F238E27FC236}">
                <a16:creationId xmlns:a16="http://schemas.microsoft.com/office/drawing/2014/main" id="{22CFEFF4-674A-79BC-91E4-1633A8CE6825}"/>
              </a:ext>
            </a:extLst>
          </p:cNvPr>
          <p:cNvSpPr/>
          <p:nvPr/>
        </p:nvSpPr>
        <p:spPr>
          <a:xfrm>
            <a:off x="759674" y="58134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-MPI</a:t>
            </a:r>
          </a:p>
        </p:txBody>
      </p:sp>
      <p:sp>
        <p:nvSpPr>
          <p:cNvPr id="25" name="Rectangle 24">
            <a:extLst>
              <a:ext uri="{FF2B5EF4-FFF2-40B4-BE49-F238E27FC236}">
                <a16:creationId xmlns:a16="http://schemas.microsoft.com/office/drawing/2014/main" id="{E71FF61B-8A94-69A1-B479-73445DBDA620}"/>
              </a:ext>
            </a:extLst>
          </p:cNvPr>
          <p:cNvSpPr/>
          <p:nvPr/>
        </p:nvSpPr>
        <p:spPr>
          <a:xfrm>
            <a:off x="4853138" y="54247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Cellato</a:t>
            </a:r>
            <a:endParaRPr lang="en-US" noProof="0" dirty="0"/>
          </a:p>
        </p:txBody>
      </p:sp>
      <p:sp>
        <p:nvSpPr>
          <p:cNvPr id="3" name="Date Placeholder 2">
            <a:extLst>
              <a:ext uri="{FF2B5EF4-FFF2-40B4-BE49-F238E27FC236}">
                <a16:creationId xmlns:a16="http://schemas.microsoft.com/office/drawing/2014/main" id="{7BE052C3-48BB-4223-A762-0A9228BFB21B}"/>
              </a:ext>
            </a:extLst>
          </p:cNvPr>
          <p:cNvSpPr>
            <a:spLocks noGrp="1"/>
          </p:cNvSpPr>
          <p:nvPr>
            <p:ph type="dt" sz="half" idx="10"/>
          </p:nvPr>
        </p:nvSpPr>
        <p:spPr/>
        <p:txBody>
          <a:bodyPr/>
          <a:lstStyle/>
          <a:p>
            <a:fld id="{6DAC1E11-C476-4762-AFFB-C3D6ECD7A44E}" type="datetime1">
              <a:rPr lang="en-US" smtClean="0"/>
              <a:t>8/27/2026</a:t>
            </a:fld>
            <a:endParaRPr lang="en-US"/>
          </a:p>
        </p:txBody>
      </p:sp>
      <p:sp>
        <p:nvSpPr>
          <p:cNvPr id="4" name="Slide Number Placeholder 3">
            <a:extLst>
              <a:ext uri="{FF2B5EF4-FFF2-40B4-BE49-F238E27FC236}">
                <a16:creationId xmlns:a16="http://schemas.microsoft.com/office/drawing/2014/main" id="{7A21066E-E7D3-494D-8439-A46941714C1C}"/>
              </a:ext>
            </a:extLst>
          </p:cNvPr>
          <p:cNvSpPr>
            <a:spLocks noGrp="1"/>
          </p:cNvSpPr>
          <p:nvPr>
            <p:ph type="sldNum" sz="quarter" idx="12"/>
          </p:nvPr>
        </p:nvSpPr>
        <p:spPr/>
        <p:txBody>
          <a:bodyPr/>
          <a:lstStyle/>
          <a:p>
            <a:fld id="{DA0BB241-1B5F-4309-9407-9EEA04D9598D}" type="slidenum">
              <a:rPr lang="en-US" smtClean="0"/>
              <a:t>26</a:t>
            </a:fld>
            <a:endParaRPr lang="en-US"/>
          </a:p>
        </p:txBody>
      </p:sp>
    </p:spTree>
    <p:extLst>
      <p:ext uri="{BB962C8B-B14F-4D97-AF65-F5344CB8AC3E}">
        <p14:creationId xmlns:p14="http://schemas.microsoft.com/office/powerpoint/2010/main" val="42008505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8BC79E-0B1F-5D1D-A8A6-170A8D00B1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A15B60C-3C0A-6CF3-9721-64F51CB83FD9}"/>
              </a:ext>
            </a:extLst>
          </p:cNvPr>
          <p:cNvSpPr>
            <a:spLocks noGrp="1"/>
          </p:cNvSpPr>
          <p:nvPr>
            <p:ph type="title"/>
          </p:nvPr>
        </p:nvSpPr>
        <p:spPr/>
        <p:txBody>
          <a:bodyPr/>
          <a:lstStyle/>
          <a:p>
            <a:endParaRPr lang="en-US" noProof="0" dirty="0"/>
          </a:p>
        </p:txBody>
      </p:sp>
      <p:sp>
        <p:nvSpPr>
          <p:cNvPr id="5" name="Rectangle 4">
            <a:extLst>
              <a:ext uri="{FF2B5EF4-FFF2-40B4-BE49-F238E27FC236}">
                <a16:creationId xmlns:a16="http://schemas.microsoft.com/office/drawing/2014/main" id="{B998C859-7EF5-3FE2-35CD-2027D974CDAB}"/>
              </a:ext>
            </a:extLst>
          </p:cNvPr>
          <p:cNvSpPr/>
          <p:nvPr/>
        </p:nvSpPr>
        <p:spPr>
          <a:xfrm>
            <a:off x="4696098"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computation</a:t>
            </a:r>
          </a:p>
        </p:txBody>
      </p:sp>
      <p:sp>
        <p:nvSpPr>
          <p:cNvPr id="7" name="Rectangle 6">
            <a:extLst>
              <a:ext uri="{FF2B5EF4-FFF2-40B4-BE49-F238E27FC236}">
                <a16:creationId xmlns:a16="http://schemas.microsoft.com/office/drawing/2014/main" id="{0243BB3B-7799-CC89-C15D-09629EEE8CAC}"/>
              </a:ext>
            </a:extLst>
          </p:cNvPr>
          <p:cNvSpPr/>
          <p:nvPr/>
        </p:nvSpPr>
        <p:spPr>
          <a:xfrm>
            <a:off x="1109254" y="4302035"/>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Challenging code without abstractions</a:t>
            </a:r>
          </a:p>
        </p:txBody>
      </p:sp>
      <p:sp>
        <p:nvSpPr>
          <p:cNvPr id="9" name="Rectangle 8">
            <a:extLst>
              <a:ext uri="{FF2B5EF4-FFF2-40B4-BE49-F238E27FC236}">
                <a16:creationId xmlns:a16="http://schemas.microsoft.com/office/drawing/2014/main" id="{A3CA4778-7DF8-3E04-D795-16DC5D1DC699}"/>
              </a:ext>
            </a:extLst>
          </p:cNvPr>
          <p:cNvSpPr/>
          <p:nvPr/>
        </p:nvSpPr>
        <p:spPr>
          <a:xfrm>
            <a:off x="7528560" y="2103120"/>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Memory layout</a:t>
            </a:r>
          </a:p>
        </p:txBody>
      </p:sp>
      <p:sp>
        <p:nvSpPr>
          <p:cNvPr id="11" name="Rectangle 10">
            <a:extLst>
              <a:ext uri="{FF2B5EF4-FFF2-40B4-BE49-F238E27FC236}">
                <a16:creationId xmlns:a16="http://schemas.microsoft.com/office/drawing/2014/main" id="{4D3A9371-0618-4139-FE79-A8EB0D3EF695}"/>
              </a:ext>
            </a:extLst>
          </p:cNvPr>
          <p:cNvSpPr/>
          <p:nvPr/>
        </p:nvSpPr>
        <p:spPr>
          <a:xfrm>
            <a:off x="7528560"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evaluator</a:t>
            </a:r>
          </a:p>
        </p:txBody>
      </p:sp>
      <p:sp>
        <p:nvSpPr>
          <p:cNvPr id="13" name="Rectangle 12">
            <a:extLst>
              <a:ext uri="{FF2B5EF4-FFF2-40B4-BE49-F238E27FC236}">
                <a16:creationId xmlns:a16="http://schemas.microsoft.com/office/drawing/2014/main" id="{19069C35-7FDE-3009-6C44-B416BD3D4490}"/>
              </a:ext>
            </a:extLst>
          </p:cNvPr>
          <p:cNvSpPr/>
          <p:nvPr/>
        </p:nvSpPr>
        <p:spPr>
          <a:xfrm>
            <a:off x="7528559" y="4950826"/>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traverser</a:t>
            </a:r>
          </a:p>
        </p:txBody>
      </p:sp>
      <p:sp>
        <p:nvSpPr>
          <p:cNvPr id="15" name="Rectangle 14">
            <a:extLst>
              <a:ext uri="{FF2B5EF4-FFF2-40B4-BE49-F238E27FC236}">
                <a16:creationId xmlns:a16="http://schemas.microsoft.com/office/drawing/2014/main" id="{9B42DE37-883C-4DA1-0DC9-3737166C371B}"/>
              </a:ext>
            </a:extLst>
          </p:cNvPr>
          <p:cNvSpPr/>
          <p:nvPr/>
        </p:nvSpPr>
        <p:spPr>
          <a:xfrm>
            <a:off x="10441576"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Challenging code without abstractions</a:t>
            </a:r>
            <a:br>
              <a:rPr lang="en-US" noProof="0" dirty="0"/>
            </a:br>
            <a:r>
              <a:rPr lang="en-US" noProof="0" dirty="0"/>
              <a:t>generated automatically</a:t>
            </a:r>
          </a:p>
        </p:txBody>
      </p:sp>
      <p:sp>
        <p:nvSpPr>
          <p:cNvPr id="16" name="Arrow: Right 15">
            <a:extLst>
              <a:ext uri="{FF2B5EF4-FFF2-40B4-BE49-F238E27FC236}">
                <a16:creationId xmlns:a16="http://schemas.microsoft.com/office/drawing/2014/main" id="{7B7036A0-4E18-60A0-8EF6-1184393731FF}"/>
              </a:ext>
            </a:extLst>
          </p:cNvPr>
          <p:cNvSpPr/>
          <p:nvPr/>
        </p:nvSpPr>
        <p:spPr>
          <a:xfrm>
            <a:off x="10110651" y="3944983"/>
            <a:ext cx="165464" cy="4223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Arrow: Right 17">
            <a:extLst>
              <a:ext uri="{FF2B5EF4-FFF2-40B4-BE49-F238E27FC236}">
                <a16:creationId xmlns:a16="http://schemas.microsoft.com/office/drawing/2014/main" id="{3A11C929-E308-0238-EBC8-A1DD58040025}"/>
              </a:ext>
            </a:extLst>
          </p:cNvPr>
          <p:cNvSpPr/>
          <p:nvPr/>
        </p:nvSpPr>
        <p:spPr>
          <a:xfrm>
            <a:off x="7282542" y="3870960"/>
            <a:ext cx="165464" cy="4223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6B6D1F59-04AE-E6FB-2AF2-D07E96762EC5}"/>
              </a:ext>
            </a:extLst>
          </p:cNvPr>
          <p:cNvSpPr/>
          <p:nvPr/>
        </p:nvSpPr>
        <p:spPr>
          <a:xfrm>
            <a:off x="838200" y="2103120"/>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pred</a:t>
            </a:r>
          </a:p>
        </p:txBody>
      </p:sp>
      <p:sp>
        <p:nvSpPr>
          <p:cNvPr id="21" name="Rectangle 20">
            <a:extLst>
              <a:ext uri="{FF2B5EF4-FFF2-40B4-BE49-F238E27FC236}">
                <a16:creationId xmlns:a16="http://schemas.microsoft.com/office/drawing/2014/main" id="{1A06E9A3-B8EE-ABF1-6538-9E35B7A48DD2}"/>
              </a:ext>
            </a:extLst>
          </p:cNvPr>
          <p:cNvSpPr/>
          <p:nvPr/>
        </p:nvSpPr>
        <p:spPr>
          <a:xfrm>
            <a:off x="2394857" y="2118973"/>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po</a:t>
            </a:r>
          </a:p>
        </p:txBody>
      </p:sp>
      <p:sp>
        <p:nvSpPr>
          <p:cNvPr id="23" name="Rectangle 22">
            <a:extLst>
              <a:ext uri="{FF2B5EF4-FFF2-40B4-BE49-F238E27FC236}">
                <a16:creationId xmlns:a16="http://schemas.microsoft.com/office/drawing/2014/main" id="{BDEC5311-5338-A7A6-5157-81A4E01AF55B}"/>
              </a:ext>
            </a:extLst>
          </p:cNvPr>
          <p:cNvSpPr/>
          <p:nvPr/>
        </p:nvSpPr>
        <p:spPr>
          <a:xfrm>
            <a:off x="3961312" y="2103120"/>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a:t>
            </a:r>
            <a:r>
              <a:rPr lang="en-US" noProof="0" dirty="0" err="1"/>
              <a:t>popo</a:t>
            </a:r>
            <a:endParaRPr lang="en-US" noProof="0" dirty="0"/>
          </a:p>
        </p:txBody>
      </p:sp>
      <p:sp>
        <p:nvSpPr>
          <p:cNvPr id="24" name="TextBox 23">
            <a:extLst>
              <a:ext uri="{FF2B5EF4-FFF2-40B4-BE49-F238E27FC236}">
                <a16:creationId xmlns:a16="http://schemas.microsoft.com/office/drawing/2014/main" id="{C933D5DD-A50A-B20C-4398-3738228FC548}"/>
              </a:ext>
            </a:extLst>
          </p:cNvPr>
          <p:cNvSpPr txBox="1"/>
          <p:nvPr/>
        </p:nvSpPr>
        <p:spPr>
          <a:xfrm>
            <a:off x="952194" y="1749641"/>
            <a:ext cx="4451475" cy="369332"/>
          </a:xfrm>
          <a:prstGeom prst="rect">
            <a:avLst/>
          </a:prstGeom>
          <a:noFill/>
        </p:spPr>
        <p:txBody>
          <a:bodyPr wrap="none" rtlCol="0">
            <a:spAutoFit/>
          </a:bodyPr>
          <a:lstStyle/>
          <a:p>
            <a:r>
              <a:rPr lang="en-US" noProof="0" dirty="0" err="1"/>
              <a:t>Postupna</a:t>
            </a:r>
            <a:r>
              <a:rPr lang="en-US" noProof="0" dirty="0"/>
              <a:t> </a:t>
            </a:r>
            <a:r>
              <a:rPr lang="en-US" noProof="0" dirty="0" err="1"/>
              <a:t>animace</a:t>
            </a:r>
            <a:r>
              <a:rPr lang="en-US" noProof="0" dirty="0"/>
              <a:t> s </a:t>
            </a:r>
            <a:r>
              <a:rPr lang="en-US" noProof="0" dirty="0" err="1"/>
              <a:t>neighborhoodama</a:t>
            </a:r>
            <a:r>
              <a:rPr lang="en-US" noProof="0" dirty="0"/>
              <a:t> </a:t>
            </a:r>
            <a:r>
              <a:rPr lang="en-US" noProof="0" dirty="0" err="1"/>
              <a:t>atd</a:t>
            </a:r>
            <a:endParaRPr lang="en-US" noProof="0" dirty="0"/>
          </a:p>
        </p:txBody>
      </p:sp>
      <p:sp>
        <p:nvSpPr>
          <p:cNvPr id="25" name="TextBox 24">
            <a:extLst>
              <a:ext uri="{FF2B5EF4-FFF2-40B4-BE49-F238E27FC236}">
                <a16:creationId xmlns:a16="http://schemas.microsoft.com/office/drawing/2014/main" id="{EA094E39-1AA2-CB10-8700-31B9B8149FD1}"/>
              </a:ext>
            </a:extLst>
          </p:cNvPr>
          <p:cNvSpPr txBox="1"/>
          <p:nvPr/>
        </p:nvSpPr>
        <p:spPr>
          <a:xfrm>
            <a:off x="5817326" y="1976846"/>
            <a:ext cx="830740" cy="369332"/>
          </a:xfrm>
          <a:prstGeom prst="rect">
            <a:avLst/>
          </a:prstGeom>
          <a:noFill/>
        </p:spPr>
        <p:txBody>
          <a:bodyPr wrap="none" rtlCol="0">
            <a:spAutoFit/>
          </a:bodyPr>
          <a:lstStyle/>
          <a:p>
            <a:r>
              <a:rPr lang="en-US" noProof="0" dirty="0" err="1"/>
              <a:t>moore</a:t>
            </a:r>
            <a:endParaRPr lang="en-US" noProof="0" dirty="0"/>
          </a:p>
        </p:txBody>
      </p:sp>
      <p:sp>
        <p:nvSpPr>
          <p:cNvPr id="26" name="TextBox 25">
            <a:extLst>
              <a:ext uri="{FF2B5EF4-FFF2-40B4-BE49-F238E27FC236}">
                <a16:creationId xmlns:a16="http://schemas.microsoft.com/office/drawing/2014/main" id="{0FB6A547-99C6-850C-697A-AFE4403BF041}"/>
              </a:ext>
            </a:extLst>
          </p:cNvPr>
          <p:cNvSpPr txBox="1"/>
          <p:nvPr/>
        </p:nvSpPr>
        <p:spPr>
          <a:xfrm>
            <a:off x="5843451" y="2542903"/>
            <a:ext cx="1135247" cy="369332"/>
          </a:xfrm>
          <a:prstGeom prst="rect">
            <a:avLst/>
          </a:prstGeom>
          <a:noFill/>
        </p:spPr>
        <p:txBody>
          <a:bodyPr wrap="none" rtlCol="0">
            <a:spAutoFit/>
          </a:bodyPr>
          <a:lstStyle/>
          <a:p>
            <a:r>
              <a:rPr lang="en-US" noProof="0" dirty="0" err="1"/>
              <a:t>neumann</a:t>
            </a:r>
            <a:endParaRPr lang="en-US" noProof="0" dirty="0"/>
          </a:p>
        </p:txBody>
      </p:sp>
      <p:sp>
        <p:nvSpPr>
          <p:cNvPr id="27" name="TextBox 26">
            <a:extLst>
              <a:ext uri="{FF2B5EF4-FFF2-40B4-BE49-F238E27FC236}">
                <a16:creationId xmlns:a16="http://schemas.microsoft.com/office/drawing/2014/main" id="{8C77B6F3-AE3D-AF55-8ED2-BC42EBF08953}"/>
              </a:ext>
            </a:extLst>
          </p:cNvPr>
          <p:cNvSpPr txBox="1"/>
          <p:nvPr/>
        </p:nvSpPr>
        <p:spPr>
          <a:xfrm>
            <a:off x="922411" y="3193648"/>
            <a:ext cx="3144492" cy="923330"/>
          </a:xfrm>
          <a:prstGeom prst="rect">
            <a:avLst/>
          </a:prstGeom>
          <a:noFill/>
        </p:spPr>
        <p:txBody>
          <a:bodyPr wrap="square" rtlCol="0">
            <a:spAutoFit/>
          </a:bodyPr>
          <a:lstStyle/>
          <a:p>
            <a:r>
              <a:rPr lang="en-US" noProof="0" dirty="0"/>
              <a:t>Matika </a:t>
            </a:r>
            <a:r>
              <a:rPr lang="en-US" noProof="0" dirty="0" err="1"/>
              <a:t>tady</a:t>
            </a:r>
            <a:r>
              <a:rPr lang="en-US" noProof="0" dirty="0"/>
              <a:t> </a:t>
            </a:r>
            <a:r>
              <a:rPr lang="en-US" noProof="0" dirty="0" err="1"/>
              <a:t>blikne</a:t>
            </a:r>
            <a:r>
              <a:rPr lang="en-US" noProof="0" dirty="0"/>
              <a:t> </a:t>
            </a:r>
            <a:r>
              <a:rPr lang="en-US" noProof="0" dirty="0" err="1"/>
              <a:t>kdyz</a:t>
            </a:r>
            <a:r>
              <a:rPr lang="en-US" noProof="0" dirty="0"/>
              <a:t> se </a:t>
            </a:r>
            <a:r>
              <a:rPr lang="en-US" noProof="0" dirty="0" err="1"/>
              <a:t>bude</a:t>
            </a:r>
            <a:r>
              <a:rPr lang="en-US" noProof="0" dirty="0"/>
              <a:t> </a:t>
            </a:r>
            <a:r>
              <a:rPr lang="en-US" noProof="0" dirty="0" err="1"/>
              <a:t>mluvit</a:t>
            </a:r>
            <a:r>
              <a:rPr lang="en-US" noProof="0" dirty="0"/>
              <a:t> o tech </a:t>
            </a:r>
            <a:r>
              <a:rPr lang="en-US" noProof="0" dirty="0" err="1"/>
              <a:t>pravidlech</a:t>
            </a:r>
            <a:br>
              <a:rPr lang="en-US" noProof="0" dirty="0"/>
            </a:br>
            <a:r>
              <a:rPr lang="en-US" noProof="0" dirty="0"/>
              <a:t>v </a:t>
            </a:r>
            <a:r>
              <a:rPr lang="en-US" noProof="0" dirty="0" err="1"/>
              <a:t>obr</a:t>
            </a:r>
            <a:r>
              <a:rPr lang="en-US" noProof="0" dirty="0"/>
              <a:t> </a:t>
            </a:r>
            <a:r>
              <a:rPr lang="en-US" noProof="0" dirty="0" err="1"/>
              <a:t>vyse</a:t>
            </a:r>
            <a:r>
              <a:rPr lang="en-US" noProof="0" dirty="0"/>
              <a:t> </a:t>
            </a:r>
            <a:r>
              <a:rPr lang="en-US" noProof="0" dirty="0" err="1"/>
              <a:t>vyznacenej</a:t>
            </a:r>
            <a:r>
              <a:rPr lang="en-US" noProof="0" dirty="0"/>
              <a:t> </a:t>
            </a:r>
            <a:r>
              <a:rPr lang="en-US" noProof="0" dirty="0" err="1"/>
              <a:t>effekt</a:t>
            </a:r>
            <a:endParaRPr lang="en-US" noProof="0" dirty="0"/>
          </a:p>
        </p:txBody>
      </p:sp>
      <p:sp>
        <p:nvSpPr>
          <p:cNvPr id="28" name="TextBox 27">
            <a:extLst>
              <a:ext uri="{FF2B5EF4-FFF2-40B4-BE49-F238E27FC236}">
                <a16:creationId xmlns:a16="http://schemas.microsoft.com/office/drawing/2014/main" id="{C52A3FBE-19B9-E73A-11F0-D0DCDDF5D89B}"/>
              </a:ext>
            </a:extLst>
          </p:cNvPr>
          <p:cNvSpPr txBox="1"/>
          <p:nvPr/>
        </p:nvSpPr>
        <p:spPr>
          <a:xfrm>
            <a:off x="10093235" y="2290354"/>
            <a:ext cx="2019300" cy="646331"/>
          </a:xfrm>
          <a:prstGeom prst="rect">
            <a:avLst/>
          </a:prstGeom>
          <a:noFill/>
        </p:spPr>
        <p:txBody>
          <a:bodyPr wrap="square" rtlCol="0">
            <a:spAutoFit/>
          </a:bodyPr>
          <a:lstStyle/>
          <a:p>
            <a:r>
              <a:rPr lang="en-US" noProof="0" dirty="0"/>
              <a:t>Very cool is bit plane encoding</a:t>
            </a:r>
          </a:p>
        </p:txBody>
      </p:sp>
      <p:sp>
        <p:nvSpPr>
          <p:cNvPr id="30" name="TextBox 29">
            <a:extLst>
              <a:ext uri="{FF2B5EF4-FFF2-40B4-BE49-F238E27FC236}">
                <a16:creationId xmlns:a16="http://schemas.microsoft.com/office/drawing/2014/main" id="{45E437EE-15DB-A18E-6B96-19C605DA1F63}"/>
              </a:ext>
            </a:extLst>
          </p:cNvPr>
          <p:cNvSpPr txBox="1"/>
          <p:nvPr/>
        </p:nvSpPr>
        <p:spPr>
          <a:xfrm>
            <a:off x="6329723" y="4365862"/>
            <a:ext cx="2019300" cy="646331"/>
          </a:xfrm>
          <a:prstGeom prst="rect">
            <a:avLst/>
          </a:prstGeom>
          <a:noFill/>
        </p:spPr>
        <p:txBody>
          <a:bodyPr wrap="square" rtlCol="0">
            <a:spAutoFit/>
          </a:bodyPr>
          <a:lstStyle/>
          <a:p>
            <a:r>
              <a:rPr lang="en-US" noProof="0" dirty="0"/>
              <a:t>Very cool is bit wise vectorization</a:t>
            </a:r>
          </a:p>
        </p:txBody>
      </p:sp>
      <p:sp>
        <p:nvSpPr>
          <p:cNvPr id="32" name="TextBox 31">
            <a:extLst>
              <a:ext uri="{FF2B5EF4-FFF2-40B4-BE49-F238E27FC236}">
                <a16:creationId xmlns:a16="http://schemas.microsoft.com/office/drawing/2014/main" id="{27728C73-1D4E-F3E1-BFD7-FC72CEE25592}"/>
              </a:ext>
            </a:extLst>
          </p:cNvPr>
          <p:cNvSpPr txBox="1"/>
          <p:nvPr/>
        </p:nvSpPr>
        <p:spPr>
          <a:xfrm>
            <a:off x="10276115" y="5375647"/>
            <a:ext cx="2019300" cy="646331"/>
          </a:xfrm>
          <a:prstGeom prst="rect">
            <a:avLst/>
          </a:prstGeom>
          <a:noFill/>
        </p:spPr>
        <p:txBody>
          <a:bodyPr wrap="square" rtlCol="0">
            <a:spAutoFit/>
          </a:bodyPr>
          <a:lstStyle/>
          <a:p>
            <a:r>
              <a:rPr lang="en-US" noProof="0" dirty="0"/>
              <a:t>Very cool is </a:t>
            </a:r>
            <a:r>
              <a:rPr lang="en-US" noProof="0" dirty="0" err="1"/>
              <a:t>gpu</a:t>
            </a:r>
            <a:r>
              <a:rPr lang="en-US" noProof="0" dirty="0"/>
              <a:t> </a:t>
            </a:r>
            <a:r>
              <a:rPr lang="en-US" noProof="0" dirty="0" err="1"/>
              <a:t>paralysation</a:t>
            </a:r>
            <a:endParaRPr lang="en-US" noProof="0" dirty="0"/>
          </a:p>
        </p:txBody>
      </p:sp>
      <p:sp>
        <p:nvSpPr>
          <p:cNvPr id="2" name="Date Placeholder 1">
            <a:extLst>
              <a:ext uri="{FF2B5EF4-FFF2-40B4-BE49-F238E27FC236}">
                <a16:creationId xmlns:a16="http://schemas.microsoft.com/office/drawing/2014/main" id="{07681815-8359-124C-8370-4C1D3746CB11}"/>
              </a:ext>
            </a:extLst>
          </p:cNvPr>
          <p:cNvSpPr>
            <a:spLocks noGrp="1"/>
          </p:cNvSpPr>
          <p:nvPr>
            <p:ph type="dt" sz="half" idx="10"/>
          </p:nvPr>
        </p:nvSpPr>
        <p:spPr/>
        <p:txBody>
          <a:bodyPr/>
          <a:lstStyle/>
          <a:p>
            <a:fld id="{3282519B-8553-4EB5-804E-C162E89AEEEB}" type="datetime1">
              <a:rPr lang="en-US" smtClean="0"/>
              <a:t>8/27/2026</a:t>
            </a:fld>
            <a:endParaRPr lang="en-US"/>
          </a:p>
        </p:txBody>
      </p:sp>
      <p:sp>
        <p:nvSpPr>
          <p:cNvPr id="3" name="Slide Number Placeholder 2">
            <a:extLst>
              <a:ext uri="{FF2B5EF4-FFF2-40B4-BE49-F238E27FC236}">
                <a16:creationId xmlns:a16="http://schemas.microsoft.com/office/drawing/2014/main" id="{9471A806-B349-E090-C5CD-05D07FE5EEBB}"/>
              </a:ext>
            </a:extLst>
          </p:cNvPr>
          <p:cNvSpPr>
            <a:spLocks noGrp="1"/>
          </p:cNvSpPr>
          <p:nvPr>
            <p:ph type="sldNum" sz="quarter" idx="12"/>
          </p:nvPr>
        </p:nvSpPr>
        <p:spPr/>
        <p:txBody>
          <a:bodyPr/>
          <a:lstStyle/>
          <a:p>
            <a:fld id="{DA0BB241-1B5F-4309-9407-9EEA04D9598D}" type="slidenum">
              <a:rPr lang="en-US" smtClean="0"/>
              <a:t>27</a:t>
            </a:fld>
            <a:endParaRPr lang="en-US"/>
          </a:p>
        </p:txBody>
      </p:sp>
    </p:spTree>
    <p:extLst>
      <p:ext uri="{BB962C8B-B14F-4D97-AF65-F5344CB8AC3E}">
        <p14:creationId xmlns:p14="http://schemas.microsoft.com/office/powerpoint/2010/main" val="32946456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43B47-263E-C46D-0276-B63FF60C41E2}"/>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AFF2A90F-7540-DC59-26EA-C4E197B07663}"/>
              </a:ext>
            </a:extLst>
          </p:cNvPr>
          <p:cNvSpPr>
            <a:spLocks noGrp="1"/>
          </p:cNvSpPr>
          <p:nvPr>
            <p:ph idx="1"/>
          </p:nvPr>
        </p:nvSpPr>
        <p:spPr/>
        <p:txBody>
          <a:bodyPr>
            <a:normAutofit lnSpcReduction="10000"/>
          </a:bodyPr>
          <a:lstStyle/>
          <a:p>
            <a:r>
              <a:rPr lang="en-US" noProof="0" dirty="0">
                <a:solidFill>
                  <a:schemeClr val="accent3"/>
                </a:solidFill>
              </a:rPr>
              <a:t>Data layout </a:t>
            </a:r>
            <a:r>
              <a:rPr lang="en-US" noProof="0" dirty="0"/>
              <a:t>(matrix - row/col major), </a:t>
            </a:r>
            <a:r>
              <a:rPr lang="en-US" noProof="0" dirty="0">
                <a:solidFill>
                  <a:schemeClr val="accent3"/>
                </a:solidFill>
              </a:rPr>
              <a:t>traversal order </a:t>
            </a:r>
            <a:r>
              <a:rPr lang="en-US" noProof="0" dirty="0"/>
              <a:t>(row/col-wise)</a:t>
            </a:r>
          </a:p>
          <a:p>
            <a:pPr lvl="1"/>
            <a:r>
              <a:rPr lang="en-US" noProof="0" dirty="0"/>
              <a:t>This case: match = good; not match = not good </a:t>
            </a:r>
            <a:r>
              <a:rPr lang="en-US" noProof="0" dirty="0">
                <a:sym typeface="Wingdings" panose="05000000000000000000" pitchFamily="2" charset="2"/>
              </a:rPr>
              <a:t> idea</a:t>
            </a:r>
            <a:endParaRPr lang="en-US" noProof="0" dirty="0"/>
          </a:p>
          <a:p>
            <a:pPr lvl="2"/>
            <a:r>
              <a:rPr lang="en-US" noProof="0" dirty="0">
                <a:solidFill>
                  <a:srgbClr val="FF0000"/>
                </a:solidFill>
              </a:rPr>
              <a:t>Sometimes can change both </a:t>
            </a:r>
          </a:p>
          <a:p>
            <a:pPr lvl="1"/>
            <a:r>
              <a:rPr lang="en-US" noProof="0" dirty="0"/>
              <a:t>Real use cases</a:t>
            </a:r>
          </a:p>
          <a:p>
            <a:pPr lvl="2"/>
            <a:r>
              <a:rPr lang="en-US" noProof="0" dirty="0"/>
              <a:t>Algorithms more complex; </a:t>
            </a:r>
            <a:r>
              <a:rPr lang="en-US" noProof="0" dirty="0" err="1"/>
              <a:t>eg</a:t>
            </a:r>
            <a:r>
              <a:rPr lang="en-US" noProof="0" dirty="0"/>
              <a:t>:</a:t>
            </a:r>
          </a:p>
          <a:p>
            <a:pPr lvl="3"/>
            <a:r>
              <a:rPr lang="en-US" noProof="0" dirty="0"/>
              <a:t>Multiple data structures</a:t>
            </a:r>
          </a:p>
          <a:p>
            <a:pPr lvl="3"/>
            <a:r>
              <a:rPr lang="en-US" noProof="0" dirty="0"/>
              <a:t>Traversals not simple perfect loop nests</a:t>
            </a:r>
          </a:p>
          <a:p>
            <a:pPr lvl="2"/>
            <a:r>
              <a:rPr lang="en-US" noProof="0" dirty="0"/>
              <a:t>Hardware many features; </a:t>
            </a:r>
            <a:r>
              <a:rPr lang="en-US" noProof="0" dirty="0" err="1"/>
              <a:t>eg</a:t>
            </a:r>
            <a:r>
              <a:rPr lang="en-US" noProof="0" dirty="0"/>
              <a:t>:</a:t>
            </a:r>
          </a:p>
          <a:p>
            <a:pPr lvl="3"/>
            <a:r>
              <a:rPr lang="en-US" noProof="0" dirty="0">
                <a:solidFill>
                  <a:schemeClr val="accent3"/>
                </a:solidFill>
              </a:rPr>
              <a:t>Caches</a:t>
            </a:r>
            <a:r>
              <a:rPr lang="en-US" noProof="0" dirty="0"/>
              <a:t>, memory bandwidths/capacities, etc.</a:t>
            </a:r>
          </a:p>
          <a:p>
            <a:pPr lvl="3"/>
            <a:r>
              <a:rPr lang="en-US" noProof="0" dirty="0"/>
              <a:t>Multiple proc. units</a:t>
            </a:r>
          </a:p>
          <a:p>
            <a:pPr lvl="2"/>
            <a:r>
              <a:rPr lang="en-US" noProof="0" dirty="0">
                <a:solidFill>
                  <a:schemeClr val="accent3"/>
                </a:solidFill>
              </a:rPr>
              <a:t>More optimized </a:t>
            </a:r>
            <a:r>
              <a:rPr lang="en-US" noProof="0" dirty="0">
                <a:solidFill>
                  <a:schemeClr val="accent3"/>
                </a:solidFill>
                <a:sym typeface="Wingdings" panose="05000000000000000000" pitchFamily="2" charset="2"/>
              </a:rPr>
              <a:t> more complex, less portable (each </a:t>
            </a:r>
            <a:r>
              <a:rPr lang="en-US" noProof="0" dirty="0" err="1">
                <a:solidFill>
                  <a:schemeClr val="accent3"/>
                </a:solidFill>
                <a:sym typeface="Wingdings" panose="05000000000000000000" pitchFamily="2" charset="2"/>
              </a:rPr>
              <a:t>hwarch</a:t>
            </a:r>
            <a:r>
              <a:rPr lang="en-US" noProof="0" dirty="0">
                <a:solidFill>
                  <a:schemeClr val="accent3"/>
                </a:solidFill>
                <a:sym typeface="Wingdings" panose="05000000000000000000" pitchFamily="2" charset="2"/>
              </a:rPr>
              <a:t> different decisions)</a:t>
            </a:r>
            <a:endParaRPr lang="en-US" noProof="0" dirty="0">
              <a:solidFill>
                <a:schemeClr val="accent3"/>
              </a:solidFill>
            </a:endParaRPr>
          </a:p>
          <a:p>
            <a:pPr lvl="2"/>
            <a:r>
              <a:rPr lang="en-US" noProof="0" dirty="0">
                <a:solidFill>
                  <a:schemeClr val="accent3"/>
                </a:solidFill>
              </a:rPr>
              <a:t>No analytical solutions – evidence: </a:t>
            </a:r>
            <a:r>
              <a:rPr lang="en-US" b="1" noProof="0" dirty="0">
                <a:solidFill>
                  <a:schemeClr val="accent3"/>
                </a:solidFill>
              </a:rPr>
              <a:t>use of </a:t>
            </a:r>
            <a:r>
              <a:rPr lang="en-US" b="1" noProof="0" dirty="0" err="1">
                <a:solidFill>
                  <a:schemeClr val="accent3"/>
                </a:solidFill>
              </a:rPr>
              <a:t>pgo</a:t>
            </a:r>
            <a:r>
              <a:rPr lang="en-US" b="1" noProof="0" dirty="0">
                <a:solidFill>
                  <a:schemeClr val="accent3"/>
                </a:solidFill>
              </a:rPr>
              <a:t>, autotuning, </a:t>
            </a:r>
            <a:r>
              <a:rPr lang="en-US" b="1" noProof="0" dirty="0" err="1">
                <a:solidFill>
                  <a:schemeClr val="accent3"/>
                </a:solidFill>
              </a:rPr>
              <a:t>ev</a:t>
            </a:r>
            <a:r>
              <a:rPr lang="en-US" b="1" noProof="0" dirty="0">
                <a:solidFill>
                  <a:schemeClr val="accent3"/>
                </a:solidFill>
              </a:rPr>
              <a:t>. alg., etc.</a:t>
            </a:r>
          </a:p>
          <a:p>
            <a:pPr lvl="1"/>
            <a:r>
              <a:rPr lang="en-US" noProof="0" dirty="0">
                <a:solidFill>
                  <a:srgbClr val="FF0000"/>
                </a:solidFill>
              </a:rPr>
              <a:t>Real-world data, dimensions ~~ semantic meaning (image x, y, channel)</a:t>
            </a:r>
          </a:p>
          <a:p>
            <a:pPr lvl="1"/>
            <a:endParaRPr lang="en-US" noProof="0" dirty="0"/>
          </a:p>
        </p:txBody>
      </p:sp>
      <p:sp>
        <p:nvSpPr>
          <p:cNvPr id="4" name="Date Placeholder 3">
            <a:extLst>
              <a:ext uri="{FF2B5EF4-FFF2-40B4-BE49-F238E27FC236}">
                <a16:creationId xmlns:a16="http://schemas.microsoft.com/office/drawing/2014/main" id="{F5D4A76B-FF14-0C89-B12C-76FCA4CD9024}"/>
              </a:ext>
            </a:extLst>
          </p:cNvPr>
          <p:cNvSpPr>
            <a:spLocks noGrp="1"/>
          </p:cNvSpPr>
          <p:nvPr>
            <p:ph type="dt" sz="half" idx="10"/>
          </p:nvPr>
        </p:nvSpPr>
        <p:spPr/>
        <p:txBody>
          <a:bodyPr/>
          <a:lstStyle/>
          <a:p>
            <a:fld id="{45E36CB7-A93D-43BE-8BB6-C052593CEBF8}" type="datetime1">
              <a:rPr lang="en-US" smtClean="0"/>
              <a:t>8/27/2026</a:t>
            </a:fld>
            <a:endParaRPr lang="en-US"/>
          </a:p>
        </p:txBody>
      </p:sp>
      <p:sp>
        <p:nvSpPr>
          <p:cNvPr id="5" name="Slide Number Placeholder 4">
            <a:extLst>
              <a:ext uri="{FF2B5EF4-FFF2-40B4-BE49-F238E27FC236}">
                <a16:creationId xmlns:a16="http://schemas.microsoft.com/office/drawing/2014/main" id="{8A27046C-AF6B-0019-EA35-060F375AFBB7}"/>
              </a:ext>
            </a:extLst>
          </p:cNvPr>
          <p:cNvSpPr>
            <a:spLocks noGrp="1"/>
          </p:cNvSpPr>
          <p:nvPr>
            <p:ph type="sldNum" sz="quarter" idx="12"/>
          </p:nvPr>
        </p:nvSpPr>
        <p:spPr/>
        <p:txBody>
          <a:bodyPr/>
          <a:lstStyle/>
          <a:p>
            <a:fld id="{DA0BB241-1B5F-4309-9407-9EEA04D9598D}" type="slidenum">
              <a:rPr lang="en-US" smtClean="0"/>
              <a:t>28</a:t>
            </a:fld>
            <a:endParaRPr lang="en-US"/>
          </a:p>
        </p:txBody>
      </p:sp>
    </p:spTree>
    <p:extLst>
      <p:ext uri="{BB962C8B-B14F-4D97-AF65-F5344CB8AC3E}">
        <p14:creationId xmlns:p14="http://schemas.microsoft.com/office/powerpoint/2010/main" val="34915964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6C07C-65B7-F09E-1FC3-13A2803F54CE}"/>
              </a:ext>
            </a:extLst>
          </p:cNvPr>
          <p:cNvSpPr>
            <a:spLocks noGrp="1"/>
          </p:cNvSpPr>
          <p:nvPr>
            <p:ph type="title"/>
          </p:nvPr>
        </p:nvSpPr>
        <p:spPr/>
        <p:txBody>
          <a:bodyPr>
            <a:normAutofit/>
          </a:bodyPr>
          <a:lstStyle/>
          <a:p>
            <a:r>
              <a:rPr lang="en-US" noProof="0" dirty="0"/>
              <a:t>Automatization and simplification</a:t>
            </a:r>
            <a:endParaRPr lang="en-US" noProof="0" dirty="0">
              <a:solidFill>
                <a:schemeClr val="accent5">
                  <a:lumMod val="75000"/>
                </a:schemeClr>
              </a:solidFill>
            </a:endParaRPr>
          </a:p>
        </p:txBody>
      </p:sp>
      <p:sp>
        <p:nvSpPr>
          <p:cNvPr id="3" name="Content Placeholder 2">
            <a:extLst>
              <a:ext uri="{FF2B5EF4-FFF2-40B4-BE49-F238E27FC236}">
                <a16:creationId xmlns:a16="http://schemas.microsoft.com/office/drawing/2014/main" id="{E0A72CA4-DE0C-C168-CA4C-3E1D449376E7}"/>
              </a:ext>
            </a:extLst>
          </p:cNvPr>
          <p:cNvSpPr>
            <a:spLocks noGrp="1"/>
          </p:cNvSpPr>
          <p:nvPr>
            <p:ph idx="1"/>
          </p:nvPr>
        </p:nvSpPr>
        <p:spPr/>
        <p:txBody>
          <a:bodyPr/>
          <a:lstStyle/>
          <a:p>
            <a:pPr marL="514350" indent="-514350">
              <a:buFont typeface="+mj-lt"/>
              <a:buAutoNum type="arabicPeriod"/>
            </a:pPr>
            <a:r>
              <a:rPr lang="en-US" noProof="0" dirty="0"/>
              <a:t>Abstraction with swappable building blocks</a:t>
            </a:r>
          </a:p>
          <a:p>
            <a:pPr lvl="1"/>
            <a:r>
              <a:rPr lang="en-US" noProof="0" dirty="0"/>
              <a:t>Autotuning chooses the bb</a:t>
            </a:r>
          </a:p>
          <a:p>
            <a:pPr lvl="1"/>
            <a:r>
              <a:rPr lang="en-US" noProof="0" dirty="0"/>
              <a:t>Layout-agnosticism; traversal-agnosticism</a:t>
            </a:r>
          </a:p>
          <a:p>
            <a:pPr marL="514350" indent="-514350">
              <a:buFont typeface="+mj-lt"/>
              <a:buAutoNum type="arabicPeriod"/>
            </a:pPr>
            <a:endParaRPr lang="en-US" noProof="0" dirty="0"/>
          </a:p>
          <a:p>
            <a:pPr marL="514350" indent="-514350">
              <a:buFont typeface="+mj-lt"/>
              <a:buAutoNum type="arabicPeriod"/>
            </a:pPr>
            <a:endParaRPr lang="en-US" noProof="0" dirty="0"/>
          </a:p>
          <a:p>
            <a:pPr marL="514350" indent="-514350">
              <a:buFont typeface="+mj-lt"/>
              <a:buAutoNum type="arabicPeriod"/>
            </a:pPr>
            <a:r>
              <a:rPr lang="en-US" noProof="0" dirty="0"/>
              <a:t>LLMs</a:t>
            </a:r>
          </a:p>
          <a:p>
            <a:pPr lvl="1"/>
            <a:r>
              <a:rPr lang="en-US" noProof="0" dirty="0"/>
              <a:t>First phase: the API is fixed, AI can do the magic</a:t>
            </a:r>
          </a:p>
          <a:p>
            <a:pPr lvl="1"/>
            <a:r>
              <a:rPr lang="en-US" noProof="0" dirty="0"/>
              <a:t>Second phase: how to improve the magic? Do the abstractions help?</a:t>
            </a:r>
          </a:p>
          <a:p>
            <a:pPr lvl="1"/>
            <a:endParaRPr lang="en-US" noProof="0" dirty="0"/>
          </a:p>
        </p:txBody>
      </p:sp>
      <p:sp>
        <p:nvSpPr>
          <p:cNvPr id="4" name="Date Placeholder 3">
            <a:extLst>
              <a:ext uri="{FF2B5EF4-FFF2-40B4-BE49-F238E27FC236}">
                <a16:creationId xmlns:a16="http://schemas.microsoft.com/office/drawing/2014/main" id="{23E74252-8DBD-C1B4-1A76-AEEFDDD22C1D}"/>
              </a:ext>
            </a:extLst>
          </p:cNvPr>
          <p:cNvSpPr>
            <a:spLocks noGrp="1"/>
          </p:cNvSpPr>
          <p:nvPr>
            <p:ph type="dt" sz="half" idx="10"/>
          </p:nvPr>
        </p:nvSpPr>
        <p:spPr/>
        <p:txBody>
          <a:bodyPr/>
          <a:lstStyle/>
          <a:p>
            <a:fld id="{30885205-738E-4A4A-8BB1-8BAC2707FAE8}" type="datetime1">
              <a:rPr lang="en-US" smtClean="0"/>
              <a:t>8/27/2026</a:t>
            </a:fld>
            <a:endParaRPr lang="en-US"/>
          </a:p>
        </p:txBody>
      </p:sp>
      <p:sp>
        <p:nvSpPr>
          <p:cNvPr id="5" name="Slide Number Placeholder 4">
            <a:extLst>
              <a:ext uri="{FF2B5EF4-FFF2-40B4-BE49-F238E27FC236}">
                <a16:creationId xmlns:a16="http://schemas.microsoft.com/office/drawing/2014/main" id="{9FA13F20-EB2D-11CA-80CE-D4F601B7A088}"/>
              </a:ext>
            </a:extLst>
          </p:cNvPr>
          <p:cNvSpPr>
            <a:spLocks noGrp="1"/>
          </p:cNvSpPr>
          <p:nvPr>
            <p:ph type="sldNum" sz="quarter" idx="12"/>
          </p:nvPr>
        </p:nvSpPr>
        <p:spPr/>
        <p:txBody>
          <a:bodyPr/>
          <a:lstStyle/>
          <a:p>
            <a:fld id="{DA0BB241-1B5F-4309-9407-9EEA04D9598D}" type="slidenum">
              <a:rPr lang="en-US" smtClean="0"/>
              <a:t>29</a:t>
            </a:fld>
            <a:endParaRPr lang="en-US"/>
          </a:p>
        </p:txBody>
      </p:sp>
    </p:spTree>
    <p:extLst>
      <p:ext uri="{BB962C8B-B14F-4D97-AF65-F5344CB8AC3E}">
        <p14:creationId xmlns:p14="http://schemas.microsoft.com/office/powerpoint/2010/main" val="1294901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86C2A-DE9D-7966-AEFE-4393C57CF5AE}"/>
              </a:ext>
            </a:extLst>
          </p:cNvPr>
          <p:cNvSpPr>
            <a:spLocks noGrp="1"/>
          </p:cNvSpPr>
          <p:nvPr>
            <p:ph type="title"/>
          </p:nvPr>
        </p:nvSpPr>
        <p:spPr/>
        <p:txBody>
          <a:bodyPr/>
          <a:lstStyle/>
          <a:p>
            <a:r>
              <a:rPr lang="en-US" noProof="0" dirty="0"/>
              <a:t>Small step: ?? layout agnostic design</a:t>
            </a:r>
          </a:p>
        </p:txBody>
      </p:sp>
      <p:sp>
        <p:nvSpPr>
          <p:cNvPr id="3" name="Content Placeholder 2">
            <a:extLst>
              <a:ext uri="{FF2B5EF4-FFF2-40B4-BE49-F238E27FC236}">
                <a16:creationId xmlns:a16="http://schemas.microsoft.com/office/drawing/2014/main" id="{003AA056-645F-427D-52A3-1F81FFA685BA}"/>
              </a:ext>
            </a:extLst>
          </p:cNvPr>
          <p:cNvSpPr>
            <a:spLocks noGrp="1"/>
          </p:cNvSpPr>
          <p:nvPr>
            <p:ph idx="1"/>
          </p:nvPr>
        </p:nvSpPr>
        <p:spPr/>
        <p:txBody>
          <a:bodyPr>
            <a:normAutofit/>
          </a:bodyPr>
          <a:lstStyle/>
          <a:p>
            <a:r>
              <a:rPr lang="en-US" noProof="0" dirty="0"/>
              <a:t>For a fixed </a:t>
            </a:r>
            <a:r>
              <a:rPr lang="en-US" noProof="0" dirty="0" err="1"/>
              <a:t>algorithm+traversal</a:t>
            </a:r>
            <a:r>
              <a:rPr lang="en-US" noProof="0" dirty="0"/>
              <a:t>, allow different layouts</a:t>
            </a:r>
          </a:p>
          <a:p>
            <a:pPr lvl="1"/>
            <a:r>
              <a:rPr lang="en-US" noProof="0" dirty="0"/>
              <a:t>Not entirely new idea: </a:t>
            </a:r>
            <a:r>
              <a:rPr lang="en-US" noProof="0" dirty="0" err="1"/>
              <a:t>Kokkoss</a:t>
            </a:r>
            <a:r>
              <a:rPr lang="en-US" noProof="0" dirty="0"/>
              <a:t>::View, </a:t>
            </a:r>
            <a:r>
              <a:rPr lang="en-US" noProof="0" dirty="0" err="1"/>
              <a:t>numpy.ndarray</a:t>
            </a:r>
            <a:r>
              <a:rPr lang="en-US" noProof="0" dirty="0"/>
              <a:t>, many others</a:t>
            </a:r>
          </a:p>
          <a:p>
            <a:r>
              <a:rPr lang="en-US" noProof="0" dirty="0" err="1"/>
              <a:t>Noarr</a:t>
            </a:r>
            <a:r>
              <a:rPr lang="en-US" noProof="0" dirty="0"/>
              <a:t> Structures</a:t>
            </a:r>
          </a:p>
          <a:p>
            <a:pPr lvl="1"/>
            <a:r>
              <a:rPr lang="en-US" noProof="0" dirty="0"/>
              <a:t>Abstraction for building &amp; transforming layouts</a:t>
            </a:r>
          </a:p>
          <a:p>
            <a:pPr lvl="2"/>
            <a:r>
              <a:rPr lang="en-US" noProof="0" dirty="0"/>
              <a:t>Separated from memory management </a:t>
            </a:r>
            <a:r>
              <a:rPr lang="en-US" noProof="0" dirty="0">
                <a:sym typeface="Wingdings" panose="05000000000000000000" pitchFamily="2" charset="2"/>
              </a:rPr>
              <a:t> can be paired with </a:t>
            </a:r>
            <a:r>
              <a:rPr lang="en-US" noProof="0" dirty="0" err="1">
                <a:sym typeface="Wingdings" panose="05000000000000000000" pitchFamily="2" charset="2"/>
              </a:rPr>
              <a:t>mmap</a:t>
            </a:r>
            <a:r>
              <a:rPr lang="en-US" noProof="0" dirty="0">
                <a:sym typeface="Wingdings" panose="05000000000000000000" pitchFamily="2" charset="2"/>
              </a:rPr>
              <a:t>, __shared__</a:t>
            </a:r>
            <a:endParaRPr lang="en-US" noProof="0" dirty="0"/>
          </a:p>
          <a:p>
            <a:pPr lvl="1"/>
            <a:r>
              <a:rPr lang="en-US" noProof="0" dirty="0"/>
              <a:t>Effortless static extents </a:t>
            </a:r>
            <a:r>
              <a:rPr lang="en-US" noProof="0" dirty="0">
                <a:sym typeface="Wingdings" panose="05000000000000000000" pitchFamily="2" charset="2"/>
              </a:rPr>
              <a:t> better compiler optimizations, faster</a:t>
            </a:r>
          </a:p>
          <a:p>
            <a:pPr lvl="2"/>
            <a:r>
              <a:rPr lang="en-US" noProof="0" dirty="0"/>
              <a:t>Static parameters encoded in type (no overhead until used)</a:t>
            </a:r>
          </a:p>
          <a:p>
            <a:pPr lvl="1"/>
            <a:r>
              <a:rPr lang="en-US" noProof="0" dirty="0"/>
              <a:t>Based on functional composition algebra </a:t>
            </a:r>
            <a:r>
              <a:rPr lang="en-US" noProof="0" dirty="0">
                <a:sym typeface="Wingdings" panose="05000000000000000000" pitchFamily="2" charset="2"/>
              </a:rPr>
              <a:t> easily extensible/reusable</a:t>
            </a:r>
            <a:endParaRPr lang="en-US" noProof="0" dirty="0"/>
          </a:p>
          <a:p>
            <a:pPr lvl="2"/>
            <a:r>
              <a:rPr lang="en-US" noProof="0" dirty="0"/>
              <a:t>Unlike std::</a:t>
            </a:r>
            <a:r>
              <a:rPr lang="en-US" noProof="0" dirty="0" err="1"/>
              <a:t>mdspan</a:t>
            </a:r>
            <a:r>
              <a:rPr lang="en-US" noProof="0" dirty="0"/>
              <a:t> or </a:t>
            </a:r>
            <a:r>
              <a:rPr lang="en-US" noProof="0" dirty="0" err="1"/>
              <a:t>Kokkos</a:t>
            </a:r>
            <a:r>
              <a:rPr lang="en-US" noProof="0" dirty="0"/>
              <a:t>::View, others</a:t>
            </a:r>
          </a:p>
          <a:p>
            <a:pPr lvl="2"/>
            <a:r>
              <a:rPr lang="en-US" noProof="0" dirty="0"/>
              <a:t>Later adopted by CUTLASS </a:t>
            </a:r>
            <a:r>
              <a:rPr lang="en-US" noProof="0" dirty="0" err="1"/>
              <a:t>CUTe</a:t>
            </a:r>
            <a:endParaRPr lang="en-US" noProof="0" dirty="0"/>
          </a:p>
          <a:p>
            <a:pPr lvl="1"/>
            <a:r>
              <a:rPr lang="en-US" noProof="0" dirty="0"/>
              <a:t>Named dimensions </a:t>
            </a:r>
            <a:r>
              <a:rPr lang="en-US" noProof="0" dirty="0">
                <a:sym typeface="Wingdings" panose="05000000000000000000" pitchFamily="2" charset="2"/>
              </a:rPr>
              <a:t> reasonable API</a:t>
            </a:r>
            <a:endParaRPr lang="en-US" noProof="0" dirty="0"/>
          </a:p>
        </p:txBody>
      </p:sp>
      <p:sp>
        <p:nvSpPr>
          <p:cNvPr id="4" name="Date Placeholder 3">
            <a:extLst>
              <a:ext uri="{FF2B5EF4-FFF2-40B4-BE49-F238E27FC236}">
                <a16:creationId xmlns:a16="http://schemas.microsoft.com/office/drawing/2014/main" id="{0FB181F6-1EB6-B8C6-9F85-14E11ED62498}"/>
              </a:ext>
            </a:extLst>
          </p:cNvPr>
          <p:cNvSpPr>
            <a:spLocks noGrp="1"/>
          </p:cNvSpPr>
          <p:nvPr>
            <p:ph type="dt" sz="half" idx="10"/>
          </p:nvPr>
        </p:nvSpPr>
        <p:spPr/>
        <p:txBody>
          <a:bodyPr/>
          <a:lstStyle/>
          <a:p>
            <a:fld id="{DD030E09-6E2C-4368-9FBA-17C16E68A1B0}" type="datetime1">
              <a:rPr lang="en-US" smtClean="0"/>
              <a:t>8/27/2026</a:t>
            </a:fld>
            <a:endParaRPr lang="en-US"/>
          </a:p>
        </p:txBody>
      </p:sp>
      <p:sp>
        <p:nvSpPr>
          <p:cNvPr id="5" name="Slide Number Placeholder 4">
            <a:extLst>
              <a:ext uri="{FF2B5EF4-FFF2-40B4-BE49-F238E27FC236}">
                <a16:creationId xmlns:a16="http://schemas.microsoft.com/office/drawing/2014/main" id="{69B2FE39-9D33-A6A3-4A83-969FB2F79FA3}"/>
              </a:ext>
            </a:extLst>
          </p:cNvPr>
          <p:cNvSpPr>
            <a:spLocks noGrp="1"/>
          </p:cNvSpPr>
          <p:nvPr>
            <p:ph type="sldNum" sz="quarter" idx="12"/>
          </p:nvPr>
        </p:nvSpPr>
        <p:spPr/>
        <p:txBody>
          <a:bodyPr/>
          <a:lstStyle/>
          <a:p>
            <a:fld id="{DA0BB241-1B5F-4309-9407-9EEA04D9598D}" type="slidenum">
              <a:rPr lang="en-US" smtClean="0"/>
              <a:t>30</a:t>
            </a:fld>
            <a:endParaRPr lang="en-US"/>
          </a:p>
        </p:txBody>
      </p:sp>
    </p:spTree>
    <p:extLst>
      <p:ext uri="{BB962C8B-B14F-4D97-AF65-F5344CB8AC3E}">
        <p14:creationId xmlns:p14="http://schemas.microsoft.com/office/powerpoint/2010/main" val="33297061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32D1F9-8796-FADC-F301-4DC1CDABBDE5}"/>
              </a:ext>
            </a:extLst>
          </p:cNvPr>
          <p:cNvSpPr>
            <a:spLocks noGrp="1"/>
          </p:cNvSpPr>
          <p:nvPr>
            <p:ph type="title"/>
          </p:nvPr>
        </p:nvSpPr>
        <p:spPr/>
        <p:txBody>
          <a:bodyPr/>
          <a:lstStyle/>
          <a:p>
            <a:r>
              <a:rPr lang="en-US" noProof="0" dirty="0"/>
              <a:t>Layout- and Traversal-agnostic design</a:t>
            </a:r>
          </a:p>
        </p:txBody>
      </p:sp>
      <p:sp>
        <p:nvSpPr>
          <p:cNvPr id="7" name="TextBox 6">
            <a:extLst>
              <a:ext uri="{FF2B5EF4-FFF2-40B4-BE49-F238E27FC236}">
                <a16:creationId xmlns:a16="http://schemas.microsoft.com/office/drawing/2014/main" id="{0CF186D6-25A7-ABCC-FC6B-5488C25449EB}"/>
              </a:ext>
            </a:extLst>
          </p:cNvPr>
          <p:cNvSpPr txBox="1"/>
          <p:nvPr/>
        </p:nvSpPr>
        <p:spPr>
          <a:xfrm>
            <a:off x="458758" y="1685833"/>
            <a:ext cx="5322570" cy="2095061"/>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11" name="TextBox 10">
            <a:extLst>
              <a:ext uri="{FF2B5EF4-FFF2-40B4-BE49-F238E27FC236}">
                <a16:creationId xmlns:a16="http://schemas.microsoft.com/office/drawing/2014/main" id="{4418C5DE-B552-F324-0BF5-F984480C4846}"/>
              </a:ext>
            </a:extLst>
          </p:cNvPr>
          <p:cNvSpPr txBox="1"/>
          <p:nvPr/>
        </p:nvSpPr>
        <p:spPr>
          <a:xfrm>
            <a:off x="6266583" y="4459386"/>
            <a:ext cx="5322570" cy="1912447"/>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267F99"/>
                </a:solidFill>
                <a:effectLst/>
                <a:latin typeface="Fira Code" panose="020B0809050000020004" pitchFamily="49" charset="0"/>
              </a:rPr>
              <a:t>Traversal</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order</a:t>
            </a:r>
            <a:r>
              <a:rPr lang="en-US" sz="1050" b="0" noProof="0" dirty="0">
                <a:solidFill>
                  <a:srgbClr val="000000"/>
                </a:solidFill>
                <a:effectLst/>
                <a:latin typeface="Fira Code" panose="020B0809050000020004" pitchFamily="49" charset="0"/>
              </a:rPr>
              <a:t>(</a:t>
            </a:r>
            <a:r>
              <a:rPr lang="en-US" sz="1050" b="0" noProof="0" dirty="0" err="1">
                <a:solidFill>
                  <a:srgbClr val="267F99"/>
                </a:solidFill>
                <a:effectLst/>
                <a:latin typeface="Fira Code" panose="020B0809050000020004" pitchFamily="49" charset="0"/>
              </a:rPr>
              <a:t>ByTiles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noProof="0" dirty="0">
                <a:solidFill>
                  <a:srgbClr val="098658"/>
                </a:solidFill>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noProof="0" dirty="0">
                <a:solidFill>
                  <a:srgbClr val="098658"/>
                </a:solidFill>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for_each</a:t>
            </a:r>
            <a:r>
              <a:rPr lang="en-US" sz="1050" noProof="0" dirty="0">
                <a:solidFill>
                  <a:srgbClr val="000000"/>
                </a:solidFill>
                <a:latin typeface="Fira Code" panose="020B0809050000020004" pitchFamily="49" charset="0"/>
              </a:rPr>
              <a:t>(</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b="0" noProof="0" dirty="0">
                <a:solidFill>
                  <a:srgbClr val="000000"/>
                </a:solidFill>
                <a:effectLst/>
                <a:latin typeface="Fira Code" panose="020B0809050000020004" pitchFamily="49" charset="0"/>
              </a:rPr>
              <a:t>[&amp;](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b="0" noProof="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B84D94B0-4678-CCB0-75F4-4E127B361C61}"/>
              </a:ext>
            </a:extLst>
          </p:cNvPr>
          <p:cNvSpPr txBox="1"/>
          <p:nvPr/>
        </p:nvSpPr>
        <p:spPr>
          <a:xfrm>
            <a:off x="6266583" y="2082598"/>
            <a:ext cx="4981401" cy="816762"/>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accessC</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accessA</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accessB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19" name="TextBox 18">
            <a:extLst>
              <a:ext uri="{FF2B5EF4-FFF2-40B4-BE49-F238E27FC236}">
                <a16:creationId xmlns:a16="http://schemas.microsoft.com/office/drawing/2014/main" id="{6BB35EA4-A471-A6FC-E9D0-7054843CDA81}"/>
              </a:ext>
            </a:extLst>
          </p:cNvPr>
          <p:cNvSpPr txBox="1"/>
          <p:nvPr/>
        </p:nvSpPr>
        <p:spPr>
          <a:xfrm>
            <a:off x="550203" y="4824615"/>
            <a:ext cx="3847230" cy="1181990"/>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RowMajor</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ColMajor</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98658"/>
                </a:solidFill>
                <a:effectLst/>
                <a:latin typeface="Fira Code" panose="020B0809050000020004" pitchFamily="49" charset="0"/>
              </a:rPr>
              <a:t>4</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5</a:t>
            </a:r>
            <a:r>
              <a:rPr lang="en-US" sz="1050" b="0" noProof="0" dirty="0">
                <a:solidFill>
                  <a:srgbClr val="000000"/>
                </a:solidFill>
                <a:effectLst/>
                <a:latin typeface="Fira Code" panose="020B0809050000020004" pitchFamily="49" charset="0"/>
              </a:rPr>
              <a:t>);</a:t>
            </a:r>
          </a:p>
          <a:p>
            <a:pPr>
              <a:lnSpc>
                <a:spcPct val="113095"/>
              </a:lnSpc>
              <a:buNone/>
            </a:pPr>
            <a:endParaRPr lang="en-US" sz="1050" b="0" noProof="0" dirty="0">
              <a:solidFill>
                <a:srgbClr val="001080"/>
              </a:solidFill>
              <a:effectLst/>
              <a:latin typeface="Fira Code" panose="020B0809050000020004" pitchFamily="49" charset="0"/>
            </a:endParaRPr>
          </a:p>
          <a:p>
            <a:pPr>
              <a:lnSpc>
                <a:spcPct val="113095"/>
              </a:lnSpc>
              <a:buNone/>
            </a:pPr>
            <a:r>
              <a:rPr lang="en-US" sz="1050" b="0" noProof="0" dirty="0" err="1">
                <a:solidFill>
                  <a:srgbClr val="001080"/>
                </a:solidFill>
                <a:effectLst/>
                <a:latin typeface="Fira Code" panose="020B0809050000020004" pitchFamily="49" charset="0"/>
              </a:rPr>
              <a:t>RowMajor</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ColMajor</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a:t>
            </a:r>
          </a:p>
        </p:txBody>
      </p:sp>
      <p:sp>
        <p:nvSpPr>
          <p:cNvPr id="3" name="Date Placeholder 2">
            <a:extLst>
              <a:ext uri="{FF2B5EF4-FFF2-40B4-BE49-F238E27FC236}">
                <a16:creationId xmlns:a16="http://schemas.microsoft.com/office/drawing/2014/main" id="{4188D2D6-28C0-5938-1C8F-35390B8137B9}"/>
              </a:ext>
            </a:extLst>
          </p:cNvPr>
          <p:cNvSpPr>
            <a:spLocks noGrp="1"/>
          </p:cNvSpPr>
          <p:nvPr>
            <p:ph type="dt" sz="half" idx="10"/>
          </p:nvPr>
        </p:nvSpPr>
        <p:spPr/>
        <p:txBody>
          <a:bodyPr/>
          <a:lstStyle/>
          <a:p>
            <a:fld id="{6F744CC8-C10C-4EAA-A7F7-D06B365ADE34}" type="datetime1">
              <a:rPr lang="en-US" smtClean="0"/>
              <a:t>8/27/2026</a:t>
            </a:fld>
            <a:endParaRPr lang="en-US"/>
          </a:p>
        </p:txBody>
      </p:sp>
      <p:sp>
        <p:nvSpPr>
          <p:cNvPr id="4" name="Slide Number Placeholder 3">
            <a:extLst>
              <a:ext uri="{FF2B5EF4-FFF2-40B4-BE49-F238E27FC236}">
                <a16:creationId xmlns:a16="http://schemas.microsoft.com/office/drawing/2014/main" id="{36917E71-FA94-BADC-BDF0-12CE6F9CAFE0}"/>
              </a:ext>
            </a:extLst>
          </p:cNvPr>
          <p:cNvSpPr>
            <a:spLocks noGrp="1"/>
          </p:cNvSpPr>
          <p:nvPr>
            <p:ph type="sldNum" sz="quarter" idx="12"/>
          </p:nvPr>
        </p:nvSpPr>
        <p:spPr/>
        <p:txBody>
          <a:bodyPr/>
          <a:lstStyle/>
          <a:p>
            <a:fld id="{DA0BB241-1B5F-4309-9407-9EEA04D9598D}" type="slidenum">
              <a:rPr lang="en-US" smtClean="0"/>
              <a:t>31</a:t>
            </a:fld>
            <a:endParaRPr lang="en-US"/>
          </a:p>
        </p:txBody>
      </p:sp>
    </p:spTree>
    <p:extLst>
      <p:ext uri="{BB962C8B-B14F-4D97-AF65-F5344CB8AC3E}">
        <p14:creationId xmlns:p14="http://schemas.microsoft.com/office/powerpoint/2010/main" val="24478208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4BCE46-A1EC-E0ED-AC97-840E25FF6D77}"/>
              </a:ext>
            </a:extLst>
          </p:cNvPr>
          <p:cNvSpPr>
            <a:spLocks noGrp="1"/>
          </p:cNvSpPr>
          <p:nvPr>
            <p:ph type="title"/>
          </p:nvPr>
        </p:nvSpPr>
        <p:spPr/>
        <p:txBody>
          <a:bodyPr/>
          <a:lstStyle/>
          <a:p>
            <a:endParaRPr lang="en-US" noProof="0" dirty="0"/>
          </a:p>
        </p:txBody>
      </p:sp>
      <p:sp>
        <p:nvSpPr>
          <p:cNvPr id="3" name="TextBox 2">
            <a:extLst>
              <a:ext uri="{FF2B5EF4-FFF2-40B4-BE49-F238E27FC236}">
                <a16:creationId xmlns:a16="http://schemas.microsoft.com/office/drawing/2014/main" id="{629B92EA-18C5-91B8-17E4-8C208B626182}"/>
              </a:ext>
            </a:extLst>
          </p:cNvPr>
          <p:cNvSpPr txBox="1"/>
          <p:nvPr/>
        </p:nvSpPr>
        <p:spPr>
          <a:xfrm flipH="1">
            <a:off x="2050677" y="1690688"/>
            <a:ext cx="1661161" cy="369332"/>
          </a:xfrm>
          <a:prstGeom prst="rect">
            <a:avLst/>
          </a:prstGeom>
          <a:noFill/>
        </p:spPr>
        <p:txBody>
          <a:bodyPr wrap="square" rtlCol="0">
            <a:spAutoFit/>
          </a:bodyPr>
          <a:lstStyle/>
          <a:p>
            <a:r>
              <a:rPr lang="en-US" noProof="0" dirty="0"/>
              <a:t>Data structure</a:t>
            </a:r>
          </a:p>
        </p:txBody>
      </p:sp>
      <p:sp>
        <p:nvSpPr>
          <p:cNvPr id="4" name="Rectangle 3">
            <a:extLst>
              <a:ext uri="{FF2B5EF4-FFF2-40B4-BE49-F238E27FC236}">
                <a16:creationId xmlns:a16="http://schemas.microsoft.com/office/drawing/2014/main" id="{CE7066CE-152D-0539-30CA-144DED4F4285}"/>
              </a:ext>
            </a:extLst>
          </p:cNvPr>
          <p:cNvSpPr/>
          <p:nvPr/>
        </p:nvSpPr>
        <p:spPr>
          <a:xfrm>
            <a:off x="378632" y="3364129"/>
            <a:ext cx="1445623" cy="13255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TextBox 5">
            <a:extLst>
              <a:ext uri="{FF2B5EF4-FFF2-40B4-BE49-F238E27FC236}">
                <a16:creationId xmlns:a16="http://schemas.microsoft.com/office/drawing/2014/main" id="{393197E7-99FA-072A-2FBF-784590A75ED3}"/>
              </a:ext>
            </a:extLst>
          </p:cNvPr>
          <p:cNvSpPr txBox="1"/>
          <p:nvPr/>
        </p:nvSpPr>
        <p:spPr>
          <a:xfrm flipH="1">
            <a:off x="206634" y="2994797"/>
            <a:ext cx="2033456" cy="369332"/>
          </a:xfrm>
          <a:prstGeom prst="rect">
            <a:avLst/>
          </a:prstGeom>
          <a:noFill/>
        </p:spPr>
        <p:txBody>
          <a:bodyPr wrap="square" rtlCol="0">
            <a:spAutoFit/>
          </a:bodyPr>
          <a:lstStyle/>
          <a:p>
            <a:r>
              <a:rPr lang="en-US" noProof="0" dirty="0"/>
              <a:t>Logical structure</a:t>
            </a:r>
          </a:p>
        </p:txBody>
      </p:sp>
      <p:cxnSp>
        <p:nvCxnSpPr>
          <p:cNvPr id="8" name="Straight Arrow Connector 7">
            <a:extLst>
              <a:ext uri="{FF2B5EF4-FFF2-40B4-BE49-F238E27FC236}">
                <a16:creationId xmlns:a16="http://schemas.microsoft.com/office/drawing/2014/main" id="{ECC247F9-5588-BADC-3FCF-319325127B5C}"/>
              </a:ext>
            </a:extLst>
          </p:cNvPr>
          <p:cNvCxnSpPr/>
          <p:nvPr/>
        </p:nvCxnSpPr>
        <p:spPr>
          <a:xfrm>
            <a:off x="2327177" y="3962674"/>
            <a:ext cx="120178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0" name="Picture 9">
            <a:extLst>
              <a:ext uri="{FF2B5EF4-FFF2-40B4-BE49-F238E27FC236}">
                <a16:creationId xmlns:a16="http://schemas.microsoft.com/office/drawing/2014/main" id="{D91CF730-A252-703E-9EDE-576ADABCA875}"/>
              </a:ext>
            </a:extLst>
          </p:cNvPr>
          <p:cNvPicPr>
            <a:picLocks noChangeAspect="1"/>
          </p:cNvPicPr>
          <p:nvPr/>
        </p:nvPicPr>
        <p:blipFill>
          <a:blip r:embed="rId3"/>
          <a:stretch>
            <a:fillRect/>
          </a:stretch>
        </p:blipFill>
        <p:spPr>
          <a:xfrm>
            <a:off x="2240090" y="2026920"/>
            <a:ext cx="1249070" cy="1241336"/>
          </a:xfrm>
          <a:prstGeom prst="rect">
            <a:avLst/>
          </a:prstGeom>
        </p:spPr>
      </p:pic>
      <p:sp>
        <p:nvSpPr>
          <p:cNvPr id="12" name="Rectangle 11">
            <a:extLst>
              <a:ext uri="{FF2B5EF4-FFF2-40B4-BE49-F238E27FC236}">
                <a16:creationId xmlns:a16="http://schemas.microsoft.com/office/drawing/2014/main" id="{D2E479D1-9B11-7C80-118C-F602204D0421}"/>
              </a:ext>
            </a:extLst>
          </p:cNvPr>
          <p:cNvSpPr/>
          <p:nvPr/>
        </p:nvSpPr>
        <p:spPr>
          <a:xfrm>
            <a:off x="3711838" y="3842244"/>
            <a:ext cx="1445623"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TextBox 13">
            <a:extLst>
              <a:ext uri="{FF2B5EF4-FFF2-40B4-BE49-F238E27FC236}">
                <a16:creationId xmlns:a16="http://schemas.microsoft.com/office/drawing/2014/main" id="{16C0C8F6-D540-7EA5-8F83-E9055CE22E95}"/>
              </a:ext>
            </a:extLst>
          </p:cNvPr>
          <p:cNvSpPr txBox="1"/>
          <p:nvPr/>
        </p:nvSpPr>
        <p:spPr>
          <a:xfrm flipH="1">
            <a:off x="3128361" y="3419822"/>
            <a:ext cx="2612576" cy="369332"/>
          </a:xfrm>
          <a:prstGeom prst="rect">
            <a:avLst/>
          </a:prstGeom>
          <a:noFill/>
        </p:spPr>
        <p:txBody>
          <a:bodyPr wrap="square" rtlCol="0">
            <a:spAutoFit/>
          </a:bodyPr>
          <a:lstStyle/>
          <a:p>
            <a:r>
              <a:rPr lang="en-US" noProof="0" dirty="0"/>
              <a:t>Physical memory layout</a:t>
            </a:r>
          </a:p>
        </p:txBody>
      </p:sp>
      <p:sp>
        <p:nvSpPr>
          <p:cNvPr id="18" name="TextBox 17">
            <a:extLst>
              <a:ext uri="{FF2B5EF4-FFF2-40B4-BE49-F238E27FC236}">
                <a16:creationId xmlns:a16="http://schemas.microsoft.com/office/drawing/2014/main" id="{EE8B262B-FA3E-96EB-4738-C1B5778CA745}"/>
              </a:ext>
            </a:extLst>
          </p:cNvPr>
          <p:cNvSpPr txBox="1"/>
          <p:nvPr/>
        </p:nvSpPr>
        <p:spPr>
          <a:xfrm>
            <a:off x="206634" y="5396582"/>
            <a:ext cx="2934789" cy="978729"/>
          </a:xfrm>
          <a:prstGeom prst="rect">
            <a:avLst/>
          </a:prstGeom>
          <a:noFill/>
          <a:ln>
            <a:solidFill>
              <a:schemeClr val="tx1"/>
            </a:solidFill>
          </a:ln>
        </p:spPr>
        <p:txBody>
          <a:bodyPr wrap="square">
            <a:spAutoFit/>
          </a:bodyPr>
          <a:lstStyle/>
          <a:p>
            <a:pPr marL="0" marR="0" indent="0" algn="l">
              <a:buNone/>
            </a:pPr>
            <a:r>
              <a:rPr lang="en-US" sz="960" b="1" i="0" noProof="0" dirty="0">
                <a:solidFill>
                  <a:srgbClr val="008000"/>
                </a:solidFill>
                <a:effectLst/>
                <a:latin typeface="DejaVuSansMono"/>
              </a:rPr>
              <a:t>template</a:t>
            </a:r>
            <a:r>
              <a:rPr lang="en-US" sz="960" b="0" i="0" noProof="0" dirty="0">
                <a:solidFill>
                  <a:srgbClr val="666666"/>
                </a:solidFill>
                <a:effectLst/>
                <a:latin typeface="DejaVuSansMono"/>
              </a:rPr>
              <a:t>&lt;</a:t>
            </a:r>
            <a:endParaRPr lang="en-US" sz="960" b="0" i="0" noProof="0" dirty="0">
              <a:solidFill>
                <a:srgbClr val="000000"/>
              </a:solidFill>
              <a:effectLst/>
              <a:latin typeface="DejaVuSansMono"/>
            </a:endParaRP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T</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Extents</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err="1">
                <a:solidFill>
                  <a:srgbClr val="0000FF"/>
                </a:solidFill>
                <a:effectLst/>
                <a:latin typeface="DejaVuSansMono"/>
              </a:rPr>
              <a:t>LayoutPolicy</a:t>
            </a:r>
            <a:r>
              <a:rPr lang="en-US" sz="960" b="0" i="0" noProof="0" dirty="0">
                <a:solidFill>
                  <a:srgbClr val="BBBBBB"/>
                </a:solidFill>
                <a:effectLst/>
                <a:latin typeface="DejaVuSansMono"/>
              </a:rPr>
              <a:t> </a:t>
            </a:r>
            <a:r>
              <a:rPr lang="en-US" sz="960" b="0" i="0" noProof="0" dirty="0">
                <a:solidFill>
                  <a:srgbClr val="666666"/>
                </a:solidFill>
                <a:effectLst/>
                <a:latin typeface="DejaVuSansMono"/>
              </a:rPr>
              <a:t>=</a:t>
            </a:r>
            <a:r>
              <a:rPr lang="en-US" sz="960" b="0" i="0" noProof="0" dirty="0">
                <a:solidFill>
                  <a:srgbClr val="BBBBBB"/>
                </a:solidFill>
                <a:effectLst/>
                <a:latin typeface="DejaVuSansMono"/>
              </a:rPr>
              <a:t> </a:t>
            </a:r>
            <a:r>
              <a:rPr lang="en-US" sz="960" b="0" i="0" noProof="0" dirty="0">
                <a:solidFill>
                  <a:srgbClr val="000000"/>
                </a:solidFill>
                <a:effectLst/>
                <a:latin typeface="DejaVuSansMono"/>
              </a:rPr>
              <a:t>std</a:t>
            </a:r>
            <a:r>
              <a:rPr lang="en-US" sz="960" b="0" i="0" noProof="0" dirty="0">
                <a:solidFill>
                  <a:srgbClr val="666666"/>
                </a:solidFill>
                <a:effectLst/>
                <a:latin typeface="DejaVuSansMono"/>
              </a:rPr>
              <a:t>::</a:t>
            </a:r>
            <a:r>
              <a:rPr lang="en-US" sz="960" b="0" i="0" noProof="0" dirty="0" err="1">
                <a:solidFill>
                  <a:srgbClr val="000000"/>
                </a:solidFill>
                <a:effectLst/>
                <a:latin typeface="DejaVuSansMono"/>
              </a:rPr>
              <a:t>layout_right</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AccessorPolicy</a:t>
            </a:r>
            <a:r>
              <a:rPr lang="en-US" sz="960" b="0" i="0" noProof="0" dirty="0">
                <a:solidFill>
                  <a:srgbClr val="BBBBBB"/>
                </a:solidFill>
                <a:effectLst/>
                <a:latin typeface="DejaVuSansMono"/>
              </a:rPr>
              <a:t> </a:t>
            </a:r>
            <a:r>
              <a:rPr lang="en-US" sz="960" b="0" i="0" noProof="0" dirty="0">
                <a:solidFill>
                  <a:srgbClr val="666666"/>
                </a:solidFill>
                <a:effectLst/>
                <a:latin typeface="DejaVuSansMono"/>
              </a:rPr>
              <a:t>=</a:t>
            </a:r>
            <a:r>
              <a:rPr lang="en-US" sz="960" b="0" i="0" noProof="0" dirty="0">
                <a:solidFill>
                  <a:srgbClr val="BBBBBB"/>
                </a:solidFill>
                <a:effectLst/>
                <a:latin typeface="DejaVuSansMono"/>
              </a:rPr>
              <a:t> </a:t>
            </a:r>
            <a:r>
              <a:rPr lang="en-US" sz="960" b="0" i="0" noProof="0" dirty="0">
                <a:solidFill>
                  <a:srgbClr val="000000"/>
                </a:solidFill>
                <a:effectLst/>
                <a:latin typeface="DejaVuSansMono"/>
              </a:rPr>
              <a:t>std</a:t>
            </a:r>
            <a:r>
              <a:rPr lang="en-US" sz="960" b="0" i="0" noProof="0" dirty="0">
                <a:solidFill>
                  <a:srgbClr val="666666"/>
                </a:solidFill>
                <a:effectLst/>
                <a:latin typeface="DejaVuSansMono"/>
              </a:rPr>
              <a:t>::</a:t>
            </a:r>
            <a:r>
              <a:rPr lang="en-US" sz="960" b="0" i="0" noProof="0" dirty="0" err="1">
                <a:solidFill>
                  <a:srgbClr val="000000"/>
                </a:solidFill>
                <a:effectLst/>
                <a:latin typeface="DejaVuSansMono"/>
              </a:rPr>
              <a:t>default_accessor</a:t>
            </a:r>
            <a:r>
              <a:rPr lang="en-US" sz="960" b="0" i="0" noProof="0" dirty="0">
                <a:solidFill>
                  <a:srgbClr val="666666"/>
                </a:solidFill>
                <a:effectLst/>
                <a:latin typeface="DejaVuSansMono"/>
              </a:rPr>
              <a:t>&lt;</a:t>
            </a:r>
            <a:r>
              <a:rPr lang="en-US" sz="960" b="0" i="0" noProof="0" dirty="0">
                <a:solidFill>
                  <a:srgbClr val="000000"/>
                </a:solidFill>
                <a:effectLst/>
                <a:latin typeface="DejaVuSansMono"/>
              </a:rPr>
              <a:t>T</a:t>
            </a:r>
            <a:r>
              <a:rPr lang="en-US" sz="960" b="0" i="0" noProof="0" dirty="0">
                <a:solidFill>
                  <a:srgbClr val="666666"/>
                </a:solidFill>
                <a:effectLst/>
                <a:latin typeface="DejaVuSansMono"/>
              </a:rPr>
              <a:t>&gt;</a:t>
            </a:r>
            <a:endParaRPr lang="en-US" sz="960" b="0" i="0" noProof="0" dirty="0">
              <a:solidFill>
                <a:srgbClr val="000000"/>
              </a:solidFill>
              <a:effectLst/>
              <a:latin typeface="DejaVuSansMono"/>
            </a:endParaRPr>
          </a:p>
          <a:p>
            <a:pPr marL="0" marR="0" indent="0" algn="l">
              <a:buNone/>
            </a:pPr>
            <a:r>
              <a:rPr lang="en-US" sz="960" b="0" i="0" noProof="0" dirty="0">
                <a:solidFill>
                  <a:srgbClr val="666666"/>
                </a:solidFill>
                <a:effectLst/>
                <a:latin typeface="DejaVuSansMono"/>
              </a:rPr>
              <a:t>&gt;</a:t>
            </a: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err="1">
                <a:solidFill>
                  <a:srgbClr val="0000FF"/>
                </a:solidFill>
                <a:effectLst/>
                <a:latin typeface="DejaVuSansMono"/>
              </a:rPr>
              <a:t>mdspan</a:t>
            </a:r>
            <a:r>
              <a:rPr lang="en-US" sz="960" b="0" i="0" noProof="0" dirty="0">
                <a:solidFill>
                  <a:srgbClr val="000000"/>
                </a:solidFill>
                <a:effectLst/>
                <a:latin typeface="DejaVuSansMono"/>
              </a:rPr>
              <a:t>;</a:t>
            </a:r>
          </a:p>
        </p:txBody>
      </p:sp>
      <p:sp>
        <p:nvSpPr>
          <p:cNvPr id="19" name="TextBox 18">
            <a:extLst>
              <a:ext uri="{FF2B5EF4-FFF2-40B4-BE49-F238E27FC236}">
                <a16:creationId xmlns:a16="http://schemas.microsoft.com/office/drawing/2014/main" id="{24D10904-B7C0-3CC4-7415-DD17D80D24E4}"/>
              </a:ext>
            </a:extLst>
          </p:cNvPr>
          <p:cNvSpPr txBox="1"/>
          <p:nvPr/>
        </p:nvSpPr>
        <p:spPr>
          <a:xfrm>
            <a:off x="1016531" y="5059024"/>
            <a:ext cx="1450141" cy="369332"/>
          </a:xfrm>
          <a:prstGeom prst="rect">
            <a:avLst/>
          </a:prstGeom>
          <a:noFill/>
        </p:spPr>
        <p:txBody>
          <a:bodyPr wrap="none" rtlCol="0">
            <a:spAutoFit/>
          </a:bodyPr>
          <a:lstStyle/>
          <a:p>
            <a:r>
              <a:rPr lang="en-US" noProof="0" dirty="0"/>
              <a:t>std::</a:t>
            </a:r>
            <a:r>
              <a:rPr lang="en-US" noProof="0" dirty="0" err="1"/>
              <a:t>mdspan</a:t>
            </a:r>
            <a:endParaRPr lang="en-US" noProof="0" dirty="0"/>
          </a:p>
        </p:txBody>
      </p:sp>
      <p:pic>
        <p:nvPicPr>
          <p:cNvPr id="20" name="Picture 19" descr="File:NVIDIA logo.svg - Wikimedia Commons">
            <a:extLst>
              <a:ext uri="{FF2B5EF4-FFF2-40B4-BE49-F238E27FC236}">
                <a16:creationId xmlns:a16="http://schemas.microsoft.com/office/drawing/2014/main" id="{D20C279A-C56A-6DE5-775E-9EDFB109DDB7}"/>
              </a:ext>
            </a:extLst>
          </p:cNvPr>
          <p:cNvPicPr>
            <a:picLocks noChangeAspect="1"/>
          </p:cNvPicPr>
          <p:nvPr/>
        </p:nvPicPr>
        <p:blipFill>
          <a:blip r:embed="rId4"/>
          <a:stretch>
            <a:fillRect/>
          </a:stretch>
        </p:blipFill>
        <p:spPr>
          <a:xfrm>
            <a:off x="7182371" y="5860032"/>
            <a:ext cx="2297240" cy="421161"/>
          </a:xfrm>
          <a:prstGeom prst="rect">
            <a:avLst/>
          </a:prstGeom>
        </p:spPr>
      </p:pic>
      <p:pic>
        <p:nvPicPr>
          <p:cNvPr id="21" name="Picture 20" descr="Kokkos Logos">
            <a:extLst>
              <a:ext uri="{FF2B5EF4-FFF2-40B4-BE49-F238E27FC236}">
                <a16:creationId xmlns:a16="http://schemas.microsoft.com/office/drawing/2014/main" id="{688915D6-1C03-1602-5B45-A4CADED3D582}"/>
              </a:ext>
            </a:extLst>
          </p:cNvPr>
          <p:cNvPicPr>
            <a:picLocks noChangeAspect="1"/>
          </p:cNvPicPr>
          <p:nvPr/>
        </p:nvPicPr>
        <p:blipFill>
          <a:blip r:embed="rId5"/>
          <a:stretch>
            <a:fillRect/>
          </a:stretch>
        </p:blipFill>
        <p:spPr>
          <a:xfrm>
            <a:off x="3258768" y="5698337"/>
            <a:ext cx="1750863" cy="372276"/>
          </a:xfrm>
          <a:prstGeom prst="rect">
            <a:avLst/>
          </a:prstGeom>
        </p:spPr>
      </p:pic>
      <p:sp>
        <p:nvSpPr>
          <p:cNvPr id="29" name="TextBox 28">
            <a:extLst>
              <a:ext uri="{FF2B5EF4-FFF2-40B4-BE49-F238E27FC236}">
                <a16:creationId xmlns:a16="http://schemas.microsoft.com/office/drawing/2014/main" id="{3ACC472A-6620-096A-F5B4-266E4D43E76F}"/>
              </a:ext>
            </a:extLst>
          </p:cNvPr>
          <p:cNvSpPr txBox="1"/>
          <p:nvPr/>
        </p:nvSpPr>
        <p:spPr>
          <a:xfrm>
            <a:off x="5573544" y="5381916"/>
            <a:ext cx="1445623" cy="1200329"/>
          </a:xfrm>
          <a:prstGeom prst="rect">
            <a:avLst/>
          </a:prstGeom>
          <a:noFill/>
          <a:ln>
            <a:solidFill>
              <a:schemeClr val="tx1"/>
            </a:solidFill>
          </a:ln>
        </p:spPr>
        <p:txBody>
          <a:bodyPr wrap="square">
            <a:spAutoFit/>
          </a:bodyPr>
          <a:lstStyle/>
          <a:p>
            <a:pPr marL="0" marR="0" indent="0" algn="l">
              <a:buNone/>
            </a:pPr>
            <a:r>
              <a:rPr lang="en-US" sz="1200" b="0" i="0" noProof="0" dirty="0">
                <a:solidFill>
                  <a:srgbClr val="24292F"/>
                </a:solidFill>
                <a:effectLst/>
                <a:latin typeface="RobotoMono"/>
              </a:rPr>
              <a:t>Shape :  (4,2)</a:t>
            </a:r>
          </a:p>
          <a:p>
            <a:pPr marL="0" marR="0" indent="0" algn="l">
              <a:buNone/>
            </a:pPr>
            <a:r>
              <a:rPr lang="en-US" sz="1200" b="0" i="0" noProof="0" dirty="0">
                <a:solidFill>
                  <a:srgbClr val="24292F"/>
                </a:solidFill>
                <a:effectLst/>
                <a:latin typeface="RobotoMono"/>
              </a:rPr>
              <a:t>Stride:  (2,1)</a:t>
            </a:r>
          </a:p>
          <a:p>
            <a:pPr marL="0" marR="0" indent="0" algn="l">
              <a:buNone/>
            </a:pPr>
            <a:r>
              <a:rPr lang="en-US" sz="1200" b="0" i="0" noProof="0" dirty="0">
                <a:solidFill>
                  <a:srgbClr val="24292F"/>
                </a:solidFill>
                <a:effectLst/>
                <a:latin typeface="RobotoMono"/>
              </a:rPr>
              <a:t>  0   1</a:t>
            </a:r>
          </a:p>
          <a:p>
            <a:pPr marL="0" marR="0" indent="0" algn="l">
              <a:buNone/>
            </a:pPr>
            <a:r>
              <a:rPr lang="en-US" sz="1200" b="0" i="0" noProof="0" dirty="0">
                <a:solidFill>
                  <a:srgbClr val="24292F"/>
                </a:solidFill>
                <a:effectLst/>
                <a:latin typeface="RobotoMono"/>
              </a:rPr>
              <a:t>  2   3</a:t>
            </a:r>
          </a:p>
          <a:p>
            <a:pPr marL="0" marR="0" indent="0" algn="l">
              <a:buNone/>
            </a:pPr>
            <a:r>
              <a:rPr lang="en-US" sz="1200" b="0" i="0" noProof="0" dirty="0">
                <a:solidFill>
                  <a:srgbClr val="24292F"/>
                </a:solidFill>
                <a:effectLst/>
                <a:latin typeface="RobotoMono"/>
              </a:rPr>
              <a:t>  4   5</a:t>
            </a:r>
          </a:p>
          <a:p>
            <a:pPr marL="0" marR="0" indent="0" algn="l">
              <a:buNone/>
            </a:pPr>
            <a:r>
              <a:rPr lang="en-US" sz="1200" b="0" i="0" noProof="0" dirty="0">
                <a:solidFill>
                  <a:srgbClr val="24292F"/>
                </a:solidFill>
                <a:effectLst/>
                <a:latin typeface="RobotoMono"/>
              </a:rPr>
              <a:t>  6   7</a:t>
            </a:r>
          </a:p>
        </p:txBody>
      </p:sp>
      <p:sp>
        <p:nvSpPr>
          <p:cNvPr id="30" name="TextBox 29">
            <a:extLst>
              <a:ext uri="{FF2B5EF4-FFF2-40B4-BE49-F238E27FC236}">
                <a16:creationId xmlns:a16="http://schemas.microsoft.com/office/drawing/2014/main" id="{2BF7FBC8-8534-2A17-6EEE-266F00B94D37}"/>
              </a:ext>
            </a:extLst>
          </p:cNvPr>
          <p:cNvSpPr txBox="1"/>
          <p:nvPr/>
        </p:nvSpPr>
        <p:spPr>
          <a:xfrm>
            <a:off x="5578305" y="4984668"/>
            <a:ext cx="1436099" cy="369332"/>
          </a:xfrm>
          <a:prstGeom prst="rect">
            <a:avLst/>
          </a:prstGeom>
          <a:noFill/>
        </p:spPr>
        <p:txBody>
          <a:bodyPr wrap="none" rtlCol="0">
            <a:spAutoFit/>
          </a:bodyPr>
          <a:lstStyle/>
          <a:p>
            <a:r>
              <a:rPr lang="en-US" noProof="0" dirty="0" err="1"/>
              <a:t>CUTe</a:t>
            </a:r>
            <a:r>
              <a:rPr lang="en-US" noProof="0" dirty="0"/>
              <a:t> Layout</a:t>
            </a:r>
          </a:p>
        </p:txBody>
      </p:sp>
      <p:sp>
        <p:nvSpPr>
          <p:cNvPr id="38" name="TextBox 37">
            <a:extLst>
              <a:ext uri="{FF2B5EF4-FFF2-40B4-BE49-F238E27FC236}">
                <a16:creationId xmlns:a16="http://schemas.microsoft.com/office/drawing/2014/main" id="{1F5E2435-0E1B-BC1F-B025-E4809FCD1BB6}"/>
              </a:ext>
            </a:extLst>
          </p:cNvPr>
          <p:cNvSpPr txBox="1"/>
          <p:nvPr/>
        </p:nvSpPr>
        <p:spPr>
          <a:xfrm>
            <a:off x="6853642" y="919461"/>
            <a:ext cx="3903812" cy="1330108"/>
          </a:xfrm>
          <a:prstGeom prst="rect">
            <a:avLst/>
          </a:prstGeom>
          <a:noFill/>
        </p:spPr>
        <p:txBody>
          <a:bodyPr wrap="square">
            <a:spAutoFit/>
          </a:bodyPr>
          <a:lstStyle/>
          <a:p>
            <a:pPr>
              <a:lnSpc>
                <a:spcPct val="20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D765482-04EA-108B-2C52-587952680CAA}"/>
              </a:ext>
            </a:extLst>
          </p:cNvPr>
          <p:cNvSpPr/>
          <p:nvPr/>
        </p:nvSpPr>
        <p:spPr>
          <a:xfrm>
            <a:off x="8403768" y="999204"/>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3EFCE23F-B129-33E7-BBA1-A0C58E802D8E}"/>
              </a:ext>
            </a:extLst>
          </p:cNvPr>
          <p:cNvSpPr/>
          <p:nvPr/>
        </p:nvSpPr>
        <p:spPr>
          <a:xfrm>
            <a:off x="8403767" y="1456599"/>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4F4065D4-CE1C-8FB5-336C-3725D7A23F98}"/>
              </a:ext>
            </a:extLst>
          </p:cNvPr>
          <p:cNvSpPr/>
          <p:nvPr/>
        </p:nvSpPr>
        <p:spPr>
          <a:xfrm>
            <a:off x="8403767" y="1925863"/>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8" name="TextBox 47">
            <a:extLst>
              <a:ext uri="{FF2B5EF4-FFF2-40B4-BE49-F238E27FC236}">
                <a16:creationId xmlns:a16="http://schemas.microsoft.com/office/drawing/2014/main" id="{C66B6B2B-206E-B25D-E2EB-2BE507FA937A}"/>
              </a:ext>
            </a:extLst>
          </p:cNvPr>
          <p:cNvSpPr txBox="1"/>
          <p:nvPr/>
        </p:nvSpPr>
        <p:spPr>
          <a:xfrm>
            <a:off x="-274703" y="991427"/>
            <a:ext cx="3986541" cy="2003369"/>
          </a:xfrm>
          <a:prstGeom prst="rect">
            <a:avLst/>
          </a:prstGeom>
          <a:noFill/>
        </p:spPr>
        <p:txBody>
          <a:bodyPr wrap="square">
            <a:spAutoFit/>
          </a:bodyPr>
          <a:lstStyle/>
          <a:p>
            <a:pPr>
              <a:lnSpc>
                <a:spcPct val="15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15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lit</a:t>
            </a:r>
            <a:r>
              <a:rPr lang="en-US" sz="1400" b="0" noProof="0" dirty="0">
                <a:solidFill>
                  <a:srgbClr val="000000"/>
                </a:solidFill>
                <a:effectLst/>
                <a:latin typeface="Fira Code" panose="020B0809050000020004" pitchFamily="49" charset="0"/>
              </a:rPr>
              <a:t>&lt;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 ^</a:t>
            </a:r>
          </a:p>
          <a:p>
            <a:pPr>
              <a:lnSpc>
                <a:spcPct val="15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lit</a:t>
            </a:r>
            <a:r>
              <a:rPr lang="en-US" sz="1400" b="0" noProof="0" dirty="0">
                <a:solidFill>
                  <a:srgbClr val="000000"/>
                </a:solidFill>
                <a:effectLst/>
                <a:latin typeface="Fira Code" panose="020B0809050000020004" pitchFamily="49" charset="0"/>
              </a:rPr>
              <a:t>&lt;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br>
              <a:rPr lang="en-US" sz="1400" b="0" noProof="0" dirty="0">
                <a:solidFill>
                  <a:srgbClr val="000000"/>
                </a:solidFill>
                <a:effectLst/>
                <a:latin typeface="Fira Code" panose="020B0809050000020004" pitchFamily="49" charset="0"/>
              </a:rPr>
            </a:br>
            <a:br>
              <a:rPr lang="en-US" sz="1400" b="0" noProof="0" dirty="0">
                <a:solidFill>
                  <a:srgbClr val="000000"/>
                </a:solidFill>
                <a:effectLst/>
                <a:latin typeface="Fira Code" panose="020B0809050000020004" pitchFamily="49" charset="0"/>
              </a:rPr>
            </a:br>
            <a:br>
              <a:rPr lang="en-US" sz="1400" b="0" noProof="0" dirty="0">
                <a:solidFill>
                  <a:srgbClr val="000000"/>
                </a:solidFill>
                <a:effectLst/>
                <a:latin typeface="Fira Code" panose="020B0809050000020004" pitchFamily="49" charset="0"/>
              </a:rPr>
            </a:br>
            <a:r>
              <a:rPr lang="en-US" sz="1400" dirty="0">
                <a:solidFill>
                  <a:srgbClr val="001080"/>
                </a:solidFill>
                <a:latin typeface="Fira Code" panose="020B0809050000020004" pitchFamily="49" charset="0"/>
              </a:rPr>
              <a:t>matrix</a:t>
            </a:r>
            <a:r>
              <a:rPr lang="en-US" sz="1400" dirty="0">
                <a:solidFill>
                  <a:srgbClr val="000000"/>
                </a:solidFill>
                <a:latin typeface="Fira Code" panose="020B0809050000020004" pitchFamily="49" charset="0"/>
              </a:rPr>
              <a:t>[</a:t>
            </a:r>
            <a:r>
              <a:rPr lang="en-US" sz="1400" dirty="0" err="1">
                <a:solidFill>
                  <a:srgbClr val="0070C1"/>
                </a:solidFill>
                <a:latin typeface="Fira Code" panose="020B0809050000020004" pitchFamily="49" charset="0"/>
              </a:rPr>
              <a:t>idx</a:t>
            </a:r>
            <a:r>
              <a:rPr lang="en-US" sz="1400" dirty="0">
                <a:solidFill>
                  <a:srgbClr val="000000"/>
                </a:solidFill>
                <a:latin typeface="Fira Code" panose="020B0809050000020004" pitchFamily="49" charset="0"/>
              </a:rPr>
              <a:t>&lt;</a:t>
            </a:r>
            <a:r>
              <a:rPr lang="en-US" sz="1400" dirty="0">
                <a:solidFill>
                  <a:srgbClr val="A31515"/>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A31515"/>
                </a:solidFill>
                <a:latin typeface="Fira Code" panose="020B0809050000020004" pitchFamily="49" charset="0"/>
              </a:rPr>
              <a:t>'n'</a:t>
            </a:r>
            <a:r>
              <a:rPr lang="en-US" sz="1400" dirty="0">
                <a:solidFill>
                  <a:srgbClr val="000000"/>
                </a:solidFill>
                <a:latin typeface="Fira Code" panose="020B0809050000020004" pitchFamily="49" charset="0"/>
              </a:rPr>
              <a:t>&gt;(</a:t>
            </a:r>
            <a:r>
              <a:rPr lang="en-US" sz="1400" dirty="0">
                <a:solidFill>
                  <a:srgbClr val="0070C1"/>
                </a:solidFill>
                <a:latin typeface="Fira Code" panose="020B0809050000020004" pitchFamily="49" charset="0"/>
              </a:rPr>
              <a:t>4</a:t>
            </a:r>
            <a:r>
              <a:rPr lang="en-US" sz="1400" dirty="0">
                <a:solidFill>
                  <a:srgbClr val="000000"/>
                </a:solidFill>
                <a:latin typeface="Fira Code" panose="020B0809050000020004" pitchFamily="49" charset="0"/>
              </a:rPr>
              <a:t>, </a:t>
            </a:r>
            <a:r>
              <a:rPr lang="en-US" sz="1400" dirty="0">
                <a:solidFill>
                  <a:srgbClr val="0070C1"/>
                </a:solidFill>
                <a:latin typeface="Fira Code" panose="020B0809050000020004" pitchFamily="49" charset="0"/>
              </a:rPr>
              <a:t>2</a:t>
            </a:r>
            <a:r>
              <a:rPr lang="en-US" sz="1400" dirty="0">
                <a:solidFill>
                  <a:srgbClr val="000000"/>
                </a:solidFill>
                <a:latin typeface="Fira Code" panose="020B0809050000020004" pitchFamily="49" charset="0"/>
              </a:rPr>
              <a:t>)]</a:t>
            </a:r>
            <a:endParaRPr lang="en-US" sz="1400" b="0" noProof="0" dirty="0">
              <a:solidFill>
                <a:srgbClr val="000000"/>
              </a:solidFill>
              <a:effectLst/>
              <a:latin typeface="Fira Code" panose="020B0809050000020004" pitchFamily="49" charset="0"/>
            </a:endParaRPr>
          </a:p>
        </p:txBody>
      </p:sp>
      <p:sp>
        <p:nvSpPr>
          <p:cNvPr id="52" name="TextBox 51">
            <a:extLst>
              <a:ext uri="{FF2B5EF4-FFF2-40B4-BE49-F238E27FC236}">
                <a16:creationId xmlns:a16="http://schemas.microsoft.com/office/drawing/2014/main" id="{81058A7E-911C-05B2-4601-238FFA7EE004}"/>
              </a:ext>
            </a:extLst>
          </p:cNvPr>
          <p:cNvSpPr txBox="1"/>
          <p:nvPr/>
        </p:nvSpPr>
        <p:spPr>
          <a:xfrm>
            <a:off x="7178348" y="3371679"/>
            <a:ext cx="4580709" cy="1181990"/>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owned_matrix</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0000FF"/>
                </a:solidFill>
                <a:effectLst/>
                <a:latin typeface="Fira Code" panose="020B0809050000020004" pitchFamily="49" charset="0"/>
              </a:rPr>
              <a:t>void</a:t>
            </a:r>
            <a:r>
              <a:rPr lang="en-US" sz="1050" b="0" noProof="0" dirty="0">
                <a:solidFill>
                  <a:srgbClr val="000000"/>
                </a:solidFill>
                <a:effectLst/>
                <a:latin typeface="Fira Code" panose="020B0809050000020004" pitchFamily="49" charset="0"/>
              </a:rPr>
              <a:t> </a:t>
            </a:r>
            <a:r>
              <a:rPr lang="en-US" sz="1050" b="0" noProof="0" dirty="0">
                <a:solidFill>
                  <a:srgbClr val="0000FF"/>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CUDA_CHECK</a:t>
            </a:r>
            <a:r>
              <a:rPr lang="en-US" sz="1050" b="0" noProof="0" dirty="0">
                <a:solidFill>
                  <a:srgbClr val="000000"/>
                </a:solidFill>
                <a:effectLst/>
                <a:latin typeface="Fira Code" panose="020B0809050000020004" pitchFamily="49" charset="0"/>
              </a:rPr>
              <a:t>(</a:t>
            </a:r>
            <a:r>
              <a:rPr lang="en-US" sz="1050" b="0" noProof="0" dirty="0" err="1">
                <a:solidFill>
                  <a:srgbClr val="795E26"/>
                </a:solidFill>
                <a:effectLst/>
                <a:latin typeface="Fira Code" panose="020B0809050000020004" pitchFamily="49" charset="0"/>
              </a:rPr>
              <a:t>cudaMalloc</a:t>
            </a:r>
            <a:r>
              <a:rPr lang="en-US" sz="1050" b="0" noProof="0" dirty="0">
                <a:solidFill>
                  <a:srgbClr val="000000"/>
                </a:solidFill>
                <a:effectLst/>
                <a:latin typeface="Fira Code" panose="020B0809050000020004" pitchFamily="49" charset="0"/>
              </a:rPr>
              <a:t>(&amp;</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err="1">
                <a:solidFill>
                  <a:srgbClr val="795E26"/>
                </a:solidFill>
                <a:effectLst/>
                <a:latin typeface="Fira Code" panose="020B0809050000020004" pitchFamily="49" charset="0"/>
              </a:rPr>
              <a:t>get_size</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view_matrix</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a:t>
            </a:r>
          </a:p>
        </p:txBody>
      </p:sp>
      <p:sp>
        <p:nvSpPr>
          <p:cNvPr id="56" name="TextBox 55">
            <a:extLst>
              <a:ext uri="{FF2B5EF4-FFF2-40B4-BE49-F238E27FC236}">
                <a16:creationId xmlns:a16="http://schemas.microsoft.com/office/drawing/2014/main" id="{151B72E5-6CB7-97C1-AD5E-3609107123D5}"/>
              </a:ext>
            </a:extLst>
          </p:cNvPr>
          <p:cNvSpPr txBox="1"/>
          <p:nvPr/>
        </p:nvSpPr>
        <p:spPr>
          <a:xfrm>
            <a:off x="7467250" y="4559336"/>
            <a:ext cx="3708219" cy="816762"/>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mn_layout</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dirty="0">
                <a:solidFill>
                  <a:srgbClr val="0070C1"/>
                </a:solidFill>
                <a:latin typeface="Fira Code" panose="020B0809050000020004" pitchFamily="49" charset="0"/>
              </a:rPr>
              <a:t>lit</a:t>
            </a:r>
            <a:r>
              <a:rPr lang="en-US" sz="1050" dirty="0">
                <a:solidFill>
                  <a:srgbClr val="000000"/>
                </a:solidFill>
                <a:latin typeface="Fira Code" panose="020B0809050000020004" pitchFamily="49" charset="0"/>
              </a:rPr>
              <a:t>&lt;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err="1">
                <a:solidFill>
                  <a:srgbClr val="001080"/>
                </a:solidFill>
                <a:effectLst/>
                <a:latin typeface="Fira Code" panose="020B0809050000020004" pitchFamily="49" charset="0"/>
              </a:rPr>
              <a:t>mn_layout</a:t>
            </a:r>
            <a:r>
              <a:rPr lang="en-US" sz="1050" b="0" noProof="0" dirty="0">
                <a:solidFill>
                  <a:srgbClr val="000000"/>
                </a:solidFill>
                <a:effectLst/>
                <a:latin typeface="Fira Code" panose="020B0809050000020004" pitchFamily="49" charset="0"/>
              </a:rPr>
              <a:t>;</a:t>
            </a:r>
          </a:p>
        </p:txBody>
      </p:sp>
      <p:sp>
        <p:nvSpPr>
          <p:cNvPr id="60" name="TextBox 59">
            <a:extLst>
              <a:ext uri="{FF2B5EF4-FFF2-40B4-BE49-F238E27FC236}">
                <a16:creationId xmlns:a16="http://schemas.microsoft.com/office/drawing/2014/main" id="{C90408C5-9F58-A622-B65B-BBDABAA76922}"/>
              </a:ext>
            </a:extLst>
          </p:cNvPr>
          <p:cNvSpPr txBox="1"/>
          <p:nvPr/>
        </p:nvSpPr>
        <p:spPr>
          <a:xfrm>
            <a:off x="8484327" y="5297003"/>
            <a:ext cx="6779622" cy="1547218"/>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matrix_template</a:t>
            </a:r>
            <a:r>
              <a:rPr lang="en-US" sz="1050" b="0" noProof="0" dirty="0">
                <a:solidFill>
                  <a:srgbClr val="000000"/>
                </a:solidFill>
                <a:effectLst/>
                <a:latin typeface="Fira Code" panose="020B0809050000020004" pitchFamily="49" charset="0"/>
              </a:rPr>
              <a:t> = </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matrix_template</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set_length</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set_length</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p:txBody>
      </p:sp>
      <p:sp>
        <p:nvSpPr>
          <p:cNvPr id="5" name="Date Placeholder 4">
            <a:extLst>
              <a:ext uri="{FF2B5EF4-FFF2-40B4-BE49-F238E27FC236}">
                <a16:creationId xmlns:a16="http://schemas.microsoft.com/office/drawing/2014/main" id="{16DF39EE-B935-E335-0B5C-A4E3719F9D73}"/>
              </a:ext>
            </a:extLst>
          </p:cNvPr>
          <p:cNvSpPr>
            <a:spLocks noGrp="1"/>
          </p:cNvSpPr>
          <p:nvPr>
            <p:ph type="dt" sz="half" idx="10"/>
          </p:nvPr>
        </p:nvSpPr>
        <p:spPr/>
        <p:txBody>
          <a:bodyPr/>
          <a:lstStyle/>
          <a:p>
            <a:fld id="{BECC5278-1265-4E1B-8A3B-54BBD2CB9178}" type="datetime1">
              <a:rPr lang="en-US" smtClean="0"/>
              <a:t>8/27/2026</a:t>
            </a:fld>
            <a:endParaRPr lang="en-US"/>
          </a:p>
        </p:txBody>
      </p:sp>
      <p:sp>
        <p:nvSpPr>
          <p:cNvPr id="7" name="Slide Number Placeholder 6">
            <a:extLst>
              <a:ext uri="{FF2B5EF4-FFF2-40B4-BE49-F238E27FC236}">
                <a16:creationId xmlns:a16="http://schemas.microsoft.com/office/drawing/2014/main" id="{3A98E2DA-CF8A-5D0F-37C9-6297322B242B}"/>
              </a:ext>
            </a:extLst>
          </p:cNvPr>
          <p:cNvSpPr>
            <a:spLocks noGrp="1"/>
          </p:cNvSpPr>
          <p:nvPr>
            <p:ph type="sldNum" sz="quarter" idx="12"/>
          </p:nvPr>
        </p:nvSpPr>
        <p:spPr/>
        <p:txBody>
          <a:bodyPr/>
          <a:lstStyle/>
          <a:p>
            <a:fld id="{DA0BB241-1B5F-4309-9407-9EEA04D9598D}" type="slidenum">
              <a:rPr lang="en-US" smtClean="0"/>
              <a:t>32</a:t>
            </a:fld>
            <a:endParaRPr lang="en-US"/>
          </a:p>
        </p:txBody>
      </p:sp>
    </p:spTree>
    <p:extLst>
      <p:ext uri="{BB962C8B-B14F-4D97-AF65-F5344CB8AC3E}">
        <p14:creationId xmlns:p14="http://schemas.microsoft.com/office/powerpoint/2010/main" val="32268061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00110-1A1D-46C5-865E-8C33FFF09E26}"/>
              </a:ext>
            </a:extLst>
          </p:cNvPr>
          <p:cNvSpPr>
            <a:spLocks noGrp="1"/>
          </p:cNvSpPr>
          <p:nvPr>
            <p:ph type="title"/>
          </p:nvPr>
        </p:nvSpPr>
        <p:spPr/>
        <p:txBody>
          <a:bodyPr/>
          <a:lstStyle/>
          <a:p>
            <a:r>
              <a:rPr lang="en-US" noProof="0" dirty="0"/>
              <a:t>Layout-agnostic design</a:t>
            </a:r>
          </a:p>
        </p:txBody>
      </p:sp>
      <p:sp>
        <p:nvSpPr>
          <p:cNvPr id="3" name="Content Placeholder 2">
            <a:extLst>
              <a:ext uri="{FF2B5EF4-FFF2-40B4-BE49-F238E27FC236}">
                <a16:creationId xmlns:a16="http://schemas.microsoft.com/office/drawing/2014/main" id="{BC98E21C-63B1-8313-A72D-D4A24D26FBA1}"/>
              </a:ext>
            </a:extLst>
          </p:cNvPr>
          <p:cNvSpPr>
            <a:spLocks noGrp="1"/>
          </p:cNvSpPr>
          <p:nvPr>
            <p:ph idx="1"/>
          </p:nvPr>
        </p:nvSpPr>
        <p:spPr/>
        <p:txBody>
          <a:bodyPr/>
          <a:lstStyle/>
          <a:p>
            <a:r>
              <a:rPr lang="en-US" noProof="0" dirty="0"/>
              <a:t>Algorithm with explicit offset calculations × Algorithm with logical indices</a:t>
            </a:r>
          </a:p>
        </p:txBody>
      </p:sp>
      <p:sp>
        <p:nvSpPr>
          <p:cNvPr id="4" name="Date Placeholder 3">
            <a:extLst>
              <a:ext uri="{FF2B5EF4-FFF2-40B4-BE49-F238E27FC236}">
                <a16:creationId xmlns:a16="http://schemas.microsoft.com/office/drawing/2014/main" id="{1A8EAE36-B52B-79D2-662E-1BAE425E6CAA}"/>
              </a:ext>
            </a:extLst>
          </p:cNvPr>
          <p:cNvSpPr>
            <a:spLocks noGrp="1"/>
          </p:cNvSpPr>
          <p:nvPr>
            <p:ph type="dt" sz="half" idx="10"/>
          </p:nvPr>
        </p:nvSpPr>
        <p:spPr/>
        <p:txBody>
          <a:bodyPr/>
          <a:lstStyle/>
          <a:p>
            <a:fld id="{9728143D-0936-4662-84A5-C4AA8AA29B13}" type="datetime1">
              <a:rPr lang="en-US" smtClean="0"/>
              <a:t>8/27/2026</a:t>
            </a:fld>
            <a:endParaRPr lang="en-US"/>
          </a:p>
        </p:txBody>
      </p:sp>
      <p:sp>
        <p:nvSpPr>
          <p:cNvPr id="5" name="Slide Number Placeholder 4">
            <a:extLst>
              <a:ext uri="{FF2B5EF4-FFF2-40B4-BE49-F238E27FC236}">
                <a16:creationId xmlns:a16="http://schemas.microsoft.com/office/drawing/2014/main" id="{3D455548-6FDB-5ADD-0662-B5910EC6E137}"/>
              </a:ext>
            </a:extLst>
          </p:cNvPr>
          <p:cNvSpPr>
            <a:spLocks noGrp="1"/>
          </p:cNvSpPr>
          <p:nvPr>
            <p:ph type="sldNum" sz="quarter" idx="12"/>
          </p:nvPr>
        </p:nvSpPr>
        <p:spPr/>
        <p:txBody>
          <a:bodyPr/>
          <a:lstStyle/>
          <a:p>
            <a:fld id="{DA0BB241-1B5F-4309-9407-9EEA04D9598D}" type="slidenum">
              <a:rPr lang="en-US" smtClean="0"/>
              <a:t>33</a:t>
            </a:fld>
            <a:endParaRPr lang="en-US"/>
          </a:p>
        </p:txBody>
      </p:sp>
    </p:spTree>
    <p:extLst>
      <p:ext uri="{BB962C8B-B14F-4D97-AF65-F5344CB8AC3E}">
        <p14:creationId xmlns:p14="http://schemas.microsoft.com/office/powerpoint/2010/main" val="107266238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6F341-5BBA-043E-301E-387913EC1471}"/>
              </a:ext>
            </a:extLst>
          </p:cNvPr>
          <p:cNvSpPr>
            <a:spLocks noGrp="1"/>
          </p:cNvSpPr>
          <p:nvPr>
            <p:ph type="title"/>
          </p:nvPr>
        </p:nvSpPr>
        <p:spPr/>
        <p:txBody>
          <a:bodyPr/>
          <a:lstStyle/>
          <a:p>
            <a:r>
              <a:rPr lang="en-US" noProof="0" dirty="0"/>
              <a:t>?? Traversal agnostic design</a:t>
            </a:r>
          </a:p>
        </p:txBody>
      </p:sp>
      <p:sp>
        <p:nvSpPr>
          <p:cNvPr id="3" name="Content Placeholder 2">
            <a:extLst>
              <a:ext uri="{FF2B5EF4-FFF2-40B4-BE49-F238E27FC236}">
                <a16:creationId xmlns:a16="http://schemas.microsoft.com/office/drawing/2014/main" id="{871CC203-309F-C580-057C-3B0A30FCD371}"/>
              </a:ext>
            </a:extLst>
          </p:cNvPr>
          <p:cNvSpPr>
            <a:spLocks noGrp="1"/>
          </p:cNvSpPr>
          <p:nvPr>
            <p:ph idx="1"/>
          </p:nvPr>
        </p:nvSpPr>
        <p:spPr/>
        <p:txBody>
          <a:bodyPr/>
          <a:lstStyle/>
          <a:p>
            <a:r>
              <a:rPr lang="en-US" noProof="0" dirty="0"/>
              <a:t>In many cases, changing traversals easier than structures</a:t>
            </a:r>
          </a:p>
          <a:p>
            <a:r>
              <a:rPr lang="en-US" noProof="0" dirty="0"/>
              <a:t>So focus on traversals</a:t>
            </a:r>
          </a:p>
          <a:p>
            <a:r>
              <a:rPr lang="en-US" noProof="0" dirty="0"/>
              <a:t>Traversal transformations can use the same principles (knowledge transfer?)</a:t>
            </a:r>
          </a:p>
          <a:p>
            <a:r>
              <a:rPr lang="en-US" noProof="0" dirty="0"/>
              <a:t>Traversers: </a:t>
            </a:r>
            <a:r>
              <a:rPr lang="en-US" noProof="0" dirty="0" err="1"/>
              <a:t>kinda</a:t>
            </a:r>
            <a:r>
              <a:rPr lang="en-US" noProof="0" dirty="0"/>
              <a:t> like iterators or range views</a:t>
            </a:r>
          </a:p>
          <a:p>
            <a:r>
              <a:rPr lang="en-US" noProof="0" dirty="0"/>
              <a:t>Extending transformations: blocking, spans, renaming, …</a:t>
            </a:r>
          </a:p>
          <a:p>
            <a:r>
              <a:rPr lang="en-US" noProof="0" dirty="0"/>
              <a:t>Simplifies parallelization (on TBB and CUDA)</a:t>
            </a:r>
          </a:p>
          <a:p>
            <a:pPr lvl="1"/>
            <a:r>
              <a:rPr lang="en-US" noProof="0" dirty="0"/>
              <a:t>(Named) dimensions of traversal can bind to dimension of the para BE</a:t>
            </a:r>
          </a:p>
        </p:txBody>
      </p:sp>
      <p:sp>
        <p:nvSpPr>
          <p:cNvPr id="4" name="Date Placeholder 3">
            <a:extLst>
              <a:ext uri="{FF2B5EF4-FFF2-40B4-BE49-F238E27FC236}">
                <a16:creationId xmlns:a16="http://schemas.microsoft.com/office/drawing/2014/main" id="{F638B154-F1AA-C698-384C-B2B4753ACBE5}"/>
              </a:ext>
            </a:extLst>
          </p:cNvPr>
          <p:cNvSpPr>
            <a:spLocks noGrp="1"/>
          </p:cNvSpPr>
          <p:nvPr>
            <p:ph type="dt" sz="half" idx="10"/>
          </p:nvPr>
        </p:nvSpPr>
        <p:spPr/>
        <p:txBody>
          <a:bodyPr/>
          <a:lstStyle/>
          <a:p>
            <a:fld id="{45521FF1-6AD4-41E9-A392-E960909D3B84}" type="datetime1">
              <a:rPr lang="en-US" smtClean="0"/>
              <a:t>8/27/2026</a:t>
            </a:fld>
            <a:endParaRPr lang="en-US"/>
          </a:p>
        </p:txBody>
      </p:sp>
      <p:sp>
        <p:nvSpPr>
          <p:cNvPr id="5" name="Slide Number Placeholder 4">
            <a:extLst>
              <a:ext uri="{FF2B5EF4-FFF2-40B4-BE49-F238E27FC236}">
                <a16:creationId xmlns:a16="http://schemas.microsoft.com/office/drawing/2014/main" id="{875A2156-D658-2EC2-D25E-4DD3E785381A}"/>
              </a:ext>
            </a:extLst>
          </p:cNvPr>
          <p:cNvSpPr>
            <a:spLocks noGrp="1"/>
          </p:cNvSpPr>
          <p:nvPr>
            <p:ph type="sldNum" sz="quarter" idx="12"/>
          </p:nvPr>
        </p:nvSpPr>
        <p:spPr/>
        <p:txBody>
          <a:bodyPr/>
          <a:lstStyle/>
          <a:p>
            <a:fld id="{DA0BB241-1B5F-4309-9407-9EEA04D9598D}" type="slidenum">
              <a:rPr lang="en-US" smtClean="0"/>
              <a:t>34</a:t>
            </a:fld>
            <a:endParaRPr lang="en-US"/>
          </a:p>
        </p:txBody>
      </p:sp>
    </p:spTree>
    <p:extLst>
      <p:ext uri="{BB962C8B-B14F-4D97-AF65-F5344CB8AC3E}">
        <p14:creationId xmlns:p14="http://schemas.microsoft.com/office/powerpoint/2010/main" val="322980887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A0037F-F1C5-A711-595F-CA146193F908}"/>
              </a:ext>
            </a:extLst>
          </p:cNvPr>
          <p:cNvSpPr>
            <a:spLocks noGrp="1"/>
          </p:cNvSpPr>
          <p:nvPr>
            <p:ph type="title"/>
          </p:nvPr>
        </p:nvSpPr>
        <p:spPr/>
        <p:txBody>
          <a:bodyPr/>
          <a:lstStyle/>
          <a:p>
            <a:r>
              <a:rPr lang="en-US" dirty="0"/>
              <a:t>Motivation</a:t>
            </a:r>
          </a:p>
        </p:txBody>
      </p:sp>
      <p:sp>
        <p:nvSpPr>
          <p:cNvPr id="3" name="Date Placeholder 2">
            <a:extLst>
              <a:ext uri="{FF2B5EF4-FFF2-40B4-BE49-F238E27FC236}">
                <a16:creationId xmlns:a16="http://schemas.microsoft.com/office/drawing/2014/main" id="{86F98861-D652-B6E5-8357-D0A1570773C1}"/>
              </a:ext>
            </a:extLst>
          </p:cNvPr>
          <p:cNvSpPr>
            <a:spLocks noGrp="1"/>
          </p:cNvSpPr>
          <p:nvPr>
            <p:ph type="dt" sz="half" idx="10"/>
          </p:nvPr>
        </p:nvSpPr>
        <p:spPr/>
        <p:txBody>
          <a:bodyPr/>
          <a:lstStyle/>
          <a:p>
            <a:fld id="{6F8B54AC-F7B0-4D97-865A-C5C2A5DC80D3}" type="datetime1">
              <a:rPr lang="en-US" smtClean="0"/>
              <a:t>8/27/2026</a:t>
            </a:fld>
            <a:endParaRPr lang="en-US"/>
          </a:p>
        </p:txBody>
      </p:sp>
      <p:sp>
        <p:nvSpPr>
          <p:cNvPr id="4" name="Slide Number Placeholder 3">
            <a:extLst>
              <a:ext uri="{FF2B5EF4-FFF2-40B4-BE49-F238E27FC236}">
                <a16:creationId xmlns:a16="http://schemas.microsoft.com/office/drawing/2014/main" id="{B4018CD4-E7A5-A58C-D0D0-B17B9BE5B7EA}"/>
              </a:ext>
            </a:extLst>
          </p:cNvPr>
          <p:cNvSpPr>
            <a:spLocks noGrp="1"/>
          </p:cNvSpPr>
          <p:nvPr>
            <p:ph type="sldNum" sz="quarter" idx="12"/>
          </p:nvPr>
        </p:nvSpPr>
        <p:spPr/>
        <p:txBody>
          <a:bodyPr/>
          <a:lstStyle/>
          <a:p>
            <a:fld id="{DA0BB241-1B5F-4309-9407-9EEA04D9598D}" type="slidenum">
              <a:rPr lang="en-US" smtClean="0"/>
              <a:t>35</a:t>
            </a:fld>
            <a:endParaRPr lang="en-US"/>
          </a:p>
        </p:txBody>
      </p:sp>
    </p:spTree>
    <p:extLst>
      <p:ext uri="{BB962C8B-B14F-4D97-AF65-F5344CB8AC3E}">
        <p14:creationId xmlns:p14="http://schemas.microsoft.com/office/powerpoint/2010/main" val="20435546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25ADF-B97D-3587-87BD-4182502B6656}"/>
              </a:ext>
            </a:extLst>
          </p:cNvPr>
          <p:cNvSpPr>
            <a:spLocks noGrp="1"/>
          </p:cNvSpPr>
          <p:nvPr>
            <p:ph type="title"/>
          </p:nvPr>
        </p:nvSpPr>
        <p:spPr/>
        <p:txBody>
          <a:bodyPr/>
          <a:lstStyle/>
          <a:p>
            <a:r>
              <a:rPr lang="en-US" noProof="0" dirty="0"/>
              <a:t>Finalizing the automation: Autotuning</a:t>
            </a:r>
          </a:p>
        </p:txBody>
      </p:sp>
      <p:sp>
        <p:nvSpPr>
          <p:cNvPr id="3" name="Content Placeholder 2">
            <a:extLst>
              <a:ext uri="{FF2B5EF4-FFF2-40B4-BE49-F238E27FC236}">
                <a16:creationId xmlns:a16="http://schemas.microsoft.com/office/drawing/2014/main" id="{2673B8B7-D0E9-6CB9-1502-D2F6FEE0D62F}"/>
              </a:ext>
            </a:extLst>
          </p:cNvPr>
          <p:cNvSpPr>
            <a:spLocks noGrp="1"/>
          </p:cNvSpPr>
          <p:nvPr>
            <p:ph idx="1"/>
          </p:nvPr>
        </p:nvSpPr>
        <p:spPr/>
        <p:txBody>
          <a:bodyPr/>
          <a:lstStyle/>
          <a:p>
            <a:r>
              <a:rPr lang="en-US" noProof="0" dirty="0"/>
              <a:t>Abstraction for integrating with an </a:t>
            </a:r>
            <a:r>
              <a:rPr lang="en-US" noProof="0" dirty="0" err="1"/>
              <a:t>autotuner</a:t>
            </a:r>
            <a:endParaRPr lang="en-US" noProof="0" dirty="0"/>
          </a:p>
          <a:p>
            <a:pPr lvl="1"/>
            <a:r>
              <a:rPr lang="en-US" noProof="0" dirty="0"/>
              <a:t>Agnostic to the specific backend</a:t>
            </a:r>
          </a:p>
          <a:p>
            <a:pPr lvl="1"/>
            <a:r>
              <a:rPr lang="en-US" noProof="0" dirty="0"/>
              <a:t>PoC with </a:t>
            </a:r>
            <a:r>
              <a:rPr lang="en-US" noProof="0" dirty="0" err="1"/>
              <a:t>OpenTuner</a:t>
            </a:r>
            <a:r>
              <a:rPr lang="en-US" noProof="0" dirty="0"/>
              <a:t>, </a:t>
            </a:r>
            <a:r>
              <a:rPr lang="en-US" noProof="0" dirty="0" err="1"/>
              <a:t>Optuna</a:t>
            </a:r>
            <a:r>
              <a:rPr lang="en-US" noProof="0" dirty="0"/>
              <a:t>, ATF</a:t>
            </a:r>
          </a:p>
          <a:p>
            <a:r>
              <a:rPr lang="en-US" noProof="0" dirty="0"/>
              <a:t>Autotuning enables automatic layout &amp; traversal transformations</a:t>
            </a:r>
          </a:p>
        </p:txBody>
      </p:sp>
      <p:sp>
        <p:nvSpPr>
          <p:cNvPr id="4" name="Date Placeholder 3">
            <a:extLst>
              <a:ext uri="{FF2B5EF4-FFF2-40B4-BE49-F238E27FC236}">
                <a16:creationId xmlns:a16="http://schemas.microsoft.com/office/drawing/2014/main" id="{5E3B39E5-5465-2C80-52E8-E554FA99A4BF}"/>
              </a:ext>
            </a:extLst>
          </p:cNvPr>
          <p:cNvSpPr>
            <a:spLocks noGrp="1"/>
          </p:cNvSpPr>
          <p:nvPr>
            <p:ph type="dt" sz="half" idx="10"/>
          </p:nvPr>
        </p:nvSpPr>
        <p:spPr/>
        <p:txBody>
          <a:bodyPr/>
          <a:lstStyle/>
          <a:p>
            <a:fld id="{7498A365-4C92-434C-A578-88C2CD9CB8CD}" type="datetime1">
              <a:rPr lang="en-US" smtClean="0"/>
              <a:t>8/27/2026</a:t>
            </a:fld>
            <a:endParaRPr lang="en-US"/>
          </a:p>
        </p:txBody>
      </p:sp>
      <p:sp>
        <p:nvSpPr>
          <p:cNvPr id="5" name="Slide Number Placeholder 4">
            <a:extLst>
              <a:ext uri="{FF2B5EF4-FFF2-40B4-BE49-F238E27FC236}">
                <a16:creationId xmlns:a16="http://schemas.microsoft.com/office/drawing/2014/main" id="{408B38A9-6C44-7CD4-F1F1-99524C51C9C4}"/>
              </a:ext>
            </a:extLst>
          </p:cNvPr>
          <p:cNvSpPr>
            <a:spLocks noGrp="1"/>
          </p:cNvSpPr>
          <p:nvPr>
            <p:ph type="sldNum" sz="quarter" idx="12"/>
          </p:nvPr>
        </p:nvSpPr>
        <p:spPr/>
        <p:txBody>
          <a:bodyPr/>
          <a:lstStyle/>
          <a:p>
            <a:fld id="{DA0BB241-1B5F-4309-9407-9EEA04D9598D}" type="slidenum">
              <a:rPr lang="en-US" smtClean="0"/>
              <a:t>36</a:t>
            </a:fld>
            <a:endParaRPr lang="en-US"/>
          </a:p>
        </p:txBody>
      </p:sp>
    </p:spTree>
    <p:extLst>
      <p:ext uri="{BB962C8B-B14F-4D97-AF65-F5344CB8AC3E}">
        <p14:creationId xmlns:p14="http://schemas.microsoft.com/office/powerpoint/2010/main" val="218768858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F5328-A4E6-AC76-4627-FB90089BB6D8}"/>
              </a:ext>
            </a:extLst>
          </p:cNvPr>
          <p:cNvSpPr>
            <a:spLocks noGrp="1"/>
          </p:cNvSpPr>
          <p:nvPr>
            <p:ph type="title"/>
          </p:nvPr>
        </p:nvSpPr>
        <p:spPr/>
        <p:txBody>
          <a:bodyPr/>
          <a:lstStyle/>
          <a:p>
            <a:r>
              <a:rPr lang="en-US" noProof="0" dirty="0"/>
              <a:t>Distributed computing</a:t>
            </a:r>
          </a:p>
        </p:txBody>
      </p:sp>
      <p:sp>
        <p:nvSpPr>
          <p:cNvPr id="3" name="Content Placeholder 2">
            <a:extLst>
              <a:ext uri="{FF2B5EF4-FFF2-40B4-BE49-F238E27FC236}">
                <a16:creationId xmlns:a16="http://schemas.microsoft.com/office/drawing/2014/main" id="{3CA0AA2D-BF91-A9FE-E55F-A715C4DD0CC6}"/>
              </a:ext>
            </a:extLst>
          </p:cNvPr>
          <p:cNvSpPr>
            <a:spLocks noGrp="1"/>
          </p:cNvSpPr>
          <p:nvPr>
            <p:ph idx="1"/>
          </p:nvPr>
        </p:nvSpPr>
        <p:spPr/>
        <p:txBody>
          <a:bodyPr/>
          <a:lstStyle/>
          <a:p>
            <a:r>
              <a:rPr lang="en-US" noProof="0" dirty="0"/>
              <a:t>Many scientific computations rely on spreading the load to many nodes</a:t>
            </a:r>
          </a:p>
          <a:p>
            <a:r>
              <a:rPr lang="en-US" noProof="0" dirty="0"/>
              <a:t>Designing distributed computations further increases the challenge</a:t>
            </a:r>
          </a:p>
          <a:p>
            <a:r>
              <a:rPr lang="en-US" noProof="0" dirty="0"/>
              <a:t>Many communication patterns can be described using the same principles as layouts &amp; traversals</a:t>
            </a:r>
          </a:p>
          <a:p>
            <a:r>
              <a:rPr lang="en-US" noProof="0" dirty="0"/>
              <a:t>New abstraction: faster &amp; more flexible/convenient than </a:t>
            </a:r>
            <a:r>
              <a:rPr lang="en-US" noProof="0" dirty="0" err="1"/>
              <a:t>SotA</a:t>
            </a:r>
            <a:endParaRPr lang="en-US" noProof="0" dirty="0"/>
          </a:p>
          <a:p>
            <a:pPr lvl="1"/>
            <a:r>
              <a:rPr lang="en-US" noProof="0" dirty="0"/>
              <a:t>Automatically communicates the layout with the MPI backend</a:t>
            </a:r>
          </a:p>
          <a:p>
            <a:pPr lvl="1"/>
            <a:r>
              <a:rPr lang="en-US" noProof="0" dirty="0"/>
              <a:t>Enables optimizing the layouts on each computation node seamlessly</a:t>
            </a:r>
          </a:p>
          <a:p>
            <a:endParaRPr lang="en-US" noProof="0" dirty="0"/>
          </a:p>
        </p:txBody>
      </p:sp>
      <p:sp>
        <p:nvSpPr>
          <p:cNvPr id="4" name="Date Placeholder 3">
            <a:extLst>
              <a:ext uri="{FF2B5EF4-FFF2-40B4-BE49-F238E27FC236}">
                <a16:creationId xmlns:a16="http://schemas.microsoft.com/office/drawing/2014/main" id="{00A4B826-8136-05AF-D025-DD0DDC6738E4}"/>
              </a:ext>
            </a:extLst>
          </p:cNvPr>
          <p:cNvSpPr>
            <a:spLocks noGrp="1"/>
          </p:cNvSpPr>
          <p:nvPr>
            <p:ph type="dt" sz="half" idx="10"/>
          </p:nvPr>
        </p:nvSpPr>
        <p:spPr/>
        <p:txBody>
          <a:bodyPr/>
          <a:lstStyle/>
          <a:p>
            <a:fld id="{F38D2CE3-9198-4CB2-A7D0-FF7AC24156EC}" type="datetime1">
              <a:rPr lang="en-US" smtClean="0"/>
              <a:t>8/27/2026</a:t>
            </a:fld>
            <a:endParaRPr lang="en-US"/>
          </a:p>
        </p:txBody>
      </p:sp>
      <p:sp>
        <p:nvSpPr>
          <p:cNvPr id="5" name="Slide Number Placeholder 4">
            <a:extLst>
              <a:ext uri="{FF2B5EF4-FFF2-40B4-BE49-F238E27FC236}">
                <a16:creationId xmlns:a16="http://schemas.microsoft.com/office/drawing/2014/main" id="{BC82AE9A-C01C-AE64-EDB8-E15507ACC14D}"/>
              </a:ext>
            </a:extLst>
          </p:cNvPr>
          <p:cNvSpPr>
            <a:spLocks noGrp="1"/>
          </p:cNvSpPr>
          <p:nvPr>
            <p:ph type="sldNum" sz="quarter" idx="12"/>
          </p:nvPr>
        </p:nvSpPr>
        <p:spPr/>
        <p:txBody>
          <a:bodyPr/>
          <a:lstStyle/>
          <a:p>
            <a:fld id="{DA0BB241-1B5F-4309-9407-9EEA04D9598D}" type="slidenum">
              <a:rPr lang="en-US" smtClean="0"/>
              <a:t>37</a:t>
            </a:fld>
            <a:endParaRPr lang="en-US"/>
          </a:p>
        </p:txBody>
      </p:sp>
    </p:spTree>
    <p:extLst>
      <p:ext uri="{BB962C8B-B14F-4D97-AF65-F5344CB8AC3E}">
        <p14:creationId xmlns:p14="http://schemas.microsoft.com/office/powerpoint/2010/main" val="376789864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924F1-4B00-84E0-3832-4B100046AF51}"/>
              </a:ext>
            </a:extLst>
          </p:cNvPr>
          <p:cNvSpPr>
            <a:spLocks noGrp="1"/>
          </p:cNvSpPr>
          <p:nvPr>
            <p:ph type="title"/>
          </p:nvPr>
        </p:nvSpPr>
        <p:spPr/>
        <p:txBody>
          <a:bodyPr/>
          <a:lstStyle/>
          <a:p>
            <a:r>
              <a:rPr lang="en-US" noProof="0" dirty="0"/>
              <a:t>Cellular automata</a:t>
            </a:r>
          </a:p>
        </p:txBody>
      </p:sp>
      <p:sp>
        <p:nvSpPr>
          <p:cNvPr id="3" name="Content Placeholder 2">
            <a:extLst>
              <a:ext uri="{FF2B5EF4-FFF2-40B4-BE49-F238E27FC236}">
                <a16:creationId xmlns:a16="http://schemas.microsoft.com/office/drawing/2014/main" id="{F22AF8FD-4C12-AFD8-ED43-50529A45C04D}"/>
              </a:ext>
            </a:extLst>
          </p:cNvPr>
          <p:cNvSpPr>
            <a:spLocks noGrp="1"/>
          </p:cNvSpPr>
          <p:nvPr>
            <p:ph idx="1"/>
          </p:nvPr>
        </p:nvSpPr>
        <p:spPr/>
        <p:txBody>
          <a:bodyPr/>
          <a:lstStyle/>
          <a:p>
            <a:r>
              <a:rPr lang="en-US" noProof="0" dirty="0"/>
              <a:t>We noticed that CA commonly benefit from </a:t>
            </a:r>
            <a:r>
              <a:rPr lang="en-US" noProof="0" dirty="0" err="1"/>
              <a:t>templatable</a:t>
            </a:r>
            <a:r>
              <a:rPr lang="en-US" noProof="0" dirty="0"/>
              <a:t> design decisions</a:t>
            </a:r>
          </a:p>
          <a:p>
            <a:pPr lvl="1"/>
            <a:r>
              <a:rPr lang="en-US" noProof="0" dirty="0"/>
              <a:t>Layout &amp; encoding options (! bit-packing)</a:t>
            </a:r>
          </a:p>
          <a:p>
            <a:pPr lvl="1"/>
            <a:r>
              <a:rPr lang="en-US" noProof="0" dirty="0"/>
              <a:t>Evaluation options (! bit-wise vectorization)</a:t>
            </a:r>
          </a:p>
          <a:p>
            <a:pPr lvl="1"/>
            <a:r>
              <a:rPr lang="en-US" noProof="0" dirty="0"/>
              <a:t>Traversal options (incl. parallelism)</a:t>
            </a:r>
          </a:p>
          <a:p>
            <a:r>
              <a:rPr lang="en-US" noProof="0" dirty="0"/>
              <a:t>Agnostic design of CA computation rules</a:t>
            </a:r>
          </a:p>
          <a:p>
            <a:r>
              <a:rPr lang="en-US" noProof="0" dirty="0"/>
              <a:t>Faster development, experimentation (optimization)</a:t>
            </a:r>
          </a:p>
        </p:txBody>
      </p:sp>
      <p:sp>
        <p:nvSpPr>
          <p:cNvPr id="4" name="Date Placeholder 3">
            <a:extLst>
              <a:ext uri="{FF2B5EF4-FFF2-40B4-BE49-F238E27FC236}">
                <a16:creationId xmlns:a16="http://schemas.microsoft.com/office/drawing/2014/main" id="{8B8D76D4-7FE7-601A-2FED-F1788152B8FA}"/>
              </a:ext>
            </a:extLst>
          </p:cNvPr>
          <p:cNvSpPr>
            <a:spLocks noGrp="1"/>
          </p:cNvSpPr>
          <p:nvPr>
            <p:ph type="dt" sz="half" idx="10"/>
          </p:nvPr>
        </p:nvSpPr>
        <p:spPr/>
        <p:txBody>
          <a:bodyPr/>
          <a:lstStyle/>
          <a:p>
            <a:fld id="{38B63626-FB7E-43AF-A630-48547F65CAA9}" type="datetime1">
              <a:rPr lang="en-US" smtClean="0"/>
              <a:t>8/27/2026</a:t>
            </a:fld>
            <a:endParaRPr lang="en-US"/>
          </a:p>
        </p:txBody>
      </p:sp>
      <p:sp>
        <p:nvSpPr>
          <p:cNvPr id="5" name="Slide Number Placeholder 4">
            <a:extLst>
              <a:ext uri="{FF2B5EF4-FFF2-40B4-BE49-F238E27FC236}">
                <a16:creationId xmlns:a16="http://schemas.microsoft.com/office/drawing/2014/main" id="{4A94CF2A-53FF-BA6B-CD23-FE846DAA0DB2}"/>
              </a:ext>
            </a:extLst>
          </p:cNvPr>
          <p:cNvSpPr>
            <a:spLocks noGrp="1"/>
          </p:cNvSpPr>
          <p:nvPr>
            <p:ph type="sldNum" sz="quarter" idx="12"/>
          </p:nvPr>
        </p:nvSpPr>
        <p:spPr/>
        <p:txBody>
          <a:bodyPr/>
          <a:lstStyle/>
          <a:p>
            <a:fld id="{DA0BB241-1B5F-4309-9407-9EEA04D9598D}" type="slidenum">
              <a:rPr lang="en-US" smtClean="0"/>
              <a:t>38</a:t>
            </a:fld>
            <a:endParaRPr lang="en-US"/>
          </a:p>
        </p:txBody>
      </p:sp>
    </p:spTree>
    <p:extLst>
      <p:ext uri="{BB962C8B-B14F-4D97-AF65-F5344CB8AC3E}">
        <p14:creationId xmlns:p14="http://schemas.microsoft.com/office/powerpoint/2010/main" val="5515698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07F39-5957-124B-D20D-4A155E0E07D1}"/>
              </a:ext>
            </a:extLst>
          </p:cNvPr>
          <p:cNvSpPr>
            <a:spLocks noGrp="1"/>
          </p:cNvSpPr>
          <p:nvPr>
            <p:ph type="title"/>
          </p:nvPr>
        </p:nvSpPr>
        <p:spPr/>
        <p:txBody>
          <a:bodyPr/>
          <a:lstStyle/>
          <a:p>
            <a:r>
              <a:rPr lang="en-US" noProof="0" dirty="0"/>
              <a:t>Summary</a:t>
            </a:r>
          </a:p>
        </p:txBody>
      </p:sp>
      <p:sp>
        <p:nvSpPr>
          <p:cNvPr id="3" name="Content Placeholder 2">
            <a:extLst>
              <a:ext uri="{FF2B5EF4-FFF2-40B4-BE49-F238E27FC236}">
                <a16:creationId xmlns:a16="http://schemas.microsoft.com/office/drawing/2014/main" id="{4437CB38-BBCE-B652-0445-A75C99068419}"/>
              </a:ext>
            </a:extLst>
          </p:cNvPr>
          <p:cNvSpPr>
            <a:spLocks noGrp="1"/>
          </p:cNvSpPr>
          <p:nvPr>
            <p:ph idx="1"/>
          </p:nvPr>
        </p:nvSpPr>
        <p:spPr/>
        <p:txBody>
          <a:bodyPr/>
          <a:lstStyle/>
          <a:p>
            <a:r>
              <a:rPr lang="en-US" noProof="0" dirty="0"/>
              <a:t>6 peer-reviewed publications </a:t>
            </a:r>
          </a:p>
          <a:p>
            <a:pPr lvl="1"/>
            <a:r>
              <a:rPr lang="en-US" noProof="0" dirty="0"/>
              <a:t>2 journal articles</a:t>
            </a:r>
          </a:p>
          <a:p>
            <a:pPr lvl="1"/>
            <a:r>
              <a:rPr lang="en-US" noProof="0" dirty="0"/>
              <a:t>3 conference papers,</a:t>
            </a:r>
          </a:p>
          <a:p>
            <a:pPr lvl="1"/>
            <a:r>
              <a:rPr lang="en-US" noProof="0" dirty="0"/>
              <a:t>1 workshop paper</a:t>
            </a:r>
          </a:p>
          <a:p>
            <a:r>
              <a:rPr lang="en-US" noProof="0" dirty="0"/>
              <a:t>1 publication awaiting peer review</a:t>
            </a:r>
          </a:p>
        </p:txBody>
      </p:sp>
      <p:sp>
        <p:nvSpPr>
          <p:cNvPr id="4" name="Date Placeholder 3">
            <a:extLst>
              <a:ext uri="{FF2B5EF4-FFF2-40B4-BE49-F238E27FC236}">
                <a16:creationId xmlns:a16="http://schemas.microsoft.com/office/drawing/2014/main" id="{D72BCC3D-18A5-9EDE-1667-AD034F4DFF49}"/>
              </a:ext>
            </a:extLst>
          </p:cNvPr>
          <p:cNvSpPr>
            <a:spLocks noGrp="1"/>
          </p:cNvSpPr>
          <p:nvPr>
            <p:ph type="dt" sz="half" idx="10"/>
          </p:nvPr>
        </p:nvSpPr>
        <p:spPr/>
        <p:txBody>
          <a:bodyPr/>
          <a:lstStyle/>
          <a:p>
            <a:fld id="{00EBD793-3DFE-450E-811C-0EAC8F7BDC8B}" type="datetime1">
              <a:rPr lang="en-US" smtClean="0"/>
              <a:t>8/27/2026</a:t>
            </a:fld>
            <a:endParaRPr lang="en-US"/>
          </a:p>
        </p:txBody>
      </p:sp>
      <p:sp>
        <p:nvSpPr>
          <p:cNvPr id="5" name="Slide Number Placeholder 4">
            <a:extLst>
              <a:ext uri="{FF2B5EF4-FFF2-40B4-BE49-F238E27FC236}">
                <a16:creationId xmlns:a16="http://schemas.microsoft.com/office/drawing/2014/main" id="{5A9FD139-0538-E77B-2AA9-F87C2925AC26}"/>
              </a:ext>
            </a:extLst>
          </p:cNvPr>
          <p:cNvSpPr>
            <a:spLocks noGrp="1"/>
          </p:cNvSpPr>
          <p:nvPr>
            <p:ph type="sldNum" sz="quarter" idx="12"/>
          </p:nvPr>
        </p:nvSpPr>
        <p:spPr/>
        <p:txBody>
          <a:bodyPr/>
          <a:lstStyle/>
          <a:p>
            <a:fld id="{DA0BB241-1B5F-4309-9407-9EEA04D9598D}" type="slidenum">
              <a:rPr lang="en-US" smtClean="0"/>
              <a:t>39</a:t>
            </a:fld>
            <a:endParaRPr lang="en-US"/>
          </a:p>
        </p:txBody>
      </p:sp>
    </p:spTree>
    <p:extLst>
      <p:ext uri="{BB962C8B-B14F-4D97-AF65-F5344CB8AC3E}">
        <p14:creationId xmlns:p14="http://schemas.microsoft.com/office/powerpoint/2010/main" val="42886263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3223</TotalTime>
  <Words>7019</Words>
  <Application>Microsoft Office PowerPoint</Application>
  <PresentationFormat>Widescreen</PresentationFormat>
  <Paragraphs>718</Paragraphs>
  <Slides>39</Slides>
  <Notes>30</Notes>
  <HiddenSlides>14</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39</vt:i4>
      </vt:variant>
    </vt:vector>
  </HeadingPairs>
  <TitlesOfParts>
    <vt:vector size="49" baseType="lpstr">
      <vt:lpstr>Aptos</vt:lpstr>
      <vt:lpstr>Aptos Display</vt:lpstr>
      <vt:lpstr>Arial</vt:lpstr>
      <vt:lpstr>Blackadder ITC</vt:lpstr>
      <vt:lpstr>Cambria Math</vt:lpstr>
      <vt:lpstr>DejaVuSansMono</vt:lpstr>
      <vt:lpstr>Fira Code</vt:lpstr>
      <vt:lpstr>RobotoMono</vt:lpstr>
      <vt:lpstr>Wingdings</vt:lpstr>
      <vt:lpstr>Office Theme</vt:lpstr>
      <vt:lpstr>Optimizing Memory Layouts and Traversal Orders in HPC</vt:lpstr>
      <vt:lpstr>Motivation for memory layouts</vt:lpstr>
      <vt:lpstr>Illustrative example: initialization algorithm</vt:lpstr>
      <vt:lpstr>Layout-agnostic design</vt:lpstr>
      <vt:lpstr>PowerPoint Presentation</vt:lpstr>
      <vt:lpstr>PowerPoint Presentation</vt:lpstr>
      <vt:lpstr>PowerPoint Presentation</vt:lpstr>
      <vt:lpstr>PowerPoint Presentation</vt:lpstr>
      <vt:lpstr>PowerPoint Presentation</vt:lpstr>
      <vt:lpstr>Results</vt:lpstr>
      <vt:lpstr>Results</vt:lpstr>
      <vt:lpstr>Distributed initialization</vt:lpstr>
      <vt:lpstr>PowerPoint Presentation</vt:lpstr>
      <vt:lpstr>Results</vt:lpstr>
      <vt:lpstr>PowerPoint Presentation</vt:lpstr>
      <vt:lpstr>PowerPoint Presentation</vt:lpstr>
      <vt:lpstr>Results</vt:lpstr>
      <vt:lpstr>Motivation</vt:lpstr>
      <vt:lpstr>Tutoring LLMs</vt:lpstr>
      <vt:lpstr>Tutoring LLMs</vt:lpstr>
      <vt:lpstr>LLMs and abstractions</vt:lpstr>
      <vt:lpstr>LLMs and abstractions</vt:lpstr>
      <vt:lpstr>Contribution map</vt:lpstr>
      <vt:lpstr>PowerPoint Presentation</vt:lpstr>
      <vt:lpstr>PowerPoint Presentation</vt:lpstr>
      <vt:lpstr>Contribution map</vt:lpstr>
      <vt:lpstr>PowerPoint Presentation</vt:lpstr>
      <vt:lpstr>PowerPoint Presentation</vt:lpstr>
      <vt:lpstr>Automatization and simplification</vt:lpstr>
      <vt:lpstr>Small step: ?? layout agnostic design</vt:lpstr>
      <vt:lpstr>Layout- and Traversal-agnostic design</vt:lpstr>
      <vt:lpstr>PowerPoint Presentation</vt:lpstr>
      <vt:lpstr>Layout-agnostic design</vt:lpstr>
      <vt:lpstr>?? Traversal agnostic design</vt:lpstr>
      <vt:lpstr>Motivation</vt:lpstr>
      <vt:lpstr>Finalizing the automation: Autotuning</vt:lpstr>
      <vt:lpstr>Distributed computing</vt:lpstr>
      <vt:lpstr>Cellular automata</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96</cp:revision>
  <dcterms:created xsi:type="dcterms:W3CDTF">2026-08-08T18:10:38Z</dcterms:created>
  <dcterms:modified xsi:type="dcterms:W3CDTF">2026-08-27T19:12:43Z</dcterms:modified>
</cp:coreProperties>
</file>