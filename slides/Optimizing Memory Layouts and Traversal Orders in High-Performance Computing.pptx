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68" r:id="rId3"/>
    <p:sldId id="269" r:id="rId4"/>
    <p:sldId id="270" r:id="rId5"/>
    <p:sldId id="271" r:id="rId6"/>
    <p:sldId id="265" r:id="rId7"/>
    <p:sldId id="263" r:id="rId8"/>
    <p:sldId id="264" r:id="rId9"/>
    <p:sldId id="258" r:id="rId10"/>
    <p:sldId id="259" r:id="rId11"/>
    <p:sldId id="260" r:id="rId12"/>
    <p:sldId id="266" r:id="rId13"/>
    <p:sldId id="261" r:id="rId14"/>
    <p:sldId id="26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93DA01B-4D9B-48A0-906B-75ADFA7BB1A7}">
          <p14:sldIdLst>
            <p14:sldId id="256"/>
            <p14:sldId id="268"/>
            <p14:sldId id="269"/>
            <p14:sldId id="270"/>
            <p14:sldId id="271"/>
            <p14:sldId id="265"/>
            <p14:sldId id="263"/>
            <p14:sldId id="264"/>
          </p14:sldIdLst>
        </p14:section>
        <p14:section name="abstractions" id="{F6342274-5FB1-4B75-B42A-2A7654908FF8}">
          <p14:sldIdLst>
            <p14:sldId id="258"/>
          </p14:sldIdLst>
        </p14:section>
        <p14:section name="llms" id="{2FE3CF17-CBFB-48E9-A3BF-DD99B7D2F01E}">
          <p14:sldIdLst>
            <p14:sldId id="259"/>
          </p14:sldIdLst>
        </p14:section>
        <p14:section name="sw artifacts" id="{C643FBD2-A5DD-453D-B5B5-69D3884A4C2F}">
          <p14:sldIdLst>
            <p14:sldId id="260"/>
          </p14:sldIdLst>
        </p14:section>
        <p14:section name="summary" id="{D3BAAF83-51D3-4EFD-B7CC-7BA6DAC4A838}">
          <p14:sldIdLst>
            <p14:sldId id="266"/>
            <p14:sldId id="261"/>
          </p14:sldIdLst>
        </p14:section>
        <p14:section name="Reviewers' comments" id="{40190F67-0659-405D-810E-4AC194B72FA5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7" autoAdjust="0"/>
    <p:restoredTop sz="94660"/>
  </p:normalViewPr>
  <p:slideViewPr>
    <p:cSldViewPr snapToGrid="0">
      <p:cViewPr varScale="1">
        <p:scale>
          <a:sx n="147" d="100"/>
          <a:sy n="147" d="100"/>
        </p:scale>
        <p:origin x="306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A5C982-A1C5-4AC2-B4BF-466515DA1494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A8FD632-245B-410D-BCC4-8BF8D37AB67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0353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A8FD632-245B-410D-BCC4-8BF8D37AB67F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60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24E6A-D33D-8110-940D-8ADB53871B9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B735A9C-A9D7-B34C-B1DD-7CD1BC961A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45D912-7048-8F27-7BE0-2F656D101A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A5DD48-9F56-1FDB-7526-16D2FDD7CF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22EED6-4A9E-31FB-8AD8-6AEEFF78F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12807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F19736-03C4-0888-E0C9-B6C6EFC002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24EDB-8F0A-A7EA-BE9D-63855B5D47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DAEB4C-D570-B20A-A37B-380D40727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AF79E2F-597B-96EF-11C9-247263E6D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51C646-CE53-F04F-042E-92713E7C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511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8B13B0-6E5E-27A0-8786-FF5AE46CE3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4712A8A-694B-7C92-789C-B57BB8DE0E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250D77-986E-91D4-2F3C-6C8CB253E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3C4CF3-8611-69CD-8CAA-743B79FCB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9AB618-6ADA-3D47-19A0-0B17DA3E85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660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1FF19E-9477-ABC3-DE67-B3FE3FD537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959AAE2-3733-5697-3768-F61A390DFD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FCC2537-3C2D-37C4-2000-C59419B574C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1EE3ED-7136-8E71-4128-670371562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87F66-93B5-7C98-7C4D-C77DF36D63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F92242-6F18-B2F8-D3B6-CA96CF07AD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1145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7216E4-EA83-568A-BD1D-97FF900D3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9286F84-DF28-2E19-BA71-6C71F5C694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A76E13-935D-A461-39CB-9D91E0AD0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57AA7A5-CE10-08CF-A9AA-B0EFD3AE08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431AE9-8865-4C87-15FF-F85F79BDEFF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BFCD46F-370C-F6C9-8756-1AA52353B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65DE77E-D1BD-6C4E-A351-50C02A7CAB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47FDFF7-A273-AFCC-8687-0039D14EFD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872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B6FD40-2BC9-24C5-22AC-D7BE6AB905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52EA9A8-BE9F-AE49-CCCC-A6BFD7DC29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F3555CB-E870-615F-B8C7-30BC20AFF6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5F43D1-4FC1-76B7-2DC0-8B1655EE8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7065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3DC56D-B067-54DC-982C-DE19DBDEA8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8AA151F-F6E0-3ECD-123C-D099281001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A3AE01-68A1-DD4C-C934-7A8AC50A2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5519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2EFCA-330E-F9B4-E57C-E7E46227B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EF94D5-9F84-5439-E16B-B83DFBCB3F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3FB607-1564-B05D-3D77-AB5C96794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CE60C3B-07A0-E067-0C8C-AE46543D1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672EA1-1498-5D77-A116-5A0229027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59419BD-8F55-0DB5-E7A4-B2D65F3D4D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018266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AEA6B6-838D-F8ED-BDA3-2A162DF6C0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2ABD07F-0AEC-095A-51B1-BCBAF78FF93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0C15C3-DA68-E56D-39FE-12682CE8458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B427CC-7335-E85B-F994-ECED937697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65D5C9-7347-6515-DE00-D89BEB8EBB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21FEE5-DCD3-D8BE-62C7-D756A7F33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9165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4E43D8-02AC-2914-9FED-616D6AB422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AB5568-29BC-DFED-ABFE-8CB9972CD88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7ACC50-EA82-80A5-543B-E10B8CB99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496697-F033-841A-79EF-51DC7E046A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A364F-BF8C-D383-E70E-5C199E402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6107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FEFD78-33C7-A6E2-827C-308D2441175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C174DE-9768-CB18-7AE9-11A18E818A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F0FA62-F86E-B4BB-30E3-DEB6FC314D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F57E82-5604-4F8C-BCFA-F7C026884391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387A909-05FF-1D16-6D0B-DCA5B2C177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86DEDF-AF23-D167-C1D4-F648EF1CD4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0573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3705DFF-00C9-BEC9-4FC3-920066B122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ABA2AF-CC90-3FC4-EEF7-E1A8D525A3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99049E-4FCE-FF74-9683-28A5B1FA98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3F57E82-5604-4F8C-BCFA-F7C026884391}" type="datetimeFigureOut">
              <a:rPr lang="en-US" smtClean="0"/>
              <a:t>8/23/2026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567B93-70A1-78F2-3159-EEE138DB533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426FB6-9E0D-15E5-E967-0981DEBDF9A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0BB241-1B5F-4309-9407-9EEA04D959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80366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7BE8F1-FAE5-377F-D044-781D68E1705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Optimizing Memory Layouts and Traversal Orders in HPC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7F78056-B306-9784-24C5-9BBCFE1E019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Ji</a:t>
            </a:r>
            <a:r>
              <a:rPr lang="cs-CZ" dirty="0"/>
              <a:t>ří Klepl</a:t>
            </a:r>
          </a:p>
          <a:p>
            <a:r>
              <a:rPr lang="en-US" dirty="0"/>
              <a:t>Department of Distributed and Dependable Systems</a:t>
            </a:r>
          </a:p>
        </p:txBody>
      </p:sp>
    </p:spTree>
    <p:extLst>
      <p:ext uri="{BB962C8B-B14F-4D97-AF65-F5344CB8AC3E}">
        <p14:creationId xmlns:p14="http://schemas.microsoft.com/office/powerpoint/2010/main" val="4147410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043B47-263E-C46D-0276-B63FF60C41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F2A90F-7540-DC59-26EA-C4E197B076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accent3"/>
                </a:solidFill>
              </a:rPr>
              <a:t>Data layout </a:t>
            </a:r>
            <a:r>
              <a:rPr lang="en-US" dirty="0"/>
              <a:t>(matrix - row/col major), </a:t>
            </a:r>
            <a:r>
              <a:rPr lang="en-US" dirty="0">
                <a:solidFill>
                  <a:schemeClr val="accent3"/>
                </a:solidFill>
              </a:rPr>
              <a:t>traversal order </a:t>
            </a:r>
            <a:r>
              <a:rPr lang="en-US" dirty="0"/>
              <a:t>(row/col-wise)</a:t>
            </a:r>
          </a:p>
          <a:p>
            <a:pPr lvl="1"/>
            <a:r>
              <a:rPr lang="en-US" dirty="0"/>
              <a:t>This case: match = good; not match = not good </a:t>
            </a:r>
            <a:r>
              <a:rPr lang="en-US" dirty="0">
                <a:sym typeface="Wingdings" panose="05000000000000000000" pitchFamily="2" charset="2"/>
              </a:rPr>
              <a:t> idea</a:t>
            </a:r>
            <a:endParaRPr lang="en-US" dirty="0"/>
          </a:p>
          <a:p>
            <a:pPr lvl="2"/>
            <a:r>
              <a:rPr lang="en-US" dirty="0">
                <a:solidFill>
                  <a:srgbClr val="FF0000"/>
                </a:solidFill>
              </a:rPr>
              <a:t>Sometimes can change both </a:t>
            </a:r>
          </a:p>
          <a:p>
            <a:pPr lvl="1"/>
            <a:r>
              <a:rPr lang="en-US" dirty="0"/>
              <a:t>Real use cases</a:t>
            </a:r>
          </a:p>
          <a:p>
            <a:pPr lvl="2"/>
            <a:r>
              <a:rPr lang="en-US" dirty="0"/>
              <a:t>Algorithms more complex; </a:t>
            </a:r>
            <a:r>
              <a:rPr lang="en-US" dirty="0" err="1"/>
              <a:t>eg</a:t>
            </a:r>
            <a:r>
              <a:rPr lang="en-US" dirty="0"/>
              <a:t>:</a:t>
            </a:r>
          </a:p>
          <a:p>
            <a:pPr lvl="3"/>
            <a:r>
              <a:rPr lang="en-US" dirty="0"/>
              <a:t>Multiple data structures</a:t>
            </a:r>
          </a:p>
          <a:p>
            <a:pPr lvl="3"/>
            <a:r>
              <a:rPr lang="en-US" dirty="0"/>
              <a:t>Traversals not simple perfect loop nests</a:t>
            </a:r>
          </a:p>
          <a:p>
            <a:pPr lvl="2"/>
            <a:r>
              <a:rPr lang="en-US" dirty="0"/>
              <a:t>Hardware many features; </a:t>
            </a:r>
            <a:r>
              <a:rPr lang="en-US" dirty="0" err="1"/>
              <a:t>eg</a:t>
            </a:r>
            <a:r>
              <a:rPr lang="en-US" dirty="0"/>
              <a:t>:</a:t>
            </a:r>
          </a:p>
          <a:p>
            <a:pPr lvl="3"/>
            <a:r>
              <a:rPr lang="en-US" dirty="0">
                <a:solidFill>
                  <a:schemeClr val="accent3"/>
                </a:solidFill>
              </a:rPr>
              <a:t>Caches</a:t>
            </a:r>
            <a:r>
              <a:rPr lang="en-US" dirty="0"/>
              <a:t>, memory bandwidths/capacities, etc.</a:t>
            </a:r>
          </a:p>
          <a:p>
            <a:pPr lvl="3"/>
            <a:r>
              <a:rPr lang="en-US" dirty="0"/>
              <a:t>Multiple proc. units</a:t>
            </a:r>
          </a:p>
          <a:p>
            <a:pPr lvl="2"/>
            <a:r>
              <a:rPr lang="en-US" dirty="0">
                <a:solidFill>
                  <a:schemeClr val="accent3"/>
                </a:solidFill>
              </a:rPr>
              <a:t>More optimized 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 more complex, less portable (each </a:t>
            </a:r>
            <a:r>
              <a:rPr lang="en-US" dirty="0" err="1">
                <a:solidFill>
                  <a:schemeClr val="accent3"/>
                </a:solidFill>
                <a:sym typeface="Wingdings" panose="05000000000000000000" pitchFamily="2" charset="2"/>
              </a:rPr>
              <a:t>hwarch</a:t>
            </a:r>
            <a:r>
              <a:rPr lang="en-US" dirty="0">
                <a:solidFill>
                  <a:schemeClr val="accent3"/>
                </a:solidFill>
                <a:sym typeface="Wingdings" panose="05000000000000000000" pitchFamily="2" charset="2"/>
              </a:rPr>
              <a:t> different decisions)</a:t>
            </a:r>
            <a:endParaRPr lang="en-US" dirty="0">
              <a:solidFill>
                <a:schemeClr val="accent3"/>
              </a:solidFill>
            </a:endParaRPr>
          </a:p>
          <a:p>
            <a:pPr lvl="2"/>
            <a:r>
              <a:rPr lang="en-US" dirty="0">
                <a:solidFill>
                  <a:schemeClr val="accent3"/>
                </a:solidFill>
              </a:rPr>
              <a:t>No analytical solutions – evidence: use of </a:t>
            </a:r>
            <a:r>
              <a:rPr lang="en-US" dirty="0" err="1">
                <a:solidFill>
                  <a:schemeClr val="accent3"/>
                </a:solidFill>
              </a:rPr>
              <a:t>pgo</a:t>
            </a:r>
            <a:r>
              <a:rPr lang="en-US" dirty="0">
                <a:solidFill>
                  <a:schemeClr val="accent3"/>
                </a:solidFill>
              </a:rPr>
              <a:t>, autotuning, </a:t>
            </a:r>
            <a:r>
              <a:rPr lang="en-US" dirty="0" err="1">
                <a:solidFill>
                  <a:schemeClr val="accent3"/>
                </a:solidFill>
              </a:rPr>
              <a:t>ev</a:t>
            </a:r>
            <a:r>
              <a:rPr lang="en-US" dirty="0">
                <a:solidFill>
                  <a:schemeClr val="accent3"/>
                </a:solidFill>
              </a:rPr>
              <a:t>. alg., etc.</a:t>
            </a:r>
          </a:p>
          <a:p>
            <a:pPr lvl="1"/>
            <a:r>
              <a:rPr lang="en-US" dirty="0">
                <a:solidFill>
                  <a:srgbClr val="FF0000"/>
                </a:solidFill>
              </a:rPr>
              <a:t>Real-world data, dimensions ~~ semantic meaning (image x, y, channel)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9572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56C07C-65B7-F09E-1FC3-13A2803F5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Automatization and simplification</a:t>
            </a: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A72CA4-DE0C-C168-CA4C-3E1D449376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Abstraction with swappable building blocks</a:t>
            </a:r>
          </a:p>
          <a:p>
            <a:pPr lvl="1"/>
            <a:r>
              <a:rPr lang="en-US" dirty="0"/>
              <a:t>Autotuning chooses the bb</a:t>
            </a:r>
          </a:p>
          <a:p>
            <a:pPr lvl="1"/>
            <a:r>
              <a:rPr lang="en-US" dirty="0"/>
              <a:t>Layout-agnosticism; traversal-agnosticism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LLMs</a:t>
            </a:r>
          </a:p>
          <a:p>
            <a:pPr lvl="1"/>
            <a:r>
              <a:rPr lang="en-US" dirty="0"/>
              <a:t>First phase: the API is fixed, AI can do the magic</a:t>
            </a:r>
          </a:p>
          <a:p>
            <a:pPr lvl="1"/>
            <a:r>
              <a:rPr lang="en-US" dirty="0"/>
              <a:t>Second phase: how to improve the magic? Do the abstractions help?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399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486C2A-DE9D-7966-AEFE-4393C57CF5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Small step: layout 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AA056-645F-427D-52A3-1F81FFA685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For a fixed </a:t>
            </a:r>
            <a:r>
              <a:rPr lang="en-US" dirty="0" err="1"/>
              <a:t>algorithm+traversal</a:t>
            </a:r>
            <a:r>
              <a:rPr lang="en-US" dirty="0"/>
              <a:t>, allow different layouts</a:t>
            </a:r>
          </a:p>
          <a:p>
            <a:pPr lvl="1"/>
            <a:r>
              <a:rPr lang="en-US" dirty="0"/>
              <a:t>Not entirely new idea: </a:t>
            </a:r>
            <a:r>
              <a:rPr lang="en-US" dirty="0" err="1"/>
              <a:t>Kokkoss</a:t>
            </a:r>
            <a:r>
              <a:rPr lang="en-US" dirty="0"/>
              <a:t>::View, </a:t>
            </a:r>
            <a:r>
              <a:rPr lang="en-US" dirty="0" err="1"/>
              <a:t>numpy.ndarray</a:t>
            </a:r>
            <a:r>
              <a:rPr lang="en-US" dirty="0"/>
              <a:t>, many others</a:t>
            </a:r>
          </a:p>
          <a:p>
            <a:r>
              <a:rPr lang="en-US" dirty="0" err="1"/>
              <a:t>Noarr</a:t>
            </a:r>
            <a:r>
              <a:rPr lang="en-US" dirty="0"/>
              <a:t> Structures</a:t>
            </a:r>
          </a:p>
          <a:p>
            <a:pPr lvl="1"/>
            <a:r>
              <a:rPr lang="en-US" dirty="0"/>
              <a:t>Abstraction for building &amp; transforming layouts</a:t>
            </a:r>
          </a:p>
          <a:p>
            <a:pPr lvl="2"/>
            <a:r>
              <a:rPr lang="en-US" dirty="0"/>
              <a:t>Separated from memory management </a:t>
            </a:r>
            <a:r>
              <a:rPr lang="en-US" dirty="0">
                <a:sym typeface="Wingdings" panose="05000000000000000000" pitchFamily="2" charset="2"/>
              </a:rPr>
              <a:t> can be paired with </a:t>
            </a:r>
            <a:r>
              <a:rPr lang="en-US" dirty="0" err="1">
                <a:sym typeface="Wingdings" panose="05000000000000000000" pitchFamily="2" charset="2"/>
              </a:rPr>
              <a:t>mmap</a:t>
            </a:r>
            <a:r>
              <a:rPr lang="en-US" dirty="0">
                <a:sym typeface="Wingdings" panose="05000000000000000000" pitchFamily="2" charset="2"/>
              </a:rPr>
              <a:t>, __shared__</a:t>
            </a:r>
            <a:endParaRPr lang="en-US" dirty="0"/>
          </a:p>
          <a:p>
            <a:pPr lvl="1"/>
            <a:r>
              <a:rPr lang="en-US" dirty="0"/>
              <a:t>Effortless static extents </a:t>
            </a:r>
            <a:r>
              <a:rPr lang="en-US" dirty="0">
                <a:sym typeface="Wingdings" panose="05000000000000000000" pitchFamily="2" charset="2"/>
              </a:rPr>
              <a:t> better compiler optimizations, faster</a:t>
            </a:r>
          </a:p>
          <a:p>
            <a:pPr lvl="2"/>
            <a:r>
              <a:rPr lang="en-US" dirty="0"/>
              <a:t>Static parameters encoded in type (no overhead until used)</a:t>
            </a:r>
          </a:p>
          <a:p>
            <a:pPr lvl="1"/>
            <a:r>
              <a:rPr lang="en-US" dirty="0"/>
              <a:t>Based on functional composition algebra </a:t>
            </a:r>
            <a:r>
              <a:rPr lang="en-US" dirty="0">
                <a:sym typeface="Wingdings" panose="05000000000000000000" pitchFamily="2" charset="2"/>
              </a:rPr>
              <a:t> easily extensible/reusable</a:t>
            </a:r>
            <a:endParaRPr lang="en-US" dirty="0"/>
          </a:p>
          <a:p>
            <a:pPr lvl="2"/>
            <a:r>
              <a:rPr lang="en-US" dirty="0"/>
              <a:t>Unlike std::</a:t>
            </a:r>
            <a:r>
              <a:rPr lang="en-US" dirty="0" err="1"/>
              <a:t>mdspan</a:t>
            </a:r>
            <a:r>
              <a:rPr lang="en-US" dirty="0"/>
              <a:t> or </a:t>
            </a:r>
            <a:r>
              <a:rPr lang="en-US" dirty="0" err="1"/>
              <a:t>Kokkos</a:t>
            </a:r>
            <a:r>
              <a:rPr lang="en-US" dirty="0"/>
              <a:t>::View, others</a:t>
            </a:r>
          </a:p>
          <a:p>
            <a:pPr lvl="2"/>
            <a:r>
              <a:rPr lang="en-US" dirty="0"/>
              <a:t>Later adopted by CUTLASS </a:t>
            </a:r>
            <a:r>
              <a:rPr lang="en-US" dirty="0" err="1"/>
              <a:t>CUTe</a:t>
            </a:r>
            <a:endParaRPr lang="en-US" dirty="0"/>
          </a:p>
          <a:p>
            <a:pPr lvl="1"/>
            <a:r>
              <a:rPr lang="en-US" dirty="0"/>
              <a:t>Named dimensions </a:t>
            </a:r>
            <a:r>
              <a:rPr lang="en-US" dirty="0">
                <a:sym typeface="Wingdings" panose="05000000000000000000" pitchFamily="2" charset="2"/>
              </a:rPr>
              <a:t> reasonable API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881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66F341-5BBA-043E-301E-387913EC14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1CC203-309F-C580-057C-3B0A30FCD3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many cases, changing traversals easier than structures</a:t>
            </a:r>
          </a:p>
          <a:p>
            <a:r>
              <a:rPr lang="en-US" dirty="0"/>
              <a:t>So focus on traversals</a:t>
            </a:r>
          </a:p>
          <a:p>
            <a:r>
              <a:rPr lang="en-US" dirty="0"/>
              <a:t>Traversal transformations can use the same principles</a:t>
            </a:r>
          </a:p>
          <a:p>
            <a:r>
              <a:rPr lang="en-US" dirty="0"/>
              <a:t>Traversers: </a:t>
            </a:r>
            <a:r>
              <a:rPr lang="en-US" dirty="0" err="1"/>
              <a:t>kinda</a:t>
            </a:r>
            <a:r>
              <a:rPr lang="en-US" dirty="0"/>
              <a:t> like iterators or range views</a:t>
            </a:r>
          </a:p>
          <a:p>
            <a:r>
              <a:rPr lang="en-US" dirty="0"/>
              <a:t>Extending transformations: blocking, spans, renaming, …</a:t>
            </a:r>
          </a:p>
          <a:p>
            <a:r>
              <a:rPr lang="en-US" dirty="0"/>
              <a:t>Simplifies parallelization (on TBB and CUDA)</a:t>
            </a:r>
          </a:p>
          <a:p>
            <a:pPr lvl="1"/>
            <a:r>
              <a:rPr lang="en-US" dirty="0"/>
              <a:t>(Named) dimensions of traversal can bind </a:t>
            </a:r>
            <a:r>
              <a:rPr lang="en-US"/>
              <a:t>to dimension of the para BE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61212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DF7620-7AA1-EF30-FDC7-27AAC7FFE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42AB4-1D66-61B5-41F3-D1C814D6D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 &amp; 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71ADE-62E2-F5C5-38A6-5FA51E07F9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Motivation: GPU &amp; Cluster computing</a:t>
            </a:r>
          </a:p>
          <a:p>
            <a:pPr lvl="1"/>
            <a:r>
              <a:rPr lang="en-US" dirty="0"/>
              <a:t>Too many decisions, complex code (you don’t know) </a:t>
            </a:r>
            <a:r>
              <a:rPr lang="en-US" dirty="0">
                <a:sym typeface="Wingdings" panose="05000000000000000000" pitchFamily="2" charset="2"/>
              </a:rPr>
              <a:t> the problem, it is hard</a:t>
            </a:r>
            <a:endParaRPr lang="en-US" dirty="0"/>
          </a:p>
          <a:p>
            <a:pPr lvl="2"/>
            <a:r>
              <a:rPr lang="en-US" dirty="0"/>
              <a:t>layout options, traversal options, parallelization (Matice, </a:t>
            </a:r>
            <a:r>
              <a:rPr lang="en-US" dirty="0" err="1"/>
              <a:t>pruchod</a:t>
            </a:r>
            <a:r>
              <a:rPr lang="en-US" dirty="0"/>
              <a:t>; </a:t>
            </a:r>
            <a:r>
              <a:rPr lang="en-US" dirty="0" err="1"/>
              <a:t>nasobeni</a:t>
            </a:r>
            <a:r>
              <a:rPr lang="en-US" dirty="0"/>
              <a:t>?)</a:t>
            </a:r>
          </a:p>
          <a:p>
            <a:pPr lvl="2"/>
            <a:r>
              <a:rPr lang="en-US" dirty="0"/>
              <a:t>parameters for the above (block sizes, …)</a:t>
            </a:r>
          </a:p>
          <a:p>
            <a:r>
              <a:rPr lang="en-US" dirty="0"/>
              <a:t>Our solution: Abstraction &amp; automatization </a:t>
            </a:r>
            <a:r>
              <a:rPr lang="en-US" dirty="0">
                <a:sym typeface="Wingdings" panose="05000000000000000000" pitchFamily="2" charset="2"/>
              </a:rPr>
              <a:t> we offer a solution</a:t>
            </a:r>
            <a:endParaRPr lang="en-US" dirty="0"/>
          </a:p>
          <a:p>
            <a:pPr lvl="1"/>
            <a:r>
              <a:rPr lang="en-US" dirty="0"/>
              <a:t>Separation of concerns, independent aspects</a:t>
            </a:r>
          </a:p>
          <a:p>
            <a:pPr lvl="1"/>
            <a:r>
              <a:rPr lang="en-US" dirty="0"/>
              <a:t>Introducing layout-agnostic and traversal-agnostic algorithm design</a:t>
            </a:r>
          </a:p>
          <a:p>
            <a:pPr lvl="1"/>
            <a:r>
              <a:rPr lang="en-US" dirty="0"/>
              <a:t>How the world is saved</a:t>
            </a:r>
          </a:p>
        </p:txBody>
      </p:sp>
    </p:spTree>
    <p:extLst>
      <p:ext uri="{BB962C8B-B14F-4D97-AF65-F5344CB8AC3E}">
        <p14:creationId xmlns:p14="http://schemas.microsoft.com/office/powerpoint/2010/main" val="14089203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0110-1A1D-46C5-865E-8C33FFF09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Layout-agnostic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98E21C-63B1-8313-A72D-D4A24D26FB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Algorithm with explicit offset calculations × Algorithm with logical indices</a:t>
            </a:r>
          </a:p>
        </p:txBody>
      </p:sp>
    </p:spTree>
    <p:extLst>
      <p:ext uri="{BB962C8B-B14F-4D97-AF65-F5344CB8AC3E}">
        <p14:creationId xmlns:p14="http://schemas.microsoft.com/office/powerpoint/2010/main" val="350365173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94F90E-47C1-8163-3DF3-3F88A625B9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Traversal-agnostic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21D725-871B-DFB5-1476-7BE78B1195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go even further</a:t>
            </a:r>
          </a:p>
        </p:txBody>
      </p:sp>
    </p:spTree>
    <p:extLst>
      <p:ext uri="{BB962C8B-B14F-4D97-AF65-F5344CB8AC3E}">
        <p14:creationId xmlns:p14="http://schemas.microsoft.com/office/powerpoint/2010/main" val="30263436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4D8EA-565C-C8A0-F333-6EBD085AC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Proposed abstractions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0BC514-DFF4-C541-7399-85275B2EB0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Layout abstractions</a:t>
            </a:r>
          </a:p>
          <a:p>
            <a:r>
              <a:rPr lang="en-US" dirty="0"/>
              <a:t>Traversal abstractions</a:t>
            </a:r>
          </a:p>
          <a:p>
            <a:endParaRPr lang="en-US" dirty="0"/>
          </a:p>
          <a:p>
            <a:r>
              <a:rPr lang="en-US" dirty="0"/>
              <a:t>Extensions</a:t>
            </a:r>
          </a:p>
          <a:p>
            <a:pPr lvl="1"/>
            <a:r>
              <a:rPr lang="en-US" dirty="0"/>
              <a:t>? Practical aspects; </a:t>
            </a:r>
            <a:r>
              <a:rPr lang="en-US" dirty="0">
                <a:sym typeface="Wingdings" panose="05000000000000000000" pitchFamily="2" charset="2"/>
              </a:rPr>
              <a:t> autotuning</a:t>
            </a:r>
            <a:endParaRPr lang="en-US" dirty="0"/>
          </a:p>
          <a:p>
            <a:pPr lvl="1"/>
            <a:r>
              <a:rPr lang="en-US" dirty="0"/>
              <a:t>Distributed computing</a:t>
            </a:r>
          </a:p>
          <a:p>
            <a:endParaRPr lang="en-US" dirty="0"/>
          </a:p>
          <a:p>
            <a:r>
              <a:rPr lang="en-US" dirty="0"/>
              <a:t>Knowledge </a:t>
            </a:r>
            <a:r>
              <a:rPr lang="en-US" dirty="0" err="1"/>
              <a:t>neco</a:t>
            </a:r>
            <a:r>
              <a:rPr lang="en-US" dirty="0"/>
              <a:t> (</a:t>
            </a:r>
            <a:r>
              <a:rPr lang="en-US" dirty="0" err="1"/>
              <a:t>metaprogramovani</a:t>
            </a:r>
            <a:r>
              <a:rPr lang="en-US" dirty="0"/>
              <a:t>, </a:t>
            </a:r>
            <a:r>
              <a:rPr lang="en-US" dirty="0" err="1"/>
              <a:t>stavebni</a:t>
            </a:r>
            <a:r>
              <a:rPr lang="en-US" dirty="0"/>
              <a:t> </a:t>
            </a:r>
            <a:r>
              <a:rPr lang="en-US" dirty="0" err="1"/>
              <a:t>bloky</a:t>
            </a:r>
            <a:r>
              <a:rPr lang="en-US" dirty="0"/>
              <a:t>, </a:t>
            </a:r>
            <a:r>
              <a:rPr lang="en-US" dirty="0" err="1"/>
              <a:t>traversery</a:t>
            </a:r>
            <a:r>
              <a:rPr lang="en-US" dirty="0"/>
              <a:t>?)</a:t>
            </a:r>
          </a:p>
          <a:p>
            <a:pPr lvl="1"/>
            <a:r>
              <a:rPr lang="en-US" dirty="0"/>
              <a:t>CA computations (</a:t>
            </a:r>
          </a:p>
        </p:txBody>
      </p:sp>
    </p:spTree>
    <p:extLst>
      <p:ext uri="{BB962C8B-B14F-4D97-AF65-F5344CB8AC3E}">
        <p14:creationId xmlns:p14="http://schemas.microsoft.com/office/powerpoint/2010/main" val="2195190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FD8E19-FCBD-3C1F-9804-55F9EF315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LLMs in algorithm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2D09B-2F00-3457-9D41-D2EAB2BD84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Tutoring LLMs for CUDA optimization</a:t>
            </a:r>
          </a:p>
          <a:p>
            <a:r>
              <a:rPr lang="en-US" dirty="0"/>
              <a:t>LLMs and abstractions</a:t>
            </a:r>
          </a:p>
        </p:txBody>
      </p:sp>
    </p:spTree>
    <p:extLst>
      <p:ext uri="{BB962C8B-B14F-4D97-AF65-F5344CB8AC3E}">
        <p14:creationId xmlns:p14="http://schemas.microsoft.com/office/powerpoint/2010/main" val="6458101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8BD501-0287-7E9D-6C52-A86B98F9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Zahodit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9E5D67-EA03-A5CA-2D82-199F178CE89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Noarr</a:t>
            </a:r>
            <a:endParaRPr lang="en-US" dirty="0"/>
          </a:p>
          <a:p>
            <a:r>
              <a:rPr lang="en-US" dirty="0" err="1"/>
              <a:t>Cellato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51222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47B745-9B50-DD90-5161-BD2A06CEA4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Contribution map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7F8197-FC2F-9C2A-050C-CCCB46D86C79}"/>
              </a:ext>
            </a:extLst>
          </p:cNvPr>
          <p:cNvSpPr/>
          <p:nvPr/>
        </p:nvSpPr>
        <p:spPr>
          <a:xfrm>
            <a:off x="4240490" y="140673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Separate algorithm design from performance optimization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0EC2A1A-B720-84BC-76D5-4751C09EA61A}"/>
              </a:ext>
            </a:extLst>
          </p:cNvPr>
          <p:cNvSpPr/>
          <p:nvPr/>
        </p:nvSpPr>
        <p:spPr>
          <a:xfrm>
            <a:off x="150074" y="2971800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Layout- and traversal-agnostic abstractions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DB7F776-4EDC-09F4-F04A-E586FC4B4500}"/>
              </a:ext>
            </a:extLst>
          </p:cNvPr>
          <p:cNvSpPr/>
          <p:nvPr/>
        </p:nvSpPr>
        <p:spPr>
          <a:xfrm>
            <a:off x="7840178" y="2971800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LLM-assisted optimization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2B9BCB-5805-C1F1-AF45-681B37E6B83E}"/>
              </a:ext>
            </a:extLst>
          </p:cNvPr>
          <p:cNvSpPr/>
          <p:nvPr/>
        </p:nvSpPr>
        <p:spPr>
          <a:xfrm>
            <a:off x="150074" y="425291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Layout abstractions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1388E94-1EEB-E24E-1923-AA250880AF84}"/>
              </a:ext>
            </a:extLst>
          </p:cNvPr>
          <p:cNvSpPr/>
          <p:nvPr/>
        </p:nvSpPr>
        <p:spPr>
          <a:xfrm>
            <a:off x="4240490" y="425291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Traversal abstractions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8920A4-4430-6757-E41A-9BA9578DC80D}"/>
              </a:ext>
            </a:extLst>
          </p:cNvPr>
          <p:cNvSpPr/>
          <p:nvPr/>
        </p:nvSpPr>
        <p:spPr>
          <a:xfrm>
            <a:off x="8330906" y="4252912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Practical aspects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01E75A2-333B-DF95-544C-0ACF1B88882C}"/>
              </a:ext>
            </a:extLst>
          </p:cNvPr>
          <p:cNvSpPr/>
          <p:nvPr/>
        </p:nvSpPr>
        <p:spPr>
          <a:xfrm>
            <a:off x="302474" y="53562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 structures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7736357-2F90-D241-51F6-C03C797EFFC2}"/>
              </a:ext>
            </a:extLst>
          </p:cNvPr>
          <p:cNvSpPr/>
          <p:nvPr/>
        </p:nvSpPr>
        <p:spPr>
          <a:xfrm>
            <a:off x="454874" y="55086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 traversers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EC73339-8B3D-25F4-18D5-E5821CB7CE8B}"/>
              </a:ext>
            </a:extLst>
          </p:cNvPr>
          <p:cNvSpPr/>
          <p:nvPr/>
        </p:nvSpPr>
        <p:spPr>
          <a:xfrm>
            <a:off x="607274" y="56610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 tuning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3EC4F51-D7C0-1DFC-E94E-75AE185B7CC1}"/>
              </a:ext>
            </a:extLst>
          </p:cNvPr>
          <p:cNvSpPr/>
          <p:nvPr/>
        </p:nvSpPr>
        <p:spPr>
          <a:xfrm>
            <a:off x="759674" y="58134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Noarr-MPI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B7D64168-E19F-C04D-293D-CB07E85D29DA}"/>
              </a:ext>
            </a:extLst>
          </p:cNvPr>
          <p:cNvSpPr/>
          <p:nvPr/>
        </p:nvSpPr>
        <p:spPr>
          <a:xfrm>
            <a:off x="4853138" y="5424788"/>
            <a:ext cx="3711020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Cellato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454896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07F39-5957-124B-D20D-4A155E0E0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7CB38-BBCE-B652-0445-A75C990684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6 peer-reviewed publications </a:t>
            </a:r>
          </a:p>
          <a:p>
            <a:pPr lvl="1"/>
            <a:r>
              <a:rPr lang="en-US" dirty="0"/>
              <a:t>2 journal articles</a:t>
            </a:r>
          </a:p>
          <a:p>
            <a:pPr lvl="1"/>
            <a:r>
              <a:rPr lang="en-US" dirty="0"/>
              <a:t>3 conference papers,</a:t>
            </a:r>
          </a:p>
          <a:p>
            <a:pPr lvl="1"/>
            <a:r>
              <a:rPr lang="en-US" dirty="0"/>
              <a:t>1 workshop paper</a:t>
            </a:r>
          </a:p>
          <a:p>
            <a:r>
              <a:rPr lang="en-US" dirty="0"/>
              <a:t>1 publication awaiting peer review</a:t>
            </a:r>
          </a:p>
        </p:txBody>
      </p:sp>
    </p:spTree>
    <p:extLst>
      <p:ext uri="{BB962C8B-B14F-4D97-AF65-F5344CB8AC3E}">
        <p14:creationId xmlns:p14="http://schemas.microsoft.com/office/powerpoint/2010/main" val="3094171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FCD7CC-C2D6-52E6-02D5-F41FC5389A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0373B6-1B3D-2E32-D54A-18C1246201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3849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1082</TotalTime>
  <Words>530</Words>
  <Application>Microsoft Office PowerPoint</Application>
  <PresentationFormat>Widescreen</PresentationFormat>
  <Paragraphs>90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Aptos</vt:lpstr>
      <vt:lpstr>Aptos Display</vt:lpstr>
      <vt:lpstr>Arial</vt:lpstr>
      <vt:lpstr>Wingdings</vt:lpstr>
      <vt:lpstr>Office Theme</vt:lpstr>
      <vt:lpstr>Optimizing Memory Layouts and Traversal Orders in HPC</vt:lpstr>
      <vt:lpstr>PowerPoint Presentation</vt:lpstr>
      <vt:lpstr>Automatization and simplification</vt:lpstr>
      <vt:lpstr>Small step: layout agnostic design</vt:lpstr>
      <vt:lpstr>PowerPoint Presentation</vt:lpstr>
      <vt:lpstr>M &amp; S</vt:lpstr>
      <vt:lpstr>Layout-agnostic design</vt:lpstr>
      <vt:lpstr>Traversal-agnostic design</vt:lpstr>
      <vt:lpstr>Proposed abstractions</vt:lpstr>
      <vt:lpstr>LLMs in algorithm design</vt:lpstr>
      <vt:lpstr>Zahodit</vt:lpstr>
      <vt:lpstr>Contribution map</vt:lpstr>
      <vt:lpstr>Summary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Jiří Klepl</dc:creator>
  <cp:lastModifiedBy>Jiří Klepl</cp:lastModifiedBy>
  <cp:revision>6</cp:revision>
  <dcterms:created xsi:type="dcterms:W3CDTF">2026-08-08T18:10:38Z</dcterms:created>
  <dcterms:modified xsi:type="dcterms:W3CDTF">2026-08-23T09:38:26Z</dcterms:modified>
</cp:coreProperties>
</file>