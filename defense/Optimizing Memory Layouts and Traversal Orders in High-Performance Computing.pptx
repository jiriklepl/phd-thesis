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7.xml" ContentType="application/vnd.openxmlformats-officedocument.presentationml.tags+xml"/>
  <Override PartName="/ppt/notesSlides/notesSlide9.xml" ContentType="application/vnd.openxmlformats-officedocument.presentationml.notesSlide+xml"/>
  <Override PartName="/ppt/tags/tag8.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9.xml" ContentType="application/vnd.openxmlformats-officedocument.presentationml.tags+xml"/>
  <Override PartName="/ppt/notesSlides/notesSlide12.xml" ContentType="application/vnd.openxmlformats-officedocument.presentationml.notesSlide+xml"/>
  <Override PartName="/ppt/tags/tag10.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11.xml" ContentType="application/vnd.openxmlformats-officedocument.presentationml.tags+xml"/>
  <Override PartName="/ppt/notesSlides/notesSlide16.xml" ContentType="application/vnd.openxmlformats-officedocument.presentationml.notesSlide+xml"/>
  <Override PartName="/ppt/tags/tag12.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13.xml" ContentType="application/vnd.openxmlformats-officedocument.presentationml.tags+xml"/>
  <Override PartName="/ppt/notesSlides/notesSlide20.xml" ContentType="application/vnd.openxmlformats-officedocument.presentationml.notesSlide+xml"/>
  <Override PartName="/ppt/tags/tag14.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15.xml" ContentType="application/vnd.openxmlformats-officedocument.presentationml.tags+xml"/>
  <Override PartName="/ppt/notesSlides/notesSlide24.xml" ContentType="application/vnd.openxmlformats-officedocument.presentationml.notesSlide+xml"/>
  <Override PartName="/ppt/tags/tag16.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tags/tag17.xml" ContentType="application/vnd.openxmlformats-officedocument.presentationml.tags+xml"/>
  <Override PartName="/ppt/notesSlides/notesSlide41.xml" ContentType="application/vnd.openxmlformats-officedocument.presentationml.notesSlide+xml"/>
  <Override PartName="/ppt/tags/tag18.xml" ContentType="application/vnd.openxmlformats-officedocument.presentationml.tags+xml"/>
  <Override PartName="/ppt/notesSlides/notesSlide42.xml" ContentType="application/vnd.openxmlformats-officedocument.presentationml.notesSlide+xml"/>
  <Override PartName="/ppt/tags/tag19.xml" ContentType="application/vnd.openxmlformats-officedocument.presentationml.tags+xml"/>
  <Override PartName="/ppt/notesSlides/notesSlide43.xml" ContentType="application/vnd.openxmlformats-officedocument.presentationml.notesSlide+xml"/>
  <Override PartName="/ppt/tags/tag20.xml" ContentType="application/vnd.openxmlformats-officedocument.presentationml.tags+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256" r:id="rId2"/>
    <p:sldId id="322" r:id="rId3"/>
    <p:sldId id="338" r:id="rId4"/>
    <p:sldId id="277" r:id="rId5"/>
    <p:sldId id="296" r:id="rId6"/>
    <p:sldId id="297" r:id="rId7"/>
    <p:sldId id="283" r:id="rId8"/>
    <p:sldId id="314" r:id="rId9"/>
    <p:sldId id="278" r:id="rId10"/>
    <p:sldId id="326" r:id="rId11"/>
    <p:sldId id="339" r:id="rId12"/>
    <p:sldId id="284" r:id="rId13"/>
    <p:sldId id="325" r:id="rId14"/>
    <p:sldId id="286" r:id="rId15"/>
    <p:sldId id="290" r:id="rId16"/>
    <p:sldId id="279" r:id="rId17"/>
    <p:sldId id="324" r:id="rId18"/>
    <p:sldId id="341" r:id="rId19"/>
    <p:sldId id="287" r:id="rId20"/>
    <p:sldId id="316" r:id="rId21"/>
    <p:sldId id="340" r:id="rId22"/>
    <p:sldId id="302" r:id="rId23"/>
    <p:sldId id="280" r:id="rId24"/>
    <p:sldId id="337" r:id="rId25"/>
    <p:sldId id="288" r:id="rId26"/>
    <p:sldId id="305" r:id="rId27"/>
    <p:sldId id="291" r:id="rId28"/>
    <p:sldId id="306" r:id="rId29"/>
    <p:sldId id="342" r:id="rId30"/>
    <p:sldId id="315" r:id="rId31"/>
    <p:sldId id="308" r:id="rId32"/>
    <p:sldId id="309" r:id="rId33"/>
    <p:sldId id="335" r:id="rId34"/>
    <p:sldId id="312" r:id="rId35"/>
    <p:sldId id="262" r:id="rId36"/>
    <p:sldId id="327" r:id="rId37"/>
    <p:sldId id="328" r:id="rId38"/>
    <p:sldId id="331" r:id="rId39"/>
    <p:sldId id="329" r:id="rId40"/>
    <p:sldId id="330" r:id="rId41"/>
    <p:sldId id="320" r:id="rId42"/>
    <p:sldId id="318" r:id="rId43"/>
    <p:sldId id="332" r:id="rId44"/>
    <p:sldId id="319" r:id="rId45"/>
    <p:sldId id="333" r:id="rId46"/>
    <p:sldId id="317" r:id="rId47"/>
    <p:sldId id="321" r:id="rId48"/>
    <p:sldId id="266" r:id="rId49"/>
    <p:sldId id="285" r:id="rId50"/>
    <p:sldId id="323" r:id="rId51"/>
    <p:sldId id="300" r:id="rId52"/>
    <p:sldId id="311" r:id="rId53"/>
  </p:sldIdLst>
  <p:sldSz cx="12192000" cy="6858000"/>
  <p:notesSz cx="9313863"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338"/>
            <p14:sldId id="277"/>
          </p14:sldIdLst>
        </p14:section>
        <p14:section name="algorithms" id="{7894E90A-E282-4867-82A4-369CDB973E4E}">
          <p14:sldIdLst>
            <p14:sldId id="296"/>
            <p14:sldId id="297"/>
            <p14:sldId id="283"/>
            <p14:sldId id="314"/>
            <p14:sldId id="278"/>
            <p14:sldId id="326"/>
            <p14:sldId id="339"/>
            <p14:sldId id="284"/>
            <p14:sldId id="325"/>
            <p14:sldId id="286"/>
            <p14:sldId id="290"/>
            <p14:sldId id="279"/>
            <p14:sldId id="324"/>
            <p14:sldId id="341"/>
            <p14:sldId id="287"/>
            <p14:sldId id="316"/>
            <p14:sldId id="340"/>
            <p14:sldId id="302"/>
            <p14:sldId id="280"/>
          </p14:sldIdLst>
        </p14:section>
        <p14:section name="llms" id="{2FE3CF17-CBFB-48E9-A3BF-DD99B7D2F01E}">
          <p14:sldIdLst>
            <p14:sldId id="337"/>
            <p14:sldId id="288"/>
            <p14:sldId id="305"/>
            <p14:sldId id="291"/>
            <p14:sldId id="306"/>
            <p14:sldId id="342"/>
            <p14:sldId id="315"/>
            <p14:sldId id="308"/>
            <p14:sldId id="309"/>
          </p14:sldIdLst>
        </p14:section>
        <p14:section name="summary" id="{D3BAAF83-51D3-4EFD-B7CC-7BA6DAC4A838}">
          <p14:sldIdLst>
            <p14:sldId id="335"/>
          </p14:sldIdLst>
        </p14:section>
        <p14:section name="Review comments and questions" id="{40190F67-0659-405D-810E-4AC194B72FA5}">
          <p14:sldIdLst>
            <p14:sldId id="312"/>
            <p14:sldId id="262"/>
            <p14:sldId id="327"/>
            <p14:sldId id="328"/>
            <p14:sldId id="331"/>
            <p14:sldId id="329"/>
            <p14:sldId id="330"/>
            <p14:sldId id="320"/>
            <p14:sldId id="318"/>
            <p14:sldId id="332"/>
            <p14:sldId id="319"/>
            <p14:sldId id="333"/>
            <p14:sldId id="317"/>
            <p14:sldId id="321"/>
          </p14:sldIdLst>
        </p14:section>
        <p14:section name="supplementary" id="{5D95F6E9-DF15-476C-BE69-BBEF48AA8B86}">
          <p14:sldIdLst>
            <p14:sldId id="266"/>
            <p14:sldId id="285"/>
            <p14:sldId id="323"/>
            <p14:sldId id="300"/>
            <p14:sldId id="31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85450"/>
    <a:srgbClr val="FFFFFF"/>
    <a:srgbClr val="82B366"/>
    <a:srgbClr val="6C8EBF"/>
    <a:srgbClr val="DDDDDD"/>
    <a:srgbClr val="FBA9ED"/>
    <a:srgbClr val="BED6FA"/>
    <a:srgbClr val="B4D0FA"/>
    <a:srgbClr val="FEC842"/>
    <a:srgbClr val="FECB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80944" autoAdjust="0"/>
  </p:normalViewPr>
  <p:slideViewPr>
    <p:cSldViewPr snapToGrid="0">
      <p:cViewPr>
        <p:scale>
          <a:sx n="100" d="100"/>
          <a:sy n="100" d="100"/>
        </p:scale>
        <p:origin x="3780" y="72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36007"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75701" y="1"/>
            <a:ext cx="4036007" cy="344091"/>
          </a:xfrm>
          <a:prstGeom prst="rect">
            <a:avLst/>
          </a:prstGeom>
        </p:spPr>
        <p:txBody>
          <a:bodyPr vert="horz" lIns="91440" tIns="45720" rIns="91440" bIns="45720" rtlCol="0"/>
          <a:lstStyle>
            <a:lvl1pPr algn="r">
              <a:defRPr sz="1200"/>
            </a:lvl1pPr>
          </a:lstStyle>
          <a:p>
            <a:fld id="{34A5C982-A1C5-4AC2-B4BF-466515DA1494}" type="datetimeFigureOut">
              <a:rPr lang="en-US" smtClean="0"/>
              <a:t>9/8/2026</a:t>
            </a:fld>
            <a:endParaRPr lang="en-US"/>
          </a:p>
        </p:txBody>
      </p:sp>
      <p:sp>
        <p:nvSpPr>
          <p:cNvPr id="4" name="Slide Image Placeholder 3"/>
          <p:cNvSpPr>
            <a:spLocks noGrp="1" noRot="1" noChangeAspect="1"/>
          </p:cNvSpPr>
          <p:nvPr>
            <p:ph type="sldImg" idx="2"/>
          </p:nvPr>
        </p:nvSpPr>
        <p:spPr>
          <a:xfrm>
            <a:off x="2598738" y="857250"/>
            <a:ext cx="4116387"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31387" y="3300412"/>
            <a:ext cx="745109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36007"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75701" y="6513910"/>
            <a:ext cx="4036007" cy="344090"/>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Good morning,</a:t>
            </a:r>
          </a:p>
          <a:p>
            <a:r>
              <a:rPr lang="en-US" sz="1200" b="0" kern="1200" dirty="0">
                <a:solidFill>
                  <a:schemeClr val="tx1"/>
                </a:solidFill>
                <a:effectLst/>
                <a:latin typeface="+mn-lt"/>
                <a:ea typeface="+mn-ea"/>
                <a:cs typeface="+mn-cs"/>
              </a:rPr>
              <a:t>Esteemed members of the committee, I’d like to present you my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focuses on simplifying and streamlining algorithm design for scientific computing.</a:t>
            </a:r>
          </a:p>
          <a:p>
            <a:endParaRPr lang="en-US" dirty="0"/>
          </a:p>
          <a:p>
            <a:r>
              <a:rPr lang="en-US" dirty="0"/>
              <a:t>Such algorithms typically operate on regular data structures in nested loops,</a:t>
            </a:r>
          </a:p>
          <a:p>
            <a:r>
              <a:rPr lang="en-US" dirty="0"/>
              <a:t>So one of the main challenges is optimizing its memory accesses to achieve the best performance.</a:t>
            </a:r>
          </a:p>
          <a:p>
            <a:endParaRPr lang="en-US" dirty="0"/>
          </a:p>
          <a:p>
            <a:r>
              <a:rPr lang="en-US" dirty="0"/>
              <a:t>To improve the algorithm design, we have designed native C++ layout and traversal abstractions</a:t>
            </a:r>
          </a:p>
          <a:p>
            <a:r>
              <a:rPr lang="en-US" dirty="0"/>
              <a:t>That offer a practical solution in parallel and distributed computing, we have then applied the same principles</a:t>
            </a:r>
            <a:br>
              <a:rPr lang="en-US" dirty="0"/>
            </a:br>
            <a:r>
              <a:rPr lang="en-US" dirty="0"/>
              <a:t>to specific domains to apply even broader optimizations, and explored algorithm optimizations guided by large language models.</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between one and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15839729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32454676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115226514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4943765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6670419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4989372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20186753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42</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3670335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7230169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45</a:t>
            </a:fld>
            <a:endParaRPr lang="en-US"/>
          </a:p>
        </p:txBody>
      </p:sp>
    </p:spTree>
    <p:extLst>
      <p:ext uri="{BB962C8B-B14F-4D97-AF65-F5344CB8AC3E}">
        <p14:creationId xmlns:p14="http://schemas.microsoft.com/office/powerpoint/2010/main" val="20684853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46</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47</a:t>
            </a:fld>
            <a:endParaRPr lang="en-US"/>
          </a:p>
        </p:txBody>
      </p:sp>
    </p:spTree>
    <p:extLst>
      <p:ext uri="{BB962C8B-B14F-4D97-AF65-F5344CB8AC3E}">
        <p14:creationId xmlns:p14="http://schemas.microsoft.com/office/powerpoint/2010/main" val="246859326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48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49</a:t>
            </a:fld>
            <a:endParaRPr lang="en-US"/>
          </a:p>
        </p:txBody>
      </p:sp>
    </p:spTree>
    <p:extLst>
      <p:ext uri="{BB962C8B-B14F-4D97-AF65-F5344CB8AC3E}">
        <p14:creationId xmlns:p14="http://schemas.microsoft.com/office/powerpoint/2010/main" val="12975466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50</a:t>
            </a:fld>
            <a:endParaRPr lang="en-US"/>
          </a:p>
        </p:txBody>
      </p:sp>
    </p:spTree>
    <p:extLst>
      <p:ext uri="{BB962C8B-B14F-4D97-AF65-F5344CB8AC3E}">
        <p14:creationId xmlns:p14="http://schemas.microsoft.com/office/powerpoint/2010/main" val="177515347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51</a:t>
            </a:fld>
            <a:endParaRPr lang="en-US"/>
          </a:p>
        </p:txBody>
      </p:sp>
    </p:spTree>
    <p:extLst>
      <p:ext uri="{BB962C8B-B14F-4D97-AF65-F5344CB8AC3E}">
        <p14:creationId xmlns:p14="http://schemas.microsoft.com/office/powerpoint/2010/main" val="155855969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52</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9/8/2026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9/8/2026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9/8/2026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9/8/2026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9/8/2026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9/8/2026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9/8/2026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9/8/2026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9/8/2026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9/8/2026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9/8/2026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9/8/2026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3.xml"/><Relationship Id="rId7" Type="http://schemas.openxmlformats.org/officeDocument/2006/relationships/image" Target="../media/image5.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image" Target="../media/image13.png"/><Relationship Id="rId3" Type="http://schemas.openxmlformats.org/officeDocument/2006/relationships/notesSlide" Target="../notesSlides/notesSlide7.xml"/><Relationship Id="rId7" Type="http://schemas.openxmlformats.org/officeDocument/2006/relationships/image" Target="../media/image31.png"/><Relationship Id="rId12" Type="http://schemas.openxmlformats.org/officeDocument/2006/relationships/image" Target="../media/image12.png"/><Relationship Id="rId2" Type="http://schemas.openxmlformats.org/officeDocument/2006/relationships/slideLayout" Target="../slideLayouts/slideLayout6.xml"/><Relationship Id="rId1" Type="http://schemas.openxmlformats.org/officeDocument/2006/relationships/tags" Target="../tags/tag6.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11.png"/><Relationship Id="rId10" Type="http://schemas.openxmlformats.org/officeDocument/2006/relationships/image" Target="../media/image34.png"/><Relationship Id="rId4" Type="http://schemas.openxmlformats.org/officeDocument/2006/relationships/image" Target="../media/image10.png"/><Relationship Id="rId9" Type="http://schemas.openxmlformats.org/officeDocument/2006/relationships/image" Target="../media/image3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notesSlide" Target="../notesSlides/notesSlide9.xml"/><Relationship Id="rId7" Type="http://schemas.openxmlformats.org/officeDocument/2006/relationships/image" Target="../media/image41.png"/><Relationship Id="rId2" Type="http://schemas.openxmlformats.org/officeDocument/2006/relationships/slideLayout" Target="../slideLayouts/slideLayout6.xml"/><Relationship Id="rId1" Type="http://schemas.openxmlformats.org/officeDocument/2006/relationships/tags" Target="../tags/tag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15.png"/><Relationship Id="rId10" Type="http://schemas.openxmlformats.org/officeDocument/2006/relationships/image" Target="../media/image44.png"/><Relationship Id="rId4" Type="http://schemas.openxmlformats.org/officeDocument/2006/relationships/image" Target="../media/image140.png"/><Relationship Id="rId9" Type="http://schemas.openxmlformats.org/officeDocument/2006/relationships/image" Target="../media/image4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notesSlide" Target="../notesSlides/notesSlide12.xml"/><Relationship Id="rId7" Type="http://schemas.openxmlformats.org/officeDocument/2006/relationships/image" Target="../media/image22.svg"/><Relationship Id="rId2" Type="http://schemas.openxmlformats.org/officeDocument/2006/relationships/slideLayout" Target="../slideLayouts/slideLayout6.xml"/><Relationship Id="rId1" Type="http://schemas.openxmlformats.org/officeDocument/2006/relationships/tags" Target="../tags/tag9.xml"/><Relationship Id="rId6" Type="http://schemas.openxmlformats.org/officeDocument/2006/relationships/image" Target="../media/image21.svg"/><Relationship Id="rId5" Type="http://schemas.openxmlformats.org/officeDocument/2006/relationships/image" Target="../media/image20.svg"/><Relationship Id="rId10" Type="http://schemas.openxmlformats.org/officeDocument/2006/relationships/image" Target="../media/image61.png"/><Relationship Id="rId4" Type="http://schemas.openxmlformats.org/officeDocument/2006/relationships/image" Target="../media/image19.svg"/><Relationship Id="rId9"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6.xml"/><Relationship Id="rId1" Type="http://schemas.openxmlformats.org/officeDocument/2006/relationships/tags" Target="../tags/tag10.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tags" Target="../tags/tag11.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28.sv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6.xml"/><Relationship Id="rId1" Type="http://schemas.openxmlformats.org/officeDocument/2006/relationships/tags" Target="../tags/tag12.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xml"/><Relationship Id="rId1" Type="http://schemas.openxmlformats.org/officeDocument/2006/relationships/tags" Target="../tags/tag13.xml"/><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6.xml"/><Relationship Id="rId1" Type="http://schemas.openxmlformats.org/officeDocument/2006/relationships/tags" Target="../tags/tag14.xml"/><Relationship Id="rId6" Type="http://schemas.openxmlformats.org/officeDocument/2006/relationships/image" Target="../media/image37.png"/><Relationship Id="rId5" Type="http://schemas.openxmlformats.org/officeDocument/2006/relationships/image" Target="../media/image48.png"/><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50.png"/></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15.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tags" Target="../tags/tag16.xml"/><Relationship Id="rId5" Type="http://schemas.openxmlformats.org/officeDocument/2006/relationships/image" Target="../media/image46.png"/><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notesSlide" Target="../notesSlides/notesSlide41.xml"/><Relationship Id="rId7" Type="http://schemas.openxmlformats.org/officeDocument/2006/relationships/image" Target="../media/image60.svg"/><Relationship Id="rId2" Type="http://schemas.openxmlformats.org/officeDocument/2006/relationships/slideLayout" Target="../slideLayouts/slideLayout6.xml"/><Relationship Id="rId1" Type="http://schemas.openxmlformats.org/officeDocument/2006/relationships/tags" Target="../tags/tag17.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 Id="rId9" Type="http://schemas.openxmlformats.org/officeDocument/2006/relationships/image" Target="../media/image62.svg"/></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6.xml"/><Relationship Id="rId1" Type="http://schemas.openxmlformats.org/officeDocument/2006/relationships/tags" Target="../tags/tag18.xml"/></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43.xml"/><Relationship Id="rId7" Type="http://schemas.openxmlformats.org/officeDocument/2006/relationships/image" Target="../media/image66.png"/><Relationship Id="rId2" Type="http://schemas.openxmlformats.org/officeDocument/2006/relationships/slideLayout" Target="../slideLayouts/slideLayout6.xml"/><Relationship Id="rId1" Type="http://schemas.openxmlformats.org/officeDocument/2006/relationships/tags" Target="../tags/tag19.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6.xml"/><Relationship Id="rId1" Type="http://schemas.openxmlformats.org/officeDocument/2006/relationships/tags" Target="../tags/tag20.xml"/><Relationship Id="rId4" Type="http://schemas.openxmlformats.org/officeDocument/2006/relationships/image" Target="../media/image67.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9/8/2026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dirty="0"/>
              <a:t>Motivation</a:t>
            </a:r>
            <a:endParaRPr lang="en-US" noProof="0" dirty="0"/>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Simplifying and streamlining algorithm design for scientific computing</a:t>
            </a:r>
          </a:p>
          <a:p>
            <a:r>
              <a:rPr lang="en-US" noProof="0" dirty="0"/>
              <a:t>Regular data structures in nested loops</a:t>
            </a:r>
          </a:p>
          <a:p>
            <a:r>
              <a:rPr lang="en-US" noProof="0" dirty="0"/>
              <a:t>Optimizing memory accesses</a:t>
            </a:r>
          </a:p>
          <a:p>
            <a:pPr marL="0" indent="0">
              <a:buNone/>
            </a:pPr>
            <a:endParaRPr lang="en-US" noProof="0" dirty="0"/>
          </a:p>
          <a:p>
            <a:pPr marL="0" indent="0">
              <a:buNone/>
            </a:pPr>
            <a:endParaRPr lang="en-US" noProof="0" dirty="0"/>
          </a:p>
          <a:p>
            <a:pPr marL="0" indent="0">
              <a:buNone/>
            </a:pPr>
            <a:r>
              <a:rPr lang="en-US" b="1" dirty="0"/>
              <a:t>Research questions</a:t>
            </a:r>
            <a:endParaRPr lang="en-US" b="1" noProof="0" dirty="0"/>
          </a:p>
          <a:p>
            <a:pPr marL="514350" indent="-514350">
              <a:buFont typeface="+mj-lt"/>
              <a:buAutoNum type="arabicPeriod"/>
            </a:pPr>
            <a:r>
              <a:rPr lang="en-US" dirty="0"/>
              <a:t>Transforming memory accesses in C++ without runtime overhead</a:t>
            </a:r>
          </a:p>
          <a:p>
            <a:pPr marL="514350" indent="-514350">
              <a:buFont typeface="+mj-lt"/>
              <a:buAutoNum type="arabicPeriod"/>
            </a:pPr>
            <a:r>
              <a:rPr lang="en-US" dirty="0"/>
              <a:t>Optimizing memory accesses and evaluation for restricted use</a:t>
            </a:r>
            <a:r>
              <a:rPr lang="en-US" sz="2400" dirty="0"/>
              <a:t> </a:t>
            </a:r>
            <a:r>
              <a:rPr lang="en-US" dirty="0"/>
              <a:t>cases</a:t>
            </a:r>
          </a:p>
          <a:p>
            <a:pPr marL="514350" indent="-514350">
              <a:buFont typeface="+mj-lt"/>
              <a:buAutoNum type="arabicPeriod"/>
            </a:pPr>
            <a:r>
              <a:rPr lang="en-US" dirty="0"/>
              <a:t>Helping LLMs apply even more general optimizations</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spTree>
    <p:custDataLst>
      <p:tags r:id="rId1"/>
    </p:custDataLst>
    <p:extLst>
      <p:ext uri="{BB962C8B-B14F-4D97-AF65-F5344CB8AC3E}">
        <p14:creationId xmlns:p14="http://schemas.microsoft.com/office/powerpoint/2010/main" val="29318223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ACF37-1DFC-59C5-6513-6134CC90B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B1D2D1-3BA3-9CFF-1531-70C612ADC275}"/>
              </a:ext>
            </a:extLst>
          </p:cNvPr>
          <p:cNvSpPr>
            <a:spLocks noGrp="1"/>
          </p:cNvSpPr>
          <p:nvPr>
            <p:ph type="title"/>
          </p:nvPr>
        </p:nvSpPr>
        <p:spPr/>
        <p:txBody>
          <a:bodyPr/>
          <a:lstStyle/>
          <a:p>
            <a:r>
              <a:rPr lang="en-US" dirty="0"/>
              <a:t>Research Questions</a:t>
            </a:r>
          </a:p>
        </p:txBody>
      </p:sp>
      <p:sp>
        <p:nvSpPr>
          <p:cNvPr id="3" name="Content Placeholder 2">
            <a:extLst>
              <a:ext uri="{FF2B5EF4-FFF2-40B4-BE49-F238E27FC236}">
                <a16:creationId xmlns:a16="http://schemas.microsoft.com/office/drawing/2014/main" id="{C505B0A2-F0E8-401B-9256-9CC7DB75F8A7}"/>
              </a:ext>
            </a:extLst>
          </p:cNvPr>
          <p:cNvSpPr>
            <a:spLocks noGrp="1"/>
          </p:cNvSpPr>
          <p:nvPr>
            <p:ph idx="1"/>
          </p:nvPr>
        </p:nvSpPr>
        <p:spPr/>
        <p:txBody>
          <a:bodyPr anchor="ctr">
            <a:noAutofit/>
          </a:bodyPr>
          <a:lstStyle/>
          <a:p>
            <a:pPr marL="514350" indent="-514350">
              <a:buFont typeface="+mj-lt"/>
              <a:buAutoNum type="arabicPeriod"/>
            </a:pPr>
            <a:r>
              <a:rPr lang="en-US" b="1" dirty="0"/>
              <a:t>Can we express memory access transformations in C++ without introducing runtime overhead?</a:t>
            </a:r>
          </a:p>
          <a:p>
            <a:pPr lvl="1"/>
            <a:r>
              <a:rPr lang="en-US" dirty="0"/>
              <a:t>Decoupling data layouts and traversals, and their transformations</a:t>
            </a:r>
          </a:p>
          <a:p>
            <a:pPr lvl="1"/>
            <a:r>
              <a:rPr lang="en-US" dirty="0">
                <a:solidFill>
                  <a:schemeClr val="bg2">
                    <a:lumMod val="75000"/>
                  </a:schemeClr>
                </a:solidFill>
              </a:rPr>
              <a:t>Parallelization and distributed computation</a:t>
            </a:r>
            <a:endParaRPr lang="en-US" sz="2000" dirty="0">
              <a:solidFill>
                <a:schemeClr val="bg2">
                  <a:lumMod val="75000"/>
                </a:schemeClr>
              </a:solidFill>
            </a:endParaRPr>
          </a:p>
          <a:p>
            <a:pPr marL="0" indent="0">
              <a:buNone/>
            </a:pPr>
            <a:endParaRPr lang="en-US" sz="2000" b="1" dirty="0"/>
          </a:p>
          <a:p>
            <a:pPr marL="0" indent="0">
              <a:buNone/>
            </a:pPr>
            <a:endParaRPr lang="en-US" sz="2000" b="1" dirty="0"/>
          </a:p>
          <a:p>
            <a:pPr marL="0" indent="0">
              <a:buNone/>
            </a:pPr>
            <a:endParaRPr lang="en-US" sz="2000" b="1" dirty="0"/>
          </a:p>
          <a:p>
            <a:pPr marL="0" indent="0" algn="ctr">
              <a:buNone/>
            </a:pPr>
            <a:r>
              <a:rPr lang="en-US" sz="2000" b="1" dirty="0"/>
              <a:t>Publications</a:t>
            </a:r>
          </a:p>
          <a:p>
            <a:pPr marL="0" indent="0">
              <a:buNone/>
            </a:pPr>
            <a:r>
              <a:rPr lang="en-US" sz="2000" b="1" dirty="0"/>
              <a:t>Astute Approach to Handling Memory Layouts of Regular Data Structures</a:t>
            </a:r>
            <a:r>
              <a:rPr lang="en-US" sz="2000" dirty="0"/>
              <a:t>. </a:t>
            </a:r>
            <a:r>
              <a:rPr lang="en-US" sz="2000" i="1" dirty="0"/>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solidFill>
                  <a:schemeClr val="bg2">
                    <a:lumMod val="75000"/>
                  </a:schemeClr>
                </a:solidFill>
              </a:rPr>
              <a:t>Abstractions for C++ code optimizations in parallel high-performance applications</a:t>
            </a:r>
            <a:r>
              <a:rPr lang="en-US" sz="2000" dirty="0">
                <a:solidFill>
                  <a:schemeClr val="bg2">
                    <a:lumMod val="75000"/>
                  </a:schemeClr>
                </a:solidFill>
              </a:rPr>
              <a:t>. </a:t>
            </a:r>
            <a:r>
              <a:rPr lang="en-US" sz="2000" dirty="0" err="1">
                <a:solidFill>
                  <a:schemeClr val="bg2">
                    <a:lumMod val="75000"/>
                  </a:schemeClr>
                </a:solidFill>
              </a:rPr>
              <a:t>ParCo</a:t>
            </a:r>
            <a:r>
              <a:rPr lang="en-US" sz="2000" dirty="0">
                <a:solidFill>
                  <a:schemeClr val="bg2">
                    <a:lumMod val="75000"/>
                  </a:schemeClr>
                </a:solidFill>
              </a:rPr>
              <a:t>, 2024</a:t>
            </a:r>
          </a:p>
          <a:p>
            <a:pPr marL="0" indent="0">
              <a:buNone/>
            </a:pPr>
            <a:r>
              <a:rPr lang="en-US" sz="2000" b="1" dirty="0">
                <a:solidFill>
                  <a:schemeClr val="bg2">
                    <a:lumMod val="75000"/>
                  </a:schemeClr>
                </a:solidFill>
              </a:rPr>
              <a:t>Layout-Agnostic MPI Abstraction for Distributed Computing in Modern C++</a:t>
            </a:r>
            <a:r>
              <a:rPr lang="en-US" sz="2000" dirty="0">
                <a:solidFill>
                  <a:schemeClr val="bg2">
                    <a:lumMod val="75000"/>
                  </a:schemeClr>
                </a:solidFill>
              </a:rPr>
              <a:t>. </a:t>
            </a:r>
            <a:r>
              <a:rPr lang="en-US" sz="2000" i="1" dirty="0" err="1">
                <a:solidFill>
                  <a:schemeClr val="bg2">
                    <a:lumMod val="75000"/>
                  </a:schemeClr>
                </a:solidFill>
              </a:rPr>
              <a:t>EuroMPI</a:t>
            </a:r>
            <a:r>
              <a:rPr lang="en-US" sz="2000" i="1" dirty="0">
                <a:solidFill>
                  <a:schemeClr val="bg2">
                    <a:lumMod val="75000"/>
                  </a:schemeClr>
                </a:solidFill>
              </a:rPr>
              <a:t>, 2025</a:t>
            </a:r>
            <a:endParaRPr lang="en-US" sz="2400" dirty="0">
              <a:solidFill>
                <a:schemeClr val="bg2">
                  <a:lumMod val="75000"/>
                </a:schemeClr>
              </a:solidFill>
            </a:endParaRPr>
          </a:p>
        </p:txBody>
      </p:sp>
      <p:sp>
        <p:nvSpPr>
          <p:cNvPr id="4" name="Date Placeholder 3">
            <a:extLst>
              <a:ext uri="{FF2B5EF4-FFF2-40B4-BE49-F238E27FC236}">
                <a16:creationId xmlns:a16="http://schemas.microsoft.com/office/drawing/2014/main" id="{ED690D19-EF23-072C-8903-D648958E88B0}"/>
              </a:ext>
            </a:extLst>
          </p:cNvPr>
          <p:cNvSpPr>
            <a:spLocks noGrp="1"/>
          </p:cNvSpPr>
          <p:nvPr>
            <p:ph type="dt" sz="half" idx="10"/>
          </p:nvPr>
        </p:nvSpPr>
        <p:spPr/>
        <p:txBody>
          <a:bodyPr/>
          <a:lstStyle/>
          <a:p>
            <a:fld id="{358C28A6-2969-482E-9A3B-5E13FCD8DD03}" type="datetime1">
              <a:rPr lang="en-US" smtClean="0"/>
              <a:t>9/8/2026</a:t>
            </a:fld>
            <a:endParaRPr lang="en-US" dirty="0"/>
          </a:p>
        </p:txBody>
      </p:sp>
      <p:sp>
        <p:nvSpPr>
          <p:cNvPr id="5" name="Slide Number Placeholder 4">
            <a:extLst>
              <a:ext uri="{FF2B5EF4-FFF2-40B4-BE49-F238E27FC236}">
                <a16:creationId xmlns:a16="http://schemas.microsoft.com/office/drawing/2014/main" id="{2EB70345-2181-5EEE-7F53-BC51324451B7}"/>
              </a:ext>
            </a:extLst>
          </p:cNvPr>
          <p:cNvSpPr>
            <a:spLocks noGrp="1"/>
          </p:cNvSpPr>
          <p:nvPr>
            <p:ph type="sldNum" sz="quarter" idx="12"/>
          </p:nvPr>
        </p:nvSpPr>
        <p:spPr/>
        <p:txBody>
          <a:bodyPr/>
          <a:lstStyle/>
          <a:p>
            <a:fld id="{DA0BB241-1B5F-4309-9407-9EEA04D9598D}" type="slidenum">
              <a:rPr lang="en-US" smtClean="0"/>
              <a:t>3</a:t>
            </a:fld>
            <a:endParaRPr lang="en-US"/>
          </a:p>
        </p:txBody>
      </p:sp>
    </p:spTree>
    <p:extLst>
      <p:ext uri="{BB962C8B-B14F-4D97-AF65-F5344CB8AC3E}">
        <p14:creationId xmlns:p14="http://schemas.microsoft.com/office/powerpoint/2010/main" val="2535467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382121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380339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2997168" y="1410471"/>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97168" y="1410471"/>
                <a:ext cx="3557256" cy="461665"/>
              </a:xfrm>
              <a:prstGeom prst="rect">
                <a:avLst/>
              </a:prstGeom>
              <a:blipFill>
                <a:blip r:embed="rId5"/>
                <a:stretch>
                  <a:fillRect t="-9211" r="-2401"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1466539" y="1847570"/>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9/8/2026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2998529" y="561882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19373" y="562721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320137" y="561605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59405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47740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47740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30352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30352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46511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46511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35041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35041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178519" y="1844234"/>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8286452" y="2280411"/>
            <a:ext cx="2972352" cy="461665"/>
          </a:xfrm>
          <a:prstGeom prst="rect">
            <a:avLst/>
          </a:prstGeom>
          <a:noFill/>
        </p:spPr>
        <p:txBody>
          <a:bodyPr wrap="none" rtlCol="0" anchor="ctr">
            <a:spAutoFit/>
          </a:bodyPr>
          <a:lstStyle/>
          <a:p>
            <a:r>
              <a:rPr lang="en-US" sz="2400" dirty="0"/>
              <a:t>Row-by-row traversal</a:t>
            </a:r>
          </a:p>
        </p:txBody>
      </p:sp>
      <p:sp>
        <p:nvSpPr>
          <p:cNvPr id="7" name="TextBox 6">
            <a:extLst>
              <a:ext uri="{FF2B5EF4-FFF2-40B4-BE49-F238E27FC236}">
                <a16:creationId xmlns:a16="http://schemas.microsoft.com/office/drawing/2014/main" id="{3FC2C2F0-81F4-EFE5-FBE6-B8974CD5C0ED}"/>
              </a:ext>
            </a:extLst>
          </p:cNvPr>
          <p:cNvSpPr txBox="1"/>
          <p:nvPr/>
        </p:nvSpPr>
        <p:spPr>
          <a:xfrm>
            <a:off x="2412152" y="6356349"/>
            <a:ext cx="7367723" cy="400110"/>
          </a:xfrm>
          <a:prstGeom prst="rect">
            <a:avLst/>
          </a:prstGeom>
          <a:noFill/>
        </p:spPr>
        <p:txBody>
          <a:bodyPr wrap="none" rtlCol="0">
            <a:spAutoFit/>
          </a:bodyPr>
          <a:lstStyle/>
          <a:p>
            <a:pPr algn="ctr"/>
            <a:r>
              <a:rPr lang="en-US" sz="2000" i="1" dirty="0">
                <a:solidFill>
                  <a:schemeClr val="bg2">
                    <a:lumMod val="50000"/>
                  </a:schemeClr>
                </a:solidFill>
              </a:rPr>
              <a:t>Decoupling data layouts and traversals, and their transformations</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672069" y="5490216"/>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9/8/2026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50008" y="1359843"/>
            <a:ext cx="194951" cy="804576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
        <p:nvSpPr>
          <p:cNvPr id="14" name="TextBox 13">
            <a:extLst>
              <a:ext uri="{FF2B5EF4-FFF2-40B4-BE49-F238E27FC236}">
                <a16:creationId xmlns:a16="http://schemas.microsoft.com/office/drawing/2014/main" id="{C4191049-2894-631C-C6FD-1B43980F00CE}"/>
              </a:ext>
            </a:extLst>
          </p:cNvPr>
          <p:cNvSpPr txBox="1"/>
          <p:nvPr/>
        </p:nvSpPr>
        <p:spPr>
          <a:xfrm>
            <a:off x="2411703" y="6356349"/>
            <a:ext cx="7368620" cy="400110"/>
          </a:xfrm>
          <a:prstGeom prst="rect">
            <a:avLst/>
          </a:prstGeom>
          <a:noFill/>
        </p:spPr>
        <p:txBody>
          <a:bodyPr wrap="none" rtlCol="0">
            <a:spAutoFit/>
          </a:bodyPr>
          <a:lstStyle/>
          <a:p>
            <a:pPr algn="ctr"/>
            <a:r>
              <a:rPr lang="en-US" sz="2000" i="1" dirty="0">
                <a:solidFill>
                  <a:schemeClr val="bg2">
                    <a:lumMod val="50000"/>
                  </a:schemeClr>
                </a:solidFill>
              </a:rPr>
              <a:t>Decoupling data layouts and traversals, and their transformations</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341331"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168924"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168924"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158213"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143466"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7481419"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6885999"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5635462"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318786"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9/8/2026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979849"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979849"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979849"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021631"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6991698"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6979916"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nvSpPr>
            <p:spPr>
              <a:xfrm>
                <a:off x="482058"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482058"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nvSpPr>
            <p:spPr>
              <a:xfrm>
                <a:off x="1389998"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1389998"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2459116" y="1168157"/>
            <a:ext cx="6293711" cy="461665"/>
          </a:xfrm>
          <a:prstGeom prst="rect">
            <a:avLst/>
          </a:prstGeom>
          <a:noFill/>
        </p:spPr>
        <p:txBody>
          <a:bodyPr wrap="none" rtlCol="0">
            <a:spAutoFit/>
          </a:bodyPr>
          <a:lstStyle/>
          <a:p>
            <a:pPr algn="ctr"/>
            <a:r>
              <a:rPr lang="en-US" sz="2400" noProof="0" dirty="0"/>
              <a:t>Composition of building blocks in native C++</a:t>
            </a:r>
          </a:p>
        </p:txBody>
      </p:sp>
      <p:sp>
        <p:nvSpPr>
          <p:cNvPr id="5" name="TextBox 4">
            <a:extLst>
              <a:ext uri="{FF2B5EF4-FFF2-40B4-BE49-F238E27FC236}">
                <a16:creationId xmlns:a16="http://schemas.microsoft.com/office/drawing/2014/main" id="{AF644D70-54AA-7D91-2A22-4DA52AAF139C}"/>
              </a:ext>
            </a:extLst>
          </p:cNvPr>
          <p:cNvSpPr txBox="1"/>
          <p:nvPr/>
        </p:nvSpPr>
        <p:spPr>
          <a:xfrm>
            <a:off x="2411703" y="6356349"/>
            <a:ext cx="7368620" cy="400110"/>
          </a:xfrm>
          <a:prstGeom prst="rect">
            <a:avLst/>
          </a:prstGeom>
          <a:noFill/>
        </p:spPr>
        <p:txBody>
          <a:bodyPr wrap="none" rtlCol="0">
            <a:spAutoFit/>
          </a:bodyPr>
          <a:lstStyle/>
          <a:p>
            <a:pPr algn="ctr"/>
            <a:r>
              <a:rPr lang="en-US" sz="2000" i="1" dirty="0">
                <a:solidFill>
                  <a:schemeClr val="bg2">
                    <a:lumMod val="50000"/>
                  </a:schemeClr>
                </a:solidFill>
              </a:rPr>
              <a:t>Decoupling data layouts and traversals, and their transformations</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4906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0337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49127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6283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3429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9/8/2026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2295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59755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1178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5521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4430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
        <p:nvSpPr>
          <p:cNvPr id="14" name="TextBox 13">
            <a:extLst>
              <a:ext uri="{FF2B5EF4-FFF2-40B4-BE49-F238E27FC236}">
                <a16:creationId xmlns:a16="http://schemas.microsoft.com/office/drawing/2014/main" id="{9829672C-DF2D-D85B-A8E5-4DB12133C8E2}"/>
              </a:ext>
            </a:extLst>
          </p:cNvPr>
          <p:cNvSpPr txBox="1"/>
          <p:nvPr/>
        </p:nvSpPr>
        <p:spPr>
          <a:xfrm>
            <a:off x="2412152" y="6356349"/>
            <a:ext cx="7367723" cy="400110"/>
          </a:xfrm>
          <a:prstGeom prst="rect">
            <a:avLst/>
          </a:prstGeom>
          <a:noFill/>
        </p:spPr>
        <p:txBody>
          <a:bodyPr wrap="none" rtlCol="0">
            <a:spAutoFit/>
          </a:bodyPr>
          <a:lstStyle/>
          <a:p>
            <a:pPr algn="ctr"/>
            <a:r>
              <a:rPr lang="en-US" sz="2000" i="1" dirty="0">
                <a:solidFill>
                  <a:schemeClr val="bg2">
                    <a:lumMod val="50000"/>
                  </a:schemeClr>
                </a:solidFill>
              </a:rPr>
              <a:t>Decoupling data layouts and traversals, and their transformations</a:t>
            </a:r>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4558820" y="51374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4558819" y="598917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4558819" y="55562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5067934" y="3645657"/>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605485" y="3645657"/>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4152567" y="3645656"/>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9/8/2026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025410"/>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485795" y="1635257"/>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565345" y="3573838"/>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491634"/>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5"/>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1"/>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693247" y="2534246"/>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4485795" y="50421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4485795" y="5042199"/>
                <a:ext cx="1587166" cy="1384995"/>
              </a:xfrm>
              <a:prstGeom prst="rect">
                <a:avLst/>
              </a:prstGeom>
              <a:blipFill>
                <a:blip r:embed="rId12"/>
                <a:stretch>
                  <a:fillRect l="-8077"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4923637" y="51208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5629321" y="51112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5575672" y="59853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617910" y="2014223"/>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531516" y="4492188"/>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nvSpPr>
        <p:spPr>
          <a:xfrm>
            <a:off x="4859343" y="55513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nvSpPr>
        <p:spPr>
          <a:xfrm>
            <a:off x="5593853" y="55441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nvSpPr>
        <p:spPr>
          <a:xfrm>
            <a:off x="4901983" y="59769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nvSpPr>
        <p:spPr>
          <a:xfrm>
            <a:off x="6072961" y="50645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B06A7DF1-6410-6B50-C5B4-1D19F94CC66E}"/>
                  </a:ext>
                </a:extLst>
              </p:cNvPr>
              <p:cNvSpPr txBox="1"/>
              <p:nvPr/>
            </p:nvSpPr>
            <p:spPr>
              <a:xfrm>
                <a:off x="6248302" y="5491919"/>
                <a:ext cx="1820178" cy="523220"/>
              </a:xfrm>
              <a:prstGeom prst="rect">
                <a:avLst/>
              </a:prstGeom>
              <a:noFill/>
            </p:spPr>
            <p:txBody>
              <a:bodyPr wrap="none" rtlCol="0">
                <a:spAutoFit/>
              </a:bodyPr>
              <a:lstStyle/>
              <a:p>
                <a:pPr/>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nvSpPr>
            <p:spPr>
              <a:xfrm>
                <a:off x="6248302" y="5491919"/>
                <a:ext cx="1820178" cy="523220"/>
              </a:xfrm>
              <a:prstGeom prst="rect">
                <a:avLst/>
              </a:prstGeom>
              <a:blipFill>
                <a:blip r:embed="rId13"/>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nvSpPr>
        <p:spPr>
          <a:xfrm>
            <a:off x="6325185" y="55666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nvSpPr>
        <p:spPr>
          <a:xfrm>
            <a:off x="7001689" y="55754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nvSpPr>
        <p:spPr>
          <a:xfrm>
            <a:off x="7626160" y="55581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nvSpPr>
        <p:spPr>
          <a:xfrm>
            <a:off x="6212225" y="50547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nvCxnSpPr>
        <p:spPr>
          <a:xfrm flipV="1">
            <a:off x="8016446" y="2371292"/>
            <a:ext cx="2963434" cy="3396279"/>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1B6A0DA6-81EE-6A0C-7C9A-2A27DB586415}"/>
              </a:ext>
            </a:extLst>
          </p:cNvPr>
          <p:cNvSpPr txBox="1"/>
          <p:nvPr/>
        </p:nvSpPr>
        <p:spPr>
          <a:xfrm>
            <a:off x="2411703" y="6356349"/>
            <a:ext cx="7368620" cy="400110"/>
          </a:xfrm>
          <a:prstGeom prst="rect">
            <a:avLst/>
          </a:prstGeom>
          <a:noFill/>
        </p:spPr>
        <p:txBody>
          <a:bodyPr wrap="none" rtlCol="0">
            <a:spAutoFit/>
          </a:bodyPr>
          <a:lstStyle/>
          <a:p>
            <a:pPr algn="ctr"/>
            <a:r>
              <a:rPr lang="en-US" sz="2000" i="1" dirty="0">
                <a:solidFill>
                  <a:schemeClr val="bg2">
                    <a:lumMod val="50000"/>
                  </a:schemeClr>
                </a:solidFill>
              </a:rPr>
              <a:t>Decoupling data layouts and traversals, and their transformations</a:t>
            </a:r>
          </a:p>
        </p:txBody>
      </p:sp>
    </p:spTree>
    <p:custDataLst>
      <p:tags r:id="rId1"/>
    </p:custDataLst>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P spid="14" grpId="0" animBg="1"/>
      <p:bldP spid="15" grpId="0" animBg="1"/>
      <p:bldP spid="16" grpId="0" animBg="1"/>
      <p:bldP spid="20" grpId="0" animBg="1"/>
      <p:bldP spid="23" grpId="0"/>
      <p:bldP spid="25" grpId="0" animBg="1"/>
      <p:bldP spid="26" grpId="0" animBg="1"/>
      <p:bldP spid="27" grpId="0" animBg="1"/>
      <p:bldP spid="2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8" y="1291017"/>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No measurable runtime overhead</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10" name="TextBox 9">
            <a:extLst>
              <a:ext uri="{FF2B5EF4-FFF2-40B4-BE49-F238E27FC236}">
                <a16:creationId xmlns:a16="http://schemas.microsoft.com/office/drawing/2014/main" id="{5C94ADD4-4CFC-E812-3B36-B6402C655DF5}"/>
              </a:ext>
            </a:extLst>
          </p:cNvPr>
          <p:cNvSpPr txBox="1"/>
          <p:nvPr/>
        </p:nvSpPr>
        <p:spPr>
          <a:xfrm>
            <a:off x="5072321" y="965353"/>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7" name="TextBox 6">
            <a:extLst>
              <a:ext uri="{FF2B5EF4-FFF2-40B4-BE49-F238E27FC236}">
                <a16:creationId xmlns:a16="http://schemas.microsoft.com/office/drawing/2014/main" id="{D4414E20-EC87-B1A4-8B04-DA68B18E7B87}"/>
              </a:ext>
            </a:extLst>
          </p:cNvPr>
          <p:cNvSpPr txBox="1"/>
          <p:nvPr/>
        </p:nvSpPr>
        <p:spPr>
          <a:xfrm>
            <a:off x="2411703" y="6356349"/>
            <a:ext cx="7368620" cy="400110"/>
          </a:xfrm>
          <a:prstGeom prst="rect">
            <a:avLst/>
          </a:prstGeom>
          <a:noFill/>
        </p:spPr>
        <p:txBody>
          <a:bodyPr wrap="none" rtlCol="0">
            <a:spAutoFit/>
          </a:bodyPr>
          <a:lstStyle/>
          <a:p>
            <a:pPr algn="ctr"/>
            <a:r>
              <a:rPr lang="en-US" sz="2000" i="1" dirty="0">
                <a:solidFill>
                  <a:schemeClr val="bg2">
                    <a:lumMod val="50000"/>
                  </a:schemeClr>
                </a:solidFill>
              </a:rPr>
              <a:t>Decoupling data layouts and traversals, and their transformations</a:t>
            </a:r>
          </a:p>
        </p:txBody>
      </p:sp>
    </p:spTree>
    <p:extLst>
      <p:ext uri="{BB962C8B-B14F-4D97-AF65-F5344CB8AC3E}">
        <p14:creationId xmlns:p14="http://schemas.microsoft.com/office/powerpoint/2010/main" val="522048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581831"/>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5"/>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1"/>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9/8/2026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29859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4297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29859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240050"/>
            <a:ext cx="4610558" cy="400110"/>
          </a:xfrm>
          <a:prstGeom prst="rect">
            <a:avLst/>
          </a:prstGeom>
          <a:noFill/>
        </p:spPr>
        <p:txBody>
          <a:bodyPr wrap="none" rtlCol="0">
            <a:spAutoFit/>
          </a:bodyPr>
          <a:lstStyle/>
          <a:p>
            <a:pPr algn="ctr"/>
            <a:r>
              <a:rPr lang="en-US" sz="2000" noProof="0" dirty="0"/>
              <a:t>Common optimization: compute by tiles</a:t>
            </a:r>
          </a:p>
        </p:txBody>
      </p:sp>
      <p:sp>
        <p:nvSpPr>
          <p:cNvPr id="11" name="TextBox 10">
            <a:extLst>
              <a:ext uri="{FF2B5EF4-FFF2-40B4-BE49-F238E27FC236}">
                <a16:creationId xmlns:a16="http://schemas.microsoft.com/office/drawing/2014/main" id="{32EFC52C-1D1B-710B-CF0D-FCCC8D34B72D}"/>
              </a:ext>
            </a:extLst>
          </p:cNvPr>
          <p:cNvSpPr txBox="1"/>
          <p:nvPr/>
        </p:nvSpPr>
        <p:spPr>
          <a:xfrm>
            <a:off x="2411703" y="6356349"/>
            <a:ext cx="7368620" cy="400110"/>
          </a:xfrm>
          <a:prstGeom prst="rect">
            <a:avLst/>
          </a:prstGeom>
          <a:noFill/>
        </p:spPr>
        <p:txBody>
          <a:bodyPr wrap="none" rtlCol="0">
            <a:spAutoFit/>
          </a:bodyPr>
          <a:lstStyle/>
          <a:p>
            <a:pPr algn="ctr"/>
            <a:r>
              <a:rPr lang="en-US" sz="2000" i="1" dirty="0">
                <a:solidFill>
                  <a:schemeClr val="bg2">
                    <a:lumMod val="50000"/>
                  </a:schemeClr>
                </a:solidFill>
              </a:rPr>
              <a:t>Decoupling data layouts and traversals, and their transformations</a:t>
            </a:r>
          </a:p>
        </p:txBody>
      </p:sp>
    </p:spTree>
    <p:custDataLst>
      <p:tags r:id="rId1"/>
    </p:custDataLst>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70150-F685-A7BE-F96F-8FEDE8D110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EC0F3D-4BED-DC5D-CCC5-E2D365CD8B13}"/>
              </a:ext>
            </a:extLst>
          </p:cNvPr>
          <p:cNvSpPr>
            <a:spLocks noGrp="1"/>
          </p:cNvSpPr>
          <p:nvPr>
            <p:ph type="title"/>
          </p:nvPr>
        </p:nvSpPr>
        <p:spPr/>
        <p:txBody>
          <a:bodyPr/>
          <a:lstStyle/>
          <a:p>
            <a:r>
              <a:rPr lang="en-US" dirty="0"/>
              <a:t>Research Questions</a:t>
            </a:r>
          </a:p>
        </p:txBody>
      </p:sp>
      <p:sp>
        <p:nvSpPr>
          <p:cNvPr id="3" name="Content Placeholder 2">
            <a:extLst>
              <a:ext uri="{FF2B5EF4-FFF2-40B4-BE49-F238E27FC236}">
                <a16:creationId xmlns:a16="http://schemas.microsoft.com/office/drawing/2014/main" id="{1C9115DB-1CC5-8F1C-F1F4-25C616097D0C}"/>
              </a:ext>
            </a:extLst>
          </p:cNvPr>
          <p:cNvSpPr>
            <a:spLocks noGrp="1"/>
          </p:cNvSpPr>
          <p:nvPr>
            <p:ph idx="1"/>
          </p:nvPr>
        </p:nvSpPr>
        <p:spPr/>
        <p:txBody>
          <a:bodyPr anchor="ctr">
            <a:noAutofit/>
          </a:bodyPr>
          <a:lstStyle/>
          <a:p>
            <a:pPr marL="514350" indent="-514350">
              <a:buFont typeface="+mj-lt"/>
              <a:buAutoNum type="arabicPeriod"/>
            </a:pPr>
            <a:r>
              <a:rPr lang="en-US" b="1" dirty="0"/>
              <a:t>Can we express memory access transformations in C++ without introducing runtime overhead?</a:t>
            </a:r>
          </a:p>
          <a:p>
            <a:pPr lvl="1"/>
            <a:r>
              <a:rPr lang="en-US" dirty="0">
                <a:solidFill>
                  <a:schemeClr val="bg2">
                    <a:lumMod val="75000"/>
                  </a:schemeClr>
                </a:solidFill>
              </a:rPr>
              <a:t>Decoupling data layouts and traversals, and their transformations</a:t>
            </a:r>
          </a:p>
          <a:p>
            <a:pPr lvl="1"/>
            <a:r>
              <a:rPr lang="en-US" dirty="0"/>
              <a:t>Parallelization and distributed computation</a:t>
            </a:r>
            <a:endParaRPr lang="en-US" sz="2000" dirty="0"/>
          </a:p>
          <a:p>
            <a:pPr marL="0" indent="0">
              <a:buNone/>
            </a:pPr>
            <a:endParaRPr lang="en-US" sz="2000" b="1" dirty="0"/>
          </a:p>
          <a:p>
            <a:pPr marL="0" indent="0">
              <a:buNone/>
            </a:pPr>
            <a:endParaRPr lang="en-US" sz="2000" b="1" dirty="0"/>
          </a:p>
          <a:p>
            <a:pPr marL="0" indent="0">
              <a:buNone/>
            </a:pPr>
            <a:endParaRPr lang="en-US" sz="2000" b="1" dirty="0"/>
          </a:p>
          <a:p>
            <a:pPr marL="0" indent="0" algn="ctr">
              <a:buNone/>
            </a:pPr>
            <a:r>
              <a:rPr lang="en-US" sz="2000" b="1" dirty="0"/>
              <a:t>Publications</a:t>
            </a:r>
          </a:p>
          <a:p>
            <a:pPr marL="0" indent="0">
              <a:buNone/>
            </a:pPr>
            <a:r>
              <a:rPr lang="en-US" sz="2000" b="1" dirty="0">
                <a:solidFill>
                  <a:schemeClr val="bg2">
                    <a:lumMod val="75000"/>
                  </a:schemeClr>
                </a:solidFill>
              </a:rPr>
              <a:t>Astute Approach to Handling Memory Layouts of Regular Data Structures</a:t>
            </a:r>
            <a:r>
              <a:rPr lang="en-US" sz="2000" dirty="0">
                <a:solidFill>
                  <a:schemeClr val="bg2">
                    <a:lumMod val="75000"/>
                  </a:schemeClr>
                </a:solidFill>
              </a:rPr>
              <a:t>. </a:t>
            </a:r>
            <a:r>
              <a:rPr lang="en-US" sz="2000" i="1" dirty="0">
                <a:solidFill>
                  <a:schemeClr val="bg2">
                    <a:lumMod val="75000"/>
                  </a:schemeClr>
                </a:solidFill>
              </a:rPr>
              <a:t>ICA3PP, 2022</a:t>
            </a:r>
          </a:p>
          <a:p>
            <a:pPr marL="0" indent="0">
              <a:buNone/>
            </a:pPr>
            <a:r>
              <a:rPr lang="en-US" sz="2000" b="1" dirty="0"/>
              <a:t>Pure C++ Approach to Optimized Parallel Traversal of Regular Data Structures</a:t>
            </a:r>
            <a:r>
              <a:rPr lang="en-US" sz="2000" dirty="0"/>
              <a:t>. </a:t>
            </a:r>
            <a:r>
              <a:rPr lang="en-US" sz="2000" i="1" dirty="0" err="1"/>
              <a:t>PPoPP</a:t>
            </a:r>
            <a:r>
              <a:rPr lang="en-US" sz="2000" i="1" dirty="0"/>
              <a:t>, 2024</a:t>
            </a:r>
          </a:p>
          <a:p>
            <a:pPr marL="0" indent="0">
              <a:buNone/>
            </a:pPr>
            <a:r>
              <a:rPr lang="en-US" sz="2000" b="1" dirty="0"/>
              <a:t>Abstractions for C++ code optimizations in parallel high-performance applications</a:t>
            </a:r>
            <a:r>
              <a:rPr lang="en-US" sz="2000" dirty="0"/>
              <a:t>. </a:t>
            </a:r>
            <a:r>
              <a:rPr lang="en-US" sz="2000" dirty="0" err="1"/>
              <a:t>ParCo</a:t>
            </a:r>
            <a:r>
              <a:rPr lang="en-US" sz="2000" dirty="0"/>
              <a:t>, 2024</a:t>
            </a:r>
          </a:p>
          <a:p>
            <a:pPr marL="0" indent="0">
              <a:buNone/>
            </a:pPr>
            <a:r>
              <a:rPr lang="en-US" sz="2000" b="1" dirty="0"/>
              <a:t>Layout-Agnostic MPI Abstraction for Distributed Computing in Modern C++</a:t>
            </a:r>
            <a:r>
              <a:rPr lang="en-US" sz="2000" dirty="0"/>
              <a:t>. </a:t>
            </a:r>
            <a:r>
              <a:rPr lang="en-US" sz="2000" i="1" dirty="0" err="1"/>
              <a:t>EuroMPI</a:t>
            </a:r>
            <a:r>
              <a:rPr lang="en-US" sz="2000" i="1" dirty="0"/>
              <a:t>, 2025</a:t>
            </a:r>
            <a:endParaRPr lang="en-US" sz="2400" dirty="0">
              <a:solidFill>
                <a:schemeClr val="bg2">
                  <a:lumMod val="50000"/>
                </a:schemeClr>
              </a:solidFill>
            </a:endParaRPr>
          </a:p>
        </p:txBody>
      </p:sp>
      <p:sp>
        <p:nvSpPr>
          <p:cNvPr id="4" name="Date Placeholder 3">
            <a:extLst>
              <a:ext uri="{FF2B5EF4-FFF2-40B4-BE49-F238E27FC236}">
                <a16:creationId xmlns:a16="http://schemas.microsoft.com/office/drawing/2014/main" id="{C799D1C2-13C3-2C9D-6A0B-7ED75960B046}"/>
              </a:ext>
            </a:extLst>
          </p:cNvPr>
          <p:cNvSpPr>
            <a:spLocks noGrp="1"/>
          </p:cNvSpPr>
          <p:nvPr>
            <p:ph type="dt" sz="half" idx="10"/>
          </p:nvPr>
        </p:nvSpPr>
        <p:spPr/>
        <p:txBody>
          <a:bodyPr/>
          <a:lstStyle/>
          <a:p>
            <a:fld id="{358C28A6-2969-482E-9A3B-5E13FCD8DD03}" type="datetime1">
              <a:rPr lang="en-US" smtClean="0"/>
              <a:t>9/8/2026</a:t>
            </a:fld>
            <a:endParaRPr lang="en-US" dirty="0"/>
          </a:p>
        </p:txBody>
      </p:sp>
      <p:sp>
        <p:nvSpPr>
          <p:cNvPr id="5" name="Slide Number Placeholder 4">
            <a:extLst>
              <a:ext uri="{FF2B5EF4-FFF2-40B4-BE49-F238E27FC236}">
                <a16:creationId xmlns:a16="http://schemas.microsoft.com/office/drawing/2014/main" id="{646DB454-67ED-B6C4-9B1F-42E7DA464DA5}"/>
              </a:ext>
            </a:extLst>
          </p:cNvPr>
          <p:cNvSpPr>
            <a:spLocks noGrp="1"/>
          </p:cNvSpPr>
          <p:nvPr>
            <p:ph type="sldNum" sz="quarter" idx="12"/>
          </p:nvPr>
        </p:nvSpPr>
        <p:spPr/>
        <p:txBody>
          <a:bodyPr/>
          <a:lstStyle/>
          <a:p>
            <a:fld id="{DA0BB241-1B5F-4309-9407-9EEA04D9598D}" type="slidenum">
              <a:rPr lang="en-US" smtClean="0"/>
              <a:t>11</a:t>
            </a:fld>
            <a:endParaRPr lang="en-US"/>
          </a:p>
        </p:txBody>
      </p:sp>
    </p:spTree>
    <p:extLst>
      <p:ext uri="{BB962C8B-B14F-4D97-AF65-F5344CB8AC3E}">
        <p14:creationId xmlns:p14="http://schemas.microsoft.com/office/powerpoint/2010/main" val="14964047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9/8/2026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3" name="TextBox 2">
            <a:extLst>
              <a:ext uri="{FF2B5EF4-FFF2-40B4-BE49-F238E27FC236}">
                <a16:creationId xmlns:a16="http://schemas.microsoft.com/office/drawing/2014/main" id="{EC305EDB-1A2D-B65D-757C-80DDEC1388E3}"/>
              </a:ext>
            </a:extLst>
          </p:cNvPr>
          <p:cNvSpPr txBox="1"/>
          <p:nvPr/>
        </p:nvSpPr>
        <p:spPr>
          <a:xfrm>
            <a:off x="3627196" y="6356349"/>
            <a:ext cx="4937634" cy="400110"/>
          </a:xfrm>
          <a:prstGeom prst="rect">
            <a:avLst/>
          </a:prstGeom>
          <a:noFill/>
        </p:spPr>
        <p:txBody>
          <a:bodyPr wrap="none" rtlCol="0">
            <a:spAutoFit/>
          </a:bodyPr>
          <a:lstStyle/>
          <a:p>
            <a:pPr algn="ctr"/>
            <a:r>
              <a:rPr lang="en-US" sz="2000" i="1" dirty="0">
                <a:solidFill>
                  <a:schemeClr val="bg2">
                    <a:lumMod val="50000"/>
                  </a:schemeClr>
                </a:solidFill>
              </a:rPr>
              <a:t>Parallelization and distributed computation</a:t>
            </a:r>
          </a:p>
        </p:txBody>
      </p:sp>
    </p:spTree>
    <p:custDataLst>
      <p:tags r:id="rId1"/>
    </p:custDataLst>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dirty="0"/>
              <a:t>N</a:t>
            </a:r>
            <a:r>
              <a:rPr lang="en-US" noProof="0" dirty="0"/>
              <a:t>o overhead in parallelization</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735940" y="-1191199"/>
            <a:ext cx="45719"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604856"/>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604856"/>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608485"/>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5906442"/>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5858172"/>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5906441"/>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
        <p:nvSpPr>
          <p:cNvPr id="6" name="TextBox 5">
            <a:extLst>
              <a:ext uri="{FF2B5EF4-FFF2-40B4-BE49-F238E27FC236}">
                <a16:creationId xmlns:a16="http://schemas.microsoft.com/office/drawing/2014/main" id="{DEB69AF3-FD26-1729-8505-22F54ACF5862}"/>
              </a:ext>
            </a:extLst>
          </p:cNvPr>
          <p:cNvSpPr txBox="1"/>
          <p:nvPr/>
        </p:nvSpPr>
        <p:spPr>
          <a:xfrm>
            <a:off x="3627196" y="6356349"/>
            <a:ext cx="4937634" cy="400110"/>
          </a:xfrm>
          <a:prstGeom prst="rect">
            <a:avLst/>
          </a:prstGeom>
          <a:noFill/>
        </p:spPr>
        <p:txBody>
          <a:bodyPr wrap="none" rtlCol="0">
            <a:spAutoFit/>
          </a:bodyPr>
          <a:lstStyle/>
          <a:p>
            <a:pPr algn="ctr"/>
            <a:r>
              <a:rPr lang="en-US" sz="2000" i="1" dirty="0">
                <a:solidFill>
                  <a:schemeClr val="bg2">
                    <a:lumMod val="50000"/>
                  </a:schemeClr>
                </a:solidFill>
              </a:rPr>
              <a:t>Parallelization and distributed computation</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9/8/2026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412156" y="5407427"/>
            <a:ext cx="521160" cy="521160"/>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848591" y="4397966"/>
                <a:ext cx="1567391" cy="369332"/>
              </a:xfrm>
              <a:prstGeom prst="rect">
                <a:avLst/>
              </a:prstGeom>
              <a:blipFill>
                <a:blip r:embed="rId9"/>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10"/>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6E231B42-EA54-C04E-2886-73B0815A839A}"/>
              </a:ext>
            </a:extLst>
          </p:cNvPr>
          <p:cNvSpPr txBox="1"/>
          <p:nvPr/>
        </p:nvSpPr>
        <p:spPr>
          <a:xfrm>
            <a:off x="3627196" y="6356349"/>
            <a:ext cx="4937634" cy="400110"/>
          </a:xfrm>
          <a:prstGeom prst="rect">
            <a:avLst/>
          </a:prstGeom>
          <a:noFill/>
        </p:spPr>
        <p:txBody>
          <a:bodyPr wrap="none" rtlCol="0">
            <a:spAutoFit/>
          </a:bodyPr>
          <a:lstStyle/>
          <a:p>
            <a:pPr algn="ctr"/>
            <a:r>
              <a:rPr lang="en-US" sz="2000" i="1" dirty="0">
                <a:solidFill>
                  <a:schemeClr val="bg2">
                    <a:lumMod val="50000"/>
                  </a:schemeClr>
                </a:solidFill>
              </a:rPr>
              <a:t>Parallelization and distributed computation</a:t>
            </a:r>
          </a:p>
        </p:txBody>
      </p:sp>
    </p:spTree>
    <p:custDataLst>
      <p:tags r:id="rId1"/>
    </p:custDataLst>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9/8/2026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294449"/>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2828648"/>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2825507"/>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221433"/>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8672"/>
                <a:gd name="adj2" fmla="val 149619"/>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721387"/>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675333"/>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
        <p:nvSpPr>
          <p:cNvPr id="9" name="TextBox 8">
            <a:extLst>
              <a:ext uri="{FF2B5EF4-FFF2-40B4-BE49-F238E27FC236}">
                <a16:creationId xmlns:a16="http://schemas.microsoft.com/office/drawing/2014/main" id="{8DE6E6E5-DC54-0C8A-17E6-EFA5683747C4}"/>
              </a:ext>
            </a:extLst>
          </p:cNvPr>
          <p:cNvSpPr txBox="1"/>
          <p:nvPr/>
        </p:nvSpPr>
        <p:spPr>
          <a:xfrm>
            <a:off x="3627196" y="6356349"/>
            <a:ext cx="4937634" cy="400110"/>
          </a:xfrm>
          <a:prstGeom prst="rect">
            <a:avLst/>
          </a:prstGeom>
          <a:noFill/>
        </p:spPr>
        <p:txBody>
          <a:bodyPr wrap="none" rtlCol="0">
            <a:spAutoFit/>
          </a:bodyPr>
          <a:lstStyle/>
          <a:p>
            <a:pPr algn="ctr"/>
            <a:r>
              <a:rPr lang="en-US" sz="2000" i="1" dirty="0">
                <a:solidFill>
                  <a:schemeClr val="bg2">
                    <a:lumMod val="50000"/>
                  </a:schemeClr>
                </a:solidFill>
              </a:rPr>
              <a:t>Parallelization and distributed computation</a:t>
            </a:r>
          </a:p>
        </p:txBody>
      </p:sp>
    </p:spTree>
    <p:custDataLst>
      <p:tags r:id="rId1"/>
    </p:custDataLst>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152400" y="1690849"/>
            <a:ext cx="11887200" cy="3476302"/>
          </a:xfrm>
          <a:prstGeom prst="rect">
            <a:avLst/>
          </a:prstGeom>
        </p:spPr>
      </p:pic>
      <p:sp>
        <p:nvSpPr>
          <p:cNvPr id="6" name="TextBox 5">
            <a:extLst>
              <a:ext uri="{FF2B5EF4-FFF2-40B4-BE49-F238E27FC236}">
                <a16:creationId xmlns:a16="http://schemas.microsoft.com/office/drawing/2014/main" id="{FA1708D3-AFE4-DBB6-A7BB-193F37370B50}"/>
              </a:ext>
            </a:extLst>
          </p:cNvPr>
          <p:cNvSpPr txBox="1"/>
          <p:nvPr/>
        </p:nvSpPr>
        <p:spPr>
          <a:xfrm>
            <a:off x="3627196" y="6356349"/>
            <a:ext cx="4937634" cy="400110"/>
          </a:xfrm>
          <a:prstGeom prst="rect">
            <a:avLst/>
          </a:prstGeom>
          <a:noFill/>
        </p:spPr>
        <p:txBody>
          <a:bodyPr wrap="none" rtlCol="0">
            <a:spAutoFit/>
          </a:bodyPr>
          <a:lstStyle/>
          <a:p>
            <a:pPr algn="ctr"/>
            <a:r>
              <a:rPr lang="en-US" sz="2000" i="1" dirty="0">
                <a:solidFill>
                  <a:schemeClr val="bg2">
                    <a:lumMod val="50000"/>
                  </a:schemeClr>
                </a:solidFill>
              </a:rPr>
              <a:t>Parallelization and distributed computation</a:t>
            </a:r>
          </a:p>
        </p:txBody>
      </p:sp>
    </p:spTree>
    <p:extLst>
      <p:ext uri="{BB962C8B-B14F-4D97-AF65-F5344CB8AC3E}">
        <p14:creationId xmlns:p14="http://schemas.microsoft.com/office/powerpoint/2010/main" val="2024218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Noarr-MPI does not introduce overhead</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302946" y="1563214"/>
            <a:ext cx="11588736" cy="3731572"/>
          </a:xfrm>
          <a:prstGeom prst="rect">
            <a:avLst/>
          </a:prstGeom>
        </p:spPr>
      </p:pic>
      <p:sp>
        <p:nvSpPr>
          <p:cNvPr id="6" name="TextBox 5">
            <a:extLst>
              <a:ext uri="{FF2B5EF4-FFF2-40B4-BE49-F238E27FC236}">
                <a16:creationId xmlns:a16="http://schemas.microsoft.com/office/drawing/2014/main" id="{689023FA-281F-E050-9088-6CB145E15954}"/>
              </a:ext>
            </a:extLst>
          </p:cNvPr>
          <p:cNvSpPr txBox="1"/>
          <p:nvPr/>
        </p:nvSpPr>
        <p:spPr>
          <a:xfrm>
            <a:off x="3627196" y="6356349"/>
            <a:ext cx="4937634" cy="400110"/>
          </a:xfrm>
          <a:prstGeom prst="rect">
            <a:avLst/>
          </a:prstGeom>
          <a:noFill/>
        </p:spPr>
        <p:txBody>
          <a:bodyPr wrap="none" rtlCol="0">
            <a:spAutoFit/>
          </a:bodyPr>
          <a:lstStyle/>
          <a:p>
            <a:pPr algn="ctr"/>
            <a:r>
              <a:rPr lang="en-US" sz="2000" i="1" dirty="0">
                <a:solidFill>
                  <a:schemeClr val="bg2">
                    <a:lumMod val="50000"/>
                  </a:schemeClr>
                </a:solidFill>
              </a:rPr>
              <a:t>Parallelization and distributed computation</a:t>
            </a:r>
          </a:p>
        </p:txBody>
      </p:sp>
    </p:spTree>
    <p:extLst>
      <p:ext uri="{BB962C8B-B14F-4D97-AF65-F5344CB8AC3E}">
        <p14:creationId xmlns:p14="http://schemas.microsoft.com/office/powerpoint/2010/main" val="39727034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C5021-1D96-ECC4-A246-D0B4CB5082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706DE1D-046A-00C8-8706-E52E14C1BBC0}"/>
              </a:ext>
            </a:extLst>
          </p:cNvPr>
          <p:cNvSpPr>
            <a:spLocks noGrp="1"/>
          </p:cNvSpPr>
          <p:nvPr>
            <p:ph idx="1"/>
          </p:nvPr>
        </p:nvSpPr>
        <p:spPr/>
        <p:txBody>
          <a:bodyPr anchor="ctr">
            <a:noAutofit/>
          </a:bodyPr>
          <a:lstStyle/>
          <a:p>
            <a:pPr marL="514350" indent="-514350">
              <a:buFont typeface="+mj-lt"/>
              <a:buAutoNum type="arabicPeriod" startAt="2"/>
            </a:pPr>
            <a:r>
              <a:rPr lang="en-US" b="1" dirty="0"/>
              <a:t>Can we automate optimizations of memory accesses and evaluation strategies for more restricted use cases?</a:t>
            </a:r>
          </a:p>
          <a:p>
            <a:pPr lvl="1"/>
            <a:r>
              <a:rPr lang="en-US" dirty="0"/>
              <a:t>Decoupling data encoding and evaluation strategy as well</a:t>
            </a:r>
          </a:p>
          <a:p>
            <a:pPr lvl="1"/>
            <a:r>
              <a:rPr lang="en-US" dirty="0">
                <a:solidFill>
                  <a:schemeClr val="bg2">
                    <a:lumMod val="75000"/>
                  </a:schemeClr>
                </a:solidFill>
              </a:rPr>
              <a:t>Preparing applicable optimizations</a:t>
            </a: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lgn="ctr">
              <a:buNone/>
            </a:pPr>
            <a:r>
              <a:rPr lang="en-US" sz="2000" b="1" dirty="0"/>
              <a:t>Publications</a:t>
            </a:r>
            <a:endParaRPr lang="en-US" sz="2000" dirty="0"/>
          </a:p>
          <a:p>
            <a:pPr marL="0" indent="0">
              <a:buNone/>
            </a:pPr>
            <a:r>
              <a:rPr lang="en-US" sz="2000" b="1" dirty="0"/>
              <a:t>Cellato: a DSL for Cellular Automata based on Template Metaprogramming.</a:t>
            </a:r>
            <a:r>
              <a:rPr lang="en-US" sz="2000" dirty="0"/>
              <a:t> JOT, 2026</a:t>
            </a:r>
          </a:p>
        </p:txBody>
      </p:sp>
      <p:sp>
        <p:nvSpPr>
          <p:cNvPr id="2" name="Title 1">
            <a:extLst>
              <a:ext uri="{FF2B5EF4-FFF2-40B4-BE49-F238E27FC236}">
                <a16:creationId xmlns:a16="http://schemas.microsoft.com/office/drawing/2014/main" id="{5B88C01E-5468-7483-AC4B-5C4BF568CAB7}"/>
              </a:ext>
            </a:extLst>
          </p:cNvPr>
          <p:cNvSpPr>
            <a:spLocks noGrp="1"/>
          </p:cNvSpPr>
          <p:nvPr>
            <p:ph type="title"/>
          </p:nvPr>
        </p:nvSpPr>
        <p:spPr/>
        <p:txBody>
          <a:bodyPr/>
          <a:lstStyle/>
          <a:p>
            <a:r>
              <a:rPr lang="en-US" dirty="0"/>
              <a:t>Research Questions</a:t>
            </a:r>
          </a:p>
        </p:txBody>
      </p:sp>
      <p:sp>
        <p:nvSpPr>
          <p:cNvPr id="4" name="Date Placeholder 3">
            <a:extLst>
              <a:ext uri="{FF2B5EF4-FFF2-40B4-BE49-F238E27FC236}">
                <a16:creationId xmlns:a16="http://schemas.microsoft.com/office/drawing/2014/main" id="{FF1D8DF2-E5D3-58DE-16C8-34D06EC39C5C}"/>
              </a:ext>
            </a:extLst>
          </p:cNvPr>
          <p:cNvSpPr>
            <a:spLocks noGrp="1"/>
          </p:cNvSpPr>
          <p:nvPr>
            <p:ph type="dt" sz="half" idx="10"/>
          </p:nvPr>
        </p:nvSpPr>
        <p:spPr/>
        <p:txBody>
          <a:bodyPr/>
          <a:lstStyle/>
          <a:p>
            <a:fld id="{358C28A6-2969-482E-9A3B-5E13FCD8DD03}" type="datetime1">
              <a:rPr lang="en-US" smtClean="0"/>
              <a:t>9/8/2026</a:t>
            </a:fld>
            <a:endParaRPr lang="en-US" dirty="0"/>
          </a:p>
        </p:txBody>
      </p:sp>
      <p:sp>
        <p:nvSpPr>
          <p:cNvPr id="5" name="Slide Number Placeholder 4">
            <a:extLst>
              <a:ext uri="{FF2B5EF4-FFF2-40B4-BE49-F238E27FC236}">
                <a16:creationId xmlns:a16="http://schemas.microsoft.com/office/drawing/2014/main" id="{C7FA3A08-02D2-0C17-C3EC-02E99457B673}"/>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17472382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9/8/2026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nvGrpSpPr>
        <p:grpSpPr>
          <a:xfrm>
            <a:off x="6804263" y="5386381"/>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nvGrpSpPr>
        <p:grpSpPr>
          <a:xfrm>
            <a:off x="3377999" y="5386381"/>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074132" y="1313599"/>
              <a:ext cx="732656" cy="732656"/>
            </a:xfrm>
            <a:prstGeom prst="rect">
              <a:avLst/>
            </a:prstGeom>
          </p:spPr>
        </p:pic>
      </p:grpSp>
      <p:sp>
        <p:nvSpPr>
          <p:cNvPr id="13" name="TextBox 12">
            <a:extLst>
              <a:ext uri="{FF2B5EF4-FFF2-40B4-BE49-F238E27FC236}">
                <a16:creationId xmlns:a16="http://schemas.microsoft.com/office/drawing/2014/main" id="{4A5636CE-98ED-54C7-4A39-4D24E33F39A3}"/>
              </a:ext>
            </a:extLst>
          </p:cNvPr>
          <p:cNvSpPr txBox="1"/>
          <p:nvPr/>
        </p:nvSpPr>
        <p:spPr>
          <a:xfrm>
            <a:off x="2843616" y="6356349"/>
            <a:ext cx="6504794" cy="400110"/>
          </a:xfrm>
          <a:prstGeom prst="rect">
            <a:avLst/>
          </a:prstGeom>
          <a:noFill/>
        </p:spPr>
        <p:txBody>
          <a:bodyPr wrap="none" rtlCol="0">
            <a:spAutoFit/>
          </a:bodyPr>
          <a:lstStyle/>
          <a:p>
            <a:pPr algn="ctr"/>
            <a:r>
              <a:rPr lang="en-US" sz="2000" i="1" dirty="0">
                <a:solidFill>
                  <a:schemeClr val="bg2">
                    <a:lumMod val="50000"/>
                  </a:schemeClr>
                </a:solidFill>
              </a:rPr>
              <a:t>Decoupling data encoding and evaluation strategy as well</a:t>
            </a:r>
          </a:p>
        </p:txBody>
      </p:sp>
    </p:spTree>
    <p:custDataLst>
      <p:tags r:id="rId1"/>
    </p:custDataLst>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9/8/2026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10" name="TextBox 9">
            <a:extLst>
              <a:ext uri="{FF2B5EF4-FFF2-40B4-BE49-F238E27FC236}">
                <a16:creationId xmlns:a16="http://schemas.microsoft.com/office/drawing/2014/main" id="{F87652A6-37F0-2CC7-1FD2-E46D9878EE9E}"/>
              </a:ext>
            </a:extLst>
          </p:cNvPr>
          <p:cNvSpPr txBox="1"/>
          <p:nvPr/>
        </p:nvSpPr>
        <p:spPr>
          <a:xfrm>
            <a:off x="4270819" y="1270770"/>
            <a:ext cx="3650359" cy="523220"/>
          </a:xfrm>
          <a:prstGeom prst="rect">
            <a:avLst/>
          </a:prstGeom>
          <a:noFill/>
        </p:spPr>
        <p:txBody>
          <a:bodyPr wrap="none" rtlCol="0" anchor="b">
            <a:spAutoFit/>
          </a:bodyPr>
          <a:lstStyle/>
          <a:p>
            <a:pPr algn="ctr"/>
            <a:r>
              <a:rPr lang="en-US" sz="2800" noProof="0" dirty="0"/>
              <a:t>Example: Game of Life</a:t>
            </a:r>
          </a:p>
        </p:txBody>
      </p:sp>
      <p:sp>
        <p:nvSpPr>
          <p:cNvPr id="7" name="TextBox 6">
            <a:extLst>
              <a:ext uri="{FF2B5EF4-FFF2-40B4-BE49-F238E27FC236}">
                <a16:creationId xmlns:a16="http://schemas.microsoft.com/office/drawing/2014/main" id="{558B0A78-F5BD-55EF-1087-A92815BCA5A1}"/>
              </a:ext>
            </a:extLst>
          </p:cNvPr>
          <p:cNvSpPr txBox="1"/>
          <p:nvPr/>
        </p:nvSpPr>
        <p:spPr>
          <a:xfrm>
            <a:off x="7068333" y="2078595"/>
            <a:ext cx="2994602" cy="830997"/>
          </a:xfrm>
          <a:prstGeom prst="rect">
            <a:avLst/>
          </a:prstGeom>
          <a:noFill/>
        </p:spPr>
        <p:txBody>
          <a:bodyPr wrap="none" rtlCol="0" anchor="ctr">
            <a:spAutoFit/>
          </a:bodyPr>
          <a:lstStyle/>
          <a:p>
            <a:r>
              <a:rPr lang="en-US" sz="2400" dirty="0"/>
              <a:t>Binary state</a:t>
            </a:r>
          </a:p>
          <a:p>
            <a:r>
              <a:rPr lang="en-US" sz="2400" dirty="0"/>
              <a:t>Neighbor-count rules</a:t>
            </a:r>
          </a:p>
        </p:txBody>
      </p:sp>
      <p:sp>
        <p:nvSpPr>
          <p:cNvPr id="8" name="TextBox 7">
            <a:extLst>
              <a:ext uri="{FF2B5EF4-FFF2-40B4-BE49-F238E27FC236}">
                <a16:creationId xmlns:a16="http://schemas.microsoft.com/office/drawing/2014/main" id="{BB291C08-825E-9BE6-4CE2-563CC06E8FA9}"/>
              </a:ext>
            </a:extLst>
          </p:cNvPr>
          <p:cNvSpPr txBox="1"/>
          <p:nvPr/>
        </p:nvSpPr>
        <p:spPr>
          <a:xfrm>
            <a:off x="2843616" y="6356349"/>
            <a:ext cx="6504794" cy="400110"/>
          </a:xfrm>
          <a:prstGeom prst="rect">
            <a:avLst/>
          </a:prstGeom>
          <a:noFill/>
        </p:spPr>
        <p:txBody>
          <a:bodyPr wrap="none" rtlCol="0">
            <a:spAutoFit/>
          </a:bodyPr>
          <a:lstStyle/>
          <a:p>
            <a:pPr algn="ctr"/>
            <a:r>
              <a:rPr lang="en-US" sz="2000" i="1" dirty="0">
                <a:solidFill>
                  <a:schemeClr val="bg2">
                    <a:lumMod val="50000"/>
                  </a:schemeClr>
                </a:solidFill>
              </a:rPr>
              <a:t>Decoupling data encoding and evaluation strategy as well</a:t>
            </a:r>
          </a:p>
        </p:txBody>
      </p:sp>
    </p:spTree>
    <p:custDataLst>
      <p:tags r:id="rId1"/>
    </p:custDataLst>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62568-BFBC-E733-7803-49776870068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F53F77-2E8C-05F9-3D67-B8EDF0A93459}"/>
              </a:ext>
            </a:extLst>
          </p:cNvPr>
          <p:cNvSpPr>
            <a:spLocks noGrp="1"/>
          </p:cNvSpPr>
          <p:nvPr>
            <p:ph idx="1"/>
          </p:nvPr>
        </p:nvSpPr>
        <p:spPr/>
        <p:txBody>
          <a:bodyPr anchor="ctr">
            <a:noAutofit/>
          </a:bodyPr>
          <a:lstStyle/>
          <a:p>
            <a:pPr marL="514350" indent="-514350">
              <a:buFont typeface="+mj-lt"/>
              <a:buAutoNum type="arabicPeriod" startAt="2"/>
            </a:pPr>
            <a:r>
              <a:rPr lang="en-US" b="1" dirty="0"/>
              <a:t>Can we automate optimizations of memory accesses and evaluation strategies for more restricted use cases?</a:t>
            </a:r>
          </a:p>
          <a:p>
            <a:pPr lvl="1"/>
            <a:r>
              <a:rPr lang="en-US" dirty="0">
                <a:solidFill>
                  <a:schemeClr val="bg2">
                    <a:lumMod val="75000"/>
                  </a:schemeClr>
                </a:solidFill>
              </a:rPr>
              <a:t>Decoupling data encoding and evaluation strategy as well</a:t>
            </a:r>
          </a:p>
          <a:p>
            <a:pPr lvl="1"/>
            <a:r>
              <a:rPr lang="en-US" dirty="0"/>
              <a:t>Preparing applicable optimizations</a:t>
            </a: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lgn="ctr">
              <a:buNone/>
            </a:pPr>
            <a:r>
              <a:rPr lang="en-US" sz="2000" b="1" dirty="0"/>
              <a:t>Publications</a:t>
            </a:r>
            <a:endParaRPr lang="en-US" sz="2000" dirty="0"/>
          </a:p>
          <a:p>
            <a:pPr marL="0" indent="0">
              <a:buNone/>
            </a:pPr>
            <a:r>
              <a:rPr lang="en-US" sz="2000" b="1" dirty="0"/>
              <a:t>Cellato: a DSL for Cellular Automata based on Template Metaprogramming.</a:t>
            </a:r>
            <a:r>
              <a:rPr lang="en-US" sz="2000" dirty="0"/>
              <a:t> JOT, 2026</a:t>
            </a:r>
          </a:p>
        </p:txBody>
      </p:sp>
      <p:sp>
        <p:nvSpPr>
          <p:cNvPr id="2" name="Title 1">
            <a:extLst>
              <a:ext uri="{FF2B5EF4-FFF2-40B4-BE49-F238E27FC236}">
                <a16:creationId xmlns:a16="http://schemas.microsoft.com/office/drawing/2014/main" id="{E0FC58CA-4774-4680-EFB8-32D9737DAFE5}"/>
              </a:ext>
            </a:extLst>
          </p:cNvPr>
          <p:cNvSpPr>
            <a:spLocks noGrp="1"/>
          </p:cNvSpPr>
          <p:nvPr>
            <p:ph type="title"/>
          </p:nvPr>
        </p:nvSpPr>
        <p:spPr/>
        <p:txBody>
          <a:bodyPr/>
          <a:lstStyle/>
          <a:p>
            <a:r>
              <a:rPr lang="en-US" dirty="0"/>
              <a:t>Research Questions</a:t>
            </a:r>
          </a:p>
        </p:txBody>
      </p:sp>
      <p:sp>
        <p:nvSpPr>
          <p:cNvPr id="4" name="Date Placeholder 3">
            <a:extLst>
              <a:ext uri="{FF2B5EF4-FFF2-40B4-BE49-F238E27FC236}">
                <a16:creationId xmlns:a16="http://schemas.microsoft.com/office/drawing/2014/main" id="{B5116A65-6B06-7E4F-83B8-CFE5F83D7061}"/>
              </a:ext>
            </a:extLst>
          </p:cNvPr>
          <p:cNvSpPr>
            <a:spLocks noGrp="1"/>
          </p:cNvSpPr>
          <p:nvPr>
            <p:ph type="dt" sz="half" idx="10"/>
          </p:nvPr>
        </p:nvSpPr>
        <p:spPr/>
        <p:txBody>
          <a:bodyPr/>
          <a:lstStyle/>
          <a:p>
            <a:fld id="{358C28A6-2969-482E-9A3B-5E13FCD8DD03}" type="datetime1">
              <a:rPr lang="en-US" smtClean="0"/>
              <a:t>9/8/2026</a:t>
            </a:fld>
            <a:endParaRPr lang="en-US" dirty="0"/>
          </a:p>
        </p:txBody>
      </p:sp>
      <p:sp>
        <p:nvSpPr>
          <p:cNvPr id="5" name="Slide Number Placeholder 4">
            <a:extLst>
              <a:ext uri="{FF2B5EF4-FFF2-40B4-BE49-F238E27FC236}">
                <a16:creationId xmlns:a16="http://schemas.microsoft.com/office/drawing/2014/main" id="{8B0B1982-226B-F284-A41B-734EA7830EC6}"/>
              </a:ext>
            </a:extLst>
          </p:cNvPr>
          <p:cNvSpPr>
            <a:spLocks noGrp="1"/>
          </p:cNvSpPr>
          <p:nvPr>
            <p:ph type="sldNum" sz="quarter" idx="12"/>
          </p:nvPr>
        </p:nvSpPr>
        <p:spPr/>
        <p:txBody>
          <a:bodyPr/>
          <a:lstStyle/>
          <a:p>
            <a:fld id="{DA0BB241-1B5F-4309-9407-9EEA04D9598D}" type="slidenum">
              <a:rPr lang="en-US" smtClean="0"/>
              <a:t>21</a:t>
            </a:fld>
            <a:endParaRPr lang="en-US"/>
          </a:p>
        </p:txBody>
      </p:sp>
    </p:spTree>
    <p:extLst>
      <p:ext uri="{BB962C8B-B14F-4D97-AF65-F5344CB8AC3E}">
        <p14:creationId xmlns:p14="http://schemas.microsoft.com/office/powerpoint/2010/main" val="4970585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65267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757369" cy="7524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F908CD11-9590-94D1-3FC3-DA185433B5EB}"/>
              </a:ext>
            </a:extLst>
          </p:cNvPr>
          <p:cNvSpPr txBox="1"/>
          <p:nvPr/>
        </p:nvSpPr>
        <p:spPr>
          <a:xfrm>
            <a:off x="4088668" y="6356349"/>
            <a:ext cx="4014689" cy="400110"/>
          </a:xfrm>
          <a:prstGeom prst="rect">
            <a:avLst/>
          </a:prstGeom>
          <a:noFill/>
        </p:spPr>
        <p:txBody>
          <a:bodyPr wrap="none" rtlCol="0">
            <a:spAutoFit/>
          </a:bodyPr>
          <a:lstStyle/>
          <a:p>
            <a:pPr algn="ctr"/>
            <a:r>
              <a:rPr lang="en-US" sz="2000" i="1" dirty="0">
                <a:solidFill>
                  <a:schemeClr val="bg2">
                    <a:lumMod val="50000"/>
                  </a:schemeClr>
                </a:solidFill>
              </a:rPr>
              <a:t>Preparing applicable optimizations</a:t>
            </a:r>
          </a:p>
        </p:txBody>
      </p:sp>
    </p:spTree>
    <p:extLst>
      <p:ext uri="{BB962C8B-B14F-4D97-AF65-F5344CB8AC3E}">
        <p14:creationId xmlns:p14="http://schemas.microsoft.com/office/powerpoint/2010/main" val="285354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300318" y="1597928"/>
            <a:ext cx="11591364" cy="4288802"/>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What the design allows us to gain</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
        <p:nvSpPr>
          <p:cNvPr id="8" name="TextBox 7">
            <a:extLst>
              <a:ext uri="{FF2B5EF4-FFF2-40B4-BE49-F238E27FC236}">
                <a16:creationId xmlns:a16="http://schemas.microsoft.com/office/drawing/2014/main" id="{676AFE7E-D288-DA7D-6B4A-0CEA7ACABA1B}"/>
              </a:ext>
            </a:extLst>
          </p:cNvPr>
          <p:cNvSpPr txBox="1"/>
          <p:nvPr/>
        </p:nvSpPr>
        <p:spPr>
          <a:xfrm>
            <a:off x="4088668" y="6356349"/>
            <a:ext cx="4014689" cy="400110"/>
          </a:xfrm>
          <a:prstGeom prst="rect">
            <a:avLst/>
          </a:prstGeom>
          <a:noFill/>
        </p:spPr>
        <p:txBody>
          <a:bodyPr wrap="none" rtlCol="0">
            <a:spAutoFit/>
          </a:bodyPr>
          <a:lstStyle/>
          <a:p>
            <a:pPr algn="ctr"/>
            <a:r>
              <a:rPr lang="en-US" sz="2000" i="1" dirty="0">
                <a:solidFill>
                  <a:schemeClr val="bg2">
                    <a:lumMod val="50000"/>
                  </a:schemeClr>
                </a:solidFill>
              </a:rPr>
              <a:t>Preparing applicable optimizations</a:t>
            </a:r>
          </a:p>
        </p:txBody>
      </p:sp>
    </p:spTree>
    <p:extLst>
      <p:ext uri="{BB962C8B-B14F-4D97-AF65-F5344CB8AC3E}">
        <p14:creationId xmlns:p14="http://schemas.microsoft.com/office/powerpoint/2010/main" val="13104121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4AA23-06B2-AB19-1DC4-A5930C1C1F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F2D986-DE65-33B7-98F6-1B1798F2FE24}"/>
              </a:ext>
            </a:extLst>
          </p:cNvPr>
          <p:cNvSpPr>
            <a:spLocks noGrp="1"/>
          </p:cNvSpPr>
          <p:nvPr>
            <p:ph type="title"/>
          </p:nvPr>
        </p:nvSpPr>
        <p:spPr/>
        <p:txBody>
          <a:bodyPr/>
          <a:lstStyle/>
          <a:p>
            <a:r>
              <a:rPr lang="en-US" dirty="0"/>
              <a:t>Research Questions</a:t>
            </a:r>
          </a:p>
        </p:txBody>
      </p:sp>
      <p:sp>
        <p:nvSpPr>
          <p:cNvPr id="3" name="Content Placeholder 2">
            <a:extLst>
              <a:ext uri="{FF2B5EF4-FFF2-40B4-BE49-F238E27FC236}">
                <a16:creationId xmlns:a16="http://schemas.microsoft.com/office/drawing/2014/main" id="{23C2BD76-D016-5AF4-DBB3-BF9ED6D240EE}"/>
              </a:ext>
            </a:extLst>
          </p:cNvPr>
          <p:cNvSpPr>
            <a:spLocks noGrp="1"/>
          </p:cNvSpPr>
          <p:nvPr>
            <p:ph idx="1"/>
          </p:nvPr>
        </p:nvSpPr>
        <p:spPr/>
        <p:txBody>
          <a:bodyPr anchor="ctr">
            <a:noAutofit/>
          </a:bodyPr>
          <a:lstStyle/>
          <a:p>
            <a:pPr marL="514350" indent="-514350">
              <a:buFont typeface="+mj-lt"/>
              <a:buAutoNum type="arabicPeriod" startAt="3"/>
            </a:pPr>
            <a:r>
              <a:rPr lang="en-US" b="1" dirty="0"/>
              <a:t>Can we help LLMs apply even more general optimizations?</a:t>
            </a:r>
          </a:p>
          <a:p>
            <a:pPr lvl="1"/>
            <a:r>
              <a:rPr lang="en-US" dirty="0"/>
              <a:t>Specific hints or design instructions for more efficient LLM-generated implementations</a:t>
            </a:r>
          </a:p>
          <a:p>
            <a:pPr lvl="1"/>
            <a:r>
              <a:rPr lang="en-US" dirty="0">
                <a:solidFill>
                  <a:schemeClr val="bg2">
                    <a:lumMod val="75000"/>
                  </a:schemeClr>
                </a:solidFill>
              </a:rPr>
              <a:t>Improving LLM-generated code with abstractions</a:t>
            </a:r>
          </a:p>
          <a:p>
            <a:pPr marL="0" indent="0">
              <a:buNone/>
            </a:pPr>
            <a:endParaRPr lang="en-US" sz="2000" b="1" dirty="0"/>
          </a:p>
          <a:p>
            <a:pPr marL="0" indent="0">
              <a:buNone/>
            </a:pPr>
            <a:endParaRPr lang="en-US" sz="2000" b="1" dirty="0"/>
          </a:p>
          <a:p>
            <a:pPr marL="0" indent="0">
              <a:buNone/>
            </a:pPr>
            <a:endParaRPr lang="en-US" sz="2000" b="1" dirty="0"/>
          </a:p>
          <a:p>
            <a:pPr marL="0" indent="0">
              <a:buNone/>
            </a:pPr>
            <a:endParaRPr lang="en-US" sz="2000" b="1" dirty="0"/>
          </a:p>
          <a:p>
            <a:pPr marL="0" indent="0" algn="ctr">
              <a:buNone/>
            </a:pPr>
            <a:r>
              <a:rPr lang="en-US" sz="2000" b="1" dirty="0"/>
              <a:t>Publications</a:t>
            </a:r>
          </a:p>
          <a:p>
            <a:pPr marL="0" indent="0">
              <a:buNone/>
            </a:pPr>
            <a:r>
              <a:rPr lang="en-US" sz="2000" b="1" dirty="0"/>
              <a:t>Tutoring LLM into a Better CUDA Optimizer.</a:t>
            </a:r>
            <a:r>
              <a:rPr lang="en-US" sz="2000" dirty="0"/>
              <a:t> </a:t>
            </a:r>
            <a:r>
              <a:rPr lang="en-US" sz="2000" i="1" dirty="0"/>
              <a:t>Euro-Par, 2025</a:t>
            </a:r>
          </a:p>
          <a:p>
            <a:pPr marL="0" indent="0">
              <a:buNone/>
            </a:pPr>
            <a:r>
              <a:rPr lang="en-US" sz="2000" b="1" dirty="0">
                <a:solidFill>
                  <a:schemeClr val="bg2">
                    <a:lumMod val="75000"/>
                  </a:schemeClr>
                </a:solidFill>
              </a:rPr>
              <a:t>Abstractions and Prompting Strategies on LLM-Guided Optimization.</a:t>
            </a:r>
            <a:r>
              <a:rPr lang="en-US" sz="2000" dirty="0">
                <a:solidFill>
                  <a:schemeClr val="bg2">
                    <a:lumMod val="75000"/>
                  </a:schemeClr>
                </a:solidFill>
              </a:rPr>
              <a:t> </a:t>
            </a:r>
            <a:r>
              <a:rPr lang="en-US" sz="2000" i="1" dirty="0">
                <a:solidFill>
                  <a:schemeClr val="bg2">
                    <a:lumMod val="75000"/>
                  </a:schemeClr>
                </a:solidFill>
              </a:rPr>
              <a:t>ICA3PP, 2026</a:t>
            </a:r>
          </a:p>
        </p:txBody>
      </p:sp>
      <p:sp>
        <p:nvSpPr>
          <p:cNvPr id="4" name="Date Placeholder 3">
            <a:extLst>
              <a:ext uri="{FF2B5EF4-FFF2-40B4-BE49-F238E27FC236}">
                <a16:creationId xmlns:a16="http://schemas.microsoft.com/office/drawing/2014/main" id="{8BCEB1E9-2C61-4C5A-B907-038304E0C7CE}"/>
              </a:ext>
            </a:extLst>
          </p:cNvPr>
          <p:cNvSpPr>
            <a:spLocks noGrp="1"/>
          </p:cNvSpPr>
          <p:nvPr>
            <p:ph type="dt" sz="half" idx="10"/>
          </p:nvPr>
        </p:nvSpPr>
        <p:spPr/>
        <p:txBody>
          <a:bodyPr/>
          <a:lstStyle/>
          <a:p>
            <a:fld id="{358C28A6-2969-482E-9A3B-5E13FCD8DD03}" type="datetime1">
              <a:rPr lang="en-US" smtClean="0"/>
              <a:t>9/8/2026</a:t>
            </a:fld>
            <a:endParaRPr lang="en-US" dirty="0"/>
          </a:p>
        </p:txBody>
      </p:sp>
      <p:sp>
        <p:nvSpPr>
          <p:cNvPr id="5" name="Slide Number Placeholder 4">
            <a:extLst>
              <a:ext uri="{FF2B5EF4-FFF2-40B4-BE49-F238E27FC236}">
                <a16:creationId xmlns:a16="http://schemas.microsoft.com/office/drawing/2014/main" id="{2EEF0D0D-E003-BA5E-7550-5895B4F09820}"/>
              </a:ext>
            </a:extLst>
          </p:cNvPr>
          <p:cNvSpPr>
            <a:spLocks noGrp="1"/>
          </p:cNvSpPr>
          <p:nvPr>
            <p:ph type="sldNum" sz="quarter" idx="12"/>
          </p:nvPr>
        </p:nvSpPr>
        <p:spPr/>
        <p:txBody>
          <a:bodyPr/>
          <a:lstStyle/>
          <a:p>
            <a:fld id="{DA0BB241-1B5F-4309-9407-9EEA04D9598D}" type="slidenum">
              <a:rPr lang="en-US" smtClean="0"/>
              <a:t>24</a:t>
            </a:fld>
            <a:endParaRPr lang="en-US"/>
          </a:p>
        </p:txBody>
      </p:sp>
    </p:spTree>
    <p:extLst>
      <p:ext uri="{BB962C8B-B14F-4D97-AF65-F5344CB8AC3E}">
        <p14:creationId xmlns:p14="http://schemas.microsoft.com/office/powerpoint/2010/main" val="3546540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nvPicPr>
        <p:blipFill>
          <a:blip r:embed="rId4"/>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nvPicPr>
        <p:blipFill>
          <a:blip r:embed="rId4"/>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nvPicPr>
        <p:blipFill>
          <a:blip r:embed="rId4"/>
          <a:srcRect l="12577" t="17864" r="12520" b="16352"/>
          <a:stretch>
            <a:fillRect/>
          </a:stretch>
        </p:blipFill>
        <p:spPr>
          <a:xfrm>
            <a:off x="9667586" y="3847084"/>
            <a:ext cx="919163" cy="807244"/>
          </a:xfrm>
          <a:prstGeom prst="rect">
            <a:avLst/>
          </a:prstGeom>
        </p:spPr>
      </p:pic>
      <p:sp>
        <p:nvSpPr>
          <p:cNvPr id="6" name="TextBox 5">
            <a:extLst>
              <a:ext uri="{FF2B5EF4-FFF2-40B4-BE49-F238E27FC236}">
                <a16:creationId xmlns:a16="http://schemas.microsoft.com/office/drawing/2014/main" id="{2A1E77D3-DCAC-6113-8D32-A697F9C529CF}"/>
              </a:ext>
            </a:extLst>
          </p:cNvPr>
          <p:cNvSpPr txBox="1"/>
          <p:nvPr/>
        </p:nvSpPr>
        <p:spPr>
          <a:xfrm>
            <a:off x="3551565" y="6356349"/>
            <a:ext cx="5088894" cy="400110"/>
          </a:xfrm>
          <a:prstGeom prst="rect">
            <a:avLst/>
          </a:prstGeom>
          <a:noFill/>
        </p:spPr>
        <p:txBody>
          <a:bodyPr wrap="none" rtlCol="0">
            <a:spAutoFit/>
          </a:bodyPr>
          <a:lstStyle/>
          <a:p>
            <a:pPr algn="ctr"/>
            <a:r>
              <a:rPr lang="en-US" sz="2000" i="1" dirty="0">
                <a:solidFill>
                  <a:schemeClr val="bg2">
                    <a:lumMod val="50000"/>
                  </a:schemeClr>
                </a:solidFill>
              </a:rPr>
              <a:t>Specific hints or design instructions for LLMs</a:t>
            </a:r>
          </a:p>
        </p:txBody>
      </p:sp>
    </p:spTree>
    <p:custDataLst>
      <p:tags r:id="rId1"/>
    </p:custDataLst>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2" grpId="0" animBg="1"/>
      <p:bldP spid="47" grpId="0" animBg="1"/>
      <p:bldP spid="61" grpId="0" animBg="1"/>
      <p:bldP spid="68" grpId="0"/>
      <p:bldP spid="7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4"/>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
        <p:nvSpPr>
          <p:cNvPr id="8" name="TextBox 7">
            <a:extLst>
              <a:ext uri="{FF2B5EF4-FFF2-40B4-BE49-F238E27FC236}">
                <a16:creationId xmlns:a16="http://schemas.microsoft.com/office/drawing/2014/main" id="{E75E5CBD-2EE8-238A-723D-68BA83D84E68}"/>
              </a:ext>
            </a:extLst>
          </p:cNvPr>
          <p:cNvSpPr txBox="1"/>
          <p:nvPr/>
        </p:nvSpPr>
        <p:spPr>
          <a:xfrm>
            <a:off x="3551565" y="6356349"/>
            <a:ext cx="5088894" cy="400110"/>
          </a:xfrm>
          <a:prstGeom prst="rect">
            <a:avLst/>
          </a:prstGeom>
          <a:noFill/>
        </p:spPr>
        <p:txBody>
          <a:bodyPr wrap="none" rtlCol="0">
            <a:spAutoFit/>
          </a:bodyPr>
          <a:lstStyle/>
          <a:p>
            <a:pPr algn="ctr"/>
            <a:r>
              <a:rPr lang="en-US" sz="2000" i="1" dirty="0">
                <a:solidFill>
                  <a:schemeClr val="bg2">
                    <a:lumMod val="50000"/>
                  </a:schemeClr>
                </a:solidFill>
              </a:rPr>
              <a:t>Specific hints or design instructions for LLMs</a:t>
            </a:r>
          </a:p>
        </p:txBody>
      </p:sp>
    </p:spTree>
    <p:custDataLst>
      <p:tags r:id="rId1"/>
    </p:custDataLst>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651566" y="2494651"/>
            <a:ext cx="6125696" cy="3240546"/>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04854" y="1884833"/>
            <a:ext cx="5346712" cy="3887058"/>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
        <p:nvSpPr>
          <p:cNvPr id="7" name="TextBox 6">
            <a:extLst>
              <a:ext uri="{FF2B5EF4-FFF2-40B4-BE49-F238E27FC236}">
                <a16:creationId xmlns:a16="http://schemas.microsoft.com/office/drawing/2014/main" id="{66711310-7738-2751-9B88-977DADF1F14E}"/>
              </a:ext>
            </a:extLst>
          </p:cNvPr>
          <p:cNvSpPr txBox="1"/>
          <p:nvPr/>
        </p:nvSpPr>
        <p:spPr>
          <a:xfrm>
            <a:off x="3551565" y="6356349"/>
            <a:ext cx="5088894" cy="400110"/>
          </a:xfrm>
          <a:prstGeom prst="rect">
            <a:avLst/>
          </a:prstGeom>
          <a:noFill/>
        </p:spPr>
        <p:txBody>
          <a:bodyPr wrap="none" rtlCol="0">
            <a:spAutoFit/>
          </a:bodyPr>
          <a:lstStyle/>
          <a:p>
            <a:pPr algn="ctr"/>
            <a:r>
              <a:rPr lang="en-US" sz="2000" i="1" dirty="0">
                <a:solidFill>
                  <a:schemeClr val="bg2">
                    <a:lumMod val="50000"/>
                  </a:schemeClr>
                </a:solidFill>
              </a:rPr>
              <a:t>Specific hints or design instructions for LLMs</a:t>
            </a:r>
          </a:p>
        </p:txBody>
      </p:sp>
    </p:spTree>
    <p:extLst>
      <p:ext uri="{BB962C8B-B14F-4D97-AF65-F5344CB8AC3E}">
        <p14:creationId xmlns:p14="http://schemas.microsoft.com/office/powerpoint/2010/main" val="23071661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67220" y="208266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163914"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398606" y="6004912"/>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6" name="TextBox 5">
            <a:extLst>
              <a:ext uri="{FF2B5EF4-FFF2-40B4-BE49-F238E27FC236}">
                <a16:creationId xmlns:a16="http://schemas.microsoft.com/office/drawing/2014/main" id="{65B67406-8E21-8263-A904-3D747AD4A4A7}"/>
              </a:ext>
            </a:extLst>
          </p:cNvPr>
          <p:cNvSpPr txBox="1"/>
          <p:nvPr/>
        </p:nvSpPr>
        <p:spPr>
          <a:xfrm>
            <a:off x="3551565" y="6356349"/>
            <a:ext cx="5088894" cy="400110"/>
          </a:xfrm>
          <a:prstGeom prst="rect">
            <a:avLst/>
          </a:prstGeom>
          <a:noFill/>
        </p:spPr>
        <p:txBody>
          <a:bodyPr wrap="none" rtlCol="0">
            <a:spAutoFit/>
          </a:bodyPr>
          <a:lstStyle/>
          <a:p>
            <a:pPr algn="ctr"/>
            <a:r>
              <a:rPr lang="en-US" sz="2000" i="1" dirty="0">
                <a:solidFill>
                  <a:schemeClr val="bg2">
                    <a:lumMod val="50000"/>
                  </a:schemeClr>
                </a:solidFill>
              </a:rPr>
              <a:t>Specific hints or design instructions for LLMs</a:t>
            </a:r>
          </a:p>
        </p:txBody>
      </p:sp>
    </p:spTree>
    <p:extLst>
      <p:ext uri="{BB962C8B-B14F-4D97-AF65-F5344CB8AC3E}">
        <p14:creationId xmlns:p14="http://schemas.microsoft.com/office/powerpoint/2010/main" val="21285730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42299-4C49-F559-50DD-02AAE933AE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CC4856-E78D-9E87-93DF-FA1CA69649C3}"/>
              </a:ext>
            </a:extLst>
          </p:cNvPr>
          <p:cNvSpPr>
            <a:spLocks noGrp="1"/>
          </p:cNvSpPr>
          <p:nvPr>
            <p:ph type="title"/>
          </p:nvPr>
        </p:nvSpPr>
        <p:spPr/>
        <p:txBody>
          <a:bodyPr/>
          <a:lstStyle/>
          <a:p>
            <a:r>
              <a:rPr lang="en-US" dirty="0"/>
              <a:t>Research Questions</a:t>
            </a:r>
          </a:p>
        </p:txBody>
      </p:sp>
      <p:sp>
        <p:nvSpPr>
          <p:cNvPr id="3" name="Content Placeholder 2">
            <a:extLst>
              <a:ext uri="{FF2B5EF4-FFF2-40B4-BE49-F238E27FC236}">
                <a16:creationId xmlns:a16="http://schemas.microsoft.com/office/drawing/2014/main" id="{1AB34FED-204E-E51D-0EB5-9E715EF5868F}"/>
              </a:ext>
            </a:extLst>
          </p:cNvPr>
          <p:cNvSpPr>
            <a:spLocks noGrp="1"/>
          </p:cNvSpPr>
          <p:nvPr>
            <p:ph idx="1"/>
          </p:nvPr>
        </p:nvSpPr>
        <p:spPr/>
        <p:txBody>
          <a:bodyPr anchor="ctr">
            <a:noAutofit/>
          </a:bodyPr>
          <a:lstStyle/>
          <a:p>
            <a:pPr marL="514350" indent="-514350">
              <a:buFont typeface="+mj-lt"/>
              <a:buAutoNum type="arabicPeriod" startAt="3"/>
            </a:pPr>
            <a:r>
              <a:rPr lang="en-US" b="1" dirty="0"/>
              <a:t>Can we help LLMs apply even more general optimizations?</a:t>
            </a:r>
          </a:p>
          <a:p>
            <a:pPr lvl="1"/>
            <a:r>
              <a:rPr lang="en-US" dirty="0">
                <a:solidFill>
                  <a:schemeClr val="bg2">
                    <a:lumMod val="50000"/>
                  </a:schemeClr>
                </a:solidFill>
              </a:rPr>
              <a:t>Specific hints or design instructions for more efficient LLM-generated implementations</a:t>
            </a:r>
          </a:p>
          <a:p>
            <a:pPr lvl="1"/>
            <a:r>
              <a:rPr lang="en-US" dirty="0"/>
              <a:t>Improving LLM-generated code with abstractions</a:t>
            </a:r>
          </a:p>
          <a:p>
            <a:pPr marL="0" indent="0">
              <a:buNone/>
            </a:pPr>
            <a:endParaRPr lang="en-US" sz="2000" b="1" dirty="0"/>
          </a:p>
          <a:p>
            <a:pPr marL="0" indent="0">
              <a:buNone/>
            </a:pPr>
            <a:endParaRPr lang="en-US" sz="2000" b="1" dirty="0"/>
          </a:p>
          <a:p>
            <a:pPr marL="0" indent="0">
              <a:buNone/>
            </a:pPr>
            <a:endParaRPr lang="en-US" sz="2000" b="1" dirty="0"/>
          </a:p>
          <a:p>
            <a:pPr marL="0" indent="0">
              <a:buNone/>
            </a:pPr>
            <a:endParaRPr lang="en-US" sz="2000" b="1" dirty="0"/>
          </a:p>
          <a:p>
            <a:pPr marL="0" indent="0">
              <a:buNone/>
            </a:pPr>
            <a:endParaRPr lang="en-US" sz="2000" b="1" dirty="0"/>
          </a:p>
          <a:p>
            <a:pPr marL="0" indent="0" algn="ctr">
              <a:buNone/>
            </a:pPr>
            <a:r>
              <a:rPr lang="en-US" sz="2000" b="1" dirty="0"/>
              <a:t>Publications</a:t>
            </a:r>
          </a:p>
          <a:p>
            <a:pPr marL="0" indent="0">
              <a:buNone/>
            </a:pPr>
            <a:r>
              <a:rPr lang="en-US" sz="2000" b="1" dirty="0">
                <a:solidFill>
                  <a:schemeClr val="bg2">
                    <a:lumMod val="50000"/>
                  </a:schemeClr>
                </a:solidFill>
              </a:rPr>
              <a:t>Tutoring LLM into a Better CUDA Optimizer.</a:t>
            </a:r>
            <a:r>
              <a:rPr lang="en-US" sz="2000" dirty="0">
                <a:solidFill>
                  <a:schemeClr val="bg2">
                    <a:lumMod val="50000"/>
                  </a:schemeClr>
                </a:solidFill>
              </a:rPr>
              <a:t> </a:t>
            </a:r>
            <a:r>
              <a:rPr lang="en-US" sz="2000" i="1" dirty="0">
                <a:solidFill>
                  <a:schemeClr val="bg2">
                    <a:lumMod val="50000"/>
                  </a:schemeClr>
                </a:solidFill>
              </a:rPr>
              <a:t>Euro-Par, 2025</a:t>
            </a:r>
          </a:p>
          <a:p>
            <a:pPr marL="0" indent="0">
              <a:buNone/>
            </a:pPr>
            <a:r>
              <a:rPr lang="en-US" sz="2000" b="1" dirty="0"/>
              <a:t>Abstractions and Prompting Strategies on LLM-Guided Optimization.</a:t>
            </a:r>
            <a:r>
              <a:rPr lang="en-US" sz="2000" dirty="0"/>
              <a:t> </a:t>
            </a:r>
            <a:r>
              <a:rPr lang="en-US" sz="2000" i="1" dirty="0"/>
              <a:t>ICA3PP, 2026</a:t>
            </a:r>
          </a:p>
        </p:txBody>
      </p:sp>
      <p:sp>
        <p:nvSpPr>
          <p:cNvPr id="4" name="Date Placeholder 3">
            <a:extLst>
              <a:ext uri="{FF2B5EF4-FFF2-40B4-BE49-F238E27FC236}">
                <a16:creationId xmlns:a16="http://schemas.microsoft.com/office/drawing/2014/main" id="{A4B73D21-C2FF-F9B5-90DA-3D9582C2F1F5}"/>
              </a:ext>
            </a:extLst>
          </p:cNvPr>
          <p:cNvSpPr>
            <a:spLocks noGrp="1"/>
          </p:cNvSpPr>
          <p:nvPr>
            <p:ph type="dt" sz="half" idx="10"/>
          </p:nvPr>
        </p:nvSpPr>
        <p:spPr/>
        <p:txBody>
          <a:bodyPr/>
          <a:lstStyle/>
          <a:p>
            <a:fld id="{358C28A6-2969-482E-9A3B-5E13FCD8DD03}" type="datetime1">
              <a:rPr lang="en-US" smtClean="0"/>
              <a:t>9/8/2026</a:t>
            </a:fld>
            <a:endParaRPr lang="en-US" dirty="0"/>
          </a:p>
        </p:txBody>
      </p:sp>
      <p:sp>
        <p:nvSpPr>
          <p:cNvPr id="5" name="Slide Number Placeholder 4">
            <a:extLst>
              <a:ext uri="{FF2B5EF4-FFF2-40B4-BE49-F238E27FC236}">
                <a16:creationId xmlns:a16="http://schemas.microsoft.com/office/drawing/2014/main" id="{0D1ABDCB-E194-88B8-D3BF-02A751D910F1}"/>
              </a:ext>
            </a:extLst>
          </p:cNvPr>
          <p:cNvSpPr>
            <a:spLocks noGrp="1"/>
          </p:cNvSpPr>
          <p:nvPr>
            <p:ph type="sldNum" sz="quarter" idx="12"/>
          </p:nvPr>
        </p:nvSpPr>
        <p:spPr/>
        <p:txBody>
          <a:bodyPr/>
          <a:lstStyle/>
          <a:p>
            <a:fld id="{DA0BB241-1B5F-4309-9407-9EEA04D9598D}" type="slidenum">
              <a:rPr lang="en-US" smtClean="0"/>
              <a:t>29</a:t>
            </a:fld>
            <a:endParaRPr lang="en-US"/>
          </a:p>
        </p:txBody>
      </p:sp>
    </p:spTree>
    <p:extLst>
      <p:ext uri="{BB962C8B-B14F-4D97-AF65-F5344CB8AC3E}">
        <p14:creationId xmlns:p14="http://schemas.microsoft.com/office/powerpoint/2010/main" val="29947198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
        <p:nvSpPr>
          <p:cNvPr id="8" name="TextBox 7">
            <a:extLst>
              <a:ext uri="{FF2B5EF4-FFF2-40B4-BE49-F238E27FC236}">
                <a16:creationId xmlns:a16="http://schemas.microsoft.com/office/drawing/2014/main" id="{462AAF19-6169-36F1-62D3-D2E864140395}"/>
              </a:ext>
            </a:extLst>
          </p:cNvPr>
          <p:cNvSpPr txBox="1"/>
          <p:nvPr/>
        </p:nvSpPr>
        <p:spPr>
          <a:xfrm>
            <a:off x="3323458" y="6356349"/>
            <a:ext cx="5545109" cy="400110"/>
          </a:xfrm>
          <a:prstGeom prst="rect">
            <a:avLst/>
          </a:prstGeom>
          <a:noFill/>
        </p:spPr>
        <p:txBody>
          <a:bodyPr wrap="none" rtlCol="0">
            <a:spAutoFit/>
          </a:bodyPr>
          <a:lstStyle/>
          <a:p>
            <a:pPr algn="ctr"/>
            <a:r>
              <a:rPr lang="en-US" sz="2000" i="1" dirty="0">
                <a:solidFill>
                  <a:schemeClr val="bg2">
                    <a:lumMod val="50000"/>
                  </a:schemeClr>
                </a:solidFill>
              </a:rPr>
              <a:t>Improving LLM-generated code with abstractions</a:t>
            </a:r>
          </a:p>
        </p:txBody>
      </p:sp>
    </p:spTree>
    <p:custDataLst>
      <p:tags r:id="rId1"/>
    </p:custDataLst>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4"/>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nvPicPr>
        <p:blipFill>
          <a:blip r:embed="rId5"/>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nvPicPr>
        <p:blipFill>
          <a:blip r:embed="rId5"/>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A8C0ED0-2758-B391-D0A7-BB0DACB47814}"/>
              </a:ext>
            </a:extLst>
          </p:cNvPr>
          <p:cNvSpPr txBox="1"/>
          <p:nvPr/>
        </p:nvSpPr>
        <p:spPr>
          <a:xfrm>
            <a:off x="3323458" y="6356349"/>
            <a:ext cx="5545109" cy="400110"/>
          </a:xfrm>
          <a:prstGeom prst="rect">
            <a:avLst/>
          </a:prstGeom>
          <a:noFill/>
        </p:spPr>
        <p:txBody>
          <a:bodyPr wrap="none" rtlCol="0">
            <a:spAutoFit/>
          </a:bodyPr>
          <a:lstStyle/>
          <a:p>
            <a:pPr algn="ctr"/>
            <a:r>
              <a:rPr lang="en-US" sz="2000" i="1" dirty="0">
                <a:solidFill>
                  <a:schemeClr val="bg2">
                    <a:lumMod val="50000"/>
                  </a:schemeClr>
                </a:solidFill>
              </a:rPr>
              <a:t>Improving LLM-generated code with abstractions</a:t>
            </a:r>
          </a:p>
        </p:txBody>
      </p:sp>
    </p:spTree>
    <p:custDataLst>
      <p:tags r:id="rId1"/>
    </p:custDataLst>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043DA17-E138-247B-4A07-447B5A24647A}"/>
              </a:ext>
            </a:extLst>
          </p:cNvPr>
          <p:cNvPicPr>
            <a:picLocks noChangeAspect="1"/>
          </p:cNvPicPr>
          <p:nvPr/>
        </p:nvPicPr>
        <p:blipFill>
          <a:blip r:embed="rId3"/>
          <a:stretch>
            <a:fillRect/>
          </a:stretch>
        </p:blipFill>
        <p:spPr>
          <a:xfrm>
            <a:off x="618054" y="1071124"/>
            <a:ext cx="11114760" cy="5357316"/>
          </a:xfrm>
          <a:prstGeom prst="rect">
            <a:avLst/>
          </a:prstGeom>
        </p:spPr>
      </p:pic>
      <p:sp>
        <p:nvSpPr>
          <p:cNvPr id="6" name="Title 5">
            <a:extLst>
              <a:ext uri="{FF2B5EF4-FFF2-40B4-BE49-F238E27FC236}">
                <a16:creationId xmlns:a16="http://schemas.microsoft.com/office/drawing/2014/main" id="{7951329F-EFE3-A4A4-5416-4AA800AB8042}"/>
              </a:ext>
            </a:extLst>
          </p:cNvPr>
          <p:cNvSpPr>
            <a:spLocks noGrp="1"/>
          </p:cNvSpPr>
          <p:nvPr>
            <p:ph type="title"/>
          </p:nvPr>
        </p:nvSpPr>
        <p:spPr/>
        <p:txBody>
          <a:bodyPr/>
          <a:lstStyle/>
          <a:p>
            <a:r>
              <a:rPr lang="en-US" dirty="0"/>
              <a:t>C outperforms the abstractions</a:t>
            </a:r>
          </a:p>
        </p:txBody>
      </p:sp>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553763" y="1658149"/>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329710" y="1258039"/>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
        <p:nvSpPr>
          <p:cNvPr id="5" name="TextBox 4">
            <a:extLst>
              <a:ext uri="{FF2B5EF4-FFF2-40B4-BE49-F238E27FC236}">
                <a16:creationId xmlns:a16="http://schemas.microsoft.com/office/drawing/2014/main" id="{7F051FCF-49CA-E103-B319-571AA3E97EBA}"/>
              </a:ext>
            </a:extLst>
          </p:cNvPr>
          <p:cNvSpPr txBox="1"/>
          <p:nvPr/>
        </p:nvSpPr>
        <p:spPr>
          <a:xfrm>
            <a:off x="3323458" y="6356349"/>
            <a:ext cx="5545109" cy="400110"/>
          </a:xfrm>
          <a:prstGeom prst="rect">
            <a:avLst/>
          </a:prstGeom>
          <a:noFill/>
        </p:spPr>
        <p:txBody>
          <a:bodyPr wrap="none" rtlCol="0">
            <a:spAutoFit/>
          </a:bodyPr>
          <a:lstStyle/>
          <a:p>
            <a:pPr algn="ctr"/>
            <a:r>
              <a:rPr lang="en-US" sz="2000" i="1" dirty="0">
                <a:solidFill>
                  <a:schemeClr val="bg2">
                    <a:lumMod val="50000"/>
                  </a:schemeClr>
                </a:solidFill>
              </a:rPr>
              <a:t>Improving LLM-generated code with abstractions</a:t>
            </a:r>
          </a:p>
        </p:txBody>
      </p:sp>
    </p:spTree>
    <p:extLst>
      <p:ext uri="{BB962C8B-B14F-4D97-AF65-F5344CB8AC3E}">
        <p14:creationId xmlns:p14="http://schemas.microsoft.com/office/powerpoint/2010/main" val="13416658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EFC0A-3A8C-04D6-494C-E7370D21D5A2}"/>
              </a:ext>
            </a:extLst>
          </p:cNvPr>
          <p:cNvSpPr>
            <a:spLocks noGrp="1"/>
          </p:cNvSpPr>
          <p:nvPr>
            <p:ph type="title"/>
          </p:nvPr>
        </p:nvSpPr>
        <p:spPr/>
        <p:txBody>
          <a:bodyPr/>
          <a:lstStyle/>
          <a:p>
            <a:r>
              <a:rPr lang="en-US" dirty="0"/>
              <a:t>Research answers</a:t>
            </a:r>
          </a:p>
        </p:txBody>
      </p:sp>
      <p:sp>
        <p:nvSpPr>
          <p:cNvPr id="5" name="Content Placeholder 4">
            <a:extLst>
              <a:ext uri="{FF2B5EF4-FFF2-40B4-BE49-F238E27FC236}">
                <a16:creationId xmlns:a16="http://schemas.microsoft.com/office/drawing/2014/main" id="{43BD6846-7A3B-BF1A-DBDB-85D00F1C9BCE}"/>
              </a:ext>
            </a:extLst>
          </p:cNvPr>
          <p:cNvSpPr>
            <a:spLocks noGrp="1"/>
          </p:cNvSpPr>
          <p:nvPr>
            <p:ph idx="1"/>
          </p:nvPr>
        </p:nvSpPr>
        <p:spPr/>
        <p:txBody>
          <a:bodyPr anchor="ctr"/>
          <a:lstStyle/>
          <a:p>
            <a:pPr marL="514350" indent="-514350">
              <a:buFont typeface="+mj-lt"/>
              <a:buAutoNum type="arabicPeriod"/>
            </a:pPr>
            <a:r>
              <a:rPr lang="en-US" b="1" dirty="0"/>
              <a:t>Can we express memory access transformations in C++ without introducing runtime overhead?</a:t>
            </a:r>
          </a:p>
          <a:p>
            <a:pPr lvl="1"/>
            <a:r>
              <a:rPr lang="en-US" dirty="0"/>
              <a:t>Noarr simplifies experimenting with layouts &amp; traversals, and transformations</a:t>
            </a:r>
          </a:p>
          <a:p>
            <a:pPr lvl="1"/>
            <a:r>
              <a:rPr lang="en-US" dirty="0"/>
              <a:t>The approach simplifies parallelization and distributed computing</a:t>
            </a:r>
          </a:p>
          <a:p>
            <a:pPr marL="514350" indent="-514350">
              <a:buFont typeface="+mj-lt"/>
              <a:buAutoNum type="arabicPeriod"/>
            </a:pPr>
            <a:r>
              <a:rPr lang="en-US" b="1" dirty="0"/>
              <a:t>Can we automate optimizations of memory accesses and evaluation strategies for more restricted use cases?</a:t>
            </a:r>
          </a:p>
          <a:p>
            <a:pPr lvl="1"/>
            <a:r>
              <a:rPr lang="en-US" dirty="0"/>
              <a:t>Cellato enables users to write update rules in an abstract way</a:t>
            </a:r>
          </a:p>
          <a:p>
            <a:pPr lvl="1"/>
            <a:r>
              <a:rPr lang="en-US" dirty="0"/>
              <a:t>Implementation details are applied automatically via prepared components</a:t>
            </a:r>
          </a:p>
          <a:p>
            <a:pPr marL="514350" indent="-514350">
              <a:buFont typeface="+mj-lt"/>
              <a:buAutoNum type="arabicPeriod"/>
            </a:pPr>
            <a:r>
              <a:rPr lang="en-US" b="1" dirty="0"/>
              <a:t>Can we help LLMs apply even more general optimizations?</a:t>
            </a:r>
          </a:p>
          <a:p>
            <a:pPr lvl="1"/>
            <a:r>
              <a:rPr lang="en-US" dirty="0"/>
              <a:t>Specific design hints (or directions) improve the quality of LLM-generated code</a:t>
            </a:r>
          </a:p>
          <a:p>
            <a:pPr lvl="1"/>
            <a:r>
              <a:rPr lang="en-US" dirty="0"/>
              <a:t>Abstractions do not significantly improve the performance or the validity</a:t>
            </a:r>
          </a:p>
        </p:txBody>
      </p:sp>
      <p:sp>
        <p:nvSpPr>
          <p:cNvPr id="3" name="Date Placeholder 2">
            <a:extLst>
              <a:ext uri="{FF2B5EF4-FFF2-40B4-BE49-F238E27FC236}">
                <a16:creationId xmlns:a16="http://schemas.microsoft.com/office/drawing/2014/main" id="{5E1553FA-FE3D-9960-1F72-C5EAE564FC75}"/>
              </a:ext>
            </a:extLst>
          </p:cNvPr>
          <p:cNvSpPr>
            <a:spLocks noGrp="1"/>
          </p:cNvSpPr>
          <p:nvPr>
            <p:ph type="dt" sz="half" idx="10"/>
          </p:nvPr>
        </p:nvSpPr>
        <p:spPr/>
        <p:txBody>
          <a:bodyPr/>
          <a:lstStyle/>
          <a:p>
            <a:fld id="{1AB26190-46ED-4A0C-A5E8-CDBCA5C2D5C3}" type="datetime1">
              <a:rPr lang="en-US" smtClean="0"/>
              <a:t>9/8/2026</a:t>
            </a:fld>
            <a:endParaRPr lang="en-US" dirty="0"/>
          </a:p>
        </p:txBody>
      </p:sp>
      <p:sp>
        <p:nvSpPr>
          <p:cNvPr id="4" name="Slide Number Placeholder 3">
            <a:extLst>
              <a:ext uri="{FF2B5EF4-FFF2-40B4-BE49-F238E27FC236}">
                <a16:creationId xmlns:a16="http://schemas.microsoft.com/office/drawing/2014/main" id="{4469B716-01BB-D103-05BF-F44AB4C249C8}"/>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2105615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113856"/>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3"/>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inspect or abstract statements/expressions</a:t>
            </a:r>
          </a:p>
          <a:p>
            <a:r>
              <a:rPr lang="en-US" dirty="0"/>
              <a:t>Cellato adopts layout &amp; traversal agnosticism and the template metaprogramming implementation; the goals are more specific</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a:p>
            <a:r>
              <a:rPr lang="en-US" noProof="0" dirty="0"/>
              <a:t>Inspiration by ComPilot: structured back-and-forth communication</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a:t>
            </a:r>
            <a:br>
              <a:rPr lang="en-US" noProof="0" dirty="0"/>
            </a:br>
            <a:r>
              <a:rPr lang="en-US" noProof="0" dirty="0"/>
              <a:t>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general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 the extent of sub-layout does not divide the stride of the result layout</a:t>
            </a:r>
            <a:br>
              <a:rPr lang="en-US" noProof="0" dirty="0"/>
            </a:br>
            <a:r>
              <a:rPr lang="en-US" noProof="0" dirty="0"/>
              <a:t>(see Slide 4 for better visualization of the two communicated layouts)</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4267201" y="5495658"/>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4771698" y="549565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5906814" y="549565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7049968"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8195443" y="5495650"/>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4267201" y="5987017"/>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4771698" y="598701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5906814" y="598701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7049968"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8195443" y="5987009"/>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5150070" y="598701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6285186" y="598701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7428340"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8573815" y="5987008"/>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5528442" y="598701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6663558" y="598700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7806712"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8952187" y="5987006"/>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6611251" y="3528668"/>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5A02E8D5-F21B-9668-E4EF-AB0E1DD30169}"/>
              </a:ext>
            </a:extLst>
          </p:cNvPr>
          <p:cNvSpPr txBox="1"/>
          <p:nvPr/>
        </p:nvSpPr>
        <p:spPr>
          <a:xfrm>
            <a:off x="6228375" y="5026152"/>
            <a:ext cx="870367" cy="400110"/>
          </a:xfrm>
          <a:prstGeom prst="rect">
            <a:avLst/>
          </a:prstGeom>
          <a:noFill/>
        </p:spPr>
        <p:txBody>
          <a:bodyPr wrap="none" rtlCol="0" anchor="b">
            <a:spAutoFit/>
          </a:bodyPr>
          <a:lstStyle/>
          <a:p>
            <a:pPr algn="ctr"/>
            <a:r>
              <a:rPr lang="en-US" sz="2000" dirty="0"/>
              <a:t>extent</a:t>
            </a:r>
          </a:p>
        </p:txBody>
      </p:sp>
      <p:sp>
        <p:nvSpPr>
          <p:cNvPr id="14" name="Right Brace 13">
            <a:extLst>
              <a:ext uri="{FF2B5EF4-FFF2-40B4-BE49-F238E27FC236}">
                <a16:creationId xmlns:a16="http://schemas.microsoft.com/office/drawing/2014/main" id="{A67D3EE3-3CE5-18DC-C41F-978BC4DB7EEF}"/>
              </a:ext>
            </a:extLst>
          </p:cNvPr>
          <p:cNvSpPr/>
          <p:nvPr/>
        </p:nvSpPr>
        <p:spPr>
          <a:xfrm rot="5400000">
            <a:off x="5120513" y="6223859"/>
            <a:ext cx="59115" cy="3783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618F4901-DE99-509C-6FD1-48F638F093B4}"/>
              </a:ext>
            </a:extLst>
          </p:cNvPr>
          <p:cNvSpPr txBox="1"/>
          <p:nvPr/>
        </p:nvSpPr>
        <p:spPr>
          <a:xfrm>
            <a:off x="4749560" y="6410087"/>
            <a:ext cx="817853" cy="400110"/>
          </a:xfrm>
          <a:prstGeom prst="rect">
            <a:avLst/>
          </a:prstGeom>
          <a:noFill/>
        </p:spPr>
        <p:txBody>
          <a:bodyPr wrap="none" rtlCol="0" anchor="t">
            <a:spAutoFit/>
          </a:bodyPr>
          <a:lstStyle/>
          <a:p>
            <a:pPr algn="ctr"/>
            <a:r>
              <a:rPr lang="en-US" sz="2000" dirty="0"/>
              <a:t>stride</a:t>
            </a:r>
          </a:p>
        </p:txBody>
      </p:sp>
    </p:spTree>
    <p:extLst>
      <p:ext uri="{BB962C8B-B14F-4D97-AF65-F5344CB8AC3E}">
        <p14:creationId xmlns:p14="http://schemas.microsoft.com/office/powerpoint/2010/main" val="1348916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a:t>
            </a:r>
            <a:br>
              <a:rPr lang="en-US" noProof="0" dirty="0"/>
            </a:br>
            <a:r>
              <a:rPr lang="en-US" noProof="0" dirty="0"/>
              <a:t>If not, why?</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endParaRPr lang="cs-CZ" noProof="0" dirty="0"/>
          </a:p>
          <a:p>
            <a:r>
              <a:rPr lang="cs-CZ" dirty="0"/>
              <a:t>CuTe?</a:t>
            </a:r>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OpenMP SIMD explicitly rejects class-based iteration (e.g., range-based for)</a:t>
            </a:r>
          </a:p>
          <a:p>
            <a:pPr lvl="1"/>
            <a:r>
              <a:rPr lang="en-US" noProof="0" dirty="0">
                <a:latin typeface="Fira Code" panose="020B0809050000020004" pitchFamily="49" charset="0"/>
                <a:ea typeface="Fira Code" panose="020B0809050000020004" pitchFamily="49" charset="0"/>
                <a:cs typeface="Fira Code" panose="020B0809050000020004" pitchFamily="49" charset="0"/>
              </a:rPr>
              <a:t>#pragma </a:t>
            </a:r>
            <a:r>
              <a:rPr lang="en-US" noProof="0" dirty="0" err="1">
                <a:latin typeface="Fira Code" panose="020B0809050000020004" pitchFamily="49" charset="0"/>
                <a:ea typeface="Fira Code" panose="020B0809050000020004" pitchFamily="49" charset="0"/>
                <a:cs typeface="Fira Code" panose="020B0809050000020004" pitchFamily="49" charset="0"/>
              </a:rPr>
              <a:t>omp</a:t>
            </a:r>
            <a:r>
              <a:rPr lang="en-US"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err="1">
                <a:latin typeface="Fira Code" panose="020B0809050000020004" pitchFamily="49" charset="0"/>
                <a:ea typeface="Fira Code" panose="020B0809050000020004" pitchFamily="49" charset="0"/>
                <a:cs typeface="Fira Code" panose="020B0809050000020004" pitchFamily="49" charset="0"/>
              </a:rPr>
              <a:t>simd</a:t>
            </a:r>
            <a:r>
              <a:rPr lang="en-US" noProof="0" dirty="0"/>
              <a:t> specifically may be in explicit SIMD-enabled for_each</a:t>
            </a:r>
          </a:p>
          <a:p>
            <a:pPr marL="914400" lvl="2" indent="0">
              <a:buNone/>
            </a:pPr>
            <a:r>
              <a:rPr lang="en-US" dirty="0" err="1">
                <a:solidFill>
                  <a:srgbClr val="001080"/>
                </a:solidFill>
                <a:latin typeface="Fira Code" panose="020B0809050000020004" pitchFamily="49" charset="0"/>
              </a:rPr>
              <a:t>traverser</a:t>
            </a:r>
            <a:r>
              <a:rPr lang="en-US" dirty="0" err="1">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795E26"/>
                </a:solidFill>
                <a:latin typeface="Fira Code" panose="020B0809050000020004" pitchFamily="49" charset="0"/>
                <a:ea typeface="Fira Code" panose="020B0809050000020004" pitchFamily="49" charset="0"/>
                <a:cs typeface="Fira Code" panose="020B0809050000020004" pitchFamily="49" charset="0"/>
              </a:rPr>
              <a:t>omp_simd_for_each</a:t>
            </a:r>
            <a:r>
              <a:rPr lang="en-US" noProof="0" dirty="0">
                <a:latin typeface="Fira Code" panose="020B0809050000020004" pitchFamily="49" charset="0"/>
                <a:ea typeface="Fira Code" panose="020B0809050000020004" pitchFamily="49" charset="0"/>
                <a:cs typeface="Fira Code" panose="020B0809050000020004" pitchFamily="49" charset="0"/>
              </a:rPr>
              <a:t>(…)</a:t>
            </a:r>
          </a:p>
          <a:p>
            <a:r>
              <a:rPr lang="en-US" noProof="0" dirty="0"/>
              <a:t>More extensive OpenMP pragma support challenging</a:t>
            </a:r>
          </a:p>
          <a:p>
            <a:r>
              <a:rPr lang="en-US" noProof="0" dirty="0"/>
              <a:t>Future SIMD-aware traversers</a:t>
            </a:r>
          </a:p>
          <a:p>
            <a:pPr lvl="1"/>
            <a:r>
              <a:rPr lang="en-US" noProof="0" dirty="0"/>
              <a:t>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nchor="ct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Abstracting evaluation strategy and encoding for Cellular Automata</a:t>
            </a:r>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Subviews</a:t>
            </a:r>
            <a:endParaRPr lang="en-US" noProof="0" dirty="0"/>
          </a:p>
          <a:p>
            <a:pPr lvl="1"/>
            <a:r>
              <a:rPr lang="en-US" noProof="0" dirty="0">
                <a:sym typeface="Wingdings" panose="05000000000000000000" pitchFamily="2" charset="2"/>
              </a:rPr>
              <a:t>CuTe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6747-FA1D-0A89-B23F-652400CDBDA3}"/>
              </a:ext>
            </a:extLst>
          </p:cNvPr>
          <p:cNvSpPr>
            <a:spLocks noGrp="1"/>
          </p:cNvSpPr>
          <p:nvPr>
            <p:ph type="title"/>
          </p:nvPr>
        </p:nvSpPr>
        <p:spPr/>
        <p:txBody>
          <a:bodyPr/>
          <a:lstStyle/>
          <a:p>
            <a:r>
              <a:rPr lang="en-US" dirty="0"/>
              <a:t>State of the art summary and our novelty</a:t>
            </a:r>
          </a:p>
        </p:txBody>
      </p:sp>
      <p:sp>
        <p:nvSpPr>
          <p:cNvPr id="3" name="Content Placeholder 2">
            <a:extLst>
              <a:ext uri="{FF2B5EF4-FFF2-40B4-BE49-F238E27FC236}">
                <a16:creationId xmlns:a16="http://schemas.microsoft.com/office/drawing/2014/main" id="{8AC28D19-3293-E69A-8D0A-95CD64D09AD4}"/>
              </a:ext>
            </a:extLst>
          </p:cNvPr>
          <p:cNvSpPr>
            <a:spLocks noGrp="1"/>
          </p:cNvSpPr>
          <p:nvPr>
            <p:ph idx="1"/>
          </p:nvPr>
        </p:nvSpPr>
        <p:spPr/>
        <p:txBody>
          <a:bodyPr/>
          <a:lstStyle/>
          <a:p>
            <a:r>
              <a:rPr lang="en-US" dirty="0"/>
              <a:t>Layout abstractions</a:t>
            </a:r>
          </a:p>
          <a:p>
            <a:pPr lvl="1"/>
            <a:r>
              <a:rPr lang="en-US" dirty="0"/>
              <a:t>Kokkos Views for general use, </a:t>
            </a:r>
            <a:r>
              <a:rPr lang="en-US" dirty="0" err="1"/>
              <a:t>GridTools</a:t>
            </a:r>
            <a:r>
              <a:rPr lang="en-US" dirty="0"/>
              <a:t> for stencils</a:t>
            </a:r>
          </a:p>
          <a:p>
            <a:pPr lvl="1"/>
            <a:r>
              <a:rPr lang="en-US" dirty="0"/>
              <a:t>Both target CPU &amp; GPU</a:t>
            </a:r>
          </a:p>
          <a:p>
            <a:pPr lvl="1"/>
            <a:r>
              <a:rPr lang="en-US" dirty="0"/>
              <a:t>Both implement facilities for automatic parallelization, tiling (, halo exchange)</a:t>
            </a:r>
          </a:p>
          <a:p>
            <a:r>
              <a:rPr lang="en-US" dirty="0"/>
              <a:t>Alternative layout and traversal transformation, parallelization</a:t>
            </a:r>
          </a:p>
          <a:p>
            <a:pPr lvl="1"/>
            <a:r>
              <a:rPr lang="en-US" dirty="0"/>
              <a:t>Algorithm + schedule model: Halide, Tiramisu, Exo, OpenMP, …</a:t>
            </a:r>
          </a:p>
          <a:p>
            <a:pPr lvl="2"/>
            <a:r>
              <a:rPr lang="en-US" dirty="0"/>
              <a:t>Tools/frameworks that rely on (custom) compilation pipelines</a:t>
            </a:r>
          </a:p>
          <a:p>
            <a:pPr lvl="1"/>
            <a:r>
              <a:rPr lang="en-US" dirty="0"/>
              <a:t>Policy-based execution model: Kokkos, standard C++ algorithms</a:t>
            </a:r>
          </a:p>
          <a:p>
            <a:r>
              <a:rPr lang="en-US" dirty="0"/>
              <a:t>Novelty</a:t>
            </a:r>
          </a:p>
          <a:p>
            <a:pPr lvl="1"/>
            <a:r>
              <a:rPr lang="en-US" dirty="0"/>
              <a:t>Native C++ compositional approach with named dimensions (Noarr)</a:t>
            </a:r>
          </a:p>
          <a:p>
            <a:pPr lvl="1"/>
            <a:r>
              <a:rPr lang="en-US" dirty="0"/>
              <a:t>Sub-byte encoding and bitwise evaluation strategies (Cellato)</a:t>
            </a:r>
          </a:p>
        </p:txBody>
      </p:sp>
      <p:sp>
        <p:nvSpPr>
          <p:cNvPr id="4" name="Date Placeholder 3">
            <a:extLst>
              <a:ext uri="{FF2B5EF4-FFF2-40B4-BE49-F238E27FC236}">
                <a16:creationId xmlns:a16="http://schemas.microsoft.com/office/drawing/2014/main" id="{5C5A991F-3D47-EA5C-A204-1DEF76D41D0A}"/>
              </a:ext>
            </a:extLst>
          </p:cNvPr>
          <p:cNvSpPr>
            <a:spLocks noGrp="1"/>
          </p:cNvSpPr>
          <p:nvPr>
            <p:ph type="dt" sz="half" idx="10"/>
          </p:nvPr>
        </p:nvSpPr>
        <p:spPr/>
        <p:txBody>
          <a:bodyPr/>
          <a:lstStyle/>
          <a:p>
            <a:fld id="{358C28A6-2969-482E-9A3B-5E13FCD8DD03}" type="datetime1">
              <a:rPr lang="en-US" smtClean="0"/>
              <a:t>9/8/2026</a:t>
            </a:fld>
            <a:endParaRPr lang="en-US"/>
          </a:p>
        </p:txBody>
      </p:sp>
      <p:sp>
        <p:nvSpPr>
          <p:cNvPr id="5" name="Slide Number Placeholder 4">
            <a:extLst>
              <a:ext uri="{FF2B5EF4-FFF2-40B4-BE49-F238E27FC236}">
                <a16:creationId xmlns:a16="http://schemas.microsoft.com/office/drawing/2014/main" id="{38353882-5ADB-9DD8-85F7-D28B47129FA0}"/>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33952908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pic>
        <p:nvPicPr>
          <p:cNvPr id="7" name="Picture 6">
            <a:extLst>
              <a:ext uri="{FF2B5EF4-FFF2-40B4-BE49-F238E27FC236}">
                <a16:creationId xmlns:a16="http://schemas.microsoft.com/office/drawing/2014/main" id="{1C400F22-D6D2-9A75-14E4-C50B839EF947}"/>
              </a:ext>
            </a:extLst>
          </p:cNvPr>
          <p:cNvPicPr>
            <a:picLocks noChangeAspect="1"/>
          </p:cNvPicPr>
          <p:nvPr/>
        </p:nvPicPr>
        <p:blipFill>
          <a:blip r:embed="rId3"/>
          <a:stretch>
            <a:fillRect/>
          </a:stretch>
        </p:blipFill>
        <p:spPr>
          <a:xfrm>
            <a:off x="300318" y="1623027"/>
            <a:ext cx="11591364" cy="3611948"/>
          </a:xfrm>
          <a:prstGeom prst="rect">
            <a:avLst/>
          </a:prstGeom>
        </p:spPr>
      </p:pic>
    </p:spTree>
    <p:extLst>
      <p:ext uri="{BB962C8B-B14F-4D97-AF65-F5344CB8AC3E}">
        <p14:creationId xmlns:p14="http://schemas.microsoft.com/office/powerpoint/2010/main" val="14137525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58C31-21B3-4C00-B5D8-7F093ABFEC3C}"/>
              </a:ext>
            </a:extLst>
          </p:cNvPr>
          <p:cNvSpPr>
            <a:spLocks noGrp="1"/>
          </p:cNvSpPr>
          <p:nvPr>
            <p:ph type="title"/>
          </p:nvPr>
        </p:nvSpPr>
        <p:spPr/>
        <p:txBody>
          <a:bodyPr/>
          <a:lstStyle/>
          <a:p>
            <a:r>
              <a:rPr lang="en-US" dirty="0"/>
              <a:t>Genuine limitations of Noarr and Cellato</a:t>
            </a:r>
          </a:p>
        </p:txBody>
      </p:sp>
      <p:sp>
        <p:nvSpPr>
          <p:cNvPr id="5" name="Content Placeholder 4">
            <a:extLst>
              <a:ext uri="{FF2B5EF4-FFF2-40B4-BE49-F238E27FC236}">
                <a16:creationId xmlns:a16="http://schemas.microsoft.com/office/drawing/2014/main" id="{8A184959-C556-48E5-BDD9-ED0CC2A4736A}"/>
              </a:ext>
            </a:extLst>
          </p:cNvPr>
          <p:cNvSpPr>
            <a:spLocks noGrp="1"/>
          </p:cNvSpPr>
          <p:nvPr>
            <p:ph idx="1"/>
          </p:nvPr>
        </p:nvSpPr>
        <p:spPr/>
        <p:txBody>
          <a:bodyPr anchor="ctr"/>
          <a:lstStyle/>
          <a:p>
            <a:r>
              <a:rPr lang="en-US" dirty="0"/>
              <a:t>Not paired with formal verification</a:t>
            </a:r>
          </a:p>
          <a:p>
            <a:r>
              <a:rPr lang="en-US" dirty="0"/>
              <a:t>Compilation time overhead</a:t>
            </a:r>
          </a:p>
          <a:p>
            <a:r>
              <a:rPr lang="en-US" dirty="0"/>
              <a:t>Template metaprogramming imposes some limitations</a:t>
            </a:r>
          </a:p>
          <a:p>
            <a:pPr lvl="1"/>
            <a:r>
              <a:rPr lang="en-US" dirty="0"/>
              <a:t>The syntax of the resulting DSLs may be awkward</a:t>
            </a:r>
          </a:p>
          <a:p>
            <a:pPr lvl="1"/>
            <a:r>
              <a:rPr lang="en-US" dirty="0"/>
              <a:t>Makes online tuning more costly compared to alternatives such as </a:t>
            </a:r>
            <a:r>
              <a:rPr lang="en-US" dirty="0" err="1"/>
              <a:t>mdspans</a:t>
            </a:r>
            <a:r>
              <a:rPr lang="en-US" dirty="0"/>
              <a:t> or Kokkos Views (recompilation)</a:t>
            </a:r>
          </a:p>
          <a:p>
            <a:r>
              <a:rPr lang="en-US" dirty="0"/>
              <a:t>Usability not supported by user studies</a:t>
            </a:r>
          </a:p>
        </p:txBody>
      </p:sp>
      <p:sp>
        <p:nvSpPr>
          <p:cNvPr id="3" name="Date Placeholder 2">
            <a:extLst>
              <a:ext uri="{FF2B5EF4-FFF2-40B4-BE49-F238E27FC236}">
                <a16:creationId xmlns:a16="http://schemas.microsoft.com/office/drawing/2014/main" id="{D76BAA40-3587-0EAB-97D0-C6C555DE4F28}"/>
              </a:ext>
            </a:extLst>
          </p:cNvPr>
          <p:cNvSpPr>
            <a:spLocks noGrp="1"/>
          </p:cNvSpPr>
          <p:nvPr>
            <p:ph type="dt" sz="half" idx="10"/>
          </p:nvPr>
        </p:nvSpPr>
        <p:spPr/>
        <p:txBody>
          <a:bodyPr/>
          <a:lstStyle/>
          <a:p>
            <a:fld id="{1AB26190-46ED-4A0C-A5E8-CDBCA5C2D5C3}" type="datetime1">
              <a:rPr lang="en-US" smtClean="0"/>
              <a:t>9/8/2026</a:t>
            </a:fld>
            <a:endParaRPr lang="en-US" dirty="0"/>
          </a:p>
        </p:txBody>
      </p:sp>
      <p:sp>
        <p:nvSpPr>
          <p:cNvPr id="4" name="Slide Number Placeholder 3">
            <a:extLst>
              <a:ext uri="{FF2B5EF4-FFF2-40B4-BE49-F238E27FC236}">
                <a16:creationId xmlns:a16="http://schemas.microsoft.com/office/drawing/2014/main" id="{FA0D4A39-443E-0EE9-F71D-F4A2060B2526}"/>
              </a:ext>
            </a:extLst>
          </p:cNvPr>
          <p:cNvSpPr>
            <a:spLocks noGrp="1"/>
          </p:cNvSpPr>
          <p:nvPr>
            <p:ph type="sldNum" sz="quarter" idx="12"/>
          </p:nvPr>
        </p:nvSpPr>
        <p:spPr/>
        <p:txBody>
          <a:bodyPr/>
          <a:lstStyle/>
          <a:p>
            <a:fld id="{DA0BB241-1B5F-4309-9407-9EEA04D9598D}" type="slidenum">
              <a:rPr lang="en-US" smtClean="0"/>
              <a:t>45</a:t>
            </a:fld>
            <a:endParaRPr lang="en-US"/>
          </a:p>
        </p:txBody>
      </p:sp>
    </p:spTree>
    <p:extLst>
      <p:ext uri="{BB962C8B-B14F-4D97-AF65-F5344CB8AC3E}">
        <p14:creationId xmlns:p14="http://schemas.microsoft.com/office/powerpoint/2010/main" val="7078600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nchor="ctr"/>
          <a:lstStyle/>
          <a:p>
            <a:r>
              <a:rPr lang="en-US" noProof="0" dirty="0"/>
              <a:t>I do not </a:t>
            </a:r>
            <a:r>
              <a:rPr lang="en-US" noProof="0" dirty="0" err="1"/>
              <a:t>clai</a:t>
            </a:r>
            <a:r>
              <a:rPr lang="en-US" dirty="0"/>
              <a:t>m that templates are the only solution</a:t>
            </a:r>
          </a:p>
          <a:p>
            <a:r>
              <a:rPr lang="en-US" noProof="0" dirty="0"/>
              <a:t>We do not consider compilation pipeline extensions (e.g., compiler extensions) due to:</a:t>
            </a:r>
          </a:p>
          <a:p>
            <a:pPr lvl="1"/>
            <a:r>
              <a:rPr lang="en-US" noProof="0" dirty="0"/>
              <a:t>Such solutions hindering portability; reliance on external tools</a:t>
            </a:r>
          </a:p>
          <a:p>
            <a:pPr lvl="1"/>
            <a:r>
              <a:rPr lang="en-US" dirty="0"/>
              <a:t>Core research group focus and expertise</a:t>
            </a:r>
          </a:p>
          <a:p>
            <a:pPr lvl="1"/>
            <a:r>
              <a:rPr lang="en-US" noProof="0" dirty="0"/>
              <a:t>Research scope closely tied to algorithm design</a:t>
            </a:r>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46</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nchor="ctr"/>
          <a:lstStyle/>
          <a:p>
            <a:r>
              <a:rPr lang="en-US" dirty="0"/>
              <a:t>Some generated Noarr layouts preserve syntactic order of dimensions rather than the semantic one (unintended layout transformations)</a:t>
            </a:r>
          </a:p>
          <a:p>
            <a:r>
              <a:rPr lang="en-US" noProof="0" dirty="0"/>
              <a:t>Halide was an awkward representation </a:t>
            </a:r>
            <a:r>
              <a:rPr lang="en-US" dirty="0"/>
              <a:t>for many algorithms</a:t>
            </a:r>
          </a:p>
          <a:p>
            <a:r>
              <a:rPr lang="en-US" noProof="0" dirty="0"/>
              <a:t>Hallucinated API</a:t>
            </a:r>
          </a:p>
          <a:p>
            <a:pPr lvl="1"/>
            <a:r>
              <a:rPr lang="en-US" noProof="0" dirty="0"/>
              <a:t>(mostly for Halide), the LLM considered more general function overloads</a:t>
            </a:r>
          </a:p>
          <a:p>
            <a:pPr lvl="1"/>
            <a:r>
              <a:rPr lang="en-US" dirty="0"/>
              <a:t>(mostly for Exo), the LLM failed to preserve expected invariants</a:t>
            </a:r>
          </a:p>
          <a:p>
            <a:pPr lvl="1"/>
            <a:r>
              <a:rPr lang="en-US" noProof="0" dirty="0"/>
              <a:t>(mostly for Noarr), the LLM made </a:t>
            </a:r>
            <a:r>
              <a:rPr lang="en-US" dirty="0"/>
              <a:t>genuine mistakes (e.g., replaced angle brackets with square brackets)</a:t>
            </a:r>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9/8/2026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47</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48</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10745" y="3001049"/>
            <a:ext cx="372564" cy="372564"/>
          </a:xfrm>
          <a:prstGeom prst="rect">
            <a:avLst/>
          </a:prstGeom>
        </p:spPr>
      </p:pic>
    </p:spTree>
    <p:custDataLst>
      <p:tags r:id="rId1"/>
    </p:custDataLst>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2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2" grpId="0" animBg="1"/>
      <p:bldP spid="16" grpId="0" animBg="1"/>
      <p:bldP spid="24" grpId="0" animBg="1"/>
      <p:bldP spid="27" grpId="0" animBg="1"/>
      <p:bldP spid="28" grpId="0" animBg="1"/>
      <p:bldP spid="14" grpId="0" animBg="1"/>
      <p:bldP spid="83" grpId="0" animBg="1"/>
      <p:bldP spid="30" grpId="0" animBg="1"/>
      <p:bldP spid="105"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9/8/2026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49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custDataLst>
      <p:tags r:id="rId1"/>
    </p:custDataLst>
    <p:extLst>
      <p:ext uri="{BB962C8B-B14F-4D97-AF65-F5344CB8AC3E}">
        <p14:creationId xmlns:p14="http://schemas.microsoft.com/office/powerpoint/2010/main" val="1721333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4">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5"/>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6"/>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7"/>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9/8/2026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50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custDataLst>
      <p:tags r:id="rId1"/>
    </p:custDataLst>
    <p:extLst>
      <p:ext uri="{BB962C8B-B14F-4D97-AF65-F5344CB8AC3E}">
        <p14:creationId xmlns:p14="http://schemas.microsoft.com/office/powerpoint/2010/main" val="368574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070AC3FA-1C78-CE3D-4F65-A3A7613718DC}"/>
              </a:ext>
            </a:extLst>
          </p:cNvPr>
          <p:cNvPicPr>
            <a:picLocks noChangeAspect="1"/>
          </p:cNvPicPr>
          <p:nvPr/>
        </p:nvPicPr>
        <p:blipFill>
          <a:blip r:embed="rId4"/>
          <a:stretch>
            <a:fillRect/>
          </a:stretch>
        </p:blipFill>
        <p:spPr>
          <a:xfrm>
            <a:off x="93090" y="1394231"/>
            <a:ext cx="10180320" cy="4113183"/>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8447434" y="2257837"/>
            <a:ext cx="1449255" cy="94608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8417978" y="3220336"/>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8372690" y="3629267"/>
            <a:ext cx="1523999" cy="89151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8447434" y="4587549"/>
            <a:ext cx="1433421" cy="906813"/>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9/8/2026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51</a:t>
            </a:fld>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nvSpPr>
        <p:spPr>
          <a:xfrm>
            <a:off x="4494780" y="643135"/>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cxnSpLocks/>
            <a:stCxn id="6" idx="1"/>
            <a:endCxn id="7" idx="2"/>
          </p:cNvCxnSpPr>
          <p:nvPr/>
        </p:nvCxnSpPr>
        <p:spPr>
          <a:xfrm flipH="1" flipV="1">
            <a:off x="6258304" y="1222017"/>
            <a:ext cx="2401368" cy="117437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1"/>
            <a:endCxn id="7" idx="2"/>
          </p:cNvCxnSpPr>
          <p:nvPr/>
        </p:nvCxnSpPr>
        <p:spPr>
          <a:xfrm flipH="1" flipV="1">
            <a:off x="6258304" y="1222017"/>
            <a:ext cx="2337570" cy="2537809"/>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nvSpPr>
        <p:spPr>
          <a:xfrm>
            <a:off x="9053524" y="5523148"/>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cxnSpLocks/>
            <a:stCxn id="14" idx="5"/>
            <a:endCxn id="18" idx="0"/>
          </p:cNvCxnSpPr>
          <p:nvPr/>
        </p:nvCxnSpPr>
        <p:spPr>
          <a:xfrm>
            <a:off x="9670935" y="5361562"/>
            <a:ext cx="823948" cy="16158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nvSpPr>
        <p:spPr>
          <a:xfrm>
            <a:off x="2886552" y="5523148"/>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nvCxnSpPr>
        <p:spPr>
          <a:xfrm flipV="1">
            <a:off x="7137073" y="3590562"/>
            <a:ext cx="1490825" cy="222202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nvSpPr>
        <p:spPr>
          <a:xfrm>
            <a:off x="3784386" y="6214865"/>
            <a:ext cx="2104438"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nvSpPr>
        <p:spPr>
          <a:xfrm>
            <a:off x="6303178" y="6221520"/>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cxnSp>
        <p:nvCxnSpPr>
          <p:cNvPr id="47" name="Straight Connector 46">
            <a:extLst>
              <a:ext uri="{FF2B5EF4-FFF2-40B4-BE49-F238E27FC236}">
                <a16:creationId xmlns:a16="http://schemas.microsoft.com/office/drawing/2014/main" id="{C1EB5605-1755-DC29-A293-2C533F0575EC}"/>
              </a:ext>
            </a:extLst>
          </p:cNvPr>
          <p:cNvCxnSpPr/>
          <p:nvPr/>
        </p:nvCxnSpPr>
        <p:spPr>
          <a:xfrm>
            <a:off x="381898" y="5404364"/>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8" name="Straight Connector 47">
            <a:extLst>
              <a:ext uri="{FF2B5EF4-FFF2-40B4-BE49-F238E27FC236}">
                <a16:creationId xmlns:a16="http://schemas.microsoft.com/office/drawing/2014/main" id="{F9331A32-DD4A-A8DD-55FF-2595D30008DA}"/>
              </a:ext>
            </a:extLst>
          </p:cNvPr>
          <p:cNvCxnSpPr/>
          <p:nvPr/>
        </p:nvCxnSpPr>
        <p:spPr>
          <a:xfrm>
            <a:off x="443756" y="4966539"/>
            <a:ext cx="3077582" cy="0"/>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Straight Connector 48">
            <a:extLst>
              <a:ext uri="{FF2B5EF4-FFF2-40B4-BE49-F238E27FC236}">
                <a16:creationId xmlns:a16="http://schemas.microsoft.com/office/drawing/2014/main" id="{4B538ECA-EA93-B903-6AE2-0B4D637D5317}"/>
              </a:ext>
            </a:extLst>
          </p:cNvPr>
          <p:cNvCxnSpPr>
            <a:cxnSpLocks/>
          </p:cNvCxnSpPr>
          <p:nvPr/>
        </p:nvCxnSpPr>
        <p:spPr>
          <a:xfrm flipH="1">
            <a:off x="443756" y="4444715"/>
            <a:ext cx="21399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EBC69EF-7343-1C60-8471-2A3B60BC25A3}"/>
              </a:ext>
            </a:extLst>
          </p:cNvPr>
          <p:cNvCxnSpPr>
            <a:cxnSpLocks/>
          </p:cNvCxnSpPr>
          <p:nvPr/>
        </p:nvCxnSpPr>
        <p:spPr>
          <a:xfrm flipH="1">
            <a:off x="424706" y="4008946"/>
            <a:ext cx="2668538"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A9EB04D-E001-1A10-94AE-94E7BF017C11}"/>
              </a:ext>
            </a:extLst>
          </p:cNvPr>
          <p:cNvCxnSpPr>
            <a:cxnSpLocks/>
          </p:cNvCxnSpPr>
          <p:nvPr/>
        </p:nvCxnSpPr>
        <p:spPr>
          <a:xfrm flipH="1">
            <a:off x="443756" y="2637346"/>
            <a:ext cx="2368500"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FBD0A64-EC84-1B63-0414-355DA48CE37C}"/>
              </a:ext>
            </a:extLst>
          </p:cNvPr>
          <p:cNvCxnSpPr>
            <a:cxnSpLocks/>
          </p:cNvCxnSpPr>
          <p:nvPr/>
        </p:nvCxnSpPr>
        <p:spPr>
          <a:xfrm flipH="1">
            <a:off x="424706" y="3073115"/>
            <a:ext cx="1763663"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ACAC765E-E823-B48A-C7B1-7D1D771C0FF1}"/>
              </a:ext>
            </a:extLst>
          </p:cNvPr>
          <p:cNvCxnSpPr>
            <a:cxnSpLocks/>
          </p:cNvCxnSpPr>
          <p:nvPr/>
        </p:nvCxnSpPr>
        <p:spPr>
          <a:xfrm>
            <a:off x="411732" y="3604140"/>
            <a:ext cx="2872012" cy="0"/>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Tree>
    <p:custDataLst>
      <p:tags r:id="rId1"/>
    </p:custDataLst>
    <p:extLst>
      <p:ext uri="{BB962C8B-B14F-4D97-AF65-F5344CB8AC3E}">
        <p14:creationId xmlns:p14="http://schemas.microsoft.com/office/powerpoint/2010/main" val="3931156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7"/>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7" grpId="0" animBg="1"/>
      <p:bldP spid="18" grpId="0" animBg="1"/>
      <p:bldP spid="23" grpId="0" animBg="1"/>
      <p:bldP spid="31" grpId="0" animBg="1"/>
      <p:bldP spid="32"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9/8/2026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52</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8.4|7.7|6.7|7.3|9|12"/>
</p:tagLst>
</file>

<file path=ppt/tags/tag2.xml><?xml version="1.0" encoding="utf-8"?>
<p:tagLst xmlns:a="http://schemas.openxmlformats.org/drawingml/2006/main" xmlns:r="http://schemas.openxmlformats.org/officeDocument/2006/relationships" xmlns:p="http://schemas.openxmlformats.org/presentationml/2006/main">
  <p:tag name="TIMING" val="|32.9|28.1"/>
</p:tagLst>
</file>

<file path=ppt/tags/tag3.xml><?xml version="1.0" encoding="utf-8"?>
<p:tagLst xmlns:a="http://schemas.openxmlformats.org/drawingml/2006/main" xmlns:r="http://schemas.openxmlformats.org/officeDocument/2006/relationships" xmlns:p="http://schemas.openxmlformats.org/presentationml/2006/main">
  <p:tag name="TIMING" val="|33|9.2|4.9|9.6"/>
</p:tagLst>
</file>

<file path=ppt/tags/tag4.xml><?xml version="1.0" encoding="utf-8"?>
<p:tagLst xmlns:a="http://schemas.openxmlformats.org/drawingml/2006/main" xmlns:r="http://schemas.openxmlformats.org/officeDocument/2006/relationships" xmlns:p="http://schemas.openxmlformats.org/presentationml/2006/main">
  <p:tag name="TIMING" val="|17.4|8.2|0.6|14.1|34.8|18.8"/>
</p:tagLst>
</file>

<file path=ppt/tags/tag5.xml><?xml version="1.0" encoding="utf-8"?>
<p:tagLst xmlns:a="http://schemas.openxmlformats.org/drawingml/2006/main" xmlns:r="http://schemas.openxmlformats.org/officeDocument/2006/relationships" xmlns:p="http://schemas.openxmlformats.org/presentationml/2006/main">
  <p:tag name="TIMING" val="|26.3|39.7"/>
</p:tagLst>
</file>

<file path=ppt/tags/tag6.xml><?xml version="1.0" encoding="utf-8"?>
<p:tagLst xmlns:a="http://schemas.openxmlformats.org/drawingml/2006/main" xmlns:r="http://schemas.openxmlformats.org/officeDocument/2006/relationships" xmlns:p="http://schemas.openxmlformats.org/presentationml/2006/main">
  <p:tag name="TIMING" val="|28.7|15.2|5.8|12.2|16.2|0.9"/>
</p:tagLst>
</file>

<file path=ppt/tags/tag7.xml><?xml version="1.0" encoding="utf-8"?>
<p:tagLst xmlns:a="http://schemas.openxmlformats.org/drawingml/2006/main" xmlns:r="http://schemas.openxmlformats.org/officeDocument/2006/relationships" xmlns:p="http://schemas.openxmlformats.org/presentationml/2006/main">
  <p:tag name="TIMING" val="|19.9"/>
</p:tagLst>
</file>

<file path=ppt/tags/tag8.xml><?xml version="1.0" encoding="utf-8"?>
<p:tagLst xmlns:a="http://schemas.openxmlformats.org/drawingml/2006/main" xmlns:r="http://schemas.openxmlformats.org/officeDocument/2006/relationships" xmlns:p="http://schemas.openxmlformats.org/presentationml/2006/main">
  <p:tag name="TIMING" val="|19.1"/>
</p:tagLst>
</file>

<file path=ppt/tags/tag9.xml><?xml version="1.0" encoding="utf-8"?>
<p:tagLst xmlns:a="http://schemas.openxmlformats.org/drawingml/2006/main" xmlns:r="http://schemas.openxmlformats.org/officeDocument/2006/relationships" xmlns:p="http://schemas.openxmlformats.org/presentationml/2006/main">
  <p:tag name="TIMING" val="|17.9|39.1|45.8|3.9"/>
</p:tagLst>
</file>

<file path=ppt/tags/tag10.xml><?xml version="1.0" encoding="utf-8"?>
<p:tagLst xmlns:a="http://schemas.openxmlformats.org/drawingml/2006/main" xmlns:r="http://schemas.openxmlformats.org/officeDocument/2006/relationships" xmlns:p="http://schemas.openxmlformats.org/presentationml/2006/main">
  <p:tag name="TIMING" val="|44.5|3.9"/>
</p:tagLst>
</file>

<file path=ppt/tags/tag11.xml><?xml version="1.0" encoding="utf-8"?>
<p:tagLst xmlns:a="http://schemas.openxmlformats.org/drawingml/2006/main" xmlns:r="http://schemas.openxmlformats.org/officeDocument/2006/relationships" xmlns:p="http://schemas.openxmlformats.org/presentationml/2006/main">
  <p:tag name="TIMING" val="|2.5|0.8"/>
</p:tagLst>
</file>

<file path=ppt/tags/tag12.xml><?xml version="1.0" encoding="utf-8"?>
<p:tagLst xmlns:a="http://schemas.openxmlformats.org/drawingml/2006/main" xmlns:r="http://schemas.openxmlformats.org/officeDocument/2006/relationships" xmlns:p="http://schemas.openxmlformats.org/presentationml/2006/main">
  <p:tag name="TIMING" val="|0.9|1.2|2.6|1.5"/>
</p:tagLst>
</file>

<file path=ppt/tags/tag13.xml><?xml version="1.0" encoding="utf-8"?>
<p:tagLst xmlns:a="http://schemas.openxmlformats.org/drawingml/2006/main" xmlns:r="http://schemas.openxmlformats.org/officeDocument/2006/relationships" xmlns:p="http://schemas.openxmlformats.org/presentationml/2006/main">
  <p:tag name="TIMING" val="|0.8"/>
</p:tagLst>
</file>

<file path=ppt/tags/tag14.xml><?xml version="1.0" encoding="utf-8"?>
<p:tagLst xmlns:a="http://schemas.openxmlformats.org/drawingml/2006/main" xmlns:r="http://schemas.openxmlformats.org/officeDocument/2006/relationships" xmlns:p="http://schemas.openxmlformats.org/presentationml/2006/main">
  <p:tag name="TIMING" val="|0.6|0.7|0.4"/>
</p:tagLst>
</file>

<file path=ppt/tags/tag15.xml><?xml version="1.0" encoding="utf-8"?>
<p:tagLst xmlns:a="http://schemas.openxmlformats.org/drawingml/2006/main" xmlns:r="http://schemas.openxmlformats.org/officeDocument/2006/relationships" xmlns:p="http://schemas.openxmlformats.org/presentationml/2006/main">
  <p:tag name="TIMING" val="|0.8|0.4|0.5"/>
</p:tagLst>
</file>

<file path=ppt/tags/tag16.xml><?xml version="1.0" encoding="utf-8"?>
<p:tagLst xmlns:a="http://schemas.openxmlformats.org/drawingml/2006/main" xmlns:r="http://schemas.openxmlformats.org/officeDocument/2006/relationships" xmlns:p="http://schemas.openxmlformats.org/presentationml/2006/main">
  <p:tag name="TIMING" val="|1.5|0.4"/>
</p:tagLst>
</file>

<file path=ppt/tags/tag17.xml><?xml version="1.0" encoding="utf-8"?>
<p:tagLst xmlns:a="http://schemas.openxmlformats.org/drawingml/2006/main" xmlns:r="http://schemas.openxmlformats.org/officeDocument/2006/relationships" xmlns:p="http://schemas.openxmlformats.org/presentationml/2006/main">
  <p:tag name="TIMING" val="|0.7|0.3|0.5|0.4|0.4|0.3|0.3|0.4|0.6|0.6"/>
</p:tagLst>
</file>

<file path=ppt/tags/tag18.xml><?xml version="1.0" encoding="utf-8"?>
<p:tagLst xmlns:a="http://schemas.openxmlformats.org/drawingml/2006/main" xmlns:r="http://schemas.openxmlformats.org/officeDocument/2006/relationships" xmlns:p="http://schemas.openxmlformats.org/presentationml/2006/main">
  <p:tag name="TIMING" val="|11.4|16.4|11.8|1.1|18.1"/>
</p:tagLst>
</file>

<file path=ppt/tags/tag19.xml><?xml version="1.0" encoding="utf-8"?>
<p:tagLst xmlns:a="http://schemas.openxmlformats.org/drawingml/2006/main" xmlns:r="http://schemas.openxmlformats.org/officeDocument/2006/relationships" xmlns:p="http://schemas.openxmlformats.org/presentationml/2006/main">
  <p:tag name="TIMING" val="|45.2"/>
</p:tagLst>
</file>

<file path=ppt/tags/tag20.xml><?xml version="1.0" encoding="utf-8"?>
<p:tagLst xmlns:a="http://schemas.openxmlformats.org/drawingml/2006/main" xmlns:r="http://schemas.openxmlformats.org/officeDocument/2006/relationships" xmlns:p="http://schemas.openxmlformats.org/presentationml/2006/main">
  <p:tag name="TIMING" val="|15.2|55.6|10.5|19.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9013</TotalTime>
  <Words>6400</Words>
  <Application>Microsoft Office PowerPoint</Application>
  <PresentationFormat>Widescreen</PresentationFormat>
  <Paragraphs>1005</Paragraphs>
  <Slides>52</Slides>
  <Notes>45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Research Questions</vt:lpstr>
      <vt:lpstr>Why layouts matter</vt:lpstr>
      <vt:lpstr>Layout-agnostic design</vt:lpstr>
      <vt:lpstr>Layout abstractions (Noarr)</vt:lpstr>
      <vt:lpstr>Traversal abstractions</vt:lpstr>
      <vt:lpstr>Structures with different index spaces</vt:lpstr>
      <vt:lpstr>No measurable runtime overhead</vt:lpstr>
      <vt:lpstr>Traversal transformations</vt:lpstr>
      <vt:lpstr>Research Questions</vt:lpstr>
      <vt:lpstr>Traversal parallelization</vt:lpstr>
      <vt:lpstr>No overhead in parallelization</vt:lpstr>
      <vt:lpstr>Distributed initialization using MPI</vt:lpstr>
      <vt:lpstr>Automatic transformation in communication</vt:lpstr>
      <vt:lpstr>Support for layout-agnostic data distribution</vt:lpstr>
      <vt:lpstr>Noarr-MPI does not introduce overhead</vt:lpstr>
      <vt:lpstr>Research Questions</vt:lpstr>
      <vt:lpstr>Stencil computation abstractions</vt:lpstr>
      <vt:lpstr>Discrete stencils – Cellular  automata</vt:lpstr>
      <vt:lpstr>Research Questions</vt:lpstr>
      <vt:lpstr>PowerPoint Presentation</vt:lpstr>
      <vt:lpstr>What the design allows us to gain</vt:lpstr>
      <vt:lpstr>Research Questions</vt:lpstr>
      <vt:lpstr>Tutoring LLMs for CUDA</vt:lpstr>
      <vt:lpstr>Tutoring LLMs for CUDA OpenAI o3-mini</vt:lpstr>
      <vt:lpstr>Tutoring LLMs for CUDA – submission OpenAI o3-mini</vt:lpstr>
      <vt:lpstr>Tutoring LLMs for CUDA – at conference OpenAI GPT-5</vt:lpstr>
      <vt:lpstr>Research Questions</vt:lpstr>
      <vt:lpstr>LLMs and abstractions</vt:lpstr>
      <vt:lpstr>LLMs and abstractions</vt:lpstr>
      <vt:lpstr>C outperforms the abstractions</vt:lpstr>
      <vt:lpstr>Research answers</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 If not, why?</vt:lpstr>
      <vt:lpstr>Can Noarr naturally incorporate #pragma omp simd or SIMD-aware traversers</vt:lpstr>
      <vt:lpstr>Novelty in layout- and traversal-agnosticism</vt:lpstr>
      <vt:lpstr>Which of these ideas can be found in software like Kokkos or OpenMP's loop transformations?</vt:lpstr>
      <vt:lpstr>State of the art summary and our novelty</vt:lpstr>
      <vt:lpstr>Comparison table</vt:lpstr>
      <vt:lpstr>Genuine limitations of Noarr and Cellato</vt:lpstr>
      <vt:lpstr>Template-exclusive statements</vt:lpstr>
      <vt:lpstr>Why did the abstractions hinder the LLM</vt:lpstr>
      <vt:lpstr>Contribution map</vt:lpstr>
      <vt:lpstr>Autotuning</vt:lpstr>
      <vt:lpstr>Autotuning</vt:lpstr>
      <vt:lpstr>Code metrics</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609</cp:revision>
  <cp:lastPrinted>2026-09-06T20:26:24Z</cp:lastPrinted>
  <dcterms:created xsi:type="dcterms:W3CDTF">2026-08-08T18:10:38Z</dcterms:created>
  <dcterms:modified xsi:type="dcterms:W3CDTF">2026-09-08T15:59:26Z</dcterms:modified>
</cp:coreProperties>
</file>