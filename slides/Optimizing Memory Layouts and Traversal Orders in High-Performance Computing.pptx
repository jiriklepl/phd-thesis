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311" r:id="rId32"/>
    <p:sldId id="266" r:id="rId33"/>
    <p:sldId id="312" r:id="rId34"/>
    <p:sldId id="262" r:id="rId35"/>
    <p:sldId id="327" r:id="rId36"/>
    <p:sldId id="328" r:id="rId37"/>
    <p:sldId id="331" r:id="rId38"/>
    <p:sldId id="329" r:id="rId39"/>
    <p:sldId id="330" r:id="rId40"/>
    <p:sldId id="320" r:id="rId41"/>
    <p:sldId id="318" r:id="rId42"/>
    <p:sldId id="319" r:id="rId43"/>
    <p:sldId id="317" r:id="rId44"/>
    <p:sldId id="321"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7"/>
            <p14:sldId id="328"/>
            <p14:sldId id="331"/>
            <p14:sldId id="329"/>
            <p14:sldId id="330"/>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C0C0"/>
    <a:srgbClr val="DC9696"/>
    <a:srgbClr val="CE9AC5"/>
    <a:srgbClr val="A3D29A"/>
    <a:srgbClr val="9ED0F2"/>
    <a:srgbClr val="FED97E"/>
    <a:srgbClr val="B8F6BC"/>
    <a:srgbClr val="EE9360"/>
    <a:srgbClr val="E96733"/>
    <a:srgbClr val="24A3D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144" autoAdjust="0"/>
    <p:restoredTop sz="76267" autoAdjust="0"/>
  </p:normalViewPr>
  <p:slideViewPr>
    <p:cSldViewPr snapToGrid="0">
      <p:cViewPr varScale="1">
        <p:scale>
          <a:sx n="121" d="100"/>
          <a:sy n="121" d="100"/>
        </p:scale>
        <p:origin x="3294" y="108"/>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Jenom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pozdrav</a:t>
            </a:r>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a:t>
            </a:r>
          </a:p>
          <a:p>
            <a:endParaRPr lang="en-US" dirty="0"/>
          </a:p>
          <a:p>
            <a:r>
              <a:rPr lang="en-US" dirty="0"/>
              <a:t>One of the main challenges: the best combination of data layouts and traversal orders may significantly speed up the application, but finding those often requires re-evaluating the algorithm with many different choices.</a:t>
            </a:r>
          </a:p>
          <a:p>
            <a:endParaRPr lang="en-US" dirty="0"/>
          </a:p>
          <a:p>
            <a:r>
              <a:rPr lang="en-US" dirty="0"/>
              <a:t>My research involves two approaches to reducing the effort for algorithm developers:</a:t>
            </a:r>
          </a:p>
          <a:p>
            <a:pPr marL="171450" indent="-171450">
              <a:buFontTx/>
              <a:buChar char="-"/>
            </a:pPr>
            <a:r>
              <a:rPr lang="en-US" dirty="0"/>
              <a:t>the first uses C++ abstractions to separate these choices from the algorithm</a:t>
            </a:r>
          </a:p>
          <a:p>
            <a:pPr marL="171450" indent="-171450">
              <a:buFontTx/>
              <a:buChar char="-"/>
            </a:pPr>
            <a:r>
              <a:rPr lang="en-US" dirty="0"/>
              <a:t>while the second uses LLMs to explore broader redesigns</a:t>
            </a:r>
          </a:p>
          <a:p>
            <a:endParaRPr lang="en-US" dirty="0"/>
          </a:p>
          <a:p>
            <a:r>
              <a:rPr lang="en-US" dirty="0"/>
              <a:t>We have then combined the two approaches.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9/4/2026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9/4/2026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9/4/2026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9/4/2026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9/4/2026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9/4/2026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9/4/2026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9/4/2026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9/4/2026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9/4/2026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9/4/2026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9/4/2026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notesSlide" Target="../notesSlides/notesSlide3.xml"/><Relationship Id="rId7" Type="http://schemas.openxmlformats.org/officeDocument/2006/relationships/image" Target="../media/image7.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3.xml"/><Relationship Id="rId19" Type="http://schemas.openxmlformats.org/officeDocument/2006/relationships/image" Target="../media/image24.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5.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10.png"/><Relationship Id="rId7" Type="http://schemas.openxmlformats.org/officeDocument/2006/relationships/image" Target="../media/image32.png"/><Relationship Id="rId12"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1.png"/><Relationship Id="rId11" Type="http://schemas.openxmlformats.org/officeDocument/2006/relationships/image" Target="../media/image12.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1.png"/><Relationship Id="rId9" Type="http://schemas.openxmlformats.org/officeDocument/2006/relationships/image" Target="../media/image34.png"/></Relationships>
</file>

<file path=ppt/slides/_rels/slide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4.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15.png"/><Relationship Id="rId9"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37.svg"/><Relationship Id="rId7" Type="http://schemas.openxmlformats.org/officeDocument/2006/relationships/image" Target="../media/image41.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50.png"/><Relationship Id="rId4" Type="http://schemas.openxmlformats.org/officeDocument/2006/relationships/image" Target="../media/image49.svg"/></Relationships>
</file>

<file path=ppt/slides/_rels/slide20.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53.jpeg"/><Relationship Id="rId4" Type="http://schemas.openxmlformats.org/officeDocument/2006/relationships/image" Target="../media/image52.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58.png"/><Relationship Id="rId4" Type="http://schemas.openxmlformats.org/officeDocument/2006/relationships/image" Target="../media/image51.gif"/></Relationships>
</file>

<file path=ppt/slides/_rels/slide2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62.png"/></Relationships>
</file>

<file path=ppt/slides/_rels/slide2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64.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72.svg"/><Relationship Id="rId3" Type="http://schemas.openxmlformats.org/officeDocument/2006/relationships/image" Target="../media/image67.svg"/><Relationship Id="rId7" Type="http://schemas.openxmlformats.org/officeDocument/2006/relationships/image" Target="../media/image71.sv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image" Target="../media/image70.svg"/><Relationship Id="rId5" Type="http://schemas.openxmlformats.org/officeDocument/2006/relationships/image" Target="../media/image69.svg"/><Relationship Id="rId4" Type="http://schemas.openxmlformats.org/officeDocument/2006/relationships/image" Target="../media/image68.svg"/><Relationship Id="rId9" Type="http://schemas.openxmlformats.org/officeDocument/2006/relationships/image" Target="../media/image73.svg"/></Relationships>
</file>

<file path=ppt/slides/_rels/slide3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9/4/2026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b="1" noProof="0" dirty="0"/>
              <a:t>Right memory layouts</a:t>
            </a:r>
            <a:r>
              <a:rPr lang="en-US" noProof="0" dirty="0"/>
              <a:t> and </a:t>
            </a:r>
            <a:r>
              <a:rPr lang="en-US" b="1" noProof="0" dirty="0"/>
              <a:t>traversal orders</a:t>
            </a:r>
            <a:r>
              <a:rPr lang="en-US" noProof="0" dirty="0"/>
              <a:t> </a:t>
            </a:r>
            <a:r>
              <a:rPr lang="en-US" noProof="0" dirty="0">
                <a:sym typeface="Wingdings" panose="05000000000000000000" pitchFamily="2" charset="2"/>
              </a:rPr>
              <a:t> </a:t>
            </a:r>
            <a:r>
              <a:rPr lang="en-US" b="1" noProof="0" dirty="0"/>
              <a:t>speedup</a:t>
            </a:r>
          </a:p>
          <a:p>
            <a:pPr lvl="1"/>
            <a:r>
              <a:rPr lang="en-US" noProof="0" dirty="0"/>
              <a:t>Many re-evaluations of the algorithm</a:t>
            </a:r>
          </a:p>
          <a:p>
            <a:pPr marL="0" indent="0">
              <a:buNone/>
            </a:pPr>
            <a:endParaRPr lang="en-US" noProof="0" dirty="0"/>
          </a:p>
          <a:p>
            <a:r>
              <a:rPr lang="en-US" dirty="0"/>
              <a:t>Helping algorithm developers</a:t>
            </a:r>
            <a:endParaRPr lang="en-US" noProof="0" dirty="0"/>
          </a:p>
          <a:p>
            <a:pPr lvl="1"/>
            <a:r>
              <a:rPr lang="en-US" noProof="0" dirty="0"/>
              <a:t>C++ abstractions for decoupling layouts and traversals</a:t>
            </a:r>
          </a:p>
          <a:p>
            <a:pPr lvl="1"/>
            <a:r>
              <a:rPr lang="en-US" noProof="0" dirty="0"/>
              <a:t>LLM for exploring broader redesigns</a:t>
            </a:r>
          </a:p>
          <a:p>
            <a:pPr lvl="1"/>
            <a:r>
              <a:rPr lang="en-US" noProof="0" dirty="0"/>
              <a:t>Combination of the two approaches</a:t>
            </a:r>
          </a:p>
          <a:p>
            <a:endParaRPr lang="en-US" noProof="0"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442300" y="385801"/>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8698406" y="2270790"/>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4"/>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4"/>
          <a:stretch>
            <a:fillRect/>
          </a:stretch>
        </p:blipFill>
        <p:spPr>
          <a:xfrm rot="16200000" flipH="1">
            <a:off x="7285278" y="4127242"/>
            <a:ext cx="1796224" cy="1785102"/>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3816318" y="1610496"/>
                <a:ext cx="3557256"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3816318" y="1610496"/>
                <a:ext cx="3557256" cy="461665"/>
              </a:xfrm>
              <a:prstGeom prst="rect">
                <a:avLst/>
              </a:prstGeom>
              <a:blipFill>
                <a:blip r:embed="rId5"/>
                <a:stretch>
                  <a:fillRect t="-10526" r="-2397"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285689" y="2047595"/>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9/4/2026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196307" y="6015783"/>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97586" y="6008831"/>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564049" y="6008831"/>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58712"/>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9"/>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nvSpPr>
        <p:spPr>
          <a:xfrm>
            <a:off x="8997669" y="2072161"/>
            <a:ext cx="139683" cy="1325562"/>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nvSpPr>
        <p:spPr>
          <a:xfrm>
            <a:off x="9137352" y="2528271"/>
            <a:ext cx="2972352" cy="461665"/>
          </a:xfrm>
          <a:prstGeom prst="rect">
            <a:avLst/>
          </a:prstGeom>
          <a:noFill/>
        </p:spPr>
        <p:txBody>
          <a:bodyPr wrap="none" rtlCol="0">
            <a:spAutoFit/>
          </a:bodyPr>
          <a:lstStyle/>
          <a:p>
            <a:r>
              <a:rPr lang="en-US" sz="2400" dirty="0"/>
              <a:t>Row-by-row traversal</a:t>
            </a:r>
          </a:p>
        </p:txBody>
      </p:sp>
    </p:spTree>
    <p:custDataLst>
      <p:tags r:id="rId1"/>
    </p:custDataLst>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311069" y="3151078"/>
            <a:ext cx="1829020" cy="461665"/>
          </a:xfrm>
          <a:prstGeom prst="rect">
            <a:avLst/>
          </a:prstGeom>
          <a:noFill/>
        </p:spPr>
        <p:txBody>
          <a:bodyPr wrap="square" rtlCol="0">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474631" y="2942049"/>
            <a:ext cx="3400422" cy="461665"/>
          </a:xfrm>
          <a:prstGeom prst="rect">
            <a:avLst/>
          </a:prstGeom>
          <a:noFill/>
        </p:spPr>
        <p:txBody>
          <a:bodyPr wrap="square" rtlCol="0">
            <a:spAutoFit/>
          </a:bodyPr>
          <a:lstStyle/>
          <a:p>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716662" y="5559483"/>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9/4/2026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40089" y="2695517"/>
            <a:ext cx="2728465" cy="6863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94601" y="1404435"/>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08498" y="4409098"/>
            <a:ext cx="2794804" cy="400110"/>
          </a:xfrm>
          <a:prstGeom prst="rect">
            <a:avLst/>
          </a:prstGeom>
          <a:noFill/>
        </p:spPr>
        <p:txBody>
          <a:bodyPr wrap="none" rtlCol="0">
            <a:spAutoFit/>
          </a:bodyPr>
          <a:lstStyle/>
          <a:p>
            <a:r>
              <a:rPr lang="en-US" sz="2000" i="1" noProof="0"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9/4/2026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4"/>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4"/>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4"/>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6"/>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078241" y="1168157"/>
            <a:ext cx="6293711" cy="461665"/>
          </a:xfrm>
          <a:prstGeom prst="rect">
            <a:avLst/>
          </a:prstGeom>
          <a:noFill/>
        </p:spPr>
        <p:txBody>
          <a:bodyPr wrap="none" rtlCol="0">
            <a:spAutoFit/>
          </a:bodyPr>
          <a:lstStyle/>
          <a:p>
            <a:pPr algn="ctr"/>
            <a:r>
              <a:rPr lang="en-US" sz="2400" noProof="0" dirty="0"/>
              <a:t>Composition of building blocks in native C++</a:t>
            </a:r>
          </a:p>
        </p:txBody>
      </p:sp>
    </p:spTree>
    <p:custDataLst>
      <p:tags r:id="rId1"/>
    </p:custDataLst>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9/4/2026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none">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Tree>
    <p:custDataLst>
      <p:tags r:id="rId1"/>
    </p:custDataLst>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9507369" y="4863917"/>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9507368" y="5696546"/>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9507368" y="5282662"/>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4670207" y="4968551"/>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207758" y="4968551"/>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3754840" y="4968550"/>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9/4/2026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860575" y="1130185"/>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903756" y="2539951"/>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167618" y="4896732"/>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D0D73947-8818-5717-38FC-7ECD4EA12641}"/>
                  </a:ext>
                </a:extLst>
              </p:cNvPr>
              <p:cNvSpPr txBox="1"/>
              <p:nvPr/>
            </p:nvSpPr>
            <p:spPr>
              <a:xfrm>
                <a:off x="7036424" y="1258682"/>
                <a:ext cx="2228751" cy="958083"/>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𝐶</m:t>
                          </m:r>
                        </m:e>
                        <m:sub>
                          <m:r>
                            <a:rPr lang="en-US" sz="2000" b="0" i="1" noProof="0" smtClean="0">
                              <a:latin typeface="Cambria Math" panose="02040503050406030204" pitchFamily="18" charset="0"/>
                            </a:rPr>
                            <m:t>𝑖𝑗</m:t>
                          </m:r>
                        </m:sub>
                      </m:sSub>
                      <m:r>
                        <a:rPr lang="en-US" sz="2000" b="0" i="1" noProof="0" smtClean="0">
                          <a:latin typeface="Cambria Math" panose="02040503050406030204" pitchFamily="18" charset="0"/>
                        </a:rPr>
                        <m:t>=</m:t>
                      </m:r>
                      <m:nary>
                        <m:naryPr>
                          <m:chr m:val="∑"/>
                          <m:ctrlPr>
                            <a:rPr lang="en-US" sz="2000" b="0" i="1" noProof="0" smtClean="0">
                              <a:latin typeface="Cambria Math" panose="02040503050406030204" pitchFamily="18" charset="0"/>
                            </a:rPr>
                          </m:ctrlPr>
                        </m:naryPr>
                        <m:sub>
                          <m:r>
                            <m:rPr>
                              <m:brk m:alnAt="23"/>
                            </m:rPr>
                            <a:rPr lang="en-US" sz="2000" b="0" i="1" noProof="0" smtClean="0">
                              <a:latin typeface="Cambria Math" panose="02040503050406030204" pitchFamily="18" charset="0"/>
                            </a:rPr>
                            <m:t>𝑘</m:t>
                          </m:r>
                          <m:r>
                            <m:rPr>
                              <m:brk m:alnAt="23"/>
                            </m:rPr>
                            <a:rPr lang="en-US" sz="2000" b="0" i="1" noProof="0" smtClean="0">
                              <a:latin typeface="Cambria Math" panose="02040503050406030204" pitchFamily="18" charset="0"/>
                            </a:rPr>
                            <m:t>=</m:t>
                          </m:r>
                          <m:r>
                            <m:rPr>
                              <m:brk m:alnAt="23"/>
                            </m:rPr>
                            <a:rPr lang="en-US" sz="2000" b="0" i="1" noProof="0" smtClean="0">
                              <a:latin typeface="Cambria Math" panose="02040503050406030204" pitchFamily="18" charset="0"/>
                            </a:rPr>
                            <m:t>0</m:t>
                          </m:r>
                        </m:sub>
                        <m:sup>
                          <m:r>
                            <a:rPr lang="en-US" sz="2000" b="0" i="1" noProof="0" smtClean="0">
                              <a:latin typeface="Cambria Math" panose="02040503050406030204" pitchFamily="18" charset="0"/>
                            </a:rPr>
                            <m:t>𝐾</m:t>
                          </m:r>
                          <m:r>
                            <a:rPr lang="en-US" sz="2000" b="0" i="1" noProof="0" smtClean="0">
                              <a:latin typeface="Cambria Math" panose="02040503050406030204" pitchFamily="18" charset="0"/>
                            </a:rPr>
                            <m:t>−1</m:t>
                          </m:r>
                        </m:sup>
                        <m:e>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𝐴</m:t>
                              </m:r>
                            </m:e>
                            <m:sub>
                              <m:r>
                                <a:rPr lang="en-US" sz="2000" b="0" i="1" noProof="0" smtClean="0">
                                  <a:latin typeface="Cambria Math" panose="02040503050406030204" pitchFamily="18" charset="0"/>
                                </a:rPr>
                                <m:t>𝑖𝑘</m:t>
                              </m:r>
                            </m:sub>
                          </m:sSub>
                          <m:r>
                            <a:rPr lang="en-US" sz="2000" b="0" i="1" noProof="0" smtClean="0">
                              <a:latin typeface="Cambria Math" panose="02040503050406030204" pitchFamily="18" charset="0"/>
                            </a:rPr>
                            <m:t>⋅</m:t>
                          </m:r>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𝐵</m:t>
                              </m:r>
                            </m:e>
                            <m:sub>
                              <m:r>
                                <a:rPr lang="en-US" sz="2000" b="0" i="1" noProof="0" smtClean="0">
                                  <a:latin typeface="Cambria Math" panose="02040503050406030204" pitchFamily="18" charset="0"/>
                                </a:rPr>
                                <m:t>𝑘𝑗</m:t>
                              </m:r>
                            </m:sub>
                          </m:sSub>
                        </m:e>
                      </m:nary>
                    </m:oMath>
                  </m:oMathPara>
                </a14:m>
                <a:endParaRPr lang="en-US" sz="2000" noProof="0" dirty="0"/>
              </a:p>
            </p:txBody>
          </p:sp>
        </mc:Choice>
        <mc:Fallback xmlns="">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7036424" y="1258682"/>
                <a:ext cx="2228751" cy="958083"/>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cxnSpLocks/>
            <a:stCxn id="183" idx="2"/>
            <a:endCxn id="24" idx="0"/>
          </p:cNvCxnSpPr>
          <p:nvPr/>
        </p:nvCxnSpPr>
        <p:spPr>
          <a:xfrm rot="5400000">
            <a:off x="7989207" y="2378358"/>
            <a:ext cx="323186" cy="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494264" y="3240196"/>
            <a:ext cx="884711" cy="242836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F67E973-44FE-CE64-80EC-471D1B6AA36F}"/>
                  </a:ext>
                </a:extLst>
              </p:cNvPr>
              <p:cNvSpPr txBox="1"/>
              <p:nvPr/>
            </p:nvSpPr>
            <p:spPr>
              <a:xfrm>
                <a:off x="9434344" y="4768624"/>
                <a:ext cx="1508618"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xmlns="">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9434344" y="4768624"/>
                <a:ext cx="1508618" cy="1384995"/>
              </a:xfrm>
              <a:prstGeom prst="rect">
                <a:avLst/>
              </a:prstGeom>
              <a:blipFill>
                <a:blip r:embed="rId12"/>
                <a:stretch>
                  <a:fillRect l="-8502" t="-484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9881711" y="484724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10524221" y="484724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10422621" y="5290869"/>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ight Brace 30">
            <a:extLst>
              <a:ext uri="{FF2B5EF4-FFF2-40B4-BE49-F238E27FC236}">
                <a16:creationId xmlns:a16="http://schemas.microsoft.com/office/drawing/2014/main" id="{BB183800-4A8F-401C-ADB9-A0312F9AA178}"/>
              </a:ext>
            </a:extLst>
          </p:cNvPr>
          <p:cNvSpPr/>
          <p:nvPr/>
        </p:nvSpPr>
        <p:spPr>
          <a:xfrm rot="5400000">
            <a:off x="5220183" y="3337117"/>
            <a:ext cx="140703" cy="48218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1087AE82-F462-C9EB-EA1F-F959C9A7C955}"/>
              </a:ext>
            </a:extLst>
          </p:cNvPr>
          <p:cNvSpPr txBox="1"/>
          <p:nvPr/>
        </p:nvSpPr>
        <p:spPr>
          <a:xfrm>
            <a:off x="3133789" y="5815082"/>
            <a:ext cx="4313489" cy="400110"/>
          </a:xfrm>
          <a:prstGeom prst="rect">
            <a:avLst/>
          </a:prstGeom>
          <a:solidFill>
            <a:schemeClr val="bg1"/>
          </a:solidFill>
        </p:spPr>
        <p:txBody>
          <a:bodyPr wrap="none" rtlCol="0">
            <a:spAutoFit/>
          </a:bodyPr>
          <a:lstStyle/>
          <a:p>
            <a:pPr algn="ctr"/>
            <a:r>
              <a:rPr lang="en-US" sz="2000" dirty="0"/>
              <a:t>Correct indices passed automatically</a:t>
            </a:r>
          </a:p>
        </p:txBody>
      </p: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8" grpId="0" animBg="1"/>
      <p:bldP spid="44" grpId="0"/>
      <p:bldP spid="49" grpId="0" animBg="1"/>
      <p:bldP spid="51" grpId="0" animBg="1"/>
      <p:bldP spid="53" grpId="0" animBg="1"/>
      <p:bldP spid="31" grpId="0" animBg="1"/>
      <p:bldP spid="3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9/4/2026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noProof="0" dirty="0"/>
              <a:t>Common optimization: compute by tiles</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9/4/2026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9" y="859520"/>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2" y="5946583"/>
            <a:ext cx="2047355" cy="461665"/>
          </a:xfrm>
          <a:prstGeom prst="rect">
            <a:avLst/>
          </a:prstGeom>
          <a:noFill/>
        </p:spPr>
        <p:txBody>
          <a:bodyPr wrap="none" rtlCol="0">
            <a:spAutoFit/>
          </a:bodyPr>
          <a:lstStyle/>
          <a:p>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944848" y="365125"/>
            <a:ext cx="2302302" cy="461665"/>
          </a:xfrm>
          <a:prstGeom prst="rect">
            <a:avLst/>
          </a:prstGeom>
          <a:noFill/>
        </p:spPr>
        <p:txBody>
          <a:bodyPr wrap="square" rtlCol="0">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4663797" y="324095"/>
            <a:ext cx="7413728" cy="3779548"/>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10787153" y="615816"/>
            <a:ext cx="1069007" cy="89796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10787153" y="2033964"/>
            <a:ext cx="1069007" cy="273304"/>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10787153" y="2957491"/>
            <a:ext cx="1069007" cy="666528"/>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10787153" y="3528954"/>
            <a:ext cx="1069007" cy="666528"/>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endParaRPr lang="en-US" noProof="0" dirty="0">
              <a:solidFill>
                <a:srgbClr val="0070C0"/>
              </a:solidFill>
            </a:endParaRP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6">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265910" y="3041847"/>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783354" y="256575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5808330" y="53239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a:t>
            </a:r>
            <a:r>
              <a:rPr lang="en-US" b="1" noProof="0" dirty="0" err="1"/>
              <a:t>Layout</a:t>
            </a:r>
            <a:r>
              <a:rPr lang="en-US" b="1" noProof="0" dirty="0" err="1">
                <a:sym typeface="Wingdings" panose="05000000000000000000" pitchFamily="2" charset="2"/>
              </a:rPr>
              <a:t>MPI</a:t>
            </a:r>
            <a:r>
              <a:rPr lang="en-US" b="1" noProof="0" dirty="0">
                <a:sym typeface="Wingdings" panose="05000000000000000000" pitchFamily="2" charset="2"/>
              </a:rPr>
              <a:t> datatype</a:t>
            </a:r>
            <a:r>
              <a:rPr lang="en-US" noProof="0" dirty="0">
                <a:sym typeface="Wingdings" panose="05000000000000000000" pitchFamily="2" charset="2"/>
              </a:rPr>
              <a:t>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018254" y="2935084"/>
            <a:ext cx="9018718" cy="216764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5657637" y="5693269"/>
            <a:ext cx="5454024" cy="428707"/>
          </a:xfrm>
          <a:prstGeom prst="rect">
            <a:avLst/>
          </a:prstGeom>
          <a:noFill/>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gather</a:t>
            </a:r>
            <a:r>
              <a:rPr lang="en-US" sz="2000" b="0" noProof="0" dirty="0">
                <a:solidFill>
                  <a:srgbClr val="000000"/>
                </a:solidFill>
                <a:effectLst/>
                <a:latin typeface="Fira Code" panose="020B0809050000020004" pitchFamily="49" charset="0"/>
              </a:rPr>
              <a:t>(</a:t>
            </a:r>
            <a:r>
              <a:rPr lang="en-US" sz="2000" noProof="0" dirty="0">
                <a:solidFill>
                  <a:srgbClr val="0070C1"/>
                </a:solidFill>
                <a:latin typeface="Fira Code" panose="020B0809050000020004" pitchFamily="49" charset="0"/>
              </a:rPr>
              <a:t>Tile</a:t>
            </a:r>
            <a:r>
              <a:rPr lang="en-US" sz="2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Data</a:t>
            </a:r>
            <a:r>
              <a:rPr lang="en-US" sz="2000" noProof="0" dirty="0">
                <a:solidFill>
                  <a:srgbClr val="000000"/>
                </a:solidFill>
                <a:latin typeface="Fira Code" panose="020B0809050000020004" pitchFamily="49" charset="0"/>
              </a:rPr>
              <a:t>, </a:t>
            </a:r>
            <a:r>
              <a:rPr lang="en-US" sz="2000" b="0" noProof="0" dirty="0">
                <a:solidFill>
                  <a:srgbClr val="0070C1"/>
                </a:solidFill>
                <a:effectLst/>
                <a:latin typeface="Fira Code" panose="020B0809050000020004" pitchFamily="49" charset="0"/>
              </a:rPr>
              <a:t>root</a:t>
            </a:r>
            <a:r>
              <a:rPr lang="en-US" sz="2000" b="0" noProof="0" dirty="0">
                <a:solidFill>
                  <a:srgbClr val="000000"/>
                </a:solidFill>
                <a:effectLst/>
                <a:latin typeface="Fira Code" panose="020B0809050000020004" pitchFamily="49" charset="0"/>
              </a:rPr>
              <a:t>, </a:t>
            </a:r>
            <a:r>
              <a:rPr lang="en-US" sz="2000" noProof="0" dirty="0" err="1">
                <a:solidFill>
                  <a:srgbClr val="001080"/>
                </a:solidFill>
                <a:latin typeface="Fira Code" panose="020B0809050000020004" pitchFamily="49" charset="0"/>
              </a:rPr>
              <a:t>MPItrav</a:t>
            </a:r>
            <a:r>
              <a:rPr lang="en-US" sz="2000"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286642" y="3598507"/>
            <a:ext cx="196012" cy="522578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650758" y="6300823"/>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5407427"/>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2684016" y="3049108"/>
            <a:ext cx="153563" cy="3067050"/>
          </a:xfrm>
          <a:prstGeom prst="rightBrace">
            <a:avLst>
              <a:gd name="adj1" fmla="val 8333"/>
              <a:gd name="adj2" fmla="val 72774"/>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2783414" y="5102729"/>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783414" y="5102729"/>
                <a:ext cx="1567391" cy="369332"/>
              </a:xfrm>
              <a:prstGeom prst="rect">
                <a:avLst/>
              </a:prstGeom>
              <a:blipFill>
                <a:blip r:embed="rId8"/>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018253" y="2935084"/>
            <a:ext cx="5416868" cy="2167645"/>
          </a:xfrm>
          <a:prstGeom prst="rect">
            <a:avLst/>
          </a:prstGeom>
          <a:noFill/>
        </p:spPr>
        <p:txBody>
          <a:bodyPr wrap="none">
            <a:noAutofit/>
          </a:bodyPr>
          <a:lstStyle/>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r>
              <a:rPr lang="en-US" sz="2000" noProof="0" dirty="0">
                <a:solidFill>
                  <a:srgbClr val="267F99"/>
                </a:solidFill>
                <a:latin typeface="Fira Code" panose="020B0809050000020004" pitchFamily="49" charset="0"/>
              </a:rPr>
              <a:t>auto Tile</a:t>
            </a:r>
            <a:r>
              <a:rPr lang="en-US" sz="2000" noProof="0" dirty="0">
                <a:solidFill>
                  <a:srgbClr val="000000"/>
                </a:solidFill>
                <a:latin typeface="Fira Code" panose="020B0809050000020004" pitchFamily="49" charset="0"/>
              </a:rPr>
              <a:t> = …</a:t>
            </a:r>
          </a:p>
          <a:p>
            <a:pPr>
              <a:lnSpc>
                <a:spcPct val="113095"/>
              </a:lnSpc>
              <a:buNone/>
            </a:pPr>
            <a:r>
              <a:rPr lang="en-US" sz="2000" b="0" noProof="0" dirty="0" err="1">
                <a:solidFill>
                  <a:srgbClr val="001080"/>
                </a:solidFill>
                <a:effectLst/>
                <a:latin typeface="Fira Code" panose="020B0809050000020004" pitchFamily="49" charset="0"/>
              </a:rPr>
              <a:t>MPItrav</a:t>
            </a:r>
            <a:r>
              <a:rPr lang="en-US" sz="2000" noProof="0" dirty="0" err="1">
                <a:solidFill>
                  <a:srgbClr val="000000"/>
                </a:solidFill>
                <a:latin typeface="Fira Code" panose="020B0809050000020004" pitchFamily="49" charset="0"/>
              </a:rPr>
              <a:t>.</a:t>
            </a:r>
            <a:r>
              <a:rPr lang="en-US" sz="2000" noProof="0" dirty="0" err="1">
                <a:solidFill>
                  <a:srgbClr val="795E26"/>
                </a:solidFill>
                <a:latin typeface="Fira Code" panose="020B0809050000020004" pitchFamily="49" charset="0"/>
              </a:rPr>
              <a:t>for_each</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Tile</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917939" y="1053229"/>
            <a:ext cx="2359365" cy="369332"/>
          </a:xfrm>
          <a:prstGeom prst="rect">
            <a:avLst/>
          </a:prstGeom>
          <a:noFill/>
        </p:spPr>
        <p:txBody>
          <a:bodyPr wrap="none" rtlCol="0">
            <a:spAutoFit/>
          </a:bodyPr>
          <a:lstStyle/>
          <a:p>
            <a:pPr algn="ctr"/>
            <a:r>
              <a:rPr lang="en-US" noProof="0"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1" grpId="0"/>
      <p:bldP spid="25" grpId="0" animBg="1"/>
      <p:bldP spid="45" grpId="0"/>
      <p:bldP spid="54" grpId="0" animBg="1"/>
      <p:bldP spid="56"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9/4/2026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spAutoFit/>
          </a:bodyPr>
          <a:lstStyle/>
          <a:p>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l"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l"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0" y="1646281"/>
            <a:ext cx="12192000" cy="3565438"/>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Performance comparison</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074132" y="133903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noProof="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500396" y="1313599"/>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082596" y="3169452"/>
            <a:ext cx="4026808" cy="461665"/>
          </a:xfrm>
          <a:prstGeom prst="rect">
            <a:avLst/>
          </a:prstGeom>
          <a:noFill/>
        </p:spPr>
        <p:txBody>
          <a:bodyPr wrap="none" rtlCol="0">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4644245" y="3631117"/>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4658532" y="3645404"/>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6006736" y="4996266"/>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7873837" y="5052285"/>
            <a:ext cx="1599797" cy="400110"/>
          </a:xfrm>
          <a:prstGeom prst="rect">
            <a:avLst/>
          </a:prstGeom>
          <a:noFill/>
        </p:spPr>
        <p:txBody>
          <a:bodyPr wrap="none" rtlCol="0">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6436905" y="5422232"/>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7673180" y="6191593"/>
            <a:ext cx="1766830" cy="400110"/>
          </a:xfrm>
          <a:prstGeom prst="rect">
            <a:avLst/>
          </a:prstGeom>
          <a:noFill/>
        </p:spPr>
        <p:txBody>
          <a:bodyPr wrap="none" rtlCol="0">
            <a:spAutoFit/>
          </a:bodyPr>
          <a:lstStyle/>
          <a:p>
            <a:r>
              <a:rPr lang="en-US" sz="2000" noProof="0" dirty="0"/>
              <a:t>Neighborhood</a:t>
            </a:r>
          </a:p>
        </p:txBody>
      </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animBg="1"/>
      <p:bldP spid="74" grpId="0"/>
      <p:bldP spid="7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5123665" y="1797656"/>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274091" y="1332348"/>
            <a:ext cx="3643818" cy="461665"/>
          </a:xfrm>
          <a:prstGeom prst="rect">
            <a:avLst/>
          </a:prstGeom>
          <a:noFill/>
        </p:spPr>
        <p:txBody>
          <a:bodyPr wrap="none" rtlCol="0">
            <a:spAutoFit/>
          </a:bodyPr>
          <a:lstStyle/>
          <a:p>
            <a:r>
              <a:rPr lang="en-US" sz="2400" b="1" noProof="0"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noProof="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noProof="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930166" cy="9449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noProof="0" dirty="0"/>
              <a:t> Distributed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7130" y="3818768"/>
            <a:ext cx="2532229" cy="2532229"/>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685212" y="4439667"/>
            <a:ext cx="2070129" cy="645215"/>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412931" y="3543408"/>
            <a:ext cx="4109740" cy="896259"/>
          </a:xfrm>
          <a:prstGeom prst="wedgeRoundRectCallout">
            <a:avLst>
              <a:gd name="adj1" fmla="val -49944"/>
              <a:gd name="adj2" fmla="val 66003"/>
              <a:gd name="adj3" fmla="val 16667"/>
            </a:avLst>
          </a:prstGeom>
          <a:gradFill>
            <a:gsLst>
              <a:gs pos="0">
                <a:srgbClr val="D7ADD0"/>
              </a:gs>
              <a:gs pos="50000">
                <a:srgbClr val="CD9FC6"/>
              </a:gs>
              <a:gs pos="100000">
                <a:srgbClr val="CE9AC5"/>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684587" y="3561854"/>
            <a:ext cx="1135247" cy="923330"/>
          </a:xfrm>
          <a:prstGeom prst="rect">
            <a:avLst/>
          </a:prstGeom>
          <a:noFill/>
        </p:spPr>
        <p:txBody>
          <a:bodyPr wrap="none" rtlCol="0">
            <a:spAutoFit/>
          </a:bodyPr>
          <a:lstStyle/>
          <a:p>
            <a:r>
              <a:rPr lang="en-US" sz="54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4" y="1799789"/>
            <a:ext cx="4423175"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Implement</a:t>
            </a:r>
            <a:br>
              <a:rPr lang="en-US" sz="2400" noProof="0" dirty="0"/>
            </a:br>
            <a:r>
              <a:rPr lang="en-US" sz="24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flipH="1">
            <a:off x="2252211" y="2968328"/>
            <a:ext cx="1" cy="59352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803279" y="5440720"/>
            <a:ext cx="289786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a:off x="2252211" y="4485184"/>
            <a:ext cx="0" cy="955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051627" y="3637430"/>
            <a:ext cx="1135247" cy="923330"/>
          </a:xfrm>
          <a:prstGeom prst="rect">
            <a:avLst/>
          </a:prstGeom>
          <a:noFill/>
        </p:spPr>
        <p:txBody>
          <a:bodyPr wrap="none" rtlCol="0">
            <a:spAutoFit/>
          </a:bodyPr>
          <a:lstStyle/>
          <a:p>
            <a:r>
              <a:rPr lang="en-US" sz="54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0" y="1799788"/>
            <a:ext cx="3417642"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a:off x="6619251"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5391640"/>
            <a:ext cx="2536646"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a:off x="6619251" y="4560760"/>
            <a:ext cx="0"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69" y="1799788"/>
            <a:ext cx="2754452"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5391640"/>
            <a:ext cx="2536646"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079471" y="3637430"/>
            <a:ext cx="1135247" cy="923330"/>
          </a:xfrm>
          <a:prstGeom prst="rect">
            <a:avLst/>
          </a:prstGeom>
          <a:noFill/>
        </p:spPr>
        <p:txBody>
          <a:bodyPr wrap="none" rtlCol="0">
            <a:spAutoFit/>
          </a:bodyPr>
          <a:lstStyle/>
          <a:p>
            <a:r>
              <a:rPr lang="en-US" sz="54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a:off x="10647095"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5" y="4560760"/>
            <a:ext cx="3"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0" grpId="0" animBg="1"/>
      <p:bldP spid="32" grpId="0" animBg="1"/>
      <p:bldP spid="47" grpId="0" animBg="1"/>
      <p:bldP spid="61" grpId="0" animBg="1"/>
      <p:bldP spid="63" grpId="0"/>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127887" y="1662709"/>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07365" y="1513149"/>
            <a:ext cx="1330814" cy="400110"/>
          </a:xfrm>
          <a:prstGeom prst="rect">
            <a:avLst/>
          </a:prstGeom>
          <a:noFill/>
        </p:spPr>
        <p:txBody>
          <a:bodyPr wrap="none" rtlCol="0">
            <a:spAutoFit/>
          </a:bodyPr>
          <a:lstStyle/>
          <a:p>
            <a:pPr algn="ctr"/>
            <a:r>
              <a:rPr lang="en-US" sz="20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540870" y="2094541"/>
            <a:ext cx="1576073" cy="400110"/>
          </a:xfrm>
          <a:prstGeom prst="rect">
            <a:avLst/>
          </a:prstGeom>
          <a:noFill/>
        </p:spPr>
        <p:txBody>
          <a:bodyPr wrap="none" rtlCol="0">
            <a:spAutoFit/>
          </a:bodyPr>
          <a:lstStyle/>
          <a:p>
            <a:pPr algn="ctr"/>
            <a:r>
              <a:rPr lang="en-US" sz="20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443741" y="1637451"/>
            <a:ext cx="1576073" cy="400110"/>
          </a:xfrm>
          <a:prstGeom prst="rect">
            <a:avLst/>
          </a:prstGeom>
          <a:noFill/>
        </p:spPr>
        <p:txBody>
          <a:bodyPr wrap="none" rtlCol="0">
            <a:spAutoFit/>
          </a:bodyPr>
          <a:lstStyle/>
          <a:p>
            <a:pPr algn="ctr"/>
            <a:r>
              <a:rPr lang="en-US" sz="20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378779" y="1614554"/>
            <a:ext cx="2460930" cy="400110"/>
          </a:xfrm>
          <a:prstGeom prst="rect">
            <a:avLst/>
          </a:prstGeom>
          <a:noFill/>
        </p:spPr>
        <p:txBody>
          <a:bodyPr wrap="none" rtlCol="0">
            <a:spAutoFit/>
          </a:bodyPr>
          <a:lstStyle/>
          <a:p>
            <a:pPr algn="ctr"/>
            <a:r>
              <a:rPr lang="en-US" sz="20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04908" y="2217761"/>
            <a:ext cx="977734" cy="495318"/>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92196" y="4331346"/>
            <a:ext cx="2134343"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2961639" y="6013588"/>
            <a:ext cx="6016391" cy="830997"/>
          </a:xfrm>
          <a:prstGeom prst="rect">
            <a:avLst/>
          </a:prstGeom>
          <a:noFill/>
        </p:spPr>
        <p:txBody>
          <a:bodyPr wrap="none" rtlCol="0">
            <a:spAutoFit/>
          </a:bodyPr>
          <a:lstStyle/>
          <a:p>
            <a:pPr algn="ctr"/>
            <a:r>
              <a:rPr lang="en-US" sz="2400" noProof="0" dirty="0"/>
              <a:t>Developer guide + abstraction-specific hints</a:t>
            </a:r>
          </a:p>
          <a:p>
            <a:pPr algn="ctr"/>
            <a:r>
              <a:rPr lang="en-US" sz="24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2961639" y="4450976"/>
            <a:ext cx="3008196" cy="156261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969835" y="4652682"/>
            <a:ext cx="2021738" cy="1360906"/>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2585951" y="2049544"/>
            <a:ext cx="0" cy="94915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1616294" y="1218547"/>
            <a:ext cx="1939313" cy="830997"/>
          </a:xfrm>
          <a:prstGeom prst="rect">
            <a:avLst/>
          </a:prstGeom>
          <a:noFill/>
        </p:spPr>
        <p:txBody>
          <a:bodyPr wrap="none" rtlCol="0">
            <a:spAutoFit/>
          </a:bodyPr>
          <a:lstStyle/>
          <a:p>
            <a:pPr algn="ctr"/>
            <a:r>
              <a:rPr lang="en-US" sz="2400" noProof="0" dirty="0"/>
              <a:t>Example</a:t>
            </a:r>
            <a:br>
              <a:rPr lang="en-US" sz="2400" noProof="0" dirty="0"/>
            </a:br>
            <a:r>
              <a:rPr lang="en-US" sz="24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8499278" y="1931503"/>
            <a:ext cx="0" cy="145853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7231142" y="1469838"/>
            <a:ext cx="2536272" cy="461665"/>
          </a:xfrm>
          <a:prstGeom prst="rect">
            <a:avLst/>
          </a:prstGeom>
          <a:noFill/>
        </p:spPr>
        <p:txBody>
          <a:bodyPr wrap="none" rtlCol="0">
            <a:spAutoFit/>
          </a:bodyPr>
          <a:lstStyle/>
          <a:p>
            <a:pPr algn="ctr"/>
            <a:r>
              <a:rPr lang="en-US" sz="2400" noProof="0" dirty="0"/>
              <a:t>Different prompts</a:t>
            </a:r>
          </a:p>
        </p:txBody>
      </p: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0" y="339180"/>
            <a:ext cx="12192000" cy="5931408"/>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739290"/>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339180"/>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C2203B1-0F93-3F92-FADF-DA1FA387F65C}"/>
              </a:ext>
            </a:extLst>
          </p:cNvPr>
          <p:cNvSpPr txBox="1"/>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339265" y="513594"/>
            <a:ext cx="2988319"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80"/>
            <a:ext cx="2300630" cy="523968"/>
          </a:xfrm>
          <a:prstGeom prst="roundRect">
            <a:avLst>
              <a:gd name="adj" fmla="val 20286"/>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4321131" y="2868494"/>
            <a:ext cx="4110914" cy="543595"/>
          </a:xfrm>
          <a:prstGeom prst="roundRect">
            <a:avLst>
              <a:gd name="adj" fmla="val 21669"/>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818225" y="3902948"/>
            <a:ext cx="3211699" cy="510778"/>
          </a:xfrm>
          <a:prstGeom prst="round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LLMs and abstractions</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36814"/>
            <a:ext cx="2344336" cy="66246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p:nvPr/>
        </p:nvCxnSpPr>
        <p:spPr>
          <a:xfrm flipH="1" flipV="1">
            <a:off x="5424075" y="4413726"/>
            <a:ext cx="3247447" cy="49085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p:cNvCxnSpPr>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39916" y="760661"/>
            <a:ext cx="898255"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rot="21191511">
            <a:off x="2651177" y="1663874"/>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30988" y="284562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35326" y="1614868"/>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26770" y="5370763"/>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77217" y="3816317"/>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739057" y="5535157"/>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910745" y="3001049"/>
            <a:ext cx="372564" cy="372564"/>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559685" y="3096948"/>
            <a:ext cx="556077" cy="556077"/>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091723" y="2016599"/>
            <a:ext cx="556077" cy="556077"/>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966156" y="4060894"/>
            <a:ext cx="556077" cy="556077"/>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301745" y="4844370"/>
            <a:ext cx="556077" cy="556077"/>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983599" y="2059326"/>
            <a:ext cx="556077" cy="556077"/>
          </a:xfrm>
          <a:prstGeom prst="rect">
            <a:avLst/>
          </a:prstGeom>
        </p:spPr>
      </p:pic>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6376588" y="2223248"/>
            <a:ext cx="112501" cy="64524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6376588" y="2382425"/>
            <a:ext cx="1793571" cy="48606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051994" y="3031859"/>
            <a:ext cx="556077" cy="556077"/>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9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061465"/>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2"/>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Cloud 5">
            <a:extLst>
              <a:ext uri="{FF2B5EF4-FFF2-40B4-BE49-F238E27FC236}">
                <a16:creationId xmlns:a16="http://schemas.microsoft.com/office/drawing/2014/main" id="{649FBB15-DDE7-53A8-F2E8-FA8A59181102}"/>
              </a:ext>
            </a:extLst>
          </p:cNvPr>
          <p:cNvSpPr/>
          <p:nvPr/>
        </p:nvSpPr>
        <p:spPr>
          <a:xfrm>
            <a:off x="3610240" y="3574537"/>
            <a:ext cx="1718505" cy="390086"/>
          </a:xfrm>
          <a:prstGeom prst="cloud">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r"/>
            <a:r>
              <a:rPr lang="en-US" dirty="0">
                <a:solidFill>
                  <a:schemeClr val="tx1"/>
                </a:solidFill>
              </a:rPr>
              <a:t>ICA3PP         </a:t>
            </a:r>
          </a:p>
        </p:txBody>
      </p:sp>
    </p:spTree>
    <p:extLst>
      <p:ext uri="{BB962C8B-B14F-4D97-AF65-F5344CB8AC3E}">
        <p14:creationId xmlns:p14="http://schemas.microsoft.com/office/powerpoint/2010/main" val="20253718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yet inspect statements/expressions</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 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1694793" y="5123793"/>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2199290" y="512379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3334406" y="512378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4477560"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5623035"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1694793" y="5615152"/>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2199290" y="561515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3334406" y="561514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4477560"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5623035"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2577662" y="561515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3712778" y="561514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4855932"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6001407"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2956034" y="561514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4091150" y="561514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5234304"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6379779"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4038843" y="3156803"/>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348916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department?/Why not?</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p>
          <a:p>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More extensive OpenMP pragma support challenging</a:t>
            </a:r>
          </a:p>
          <a:p>
            <a:pPr lvl="1"/>
            <a:r>
              <a:rPr lang="en-US" noProof="0" dirty="0"/>
              <a:t>Would require SIMD-specific for_each</a:t>
            </a:r>
          </a:p>
          <a:p>
            <a:r>
              <a:rPr lang="en-US" noProof="0" dirty="0"/>
              <a:t>SIMD-aware traversers: 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pPr lvl="1"/>
            <a:r>
              <a:rPr lang="en-US" noProof="0" dirty="0"/>
              <a:t>Not targeted by prior research or design in HPC algorithms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Support for heterogeneous layouts</a:t>
            </a:r>
          </a:p>
          <a:p>
            <a:pPr lvl="1"/>
            <a:r>
              <a:rPr lang="en-US" noProof="0" dirty="0"/>
              <a:t>Abstracting evaluation strategy and encoding for Cellular Automata</a:t>
            </a:r>
          </a:p>
          <a:p>
            <a:endParaRPr lang="en-US" noProof="0"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a:t>
            </a:r>
            <a:r>
              <a:rPr lang="en-US" noProof="0" dirty="0"/>
              <a:t> </a:t>
            </a:r>
            <a:r>
              <a:rPr lang="en-US" noProof="0" dirty="0">
                <a:sym typeface="Wingdings" panose="05000000000000000000" pitchFamily="2" charset="2"/>
              </a:rPr>
              <a:t> the only supported transformation</a:t>
            </a:r>
          </a:p>
          <a:p>
            <a:pPr lvl="1"/>
            <a:r>
              <a:rPr lang="en-US" noProof="0" dirty="0" err="1">
                <a:sym typeface="Wingdings" panose="05000000000000000000" pitchFamily="2" charset="2"/>
              </a:rPr>
              <a:t>CUTe</a:t>
            </a:r>
            <a:r>
              <a:rPr lang="en-US" noProof="0" dirty="0">
                <a:sym typeface="Wingdings" panose="05000000000000000000" pitchFamily="2" charset="2"/>
              </a:rPr>
              <a:t>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a:p>
            <a:r>
              <a:rPr lang="en-US" noProof="0" dirty="0"/>
              <a:t>Some traversal-agnostic capabilities in </a:t>
            </a:r>
            <a:r>
              <a:rPr lang="en-US" noProof="0" dirty="0" err="1"/>
              <a:t>GridTools</a:t>
            </a:r>
            <a:r>
              <a:rPr lang="en-US" noProof="0"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41</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noProof="0" dirty="0"/>
              <a:t>Mdspan, Kokkos, Raja, CuTe, </a:t>
            </a:r>
            <a:r>
              <a:rPr lang="en-US" noProof="0" dirty="0" err="1"/>
              <a:t>GridTools</a:t>
            </a:r>
            <a:r>
              <a:rPr lang="en-US" noProof="0" dirty="0"/>
              <a:t>, OpenMP loops, Noarr Cellato</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spTree>
    <p:extLst>
      <p:ext uri="{BB962C8B-B14F-4D97-AF65-F5344CB8AC3E}">
        <p14:creationId xmlns:p14="http://schemas.microsoft.com/office/powerpoint/2010/main" val="14137525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43</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7.9|11.1|5|8.8|10.1|10.9"/>
</p:tagLst>
</file>

<file path=ppt/tags/tag2.xml><?xml version="1.0" encoding="utf-8"?>
<p:tagLst xmlns:a="http://schemas.openxmlformats.org/drawingml/2006/main" xmlns:r="http://schemas.openxmlformats.org/officeDocument/2006/relationships" xmlns:p="http://schemas.openxmlformats.org/presentationml/2006/main">
  <p:tag name="TIMING" val="|33.7|26.9"/>
</p:tagLst>
</file>

<file path=ppt/tags/tag3.xml><?xml version="1.0" encoding="utf-8"?>
<p:tagLst xmlns:a="http://schemas.openxmlformats.org/drawingml/2006/main" xmlns:r="http://schemas.openxmlformats.org/officeDocument/2006/relationships" xmlns:p="http://schemas.openxmlformats.org/presentationml/2006/main">
  <p:tag name="TIMING" val="|19.8|4.8|7.2|11.1"/>
</p:tagLst>
</file>

<file path=ppt/tags/tag4.xml><?xml version="1.0" encoding="utf-8"?>
<p:tagLst xmlns:a="http://schemas.openxmlformats.org/drawingml/2006/main" xmlns:r="http://schemas.openxmlformats.org/officeDocument/2006/relationships" xmlns:p="http://schemas.openxmlformats.org/presentationml/2006/main">
  <p:tag name="TIMING" val="|18.2|40.5|7.7|6.6|24.4|29.2"/>
</p:tagLst>
</file>

<file path=ppt/tags/tag5.xml><?xml version="1.0" encoding="utf-8"?>
<p:tagLst xmlns:a="http://schemas.openxmlformats.org/drawingml/2006/main" xmlns:r="http://schemas.openxmlformats.org/officeDocument/2006/relationships" xmlns:p="http://schemas.openxmlformats.org/presentationml/2006/main">
  <p:tag name="TIMING" val="|47.9|45.9"/>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7257</TotalTime>
  <Words>5794</Words>
  <Application>Microsoft Office PowerPoint</Application>
  <PresentationFormat>Widescreen</PresentationFormat>
  <Paragraphs>878</Paragraphs>
  <Slides>44</Slides>
  <Notes>35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Why layouts matter</vt:lpstr>
      <vt:lpstr>Layout-agnostic design</vt:lpstr>
      <vt:lpstr>Layout abstractions (Noarr)</vt:lpstr>
      <vt:lpstr>Traversal abstractions</vt:lpstr>
      <vt:lpstr>Structures with different index spaces</vt:lpstr>
      <vt:lpstr>Traversal transformations</vt:lpstr>
      <vt:lpstr>Traversal parallelization</vt:lpstr>
      <vt:lpstr>Autotuning</vt:lpstr>
      <vt:lpstr>Autotuning</vt:lpstr>
      <vt:lpstr>Performance</vt:lpstr>
      <vt:lpstr>Performance</vt:lpstr>
      <vt:lpstr>Code metrics</vt:lpstr>
      <vt:lpstr>Distributed initialization using MPI</vt:lpstr>
      <vt:lpstr>Automatic transformation in communication</vt:lpstr>
      <vt:lpstr>Support for layout-agnostic data distribution</vt:lpstr>
      <vt:lpstr>Performance comparison</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Contribution 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department?/Why not?</vt:lpstr>
      <vt:lpstr>Can Noarr naturally incorporate #pragma omp simd or SIMD-aware traversers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514</cp:revision>
  <dcterms:created xsi:type="dcterms:W3CDTF">2026-08-08T18:10:38Z</dcterms:created>
  <dcterms:modified xsi:type="dcterms:W3CDTF">2026-09-04T09:17:02Z</dcterms:modified>
</cp:coreProperties>
</file>