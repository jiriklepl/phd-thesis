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6"/>
  </p:notesMasterIdLst>
  <p:sldIdLst>
    <p:sldId id="256" r:id="rId2"/>
    <p:sldId id="322" r:id="rId3"/>
    <p:sldId id="277" r:id="rId4"/>
    <p:sldId id="296" r:id="rId5"/>
    <p:sldId id="297" r:id="rId6"/>
    <p:sldId id="283" r:id="rId7"/>
    <p:sldId id="314" r:id="rId8"/>
    <p:sldId id="326" r:id="rId9"/>
    <p:sldId id="284" r:id="rId10"/>
    <p:sldId id="285" r:id="rId11"/>
    <p:sldId id="323" r:id="rId12"/>
    <p:sldId id="278" r:id="rId13"/>
    <p:sldId id="325" r:id="rId14"/>
    <p:sldId id="300" r:id="rId15"/>
    <p:sldId id="286" r:id="rId16"/>
    <p:sldId id="290" r:id="rId17"/>
    <p:sldId id="279" r:id="rId18"/>
    <p:sldId id="324" r:id="rId19"/>
    <p:sldId id="287" r:id="rId20"/>
    <p:sldId id="316" r:id="rId21"/>
    <p:sldId id="302" r:id="rId22"/>
    <p:sldId id="280" r:id="rId23"/>
    <p:sldId id="310" r:id="rId24"/>
    <p:sldId id="288" r:id="rId25"/>
    <p:sldId id="305" r:id="rId26"/>
    <p:sldId id="291" r:id="rId27"/>
    <p:sldId id="306" r:id="rId28"/>
    <p:sldId id="315" r:id="rId29"/>
    <p:sldId id="308" r:id="rId30"/>
    <p:sldId id="309" r:id="rId31"/>
    <p:sldId id="311" r:id="rId32"/>
    <p:sldId id="266" r:id="rId33"/>
    <p:sldId id="312" r:id="rId34"/>
    <p:sldId id="262" r:id="rId35"/>
    <p:sldId id="327" r:id="rId36"/>
    <p:sldId id="328" r:id="rId37"/>
    <p:sldId id="331" r:id="rId38"/>
    <p:sldId id="329" r:id="rId39"/>
    <p:sldId id="330" r:id="rId40"/>
    <p:sldId id="320" r:id="rId41"/>
    <p:sldId id="318" r:id="rId42"/>
    <p:sldId id="319" r:id="rId43"/>
    <p:sldId id="317" r:id="rId44"/>
    <p:sldId id="321" r:id="rId4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326"/>
            <p14:sldId id="284"/>
            <p14:sldId id="285"/>
            <p14:sldId id="323"/>
            <p14:sldId id="278"/>
            <p14:sldId id="325"/>
            <p14:sldId id="300"/>
            <p14:sldId id="286"/>
            <p14:sldId id="290"/>
            <p14:sldId id="279"/>
            <p14:sldId id="324"/>
            <p14:sldId id="287"/>
            <p14:sldId id="316"/>
            <p14:sldId id="302"/>
            <p14:sldId id="280"/>
            <p14:sldId id="310"/>
          </p14:sldIdLst>
        </p14:section>
        <p14:section name="llms" id="{2FE3CF17-CBFB-48E9-A3BF-DD99B7D2F01E}">
          <p14:sldIdLst>
            <p14:sldId id="288"/>
            <p14:sldId id="305"/>
            <p14:sldId id="291"/>
            <p14:sldId id="306"/>
            <p14:sldId id="315"/>
            <p14:sldId id="308"/>
            <p14:sldId id="309"/>
            <p14:sldId id="311"/>
          </p14:sldIdLst>
        </p14:section>
        <p14:section name="summary" id="{D3BAAF83-51D3-4EFD-B7CC-7BA6DAC4A838}">
          <p14:sldIdLst>
            <p14:sldId id="266"/>
            <p14:sldId id="312"/>
          </p14:sldIdLst>
        </p14:section>
        <p14:section name="Review comments and questions" id="{40190F67-0659-405D-810E-4AC194B72FA5}">
          <p14:sldIdLst>
            <p14:sldId id="262"/>
            <p14:sldId id="327"/>
            <p14:sldId id="328"/>
            <p14:sldId id="331"/>
            <p14:sldId id="329"/>
            <p14:sldId id="330"/>
            <p14:sldId id="320"/>
            <p14:sldId id="318"/>
            <p14:sldId id="319"/>
            <p14:sldId id="317"/>
            <p14:sldId id="321"/>
          </p14:sldIdLst>
        </p14:section>
        <p14:section name="supplementary" id="{5D95F6E9-DF15-476C-BE69-BBEF48AA8B8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B2B2"/>
    <a:srgbClr val="0F9ED5"/>
    <a:srgbClr val="7ABEED"/>
    <a:srgbClr val="0D1717"/>
    <a:srgbClr val="FCBCF1"/>
    <a:srgbClr val="C7DCFB"/>
    <a:srgbClr val="A2F4A6"/>
    <a:srgbClr val="DAFCDC"/>
    <a:srgbClr val="969696"/>
    <a:srgbClr val="DAE8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82" autoAdjust="0"/>
    <p:restoredTop sz="76267" autoAdjust="0"/>
  </p:normalViewPr>
  <p:slideViewPr>
    <p:cSldViewPr snapToGrid="0">
      <p:cViewPr varScale="1">
        <p:scale>
          <a:sx n="121" d="100"/>
          <a:sy n="121" d="100"/>
        </p:scale>
        <p:origin x="2784" y="108"/>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9/2/2026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I’d like to present my research, which focuses on simplifying algorithm design and optimizing memory access patterns in high-performance computing applications.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The main motivation is that implementing efficient HPC algorithms is challenging, as they must use the target hardware effectively.</a:t>
            </a:r>
          </a:p>
          <a:p>
            <a:endParaRPr lang="en-US" dirty="0"/>
          </a:p>
          <a:p>
            <a:r>
              <a:rPr lang="en-US" dirty="0"/>
              <a:t>In this area, many algorithms operate on large multidimensional data through nested loops, which can be rearranged without changing the functionality.</a:t>
            </a:r>
          </a:p>
          <a:p>
            <a:endParaRPr lang="en-US" dirty="0"/>
          </a:p>
          <a:p>
            <a:r>
              <a:rPr lang="en-US" dirty="0"/>
              <a:t>The best combination of data layouts and traversal orders may significantly speed up the application, but finding those often requires re-evaluating the algorithm with many different choices.</a:t>
            </a:r>
          </a:p>
          <a:p>
            <a:endParaRPr lang="en-US" dirty="0"/>
          </a:p>
          <a:p>
            <a:r>
              <a:rPr lang="en-US" dirty="0"/>
              <a:t>My research studies two ways to reduce the effort. The first uses C++ abstractions to separate these choices from the algorithm, while the second uses LLMs to explore broader redesigns. We also study whether combining the two helps.</a:t>
            </a:r>
          </a:p>
          <a:p>
            <a:endParaRPr lang="en-US" dirty="0"/>
          </a:p>
          <a:p>
            <a:r>
              <a:rPr lang="en-US" dirty="0"/>
              <a:t>Let me first show why layouts and traversals matter, using a simple matrix example.</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*layout-agnostic* design of algorithms, which minimizes reliance on specific memory layouts of the data structures.</a:t>
            </a:r>
            <a:br>
              <a:rPr lang="en-US" dirty="0"/>
            </a:br>
            <a:endParaRPr lang="en-US" dirty="0"/>
          </a:p>
          <a:p>
            <a:r>
              <a:rPr lang="en-US" dirty="0"/>
              <a:t>Using the same example, it accesses the matrix using the two-dimensional *index space*, while the specific *physical memory layout* is decoupled from the algorithm design.</a:t>
            </a:r>
          </a:p>
          <a:p>
            <a:endParaRPr lang="en-US" dirty="0"/>
          </a:p>
          <a:p>
            <a:r>
              <a:rPr lang="en-US" dirty="0"/>
              <a:t>The mapping from the index space to a physical memory layout forms a *layout abstraction*, commonly expressed as a linear function of the indices.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“scalar,” which names a single value, or “vector,” 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simple “bag” 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(key idea: introducing abstraction for traversal-agnostic algorithms – traversers)</a:t>
            </a:r>
            <a:br>
              <a:rPr lang="en-US" noProof="0" dirty="0"/>
            </a:br>
            <a:br>
              <a:rPr lang="en-US" noProof="0" dirty="0"/>
            </a:br>
            <a:r>
              <a:rPr lang="en-US" noProof="0" dirty="0"/>
              <a:t>(with bridge: which enables traversal-agnostic design)</a:t>
            </a:r>
          </a:p>
          <a:p>
            <a:r>
              <a:rPr lang="en-US" noProof="0" dirty="0"/>
              <a:t>(without bridge: After carefully assessing how the principles play into defining layout-agnostic algorithms, we have extended the approach to define traversals as well, enabling traversal-agnostic design.)</a:t>
            </a:r>
          </a:p>
          <a:p>
            <a:endParaRPr lang="en-US" noProof="0" dirty="0"/>
          </a:p>
          <a:p>
            <a:r>
              <a:rPr lang="en-US" noProof="0" dirty="0"/>
              <a:t>For that, we have devised a traverser abstraction.</a:t>
            </a:r>
          </a:p>
          <a:p>
            <a:r>
              <a:rPr lang="en-US" noProof="0" dirty="0"/>
              <a:t>For a single structure, the traverser offers the functionality of a for-each algorithm – we can thus write the earlier shown initialization algorithm without relying on the dimensions of the structure.</a:t>
            </a:r>
          </a:p>
          <a:p>
            <a:r>
              <a:rPr lang="en-US" noProof="0" dirty="0"/>
              <a:t>The dimensions are traversed automatically and composed into an index point that is given as an argument to a lambda expression specifying the element-wise action on the traversed structure.</a:t>
            </a:r>
            <a:br>
              <a:rPr lang="en-US" noProof="0" dirty="0"/>
            </a:br>
            <a:br>
              <a:rPr lang="en-US" noProof="0" dirty="0"/>
            </a:br>
            <a:r>
              <a:rPr lang="en-US" noProof="0"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If the structures use different physical layouts, the same algorithm automatically converts between the memory layouts.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5A5D-911E-326E-C9A3-9C3EB7DB5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C4EFE1-B0C5-BDA3-347D-3368CED5717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70F7586-8B8C-9621-4AFF-13A63F5D168A}"/>
              </a:ext>
            </a:extLst>
          </p:cNvPr>
          <p:cNvSpPr>
            <a:spLocks noGrp="1"/>
          </p:cNvSpPr>
          <p:nvPr>
            <p:ph type="body" idx="1"/>
          </p:nvPr>
        </p:nvSpPr>
        <p:spPr/>
        <p:txBody>
          <a:bodyPr/>
          <a:lstStyle/>
          <a:p>
            <a:r>
              <a:rPr lang="en-US" dirty="0"/>
              <a:t>(key idea: optimizing the traversal)</a:t>
            </a:r>
          </a:p>
          <a:p>
            <a:endParaRPr lang="en-US" dirty="0"/>
          </a:p>
          <a:p>
            <a:r>
              <a:rPr lang="en-US" dirty="0"/>
              <a:t>(…)</a:t>
            </a:r>
          </a:p>
          <a:p>
            <a:endParaRPr lang="en-US" dirty="0"/>
          </a:p>
          <a:p>
            <a:r>
              <a:rPr lang="en-US" dirty="0"/>
              <a:t>Let’s say we want to perform the matrix multiplication by tiles of the output to improve the caching behavior.</a:t>
            </a:r>
            <a:br>
              <a:rPr lang="en-US" dirty="0"/>
            </a:br>
            <a:r>
              <a:rPr lang="en-US" dirty="0"/>
              <a:t>We can define a transformation using the same principles as the layouts and then apply it to the traverser.</a:t>
            </a:r>
          </a:p>
          <a:p>
            <a:endParaRPr lang="en-US" dirty="0"/>
          </a:p>
          <a:p>
            <a:r>
              <a:rPr lang="en-US" dirty="0"/>
              <a:t>(…)</a:t>
            </a:r>
          </a:p>
        </p:txBody>
      </p:sp>
      <p:sp>
        <p:nvSpPr>
          <p:cNvPr id="4" name="Slide Number Placeholder 3">
            <a:extLst>
              <a:ext uri="{FF2B5EF4-FFF2-40B4-BE49-F238E27FC236}">
                <a16:creationId xmlns:a16="http://schemas.microsoft.com/office/drawing/2014/main" id="{0E987452-59B1-C67B-B782-0C8B96ABBD42}"/>
              </a:ext>
            </a:extLst>
          </p:cNvPr>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776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parallelizing the traversal)</a:t>
            </a:r>
          </a:p>
          <a:p>
            <a:endParaRPr lang="en-US" dirty="0"/>
          </a:p>
          <a:p>
            <a:r>
              <a:rPr lang="en-US" dirty="0"/>
              <a:t>(…)</a:t>
            </a:r>
          </a:p>
          <a:p>
            <a:endParaRPr lang="en-US" dirty="0"/>
          </a:p>
          <a:p>
            <a:r>
              <a:rPr lang="en-US" dirty="0"/>
              <a:t>We can also parallelize the computation on CPU using various parallel backends such as OpenMP or Threading Building Blocks using dedicated for_each executors.</a:t>
            </a:r>
          </a:p>
          <a:p>
            <a:r>
              <a:rPr lang="en-US" dirty="0"/>
              <a:t>For parallelization using the CUDA framework, we define cuda_traversers, which bind the traversal to the GPU and then run the computation in many threads.</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 and using them as regular constants.</a:t>
            </a:r>
          </a:p>
          <a:p>
            <a:br>
              <a:rPr lang="en-US" dirty="0"/>
            </a:br>
            <a:r>
              <a:rPr lang="en-US" dirty="0"/>
              <a:t>This specification is independent of the autotuning backend, and the whole autotuning process is handled automatically, 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most implementations perform on par, showing the abstraction does not introduce measurable runtime overhead.</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4231C-99AF-A37D-3B97-99027AECD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6B43E-916F-F0E8-143C-150E2EA8DA7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34A780-56D1-B3D7-FD6B-22EBBB772E35}"/>
              </a:ext>
            </a:extLst>
          </p:cNvPr>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most implementations perform on par, showing the abstraction does not introduce measurable runtime overhead.</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a:extLst>
              <a:ext uri="{FF2B5EF4-FFF2-40B4-BE49-F238E27FC236}">
                <a16:creationId xmlns:a16="http://schemas.microsoft.com/office/drawing/2014/main" id="{9CDDD263-2623-C8A3-A72C-EAD1D38E6FD1}"/>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1425210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endParaRPr lang="en-US" dirty="0"/>
          </a:p>
          <a:p>
            <a:r>
              <a:rPr lang="en-US" dirty="0"/>
              <a:t>This requires two core pieces:</a:t>
            </a:r>
          </a:p>
          <a:p>
            <a:pPr marL="228600" indent="-228600">
              <a:buAutoNum type="arabicPeriod"/>
            </a:pPr>
            <a:r>
              <a:rPr lang="en-US" dirty="0"/>
              <a:t>Binding a traversal dimension to the participating MPI ranks described by an MPI communicator.</a:t>
            </a:r>
          </a:p>
          <a:p>
            <a:pPr marL="228600" indent="-228600">
              <a:buAutoNum type="arabicPeriod"/>
            </a:pPr>
            <a:r>
              <a:rPr lang="en-US" dirty="0"/>
              <a:t>Translating Noarr layouts into appropriate MPI datatypes so we can use them in communication.</a:t>
            </a:r>
          </a:p>
          <a:p>
            <a:pPr marL="0" indent="0">
              <a:buNone/>
            </a:pPr>
            <a:endParaRPr lang="en-US" dirty="0"/>
          </a:p>
          <a:p>
            <a:pPr marL="0" indent="0">
              <a:buNone/>
            </a:pPr>
            <a:r>
              <a:rPr lang="en-US" dirty="0"/>
              <a:t>For the binding, we implemented an MPI traverser that binds the communicator to a specified dimension.</a:t>
            </a:r>
          </a:p>
          <a:p>
            <a:pPr marL="0" indent="0">
              <a:buNone/>
            </a:pPr>
            <a:r>
              <a:rPr lang="en-US" dirty="0"/>
              <a:t>(Using the earlier shown transformation principles, we can also define more intricate bindings.)</a:t>
            </a:r>
          </a:p>
          <a:p>
            <a:pPr marL="0" indent="0">
              <a:buNone/>
            </a:pPr>
            <a:r>
              <a:rPr lang="en-US" dirty="0"/>
              <a:t>This then allows us to define the derived local tile and instantiate it similarly to the serial implementation.</a:t>
            </a:r>
          </a:p>
          <a:p>
            <a:endParaRPr lang="en-US" dirty="0"/>
          </a:p>
          <a:p>
            <a:r>
              <a:rPr lang="en-US" dirty="0"/>
              <a:t>We have then implemented the mapping of the layouts into the MPI datatypes,</a:t>
            </a:r>
          </a:p>
          <a:p>
            <a:r>
              <a:rPr lang="en-US" dirty="0"/>
              <a:t>which allows us to automatically gather the tiles into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type translation worked naïvely by following the physical layout, the logical ordering of the data could be lost.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follows the logical ordering of the elements based on the index space and sends them correctly.</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Among the evaluated bindings, our approach is the only one that automatically handles differing physical layouts on opposite endpoints of communication (as shown on the previous slide).</a:t>
            </a:r>
          </a:p>
          <a:p>
            <a:r>
              <a:rPr lang="en-US" dirty="0"/>
              <a:t>We also compared whether they support multidimensional data layouts and their non-contiguous slices, the need for explicit packing and unpacking of data elements, and whether the approach chosen by the bindings performs some type safety checks.</a:t>
            </a:r>
          </a:p>
          <a:p>
            <a:endParaRPr lang="en-US" dirty="0"/>
          </a:p>
          <a:p>
            <a:r>
              <a:rPr lang="en-US" dirty="0"/>
              <a:t>In terms of performance, our approach does not add a significant overhead compared to a hand-written native MPI distributed computation.</a:t>
            </a:r>
          </a:p>
          <a:p>
            <a:endParaRPr lang="en-US" dirty="0"/>
          </a:p>
          <a:p>
            <a:r>
              <a:rPr lang="en-US" dirty="0"/>
              <a:t>The plot on the left shows the runtime of computation on small data of various layouts (lower is better), highlighting the possible performance overhead introduced by the MPI bindings,</a:t>
            </a:r>
            <a:br>
              <a:rPr lang="en-US" dirty="0"/>
            </a:br>
            <a:r>
              <a:rPr lang="en-US" dirty="0"/>
              <a:t>while the one on the right highlights the performance overhead introduced by the abstractions used for computation.</a:t>
            </a:r>
          </a:p>
          <a:p>
            <a:endParaRPr lang="en-US" dirty="0"/>
          </a:p>
          <a:p>
            <a:r>
              <a:rPr lang="en-US" dirty="0"/>
              <a:t>The varying heights of groups of columns in this plot are caused by changes in the algorithm’s performance due to the choice of data structure layouts.</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83BFA-8783-1636-904D-607405B47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AAE5-A878-F56E-4C09-318E4AB2FA9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C7B76B8-E708-FD49-531B-1B09985ABB4E}"/>
              </a:ext>
            </a:extLst>
          </p:cNvPr>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Among the evaluated bindings, our approach is the only one that automatically handles differing physical layouts on opposite endpoints of communication (as shown on the previous slide).</a:t>
            </a:r>
          </a:p>
          <a:p>
            <a:r>
              <a:rPr lang="en-US" dirty="0"/>
              <a:t>We also compared whether they support multidimensional data layouts and their non-contiguous slices, the need for explicit packing and unpacking of data elements, and whether the approach chosen by the bindings performs some type safety checks.</a:t>
            </a:r>
          </a:p>
          <a:p>
            <a:endParaRPr lang="en-US" dirty="0"/>
          </a:p>
          <a:p>
            <a:r>
              <a:rPr lang="en-US" dirty="0"/>
              <a:t>In terms of performance, our approach does not add a significant overhead compared to a hand-written native MPI distributed computation.</a:t>
            </a:r>
          </a:p>
          <a:p>
            <a:endParaRPr lang="en-US" dirty="0"/>
          </a:p>
          <a:p>
            <a:r>
              <a:rPr lang="en-US" dirty="0"/>
              <a:t>The plot on the left shows the runtime of computation on small data of various layouts (lower is better), highlighting the possible performance overhead introduced by the MPI bindings,</a:t>
            </a:r>
            <a:br>
              <a:rPr lang="en-US" dirty="0"/>
            </a:br>
            <a:r>
              <a:rPr lang="en-US" dirty="0"/>
              <a:t>while the one on the right highlights the performance overhead introduced by the abstractions used for computation.</a:t>
            </a:r>
          </a:p>
          <a:p>
            <a:endParaRPr lang="en-US" dirty="0"/>
          </a:p>
          <a:p>
            <a:r>
              <a:rPr lang="en-US" dirty="0"/>
              <a:t>The varying heights of groups of columns in this plot are caused by changes in the algorithm’s performance due to the choice of data structure layouts.</a:t>
            </a:r>
          </a:p>
        </p:txBody>
      </p:sp>
      <p:sp>
        <p:nvSpPr>
          <p:cNvPr id="4" name="Slide Number Placeholder 3">
            <a:extLst>
              <a:ext uri="{FF2B5EF4-FFF2-40B4-BE49-F238E27FC236}">
                <a16:creationId xmlns:a16="http://schemas.microsoft.com/office/drawing/2014/main" id="{ECDBFCA8-23DF-8800-D1EA-B5EF55065B8A}"/>
              </a:ext>
            </a:extLst>
          </p:cNvPr>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1007323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One of the optimization techniques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In follow-up work currently under review, the best-tested configurations using efficient bitwise evaluation were roughly one to two orders of magnitude faster than the byte-per-cell GPU baseline.</a:t>
            </a:r>
          </a:p>
          <a:p>
            <a:endParaRPr lang="en-US" dirty="0"/>
          </a:p>
          <a:p>
            <a:r>
              <a:rPr lang="en-US" dirty="0"/>
              <a:t>This plot shows the possible speedups achieved by different optimization techniques available in our prototype framework on multiple cellular automata.</a:t>
            </a:r>
          </a:p>
          <a:p>
            <a:endParaRPr lang="en-US" dirty="0"/>
          </a:p>
          <a:p>
            <a:r>
              <a:rPr lang="en-US" dirty="0"/>
              <a:t>Bit-packing (storing cells tightly in consecutive bits) alone is not enough. Most of the gain comes from evaluating many cells in parallel using bitwise operations, with further improvement from computing multiple updates simultaneously.</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abstractions for layouts and traversals that simplify user-guided optimization, including parallel CPU and GPU computation, as well as distributed computing. We have used the principles to enable even stronger optimizations in specific domains, such as Cellular Automata.</a:t>
            </a:r>
          </a:p>
          <a:p>
            <a:endParaRPr lang="en-US" dirty="0"/>
          </a:p>
          <a:p>
            <a:r>
              <a:rPr lang="en-US" dirty="0"/>
              <a:t>These abstractions make the developed algorithms easier to write, more flexible to transform, and allow automatic exploration of optimizations.</a:t>
            </a:r>
          </a:p>
          <a:p>
            <a:r>
              <a:rPr lang="en-US" dirty="0"/>
              <a:t>But they cannot express every possible algorithmic redesign.</a:t>
            </a:r>
          </a:p>
          <a:p>
            <a:endParaRPr lang="en-US" dirty="0"/>
          </a:p>
          <a:p>
            <a:r>
              <a:rPr lang="en-US" dirty="0"/>
              <a:t>Reacting to the recent introduction of Large language models to the area of software design, we studied their ability to optimize code as a complementary approach.</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171450" indent="-171450">
              <a:buFontTx/>
              <a:buChar char="-"/>
            </a:pPr>
            <a:r>
              <a:rPr lang="en-US" dirty="0"/>
              <a:t>Histogram computation</a:t>
            </a:r>
          </a:p>
          <a:p>
            <a:pPr marL="171450" indent="-171450">
              <a:buFontTx/>
              <a:buChar char="-"/>
            </a:pPr>
            <a:r>
              <a:rPr lang="en-US" dirty="0"/>
              <a:t>Conway’s Game of Life cellular automaton simulation</a:t>
            </a:r>
          </a:p>
          <a:p>
            <a:pPr marL="171450" indent="-171450">
              <a:buFontTx/>
              <a:buChar char="-"/>
            </a:pPr>
            <a:r>
              <a:rPr lang="en-US" dirty="0"/>
              <a:t>K-Nearest Neighbors search in 2D Euclidean space</a:t>
            </a:r>
          </a:p>
          <a:p>
            <a:pPr marL="171450" indent="-171450">
              <a:buFontTx/>
              <a:buChar char="-"/>
            </a:pPr>
            <a:endParaRPr lang="en-US" dirty="0"/>
          </a:p>
          <a:p>
            <a:pPr marL="0" indent="0">
              <a:buFontTx/>
              <a:buNone/>
            </a:pPr>
            <a:r>
              <a:rPr lang="en-US" dirty="0"/>
              <a:t>The three algorithms represent implementation problems of increasing complexity.</a:t>
            </a:r>
          </a:p>
          <a:p>
            <a:endParaRPr lang="en-US" dirty="0"/>
          </a:p>
          <a:p>
            <a:r>
              <a:rPr lang="en-US" dirty="0"/>
              <a:t>Efficient implementations of these three algorithms require considering more obscure or CUDA-specific features, such as</a:t>
            </a:r>
          </a:p>
          <a:p>
            <a:pPr marL="171450" indent="-171450">
              <a:buFontTx/>
              <a:buChar char="-"/>
            </a:pPr>
            <a:r>
              <a:rPr lang="en-US" dirty="0"/>
              <a:t>Efficient shared memory</a:t>
            </a:r>
          </a:p>
          <a:p>
            <a:pPr marL="171450" indent="-171450">
              <a:buFontTx/>
              <a:buChar char="-"/>
            </a:pPr>
            <a:r>
              <a:rPr lang="en-US" dirty="0"/>
              <a:t>Bit-level vectorization</a:t>
            </a:r>
          </a:p>
          <a:p>
            <a:pPr marL="171450" indent="-171450">
              <a:buFontTx/>
              <a:buChar char="-"/>
            </a:pPr>
            <a:r>
              <a:rPr lang="en-US" dirty="0"/>
              <a:t>Inter-thread communication</a:t>
            </a:r>
          </a:p>
          <a:p>
            <a:pPr marL="171450" indent="-171450">
              <a:buFontTx/>
              <a:buChar char="-"/>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br>
              <a:rPr lang="en-US" dirty="0"/>
            </a:br>
            <a:r>
              <a:rPr lang="en-US" dirty="0"/>
              <a:t>mostly failing due to making mistakes in inter-thread communication and synchronization semantics.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performance measurements of the generated code for the Histogram and Game of Life algorithms.</a:t>
            </a:r>
          </a:p>
          <a:p>
            <a:endParaRPr lang="en-US" dirty="0"/>
          </a:p>
          <a:p>
            <a:r>
              <a:rPr lang="en-US" dirty="0"/>
              <a:t>Both show wall clock times of the runtime on a representative dataset; lower is better.</a:t>
            </a:r>
          </a:p>
          <a:p>
            <a:r>
              <a:rPr lang="en-US" dirty="0"/>
              <a:t>The x-axis of both shows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r>
              <a:rPr lang="en-US" dirty="0"/>
              <a:t>Both have their strengths and weaknesses;</a:t>
            </a:r>
          </a:p>
          <a:p>
            <a:pPr marL="171450" indent="-171450">
              <a:buFontTx/>
              <a:buChar char="-"/>
            </a:pPr>
            <a:r>
              <a:rPr lang="en-US" dirty="0"/>
              <a:t>Reasonable use of abstractions usually leads to interpretable code with some safety checks and guarantees</a:t>
            </a:r>
            <a:br>
              <a:rPr lang="en-US" dirty="0"/>
            </a:br>
            <a:r>
              <a:rPr lang="en-US" dirty="0"/>
              <a:t>ensured by the transformation being applied by a deterministic system,</a:t>
            </a:r>
            <a:br>
              <a:rPr lang="en-US" dirty="0"/>
            </a:br>
            <a:r>
              <a:rPr lang="en-US" dirty="0"/>
              <a:t>while their use may require some learning, and the abstractions may not apply to many problems well.</a:t>
            </a:r>
          </a:p>
          <a:p>
            <a:pPr marL="171450" indent="-171450">
              <a:buFontTx/>
              <a:buChar char="-"/>
            </a:pPr>
            <a:r>
              <a:rPr lang="en-US" dirty="0"/>
              <a:t>LLMs are pretty much unparalleled in the flexibility of their use, and they enable fully automatic solutions that may even</a:t>
            </a:r>
            <a:br>
              <a:rPr lang="en-US" dirty="0"/>
            </a:br>
            <a:r>
              <a:rPr lang="en-US" dirty="0"/>
              <a:t>interface with the user via natural language; on the other hand, they are inherently stochastic, and they may output</a:t>
            </a:r>
            <a:br>
              <a:rPr lang="en-US" dirty="0"/>
            </a:br>
            <a:r>
              <a:rPr lang="en-US" dirty="0"/>
              <a:t>complex and hard-to-analyze code with many hidden bugs.</a:t>
            </a:r>
          </a:p>
          <a:p>
            <a:pPr marL="0" indent="0">
              <a:buFontTx/>
              <a:buNone/>
            </a:pPr>
            <a:endParaRPr lang="en-US" dirty="0"/>
          </a:p>
          <a:p>
            <a:pPr marL="0" indent="0">
              <a:buFontTx/>
              <a:buNone/>
            </a:pPr>
            <a:r>
              <a:rPr lang="en-US" dirty="0"/>
              <a:t>In our next work, we have thus studied a possible combination of these two approaches to see if the abstractions improve</a:t>
            </a:r>
            <a:br>
              <a:rPr lang="en-US" dirty="0"/>
            </a:br>
            <a:r>
              <a:rPr lang="en-US" dirty="0"/>
              <a:t>the performance and correctness of LLM outputs.</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a:t>
            </a:r>
          </a:p>
          <a:p>
            <a:pPr marL="0" indent="0">
              <a:buFontTx/>
              <a:buNone/>
            </a:pPr>
            <a:endParaRPr lang="en-US" dirty="0"/>
          </a:p>
          <a:p>
            <a:pPr marL="0" indent="0">
              <a:buFontTx/>
              <a:buNone/>
            </a:pPr>
            <a:r>
              <a:rPr lang="en-US" dirty="0"/>
              <a:t>In both steps, the prompts were accompanied by official developer guides and custom abstraction-specific hints for the given abstractions</a:t>
            </a:r>
            <a:br>
              <a:rPr lang="en-US" dirty="0"/>
            </a:br>
            <a:r>
              <a:rPr lang="en-US" dirty="0"/>
              <a:t>to give the LLM an understanding of how to use them.</a:t>
            </a:r>
          </a:p>
          <a:p>
            <a:pPr marL="0" indent="0">
              <a:buFontTx/>
              <a:buNone/>
            </a:pPr>
            <a:r>
              <a:rPr lang="en-US" dirty="0"/>
              <a:t>The translation tasks were also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our experiments, we made 5 independent attempts to account for LLM generation stochasticity.</a:t>
            </a:r>
          </a:p>
          <a:p>
            <a:endParaRPr lang="en-US" dirty="0"/>
          </a:p>
          <a:p>
            <a:r>
              <a:rPr lang="en-US" dirty="0"/>
              <a:t>The plot shows the achieved speedup in the first row and the likelihood of observing at least a single valid solution in the second row, both dependent on the number of attempts. (In both cases, </a:t>
            </a:r>
            <a:r>
              <a:rPr lang="en-US"/>
              <a:t>the higher </a:t>
            </a:r>
            <a:r>
              <a:rPr lang="en-US" dirty="0"/>
              <a:t>is better.)</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 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41</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43</a:t>
            </a:fld>
            <a:endParaRPr lang="en-US"/>
          </a:p>
        </p:txBody>
      </p:sp>
    </p:spTree>
    <p:extLst>
      <p:ext uri="{BB962C8B-B14F-4D97-AF65-F5344CB8AC3E}">
        <p14:creationId xmlns:p14="http://schemas.microsoft.com/office/powerpoint/2010/main" val="417912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pPr/>
              <a:t>9/2/2026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pPr/>
              <a:t>‹#›</a:t>
            </a:fld>
            <a:endParaRPr lang="en-US" dirty="0"/>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9/2/2026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9/2/2026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9/2/2026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9/2/2026</a:t>
            </a:fld>
            <a:endParaRPr lang="en-US" dirty="0"/>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9/2/2026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9/2/2026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9/2/2026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9/2/2026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9/2/2026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488578" y="18255"/>
            <a:ext cx="11214844"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488578" y="1343818"/>
            <a:ext cx="11214844" cy="531495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488578" y="6356350"/>
            <a:ext cx="2743200" cy="365125"/>
          </a:xfrm>
          <a:prstGeom prst="rect">
            <a:avLst/>
          </a:prstGeom>
        </p:spPr>
        <p:txBody>
          <a:bodyPr vert="horz" lIns="91440" tIns="45720" rIns="91440" bIns="45720" rtlCol="0" anchor="ctr"/>
          <a:lstStyle>
            <a:lvl1pPr algn="l">
              <a:defRPr sz="2000">
                <a:solidFill>
                  <a:schemeClr val="tx1">
                    <a:tint val="82000"/>
                  </a:schemeClr>
                </a:solidFill>
              </a:defRPr>
            </a:lvl1pPr>
          </a:lstStyle>
          <a:p>
            <a:fld id="{FDEB8912-975C-4DE8-9A59-8B9C133AEEC5}" type="datetime1">
              <a:rPr lang="en-US" smtClean="0"/>
              <a:pPr/>
              <a:t>9/2/2026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9148482" y="6356349"/>
            <a:ext cx="2743200" cy="365125"/>
          </a:xfrm>
          <a:prstGeom prst="rect">
            <a:avLst/>
          </a:prstGeom>
        </p:spPr>
        <p:txBody>
          <a:bodyPr vert="horz" lIns="91440" tIns="45720" rIns="91440" bIns="45720" rtlCol="0" anchor="ctr"/>
          <a:lstStyle>
            <a:lvl1pPr algn="r">
              <a:defRPr sz="2000">
                <a:solidFill>
                  <a:schemeClr val="tx1">
                    <a:tint val="82000"/>
                  </a:schemeClr>
                </a:solidFill>
              </a:defRPr>
            </a:lvl1pPr>
          </a:lstStyle>
          <a:p>
            <a:fld id="{DA0BB241-1B5F-4309-9407-9EEA04D9598D}" type="slidenum">
              <a:rPr lang="en-US" smtClean="0"/>
              <a:pPr/>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8.png"/><Relationship Id="rId18" Type="http://schemas.openxmlformats.org/officeDocument/2006/relationships/image" Target="../media/image23.png"/><Relationship Id="rId3" Type="http://schemas.openxmlformats.org/officeDocument/2006/relationships/notesSlide" Target="../notesSlides/notesSlide4.xml"/><Relationship Id="rId7" Type="http://schemas.openxmlformats.org/officeDocument/2006/relationships/image" Target="../media/image12.png"/><Relationship Id="rId12" Type="http://schemas.openxmlformats.org/officeDocument/2006/relationships/image" Target="../media/image17.png"/><Relationship Id="rId17" Type="http://schemas.openxmlformats.org/officeDocument/2006/relationships/image" Target="../media/image22.png"/><Relationship Id="rId2" Type="http://schemas.openxmlformats.org/officeDocument/2006/relationships/slideLayout" Target="../slideLayouts/slideLayout6.xml"/><Relationship Id="rId16" Type="http://schemas.openxmlformats.org/officeDocument/2006/relationships/image" Target="../media/image21.png"/><Relationship Id="rId20" Type="http://schemas.openxmlformats.org/officeDocument/2006/relationships/image" Target="../media/image25.png"/><Relationship Id="rId1" Type="http://schemas.openxmlformats.org/officeDocument/2006/relationships/tags" Target="../tags/tag2.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5" Type="http://schemas.openxmlformats.org/officeDocument/2006/relationships/image" Target="../media/image20.png"/><Relationship Id="rId10" Type="http://schemas.openxmlformats.org/officeDocument/2006/relationships/image" Target="../media/image15.png"/><Relationship Id="rId19" Type="http://schemas.openxmlformats.org/officeDocument/2006/relationships/image" Target="../media/image24.png"/><Relationship Id="rId4" Type="http://schemas.openxmlformats.org/officeDocument/2006/relationships/image" Target="../media/image4.png"/><Relationship Id="rId9" Type="http://schemas.openxmlformats.org/officeDocument/2006/relationships/image" Target="../media/image14.png"/><Relationship Id="rId14" Type="http://schemas.openxmlformats.org/officeDocument/2006/relationships/image" Target="../media/image19.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 Id="rId5" Type="http://schemas.openxmlformats.org/officeDocument/2006/relationships/image" Target="../media/image27.png"/><Relationship Id="rId4" Type="http://schemas.openxmlformats.org/officeDocument/2006/relationships/image" Target="../media/image2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8.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45.png"/><Relationship Id="rId4" Type="http://schemas.openxmlformats.org/officeDocument/2006/relationships/image" Target="../media/image39.png"/><Relationship Id="rId9" Type="http://schemas.openxmlformats.org/officeDocument/2006/relationships/image" Target="../media/image4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1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53.png"/><Relationship Id="rId4" Type="http://schemas.openxmlformats.org/officeDocument/2006/relationships/image" Target="../media/image52.png"/></Relationships>
</file>

<file path=ppt/slides/_rels/slide1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svg"/><Relationship Id="rId7" Type="http://schemas.openxmlformats.org/officeDocument/2006/relationships/image" Target="../media/image59.sv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58.svg"/><Relationship Id="rId5" Type="http://schemas.openxmlformats.org/officeDocument/2006/relationships/image" Target="../media/image57.svg"/><Relationship Id="rId4" Type="http://schemas.openxmlformats.org/officeDocument/2006/relationships/image" Target="../media/image56.svg"/><Relationship Id="rId9" Type="http://schemas.openxmlformats.org/officeDocument/2006/relationships/image" Target="../media/image6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64.svg"/><Relationship Id="rId2" Type="http://schemas.openxmlformats.org/officeDocument/2006/relationships/notesSlide" Target="../notesSlides/notesSlide19.xml"/><Relationship Id="rId1" Type="http://schemas.openxmlformats.org/officeDocument/2006/relationships/slideLayout" Target="../slideLayouts/slideLayout6.xml"/><Relationship Id="rId5" Type="http://schemas.openxmlformats.org/officeDocument/2006/relationships/image" Target="../media/image66.png"/><Relationship Id="rId4" Type="http://schemas.openxmlformats.org/officeDocument/2006/relationships/image" Target="../media/image65.svg"/></Relationships>
</file>

<file path=ppt/slides/_rels/slide20.xml.rels><?xml version="1.0" encoding="UTF-8" standalone="yes"?>
<Relationships xmlns="http://schemas.openxmlformats.org/package/2006/relationships"><Relationship Id="rId3" Type="http://schemas.openxmlformats.org/officeDocument/2006/relationships/image" Target="../media/image67.gif"/><Relationship Id="rId2" Type="http://schemas.openxmlformats.org/officeDocument/2006/relationships/notesSlide" Target="../notesSlides/notesSlide20.xml"/><Relationship Id="rId1" Type="http://schemas.openxmlformats.org/officeDocument/2006/relationships/slideLayout" Target="../slideLayouts/slideLayout6.xml"/><Relationship Id="rId5" Type="http://schemas.openxmlformats.org/officeDocument/2006/relationships/image" Target="../media/image69.jpeg"/><Relationship Id="rId4" Type="http://schemas.openxmlformats.org/officeDocument/2006/relationships/image" Target="../media/image68.png"/></Relationships>
</file>

<file path=ppt/slides/_rels/slide2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72.sv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25.xml"/><Relationship Id="rId1" Type="http://schemas.openxmlformats.org/officeDocument/2006/relationships/slideLayout" Target="../slideLayouts/slideLayout6.xml"/><Relationship Id="rId5" Type="http://schemas.openxmlformats.org/officeDocument/2006/relationships/image" Target="../media/image74.png"/><Relationship Id="rId4" Type="http://schemas.openxmlformats.org/officeDocument/2006/relationships/image" Target="../media/image67.gif"/></Relationships>
</file>

<file path=ppt/slides/_rels/slide2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76.png"/></Relationships>
</file>

<file path=ppt/slides/_rels/slide27.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78.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86.svg"/><Relationship Id="rId3" Type="http://schemas.openxmlformats.org/officeDocument/2006/relationships/image" Target="../media/image81.svg"/><Relationship Id="rId7" Type="http://schemas.openxmlformats.org/officeDocument/2006/relationships/image" Target="../media/image85.svg"/><Relationship Id="rId2" Type="http://schemas.openxmlformats.org/officeDocument/2006/relationships/notesSlide" Target="../notesSlides/notesSlide32.xml"/><Relationship Id="rId1" Type="http://schemas.openxmlformats.org/officeDocument/2006/relationships/slideLayout" Target="../slideLayouts/slideLayout6.xml"/><Relationship Id="rId6" Type="http://schemas.openxmlformats.org/officeDocument/2006/relationships/image" Target="../media/image84.svg"/><Relationship Id="rId5" Type="http://schemas.openxmlformats.org/officeDocument/2006/relationships/image" Target="../media/image83.svg"/><Relationship Id="rId10" Type="http://schemas.openxmlformats.org/officeDocument/2006/relationships/image" Target="../media/image88.svg"/><Relationship Id="rId4" Type="http://schemas.openxmlformats.org/officeDocument/2006/relationships/image" Target="../media/image82.svg"/><Relationship Id="rId9" Type="http://schemas.openxmlformats.org/officeDocument/2006/relationships/image" Target="../media/image87.svg"/></Relationships>
</file>

<file path=ppt/slides/_rels/slide33.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9/2/2026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Designing efficient HPC algorithms is challenging</a:t>
            </a:r>
          </a:p>
          <a:p>
            <a:r>
              <a:rPr lang="en-US" noProof="0" dirty="0"/>
              <a:t>Rearranging data layouts and loops</a:t>
            </a:r>
          </a:p>
          <a:p>
            <a:pPr lvl="1"/>
            <a:r>
              <a:rPr lang="en-US" b="1" noProof="0" dirty="0"/>
              <a:t>Right memory layouts</a:t>
            </a:r>
            <a:r>
              <a:rPr lang="en-US" noProof="0" dirty="0"/>
              <a:t> and </a:t>
            </a:r>
            <a:r>
              <a:rPr lang="en-US" b="1" noProof="0" dirty="0"/>
              <a:t>traversal orders</a:t>
            </a:r>
            <a:r>
              <a:rPr lang="en-US" noProof="0" dirty="0"/>
              <a:t> </a:t>
            </a:r>
            <a:r>
              <a:rPr lang="en-US" noProof="0" dirty="0">
                <a:sym typeface="Wingdings" panose="05000000000000000000" pitchFamily="2" charset="2"/>
              </a:rPr>
              <a:t> </a:t>
            </a:r>
            <a:r>
              <a:rPr lang="en-US" b="1" noProof="0" dirty="0"/>
              <a:t>speedup</a:t>
            </a:r>
          </a:p>
          <a:p>
            <a:r>
              <a:rPr lang="en-US" noProof="0" dirty="0"/>
              <a:t>Trial-and-error evaluation of many different choices</a:t>
            </a:r>
          </a:p>
          <a:p>
            <a:endParaRPr lang="en-US" noProof="0" dirty="0"/>
          </a:p>
          <a:p>
            <a:r>
              <a:rPr lang="en-US" noProof="0" dirty="0"/>
              <a:t>Decoupling layouts and traversals</a:t>
            </a:r>
          </a:p>
          <a:p>
            <a:r>
              <a:rPr lang="en-US" noProof="0" dirty="0"/>
              <a:t>LLM-guided optimization for broader redesigns</a:t>
            </a:r>
          </a:p>
          <a:p>
            <a:r>
              <a:rPr lang="en-US" noProof="0" dirty="0"/>
              <a:t>Does combining the approaches lead to improvement?</a:t>
            </a:r>
          </a:p>
          <a:p>
            <a:endParaRPr lang="en-US" noProof="0" dirty="0"/>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pic>
        <p:nvPicPr>
          <p:cNvPr id="6" name="Picture 5" descr="Thinking Man PNG Images Transparent Free Download">
            <a:extLst>
              <a:ext uri="{FF2B5EF4-FFF2-40B4-BE49-F238E27FC236}">
                <a16:creationId xmlns:a16="http://schemas.microsoft.com/office/drawing/2014/main" id="{EECB4EAE-D14C-1C42-94B6-34013519EA66}"/>
              </a:ext>
            </a:extLst>
          </p:cNvPr>
          <p:cNvPicPr>
            <a:picLocks noChangeAspect="1"/>
          </p:cNvPicPr>
          <p:nvPr/>
        </p:nvPicPr>
        <p:blipFill>
          <a:blip r:embed="rId4"/>
          <a:stretch>
            <a:fillRect/>
          </a:stretch>
        </p:blipFill>
        <p:spPr>
          <a:xfrm>
            <a:off x="8765493" y="632847"/>
            <a:ext cx="1640006" cy="1640006"/>
          </a:xfrm>
          <a:prstGeom prst="rect">
            <a:avLst/>
          </a:prstGeom>
        </p:spPr>
      </p:pic>
      <p:pic>
        <p:nvPicPr>
          <p:cNvPr id="7" name="Picture 6" descr="Trial and error - Free education icons">
            <a:extLst>
              <a:ext uri="{FF2B5EF4-FFF2-40B4-BE49-F238E27FC236}">
                <a16:creationId xmlns:a16="http://schemas.microsoft.com/office/drawing/2014/main" id="{28071A90-4986-3170-8847-B34F3D13814E}"/>
              </a:ext>
            </a:extLst>
          </p:cNvPr>
          <p:cNvPicPr>
            <a:picLocks noChangeAspect="1"/>
          </p:cNvPicPr>
          <p:nvPr/>
        </p:nvPicPr>
        <p:blipFill>
          <a:blip r:embed="rId5"/>
          <a:stretch>
            <a:fillRect/>
          </a:stretch>
        </p:blipFill>
        <p:spPr>
          <a:xfrm>
            <a:off x="8950655" y="2887445"/>
            <a:ext cx="1269681" cy="1269681"/>
          </a:xfrm>
          <a:prstGeom prst="rect">
            <a:avLst/>
          </a:prstGeom>
        </p:spPr>
      </p:pic>
    </p:spTree>
    <p:custDataLst>
      <p:tags r:id="rId1"/>
    </p:custDataLst>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matrix initialization</a:t>
            </a:r>
          </a:p>
        </p:txBody>
      </p:sp>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2914089" y="4145062"/>
            <a:ext cx="1785102" cy="1774049"/>
          </a:xfrm>
          <a:prstGeom prst="rect">
            <a:avLst/>
          </a:prstGeom>
        </p:spPr>
      </p:pic>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7285278" y="4127242"/>
            <a:ext cx="1796224" cy="1785102"/>
          </a:xfrm>
          <a:prstGeom prst="rect">
            <a:avLst/>
          </a:prstGeom>
        </p:spPr>
      </p:pic>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1932986" y="1596543"/>
                <a:ext cx="8184164" cy="461665"/>
              </a:xfrm>
              <a:prstGeom prst="rect">
                <a:avLst/>
              </a:prstGeom>
              <a:noFill/>
            </p:spPr>
            <p:txBody>
              <a:bodyPr wrap="none" rtlCol="0">
                <a:spAutoFit/>
              </a:bodyPr>
              <a:lstStyle/>
              <a:p>
                <a:pPr algn="ctr"/>
                <a14:m>
                  <m:oMath xmlns:m="http://schemas.openxmlformats.org/officeDocument/2006/math">
                    <m:r>
                      <a:rPr lang="en-US" sz="2400" b="0" i="1" noProof="0" smtClean="0"/>
                      <m:t>𝑚</m:t>
                    </m:r>
                    <m:r>
                      <a:rPr lang="en-US" sz="2400" b="0" i="1" noProof="0" smtClean="0"/>
                      <m:t>×</m:t>
                    </m:r>
                    <m:r>
                      <a:rPr lang="en-US" sz="2400" b="0" i="1" noProof="0" smtClean="0"/>
                      <m:t>𝑛</m:t>
                    </m:r>
                  </m:oMath>
                </a14:m>
                <a:r>
                  <a:rPr lang="en-US" sz="2400" noProof="0" dirty="0"/>
                  <a:t> matrix in row-major and column-major </a:t>
                </a:r>
                <a:r>
                  <a:rPr lang="en-US" sz="2400" i="1" noProof="0" dirty="0"/>
                  <a:t>memory layout</a:t>
                </a:r>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1932986" y="1596543"/>
                <a:ext cx="8184164" cy="461665"/>
              </a:xfrm>
              <a:prstGeom prst="rect">
                <a:avLst/>
              </a:prstGeom>
              <a:blipFill>
                <a:blip r:embed="rId4"/>
                <a:stretch>
                  <a:fillRect t="-10526" r="-745"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2786743" y="2049056"/>
            <a:ext cx="6618514" cy="1330685"/>
          </a:xfrm>
          <a:prstGeom prst="rect">
            <a:avLst/>
          </a:prstGeom>
          <a:noFill/>
          <a:ln>
            <a:solidFill>
              <a:schemeClr val="tx1"/>
            </a:solidFill>
          </a:ln>
        </p:spPr>
        <p:txBody>
          <a:bodyPr wrap="squar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9/2/2026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3196307" y="6015783"/>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097586" y="6008831"/>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2564049" y="6008831"/>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9075941" y="5958712"/>
            <a:ext cx="678392" cy="523220"/>
          </a:xfrm>
          <a:prstGeom prst="rect">
            <a:avLst/>
          </a:prstGeom>
          <a:noFill/>
        </p:spPr>
        <p:txBody>
          <a:bodyPr wrap="none" rtlCol="0">
            <a:spAutoFit/>
          </a:bodyPr>
          <a:lstStyle/>
          <a:p>
            <a:pPr algn="ctr"/>
            <a:r>
              <a:rPr lang="en-US" sz="2800" noProof="0" dirty="0"/>
              <a:t>🐌</a:t>
            </a: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0D8FA95F-2675-1FD6-BC91-3590519E9D21}"/>
                  </a:ext>
                </a:extLst>
              </p:cNvPr>
              <p:cNvSpPr txBox="1"/>
              <p:nvPr/>
            </p:nvSpPr>
            <p:spPr>
              <a:xfrm>
                <a:off x="2469117" y="4801253"/>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p:sp>
            <p:nvSpPr>
              <p:cNvPr id="10" name="TextBox 9">
                <a:extLst>
                  <a:ext uri="{FF2B5EF4-FFF2-40B4-BE49-F238E27FC236}">
                    <a16:creationId xmlns:a16="http://schemas.microsoft.com/office/drawing/2014/main" id="{0D8FA95F-2675-1FD6-BC91-3590519E9D21}"/>
                  </a:ext>
                </a:extLst>
              </p:cNvPr>
              <p:cNvSpPr txBox="1">
                <a:spLocks noRot="1" noChangeAspect="1" noMove="1" noResize="1" noEditPoints="1" noAdjustHandles="1" noChangeArrowheads="1" noChangeShapeType="1" noTextEdit="1"/>
              </p:cNvSpPr>
              <p:nvPr/>
            </p:nvSpPr>
            <p:spPr>
              <a:xfrm>
                <a:off x="2469117" y="4801253"/>
                <a:ext cx="510524"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5D99167C-04A4-F722-8AAD-E9C93817DE28}"/>
                  </a:ext>
                </a:extLst>
              </p:cNvPr>
              <p:cNvSpPr txBox="1"/>
              <p:nvPr/>
            </p:nvSpPr>
            <p:spPr>
              <a:xfrm>
                <a:off x="7947754" y="3627378"/>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13" name="TextBox 12">
                <a:extLst>
                  <a:ext uri="{FF2B5EF4-FFF2-40B4-BE49-F238E27FC236}">
                    <a16:creationId xmlns:a16="http://schemas.microsoft.com/office/drawing/2014/main" id="{5D99167C-04A4-F722-8AAD-E9C93817DE28}"/>
                  </a:ext>
                </a:extLst>
              </p:cNvPr>
              <p:cNvSpPr txBox="1">
                <a:spLocks noRot="1" noChangeAspect="1" noMove="1" noResize="1" noEditPoints="1" noAdjustHandles="1" noChangeArrowheads="1" noChangeShapeType="1" noTextEdit="1"/>
              </p:cNvSpPr>
              <p:nvPr/>
            </p:nvSpPr>
            <p:spPr>
              <a:xfrm>
                <a:off x="7947754" y="3627378"/>
                <a:ext cx="428771"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078A7279-5F01-C120-7112-C7DEE7206658}"/>
                  </a:ext>
                </a:extLst>
              </p:cNvPr>
              <p:cNvSpPr txBox="1"/>
              <p:nvPr/>
            </p:nvSpPr>
            <p:spPr>
              <a:xfrm>
                <a:off x="6842324" y="4788960"/>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p:sp>
            <p:nvSpPr>
              <p:cNvPr id="19" name="TextBox 18">
                <a:extLst>
                  <a:ext uri="{FF2B5EF4-FFF2-40B4-BE49-F238E27FC236}">
                    <a16:creationId xmlns:a16="http://schemas.microsoft.com/office/drawing/2014/main" id="{078A7279-5F01-C120-7112-C7DEE7206658}"/>
                  </a:ext>
                </a:extLst>
              </p:cNvPr>
              <p:cNvSpPr txBox="1">
                <a:spLocks noRot="1" noChangeAspect="1" noMove="1" noResize="1" noEditPoints="1" noAdjustHandles="1" noChangeArrowheads="1" noChangeShapeType="1" noTextEdit="1"/>
              </p:cNvSpPr>
              <p:nvPr/>
            </p:nvSpPr>
            <p:spPr>
              <a:xfrm>
                <a:off x="6842324" y="4788960"/>
                <a:ext cx="510524"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C385C36A-8F48-E47B-7C6E-E9CE50E27705}"/>
                  </a:ext>
                </a:extLst>
              </p:cNvPr>
              <p:cNvSpPr txBox="1"/>
              <p:nvPr/>
            </p:nvSpPr>
            <p:spPr>
              <a:xfrm>
                <a:off x="3585324" y="3674263"/>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23" name="TextBox 22">
                <a:extLst>
                  <a:ext uri="{FF2B5EF4-FFF2-40B4-BE49-F238E27FC236}">
                    <a16:creationId xmlns:a16="http://schemas.microsoft.com/office/drawing/2014/main" id="{C385C36A-8F48-E47B-7C6E-E9CE50E27705}"/>
                  </a:ext>
                </a:extLst>
              </p:cNvPr>
              <p:cNvSpPr txBox="1">
                <a:spLocks noRot="1" noChangeAspect="1" noMove="1" noResize="1" noEditPoints="1" noAdjustHandles="1" noChangeArrowheads="1" noChangeShapeType="1" noTextEdit="1"/>
              </p:cNvSpPr>
              <p:nvPr/>
            </p:nvSpPr>
            <p:spPr>
              <a:xfrm>
                <a:off x="3585324" y="3674263"/>
                <a:ext cx="428771" cy="461665"/>
              </a:xfrm>
              <a:prstGeom prst="rect">
                <a:avLst/>
              </a:prstGeom>
              <a:blipFill>
                <a:blip r:embed="rId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36511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7" grpId="0"/>
      <p:bldP spid="18" grpId="0"/>
      <p:bldP spid="22" grpId="0"/>
      <p:bldP spid="10" grpId="0"/>
      <p:bldP spid="13" grpId="0"/>
      <p:bldP spid="19" grpId="0"/>
      <p:bldP spid="2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311069" y="3151078"/>
            <a:ext cx="1829020" cy="461665"/>
          </a:xfrm>
          <a:prstGeom prst="rect">
            <a:avLst/>
          </a:prstGeom>
          <a:noFill/>
        </p:spPr>
        <p:txBody>
          <a:bodyPr wrap="square" rtlCol="0">
            <a:spAutoFit/>
          </a:bodyPr>
          <a:lstStyle/>
          <a:p>
            <a:pPr algn="ctr"/>
            <a:r>
              <a:rPr lang="en-US" sz="2400" noProof="0" dirty="0"/>
              <a:t>Index space</a:t>
            </a:r>
          </a:p>
        </p:txBody>
      </p:sp>
      <p:cxnSp>
        <p:nvCxnSpPr>
          <p:cNvPr id="7" name="Straight Arrow Connector 6">
            <a:extLst>
              <a:ext uri="{FF2B5EF4-FFF2-40B4-BE49-F238E27FC236}">
                <a16:creationId xmlns:a16="http://schemas.microsoft.com/office/drawing/2014/main" id="{810D43FC-A3D8-FA7F-57C5-AF9023BC6E13}"/>
              </a:ext>
            </a:extLst>
          </p:cNvPr>
          <p:cNvCxnSpPr>
            <a:cxnSpLocks/>
          </p:cNvCxnSpPr>
          <p:nvPr/>
        </p:nvCxnSpPr>
        <p:spPr>
          <a:xfrm flipV="1">
            <a:off x="2965699" y="3622045"/>
            <a:ext cx="1913618" cy="61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474631" y="2942049"/>
            <a:ext cx="3400422" cy="461665"/>
          </a:xfrm>
          <a:prstGeom prst="rect">
            <a:avLst/>
          </a:prstGeom>
          <a:noFill/>
        </p:spPr>
        <p:txBody>
          <a:bodyPr wrap="square" rtlCol="0">
            <a:spAutoFit/>
          </a:bodyPr>
          <a:lstStyle/>
          <a:p>
            <a:r>
              <a:rPr lang="en-US" sz="2400"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2716662" y="5559483"/>
            <a:ext cx="5550828" cy="461665"/>
          </a:xfrm>
          <a:prstGeom prst="rect">
            <a:avLst/>
          </a:prstGeom>
          <a:noFill/>
        </p:spPr>
        <p:txBody>
          <a:bodyPr wrap="square" rtlCol="0">
            <a:spAutoFit/>
          </a:bodyPr>
          <a:lstStyle/>
          <a:p>
            <a:pPr algn="ctr"/>
            <a:r>
              <a:rPr lang="en-US" sz="2400"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4"/>
          <a:stretch>
            <a:fillRect/>
          </a:stretch>
        </p:blipFill>
        <p:spPr>
          <a:xfrm>
            <a:off x="9729605" y="2671868"/>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9/2/2026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2588746" y="1364832"/>
            <a:ext cx="6559615" cy="1330685"/>
          </a:xfrm>
          <a:prstGeom prst="rect">
            <a:avLst/>
          </a:prstGeom>
          <a:noFill/>
          <a:ln>
            <a:solidFill>
              <a:schemeClr val="tx1"/>
            </a:solidFill>
          </a:ln>
        </p:spPr>
        <p:txBody>
          <a:bodyPr wrap="squar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nvCxnSpPr>
        <p:spPr>
          <a:xfrm flipH="1">
            <a:off x="3140089" y="2695517"/>
            <a:ext cx="2728465" cy="6863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46" name="Group 145">
            <a:extLst>
              <a:ext uri="{FF2B5EF4-FFF2-40B4-BE49-F238E27FC236}">
                <a16:creationId xmlns:a16="http://schemas.microsoft.com/office/drawing/2014/main" id="{FB40E9E6-741A-9567-ADCE-7B9773AC03F3}"/>
              </a:ext>
            </a:extLst>
          </p:cNvPr>
          <p:cNvGrpSpPr/>
          <p:nvPr/>
        </p:nvGrpSpPr>
        <p:grpSpPr>
          <a:xfrm>
            <a:off x="1424602" y="3716969"/>
            <a:ext cx="1524000" cy="1142977"/>
            <a:chOff x="1424602" y="3716969"/>
            <a:chExt cx="1524000" cy="1142977"/>
          </a:xfrm>
        </p:grpSpPr>
        <p:sp>
          <p:nvSpPr>
            <p:cNvPr id="38" name="Rectangle 37">
              <a:extLst>
                <a:ext uri="{FF2B5EF4-FFF2-40B4-BE49-F238E27FC236}">
                  <a16:creationId xmlns:a16="http://schemas.microsoft.com/office/drawing/2014/main" id="{60BA42AF-1518-DEC5-1F3C-80A280A7EFA5}"/>
                </a:ext>
              </a:extLst>
            </p:cNvPr>
            <p:cNvSpPr/>
            <p:nvPr/>
          </p:nvSpPr>
          <p:spPr>
            <a:xfrm>
              <a:off x="1805602" y="3716969"/>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39" name="Picture 38">
              <a:extLst>
                <a:ext uri="{FF2B5EF4-FFF2-40B4-BE49-F238E27FC236}">
                  <a16:creationId xmlns:a16="http://schemas.microsoft.com/office/drawing/2014/main" id="{721B85E5-2E00-9054-172B-11BDE4B510E3}"/>
                </a:ext>
              </a:extLst>
            </p:cNvPr>
            <p:cNvPicPr>
              <a:picLocks noChangeAspect="1"/>
            </p:cNvPicPr>
            <p:nvPr/>
          </p:nvPicPr>
          <p:blipFill>
            <a:blip r:embed="rId5"/>
            <a:stretch>
              <a:fillRect/>
            </a:stretch>
          </p:blipFill>
          <p:spPr>
            <a:xfrm>
              <a:off x="1810365" y="3793167"/>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41" name="Rectangle 40">
              <a:extLst>
                <a:ext uri="{FF2B5EF4-FFF2-40B4-BE49-F238E27FC236}">
                  <a16:creationId xmlns:a16="http://schemas.microsoft.com/office/drawing/2014/main" id="{8F77A00D-5F0A-C53C-2E84-7E68D37FB0F9}"/>
                </a:ext>
              </a:extLst>
            </p:cNvPr>
            <p:cNvSpPr/>
            <p:nvPr/>
          </p:nvSpPr>
          <p:spPr>
            <a:xfrm>
              <a:off x="1805602" y="4097961"/>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42" name="Picture 41">
              <a:extLst>
                <a:ext uri="{FF2B5EF4-FFF2-40B4-BE49-F238E27FC236}">
                  <a16:creationId xmlns:a16="http://schemas.microsoft.com/office/drawing/2014/main" id="{162B44C7-C220-13FE-0B31-B9157380C401}"/>
                </a:ext>
              </a:extLst>
            </p:cNvPr>
            <p:cNvPicPr>
              <a:picLocks noChangeAspect="1"/>
            </p:cNvPicPr>
            <p:nvPr/>
          </p:nvPicPr>
          <p:blipFill>
            <a:blip r:embed="rId6"/>
            <a:stretch>
              <a:fillRect/>
            </a:stretch>
          </p:blipFill>
          <p:spPr>
            <a:xfrm>
              <a:off x="1810365" y="4174160"/>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44" name="Rectangle 43">
              <a:extLst>
                <a:ext uri="{FF2B5EF4-FFF2-40B4-BE49-F238E27FC236}">
                  <a16:creationId xmlns:a16="http://schemas.microsoft.com/office/drawing/2014/main" id="{0D40FD5B-4279-D19A-284C-8DD59BE9A1A2}"/>
                </a:ext>
              </a:extLst>
            </p:cNvPr>
            <p:cNvSpPr/>
            <p:nvPr/>
          </p:nvSpPr>
          <p:spPr>
            <a:xfrm>
              <a:off x="2567602" y="4097961"/>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45" name="Picture 44">
              <a:extLst>
                <a:ext uri="{FF2B5EF4-FFF2-40B4-BE49-F238E27FC236}">
                  <a16:creationId xmlns:a16="http://schemas.microsoft.com/office/drawing/2014/main" id="{89E05D9C-0DA3-CD77-0E70-D25122929E19}"/>
                </a:ext>
              </a:extLst>
            </p:cNvPr>
            <p:cNvPicPr>
              <a:picLocks noChangeAspect="1"/>
            </p:cNvPicPr>
            <p:nvPr/>
          </p:nvPicPr>
          <p:blipFill>
            <a:blip r:embed="rId7"/>
            <a:stretch>
              <a:fillRect/>
            </a:stretch>
          </p:blipFill>
          <p:spPr>
            <a:xfrm>
              <a:off x="2572365" y="4174160"/>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47" name="Rectangle 46">
              <a:extLst>
                <a:ext uri="{FF2B5EF4-FFF2-40B4-BE49-F238E27FC236}">
                  <a16:creationId xmlns:a16="http://schemas.microsoft.com/office/drawing/2014/main" id="{1A804295-5464-D6C3-B11B-A116FC622994}"/>
                </a:ext>
              </a:extLst>
            </p:cNvPr>
            <p:cNvSpPr/>
            <p:nvPr/>
          </p:nvSpPr>
          <p:spPr>
            <a:xfrm>
              <a:off x="2186602" y="4097961"/>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48" name="Picture 47">
              <a:extLst>
                <a:ext uri="{FF2B5EF4-FFF2-40B4-BE49-F238E27FC236}">
                  <a16:creationId xmlns:a16="http://schemas.microsoft.com/office/drawing/2014/main" id="{BFB251CE-59DB-56C2-6D95-7217C38E04DC}"/>
                </a:ext>
              </a:extLst>
            </p:cNvPr>
            <p:cNvPicPr>
              <a:picLocks noChangeAspect="1"/>
            </p:cNvPicPr>
            <p:nvPr/>
          </p:nvPicPr>
          <p:blipFill>
            <a:blip r:embed="rId8"/>
            <a:stretch>
              <a:fillRect/>
            </a:stretch>
          </p:blipFill>
          <p:spPr>
            <a:xfrm>
              <a:off x="2191365" y="4174160"/>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50" name="Rectangle 49">
              <a:extLst>
                <a:ext uri="{FF2B5EF4-FFF2-40B4-BE49-F238E27FC236}">
                  <a16:creationId xmlns:a16="http://schemas.microsoft.com/office/drawing/2014/main" id="{0CCC24C4-4808-4F38-F366-D4DDCA9CABFE}"/>
                </a:ext>
              </a:extLst>
            </p:cNvPr>
            <p:cNvSpPr/>
            <p:nvPr/>
          </p:nvSpPr>
          <p:spPr>
            <a:xfrm>
              <a:off x="1424602" y="4097961"/>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51" name="Picture 50">
              <a:extLst>
                <a:ext uri="{FF2B5EF4-FFF2-40B4-BE49-F238E27FC236}">
                  <a16:creationId xmlns:a16="http://schemas.microsoft.com/office/drawing/2014/main" id="{C8A256E7-ADCA-7315-841E-2BB0BCEBA83E}"/>
                </a:ext>
              </a:extLst>
            </p:cNvPr>
            <p:cNvPicPr>
              <a:picLocks noChangeAspect="1"/>
            </p:cNvPicPr>
            <p:nvPr/>
          </p:nvPicPr>
          <p:blipFill>
            <a:blip r:embed="rId9"/>
            <a:stretch>
              <a:fillRect/>
            </a:stretch>
          </p:blipFill>
          <p:spPr>
            <a:xfrm>
              <a:off x="1429365" y="4174160"/>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53" name="Rectangle 52">
              <a:extLst>
                <a:ext uri="{FF2B5EF4-FFF2-40B4-BE49-F238E27FC236}">
                  <a16:creationId xmlns:a16="http://schemas.microsoft.com/office/drawing/2014/main" id="{EF2A6CBC-BCD6-48DC-0CEC-7C2718D2F2D9}"/>
                </a:ext>
              </a:extLst>
            </p:cNvPr>
            <p:cNvSpPr/>
            <p:nvPr/>
          </p:nvSpPr>
          <p:spPr>
            <a:xfrm>
              <a:off x="1424602" y="3716969"/>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54" name="Picture 53">
              <a:extLst>
                <a:ext uri="{FF2B5EF4-FFF2-40B4-BE49-F238E27FC236}">
                  <a16:creationId xmlns:a16="http://schemas.microsoft.com/office/drawing/2014/main" id="{2E27AAFC-4379-5D81-D3E3-F46F235E09CC}"/>
                </a:ext>
              </a:extLst>
            </p:cNvPr>
            <p:cNvPicPr>
              <a:picLocks noChangeAspect="1"/>
            </p:cNvPicPr>
            <p:nvPr/>
          </p:nvPicPr>
          <p:blipFill>
            <a:blip r:embed="rId10"/>
            <a:stretch>
              <a:fillRect/>
            </a:stretch>
          </p:blipFill>
          <p:spPr>
            <a:xfrm>
              <a:off x="1429365" y="3793167"/>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56" name="Rectangle 55">
              <a:extLst>
                <a:ext uri="{FF2B5EF4-FFF2-40B4-BE49-F238E27FC236}">
                  <a16:creationId xmlns:a16="http://schemas.microsoft.com/office/drawing/2014/main" id="{3C549CCF-7BF6-8AF8-0F6C-1AD9581A3F23}"/>
                </a:ext>
              </a:extLst>
            </p:cNvPr>
            <p:cNvSpPr/>
            <p:nvPr/>
          </p:nvSpPr>
          <p:spPr>
            <a:xfrm>
              <a:off x="1424602" y="4478954"/>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57" name="Picture 56">
              <a:extLst>
                <a:ext uri="{FF2B5EF4-FFF2-40B4-BE49-F238E27FC236}">
                  <a16:creationId xmlns:a16="http://schemas.microsoft.com/office/drawing/2014/main" id="{55A3CD26-6778-0801-2023-C975586D7189}"/>
                </a:ext>
              </a:extLst>
            </p:cNvPr>
            <p:cNvPicPr>
              <a:picLocks noChangeAspect="1"/>
            </p:cNvPicPr>
            <p:nvPr/>
          </p:nvPicPr>
          <p:blipFill>
            <a:blip r:embed="rId11"/>
            <a:stretch>
              <a:fillRect/>
            </a:stretch>
          </p:blipFill>
          <p:spPr>
            <a:xfrm>
              <a:off x="1429365" y="4555153"/>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59" name="Rectangle 58">
              <a:extLst>
                <a:ext uri="{FF2B5EF4-FFF2-40B4-BE49-F238E27FC236}">
                  <a16:creationId xmlns:a16="http://schemas.microsoft.com/office/drawing/2014/main" id="{393B6F24-028C-DD9D-A7F9-ED63FC6AB9CE}"/>
                </a:ext>
              </a:extLst>
            </p:cNvPr>
            <p:cNvSpPr/>
            <p:nvPr/>
          </p:nvSpPr>
          <p:spPr>
            <a:xfrm>
              <a:off x="2186602" y="3716969"/>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60" name="Picture 59">
              <a:extLst>
                <a:ext uri="{FF2B5EF4-FFF2-40B4-BE49-F238E27FC236}">
                  <a16:creationId xmlns:a16="http://schemas.microsoft.com/office/drawing/2014/main" id="{C7C10D27-CCA3-E10B-2F42-B5BDED49E5B3}"/>
                </a:ext>
              </a:extLst>
            </p:cNvPr>
            <p:cNvPicPr>
              <a:picLocks noChangeAspect="1"/>
            </p:cNvPicPr>
            <p:nvPr/>
          </p:nvPicPr>
          <p:blipFill>
            <a:blip r:embed="rId12"/>
            <a:stretch>
              <a:fillRect/>
            </a:stretch>
          </p:blipFill>
          <p:spPr>
            <a:xfrm>
              <a:off x="2191365" y="3793167"/>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62" name="Rectangle 61">
              <a:extLst>
                <a:ext uri="{FF2B5EF4-FFF2-40B4-BE49-F238E27FC236}">
                  <a16:creationId xmlns:a16="http://schemas.microsoft.com/office/drawing/2014/main" id="{C4F146ED-DC98-EE10-A006-FCCCB5F2689E}"/>
                </a:ext>
              </a:extLst>
            </p:cNvPr>
            <p:cNvSpPr/>
            <p:nvPr/>
          </p:nvSpPr>
          <p:spPr>
            <a:xfrm>
              <a:off x="2567602" y="3716969"/>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63" name="Picture 62">
              <a:extLst>
                <a:ext uri="{FF2B5EF4-FFF2-40B4-BE49-F238E27FC236}">
                  <a16:creationId xmlns:a16="http://schemas.microsoft.com/office/drawing/2014/main" id="{86B3F33A-0299-A90A-641B-C845F5DB2E2B}"/>
                </a:ext>
              </a:extLst>
            </p:cNvPr>
            <p:cNvPicPr>
              <a:picLocks noChangeAspect="1"/>
            </p:cNvPicPr>
            <p:nvPr/>
          </p:nvPicPr>
          <p:blipFill>
            <a:blip r:embed="rId13"/>
            <a:stretch>
              <a:fillRect/>
            </a:stretch>
          </p:blipFill>
          <p:spPr>
            <a:xfrm>
              <a:off x="2572365" y="3793167"/>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65" name="Rectangle 64">
              <a:extLst>
                <a:ext uri="{FF2B5EF4-FFF2-40B4-BE49-F238E27FC236}">
                  <a16:creationId xmlns:a16="http://schemas.microsoft.com/office/drawing/2014/main" id="{453E93D2-8D1A-077C-9A89-E1D36460EC5B}"/>
                </a:ext>
              </a:extLst>
            </p:cNvPr>
            <p:cNvSpPr/>
            <p:nvPr/>
          </p:nvSpPr>
          <p:spPr>
            <a:xfrm>
              <a:off x="2567602" y="4478954"/>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66" name="Picture 65">
              <a:extLst>
                <a:ext uri="{FF2B5EF4-FFF2-40B4-BE49-F238E27FC236}">
                  <a16:creationId xmlns:a16="http://schemas.microsoft.com/office/drawing/2014/main" id="{B2E57E21-34F8-5F9F-9E50-BEC98658384E}"/>
                </a:ext>
              </a:extLst>
            </p:cNvPr>
            <p:cNvPicPr>
              <a:picLocks noChangeAspect="1"/>
            </p:cNvPicPr>
            <p:nvPr/>
          </p:nvPicPr>
          <p:blipFill>
            <a:blip r:embed="rId14"/>
            <a:stretch>
              <a:fillRect/>
            </a:stretch>
          </p:blipFill>
          <p:spPr>
            <a:xfrm>
              <a:off x="2572365" y="4555153"/>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68" name="Rectangle 67">
              <a:extLst>
                <a:ext uri="{FF2B5EF4-FFF2-40B4-BE49-F238E27FC236}">
                  <a16:creationId xmlns:a16="http://schemas.microsoft.com/office/drawing/2014/main" id="{925BE6C3-506B-9AAB-FBBD-7AB2AC83233B}"/>
                </a:ext>
              </a:extLst>
            </p:cNvPr>
            <p:cNvSpPr/>
            <p:nvPr/>
          </p:nvSpPr>
          <p:spPr>
            <a:xfrm>
              <a:off x="1805602" y="4478954"/>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69" name="Picture 68">
              <a:extLst>
                <a:ext uri="{FF2B5EF4-FFF2-40B4-BE49-F238E27FC236}">
                  <a16:creationId xmlns:a16="http://schemas.microsoft.com/office/drawing/2014/main" id="{C5AF6EA6-D592-DE75-4BF0-6F581F34EFC3}"/>
                </a:ext>
              </a:extLst>
            </p:cNvPr>
            <p:cNvPicPr>
              <a:picLocks noChangeAspect="1"/>
            </p:cNvPicPr>
            <p:nvPr/>
          </p:nvPicPr>
          <p:blipFill>
            <a:blip r:embed="rId15"/>
            <a:stretch>
              <a:fillRect/>
            </a:stretch>
          </p:blipFill>
          <p:spPr>
            <a:xfrm>
              <a:off x="1810365" y="4555153"/>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71" name="Rectangle 70">
              <a:extLst>
                <a:ext uri="{FF2B5EF4-FFF2-40B4-BE49-F238E27FC236}">
                  <a16:creationId xmlns:a16="http://schemas.microsoft.com/office/drawing/2014/main" id="{BB59E621-860F-75EB-3352-EB2D933B13C0}"/>
                </a:ext>
              </a:extLst>
            </p:cNvPr>
            <p:cNvSpPr/>
            <p:nvPr/>
          </p:nvSpPr>
          <p:spPr>
            <a:xfrm>
              <a:off x="2186602" y="4478954"/>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72" name="Picture 71">
              <a:extLst>
                <a:ext uri="{FF2B5EF4-FFF2-40B4-BE49-F238E27FC236}">
                  <a16:creationId xmlns:a16="http://schemas.microsoft.com/office/drawing/2014/main" id="{6ACCD2FE-717C-1242-DD03-D72B7CA85DBE}"/>
                </a:ext>
              </a:extLst>
            </p:cNvPr>
            <p:cNvPicPr>
              <a:picLocks noChangeAspect="1"/>
            </p:cNvPicPr>
            <p:nvPr/>
          </p:nvPicPr>
          <p:blipFill>
            <a:blip r:embed="rId16"/>
            <a:stretch>
              <a:fillRect/>
            </a:stretch>
          </p:blipFill>
          <p:spPr>
            <a:xfrm>
              <a:off x="2191365" y="4555153"/>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grpSp>
      <p:grpSp>
        <p:nvGrpSpPr>
          <p:cNvPr id="147" name="Group 146">
            <a:extLst>
              <a:ext uri="{FF2B5EF4-FFF2-40B4-BE49-F238E27FC236}">
                <a16:creationId xmlns:a16="http://schemas.microsoft.com/office/drawing/2014/main" id="{B4AF7840-89A6-CD92-9692-09B3AB0484BA}"/>
              </a:ext>
            </a:extLst>
          </p:cNvPr>
          <p:cNvGrpSpPr/>
          <p:nvPr/>
        </p:nvGrpSpPr>
        <p:grpSpPr>
          <a:xfrm>
            <a:off x="4879317" y="3482997"/>
            <a:ext cx="4572000" cy="380992"/>
            <a:chOff x="4879317" y="3482997"/>
            <a:chExt cx="4572000" cy="380992"/>
          </a:xfrm>
        </p:grpSpPr>
        <p:sp>
          <p:nvSpPr>
            <p:cNvPr id="74" name="Rectangle 73">
              <a:extLst>
                <a:ext uri="{FF2B5EF4-FFF2-40B4-BE49-F238E27FC236}">
                  <a16:creationId xmlns:a16="http://schemas.microsoft.com/office/drawing/2014/main" id="{C017114C-4B9B-189E-5F4D-E3234F5BF9B4}"/>
                </a:ext>
              </a:extLst>
            </p:cNvPr>
            <p:cNvSpPr/>
            <p:nvPr/>
          </p:nvSpPr>
          <p:spPr>
            <a:xfrm>
              <a:off x="5260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75" name="Picture 74">
              <a:extLst>
                <a:ext uri="{FF2B5EF4-FFF2-40B4-BE49-F238E27FC236}">
                  <a16:creationId xmlns:a16="http://schemas.microsoft.com/office/drawing/2014/main" id="{7446D7D0-9371-E394-B415-0605C97B8DE3}"/>
                </a:ext>
              </a:extLst>
            </p:cNvPr>
            <p:cNvPicPr>
              <a:picLocks noChangeAspect="1"/>
            </p:cNvPicPr>
            <p:nvPr/>
          </p:nvPicPr>
          <p:blipFill>
            <a:blip r:embed="rId5"/>
            <a:stretch>
              <a:fillRect/>
            </a:stretch>
          </p:blipFill>
          <p:spPr>
            <a:xfrm>
              <a:off x="5265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77" name="Rectangle 76">
              <a:extLst>
                <a:ext uri="{FF2B5EF4-FFF2-40B4-BE49-F238E27FC236}">
                  <a16:creationId xmlns:a16="http://schemas.microsoft.com/office/drawing/2014/main" id="{27814029-6F98-4055-439B-51AF0156C7F8}"/>
                </a:ext>
              </a:extLst>
            </p:cNvPr>
            <p:cNvSpPr/>
            <p:nvPr/>
          </p:nvSpPr>
          <p:spPr>
            <a:xfrm>
              <a:off x="6784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78" name="Picture 77">
              <a:extLst>
                <a:ext uri="{FF2B5EF4-FFF2-40B4-BE49-F238E27FC236}">
                  <a16:creationId xmlns:a16="http://schemas.microsoft.com/office/drawing/2014/main" id="{A5E0FAB0-27EB-E8C8-88B9-93737F0E88C8}"/>
                </a:ext>
              </a:extLst>
            </p:cNvPr>
            <p:cNvPicPr>
              <a:picLocks noChangeAspect="1"/>
            </p:cNvPicPr>
            <p:nvPr/>
          </p:nvPicPr>
          <p:blipFill>
            <a:blip r:embed="rId6"/>
            <a:stretch>
              <a:fillRect/>
            </a:stretch>
          </p:blipFill>
          <p:spPr>
            <a:xfrm>
              <a:off x="6789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80" name="Rectangle 79">
              <a:extLst>
                <a:ext uri="{FF2B5EF4-FFF2-40B4-BE49-F238E27FC236}">
                  <a16:creationId xmlns:a16="http://schemas.microsoft.com/office/drawing/2014/main" id="{71500E03-9C84-6DAE-C18B-7C7A249E1704}"/>
                </a:ext>
              </a:extLst>
            </p:cNvPr>
            <p:cNvSpPr/>
            <p:nvPr/>
          </p:nvSpPr>
          <p:spPr>
            <a:xfrm>
              <a:off x="7546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81" name="Picture 80">
              <a:extLst>
                <a:ext uri="{FF2B5EF4-FFF2-40B4-BE49-F238E27FC236}">
                  <a16:creationId xmlns:a16="http://schemas.microsoft.com/office/drawing/2014/main" id="{967311A6-A874-5B30-4CBE-34A2C81BECFD}"/>
                </a:ext>
              </a:extLst>
            </p:cNvPr>
            <p:cNvPicPr>
              <a:picLocks noChangeAspect="1"/>
            </p:cNvPicPr>
            <p:nvPr/>
          </p:nvPicPr>
          <p:blipFill>
            <a:blip r:embed="rId7"/>
            <a:stretch>
              <a:fillRect/>
            </a:stretch>
          </p:blipFill>
          <p:spPr>
            <a:xfrm>
              <a:off x="7551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83" name="Rectangle 82">
              <a:extLst>
                <a:ext uri="{FF2B5EF4-FFF2-40B4-BE49-F238E27FC236}">
                  <a16:creationId xmlns:a16="http://schemas.microsoft.com/office/drawing/2014/main" id="{AE602D09-5476-2D97-3F39-B3301C510D97}"/>
                </a:ext>
              </a:extLst>
            </p:cNvPr>
            <p:cNvSpPr/>
            <p:nvPr/>
          </p:nvSpPr>
          <p:spPr>
            <a:xfrm>
              <a:off x="7165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84" name="Picture 83">
              <a:extLst>
                <a:ext uri="{FF2B5EF4-FFF2-40B4-BE49-F238E27FC236}">
                  <a16:creationId xmlns:a16="http://schemas.microsoft.com/office/drawing/2014/main" id="{5D7C2700-BDEF-0E35-2BBC-95CCB0E6556C}"/>
                </a:ext>
              </a:extLst>
            </p:cNvPr>
            <p:cNvPicPr>
              <a:picLocks noChangeAspect="1"/>
            </p:cNvPicPr>
            <p:nvPr/>
          </p:nvPicPr>
          <p:blipFill>
            <a:blip r:embed="rId8"/>
            <a:stretch>
              <a:fillRect/>
            </a:stretch>
          </p:blipFill>
          <p:spPr>
            <a:xfrm>
              <a:off x="7170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86" name="Rectangle 85">
              <a:extLst>
                <a:ext uri="{FF2B5EF4-FFF2-40B4-BE49-F238E27FC236}">
                  <a16:creationId xmlns:a16="http://schemas.microsoft.com/office/drawing/2014/main" id="{0B4A79BD-970B-69A5-CA89-23BD9BF1219C}"/>
                </a:ext>
              </a:extLst>
            </p:cNvPr>
            <p:cNvSpPr/>
            <p:nvPr/>
          </p:nvSpPr>
          <p:spPr>
            <a:xfrm>
              <a:off x="6403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87" name="Picture 86">
              <a:extLst>
                <a:ext uri="{FF2B5EF4-FFF2-40B4-BE49-F238E27FC236}">
                  <a16:creationId xmlns:a16="http://schemas.microsoft.com/office/drawing/2014/main" id="{1995CD41-7A7C-8584-09A1-544A4EF98B26}"/>
                </a:ext>
              </a:extLst>
            </p:cNvPr>
            <p:cNvPicPr>
              <a:picLocks noChangeAspect="1"/>
            </p:cNvPicPr>
            <p:nvPr/>
          </p:nvPicPr>
          <p:blipFill>
            <a:blip r:embed="rId9"/>
            <a:stretch>
              <a:fillRect/>
            </a:stretch>
          </p:blipFill>
          <p:spPr>
            <a:xfrm>
              <a:off x="6408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89" name="Rectangle 88">
              <a:extLst>
                <a:ext uri="{FF2B5EF4-FFF2-40B4-BE49-F238E27FC236}">
                  <a16:creationId xmlns:a16="http://schemas.microsoft.com/office/drawing/2014/main" id="{FB202CA8-F886-1127-F914-31628CFCD14A}"/>
                </a:ext>
              </a:extLst>
            </p:cNvPr>
            <p:cNvSpPr/>
            <p:nvPr/>
          </p:nvSpPr>
          <p:spPr>
            <a:xfrm>
              <a:off x="4879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90" name="Picture 89">
              <a:extLst>
                <a:ext uri="{FF2B5EF4-FFF2-40B4-BE49-F238E27FC236}">
                  <a16:creationId xmlns:a16="http://schemas.microsoft.com/office/drawing/2014/main" id="{7D4F2FC9-0586-61EA-C12B-BA0106CD42EB}"/>
                </a:ext>
              </a:extLst>
            </p:cNvPr>
            <p:cNvPicPr>
              <a:picLocks noChangeAspect="1"/>
            </p:cNvPicPr>
            <p:nvPr/>
          </p:nvPicPr>
          <p:blipFill>
            <a:blip r:embed="rId10"/>
            <a:stretch>
              <a:fillRect/>
            </a:stretch>
          </p:blipFill>
          <p:spPr>
            <a:xfrm>
              <a:off x="4884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92" name="Rectangle 91">
              <a:extLst>
                <a:ext uri="{FF2B5EF4-FFF2-40B4-BE49-F238E27FC236}">
                  <a16:creationId xmlns:a16="http://schemas.microsoft.com/office/drawing/2014/main" id="{B8977E23-4CDB-1264-F4AD-A71A91BF3890}"/>
                </a:ext>
              </a:extLst>
            </p:cNvPr>
            <p:cNvSpPr/>
            <p:nvPr/>
          </p:nvSpPr>
          <p:spPr>
            <a:xfrm>
              <a:off x="7927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93" name="Picture 92">
              <a:extLst>
                <a:ext uri="{FF2B5EF4-FFF2-40B4-BE49-F238E27FC236}">
                  <a16:creationId xmlns:a16="http://schemas.microsoft.com/office/drawing/2014/main" id="{FF25E454-3AF7-D6B3-53B4-9D1C6571F9B2}"/>
                </a:ext>
              </a:extLst>
            </p:cNvPr>
            <p:cNvPicPr>
              <a:picLocks noChangeAspect="1"/>
            </p:cNvPicPr>
            <p:nvPr/>
          </p:nvPicPr>
          <p:blipFill>
            <a:blip r:embed="rId11"/>
            <a:stretch>
              <a:fillRect/>
            </a:stretch>
          </p:blipFill>
          <p:spPr>
            <a:xfrm>
              <a:off x="7932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95" name="Rectangle 94">
              <a:extLst>
                <a:ext uri="{FF2B5EF4-FFF2-40B4-BE49-F238E27FC236}">
                  <a16:creationId xmlns:a16="http://schemas.microsoft.com/office/drawing/2014/main" id="{70C68701-285E-394C-56CB-B2B925283B76}"/>
                </a:ext>
              </a:extLst>
            </p:cNvPr>
            <p:cNvSpPr/>
            <p:nvPr/>
          </p:nvSpPr>
          <p:spPr>
            <a:xfrm>
              <a:off x="5641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96" name="Picture 95">
              <a:extLst>
                <a:ext uri="{FF2B5EF4-FFF2-40B4-BE49-F238E27FC236}">
                  <a16:creationId xmlns:a16="http://schemas.microsoft.com/office/drawing/2014/main" id="{51B8802B-63CC-3913-5C5E-CBE3CEE5C679}"/>
                </a:ext>
              </a:extLst>
            </p:cNvPr>
            <p:cNvPicPr>
              <a:picLocks noChangeAspect="1"/>
            </p:cNvPicPr>
            <p:nvPr/>
          </p:nvPicPr>
          <p:blipFill>
            <a:blip r:embed="rId12"/>
            <a:stretch>
              <a:fillRect/>
            </a:stretch>
          </p:blipFill>
          <p:spPr>
            <a:xfrm>
              <a:off x="5646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98" name="Rectangle 97">
              <a:extLst>
                <a:ext uri="{FF2B5EF4-FFF2-40B4-BE49-F238E27FC236}">
                  <a16:creationId xmlns:a16="http://schemas.microsoft.com/office/drawing/2014/main" id="{8EA68D86-1A02-EE92-B997-D5D94FEACE08}"/>
                </a:ext>
              </a:extLst>
            </p:cNvPr>
            <p:cNvSpPr/>
            <p:nvPr/>
          </p:nvSpPr>
          <p:spPr>
            <a:xfrm>
              <a:off x="6022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99" name="Picture 98">
              <a:extLst>
                <a:ext uri="{FF2B5EF4-FFF2-40B4-BE49-F238E27FC236}">
                  <a16:creationId xmlns:a16="http://schemas.microsoft.com/office/drawing/2014/main" id="{64568559-844F-FE37-C370-52F0002F10D8}"/>
                </a:ext>
              </a:extLst>
            </p:cNvPr>
            <p:cNvPicPr>
              <a:picLocks noChangeAspect="1"/>
            </p:cNvPicPr>
            <p:nvPr/>
          </p:nvPicPr>
          <p:blipFill>
            <a:blip r:embed="rId13"/>
            <a:stretch>
              <a:fillRect/>
            </a:stretch>
          </p:blipFill>
          <p:spPr>
            <a:xfrm>
              <a:off x="6027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01" name="Rectangle 100">
              <a:extLst>
                <a:ext uri="{FF2B5EF4-FFF2-40B4-BE49-F238E27FC236}">
                  <a16:creationId xmlns:a16="http://schemas.microsoft.com/office/drawing/2014/main" id="{115C4D2C-EE3D-1F7C-B037-189CE77D91F2}"/>
                </a:ext>
              </a:extLst>
            </p:cNvPr>
            <p:cNvSpPr/>
            <p:nvPr/>
          </p:nvSpPr>
          <p:spPr>
            <a:xfrm>
              <a:off x="9070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02" name="Picture 101">
              <a:extLst>
                <a:ext uri="{FF2B5EF4-FFF2-40B4-BE49-F238E27FC236}">
                  <a16:creationId xmlns:a16="http://schemas.microsoft.com/office/drawing/2014/main" id="{6DD0EA55-01E2-5FA2-F59F-40B0A37B93D8}"/>
                </a:ext>
              </a:extLst>
            </p:cNvPr>
            <p:cNvPicPr>
              <a:picLocks noChangeAspect="1"/>
            </p:cNvPicPr>
            <p:nvPr/>
          </p:nvPicPr>
          <p:blipFill>
            <a:blip r:embed="rId14"/>
            <a:stretch>
              <a:fillRect/>
            </a:stretch>
          </p:blipFill>
          <p:spPr>
            <a:xfrm>
              <a:off x="9075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04" name="Rectangle 103">
              <a:extLst>
                <a:ext uri="{FF2B5EF4-FFF2-40B4-BE49-F238E27FC236}">
                  <a16:creationId xmlns:a16="http://schemas.microsoft.com/office/drawing/2014/main" id="{9210E62F-B36D-7DFB-8DF9-AAFF793EABFA}"/>
                </a:ext>
              </a:extLst>
            </p:cNvPr>
            <p:cNvSpPr/>
            <p:nvPr/>
          </p:nvSpPr>
          <p:spPr>
            <a:xfrm>
              <a:off x="8308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05" name="Picture 104">
              <a:extLst>
                <a:ext uri="{FF2B5EF4-FFF2-40B4-BE49-F238E27FC236}">
                  <a16:creationId xmlns:a16="http://schemas.microsoft.com/office/drawing/2014/main" id="{78D74582-2219-078F-47F2-E95A8D6431A5}"/>
                </a:ext>
              </a:extLst>
            </p:cNvPr>
            <p:cNvPicPr>
              <a:picLocks noChangeAspect="1"/>
            </p:cNvPicPr>
            <p:nvPr/>
          </p:nvPicPr>
          <p:blipFill>
            <a:blip r:embed="rId15"/>
            <a:stretch>
              <a:fillRect/>
            </a:stretch>
          </p:blipFill>
          <p:spPr>
            <a:xfrm>
              <a:off x="8313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07" name="Rectangle 106">
              <a:extLst>
                <a:ext uri="{FF2B5EF4-FFF2-40B4-BE49-F238E27FC236}">
                  <a16:creationId xmlns:a16="http://schemas.microsoft.com/office/drawing/2014/main" id="{303D1F9A-13EE-7BB8-84D7-4B3131D55425}"/>
                </a:ext>
              </a:extLst>
            </p:cNvPr>
            <p:cNvSpPr/>
            <p:nvPr/>
          </p:nvSpPr>
          <p:spPr>
            <a:xfrm>
              <a:off x="8689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08" name="Picture 107">
              <a:extLst>
                <a:ext uri="{FF2B5EF4-FFF2-40B4-BE49-F238E27FC236}">
                  <a16:creationId xmlns:a16="http://schemas.microsoft.com/office/drawing/2014/main" id="{9062360C-57ED-C022-5EC7-A12A8005D5CD}"/>
                </a:ext>
              </a:extLst>
            </p:cNvPr>
            <p:cNvPicPr>
              <a:picLocks noChangeAspect="1"/>
            </p:cNvPicPr>
            <p:nvPr/>
          </p:nvPicPr>
          <p:blipFill>
            <a:blip r:embed="rId16"/>
            <a:stretch>
              <a:fillRect/>
            </a:stretch>
          </p:blipFill>
          <p:spPr>
            <a:xfrm>
              <a:off x="8694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grpSp>
      <p:grpSp>
        <p:nvGrpSpPr>
          <p:cNvPr id="148" name="Group 147">
            <a:extLst>
              <a:ext uri="{FF2B5EF4-FFF2-40B4-BE49-F238E27FC236}">
                <a16:creationId xmlns:a16="http://schemas.microsoft.com/office/drawing/2014/main" id="{50CC4D80-4475-6AE7-E2B7-52246548CD46}"/>
              </a:ext>
            </a:extLst>
          </p:cNvPr>
          <p:cNvGrpSpPr/>
          <p:nvPr/>
        </p:nvGrpSpPr>
        <p:grpSpPr>
          <a:xfrm>
            <a:off x="4879317" y="4794565"/>
            <a:ext cx="4572000" cy="380992"/>
            <a:chOff x="4879317" y="4794565"/>
            <a:chExt cx="4572000" cy="380992"/>
          </a:xfrm>
        </p:grpSpPr>
        <p:sp>
          <p:nvSpPr>
            <p:cNvPr id="110" name="Rectangle 109">
              <a:extLst>
                <a:ext uri="{FF2B5EF4-FFF2-40B4-BE49-F238E27FC236}">
                  <a16:creationId xmlns:a16="http://schemas.microsoft.com/office/drawing/2014/main" id="{EFA7F8D3-BAD2-4029-5B48-56B1D9D350CF}"/>
                </a:ext>
              </a:extLst>
            </p:cNvPr>
            <p:cNvSpPr/>
            <p:nvPr/>
          </p:nvSpPr>
          <p:spPr>
            <a:xfrm>
              <a:off x="6022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11" name="Picture 110">
              <a:extLst>
                <a:ext uri="{FF2B5EF4-FFF2-40B4-BE49-F238E27FC236}">
                  <a16:creationId xmlns:a16="http://schemas.microsoft.com/office/drawing/2014/main" id="{C534399D-250E-CAE1-8FC3-5EAA258E8B78}"/>
                </a:ext>
              </a:extLst>
            </p:cNvPr>
            <p:cNvPicPr>
              <a:picLocks noChangeAspect="1"/>
            </p:cNvPicPr>
            <p:nvPr/>
          </p:nvPicPr>
          <p:blipFill>
            <a:blip r:embed="rId5"/>
            <a:stretch>
              <a:fillRect/>
            </a:stretch>
          </p:blipFill>
          <p:spPr>
            <a:xfrm>
              <a:off x="6027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13" name="Rectangle 112">
              <a:extLst>
                <a:ext uri="{FF2B5EF4-FFF2-40B4-BE49-F238E27FC236}">
                  <a16:creationId xmlns:a16="http://schemas.microsoft.com/office/drawing/2014/main" id="{4A3B9DBA-D0CF-5DFF-B1F0-AE25E9B2F115}"/>
                </a:ext>
              </a:extLst>
            </p:cNvPr>
            <p:cNvSpPr/>
            <p:nvPr/>
          </p:nvSpPr>
          <p:spPr>
            <a:xfrm>
              <a:off x="6403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14" name="Picture 113">
              <a:extLst>
                <a:ext uri="{FF2B5EF4-FFF2-40B4-BE49-F238E27FC236}">
                  <a16:creationId xmlns:a16="http://schemas.microsoft.com/office/drawing/2014/main" id="{EFBD2738-E0DE-87AC-D627-E8844382C5FE}"/>
                </a:ext>
              </a:extLst>
            </p:cNvPr>
            <p:cNvPicPr>
              <a:picLocks noChangeAspect="1"/>
            </p:cNvPicPr>
            <p:nvPr/>
          </p:nvPicPr>
          <p:blipFill>
            <a:blip r:embed="rId6"/>
            <a:stretch>
              <a:fillRect/>
            </a:stretch>
          </p:blipFill>
          <p:spPr>
            <a:xfrm>
              <a:off x="6408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16" name="Rectangle 115">
              <a:extLst>
                <a:ext uri="{FF2B5EF4-FFF2-40B4-BE49-F238E27FC236}">
                  <a16:creationId xmlns:a16="http://schemas.microsoft.com/office/drawing/2014/main" id="{FEE21F3C-FCC9-9DDC-352B-5B25C9F7C058}"/>
                </a:ext>
              </a:extLst>
            </p:cNvPr>
            <p:cNvSpPr/>
            <p:nvPr/>
          </p:nvSpPr>
          <p:spPr>
            <a:xfrm>
              <a:off x="8689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17" name="Picture 116">
              <a:extLst>
                <a:ext uri="{FF2B5EF4-FFF2-40B4-BE49-F238E27FC236}">
                  <a16:creationId xmlns:a16="http://schemas.microsoft.com/office/drawing/2014/main" id="{F7F465E9-0529-D63E-4FB6-6636EA296402}"/>
                </a:ext>
              </a:extLst>
            </p:cNvPr>
            <p:cNvPicPr>
              <a:picLocks noChangeAspect="1"/>
            </p:cNvPicPr>
            <p:nvPr/>
          </p:nvPicPr>
          <p:blipFill>
            <a:blip r:embed="rId7"/>
            <a:stretch>
              <a:fillRect/>
            </a:stretch>
          </p:blipFill>
          <p:spPr>
            <a:xfrm>
              <a:off x="8694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19" name="Rectangle 118">
              <a:extLst>
                <a:ext uri="{FF2B5EF4-FFF2-40B4-BE49-F238E27FC236}">
                  <a16:creationId xmlns:a16="http://schemas.microsoft.com/office/drawing/2014/main" id="{94C85911-3B16-FB07-3A45-313E40E40F7B}"/>
                </a:ext>
              </a:extLst>
            </p:cNvPr>
            <p:cNvSpPr/>
            <p:nvPr/>
          </p:nvSpPr>
          <p:spPr>
            <a:xfrm>
              <a:off x="7546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20" name="Picture 119">
              <a:extLst>
                <a:ext uri="{FF2B5EF4-FFF2-40B4-BE49-F238E27FC236}">
                  <a16:creationId xmlns:a16="http://schemas.microsoft.com/office/drawing/2014/main" id="{C88C4A54-1441-DB9C-4C08-C677B58E2DB3}"/>
                </a:ext>
              </a:extLst>
            </p:cNvPr>
            <p:cNvPicPr>
              <a:picLocks noChangeAspect="1"/>
            </p:cNvPicPr>
            <p:nvPr/>
          </p:nvPicPr>
          <p:blipFill>
            <a:blip r:embed="rId8"/>
            <a:stretch>
              <a:fillRect/>
            </a:stretch>
          </p:blipFill>
          <p:spPr>
            <a:xfrm>
              <a:off x="7551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22" name="Rectangle 121">
              <a:extLst>
                <a:ext uri="{FF2B5EF4-FFF2-40B4-BE49-F238E27FC236}">
                  <a16:creationId xmlns:a16="http://schemas.microsoft.com/office/drawing/2014/main" id="{ACDF9B56-E1A5-32D8-0930-92E8E480A0C3}"/>
                </a:ext>
              </a:extLst>
            </p:cNvPr>
            <p:cNvSpPr/>
            <p:nvPr/>
          </p:nvSpPr>
          <p:spPr>
            <a:xfrm>
              <a:off x="5260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23" name="Picture 122">
              <a:extLst>
                <a:ext uri="{FF2B5EF4-FFF2-40B4-BE49-F238E27FC236}">
                  <a16:creationId xmlns:a16="http://schemas.microsoft.com/office/drawing/2014/main" id="{97F61042-3CF3-17DA-E188-54A79DC08D55}"/>
                </a:ext>
              </a:extLst>
            </p:cNvPr>
            <p:cNvPicPr>
              <a:picLocks noChangeAspect="1"/>
            </p:cNvPicPr>
            <p:nvPr/>
          </p:nvPicPr>
          <p:blipFill>
            <a:blip r:embed="rId9"/>
            <a:stretch>
              <a:fillRect/>
            </a:stretch>
          </p:blipFill>
          <p:spPr>
            <a:xfrm>
              <a:off x="5265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25" name="Rectangle 124">
              <a:extLst>
                <a:ext uri="{FF2B5EF4-FFF2-40B4-BE49-F238E27FC236}">
                  <a16:creationId xmlns:a16="http://schemas.microsoft.com/office/drawing/2014/main" id="{BAEB7AAE-6098-D3AE-E50C-860A05F2AF1F}"/>
                </a:ext>
              </a:extLst>
            </p:cNvPr>
            <p:cNvSpPr/>
            <p:nvPr/>
          </p:nvSpPr>
          <p:spPr>
            <a:xfrm>
              <a:off x="4879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26" name="Picture 125">
              <a:extLst>
                <a:ext uri="{FF2B5EF4-FFF2-40B4-BE49-F238E27FC236}">
                  <a16:creationId xmlns:a16="http://schemas.microsoft.com/office/drawing/2014/main" id="{A0E371F5-0D59-0C2B-6B24-307E6E522232}"/>
                </a:ext>
              </a:extLst>
            </p:cNvPr>
            <p:cNvPicPr>
              <a:picLocks noChangeAspect="1"/>
            </p:cNvPicPr>
            <p:nvPr/>
          </p:nvPicPr>
          <p:blipFill>
            <a:blip r:embed="rId10"/>
            <a:stretch>
              <a:fillRect/>
            </a:stretch>
          </p:blipFill>
          <p:spPr>
            <a:xfrm>
              <a:off x="4884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28" name="Rectangle 127">
              <a:extLst>
                <a:ext uri="{FF2B5EF4-FFF2-40B4-BE49-F238E27FC236}">
                  <a16:creationId xmlns:a16="http://schemas.microsoft.com/office/drawing/2014/main" id="{87CDE090-1007-F93C-C94B-F65C05AF7955}"/>
                </a:ext>
              </a:extLst>
            </p:cNvPr>
            <p:cNvSpPr/>
            <p:nvPr/>
          </p:nvSpPr>
          <p:spPr>
            <a:xfrm>
              <a:off x="5641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29" name="Picture 128">
              <a:extLst>
                <a:ext uri="{FF2B5EF4-FFF2-40B4-BE49-F238E27FC236}">
                  <a16:creationId xmlns:a16="http://schemas.microsoft.com/office/drawing/2014/main" id="{D5B3CC37-EF09-2635-E2D4-E54FCB5D266C}"/>
                </a:ext>
              </a:extLst>
            </p:cNvPr>
            <p:cNvPicPr>
              <a:picLocks noChangeAspect="1"/>
            </p:cNvPicPr>
            <p:nvPr/>
          </p:nvPicPr>
          <p:blipFill>
            <a:blip r:embed="rId11"/>
            <a:stretch>
              <a:fillRect/>
            </a:stretch>
          </p:blipFill>
          <p:spPr>
            <a:xfrm>
              <a:off x="5646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31" name="Rectangle 130">
              <a:extLst>
                <a:ext uri="{FF2B5EF4-FFF2-40B4-BE49-F238E27FC236}">
                  <a16:creationId xmlns:a16="http://schemas.microsoft.com/office/drawing/2014/main" id="{B3755AD7-C1D5-2776-A250-35403C2095FC}"/>
                </a:ext>
              </a:extLst>
            </p:cNvPr>
            <p:cNvSpPr/>
            <p:nvPr/>
          </p:nvSpPr>
          <p:spPr>
            <a:xfrm>
              <a:off x="7165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32" name="Picture 131">
              <a:extLst>
                <a:ext uri="{FF2B5EF4-FFF2-40B4-BE49-F238E27FC236}">
                  <a16:creationId xmlns:a16="http://schemas.microsoft.com/office/drawing/2014/main" id="{C8EC1A97-E338-94CC-7E5F-6892FCFC4AC8}"/>
                </a:ext>
              </a:extLst>
            </p:cNvPr>
            <p:cNvPicPr>
              <a:picLocks noChangeAspect="1"/>
            </p:cNvPicPr>
            <p:nvPr/>
          </p:nvPicPr>
          <p:blipFill>
            <a:blip r:embed="rId12"/>
            <a:stretch>
              <a:fillRect/>
            </a:stretch>
          </p:blipFill>
          <p:spPr>
            <a:xfrm>
              <a:off x="7170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34" name="Rectangle 133">
              <a:extLst>
                <a:ext uri="{FF2B5EF4-FFF2-40B4-BE49-F238E27FC236}">
                  <a16:creationId xmlns:a16="http://schemas.microsoft.com/office/drawing/2014/main" id="{22DFEFB8-108D-1A71-4F29-AE6F03A556C2}"/>
                </a:ext>
              </a:extLst>
            </p:cNvPr>
            <p:cNvSpPr/>
            <p:nvPr/>
          </p:nvSpPr>
          <p:spPr>
            <a:xfrm>
              <a:off x="8308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35" name="Picture 134">
              <a:extLst>
                <a:ext uri="{FF2B5EF4-FFF2-40B4-BE49-F238E27FC236}">
                  <a16:creationId xmlns:a16="http://schemas.microsoft.com/office/drawing/2014/main" id="{0C5DE25B-846E-71E6-8099-DED1598D19A0}"/>
                </a:ext>
              </a:extLst>
            </p:cNvPr>
            <p:cNvPicPr>
              <a:picLocks noChangeAspect="1"/>
            </p:cNvPicPr>
            <p:nvPr/>
          </p:nvPicPr>
          <p:blipFill>
            <a:blip r:embed="rId13"/>
            <a:stretch>
              <a:fillRect/>
            </a:stretch>
          </p:blipFill>
          <p:spPr>
            <a:xfrm>
              <a:off x="8313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37" name="Rectangle 136">
              <a:extLst>
                <a:ext uri="{FF2B5EF4-FFF2-40B4-BE49-F238E27FC236}">
                  <a16:creationId xmlns:a16="http://schemas.microsoft.com/office/drawing/2014/main" id="{4B06CD16-5CFF-9783-4142-A79F711C0702}"/>
                </a:ext>
              </a:extLst>
            </p:cNvPr>
            <p:cNvSpPr/>
            <p:nvPr/>
          </p:nvSpPr>
          <p:spPr>
            <a:xfrm>
              <a:off x="9070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38" name="Picture 137">
              <a:extLst>
                <a:ext uri="{FF2B5EF4-FFF2-40B4-BE49-F238E27FC236}">
                  <a16:creationId xmlns:a16="http://schemas.microsoft.com/office/drawing/2014/main" id="{AA74EA65-7F21-9155-B042-04EFE3E9028E}"/>
                </a:ext>
              </a:extLst>
            </p:cNvPr>
            <p:cNvPicPr>
              <a:picLocks noChangeAspect="1"/>
            </p:cNvPicPr>
            <p:nvPr/>
          </p:nvPicPr>
          <p:blipFill>
            <a:blip r:embed="rId14"/>
            <a:stretch>
              <a:fillRect/>
            </a:stretch>
          </p:blipFill>
          <p:spPr>
            <a:xfrm>
              <a:off x="9075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40" name="Rectangle 139">
              <a:extLst>
                <a:ext uri="{FF2B5EF4-FFF2-40B4-BE49-F238E27FC236}">
                  <a16:creationId xmlns:a16="http://schemas.microsoft.com/office/drawing/2014/main" id="{83496A3D-46C3-B602-5DEC-9FF632E19DAA}"/>
                </a:ext>
              </a:extLst>
            </p:cNvPr>
            <p:cNvSpPr/>
            <p:nvPr/>
          </p:nvSpPr>
          <p:spPr>
            <a:xfrm>
              <a:off x="6784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41" name="Picture 140">
              <a:extLst>
                <a:ext uri="{FF2B5EF4-FFF2-40B4-BE49-F238E27FC236}">
                  <a16:creationId xmlns:a16="http://schemas.microsoft.com/office/drawing/2014/main" id="{77F4CED9-5205-B36D-6BEA-812ED8A72638}"/>
                </a:ext>
              </a:extLst>
            </p:cNvPr>
            <p:cNvPicPr>
              <a:picLocks noChangeAspect="1"/>
            </p:cNvPicPr>
            <p:nvPr/>
          </p:nvPicPr>
          <p:blipFill>
            <a:blip r:embed="rId15"/>
            <a:stretch>
              <a:fillRect/>
            </a:stretch>
          </p:blipFill>
          <p:spPr>
            <a:xfrm>
              <a:off x="6789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43" name="Rectangle 142">
              <a:extLst>
                <a:ext uri="{FF2B5EF4-FFF2-40B4-BE49-F238E27FC236}">
                  <a16:creationId xmlns:a16="http://schemas.microsoft.com/office/drawing/2014/main" id="{58279558-BDB0-F4DD-B769-C72E50415C5F}"/>
                </a:ext>
              </a:extLst>
            </p:cNvPr>
            <p:cNvSpPr/>
            <p:nvPr/>
          </p:nvSpPr>
          <p:spPr>
            <a:xfrm>
              <a:off x="7927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44" name="Picture 143">
              <a:extLst>
                <a:ext uri="{FF2B5EF4-FFF2-40B4-BE49-F238E27FC236}">
                  <a16:creationId xmlns:a16="http://schemas.microsoft.com/office/drawing/2014/main" id="{1923DC06-1C6E-B68B-E5FF-94FB3A644604}"/>
                </a:ext>
              </a:extLst>
            </p:cNvPr>
            <p:cNvPicPr>
              <a:picLocks noChangeAspect="1"/>
            </p:cNvPicPr>
            <p:nvPr/>
          </p:nvPicPr>
          <p:blipFill>
            <a:blip r:embed="rId16"/>
            <a:stretch>
              <a:fillRect/>
            </a:stretch>
          </p:blipFill>
          <p:spPr>
            <a:xfrm>
              <a:off x="7932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grpSp>
      <p:cxnSp>
        <p:nvCxnSpPr>
          <p:cNvPr id="27" name="Straight Arrow Connector 26">
            <a:extLst>
              <a:ext uri="{FF2B5EF4-FFF2-40B4-BE49-F238E27FC236}">
                <a16:creationId xmlns:a16="http://schemas.microsoft.com/office/drawing/2014/main" id="{EDD1A278-7C00-DF7C-219E-946088D75D0E}"/>
              </a:ext>
            </a:extLst>
          </p:cNvPr>
          <p:cNvCxnSpPr>
            <a:cxnSpLocks/>
          </p:cNvCxnSpPr>
          <p:nvPr/>
        </p:nvCxnSpPr>
        <p:spPr>
          <a:xfrm>
            <a:off x="2965699" y="4232178"/>
            <a:ext cx="1913618" cy="7263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4"/>
          <a:stretch>
            <a:fillRect/>
          </a:stretch>
        </p:blipFill>
        <p:spPr>
          <a:xfrm rot="16200000" flipH="1">
            <a:off x="9725738" y="4664580"/>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394601" y="1404435"/>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DACE273B-1B57-639E-B0C9-72426A3D7B4A}"/>
                  </a:ext>
                </a:extLst>
              </p:cNvPr>
              <p:cNvSpPr txBox="1"/>
              <p:nvPr/>
            </p:nvSpPr>
            <p:spPr>
              <a:xfrm>
                <a:off x="3401890" y="3389098"/>
                <a:ext cx="1111137"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𝑖</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𝑁</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𝑗</m:t>
                      </m:r>
                    </m:oMath>
                  </m:oMathPara>
                </a14:m>
                <a:endParaRPr lang="en-US" sz="2000" noProof="0" dirty="0"/>
              </a:p>
            </p:txBody>
          </p:sp>
        </mc:Choice>
        <mc:Fallback>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401890" y="3389098"/>
                <a:ext cx="1111137" cy="400110"/>
              </a:xfrm>
              <a:prstGeom prst="rect">
                <a:avLst/>
              </a:prstGeom>
              <a:blipFill>
                <a:blip r:embed="rId17"/>
                <a:stretch>
                  <a:fillRect b="-1212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26F09D1C-16BB-AE1B-D40F-E19B4A196D17}"/>
                  </a:ext>
                </a:extLst>
              </p:cNvPr>
              <p:cNvSpPr txBox="1"/>
              <p:nvPr/>
            </p:nvSpPr>
            <p:spPr>
              <a:xfrm>
                <a:off x="3224937" y="4675622"/>
                <a:ext cx="1141595"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𝑗</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𝑀</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𝑖</m:t>
                      </m:r>
                    </m:oMath>
                  </m:oMathPara>
                </a14:m>
                <a:endParaRPr lang="en-US" sz="2000" noProof="0" dirty="0"/>
              </a:p>
            </p:txBody>
          </p:sp>
        </mc:Choice>
        <mc:Fallback>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224937" y="4675622"/>
                <a:ext cx="1141595" cy="400110"/>
              </a:xfrm>
              <a:prstGeom prst="rect">
                <a:avLst/>
              </a:prstGeom>
              <a:blipFill>
                <a:blip r:embed="rId18"/>
                <a:stretch>
                  <a:fillRect b="-1212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A227FF2-E7C3-F0D8-1548-3FDE957F05DA}"/>
                  </a:ext>
                </a:extLst>
              </p:cNvPr>
              <p:cNvSpPr txBox="1"/>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965434" y="4009497"/>
                <a:ext cx="510524"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E77E5549-724E-7BCC-503A-172F89C27024}"/>
                  </a:ext>
                </a:extLst>
              </p:cNvPr>
              <p:cNvSpPr txBox="1"/>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1991030" y="4782590"/>
                <a:ext cx="428771" cy="461665"/>
              </a:xfrm>
              <a:prstGeom prst="rect">
                <a:avLst/>
              </a:prstGeom>
              <a:blipFill>
                <a:blip r:embed="rId20"/>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653607" y="3913204"/>
            <a:ext cx="1393330" cy="400110"/>
          </a:xfrm>
          <a:prstGeom prst="rect">
            <a:avLst/>
          </a:prstGeom>
          <a:noFill/>
        </p:spPr>
        <p:txBody>
          <a:bodyPr wrap="none" rtlCol="0">
            <a:spAutoFit/>
          </a:bodyPr>
          <a:lstStyle/>
          <a:p>
            <a:pPr algn="ctr"/>
            <a:r>
              <a:rPr lang="en-US" sz="2000" noProof="0"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449224" y="5894684"/>
            <a:ext cx="1802096" cy="400110"/>
          </a:xfrm>
          <a:prstGeom prst="rect">
            <a:avLst/>
          </a:prstGeom>
          <a:noFill/>
        </p:spPr>
        <p:txBody>
          <a:bodyPr wrap="none" rtlCol="0">
            <a:spAutoFit/>
          </a:bodyPr>
          <a:lstStyle/>
          <a:p>
            <a:pPr algn="ctr"/>
            <a:r>
              <a:rPr lang="en-US" sz="2000" noProof="0" dirty="0"/>
              <a:t>Column-major</a:t>
            </a:r>
          </a:p>
        </p:txBody>
      </p:sp>
      <p:sp>
        <p:nvSpPr>
          <p:cNvPr id="149" name="TextBox 148">
            <a:extLst>
              <a:ext uri="{FF2B5EF4-FFF2-40B4-BE49-F238E27FC236}">
                <a16:creationId xmlns:a16="http://schemas.microsoft.com/office/drawing/2014/main" id="{A262744E-E846-9FB3-DA18-535CD46E385E}"/>
              </a:ext>
            </a:extLst>
          </p:cNvPr>
          <p:cNvSpPr txBox="1"/>
          <p:nvPr/>
        </p:nvSpPr>
        <p:spPr>
          <a:xfrm>
            <a:off x="5808498" y="4409098"/>
            <a:ext cx="2794804" cy="400110"/>
          </a:xfrm>
          <a:prstGeom prst="rect">
            <a:avLst/>
          </a:prstGeom>
          <a:noFill/>
        </p:spPr>
        <p:txBody>
          <a:bodyPr wrap="none" rtlCol="0">
            <a:spAutoFit/>
          </a:bodyPr>
          <a:lstStyle/>
          <a:p>
            <a:r>
              <a:rPr lang="en-US" sz="2000" i="1" noProof="0" dirty="0"/>
              <a:t>Another possible layout</a:t>
            </a:r>
          </a:p>
        </p:txBody>
      </p:sp>
    </p:spTree>
    <p:custDataLst>
      <p:tags r:id="rId1"/>
    </p:custDataLst>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4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4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33" grpId="0" animBg="1"/>
      <p:bldP spid="3" grpId="0"/>
      <p:bldP spid="5" grpId="0"/>
      <p:bldP spid="4" grpId="0"/>
      <p:bldP spid="12" grpId="0"/>
      <p:bldP spid="18" grpId="0"/>
      <p:bldP spid="22" grpId="0"/>
      <p:bldP spid="14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nvSpPr>
        <p:spPr>
          <a:xfrm>
            <a:off x="1960456" y="2730603"/>
            <a:ext cx="6459562" cy="1706429"/>
          </a:xfrm>
          <a:prstGeom prst="rect">
            <a:avLst/>
          </a:prstGeom>
          <a:noFill/>
        </p:spPr>
        <p:txBody>
          <a:bodyPr wrap="squar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nvSpPr>
        <p:spPr>
          <a:xfrm>
            <a:off x="5788049" y="3449989"/>
            <a:ext cx="874096" cy="362907"/>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46810C5D-DD0E-9895-8B05-9203DE3C52FC}"/>
              </a:ext>
            </a:extLst>
          </p:cNvPr>
          <p:cNvSpPr/>
          <p:nvPr/>
        </p:nvSpPr>
        <p:spPr>
          <a:xfrm>
            <a:off x="5788049" y="4005531"/>
            <a:ext cx="874096" cy="362907"/>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6993DAE6-53AF-8D78-063C-7D841E5B5C15}"/>
              </a:ext>
            </a:extLst>
          </p:cNvPr>
          <p:cNvSpPr/>
          <p:nvPr/>
        </p:nvSpPr>
        <p:spPr>
          <a:xfrm>
            <a:off x="9777338" y="4037123"/>
            <a:ext cx="1359068" cy="235089"/>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E810BA74-1063-85B3-2324-103E8E900E55}"/>
              </a:ext>
            </a:extLst>
          </p:cNvPr>
          <p:cNvSpPr/>
          <p:nvPr/>
        </p:nvSpPr>
        <p:spPr>
          <a:xfrm>
            <a:off x="5762591" y="2928684"/>
            <a:ext cx="1261396" cy="302651"/>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 (Noarr)</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100544" y="3964137"/>
            <a:ext cx="4241343" cy="400110"/>
          </a:xfrm>
          <a:prstGeom prst="rect">
            <a:avLst/>
          </a:prstGeom>
          <a:noFill/>
        </p:spPr>
        <p:txBody>
          <a:bodyPr wrap="square">
            <a:spAutoFit/>
          </a:bodyPr>
          <a:lstStyle/>
          <a:p>
            <a:r>
              <a:rPr lang="en-US" sz="2000" noProof="0" dirty="0">
                <a:solidFill>
                  <a:srgbClr val="001080"/>
                </a:solidFill>
                <a:latin typeface="Fira Code" panose="020B0809050000020004" pitchFamily="49" charset="0"/>
              </a:rPr>
              <a:t>matrix</a:t>
            </a:r>
            <a:r>
              <a:rPr lang="en-US" sz="2000" noProof="0" dirty="0">
                <a:solidFill>
                  <a:srgbClr val="000000"/>
                </a:solidFill>
                <a:latin typeface="Fira Code" panose="020B0809050000020004" pitchFamily="49" charset="0"/>
              </a:rPr>
              <a:t>[</a:t>
            </a: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4</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2</a:t>
            </a:r>
            <a:r>
              <a:rPr lang="en-US" sz="2000" noProof="0" dirty="0">
                <a:solidFill>
                  <a:srgbClr val="000000"/>
                </a:solidFill>
                <a:latin typeface="Fira Code" panose="020B0809050000020004" pitchFamily="49" charset="0"/>
              </a:rPr>
              <a:t>)]</a:t>
            </a:r>
            <a:endParaRPr lang="en-US" sz="28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7505124" y="3906905"/>
            <a:ext cx="903112" cy="95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ight Brace 17">
            <a:extLst>
              <a:ext uri="{FF2B5EF4-FFF2-40B4-BE49-F238E27FC236}">
                <a16:creationId xmlns:a16="http://schemas.microsoft.com/office/drawing/2014/main" id="{D66E5204-4017-2EAF-4A60-5194514D442A}"/>
              </a:ext>
            </a:extLst>
          </p:cNvPr>
          <p:cNvSpPr/>
          <p:nvPr/>
        </p:nvSpPr>
        <p:spPr>
          <a:xfrm rot="16200000">
            <a:off x="6254587" y="2156360"/>
            <a:ext cx="275785" cy="126139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2937911" y="2154296"/>
            <a:ext cx="6909135" cy="461665"/>
          </a:xfrm>
          <a:prstGeom prst="rect">
            <a:avLst/>
          </a:prstGeom>
          <a:noFill/>
        </p:spPr>
        <p:txBody>
          <a:bodyPr wrap="none" rtlCol="0">
            <a:spAutoFit/>
          </a:bodyPr>
          <a:lstStyle/>
          <a:p>
            <a:r>
              <a:rPr lang="en-US" sz="2400" i="1"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316587" y="5681347"/>
            <a:ext cx="4308138" cy="428707"/>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4870763" y="5666800"/>
            <a:ext cx="6459562" cy="428707"/>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matrix_view</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myBuffer</a:t>
            </a:r>
            <a:r>
              <a:rPr lang="en-US" sz="20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9/2/2026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598974" y="2851618"/>
            <a:ext cx="1249070" cy="1241336"/>
          </a:xfrm>
          <a:prstGeom prst="rect">
            <a:avLst/>
          </a:prstGeom>
        </p:spPr>
      </p:pic>
      <p:sp>
        <p:nvSpPr>
          <p:cNvPr id="4" name="TextBox 3">
            <a:extLst>
              <a:ext uri="{FF2B5EF4-FFF2-40B4-BE49-F238E27FC236}">
                <a16:creationId xmlns:a16="http://schemas.microsoft.com/office/drawing/2014/main" id="{E49BE013-F209-8403-8D5B-F71D68CF5E02}"/>
              </a:ext>
            </a:extLst>
          </p:cNvPr>
          <p:cNvSpPr txBox="1"/>
          <p:nvPr/>
        </p:nvSpPr>
        <p:spPr>
          <a:xfrm>
            <a:off x="7845692" y="5063908"/>
            <a:ext cx="1425509"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630151" y="5063908"/>
            <a:ext cx="1511785"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2000" noProof="0"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503683" y="5048027"/>
            <a:ext cx="381836" cy="369332"/>
          </a:xfrm>
          <a:prstGeom prst="rect">
            <a:avLst/>
          </a:prstGeom>
          <a:noFill/>
        </p:spPr>
        <p:txBody>
          <a:bodyPr wrap="none" rtlCol="0">
            <a:spAutoFit/>
          </a:bodyPr>
          <a:lstStyle/>
          <a:p>
            <a:r>
              <a:rPr lang="en-US" noProof="0"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777883" y="3338823"/>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3"/>
          <a:srcRect b="85346"/>
          <a:stretch>
            <a:fillRect/>
          </a:stretch>
        </p:blipFill>
        <p:spPr>
          <a:xfrm>
            <a:off x="1598974"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3"/>
          <a:srcRect r="86029" b="86573"/>
          <a:stretch>
            <a:fillRect/>
          </a:stretch>
        </p:blipFill>
        <p:spPr>
          <a:xfrm>
            <a:off x="1598974" y="2851546"/>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640756" y="285161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1F2CCB64-480B-94C0-D265-F80677755FCA}"/>
              </a:ext>
            </a:extLst>
          </p:cNvPr>
          <p:cNvSpPr/>
          <p:nvPr/>
        </p:nvSpPr>
        <p:spPr>
          <a:xfrm>
            <a:off x="7610823" y="3369590"/>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TextBox 16">
            <a:extLst>
              <a:ext uri="{FF2B5EF4-FFF2-40B4-BE49-F238E27FC236}">
                <a16:creationId xmlns:a16="http://schemas.microsoft.com/office/drawing/2014/main" id="{14AB64E0-7A98-B19A-964F-1077043B0728}"/>
              </a:ext>
            </a:extLst>
          </p:cNvPr>
          <p:cNvSpPr txBox="1"/>
          <p:nvPr/>
        </p:nvSpPr>
        <p:spPr>
          <a:xfrm rot="401190">
            <a:off x="7599041" y="3595793"/>
            <a:ext cx="996169" cy="400110"/>
          </a:xfrm>
          <a:prstGeom prst="rect">
            <a:avLst/>
          </a:prstGeom>
          <a:noFill/>
        </p:spPr>
        <p:txBody>
          <a:bodyPr wrap="square" rtlCol="0">
            <a:spAutoFit/>
          </a:bodyPr>
          <a:lstStyle/>
          <a:p>
            <a:r>
              <a:rPr lang="en-US" sz="2000" noProof="0" dirty="0"/>
              <a:t>access</a:t>
            </a:r>
          </a:p>
        </p:txBody>
      </p: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0EC39785-C6A5-6402-E99D-0A38D0D1251F}"/>
                  </a:ext>
                </a:extLst>
              </p:cNvPr>
              <p:cNvSpPr txBox="1"/>
              <p:nvPr/>
            </p:nvSpPr>
            <p:spPr>
              <a:xfrm>
                <a:off x="1101183" y="3193698"/>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nvSpPr>
            <p:spPr>
              <a:xfrm>
                <a:off x="1101183" y="3193698"/>
                <a:ext cx="510524"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3C284C3B-1E96-7EDB-FF3B-2FFD924CFC76}"/>
                  </a:ext>
                </a:extLst>
              </p:cNvPr>
              <p:cNvSpPr txBox="1"/>
              <p:nvPr/>
            </p:nvSpPr>
            <p:spPr>
              <a:xfrm>
                <a:off x="2009123" y="2422355"/>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nvSpPr>
            <p:spPr>
              <a:xfrm>
                <a:off x="2009123" y="2422355"/>
                <a:ext cx="428771" cy="461665"/>
              </a:xfrm>
              <a:prstGeom prst="rect">
                <a:avLst/>
              </a:prstGeom>
              <a:blipFill>
                <a:blip r:embed="rId5"/>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AEBC8779-F4FF-3DA2-7279-F475B25C2AB4}"/>
              </a:ext>
            </a:extLst>
          </p:cNvPr>
          <p:cNvSpPr txBox="1"/>
          <p:nvPr/>
        </p:nvSpPr>
        <p:spPr>
          <a:xfrm>
            <a:off x="3473262" y="1174507"/>
            <a:ext cx="5245475" cy="461665"/>
          </a:xfrm>
          <a:prstGeom prst="rect">
            <a:avLst/>
          </a:prstGeom>
          <a:noFill/>
        </p:spPr>
        <p:txBody>
          <a:bodyPr wrap="none" rtlCol="0">
            <a:spAutoFit/>
          </a:bodyPr>
          <a:lstStyle/>
          <a:p>
            <a:r>
              <a:rPr lang="en-US" sz="2400" noProof="0" dirty="0"/>
              <a:t>Native C++ abstraction (via templates)</a:t>
            </a:r>
          </a:p>
        </p:txBody>
      </p:sp>
    </p:spTree>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xit"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8" grpId="0" animBg="1"/>
      <p:bldP spid="19" grpId="0"/>
      <p:bldP spid="21" grpId="0" animBg="1"/>
      <p:bldP spid="28" grpId="0" animBg="1"/>
      <p:bldP spid="4" grpId="0" animBg="1"/>
      <p:bldP spid="13" grpId="0" animBg="1"/>
      <p:bldP spid="32" grpId="0"/>
      <p:bldP spid="33" grpId="0" animBg="1"/>
      <p:bldP spid="27" grpId="0" animBg="1"/>
      <p:bldP spid="31" grpId="0" animBg="1"/>
      <p:bldP spid="17" grpId="0"/>
      <p:bldP spid="15" grpId="0"/>
      <p:bldP spid="2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557028" y="2604917"/>
            <a:ext cx="1353345" cy="300575"/>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252965" y="3148043"/>
            <a:ext cx="6954364" cy="112428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411173" y="5027079"/>
            <a:ext cx="9207632" cy="112428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959229" y="1742602"/>
            <a:ext cx="5503336" cy="112428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j</a:t>
            </a:r>
            <a:r>
              <a:rPr lang="en-US" sz="2000" b="0" noProof="0" dirty="0" err="1">
                <a:solidFill>
                  <a:srgbClr val="000000"/>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endCxn id="12" idx="0"/>
          </p:cNvCxnSpPr>
          <p:nvPr/>
        </p:nvCxnSpPr>
        <p:spPr>
          <a:xfrm>
            <a:off x="6473723" y="2457214"/>
            <a:ext cx="1256424" cy="690829"/>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9/2/2026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637175" y="1343818"/>
            <a:ext cx="6157391" cy="461665"/>
          </a:xfrm>
          <a:prstGeom prst="rect">
            <a:avLst/>
          </a:prstGeom>
          <a:noFill/>
        </p:spPr>
        <p:txBody>
          <a:bodyPr wrap="none" rtlCol="0">
            <a:spAutoFit/>
          </a:bodyPr>
          <a:lstStyle/>
          <a:p>
            <a:pPr algn="ctr"/>
            <a:r>
              <a:rPr lang="en-US" sz="2400"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2322938" y="6089892"/>
            <a:ext cx="6795450" cy="461665"/>
          </a:xfrm>
          <a:prstGeom prst="rect">
            <a:avLst/>
          </a:prstGeom>
          <a:noFill/>
        </p:spPr>
        <p:txBody>
          <a:bodyPr wrap="none" rtlCol="0">
            <a:spAutoFit/>
          </a:bodyPr>
          <a:lstStyle/>
          <a:p>
            <a:pPr algn="ctr"/>
            <a:r>
              <a:rPr lang="en-US" sz="2400" b="1" noProof="0" dirty="0"/>
              <a:t>Copy</a:t>
            </a:r>
            <a:r>
              <a:rPr lang="en-US" sz="2400" noProof="0" dirty="0"/>
              <a:t> to another matrix with the same index space</a:t>
            </a:r>
          </a:p>
        </p:txBody>
      </p:sp>
      <p:sp>
        <p:nvSpPr>
          <p:cNvPr id="5" name="TextBox 4">
            <a:extLst>
              <a:ext uri="{FF2B5EF4-FFF2-40B4-BE49-F238E27FC236}">
                <a16:creationId xmlns:a16="http://schemas.microsoft.com/office/drawing/2014/main" id="{102F209B-F6E7-05CC-AF4B-64FCAFC0D5D7}"/>
              </a:ext>
            </a:extLst>
          </p:cNvPr>
          <p:cNvSpPr txBox="1"/>
          <p:nvPr/>
        </p:nvSpPr>
        <p:spPr>
          <a:xfrm>
            <a:off x="4987793" y="4232113"/>
            <a:ext cx="5484707" cy="461665"/>
          </a:xfrm>
          <a:prstGeom prst="rect">
            <a:avLst/>
          </a:prstGeom>
          <a:noFill/>
        </p:spPr>
        <p:txBody>
          <a:bodyPr wrap="none" rtlCol="0">
            <a:spAutoFit/>
          </a:bodyPr>
          <a:lstStyle/>
          <a:p>
            <a:pPr algn="ctr"/>
            <a:r>
              <a:rPr lang="en-US" sz="2400" b="1" noProof="0" dirty="0"/>
              <a:t>Traversal-agnostic 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10145438" y="2666484"/>
            <a:ext cx="182989" cy="7637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8" name="TextBox 7">
            <a:extLst>
              <a:ext uri="{FF2B5EF4-FFF2-40B4-BE49-F238E27FC236}">
                <a16:creationId xmlns:a16="http://schemas.microsoft.com/office/drawing/2014/main" id="{CF4B3C17-3722-616D-840D-1F144C8A9277}"/>
              </a:ext>
            </a:extLst>
          </p:cNvPr>
          <p:cNvSpPr txBox="1"/>
          <p:nvPr/>
        </p:nvSpPr>
        <p:spPr>
          <a:xfrm>
            <a:off x="8947541" y="2557312"/>
            <a:ext cx="2578782" cy="400110"/>
          </a:xfrm>
          <a:prstGeom prst="rect">
            <a:avLst/>
          </a:prstGeom>
          <a:noFill/>
        </p:spPr>
        <p:txBody>
          <a:bodyPr wrap="square">
            <a:spAutoFit/>
          </a:bodyPr>
          <a:lstStyle/>
          <a:p>
            <a:pPr algn="ct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a:t>
            </a:r>
            <a:r>
              <a:rPr lang="en-US" sz="2000" noProof="0" dirty="0">
                <a:solidFill>
                  <a:srgbClr val="000000"/>
                </a:solidFill>
                <a:latin typeface="Fira Code" panose="020B0809050000020004" pitchFamily="49" charset="0"/>
              </a:rPr>
              <a:t>)</a:t>
            </a:r>
            <a:endParaRPr lang="en-US" sz="2400" noProof="0" dirty="0"/>
          </a:p>
        </p:txBody>
      </p:sp>
    </p:spTree>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nvSpPr>
        <p:spPr>
          <a:xfrm>
            <a:off x="10267829" y="4494662"/>
            <a:ext cx="245269" cy="323451"/>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6" name="Rectangle 45">
            <a:extLst>
              <a:ext uri="{FF2B5EF4-FFF2-40B4-BE49-F238E27FC236}">
                <a16:creationId xmlns:a16="http://schemas.microsoft.com/office/drawing/2014/main" id="{911B9DBE-6587-8382-9E03-37F6BAC2D133}"/>
              </a:ext>
            </a:extLst>
          </p:cNvPr>
          <p:cNvSpPr/>
          <p:nvPr/>
        </p:nvSpPr>
        <p:spPr>
          <a:xfrm>
            <a:off x="10267828" y="5327291"/>
            <a:ext cx="245269" cy="318591"/>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47" name="Rectangle 46">
            <a:extLst>
              <a:ext uri="{FF2B5EF4-FFF2-40B4-BE49-F238E27FC236}">
                <a16:creationId xmlns:a16="http://schemas.microsoft.com/office/drawing/2014/main" id="{68983F2C-1668-52BB-B4F9-C612E7B2F10A}"/>
              </a:ext>
            </a:extLst>
          </p:cNvPr>
          <p:cNvSpPr/>
          <p:nvPr/>
        </p:nvSpPr>
        <p:spPr>
          <a:xfrm>
            <a:off x="10267828" y="4913407"/>
            <a:ext cx="245269" cy="318590"/>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9" name="Rectangle 18">
            <a:extLst>
              <a:ext uri="{FF2B5EF4-FFF2-40B4-BE49-F238E27FC236}">
                <a16:creationId xmlns:a16="http://schemas.microsoft.com/office/drawing/2014/main" id="{B800FBA5-1D37-3DF6-701A-70896D275692}"/>
              </a:ext>
            </a:extLst>
          </p:cNvPr>
          <p:cNvSpPr/>
          <p:nvPr/>
        </p:nvSpPr>
        <p:spPr>
          <a:xfrm>
            <a:off x="4068095" y="5546877"/>
            <a:ext cx="222808" cy="279329"/>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13" name="Rectangle 12">
            <a:extLst>
              <a:ext uri="{FF2B5EF4-FFF2-40B4-BE49-F238E27FC236}">
                <a16:creationId xmlns:a16="http://schemas.microsoft.com/office/drawing/2014/main" id="{666A78F4-88C1-5BB5-A720-F8E1C747C4A4}"/>
              </a:ext>
            </a:extLst>
          </p:cNvPr>
          <p:cNvSpPr/>
          <p:nvPr/>
        </p:nvSpPr>
        <p:spPr>
          <a:xfrm>
            <a:off x="3605646" y="5546877"/>
            <a:ext cx="222808" cy="279329"/>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1" name="Rectangle 10">
            <a:extLst>
              <a:ext uri="{FF2B5EF4-FFF2-40B4-BE49-F238E27FC236}">
                <a16:creationId xmlns:a16="http://schemas.microsoft.com/office/drawing/2014/main" id="{45C6B551-6774-AC99-228E-D1F7AAF62B05}"/>
              </a:ext>
            </a:extLst>
          </p:cNvPr>
          <p:cNvSpPr/>
          <p:nvPr/>
        </p:nvSpPr>
        <p:spPr>
          <a:xfrm>
            <a:off x="3152728" y="5546876"/>
            <a:ext cx="222807" cy="279329"/>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9/2/2026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1243435" y="1130185"/>
            <a:ext cx="2144048" cy="461665"/>
          </a:xfrm>
          <a:prstGeom prst="rect">
            <a:avLst/>
          </a:prstGeom>
          <a:noFill/>
        </p:spPr>
        <p:txBody>
          <a:bodyPr wrap="none" rtlCol="0">
            <a:spAutoFit/>
          </a:bodyPr>
          <a:lstStyle/>
          <a:p>
            <a:pPr algn="ctr"/>
            <a:r>
              <a:rPr lang="en-US" sz="2400" noProof="0" dirty="0"/>
              <a:t>Matrix multiply</a:t>
            </a:r>
          </a:p>
        </p:txBody>
      </p:sp>
      <p:sp>
        <p:nvSpPr>
          <p:cNvPr id="24" name="TextBox 23">
            <a:extLst>
              <a:ext uri="{FF2B5EF4-FFF2-40B4-BE49-F238E27FC236}">
                <a16:creationId xmlns:a16="http://schemas.microsoft.com/office/drawing/2014/main" id="{1D0BC665-A3D5-7187-98DA-94BA7091C22C}"/>
              </a:ext>
            </a:extLst>
          </p:cNvPr>
          <p:cNvSpPr txBox="1"/>
          <p:nvPr/>
        </p:nvSpPr>
        <p:spPr>
          <a:xfrm>
            <a:off x="5462412" y="2355314"/>
            <a:ext cx="6525363" cy="1472070"/>
          </a:xfrm>
          <a:prstGeom prst="rect">
            <a:avLst/>
          </a:prstGeom>
          <a:noFill/>
          <a:ln>
            <a:solidFill>
              <a:schemeClr val="tx1"/>
            </a:solidFill>
          </a:ln>
        </p:spPr>
        <p:txBody>
          <a:bodyPr wrap="square">
            <a:spAutoFit/>
          </a:bodyPr>
          <a:lstStyle/>
          <a:p>
            <a:pPr>
              <a:lnSpc>
                <a:spcPct val="113095"/>
              </a:lnSpc>
            </a:pPr>
            <a:r>
              <a:rPr lang="en-US" sz="2000" noProof="0" dirty="0">
                <a:solidFill>
                  <a:srgbClr val="AF00DB"/>
                </a:solidFill>
                <a:latin typeface="Fira Code" panose="020B0809050000020004" pitchFamily="49" charset="0"/>
              </a:rPr>
              <a:t>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AF00DB"/>
                </a:solidFill>
                <a:effectLst/>
                <a:latin typeface="Fira Code" panose="020B0809050000020004" pitchFamily="49" charset="0"/>
              </a:rPr>
              <a:t>    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5" name="Rectangle 4">
            <a:extLst>
              <a:ext uri="{FF2B5EF4-FFF2-40B4-BE49-F238E27FC236}">
                <a16:creationId xmlns:a16="http://schemas.microsoft.com/office/drawing/2014/main" id="{3C0C66B5-9423-3452-6328-121A7C389203}"/>
              </a:ext>
            </a:extLst>
          </p:cNvPr>
          <p:cNvSpPr/>
          <p:nvPr/>
        </p:nvSpPr>
        <p:spPr>
          <a:xfrm>
            <a:off x="7192643" y="4882343"/>
            <a:ext cx="1364153" cy="256332"/>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7" name="Rectangle 16">
            <a:extLst>
              <a:ext uri="{FF2B5EF4-FFF2-40B4-BE49-F238E27FC236}">
                <a16:creationId xmlns:a16="http://schemas.microsoft.com/office/drawing/2014/main" id="{0E5347DA-3F5A-6C6C-F424-88F41C72727D}"/>
              </a:ext>
            </a:extLst>
          </p:cNvPr>
          <p:cNvSpPr/>
          <p:nvPr/>
        </p:nvSpPr>
        <p:spPr>
          <a:xfrm>
            <a:off x="7192643" y="4540880"/>
            <a:ext cx="1364153" cy="256332"/>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20" name="Rectangle 19">
            <a:extLst>
              <a:ext uri="{FF2B5EF4-FFF2-40B4-BE49-F238E27FC236}">
                <a16:creationId xmlns:a16="http://schemas.microsoft.com/office/drawing/2014/main" id="{8BB2AD3C-93CE-6E6C-6024-6CF36DA40579}"/>
              </a:ext>
            </a:extLst>
          </p:cNvPr>
          <p:cNvSpPr/>
          <p:nvPr/>
        </p:nvSpPr>
        <p:spPr>
          <a:xfrm>
            <a:off x="7192643" y="4193714"/>
            <a:ext cx="1364153" cy="256332"/>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8" name="TextBox 7">
            <a:extLst>
              <a:ext uri="{FF2B5EF4-FFF2-40B4-BE49-F238E27FC236}">
                <a16:creationId xmlns:a16="http://schemas.microsoft.com/office/drawing/2014/main" id="{9E2F7AA6-5F7F-99DE-465E-A4472E5548CB}"/>
              </a:ext>
            </a:extLst>
          </p:cNvPr>
          <p:cNvSpPr txBox="1"/>
          <p:nvPr/>
        </p:nvSpPr>
        <p:spPr>
          <a:xfrm>
            <a:off x="1565505" y="4089155"/>
            <a:ext cx="8291159" cy="251543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267F99"/>
                </a:solidFill>
                <a:effectLst/>
                <a:latin typeface="Fira Code" panose="020B0809050000020004" pitchFamily="49" charset="0"/>
              </a:rPr>
              <a:t>scalar</a:t>
            </a:r>
            <a:r>
              <a:rPr lang="en-US" sz="2000" b="0" noProof="0" dirty="0">
                <a:solidFill>
                  <a:srgbClr val="000000"/>
                </a:solidFill>
                <a:effectLst/>
                <a:latin typeface="Fira Code" panose="020B0809050000020004" pitchFamily="49" charset="0"/>
              </a:rPr>
              <a:t>&lt;</a:t>
            </a:r>
            <a:r>
              <a:rPr lang="en-US" sz="2000" b="0" noProof="0" dirty="0">
                <a:solidFill>
                  <a:srgbClr val="0000FF"/>
                </a:solidFill>
                <a:effectLst/>
                <a:latin typeface="Fira Code" panose="020B0809050000020004" pitchFamily="49" charset="0"/>
              </a:rPr>
              <a:t>float</a:t>
            </a:r>
            <a:r>
              <a:rPr lang="en-US" sz="2000" b="0" noProof="0" dirty="0">
                <a:solidFill>
                  <a:srgbClr val="000000"/>
                </a:solidFill>
                <a:effectLst/>
                <a:latin typeface="Fira Code" panose="020B0809050000020004" pitchFamily="49" charset="0"/>
              </a:rPr>
              <a:t>&gt;()</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vectors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k'</a:t>
            </a:r>
            <a:r>
              <a:rPr lang="en-US" sz="2000" b="0" noProof="0" dirty="0" err="1">
                <a:solidFill>
                  <a:srgbClr val="000000"/>
                </a:solidFill>
                <a:effectLst/>
                <a:latin typeface="Fira Code" panose="020B0809050000020004" pitchFamily="49" charset="0"/>
              </a:rPr>
              <a:t>,</a:t>
            </a:r>
            <a:r>
              <a:rPr lang="en-US" sz="2000" noProof="0" dirty="0" err="1">
                <a:solidFill>
                  <a:srgbClr val="A31515"/>
                </a:solidFill>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267F99"/>
                </a:solidFill>
                <a:effectLst/>
                <a:latin typeface="Fira Code" panose="020B0809050000020004" pitchFamily="49" charset="0"/>
              </a:rPr>
              <a:t>scalar</a:t>
            </a:r>
            <a:r>
              <a:rPr lang="en-US" sz="2000" b="0" noProof="0" dirty="0">
                <a:solidFill>
                  <a:srgbClr val="000000"/>
                </a:solidFill>
                <a:effectLst/>
                <a:latin typeface="Fira Code" panose="020B0809050000020004" pitchFamily="49" charset="0"/>
              </a:rPr>
              <a:t>&lt;</a:t>
            </a:r>
            <a:r>
              <a:rPr lang="en-US" sz="2000" b="0" noProof="0" dirty="0">
                <a:solidFill>
                  <a:srgbClr val="0000FF"/>
                </a:solidFill>
                <a:effectLst/>
                <a:latin typeface="Fira Code" panose="020B0809050000020004" pitchFamily="49" charset="0"/>
              </a:rPr>
              <a:t>float</a:t>
            </a:r>
            <a:r>
              <a:rPr lang="en-US" sz="2000" b="0" noProof="0" dirty="0">
                <a:solidFill>
                  <a:srgbClr val="000000"/>
                </a:solidFill>
                <a:effectLst/>
                <a:latin typeface="Fira Code" panose="020B0809050000020004" pitchFamily="49" charset="0"/>
              </a:rPr>
              <a:t>&gt;()</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vectors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'k</a:t>
            </a:r>
            <a:r>
              <a:rPr lang="en-US" sz="2000" noProof="0" dirty="0">
                <a:solidFill>
                  <a:srgbClr val="A31515"/>
                </a:solidFill>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pPr>
            <a:r>
              <a:rPr lang="en-US" sz="2000" noProof="0" dirty="0">
                <a:solidFill>
                  <a:srgbClr val="267F99"/>
                </a:solidFill>
                <a:latin typeface="Fira Code" panose="020B0809050000020004" pitchFamily="49" charset="0"/>
              </a:rPr>
              <a:t>auto</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C</a:t>
            </a:r>
            <a:r>
              <a:rPr lang="en-US" sz="10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1000" noProof="0" dirty="0">
                <a:solidFill>
                  <a:srgbClr val="000000"/>
                </a:solidFill>
                <a:latin typeface="Fira Code" panose="020B0809050000020004" pitchFamily="49" charset="0"/>
              </a:rPr>
              <a:t> </a:t>
            </a:r>
            <a:r>
              <a:rPr lang="en-US" sz="2000" noProof="0" dirty="0">
                <a:solidFill>
                  <a:srgbClr val="795E26"/>
                </a:solidFill>
                <a:latin typeface="Fira Code" panose="020B0809050000020004" pitchFamily="49" charset="0"/>
              </a:rPr>
              <a:t>bag</a:t>
            </a:r>
            <a:r>
              <a:rPr lang="en-US" sz="2000" noProof="0" dirty="0">
                <a:solidFill>
                  <a:srgbClr val="000000"/>
                </a:solidFill>
                <a:latin typeface="Fira Code" panose="020B0809050000020004" pitchFamily="49" charset="0"/>
              </a:rPr>
              <a:t>(</a:t>
            </a:r>
            <a:r>
              <a:rPr lang="en-US" sz="2000" noProof="0" dirty="0">
                <a:solidFill>
                  <a:srgbClr val="267F99"/>
                </a:solidFill>
                <a:latin typeface="Fira Code" panose="020B0809050000020004" pitchFamily="49" charset="0"/>
              </a:rPr>
              <a:t>scalar</a:t>
            </a:r>
            <a:r>
              <a:rPr lang="en-US" sz="2000" noProof="0" dirty="0">
                <a:solidFill>
                  <a:srgbClr val="000000"/>
                </a:solidFill>
                <a:latin typeface="Fira Code" panose="020B0809050000020004" pitchFamily="49" charset="0"/>
              </a:rPr>
              <a:t>&lt;</a:t>
            </a:r>
            <a:r>
              <a:rPr lang="en-US" sz="2000" noProof="0" dirty="0">
                <a:solidFill>
                  <a:srgbClr val="0000FF"/>
                </a:solidFill>
                <a:latin typeface="Fira Code" panose="020B0809050000020004" pitchFamily="49" charset="0"/>
              </a:rPr>
              <a:t>float</a:t>
            </a:r>
            <a:r>
              <a:rPr lang="en-US" sz="2000" noProof="0" dirty="0">
                <a:solidFill>
                  <a:srgbClr val="000000"/>
                </a:solidFill>
                <a:latin typeface="Fira Code" panose="020B0809050000020004" pitchFamily="49" charset="0"/>
              </a:rPr>
              <a:t>&gt;()</a:t>
            </a:r>
            <a:r>
              <a:rPr lang="en-US" sz="10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1000" noProof="0" dirty="0">
                <a:solidFill>
                  <a:srgbClr val="000000"/>
                </a:solidFill>
                <a:latin typeface="Fira Code" panose="020B0809050000020004" pitchFamily="49" charset="0"/>
              </a:rPr>
              <a:t> </a:t>
            </a:r>
            <a:r>
              <a:rPr lang="en-US" sz="2000" noProof="0" dirty="0">
                <a:solidFill>
                  <a:srgbClr val="795E26"/>
                </a:solidFill>
                <a:latin typeface="Fira Code" panose="020B0809050000020004" pitchFamily="49" charset="0"/>
              </a:rPr>
              <a:t>vectors</a:t>
            </a:r>
            <a:r>
              <a:rPr lang="en-US" sz="600" noProof="0" dirty="0">
                <a:solidFill>
                  <a:srgbClr val="795E26"/>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a:t>
            </a:r>
            <a:r>
              <a:rPr lang="en-US" sz="1000" noProof="0" dirty="0">
                <a:solidFill>
                  <a:srgbClr val="000000"/>
                </a:solidFill>
                <a:latin typeface="Fira Code" panose="020B0809050000020004" pitchFamily="49" charset="0"/>
              </a:rPr>
              <a:t> </a:t>
            </a:r>
            <a:r>
              <a:rPr lang="en-US" sz="2000" noProof="0" dirty="0">
                <a:solidFill>
                  <a:srgbClr val="0070C1"/>
                </a:solidFill>
                <a:latin typeface="Fira Code" panose="020B0809050000020004" pitchFamily="49" charset="0"/>
              </a:rPr>
              <a:t>M</a:t>
            </a:r>
            <a:r>
              <a:rPr lang="en-US" sz="2000" noProof="0" dirty="0">
                <a:solidFill>
                  <a:srgbClr val="000000"/>
                </a:solidFill>
                <a:latin typeface="Fira Code" panose="020B0809050000020004" pitchFamily="49" charset="0"/>
              </a:rPr>
              <a:t>));</a:t>
            </a:r>
          </a:p>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25" name="Rectangle 24">
            <a:extLst>
              <a:ext uri="{FF2B5EF4-FFF2-40B4-BE49-F238E27FC236}">
                <a16:creationId xmlns:a16="http://schemas.microsoft.com/office/drawing/2014/main" id="{4F2AFE62-17DB-A9EC-26C5-71728919926D}"/>
              </a:ext>
            </a:extLst>
          </p:cNvPr>
          <p:cNvSpPr/>
          <p:nvPr/>
        </p:nvSpPr>
        <p:spPr>
          <a:xfrm>
            <a:off x="2641591" y="4143314"/>
            <a:ext cx="7126173" cy="1047946"/>
          </a:xfrm>
          <a:prstGeom prst="rect">
            <a:avLst/>
          </a:prstGeom>
          <a:solidFill>
            <a:srgbClr val="FFFFF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328569" y="1596409"/>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mc:Choice xmlns:a14="http://schemas.microsoft.com/office/drawing/2010/main" Requires="a14">
              <p:sp>
                <p:nvSpPr>
                  <p:cNvPr id="161" name="TextBox 160">
                    <a:extLst>
                      <a:ext uri="{FF2B5EF4-FFF2-40B4-BE49-F238E27FC236}">
                        <a16:creationId xmlns:a16="http://schemas.microsoft.com/office/drawing/2014/main" id="{94B9DE91-798F-3576-FF89-4137D488236A}"/>
                      </a:ext>
                    </a:extLst>
                  </p:cNvPr>
                  <p:cNvSpPr txBox="1"/>
                  <p:nvPr/>
                </p:nvSpPr>
                <p:spPr>
                  <a:xfrm>
                    <a:off x="1676547" y="2678668"/>
                    <a:ext cx="422427"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422427" cy="54574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3" name="TextBox 162">
                    <a:extLst>
                      <a:ext uri="{FF2B5EF4-FFF2-40B4-BE49-F238E27FC236}">
                        <a16:creationId xmlns:a16="http://schemas.microsoft.com/office/drawing/2014/main" id="{487A942B-4524-AA56-6066-2AFB97633CDD}"/>
                      </a:ext>
                    </a:extLst>
                  </p:cNvPr>
                  <p:cNvSpPr txBox="1"/>
                  <p:nvPr/>
                </p:nvSpPr>
                <p:spPr>
                  <a:xfrm>
                    <a:off x="3486727" y="2678668"/>
                    <a:ext cx="586414"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586414" cy="545745"/>
                  </a:xfrm>
                  <a:prstGeom prst="rect">
                    <a:avLst/>
                  </a:prstGeom>
                  <a:blipFill>
                    <a:blip r:embed="rId4"/>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mc:Choice xmlns:a14="http://schemas.microsoft.com/office/drawing/2010/main"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10"/>
                    <a:stretch>
                      <a:fillRect/>
                    </a:stretch>
                  </a:blipFill>
                </p:spPr>
                <p:txBody>
                  <a:bodyPr/>
                  <a:lstStyle/>
                  <a:p>
                    <a:r>
                      <a:rPr lang="en-US">
                        <a:noFill/>
                      </a:rPr>
                      <a:t> </a:t>
                    </a:r>
                  </a:p>
                </p:txBody>
              </p:sp>
            </mc:Fallback>
          </mc:AlternateContent>
        </p:grpSp>
      </p:grpSp>
      <mc:AlternateContent xmlns:mc="http://schemas.openxmlformats.org/markup-compatibility/2006">
        <mc:Choice xmlns:a14="http://schemas.microsoft.com/office/drawing/2010/main" Requires="a14">
          <p:sp>
            <p:nvSpPr>
              <p:cNvPr id="183" name="TextBox 182">
                <a:extLst>
                  <a:ext uri="{FF2B5EF4-FFF2-40B4-BE49-F238E27FC236}">
                    <a16:creationId xmlns:a16="http://schemas.microsoft.com/office/drawing/2014/main" id="{D0D73947-8818-5717-38FC-7ECD4EA12641}"/>
                  </a:ext>
                </a:extLst>
              </p:cNvPr>
              <p:cNvSpPr txBox="1"/>
              <p:nvPr/>
            </p:nvSpPr>
            <p:spPr>
              <a:xfrm>
                <a:off x="7610717" y="1125777"/>
                <a:ext cx="2228751" cy="958083"/>
              </a:xfrm>
              <a:prstGeom prst="rect">
                <a:avLst/>
              </a:prstGeom>
              <a:noFill/>
              <a:ln>
                <a:solidFill>
                  <a:schemeClr val="tx1"/>
                </a:solidFill>
              </a:ln>
            </p:spPr>
            <p:txBody>
              <a:bodyPr wrap="none" rtlCol="0">
                <a:spAutoFit/>
              </a:bodyPr>
              <a:lstStyle/>
              <a:p>
                <a:pPr/>
                <a14:m>
                  <m:oMathPara xmlns:m="http://schemas.openxmlformats.org/officeDocument/2006/math">
                    <m:oMath>
                      <m:sSub>
                        <m:sSubPr>
                          <m:ctrlPr>
                            <a:rPr lang="en-US" sz="2000" b="0" i="1" noProof="0" smtClean="0">
                              <a:latin typeface="Cambria Math" panose="02040503050406030204" pitchFamily="18" charset="0"/>
                            </a:rPr>
                          </m:ctrlPr>
                        </m:sSubPr>
                        <m:e>
                          <m:r>
                            <a:rPr lang="en-US" sz="2000" b="0" i="1" noProof="0" smtClean="0">
                              <a:latin typeface="Cambria Math" panose="02040503050406030204" pitchFamily="18" charset="0"/>
                            </a:rPr>
                            <m:t>𝐶</m:t>
                          </m:r>
                        </m:e>
                        <m:sub>
                          <m:r>
                            <a:rPr lang="en-US" sz="2000" b="0" i="1" noProof="0" smtClean="0">
                              <a:latin typeface="Cambria Math" panose="02040503050406030204" pitchFamily="18" charset="0"/>
                            </a:rPr>
                            <m:t>𝑖𝑗</m:t>
                          </m:r>
                        </m:sub>
                      </m:sSub>
                      <m:r>
                        <a:rPr lang="en-US" sz="2000" b="0" i="1" noProof="0" smtClean="0">
                          <a:latin typeface="Cambria Math" panose="02040503050406030204" pitchFamily="18" charset="0"/>
                        </a:rPr>
                        <m:t>=</m:t>
                      </m:r>
                      <m:nary>
                        <m:naryPr>
                          <m:chr m:val="∑"/>
                          <m:ctrlPr>
                            <a:rPr lang="en-US" sz="2000" b="0" i="1" noProof="0" smtClean="0">
                              <a:latin typeface="Cambria Math" panose="02040503050406030204" pitchFamily="18" charset="0"/>
                            </a:rPr>
                          </m:ctrlPr>
                        </m:naryPr>
                        <m:sub>
                          <m:r>
                            <m:rPr>
                              <m:brk m:alnAt="23"/>
                            </m:rPr>
                            <a:rPr lang="en-US" sz="2000" b="0" i="1" noProof="0" smtClean="0">
                              <a:latin typeface="Cambria Math" panose="02040503050406030204" pitchFamily="18" charset="0"/>
                            </a:rPr>
                            <m:t>𝑘</m:t>
                          </m:r>
                          <m:r>
                            <m:rPr>
                              <m:brk m:alnAt="23"/>
                            </m:rPr>
                            <a:rPr lang="en-US" sz="2000" b="0" i="1" noProof="0" smtClean="0">
                              <a:latin typeface="Cambria Math" panose="02040503050406030204" pitchFamily="18" charset="0"/>
                            </a:rPr>
                            <m:t>=</m:t>
                          </m:r>
                          <m:r>
                            <m:rPr>
                              <m:brk m:alnAt="23"/>
                            </m:rPr>
                            <a:rPr lang="en-US" sz="2000" b="0" i="1" noProof="0" smtClean="0">
                              <a:latin typeface="Cambria Math" panose="02040503050406030204" pitchFamily="18" charset="0"/>
                            </a:rPr>
                            <m:t>0</m:t>
                          </m:r>
                        </m:sub>
                        <m:sup>
                          <m:r>
                            <a:rPr lang="en-US" sz="2000" b="0" i="1" noProof="0" smtClean="0">
                              <a:latin typeface="Cambria Math" panose="02040503050406030204" pitchFamily="18" charset="0"/>
                            </a:rPr>
                            <m:t>𝐾</m:t>
                          </m:r>
                          <m:r>
                            <a:rPr lang="en-US" sz="2000" b="0" i="1" noProof="0" smtClean="0">
                              <a:latin typeface="Cambria Math" panose="02040503050406030204" pitchFamily="18" charset="0"/>
                            </a:rPr>
                            <m:t>−1</m:t>
                          </m:r>
                        </m:sup>
                        <m:e>
                          <m:sSub>
                            <m:sSubPr>
                              <m:ctrlPr>
                                <a:rPr lang="en-US" sz="2000" b="0" i="1" noProof="0" smtClean="0">
                                  <a:latin typeface="Cambria Math" panose="02040503050406030204" pitchFamily="18" charset="0"/>
                                </a:rPr>
                              </m:ctrlPr>
                            </m:sSubPr>
                            <m:e>
                              <m:r>
                                <a:rPr lang="en-US" sz="2000" b="0" i="1" noProof="0" smtClean="0">
                                  <a:latin typeface="Cambria Math" panose="02040503050406030204" pitchFamily="18" charset="0"/>
                                </a:rPr>
                                <m:t>𝐴</m:t>
                              </m:r>
                            </m:e>
                            <m:sub>
                              <m:r>
                                <a:rPr lang="en-US" sz="2000" b="0" i="1" noProof="0" smtClean="0">
                                  <a:latin typeface="Cambria Math" panose="02040503050406030204" pitchFamily="18" charset="0"/>
                                </a:rPr>
                                <m:t>𝑖𝑘</m:t>
                              </m:r>
                            </m:sub>
                          </m:sSub>
                          <m:r>
                            <a:rPr lang="en-US" sz="2000" b="0" i="1" noProof="0" smtClean="0">
                              <a:latin typeface="Cambria Math" panose="02040503050406030204" pitchFamily="18" charset="0"/>
                            </a:rPr>
                            <m:t>⋅</m:t>
                          </m:r>
                          <m:sSub>
                            <m:sSubPr>
                              <m:ctrlPr>
                                <a:rPr lang="en-US" sz="2000" b="0" i="1" noProof="0" smtClean="0">
                                  <a:latin typeface="Cambria Math" panose="02040503050406030204" pitchFamily="18" charset="0"/>
                                </a:rPr>
                              </m:ctrlPr>
                            </m:sSubPr>
                            <m:e>
                              <m:r>
                                <a:rPr lang="en-US" sz="2000" b="0" i="1" noProof="0" smtClean="0">
                                  <a:latin typeface="Cambria Math" panose="02040503050406030204" pitchFamily="18" charset="0"/>
                                </a:rPr>
                                <m:t>𝐵</m:t>
                              </m:r>
                            </m:e>
                            <m:sub>
                              <m:r>
                                <a:rPr lang="en-US" sz="2000" b="0" i="1" noProof="0" smtClean="0">
                                  <a:latin typeface="Cambria Math" panose="02040503050406030204" pitchFamily="18" charset="0"/>
                                </a:rPr>
                                <m:t>𝑘𝑗</m:t>
                              </m:r>
                            </m:sub>
                          </m:sSub>
                        </m:e>
                      </m:nary>
                    </m:oMath>
                  </m:oMathPara>
                </a14:m>
                <a:endParaRPr lang="en-US" sz="2000" noProof="0" dirty="0"/>
              </a:p>
            </p:txBody>
          </p:sp>
        </mc:Choice>
        <mc:Fallback>
          <p:sp>
            <p:nvSpPr>
              <p:cNvPr id="183" name="TextBox 182">
                <a:extLst>
                  <a:ext uri="{FF2B5EF4-FFF2-40B4-BE49-F238E27FC236}">
                    <a16:creationId xmlns:a16="http://schemas.microsoft.com/office/drawing/2014/main" id="{D0D73947-8818-5717-38FC-7ECD4EA12641}"/>
                  </a:ext>
                </a:extLst>
              </p:cNvPr>
              <p:cNvSpPr txBox="1">
                <a:spLocks noRot="1" noChangeAspect="1" noMove="1" noResize="1" noEditPoints="1" noAdjustHandles="1" noChangeArrowheads="1" noChangeShapeType="1" noTextEdit="1"/>
              </p:cNvSpPr>
              <p:nvPr/>
            </p:nvSpPr>
            <p:spPr>
              <a:xfrm>
                <a:off x="7610717" y="1125777"/>
                <a:ext cx="2228751" cy="958083"/>
              </a:xfrm>
              <a:prstGeom prst="rect">
                <a:avLst/>
              </a:prstGeom>
              <a:blipFill>
                <a:blip r:embed="rId11"/>
                <a:stretch>
                  <a:fillRect/>
                </a:stretch>
              </a:blipFill>
              <a:ln>
                <a:solidFill>
                  <a:schemeClr val="tx1"/>
                </a:solidFill>
              </a:ln>
            </p:spPr>
            <p:txBody>
              <a:bodyPr/>
              <a:lstStyle/>
              <a:p>
                <a:r>
                  <a:rPr lang="en-US">
                    <a:noFill/>
                  </a:rPr>
                  <a:t> </a:t>
                </a:r>
              </a:p>
            </p:txBody>
          </p:sp>
        </mc:Fallback>
      </mc:AlternateContent>
      <p:cxnSp>
        <p:nvCxnSpPr>
          <p:cNvPr id="185" name="Connector: Curved 184">
            <a:extLst>
              <a:ext uri="{FF2B5EF4-FFF2-40B4-BE49-F238E27FC236}">
                <a16:creationId xmlns:a16="http://schemas.microsoft.com/office/drawing/2014/main" id="{031BA854-8E73-CD70-3923-773D229C8EE1}"/>
              </a:ext>
            </a:extLst>
          </p:cNvPr>
          <p:cNvCxnSpPr>
            <a:cxnSpLocks/>
            <a:stCxn id="183" idx="2"/>
            <a:endCxn id="24" idx="0"/>
          </p:cNvCxnSpPr>
          <p:nvPr/>
        </p:nvCxnSpPr>
        <p:spPr>
          <a:xfrm rot="16200000" flipH="1">
            <a:off x="8589366" y="2219586"/>
            <a:ext cx="271454" cy="1"/>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7087205" y="2451265"/>
            <a:ext cx="261771" cy="3014009"/>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1F67E973-44FE-CE64-80EC-471D1B6AA36F}"/>
                  </a:ext>
                </a:extLst>
              </p:cNvPr>
              <p:cNvSpPr txBox="1"/>
              <p:nvPr/>
            </p:nvSpPr>
            <p:spPr>
              <a:xfrm>
                <a:off x="10194804" y="4399369"/>
                <a:ext cx="1508618" cy="1384995"/>
              </a:xfrm>
              <a:prstGeom prst="rect">
                <a:avLst/>
              </a:prstGeom>
              <a:noFill/>
            </p:spPr>
            <p:txBody>
              <a:bodyPr wrap="none" rtlCol="0">
                <a:spAutoFit/>
              </a:bodyPr>
              <a:lstStyle/>
              <a:p>
                <a:r>
                  <a:rPr lang="en-US" sz="2800" noProof="0" dirty="0">
                    <a:solidFill>
                      <a:srgbClr val="001080"/>
                    </a:solidFill>
                    <a:latin typeface="Fira Code" panose="020B0809050000020004" pitchFamily="49" charset="0"/>
                  </a:rPr>
                  <a:t>A</a:t>
                </a:r>
                <a:r>
                  <a:rPr lang="en-US" sz="2800" noProof="0" dirty="0"/>
                  <a:t>: </a:t>
                </a:r>
                <a14:m>
                  <m:oMath xmlns:m="http://schemas.openxmlformats.org/officeDocument/2006/math">
                    <m:r>
                      <a:rPr lang="en-US" sz="2800" b="0" i="1" noProof="0" smtClean="0"/>
                      <m:t>𝑚</m:t>
                    </m:r>
                    <m:r>
                      <a:rPr lang="en-US" sz="2800" b="0" i="1" noProof="0" smtClean="0"/>
                      <m:t>×</m:t>
                    </m:r>
                    <m:r>
                      <a:rPr lang="en-US" sz="2800" b="0" i="1" noProof="0" smtClean="0"/>
                      <m:t>𝑘</m:t>
                    </m:r>
                  </m:oMath>
                </a14:m>
                <a:endParaRPr lang="en-US" sz="2800" b="0" noProof="0" dirty="0"/>
              </a:p>
              <a:p>
                <a:r>
                  <a:rPr lang="en-US" sz="2800" noProof="0" dirty="0">
                    <a:solidFill>
                      <a:srgbClr val="001080"/>
                    </a:solidFill>
                    <a:latin typeface="Fira Code" panose="020B0809050000020004" pitchFamily="49" charset="0"/>
                  </a:rPr>
                  <a:t>B</a:t>
                </a:r>
                <a:r>
                  <a:rPr lang="en-US" sz="2800" noProof="0" dirty="0"/>
                  <a:t>: </a:t>
                </a:r>
                <a14:m>
                  <m:oMath xmlns:m="http://schemas.openxmlformats.org/officeDocument/2006/math">
                    <m:r>
                      <m:rPr>
                        <m:sty m:val="p"/>
                      </m:rPr>
                      <a:rPr lang="en-US" sz="2800" noProof="0"/>
                      <m:t>k</m:t>
                    </m:r>
                    <m:r>
                      <a:rPr lang="en-US" sz="2800" i="1" noProof="0"/>
                      <m:t>×</m:t>
                    </m:r>
                    <m:r>
                      <a:rPr lang="en-US" sz="2800" i="1" noProof="0"/>
                      <m:t>𝑛</m:t>
                    </m:r>
                  </m:oMath>
                </a14:m>
                <a:endParaRPr lang="en-US" sz="2800" noProof="0" dirty="0"/>
              </a:p>
              <a:p>
                <a:r>
                  <a:rPr lang="en-US" sz="2800" noProof="0" dirty="0">
                    <a:solidFill>
                      <a:srgbClr val="001080"/>
                    </a:solidFill>
                    <a:latin typeface="Fira Code" panose="020B0809050000020004" pitchFamily="49" charset="0"/>
                  </a:rPr>
                  <a:t>C</a:t>
                </a:r>
                <a:r>
                  <a:rPr lang="en-US" sz="2800" noProof="0" dirty="0"/>
                  <a:t>: </a:t>
                </a:r>
                <a14:m>
                  <m:oMath xmlns:m="http://schemas.openxmlformats.org/officeDocument/2006/math">
                    <m:r>
                      <a:rPr lang="en-US" sz="2800" i="1" noProof="0"/>
                      <m:t>𝑚</m:t>
                    </m:r>
                    <m:r>
                      <a:rPr lang="en-US" sz="2800" i="1" noProof="0"/>
                      <m:t>×</m:t>
                    </m:r>
                    <m:r>
                      <a:rPr lang="en-US" sz="2800" i="1" noProof="0"/>
                      <m:t>𝑛</m:t>
                    </m:r>
                  </m:oMath>
                </a14:m>
                <a:endParaRPr lang="en-US" sz="2800" noProof="0" dirty="0"/>
              </a:p>
            </p:txBody>
          </p:sp>
        </mc:Choice>
        <mc:Fallback>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nvSpPr>
            <p:spPr>
              <a:xfrm>
                <a:off x="10194804" y="4399369"/>
                <a:ext cx="1508618" cy="1384995"/>
              </a:xfrm>
              <a:prstGeom prst="rect">
                <a:avLst/>
              </a:prstGeom>
              <a:blipFill>
                <a:blip r:embed="rId12"/>
                <a:stretch>
                  <a:fillRect l="-8065" t="-5286" b="-11454"/>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nvSpPr>
        <p:spPr>
          <a:xfrm>
            <a:off x="10642171" y="4477987"/>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1" name="Oval 50">
            <a:extLst>
              <a:ext uri="{FF2B5EF4-FFF2-40B4-BE49-F238E27FC236}">
                <a16:creationId xmlns:a16="http://schemas.microsoft.com/office/drawing/2014/main" id="{F2118018-0BAA-9CA8-C6F1-FC0D7AF4E40D}"/>
              </a:ext>
            </a:extLst>
          </p:cNvPr>
          <p:cNvSpPr/>
          <p:nvPr/>
        </p:nvSpPr>
        <p:spPr>
          <a:xfrm>
            <a:off x="11284681" y="4477987"/>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Oval 52">
            <a:extLst>
              <a:ext uri="{FF2B5EF4-FFF2-40B4-BE49-F238E27FC236}">
                <a16:creationId xmlns:a16="http://schemas.microsoft.com/office/drawing/2014/main" id="{1FA30D08-7546-1C19-C43C-639429F560C8}"/>
              </a:ext>
            </a:extLst>
          </p:cNvPr>
          <p:cNvSpPr/>
          <p:nvPr/>
        </p:nvSpPr>
        <p:spPr>
          <a:xfrm>
            <a:off x="11183081" y="4921614"/>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5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19" grpId="0" animBg="1"/>
      <p:bldP spid="13" grpId="0" animBg="1"/>
      <p:bldP spid="11" grpId="0" animBg="1"/>
      <p:bldP spid="24" grpId="0" animBg="1"/>
      <p:bldP spid="5" grpId="0" animBg="1"/>
      <p:bldP spid="17" grpId="0" animBg="1"/>
      <p:bldP spid="20" grpId="0" animBg="1"/>
      <p:bldP spid="8" grpId="0" animBg="1"/>
      <p:bldP spid="25" grpId="0" animBg="1"/>
      <p:bldP spid="44" grpId="0"/>
      <p:bldP spid="49" grpId="0" animBg="1"/>
      <p:bldP spid="51" grpId="0" animBg="1"/>
      <p:bldP spid="5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1B06-775C-3A79-A24D-CBA423531276}"/>
            </a:ext>
          </a:extLst>
        </p:cNvPr>
        <p:cNvGrpSpPr/>
        <p:nvPr/>
      </p:nvGrpSpPr>
      <p:grpSpPr>
        <a:xfrm>
          <a:off x="0" y="0"/>
          <a:ext cx="0" cy="0"/>
          <a:chOff x="0" y="0"/>
          <a:chExt cx="0" cy="0"/>
        </a:xfrm>
      </p:grpSpPr>
      <p:grpSp>
        <p:nvGrpSpPr>
          <p:cNvPr id="85" name="Group 84">
            <a:extLst>
              <a:ext uri="{FF2B5EF4-FFF2-40B4-BE49-F238E27FC236}">
                <a16:creationId xmlns:a16="http://schemas.microsoft.com/office/drawing/2014/main" id="{4D087898-5A6D-E4B9-2541-608728A090D8}"/>
              </a:ext>
            </a:extLst>
          </p:cNvPr>
          <p:cNvGrpSpPr/>
          <p:nvPr/>
        </p:nvGrpSpPr>
        <p:grpSpPr>
          <a:xfrm>
            <a:off x="3976409" y="4724706"/>
            <a:ext cx="4022551" cy="1848358"/>
            <a:chOff x="4018020" y="4013380"/>
            <a:chExt cx="4022551" cy="1848358"/>
          </a:xfrm>
        </p:grpSpPr>
        <p:grpSp>
          <p:nvGrpSpPr>
            <p:cNvPr id="2" name="Group 1">
              <a:extLst>
                <a:ext uri="{FF2B5EF4-FFF2-40B4-BE49-F238E27FC236}">
                  <a16:creationId xmlns:a16="http://schemas.microsoft.com/office/drawing/2014/main" id="{8530CF8B-DFD8-AEF9-83EF-2C0BA908A157}"/>
                </a:ext>
              </a:extLst>
            </p:cNvPr>
            <p:cNvGrpSpPr/>
            <p:nvPr/>
          </p:nvGrpSpPr>
          <p:grpSpPr>
            <a:xfrm>
              <a:off x="4018020" y="4013380"/>
              <a:ext cx="4022551" cy="1848358"/>
              <a:chOff x="1086921" y="1846567"/>
              <a:chExt cx="4022551" cy="1848358"/>
            </a:xfrm>
          </p:grpSpPr>
          <p:sp>
            <p:nvSpPr>
              <p:cNvPr id="5" name="Rectangle 4">
                <a:extLst>
                  <a:ext uri="{FF2B5EF4-FFF2-40B4-BE49-F238E27FC236}">
                    <a16:creationId xmlns:a16="http://schemas.microsoft.com/office/drawing/2014/main" id="{6AFDD0BC-16EC-6AFC-3238-92A545CEF3AB}"/>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3" name="Group 12">
                <a:extLst>
                  <a:ext uri="{FF2B5EF4-FFF2-40B4-BE49-F238E27FC236}">
                    <a16:creationId xmlns:a16="http://schemas.microsoft.com/office/drawing/2014/main" id="{A4218266-FFDC-C285-F59C-65BDFBF9D205}"/>
                  </a:ext>
                </a:extLst>
              </p:cNvPr>
              <p:cNvGrpSpPr/>
              <p:nvPr/>
            </p:nvGrpSpPr>
            <p:grpSpPr>
              <a:xfrm>
                <a:off x="1086921" y="1846567"/>
                <a:ext cx="3975249" cy="1848358"/>
                <a:chOff x="11255" y="1643056"/>
                <a:chExt cx="5422196" cy="2521139"/>
              </a:xfrm>
            </p:grpSpPr>
            <p:grpSp>
              <p:nvGrpSpPr>
                <p:cNvPr id="16" name="Group 15">
                  <a:extLst>
                    <a:ext uri="{FF2B5EF4-FFF2-40B4-BE49-F238E27FC236}">
                      <a16:creationId xmlns:a16="http://schemas.microsoft.com/office/drawing/2014/main" id="{D3F61D01-231E-EE17-297A-54C1CC0C9047}"/>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B2D3CB05-E42E-6402-61F9-7B184E6B1228}"/>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69" name="Rectangle 68">
                    <a:extLst>
                      <a:ext uri="{FF2B5EF4-FFF2-40B4-BE49-F238E27FC236}">
                        <a16:creationId xmlns:a16="http://schemas.microsoft.com/office/drawing/2014/main" id="{653592E7-74BB-6E96-4E97-570BB18A1A01}"/>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0" name="Rectangle 69">
                    <a:extLst>
                      <a:ext uri="{FF2B5EF4-FFF2-40B4-BE49-F238E27FC236}">
                        <a16:creationId xmlns:a16="http://schemas.microsoft.com/office/drawing/2014/main" id="{BE927FF9-76A1-989E-3DEE-FCA5E7061CCA}"/>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1" name="Rectangle 70">
                    <a:extLst>
                      <a:ext uri="{FF2B5EF4-FFF2-40B4-BE49-F238E27FC236}">
                        <a16:creationId xmlns:a16="http://schemas.microsoft.com/office/drawing/2014/main" id="{E578230D-1B6F-014C-CE75-390CBB3EE7E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2" name="Rectangle 71">
                    <a:extLst>
                      <a:ext uri="{FF2B5EF4-FFF2-40B4-BE49-F238E27FC236}">
                        <a16:creationId xmlns:a16="http://schemas.microsoft.com/office/drawing/2014/main" id="{AB32AE09-4C3C-F080-623E-7E97460FB2DE}"/>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3" name="Rectangle 72">
                    <a:extLst>
                      <a:ext uri="{FF2B5EF4-FFF2-40B4-BE49-F238E27FC236}">
                        <a16:creationId xmlns:a16="http://schemas.microsoft.com/office/drawing/2014/main" id="{3D01201D-A0A2-1E44-C962-1B30F652E76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4" name="Rectangle 73">
                    <a:extLst>
                      <a:ext uri="{FF2B5EF4-FFF2-40B4-BE49-F238E27FC236}">
                        <a16:creationId xmlns:a16="http://schemas.microsoft.com/office/drawing/2014/main" id="{E1B73ABB-336A-1089-19F2-113FB466C161}"/>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5" name="Rectangle 74">
                    <a:extLst>
                      <a:ext uri="{FF2B5EF4-FFF2-40B4-BE49-F238E27FC236}">
                        <a16:creationId xmlns:a16="http://schemas.microsoft.com/office/drawing/2014/main" id="{C613B5C7-5AED-69B0-F5B7-49A048CC9531}"/>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6" name="Rectangle 75">
                    <a:extLst>
                      <a:ext uri="{FF2B5EF4-FFF2-40B4-BE49-F238E27FC236}">
                        <a16:creationId xmlns:a16="http://schemas.microsoft.com/office/drawing/2014/main" id="{07C41829-8992-B934-8D1A-27600154B492}"/>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7" name="Rectangle 76">
                    <a:extLst>
                      <a:ext uri="{FF2B5EF4-FFF2-40B4-BE49-F238E27FC236}">
                        <a16:creationId xmlns:a16="http://schemas.microsoft.com/office/drawing/2014/main" id="{D0B09FB3-42CC-150A-43C6-B1E9F0B92F2A}"/>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8" name="Rectangle 77">
                    <a:extLst>
                      <a:ext uri="{FF2B5EF4-FFF2-40B4-BE49-F238E27FC236}">
                        <a16:creationId xmlns:a16="http://schemas.microsoft.com/office/drawing/2014/main" id="{39A58CCF-32F4-387A-F6A0-3843F8787477}"/>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9" name="Rectangle 78">
                    <a:extLst>
                      <a:ext uri="{FF2B5EF4-FFF2-40B4-BE49-F238E27FC236}">
                        <a16:creationId xmlns:a16="http://schemas.microsoft.com/office/drawing/2014/main" id="{68EBF358-977F-4CBC-2793-14CA11EEC6A7}"/>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7" name="Group 16">
                  <a:extLst>
                    <a:ext uri="{FF2B5EF4-FFF2-40B4-BE49-F238E27FC236}">
                      <a16:creationId xmlns:a16="http://schemas.microsoft.com/office/drawing/2014/main" id="{CE0BB471-A7CA-89CB-5220-CD7A06B9DFB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99024D56-2D0D-37E5-7C6E-2ED5A1AD21E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7" name="Rectangle 56">
                    <a:extLst>
                      <a:ext uri="{FF2B5EF4-FFF2-40B4-BE49-F238E27FC236}">
                        <a16:creationId xmlns:a16="http://schemas.microsoft.com/office/drawing/2014/main" id="{B7A06D45-1535-F905-679C-DA02E5E70ABF}"/>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8" name="Rectangle 57">
                    <a:extLst>
                      <a:ext uri="{FF2B5EF4-FFF2-40B4-BE49-F238E27FC236}">
                        <a16:creationId xmlns:a16="http://schemas.microsoft.com/office/drawing/2014/main" id="{799F3E51-87E8-A003-F9D0-5A79568E1CAF}"/>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9" name="Rectangle 58">
                    <a:extLst>
                      <a:ext uri="{FF2B5EF4-FFF2-40B4-BE49-F238E27FC236}">
                        <a16:creationId xmlns:a16="http://schemas.microsoft.com/office/drawing/2014/main" id="{C7BD5A93-8CE3-8F5F-090C-C7DD23855704}"/>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0" name="Rectangle 59">
                    <a:extLst>
                      <a:ext uri="{FF2B5EF4-FFF2-40B4-BE49-F238E27FC236}">
                        <a16:creationId xmlns:a16="http://schemas.microsoft.com/office/drawing/2014/main" id="{71358AAE-4308-0E4B-E521-E5B9D9E606E0}"/>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1" name="Rectangle 60">
                    <a:extLst>
                      <a:ext uri="{FF2B5EF4-FFF2-40B4-BE49-F238E27FC236}">
                        <a16:creationId xmlns:a16="http://schemas.microsoft.com/office/drawing/2014/main" id="{412EAA14-4F09-5E3B-7564-DB20A6AFFB6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2" name="Rectangle 61">
                    <a:extLst>
                      <a:ext uri="{FF2B5EF4-FFF2-40B4-BE49-F238E27FC236}">
                        <a16:creationId xmlns:a16="http://schemas.microsoft.com/office/drawing/2014/main" id="{44E5EC01-BB2B-E060-EDA1-9A8D7617F1DA}"/>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3" name="Rectangle 62">
                    <a:extLst>
                      <a:ext uri="{FF2B5EF4-FFF2-40B4-BE49-F238E27FC236}">
                        <a16:creationId xmlns:a16="http://schemas.microsoft.com/office/drawing/2014/main" id="{FC195A79-64E6-E07D-882E-4682D7560399}"/>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4" name="Rectangle 63">
                    <a:extLst>
                      <a:ext uri="{FF2B5EF4-FFF2-40B4-BE49-F238E27FC236}">
                        <a16:creationId xmlns:a16="http://schemas.microsoft.com/office/drawing/2014/main" id="{569A29F6-8DC9-A37F-929A-869BFEAD7268}"/>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5" name="Rectangle 64">
                    <a:extLst>
                      <a:ext uri="{FF2B5EF4-FFF2-40B4-BE49-F238E27FC236}">
                        <a16:creationId xmlns:a16="http://schemas.microsoft.com/office/drawing/2014/main" id="{7ECC0DB4-C6AA-AA7A-39FD-40385DC6ECAB}"/>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6" name="Rectangle 65">
                    <a:extLst>
                      <a:ext uri="{FF2B5EF4-FFF2-40B4-BE49-F238E27FC236}">
                        <a16:creationId xmlns:a16="http://schemas.microsoft.com/office/drawing/2014/main" id="{14CF4B07-C9B6-1D94-B6BD-37A2B6EEB7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7" name="Rectangle 66">
                    <a:extLst>
                      <a:ext uri="{FF2B5EF4-FFF2-40B4-BE49-F238E27FC236}">
                        <a16:creationId xmlns:a16="http://schemas.microsoft.com/office/drawing/2014/main" id="{2D7F35EE-1D9A-FD86-8AC9-22A90F108F1F}"/>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8" name="Group 17">
                  <a:extLst>
                    <a:ext uri="{FF2B5EF4-FFF2-40B4-BE49-F238E27FC236}">
                      <a16:creationId xmlns:a16="http://schemas.microsoft.com/office/drawing/2014/main" id="{4E884ECF-3C7E-F758-E4A0-47904B7DDA10}"/>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63A1395F-BE2F-6ECC-AB82-C657CBB9A22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0" name="Rectangle 39">
                    <a:extLst>
                      <a:ext uri="{FF2B5EF4-FFF2-40B4-BE49-F238E27FC236}">
                        <a16:creationId xmlns:a16="http://schemas.microsoft.com/office/drawing/2014/main" id="{74D8802E-0BBA-B525-E374-CD772B5B22A6}"/>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1" name="Rectangle 40">
                    <a:extLst>
                      <a:ext uri="{FF2B5EF4-FFF2-40B4-BE49-F238E27FC236}">
                        <a16:creationId xmlns:a16="http://schemas.microsoft.com/office/drawing/2014/main" id="{A9321AB8-DDD9-2B68-0D86-C717A55230E8}"/>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2" name="Rectangle 41">
                    <a:extLst>
                      <a:ext uri="{FF2B5EF4-FFF2-40B4-BE49-F238E27FC236}">
                        <a16:creationId xmlns:a16="http://schemas.microsoft.com/office/drawing/2014/main" id="{0BDDDC71-4CC9-76C8-A410-2F7586BED029}"/>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4" name="Rectangle 43">
                    <a:extLst>
                      <a:ext uri="{FF2B5EF4-FFF2-40B4-BE49-F238E27FC236}">
                        <a16:creationId xmlns:a16="http://schemas.microsoft.com/office/drawing/2014/main" id="{ECFEF596-44F3-23D1-9C03-D453DAA1A10E}"/>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5" name="Rectangle 44">
                    <a:extLst>
                      <a:ext uri="{FF2B5EF4-FFF2-40B4-BE49-F238E27FC236}">
                        <a16:creationId xmlns:a16="http://schemas.microsoft.com/office/drawing/2014/main" id="{96F1BF7E-E9EA-6031-5D30-BE938887E882}"/>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6" name="Rectangle 45">
                    <a:extLst>
                      <a:ext uri="{FF2B5EF4-FFF2-40B4-BE49-F238E27FC236}">
                        <a16:creationId xmlns:a16="http://schemas.microsoft.com/office/drawing/2014/main" id="{6B6FE00E-F1EB-B1D3-E50D-786FA260B9B5}"/>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7" name="Rectangle 46">
                    <a:extLst>
                      <a:ext uri="{FF2B5EF4-FFF2-40B4-BE49-F238E27FC236}">
                        <a16:creationId xmlns:a16="http://schemas.microsoft.com/office/drawing/2014/main" id="{6F0B967E-4EBC-FBA9-D3C1-6F9ECF9541CF}"/>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8" name="Rectangle 47">
                    <a:extLst>
                      <a:ext uri="{FF2B5EF4-FFF2-40B4-BE49-F238E27FC236}">
                        <a16:creationId xmlns:a16="http://schemas.microsoft.com/office/drawing/2014/main" id="{55CF4C0D-F34B-FB8F-84F6-1A08DA3BCBD7}"/>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9" name="Rectangle 48">
                    <a:extLst>
                      <a:ext uri="{FF2B5EF4-FFF2-40B4-BE49-F238E27FC236}">
                        <a16:creationId xmlns:a16="http://schemas.microsoft.com/office/drawing/2014/main" id="{55C84C22-7485-BEEE-A163-BB04C8E905DE}"/>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0" name="Rectangle 49">
                    <a:extLst>
                      <a:ext uri="{FF2B5EF4-FFF2-40B4-BE49-F238E27FC236}">
                        <a16:creationId xmlns:a16="http://schemas.microsoft.com/office/drawing/2014/main" id="{B490E4AF-9B12-6ECE-9AE6-2330164AE657}"/>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1" name="Rectangle 50">
                    <a:extLst>
                      <a:ext uri="{FF2B5EF4-FFF2-40B4-BE49-F238E27FC236}">
                        <a16:creationId xmlns:a16="http://schemas.microsoft.com/office/drawing/2014/main" id="{82FCD4C7-0B4F-E271-462D-4700EE78BFFF}"/>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2" name="Rectangle 51">
                    <a:extLst>
                      <a:ext uri="{FF2B5EF4-FFF2-40B4-BE49-F238E27FC236}">
                        <a16:creationId xmlns:a16="http://schemas.microsoft.com/office/drawing/2014/main" id="{540BF186-CAE9-85D6-0466-2B731FE84E95}"/>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3" name="Rectangle 52">
                    <a:extLst>
                      <a:ext uri="{FF2B5EF4-FFF2-40B4-BE49-F238E27FC236}">
                        <a16:creationId xmlns:a16="http://schemas.microsoft.com/office/drawing/2014/main" id="{6E298451-067F-94AA-52B8-DEA060E18911}"/>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4" name="Rectangle 53">
                    <a:extLst>
                      <a:ext uri="{FF2B5EF4-FFF2-40B4-BE49-F238E27FC236}">
                        <a16:creationId xmlns:a16="http://schemas.microsoft.com/office/drawing/2014/main" id="{40C6E7A3-CE89-BA82-AEC1-AE994B8F4959}"/>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5" name="Rectangle 54">
                    <a:extLst>
                      <a:ext uri="{FF2B5EF4-FFF2-40B4-BE49-F238E27FC236}">
                        <a16:creationId xmlns:a16="http://schemas.microsoft.com/office/drawing/2014/main" id="{D80D398F-D0CB-55B7-2998-093263B37DC5}"/>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AE6AE8EA-F3A2-4429-46DA-FAD917748140}"/>
                        </a:ext>
                      </a:extLst>
                    </p:cNvPr>
                    <p:cNvSpPr txBox="1"/>
                    <p:nvPr/>
                  </p:nvSpPr>
                  <p:spPr>
                    <a:xfrm>
                      <a:off x="1676547" y="2678668"/>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9" name="TextBox 18">
                      <a:extLst>
                        <a:ext uri="{FF2B5EF4-FFF2-40B4-BE49-F238E27FC236}">
                          <a16:creationId xmlns:a16="http://schemas.microsoft.com/office/drawing/2014/main" id="{AE6AE8EA-F3A2-4429-46DA-FAD917748140}"/>
                        </a:ext>
                      </a:extLst>
                    </p:cNvPr>
                    <p:cNvSpPr txBox="1">
                      <a:spLocks noRot="1" noChangeAspect="1" noMove="1" noResize="1" noEditPoints="1" noAdjustHandles="1" noChangeArrowheads="1" noChangeShapeType="1" noTextEdit="1"/>
                    </p:cNvSpPr>
                    <p:nvPr/>
                  </p:nvSpPr>
                  <p:spPr>
                    <a:xfrm>
                      <a:off x="1676547" y="2678668"/>
                      <a:ext cx="422427" cy="54574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6DD7E9B2-E767-3D0E-8430-92B5D9AA07CD}"/>
                        </a:ext>
                      </a:extLst>
                    </p:cNvPr>
                    <p:cNvSpPr txBox="1"/>
                    <p:nvPr/>
                  </p:nvSpPr>
                  <p:spPr>
                    <a:xfrm>
                      <a:off x="3486727" y="2678668"/>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20" name="TextBox 19">
                      <a:extLst>
                        <a:ext uri="{FF2B5EF4-FFF2-40B4-BE49-F238E27FC236}">
                          <a16:creationId xmlns:a16="http://schemas.microsoft.com/office/drawing/2014/main" id="{6DD7E9B2-E767-3D0E-8430-92B5D9AA07CD}"/>
                        </a:ext>
                      </a:extLst>
                    </p:cNvPr>
                    <p:cNvSpPr txBox="1">
                      <a:spLocks noRot="1" noChangeAspect="1" noMove="1" noResize="1" noEditPoints="1" noAdjustHandles="1" noChangeArrowheads="1" noChangeShapeType="1" noTextEdit="1"/>
                    </p:cNvSpPr>
                    <p:nvPr/>
                  </p:nvSpPr>
                  <p:spPr>
                    <a:xfrm>
                      <a:off x="3486727" y="2678668"/>
                      <a:ext cx="586414" cy="545746"/>
                    </a:xfrm>
                    <a:prstGeom prst="rect">
                      <a:avLst/>
                    </a:prstGeom>
                    <a:blipFill>
                      <a:blip r:embed="rId4"/>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592E941E-9CFD-B1A8-8E40-876A28A38091}"/>
                    </a:ext>
                  </a:extLst>
                </p:cNvPr>
                <p:cNvSpPr txBox="1"/>
                <p:nvPr/>
              </p:nvSpPr>
              <p:spPr>
                <a:xfrm>
                  <a:off x="848108" y="3618449"/>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F6239C17-840D-0086-3E25-CEF991D4CFDC}"/>
                    </a:ext>
                  </a:extLst>
                </p:cNvPr>
                <p:cNvSpPr txBox="1"/>
                <p:nvPr/>
              </p:nvSpPr>
              <p:spPr>
                <a:xfrm>
                  <a:off x="2546351"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A14F5966-1709-E66B-D6A8-4739C6F0CEB5}"/>
                    </a:ext>
                  </a:extLst>
                </p:cNvPr>
                <p:cNvSpPr txBox="1"/>
                <p:nvPr/>
              </p:nvSpPr>
              <p:spPr>
                <a:xfrm>
                  <a:off x="4452752"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C43CE03B-E12C-3FE7-6183-56F902A74570}"/>
                        </a:ext>
                      </a:extLst>
                    </p:cNvPr>
                    <p:cNvSpPr txBox="1"/>
                    <p:nvPr/>
                  </p:nvSpPr>
                  <p:spPr>
                    <a:xfrm>
                      <a:off x="11255" y="1857073"/>
                      <a:ext cx="622972" cy="545745"/>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p:sp>
                  <p:nvSpPr>
                    <p:cNvPr id="30" name="TextBox 29">
                      <a:extLst>
                        <a:ext uri="{FF2B5EF4-FFF2-40B4-BE49-F238E27FC236}">
                          <a16:creationId xmlns:a16="http://schemas.microsoft.com/office/drawing/2014/main" id="{C43CE03B-E12C-3FE7-6183-56F902A74570}"/>
                        </a:ext>
                      </a:extLst>
                    </p:cNvPr>
                    <p:cNvSpPr txBox="1">
                      <a:spLocks noRot="1" noChangeAspect="1" noMove="1" noResize="1" noEditPoints="1" noAdjustHandles="1" noChangeArrowheads="1" noChangeShapeType="1" noTextEdit="1"/>
                    </p:cNvSpPr>
                    <p:nvPr/>
                  </p:nvSpPr>
                  <p:spPr>
                    <a:xfrm>
                      <a:off x="11255" y="1857073"/>
                      <a:ext cx="622972" cy="54574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B2318064-48CB-ADD5-6D22-6A347AFB73D4}"/>
                        </a:ext>
                      </a:extLst>
                    </p:cNvPr>
                    <p:cNvSpPr txBox="1"/>
                    <p:nvPr/>
                  </p:nvSpPr>
                  <p:spPr>
                    <a:xfrm>
                      <a:off x="835771" y="1673266"/>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31" name="TextBox 30">
                      <a:extLst>
                        <a:ext uri="{FF2B5EF4-FFF2-40B4-BE49-F238E27FC236}">
                          <a16:creationId xmlns:a16="http://schemas.microsoft.com/office/drawing/2014/main" id="{B2318064-48CB-ADD5-6D22-6A347AFB73D4}"/>
                        </a:ext>
                      </a:extLst>
                    </p:cNvPr>
                    <p:cNvSpPr txBox="1">
                      <a:spLocks noRot="1" noChangeAspect="1" noMove="1" noResize="1" noEditPoints="1" noAdjustHandles="1" noChangeArrowheads="1" noChangeShapeType="1" noTextEdit="1"/>
                    </p:cNvSpPr>
                    <p:nvPr/>
                  </p:nvSpPr>
                  <p:spPr>
                    <a:xfrm>
                      <a:off x="835771" y="1673266"/>
                      <a:ext cx="526679" cy="54574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56E00BB2-9768-DF4B-6D99-295C8EB36058}"/>
                        </a:ext>
                      </a:extLst>
                    </p:cNvPr>
                    <p:cNvSpPr txBox="1"/>
                    <p:nvPr/>
                  </p:nvSpPr>
                  <p:spPr>
                    <a:xfrm>
                      <a:off x="1596035" y="1985521"/>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32" name="TextBox 31">
                      <a:extLst>
                        <a:ext uri="{FF2B5EF4-FFF2-40B4-BE49-F238E27FC236}">
                          <a16:creationId xmlns:a16="http://schemas.microsoft.com/office/drawing/2014/main" id="{56E00BB2-9768-DF4B-6D99-295C8EB36058}"/>
                        </a:ext>
                      </a:extLst>
                    </p:cNvPr>
                    <p:cNvSpPr txBox="1">
                      <a:spLocks noRot="1" noChangeAspect="1" noMove="1" noResize="1" noEditPoints="1" noAdjustHandles="1" noChangeArrowheads="1" noChangeShapeType="1" noTextEdit="1"/>
                    </p:cNvSpPr>
                    <p:nvPr/>
                  </p:nvSpPr>
                  <p:spPr>
                    <a:xfrm>
                      <a:off x="1596035" y="1985521"/>
                      <a:ext cx="526679" cy="54574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96E19B0D-209B-81E1-FFD7-E6F3525EB4F7}"/>
                        </a:ext>
                      </a:extLst>
                    </p:cNvPr>
                    <p:cNvSpPr txBox="1"/>
                    <p:nvPr/>
                  </p:nvSpPr>
                  <p:spPr>
                    <a:xfrm>
                      <a:off x="2500887" y="1836429"/>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34" name="TextBox 33">
                      <a:extLst>
                        <a:ext uri="{FF2B5EF4-FFF2-40B4-BE49-F238E27FC236}">
                          <a16:creationId xmlns:a16="http://schemas.microsoft.com/office/drawing/2014/main" id="{96E19B0D-209B-81E1-FFD7-E6F3525EB4F7}"/>
                        </a:ext>
                      </a:extLst>
                    </p:cNvPr>
                    <p:cNvSpPr txBox="1">
                      <a:spLocks noRot="1" noChangeAspect="1" noMove="1" noResize="1" noEditPoints="1" noAdjustHandles="1" noChangeArrowheads="1" noChangeShapeType="1" noTextEdit="1"/>
                    </p:cNvSpPr>
                    <p:nvPr/>
                  </p:nvSpPr>
                  <p:spPr>
                    <a:xfrm>
                      <a:off x="2500887" y="1836429"/>
                      <a:ext cx="531140" cy="54574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5B9BD1A5-B3AE-3C81-5716-56D19271BD2F}"/>
                        </a:ext>
                      </a:extLst>
                    </p:cNvPr>
                    <p:cNvSpPr txBox="1"/>
                    <p:nvPr/>
                  </p:nvSpPr>
                  <p:spPr>
                    <a:xfrm>
                      <a:off x="3405091" y="1862905"/>
                      <a:ext cx="622972"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p:sp>
                  <p:nvSpPr>
                    <p:cNvPr id="36" name="TextBox 35">
                      <a:extLst>
                        <a:ext uri="{FF2B5EF4-FFF2-40B4-BE49-F238E27FC236}">
                          <a16:creationId xmlns:a16="http://schemas.microsoft.com/office/drawing/2014/main" id="{5B9BD1A5-B3AE-3C81-5716-56D19271BD2F}"/>
                        </a:ext>
                      </a:extLst>
                    </p:cNvPr>
                    <p:cNvSpPr txBox="1">
                      <a:spLocks noRot="1" noChangeAspect="1" noMove="1" noResize="1" noEditPoints="1" noAdjustHandles="1" noChangeArrowheads="1" noChangeShapeType="1" noTextEdit="1"/>
                    </p:cNvSpPr>
                    <p:nvPr/>
                  </p:nvSpPr>
                  <p:spPr>
                    <a:xfrm>
                      <a:off x="3405091" y="1862905"/>
                      <a:ext cx="622972" cy="54574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957B4049-5429-535D-EEAC-3B0EB1CE0ACE}"/>
                        </a:ext>
                      </a:extLst>
                    </p:cNvPr>
                    <p:cNvSpPr txBox="1"/>
                    <p:nvPr/>
                  </p:nvSpPr>
                  <p:spPr>
                    <a:xfrm>
                      <a:off x="4417872" y="1643056"/>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38" name="TextBox 37">
                      <a:extLst>
                        <a:ext uri="{FF2B5EF4-FFF2-40B4-BE49-F238E27FC236}">
                          <a16:creationId xmlns:a16="http://schemas.microsoft.com/office/drawing/2014/main" id="{957B4049-5429-535D-EEAC-3B0EB1CE0ACE}"/>
                        </a:ext>
                      </a:extLst>
                    </p:cNvPr>
                    <p:cNvSpPr txBox="1">
                      <a:spLocks noRot="1" noChangeAspect="1" noMove="1" noResize="1" noEditPoints="1" noAdjustHandles="1" noChangeArrowheads="1" noChangeShapeType="1" noTextEdit="1"/>
                    </p:cNvSpPr>
                    <p:nvPr/>
                  </p:nvSpPr>
                  <p:spPr>
                    <a:xfrm>
                      <a:off x="4417872" y="1643056"/>
                      <a:ext cx="531140" cy="545745"/>
                    </a:xfrm>
                    <a:prstGeom prst="rect">
                      <a:avLst/>
                    </a:prstGeom>
                    <a:blipFill>
                      <a:blip r:embed="rId10"/>
                      <a:stretch>
                        <a:fillRect/>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B67384CC-1D86-A8E9-8BEC-871F9DFAE7AA}"/>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2" name="Rectangle 81">
              <a:extLst>
                <a:ext uri="{FF2B5EF4-FFF2-40B4-BE49-F238E27FC236}">
                  <a16:creationId xmlns:a16="http://schemas.microsoft.com/office/drawing/2014/main" id="{797184A6-B8C9-8BE1-5775-E01C29201E1E}"/>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4" name="Rectangle 83">
              <a:extLst>
                <a:ext uri="{FF2B5EF4-FFF2-40B4-BE49-F238E27FC236}">
                  <a16:creationId xmlns:a16="http://schemas.microsoft.com/office/drawing/2014/main" id="{CE42996D-A7D2-C278-F257-24477D27D231}"/>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sp>
        <p:nvSpPr>
          <p:cNvPr id="4" name="Title 3">
            <a:extLst>
              <a:ext uri="{FF2B5EF4-FFF2-40B4-BE49-F238E27FC236}">
                <a16:creationId xmlns:a16="http://schemas.microsoft.com/office/drawing/2014/main" id="{5EF9D386-01F8-3927-E59A-917ABFB77B04}"/>
              </a:ext>
            </a:extLst>
          </p:cNvPr>
          <p:cNvSpPr>
            <a:spLocks noGrp="1"/>
          </p:cNvSpPr>
          <p:nvPr>
            <p:ph type="title"/>
          </p:nvPr>
        </p:nvSpPr>
        <p:spPr/>
        <p:txBody>
          <a:bodyPr/>
          <a:lstStyle/>
          <a:p>
            <a:r>
              <a:rPr lang="en-US" noProof="0" dirty="0"/>
              <a:t>Traversal transformations</a:t>
            </a:r>
          </a:p>
        </p:txBody>
      </p:sp>
      <p:sp>
        <p:nvSpPr>
          <p:cNvPr id="26" name="Date Placeholder 25">
            <a:extLst>
              <a:ext uri="{FF2B5EF4-FFF2-40B4-BE49-F238E27FC236}">
                <a16:creationId xmlns:a16="http://schemas.microsoft.com/office/drawing/2014/main" id="{E5787EB7-BD3B-CCF1-8AEA-70766F875185}"/>
              </a:ext>
            </a:extLst>
          </p:cNvPr>
          <p:cNvSpPr>
            <a:spLocks noGrp="1"/>
          </p:cNvSpPr>
          <p:nvPr>
            <p:ph type="dt" sz="half" idx="10"/>
          </p:nvPr>
        </p:nvSpPr>
        <p:spPr/>
        <p:txBody>
          <a:bodyPr/>
          <a:lstStyle/>
          <a:p>
            <a:fld id="{8BB690F1-35CC-4B34-B898-A35702C2DAD5}" type="datetime1">
              <a:rPr lang="en-US" noProof="0" smtClean="0"/>
              <a:t>9/2/2026</a:t>
            </a:fld>
            <a:endParaRPr lang="en-US" noProof="0" dirty="0"/>
          </a:p>
        </p:txBody>
      </p:sp>
      <p:sp>
        <p:nvSpPr>
          <p:cNvPr id="27" name="Slide Number Placeholder 26">
            <a:extLst>
              <a:ext uri="{FF2B5EF4-FFF2-40B4-BE49-F238E27FC236}">
                <a16:creationId xmlns:a16="http://schemas.microsoft.com/office/drawing/2014/main" id="{00AA8B2A-1815-9AD2-C837-8175AEC8FFF5}"/>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6" name="Rectangle 5">
            <a:extLst>
              <a:ext uri="{FF2B5EF4-FFF2-40B4-BE49-F238E27FC236}">
                <a16:creationId xmlns:a16="http://schemas.microsoft.com/office/drawing/2014/main" id="{94315874-4365-BD7E-38E9-6E300532D1B0}"/>
              </a:ext>
            </a:extLst>
          </p:cNvPr>
          <p:cNvSpPr/>
          <p:nvPr/>
        </p:nvSpPr>
        <p:spPr>
          <a:xfrm>
            <a:off x="6914245" y="1534018"/>
            <a:ext cx="1383566" cy="273019"/>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0" name="Rectangle 9">
            <a:extLst>
              <a:ext uri="{FF2B5EF4-FFF2-40B4-BE49-F238E27FC236}">
                <a16:creationId xmlns:a16="http://schemas.microsoft.com/office/drawing/2014/main" id="{FD7BF336-2D6B-75E5-35D1-BB6F556A8522}"/>
              </a:ext>
            </a:extLst>
          </p:cNvPr>
          <p:cNvSpPr/>
          <p:nvPr/>
        </p:nvSpPr>
        <p:spPr>
          <a:xfrm>
            <a:off x="6914245" y="1878964"/>
            <a:ext cx="1383566" cy="273019"/>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2" name="Rectangle 11">
            <a:extLst>
              <a:ext uri="{FF2B5EF4-FFF2-40B4-BE49-F238E27FC236}">
                <a16:creationId xmlns:a16="http://schemas.microsoft.com/office/drawing/2014/main" id="{6B5E3D72-639F-DBE8-60C5-E7360CC97F9F}"/>
              </a:ext>
            </a:extLst>
          </p:cNvPr>
          <p:cNvSpPr/>
          <p:nvPr/>
        </p:nvSpPr>
        <p:spPr>
          <a:xfrm>
            <a:off x="6007392" y="2222371"/>
            <a:ext cx="1383566" cy="273019"/>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8" name="TextBox 7">
            <a:extLst>
              <a:ext uri="{FF2B5EF4-FFF2-40B4-BE49-F238E27FC236}">
                <a16:creationId xmlns:a16="http://schemas.microsoft.com/office/drawing/2014/main" id="{D8CA8669-3DF0-4485-E218-6A9F90B6F725}"/>
              </a:ext>
            </a:extLst>
          </p:cNvPr>
          <p:cNvSpPr txBox="1"/>
          <p:nvPr/>
        </p:nvSpPr>
        <p:spPr>
          <a:xfrm>
            <a:off x="2667000" y="1431917"/>
            <a:ext cx="6858000" cy="112428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hoist</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0FCBA717-9CCC-E582-9AD5-0BD4B28E0F5A}"/>
              </a:ext>
            </a:extLst>
          </p:cNvPr>
          <p:cNvSpPr txBox="1"/>
          <p:nvPr/>
        </p:nvSpPr>
        <p:spPr>
          <a:xfrm>
            <a:off x="1498604" y="3176471"/>
            <a:ext cx="9194792" cy="1124282"/>
          </a:xfrm>
          <a:prstGeom prst="rect">
            <a:avLst/>
          </a:prstGeom>
          <a:noFill/>
          <a:ln>
            <a:solidFill>
              <a:schemeClr val="tx1"/>
            </a:solidFill>
          </a:ln>
        </p:spPr>
        <p:txBody>
          <a:bodyPr wrap="square">
            <a:spAutoFit/>
          </a:bodyPr>
          <a:lstStyle/>
          <a:p>
            <a:pPr>
              <a:lnSpc>
                <a:spcPct val="113095"/>
              </a:lnSpc>
              <a:buNone/>
            </a:pPr>
            <a:r>
              <a:rPr lang="en-US" sz="2000" noProof="0" dirty="0">
                <a:solidFill>
                  <a:srgbClr val="000000"/>
                </a:solidFill>
                <a:latin typeface="Fira Code" panose="020B0809050000020004" pitchFamily="49" charset="0"/>
              </a:rPr>
              <a:t>(</a:t>
            </a: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 </a:t>
            </a:r>
            <a:r>
              <a:rPr lang="en-US" sz="2000" b="1"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DF00CA29-CB8D-E775-A70D-52850554C362}"/>
              </a:ext>
            </a:extLst>
          </p:cNvPr>
          <p:cNvCxnSpPr>
            <a:cxnSpLocks/>
            <a:stCxn id="8" idx="2"/>
            <a:endCxn id="3" idx="0"/>
          </p:cNvCxnSpPr>
          <p:nvPr/>
        </p:nvCxnSpPr>
        <p:spPr>
          <a:xfrm>
            <a:off x="6096000" y="2556199"/>
            <a:ext cx="0" cy="620272"/>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F77E6586-7CA7-0470-44A7-FA4B38EA596E}"/>
              </a:ext>
            </a:extLst>
          </p:cNvPr>
          <p:cNvSpPr txBox="1"/>
          <p:nvPr/>
        </p:nvSpPr>
        <p:spPr>
          <a:xfrm>
            <a:off x="1498604" y="3176471"/>
            <a:ext cx="9194792" cy="1124282"/>
          </a:xfrm>
          <a:prstGeom prst="rect">
            <a:avLst/>
          </a:prstGeom>
          <a:solidFill>
            <a:schemeClr val="bg1"/>
          </a:solid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83" name="TextBox 82">
            <a:extLst>
              <a:ext uri="{FF2B5EF4-FFF2-40B4-BE49-F238E27FC236}">
                <a16:creationId xmlns:a16="http://schemas.microsoft.com/office/drawing/2014/main" id="{1195DDFC-51FA-D6DB-4B8E-E4B9CB728047}"/>
              </a:ext>
            </a:extLst>
          </p:cNvPr>
          <p:cNvSpPr txBox="1"/>
          <p:nvPr/>
        </p:nvSpPr>
        <p:spPr>
          <a:xfrm>
            <a:off x="3698997" y="4382925"/>
            <a:ext cx="4610558" cy="400110"/>
          </a:xfrm>
          <a:prstGeom prst="rect">
            <a:avLst/>
          </a:prstGeom>
          <a:noFill/>
        </p:spPr>
        <p:txBody>
          <a:bodyPr wrap="none" rtlCol="0">
            <a:spAutoFit/>
          </a:bodyPr>
          <a:lstStyle/>
          <a:p>
            <a:pPr algn="ctr"/>
            <a:r>
              <a:rPr lang="en-US" sz="2000" noProof="0" dirty="0"/>
              <a:t>Common optimization: compute by tiles</a:t>
            </a:r>
          </a:p>
        </p:txBody>
      </p:sp>
    </p:spTree>
    <p:extLst>
      <p:ext uri="{BB962C8B-B14F-4D97-AF65-F5344CB8AC3E}">
        <p14:creationId xmlns:p14="http://schemas.microsoft.com/office/powerpoint/2010/main" val="382772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8" grpId="0" animBg="1"/>
      <p:bldP spid="4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2EF9E071-1389-EE9C-0095-6F47C9FA3FA8}"/>
              </a:ext>
            </a:extLst>
          </p:cNvPr>
          <p:cNvSpPr/>
          <p:nvPr/>
        </p:nvSpPr>
        <p:spPr>
          <a:xfrm>
            <a:off x="6365700" y="4813730"/>
            <a:ext cx="1636420" cy="326688"/>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parallelization</a:t>
            </a:r>
          </a:p>
        </p:txBody>
      </p:sp>
      <p:sp>
        <p:nvSpPr>
          <p:cNvPr id="95" name="Content Placeholder 94">
            <a:extLst>
              <a:ext uri="{FF2B5EF4-FFF2-40B4-BE49-F238E27FC236}">
                <a16:creationId xmlns:a16="http://schemas.microsoft.com/office/drawing/2014/main" id="{93C01887-40CB-9411-BE90-232F3AF5F29E}"/>
              </a:ext>
            </a:extLst>
          </p:cNvPr>
          <p:cNvSpPr>
            <a:spLocks noGrp="1"/>
          </p:cNvSpPr>
          <p:nvPr>
            <p:ph idx="1"/>
          </p:nvPr>
        </p:nvSpPr>
        <p:spPr/>
        <p:txBody>
          <a:bodyPr/>
          <a:lstStyle/>
          <a:p>
            <a:r>
              <a:rPr lang="en-US" noProof="0" dirty="0"/>
              <a:t>CPU</a:t>
            </a:r>
          </a:p>
          <a:p>
            <a:pPr lvl="1"/>
            <a:r>
              <a:rPr lang="en-US" noProof="0" dirty="0"/>
              <a:t>OpenMP</a:t>
            </a:r>
          </a:p>
          <a:p>
            <a:pPr marL="457200" lvl="1" indent="0">
              <a:buNone/>
            </a:pPr>
            <a:r>
              <a:rPr lang="en-US" noProof="0" dirty="0" err="1">
                <a:solidFill>
                  <a:srgbClr val="795E26"/>
                </a:solidFill>
                <a:latin typeface="Fira Code" panose="020B0809050000020004" pitchFamily="49" charset="0"/>
              </a:rPr>
              <a:t>omp_for_each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endParaRPr lang="en-US" noProof="0" dirty="0"/>
          </a:p>
          <a:p>
            <a:pPr lvl="1"/>
            <a:endParaRPr lang="en-US" noProof="0" dirty="0"/>
          </a:p>
          <a:p>
            <a:pPr lvl="1"/>
            <a:r>
              <a:rPr lang="en-US" noProof="0" dirty="0" err="1"/>
              <a:t>oneTBB</a:t>
            </a:r>
            <a:endParaRPr lang="en-US" noProof="0" dirty="0"/>
          </a:p>
          <a:p>
            <a:pPr marL="457200" lvl="1" indent="0">
              <a:buNone/>
            </a:pPr>
            <a:r>
              <a:rPr lang="en-US" noProof="0" dirty="0" err="1">
                <a:solidFill>
                  <a:srgbClr val="795E26"/>
                </a:solidFill>
                <a:latin typeface="Fira Code" panose="020B0809050000020004" pitchFamily="49" charset="0"/>
              </a:rPr>
              <a:t>tbb_for_each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r>
              <a:rPr lang="en-US" noProof="0" dirty="0"/>
              <a:t>	</a:t>
            </a:r>
          </a:p>
          <a:p>
            <a:endParaRPr lang="en-US" noProof="0" dirty="0"/>
          </a:p>
          <a:p>
            <a:r>
              <a:rPr lang="en-US" noProof="0" dirty="0"/>
              <a:t>GPU</a:t>
            </a:r>
          </a:p>
          <a:p>
            <a:pPr marL="457200" lvl="1" indent="0">
              <a:buNone/>
            </a:pPr>
            <a:r>
              <a:rPr lang="en-US" noProof="0" dirty="0" err="1">
                <a:solidFill>
                  <a:srgbClr val="001080"/>
                </a:solidFill>
                <a:latin typeface="Fira Code" panose="020B0809050000020004" pitchFamily="49" charset="0"/>
              </a:rPr>
              <a:t>cuda_traverser</a:t>
            </a:r>
            <a:r>
              <a:rPr lang="en-US" noProof="0" dirty="0">
                <a:latin typeface="Fira Code" panose="020B0809050000020004" pitchFamily="49" charset="0"/>
              </a:rPr>
              <a:t> = </a:t>
            </a:r>
            <a:r>
              <a:rPr lang="en-US" noProof="0" dirty="0" err="1">
                <a:solidFill>
                  <a:srgbClr val="795E26"/>
                </a:solidFill>
                <a:latin typeface="Fira Code" panose="020B0809050000020004" pitchFamily="49" charset="0"/>
              </a:rPr>
              <a:t>cuda_threads</a:t>
            </a:r>
            <a:r>
              <a:rPr lang="en-US" sz="400" noProof="0" dirty="0">
                <a:solidFill>
                  <a:srgbClr val="795E26"/>
                </a:solidFill>
                <a:latin typeface="Fira Code" panose="020B0809050000020004" pitchFamily="49" charset="0"/>
              </a:rPr>
              <a:t> </a:t>
            </a:r>
            <a:r>
              <a:rPr lang="en-US" noProof="0" dirty="0">
                <a:latin typeface="Fira Code" panose="020B0809050000020004" pitchFamily="49" charset="0"/>
              </a:rPr>
              <a:t>&lt;</a:t>
            </a:r>
            <a:r>
              <a:rPr lang="en-US" noProof="0" dirty="0">
                <a:solidFill>
                  <a:srgbClr val="FF0000"/>
                </a:solidFill>
                <a:latin typeface="Fira Code" panose="020B0809050000020004" pitchFamily="49" charset="0"/>
              </a:rPr>
              <a:t>'</a:t>
            </a:r>
            <a:r>
              <a:rPr lang="en-US" noProof="0" dirty="0" err="1">
                <a:solidFill>
                  <a:srgbClr val="FF0000"/>
                </a:solidFill>
                <a:latin typeface="Fira Code" panose="020B0809050000020004" pitchFamily="49" charset="0"/>
              </a:rPr>
              <a:t>t'</a:t>
            </a:r>
            <a:r>
              <a:rPr lang="en-US" noProof="0" dirty="0" err="1">
                <a:latin typeface="Fira Code" panose="020B0809050000020004" pitchFamily="49" charset="0"/>
              </a:rPr>
              <a:t>,</a:t>
            </a:r>
            <a:r>
              <a:rPr lang="en-US" noProof="0" dirty="0" err="1">
                <a:solidFill>
                  <a:srgbClr val="FF0000"/>
                </a:solidFill>
                <a:latin typeface="Fira Code" panose="020B0809050000020004" pitchFamily="49" charset="0"/>
              </a:rPr>
              <a:t>'b</a:t>
            </a:r>
            <a:r>
              <a:rPr lang="en-US" noProof="0" dirty="0">
                <a:solidFill>
                  <a:srgbClr val="FF0000"/>
                </a:solidFill>
                <a:latin typeface="Fira Code" panose="020B0809050000020004" pitchFamily="49" charset="0"/>
              </a:rPr>
              <a:t>'</a:t>
            </a:r>
            <a:r>
              <a:rPr lang="en-US" noProof="0" dirty="0">
                <a:latin typeface="Fira Code" panose="020B0809050000020004" pitchFamily="49" charset="0"/>
              </a:rPr>
              <a:t>&gt;</a:t>
            </a:r>
            <a:r>
              <a:rPr lang="en-US" sz="400" noProof="0" dirty="0">
                <a:latin typeface="Fira Code" panose="020B0809050000020004" pitchFamily="49" charset="0"/>
              </a:rPr>
              <a:t> </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a:t>
            </a:r>
          </a:p>
          <a:p>
            <a:pPr marL="457200" lvl="1" indent="0">
              <a:buNone/>
            </a:pPr>
            <a:r>
              <a:rPr lang="en-US" noProof="0" dirty="0" err="1">
                <a:solidFill>
                  <a:srgbClr val="001080"/>
                </a:solidFill>
                <a:latin typeface="Fira Code" panose="020B0809050000020004" pitchFamily="49" charset="0"/>
              </a:rPr>
              <a:t>cuda_traverser</a:t>
            </a:r>
            <a:r>
              <a:rPr lang="en-US" noProof="0" dirty="0" err="1">
                <a:latin typeface="Fira Code" panose="020B0809050000020004" pitchFamily="49" charset="0"/>
              </a:rPr>
              <a:t>.</a:t>
            </a:r>
            <a:r>
              <a:rPr lang="en-US" noProof="0" dirty="0" err="1">
                <a:solidFill>
                  <a:srgbClr val="795E26"/>
                </a:solidFill>
                <a:latin typeface="Fira Code" panose="020B0809050000020004" pitchFamily="49" charset="0"/>
              </a:rPr>
              <a:t>simple_run</a:t>
            </a:r>
            <a:r>
              <a:rPr lang="en-US" noProof="0" dirty="0">
                <a:latin typeface="Fira Code" panose="020B0809050000020004" pitchFamily="49" charset="0"/>
              </a:rPr>
              <a:t>(…)</a:t>
            </a:r>
            <a:endParaRPr lang="en-US" noProof="0" dirty="0">
              <a:solidFill>
                <a:srgbClr val="001080"/>
              </a:solidFill>
              <a:latin typeface="Fira Code" panose="020B0809050000020004" pitchFamily="49" charset="0"/>
            </a:endParaRP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9/2/2026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5">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5">
                                            <p:txEl>
                                              <p:pRg st="9" end="9"/>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19622" y="2284938"/>
            <a:ext cx="2407303" cy="842437"/>
          </a:xfrm>
          <a:prstGeom prst="wedgeRoundRectCallout">
            <a:avLst>
              <a:gd name="adj1" fmla="val 54139"/>
              <a:gd name="adj2" fmla="val -39354"/>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Tile</a:t>
            </a:r>
            <a:r>
              <a:rPr lang="en-US" sz="1600" noProof="0" dirty="0"/>
              <a:t> </a:t>
            </a:r>
            <a:r>
              <a:rPr lang="en-US" sz="2400" noProof="0" dirty="0"/>
              <a:t>size</a:t>
            </a:r>
            <a:r>
              <a:rPr lang="en-US" sz="1600" noProof="0" dirty="0"/>
              <a:t> </a:t>
            </a:r>
            <a:r>
              <a:rPr lang="en-US" sz="2400" noProof="0" dirty="0"/>
              <a:t>for</a:t>
            </a:r>
            <a:r>
              <a:rPr lang="en-US" sz="1600" noProof="0" dirty="0"/>
              <a:t> </a:t>
            </a:r>
            <a:r>
              <a:rPr lang="en-US" sz="2400" noProof="0" dirty="0"/>
              <a:t>tiling</a:t>
            </a:r>
            <a:br>
              <a:rPr lang="en-US" sz="2400" noProof="0" dirty="0"/>
            </a:b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2544690" y="1695148"/>
            <a:ext cx="227957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125779" y="1689863"/>
            <a:ext cx="2426983"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830615" y="1778796"/>
            <a:ext cx="2279575" cy="690836"/>
          </a:xfrm>
          <a:prstGeom prst="leftRightArrow">
            <a:avLst>
              <a:gd name="adj1" fmla="val 44123"/>
              <a:gd name="adj2" fmla="val 3897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sz="2000"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54776" y="-797880"/>
            <a:ext cx="187902" cy="700807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11642" y="2770335"/>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23210" y="1348548"/>
            <a:ext cx="2407305" cy="842437"/>
          </a:xfrm>
          <a:prstGeom prst="wedgeRoundRectCallout">
            <a:avLst>
              <a:gd name="adj1" fmla="val 54538"/>
              <a:gd name="adj2" fmla="val 25624"/>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Choice</a:t>
            </a:r>
            <a:r>
              <a:rPr lang="en-US" sz="1600" noProof="0" dirty="0"/>
              <a:t> </a:t>
            </a:r>
            <a:r>
              <a:rPr lang="en-US" sz="2400" noProof="0" dirty="0"/>
              <a:t>of</a:t>
            </a:r>
            <a:r>
              <a:rPr lang="en-US" sz="1600" noProof="0" dirty="0"/>
              <a:t> </a:t>
            </a:r>
            <a:r>
              <a:rPr lang="en-US" sz="2400" noProof="0" dirty="0"/>
              <a:t>layout</a:t>
            </a:r>
          </a:p>
          <a:p>
            <a:pPr algn="ctr"/>
            <a:endParaRPr lang="en-US" sz="2400" noProof="0"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656391" y="1571605"/>
            <a:ext cx="2543412" cy="396321"/>
          </a:xfrm>
          <a:prstGeom prst="wedgeRoundRectCallout">
            <a:avLst>
              <a:gd name="adj1" fmla="val -53824"/>
              <a:gd name="adj2" fmla="val 29339"/>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656391" y="2414044"/>
            <a:ext cx="2543412" cy="396321"/>
          </a:xfrm>
          <a:prstGeom prst="wedgeRoundRectCallout">
            <a:avLst>
              <a:gd name="adj1" fmla="val -53454"/>
              <a:gd name="adj2" fmla="val -34984"/>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Numerical value</a:t>
            </a:r>
            <a:endParaRPr lang="en-US" sz="2400" noProof="0"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185469" y="1769766"/>
            <a:ext cx="2824662" cy="461665"/>
          </a:xfrm>
          <a:prstGeom prst="rect">
            <a:avLst/>
          </a:prstGeom>
          <a:noFill/>
        </p:spPr>
        <p:txBody>
          <a:bodyPr wrap="square">
            <a:spAutoFit/>
          </a:bodyPr>
          <a:lstStyle/>
          <a:p>
            <a:pPr algn="ctr"/>
            <a:r>
              <a:rPr lang="en-US" sz="2400" noProof="0" dirty="0">
                <a:latin typeface="Fira Code" panose="020B0809050000020004" pitchFamily="49" charset="0"/>
                <a:ea typeface="Fira Code" panose="020B0809050000020004" pitchFamily="49" charset="0"/>
                <a:cs typeface="Fira Code" panose="020B0809050000020004" pitchFamily="49" charset="0"/>
              </a:rPr>
              <a:t>#if</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CHOICE</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0" y="2665710"/>
            <a:ext cx="2446546" cy="461665"/>
          </a:xfrm>
          <a:prstGeom prst="rect">
            <a:avLst/>
          </a:prstGeom>
          <a:noFill/>
        </p:spPr>
        <p:txBody>
          <a:bodyPr wrap="square">
            <a:spAutoFit/>
          </a:bodyPr>
          <a:lstStyle/>
          <a:p>
            <a:pPr algn="ctr"/>
            <a:r>
              <a:rPr lang="en-US" sz="2400" noProof="0" dirty="0"/>
              <a:t>I</a:t>
            </a:r>
            <a:r>
              <a:rPr lang="en-US" sz="1000" noProof="0" dirty="0"/>
              <a:t> </a:t>
            </a:r>
            <a:r>
              <a:rPr lang="en-US" sz="2400" noProof="0" dirty="0"/>
              <a:t>+=</a:t>
            </a:r>
            <a:r>
              <a:rPr lang="en-US" sz="1000" noProof="0" dirty="0"/>
              <a:t> </a:t>
            </a:r>
            <a:r>
              <a:rPr lang="en-US" sz="2400" noProof="0" dirty="0"/>
              <a:t>TILE_SIZE</a:t>
            </a: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40" grpId="0" animBg="1"/>
      <p:bldP spid="12" grpId="0"/>
      <p:bldP spid="2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499553" y="3948155"/>
            <a:ext cx="6637132" cy="3075322"/>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640027" y="5107245"/>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640027" y="4293832"/>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10048422" y="2962990"/>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cxnSpLocks/>
            <a:endCxn id="19" idx="1"/>
          </p:cNvCxnSpPr>
          <p:nvPr/>
        </p:nvCxnSpPr>
        <p:spPr>
          <a:xfrm flipV="1">
            <a:off x="8831481" y="3512609"/>
            <a:ext cx="1216941" cy="9935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831481" y="4534677"/>
            <a:ext cx="808546" cy="1701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cxnSpLocks/>
            <a:endCxn id="17" idx="1"/>
          </p:cNvCxnSpPr>
          <p:nvPr/>
        </p:nvCxnSpPr>
        <p:spPr>
          <a:xfrm>
            <a:off x="8831481" y="4551693"/>
            <a:ext cx="808546" cy="976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5" name="Arrow: Down 14">
            <a:extLst>
              <a:ext uri="{FF2B5EF4-FFF2-40B4-BE49-F238E27FC236}">
                <a16:creationId xmlns:a16="http://schemas.microsoft.com/office/drawing/2014/main" id="{71F4EF2F-6E0C-390A-B96B-78A98DF8198D}"/>
              </a:ext>
            </a:extLst>
          </p:cNvPr>
          <p:cNvSpPr/>
          <p:nvPr/>
        </p:nvSpPr>
        <p:spPr>
          <a:xfrm>
            <a:off x="5546381" y="3265015"/>
            <a:ext cx="1099238" cy="610800"/>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229487" y="4164317"/>
            <a:ext cx="315718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808081" y="4606991"/>
            <a:ext cx="81886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22" name="Flowchart: Process 21">
            <a:extLst>
              <a:ext uri="{FF2B5EF4-FFF2-40B4-BE49-F238E27FC236}">
                <a16:creationId xmlns:a16="http://schemas.microsoft.com/office/drawing/2014/main" id="{E9BDDB53-4662-041D-2276-7B45295B7518}"/>
              </a:ext>
            </a:extLst>
          </p:cNvPr>
          <p:cNvSpPr/>
          <p:nvPr/>
        </p:nvSpPr>
        <p:spPr>
          <a:xfrm>
            <a:off x="2544690" y="1695148"/>
            <a:ext cx="227957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24" name="Flowchart: Process 23">
            <a:extLst>
              <a:ext uri="{FF2B5EF4-FFF2-40B4-BE49-F238E27FC236}">
                <a16:creationId xmlns:a16="http://schemas.microsoft.com/office/drawing/2014/main" id="{84D8475D-C4B4-DE3C-4641-D78673634326}"/>
              </a:ext>
            </a:extLst>
          </p:cNvPr>
          <p:cNvSpPr/>
          <p:nvPr/>
        </p:nvSpPr>
        <p:spPr>
          <a:xfrm>
            <a:off x="7125779" y="1689863"/>
            <a:ext cx="2426983"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26" name="Arrow: Left-Right 25">
            <a:extLst>
              <a:ext uri="{FF2B5EF4-FFF2-40B4-BE49-F238E27FC236}">
                <a16:creationId xmlns:a16="http://schemas.microsoft.com/office/drawing/2014/main" id="{5719DD8E-923E-F6C0-609A-234CC594A82E}"/>
              </a:ext>
            </a:extLst>
          </p:cNvPr>
          <p:cNvSpPr/>
          <p:nvPr/>
        </p:nvSpPr>
        <p:spPr>
          <a:xfrm>
            <a:off x="4830615" y="1778796"/>
            <a:ext cx="2279575" cy="690836"/>
          </a:xfrm>
          <a:prstGeom prst="leftRightArrow">
            <a:avLst>
              <a:gd name="adj1" fmla="val 44123"/>
              <a:gd name="adj2" fmla="val 3897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sz="2000" noProof="0" dirty="0"/>
              <a:t>Communication</a:t>
            </a:r>
          </a:p>
        </p:txBody>
      </p:sp>
      <p:sp>
        <p:nvSpPr>
          <p:cNvPr id="28" name="Right Brace 27">
            <a:extLst>
              <a:ext uri="{FF2B5EF4-FFF2-40B4-BE49-F238E27FC236}">
                <a16:creationId xmlns:a16="http://schemas.microsoft.com/office/drawing/2014/main" id="{8A1FB7D0-88F3-E9A7-A662-9D792D1791B3}"/>
              </a:ext>
            </a:extLst>
          </p:cNvPr>
          <p:cNvSpPr/>
          <p:nvPr/>
        </p:nvSpPr>
        <p:spPr>
          <a:xfrm rot="5400000">
            <a:off x="5954776" y="-797880"/>
            <a:ext cx="187902" cy="700807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29" name="TextBox 28">
            <a:extLst>
              <a:ext uri="{FF2B5EF4-FFF2-40B4-BE49-F238E27FC236}">
                <a16:creationId xmlns:a16="http://schemas.microsoft.com/office/drawing/2014/main" id="{511A49BC-6C46-EC35-218A-3122DF501028}"/>
              </a:ext>
            </a:extLst>
          </p:cNvPr>
          <p:cNvSpPr txBox="1"/>
          <p:nvPr/>
        </p:nvSpPr>
        <p:spPr>
          <a:xfrm>
            <a:off x="4111642" y="2770335"/>
            <a:ext cx="3879652" cy="400110"/>
          </a:xfrm>
          <a:prstGeom prst="rect">
            <a:avLst/>
          </a:prstGeom>
          <a:noFill/>
        </p:spPr>
        <p:txBody>
          <a:bodyPr wrap="none" rtlCol="0">
            <a:spAutoFit/>
          </a:bodyPr>
          <a:lstStyle/>
          <a:p>
            <a:pPr algn="ctr"/>
            <a:r>
              <a:rPr lang="en-US" sz="2000" noProof="0" dirty="0"/>
              <a:t>Too much boilerplate, error-prone</a:t>
            </a:r>
          </a:p>
        </p:txBody>
      </p: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1984829" y="859520"/>
            <a:ext cx="8222343" cy="5138960"/>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5072322" y="5946583"/>
            <a:ext cx="2047355" cy="461665"/>
          </a:xfrm>
          <a:prstGeom prst="rect">
            <a:avLst/>
          </a:prstGeom>
          <a:noFill/>
        </p:spPr>
        <p:txBody>
          <a:bodyPr wrap="none" rtlCol="0">
            <a:spAutoFit/>
          </a:bodyPr>
          <a:lstStyle/>
          <a:p>
            <a:r>
              <a:rPr lang="en-US" sz="2400"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4944848" y="365125"/>
            <a:ext cx="2302302" cy="461665"/>
          </a:xfrm>
          <a:prstGeom prst="rect">
            <a:avLst/>
          </a:prstGeom>
          <a:noFill/>
        </p:spPr>
        <p:txBody>
          <a:bodyPr wrap="square" rtlCol="0">
            <a:spAutoFit/>
          </a:bodyPr>
          <a:lstStyle/>
          <a:p>
            <a:pPr algn="ctr"/>
            <a:r>
              <a:rPr lang="en-US" sz="2400" noProof="0" dirty="0" err="1"/>
              <a:t>PolyBench</a:t>
            </a:r>
            <a:r>
              <a:rPr lang="en-US" sz="2400" noProof="0" dirty="0"/>
              <a:t>/C</a:t>
            </a:r>
          </a:p>
        </p:txBody>
      </p:sp>
    </p:spTree>
    <p:extLst>
      <p:ext uri="{BB962C8B-B14F-4D97-AF65-F5344CB8AC3E}">
        <p14:creationId xmlns:p14="http://schemas.microsoft.com/office/powerpoint/2010/main" val="522048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84B52-9DD9-A429-012A-A49C5D8EA8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004940-8761-D376-5D89-223EF87A2B46}"/>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4FFBC0BB-6204-6A99-7FFA-79E9F93FE637}"/>
              </a:ext>
            </a:extLst>
          </p:cNvPr>
          <p:cNvSpPr>
            <a:spLocks noGrp="1"/>
          </p:cNvSpPr>
          <p:nvPr>
            <p:ph type="dt" sz="half" idx="10"/>
          </p:nvPr>
        </p:nvSpPr>
        <p:spPr/>
        <p:txBody>
          <a:bodyPr/>
          <a:lstStyle/>
          <a:p>
            <a:fld id="{1A21DD6E-5048-4D3D-823A-657D259BCC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B837290D-EEA3-A479-2D49-8B742B58976D}"/>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10" name="TextBox 9">
            <a:extLst>
              <a:ext uri="{FF2B5EF4-FFF2-40B4-BE49-F238E27FC236}">
                <a16:creationId xmlns:a16="http://schemas.microsoft.com/office/drawing/2014/main" id="{8F4ACCF0-5C1C-5E73-7132-0B2A17F92827}"/>
              </a:ext>
            </a:extLst>
          </p:cNvPr>
          <p:cNvSpPr txBox="1"/>
          <p:nvPr/>
        </p:nvSpPr>
        <p:spPr>
          <a:xfrm>
            <a:off x="3695213" y="1134007"/>
            <a:ext cx="2127171" cy="461665"/>
          </a:xfrm>
          <a:prstGeom prst="rect">
            <a:avLst/>
          </a:prstGeom>
          <a:noFill/>
        </p:spPr>
        <p:txBody>
          <a:bodyPr wrap="square" rtlCol="0">
            <a:spAutoFit/>
          </a:bodyPr>
          <a:lstStyle/>
          <a:p>
            <a:pPr algn="ctr"/>
            <a:r>
              <a:rPr lang="en-US" sz="2400" noProof="0" dirty="0" err="1"/>
              <a:t>PolyBench</a:t>
            </a:r>
            <a:r>
              <a:rPr lang="en-US" sz="2400" noProof="0" dirty="0"/>
              <a:t>/C</a:t>
            </a:r>
          </a:p>
        </p:txBody>
      </p:sp>
      <p:sp>
        <p:nvSpPr>
          <p:cNvPr id="11" name="Right Brace 10">
            <a:extLst>
              <a:ext uri="{FF2B5EF4-FFF2-40B4-BE49-F238E27FC236}">
                <a16:creationId xmlns:a16="http://schemas.microsoft.com/office/drawing/2014/main" id="{A39CFA25-A759-FD09-8613-F03A145A7D85}"/>
              </a:ext>
            </a:extLst>
          </p:cNvPr>
          <p:cNvSpPr/>
          <p:nvPr/>
        </p:nvSpPr>
        <p:spPr>
          <a:xfrm rot="16200000">
            <a:off x="4663077" y="-1118335"/>
            <a:ext cx="191445" cy="554068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9" name="Picture 8">
            <a:extLst>
              <a:ext uri="{FF2B5EF4-FFF2-40B4-BE49-F238E27FC236}">
                <a16:creationId xmlns:a16="http://schemas.microsoft.com/office/drawing/2014/main" id="{D61DA4FA-2AF0-0F8F-FB51-4B45F895D17D}"/>
              </a:ext>
            </a:extLst>
          </p:cNvPr>
          <p:cNvPicPr>
            <a:picLocks noChangeAspect="1"/>
          </p:cNvPicPr>
          <p:nvPr/>
        </p:nvPicPr>
        <p:blipFill>
          <a:blip r:embed="rId3"/>
          <a:stretch>
            <a:fillRect/>
          </a:stretch>
        </p:blipFill>
        <p:spPr>
          <a:xfrm>
            <a:off x="1377582" y="1747731"/>
            <a:ext cx="2599332" cy="4417175"/>
          </a:xfrm>
          <a:prstGeom prst="rect">
            <a:avLst/>
          </a:prstGeom>
        </p:spPr>
      </p:pic>
      <p:pic>
        <p:nvPicPr>
          <p:cNvPr id="12" name="Picture 11">
            <a:extLst>
              <a:ext uri="{FF2B5EF4-FFF2-40B4-BE49-F238E27FC236}">
                <a16:creationId xmlns:a16="http://schemas.microsoft.com/office/drawing/2014/main" id="{D6CEF4D3-5BA9-BD97-BEB4-6E66A3F6E546}"/>
              </a:ext>
            </a:extLst>
          </p:cNvPr>
          <p:cNvPicPr>
            <a:picLocks noChangeAspect="1"/>
          </p:cNvPicPr>
          <p:nvPr/>
        </p:nvPicPr>
        <p:blipFill>
          <a:blip r:embed="rId4"/>
          <a:stretch>
            <a:fillRect/>
          </a:stretch>
        </p:blipFill>
        <p:spPr>
          <a:xfrm>
            <a:off x="4929810" y="1747731"/>
            <a:ext cx="2599332" cy="4417173"/>
          </a:xfrm>
          <a:prstGeom prst="rect">
            <a:avLst/>
          </a:prstGeom>
        </p:spPr>
      </p:pic>
      <p:pic>
        <p:nvPicPr>
          <p:cNvPr id="13" name="Picture 12">
            <a:extLst>
              <a:ext uri="{FF2B5EF4-FFF2-40B4-BE49-F238E27FC236}">
                <a16:creationId xmlns:a16="http://schemas.microsoft.com/office/drawing/2014/main" id="{1929BE2B-B750-862E-E7F8-E5055850943F}"/>
              </a:ext>
            </a:extLst>
          </p:cNvPr>
          <p:cNvPicPr>
            <a:picLocks noChangeAspect="1"/>
          </p:cNvPicPr>
          <p:nvPr/>
        </p:nvPicPr>
        <p:blipFill>
          <a:blip r:embed="rId5"/>
          <a:stretch>
            <a:fillRect/>
          </a:stretch>
        </p:blipFill>
        <p:spPr>
          <a:xfrm>
            <a:off x="8215088" y="1751360"/>
            <a:ext cx="2599330" cy="4417170"/>
          </a:xfrm>
          <a:prstGeom prst="rect">
            <a:avLst/>
          </a:prstGeom>
        </p:spPr>
      </p:pic>
      <p:sp>
        <p:nvSpPr>
          <p:cNvPr id="14" name="TextBox 13">
            <a:extLst>
              <a:ext uri="{FF2B5EF4-FFF2-40B4-BE49-F238E27FC236}">
                <a16:creationId xmlns:a16="http://schemas.microsoft.com/office/drawing/2014/main" id="{F6688653-755E-3CE2-5C89-C6F464C4D86D}"/>
              </a:ext>
            </a:extLst>
          </p:cNvPr>
          <p:cNvSpPr txBox="1"/>
          <p:nvPr/>
        </p:nvSpPr>
        <p:spPr>
          <a:xfrm>
            <a:off x="2314048" y="6125517"/>
            <a:ext cx="1337226" cy="461665"/>
          </a:xfrm>
          <a:prstGeom prst="rect">
            <a:avLst/>
          </a:prstGeom>
          <a:noFill/>
        </p:spPr>
        <p:txBody>
          <a:bodyPr wrap="none" rtlCol="0">
            <a:spAutoFit/>
          </a:bodyPr>
          <a:lstStyle/>
          <a:p>
            <a:r>
              <a:rPr lang="en-US" sz="2400" noProof="0" dirty="0"/>
              <a:t>OpenMP</a:t>
            </a:r>
          </a:p>
        </p:txBody>
      </p:sp>
      <p:sp>
        <p:nvSpPr>
          <p:cNvPr id="17" name="TextBox 16">
            <a:extLst>
              <a:ext uri="{FF2B5EF4-FFF2-40B4-BE49-F238E27FC236}">
                <a16:creationId xmlns:a16="http://schemas.microsoft.com/office/drawing/2014/main" id="{667B5F2B-0CBE-6E78-3B10-333B35B0B297}"/>
              </a:ext>
            </a:extLst>
          </p:cNvPr>
          <p:cNvSpPr txBox="1"/>
          <p:nvPr/>
        </p:nvSpPr>
        <p:spPr>
          <a:xfrm>
            <a:off x="6216107" y="6077247"/>
            <a:ext cx="704039" cy="461665"/>
          </a:xfrm>
          <a:prstGeom prst="rect">
            <a:avLst/>
          </a:prstGeom>
          <a:noFill/>
        </p:spPr>
        <p:txBody>
          <a:bodyPr wrap="none" rtlCol="0">
            <a:spAutoFit/>
          </a:bodyPr>
          <a:lstStyle/>
          <a:p>
            <a:r>
              <a:rPr lang="en-US" sz="2400" noProof="0" dirty="0"/>
              <a:t>TBB</a:t>
            </a:r>
          </a:p>
        </p:txBody>
      </p:sp>
      <p:sp>
        <p:nvSpPr>
          <p:cNvPr id="19" name="TextBox 18">
            <a:extLst>
              <a:ext uri="{FF2B5EF4-FFF2-40B4-BE49-F238E27FC236}">
                <a16:creationId xmlns:a16="http://schemas.microsoft.com/office/drawing/2014/main" id="{20442BAB-9C7C-A7E7-E003-E192B24A9990}"/>
              </a:ext>
            </a:extLst>
          </p:cNvPr>
          <p:cNvSpPr txBox="1"/>
          <p:nvPr/>
        </p:nvSpPr>
        <p:spPr>
          <a:xfrm>
            <a:off x="9484980" y="6125516"/>
            <a:ext cx="994439" cy="461665"/>
          </a:xfrm>
          <a:prstGeom prst="rect">
            <a:avLst/>
          </a:prstGeom>
          <a:noFill/>
        </p:spPr>
        <p:txBody>
          <a:bodyPr wrap="none" rtlCol="0">
            <a:spAutoFit/>
          </a:bodyPr>
          <a:lstStyle/>
          <a:p>
            <a:r>
              <a:rPr lang="en-US" sz="2400" noProof="0" dirty="0"/>
              <a:t>CUDA</a:t>
            </a:r>
          </a:p>
        </p:txBody>
      </p:sp>
      <p:sp>
        <p:nvSpPr>
          <p:cNvPr id="15" name="TextBox 14">
            <a:extLst>
              <a:ext uri="{FF2B5EF4-FFF2-40B4-BE49-F238E27FC236}">
                <a16:creationId xmlns:a16="http://schemas.microsoft.com/office/drawing/2014/main" id="{2E799F0C-B061-4025-3DCB-D375FEAC5ADD}"/>
              </a:ext>
            </a:extLst>
          </p:cNvPr>
          <p:cNvSpPr txBox="1"/>
          <p:nvPr/>
        </p:nvSpPr>
        <p:spPr>
          <a:xfrm>
            <a:off x="8365923" y="1092101"/>
            <a:ext cx="2721384" cy="461665"/>
          </a:xfrm>
          <a:prstGeom prst="rect">
            <a:avLst/>
          </a:prstGeom>
          <a:noFill/>
        </p:spPr>
        <p:txBody>
          <a:bodyPr wrap="square" rtlCol="0">
            <a:spAutoFit/>
          </a:bodyPr>
          <a:lstStyle/>
          <a:p>
            <a:pPr algn="ctr"/>
            <a:r>
              <a:rPr lang="en-US" sz="2400" noProof="0" dirty="0" err="1"/>
              <a:t>PolyBench</a:t>
            </a:r>
            <a:r>
              <a:rPr lang="en-US" sz="2400" noProof="0" dirty="0"/>
              <a:t>/GPU</a:t>
            </a:r>
          </a:p>
        </p:txBody>
      </p:sp>
    </p:spTree>
    <p:extLst>
      <p:ext uri="{BB962C8B-B14F-4D97-AF65-F5344CB8AC3E}">
        <p14:creationId xmlns:p14="http://schemas.microsoft.com/office/powerpoint/2010/main" val="471930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06199549-C2F9-0F20-FD16-454B08B67F83}"/>
              </a:ext>
            </a:extLst>
          </p:cNvPr>
          <p:cNvGrpSpPr/>
          <p:nvPr/>
        </p:nvGrpSpPr>
        <p:grpSpPr>
          <a:xfrm>
            <a:off x="4663797" y="324095"/>
            <a:ext cx="7413728" cy="3871387"/>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noProof="0" dirty="0">
                <a:solidFill>
                  <a:srgbClr val="C00000"/>
                </a:solidFill>
              </a:rPr>
              <a:t>Slightly more verbose</a:t>
            </a:r>
          </a:p>
          <a:p>
            <a:r>
              <a:rPr lang="en-US" noProof="0" dirty="0">
                <a:solidFill>
                  <a:schemeClr val="accent6"/>
                </a:solidFill>
              </a:rPr>
              <a:t>Less complex control flow</a:t>
            </a:r>
          </a:p>
          <a:p>
            <a:r>
              <a:rPr lang="en-US" noProof="0" dirty="0">
                <a:solidFill>
                  <a:srgbClr val="0070C0"/>
                </a:solidFill>
              </a:rPr>
              <a:t>Easier indexation</a:t>
            </a:r>
          </a:p>
          <a:p>
            <a:endParaRPr lang="en-US" noProof="0" dirty="0">
              <a:solidFill>
                <a:srgbClr val="0070C0"/>
              </a:solidFill>
            </a:endParaRPr>
          </a:p>
          <a:p>
            <a:endParaRPr lang="en-US" noProof="0" dirty="0">
              <a:solidFill>
                <a:srgbClr val="0070C0"/>
              </a:solidFill>
            </a:endParaRPr>
          </a:p>
          <a:p>
            <a:endParaRPr lang="en-US" noProof="0" dirty="0">
              <a:solidFill>
                <a:srgbClr val="0070C0"/>
              </a:solidFill>
            </a:endParaRPr>
          </a:p>
          <a:p>
            <a:pPr>
              <a:buFont typeface="Aptos" panose="020B0004020202020204" pitchFamily="34" charset="0"/>
              <a:buChar char="+"/>
            </a:pPr>
            <a:r>
              <a:rPr lang="en-US" noProof="0" dirty="0"/>
              <a:t>Higher flexibility</a:t>
            </a:r>
          </a:p>
          <a:p>
            <a:pPr>
              <a:buFont typeface="Aptos" panose="020B0004020202020204" pitchFamily="34" charset="0"/>
              <a:buChar char="+"/>
            </a:pPr>
            <a:r>
              <a:rPr lang="en-US" noProof="0"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690570" y="1416337"/>
            <a:ext cx="7003310" cy="112428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r>
              <a:rPr lang="en-US" sz="2000" noProof="0"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265910" y="3041847"/>
            <a:ext cx="757025" cy="217083"/>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a:t>
            </a:r>
          </a:p>
        </p:txBody>
      </p:sp>
      <p:sp>
        <p:nvSpPr>
          <p:cNvPr id="43" name="TextBox 42">
            <a:extLst>
              <a:ext uri="{FF2B5EF4-FFF2-40B4-BE49-F238E27FC236}">
                <a16:creationId xmlns:a16="http://schemas.microsoft.com/office/drawing/2014/main" id="{3C95CC93-9CA9-7209-C22C-7D083498E953}"/>
              </a:ext>
            </a:extLst>
          </p:cNvPr>
          <p:cNvSpPr txBox="1"/>
          <p:nvPr/>
        </p:nvSpPr>
        <p:spPr>
          <a:xfrm>
            <a:off x="5783354" y="2565752"/>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
        <p:nvSpPr>
          <p:cNvPr id="21" name="TextBox 20">
            <a:extLst>
              <a:ext uri="{FF2B5EF4-FFF2-40B4-BE49-F238E27FC236}">
                <a16:creationId xmlns:a16="http://schemas.microsoft.com/office/drawing/2014/main" id="{E9081B18-2097-F218-444D-8457FDAFE687}"/>
              </a:ext>
            </a:extLst>
          </p:cNvPr>
          <p:cNvSpPr txBox="1"/>
          <p:nvPr/>
        </p:nvSpPr>
        <p:spPr>
          <a:xfrm>
            <a:off x="5808330" y="5323937"/>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3018254" y="2935084"/>
            <a:ext cx="9129296" cy="2167645"/>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noProof="0" dirty="0" err="1">
                <a:solidFill>
                  <a:srgbClr val="001080"/>
                </a:solidFill>
                <a:effectLst/>
                <a:latin typeface="Fira Code" panose="020B0809050000020004" pitchFamily="49" charset="0"/>
              </a:rPr>
              <a:t>MPItrav</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sz="2000" b="0" noProof="0" dirty="0">
                <a:solidFill>
                  <a:srgbClr val="000000"/>
                </a:solidFill>
                <a:effectLst/>
                <a:latin typeface="Fira Code" panose="020B0809050000020004" pitchFamily="49" charset="0"/>
              </a:rPr>
              <a:t>);</a:t>
            </a: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p:txBody>
      </p:sp>
      <p:sp>
        <p:nvSpPr>
          <p:cNvPr id="45" name="TextBox 44">
            <a:extLst>
              <a:ext uri="{FF2B5EF4-FFF2-40B4-BE49-F238E27FC236}">
                <a16:creationId xmlns:a16="http://schemas.microsoft.com/office/drawing/2014/main" id="{835AFA3F-B4AF-ABF4-9BB4-CE1EE90FCB8C}"/>
              </a:ext>
            </a:extLst>
          </p:cNvPr>
          <p:cNvSpPr txBox="1"/>
          <p:nvPr/>
        </p:nvSpPr>
        <p:spPr>
          <a:xfrm>
            <a:off x="5657637" y="5693269"/>
            <a:ext cx="5454024" cy="428707"/>
          </a:xfrm>
          <a:prstGeom prst="rect">
            <a:avLst/>
          </a:prstGeom>
          <a:noFill/>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gather</a:t>
            </a:r>
            <a:r>
              <a:rPr lang="en-US" sz="2000" b="0" noProof="0" dirty="0">
                <a:solidFill>
                  <a:srgbClr val="000000"/>
                </a:solidFill>
                <a:effectLst/>
                <a:latin typeface="Fira Code" panose="020B0809050000020004" pitchFamily="49" charset="0"/>
              </a:rPr>
              <a:t>(</a:t>
            </a:r>
            <a:r>
              <a:rPr lang="en-US" sz="2000" noProof="0" dirty="0">
                <a:solidFill>
                  <a:srgbClr val="0070C1"/>
                </a:solidFill>
                <a:latin typeface="Fira Code" panose="020B0809050000020004" pitchFamily="49" charset="0"/>
              </a:rPr>
              <a:t>Tile</a:t>
            </a:r>
            <a:r>
              <a:rPr lang="en-US" sz="2000" noProof="0" dirty="0">
                <a:solidFill>
                  <a:srgbClr val="000000"/>
                </a:solidFill>
                <a:latin typeface="Fira Code" panose="020B0809050000020004" pitchFamily="49" charset="0"/>
              </a:rPr>
              <a:t>, </a:t>
            </a:r>
            <a:r>
              <a:rPr lang="en-US" sz="2000" noProof="0" dirty="0">
                <a:solidFill>
                  <a:srgbClr val="0070C1"/>
                </a:solidFill>
                <a:latin typeface="Fira Code" panose="020B0809050000020004" pitchFamily="49" charset="0"/>
              </a:rPr>
              <a:t>Data</a:t>
            </a:r>
            <a:r>
              <a:rPr lang="en-US" sz="2000" noProof="0" dirty="0">
                <a:solidFill>
                  <a:srgbClr val="000000"/>
                </a:solidFill>
                <a:latin typeface="Fira Code" panose="020B0809050000020004" pitchFamily="49" charset="0"/>
              </a:rPr>
              <a:t>, </a:t>
            </a:r>
            <a:r>
              <a:rPr lang="en-US" sz="2000" b="0" noProof="0" dirty="0">
                <a:solidFill>
                  <a:srgbClr val="0070C1"/>
                </a:solidFill>
                <a:effectLst/>
                <a:latin typeface="Fira Code" panose="020B0809050000020004" pitchFamily="49" charset="0"/>
              </a:rPr>
              <a:t>root</a:t>
            </a:r>
            <a:r>
              <a:rPr lang="en-US" sz="2000" b="0" noProof="0" dirty="0">
                <a:solidFill>
                  <a:srgbClr val="000000"/>
                </a:solidFill>
                <a:effectLst/>
                <a:latin typeface="Fira Code" panose="020B0809050000020004" pitchFamily="49" charset="0"/>
              </a:rPr>
              <a:t>, </a:t>
            </a:r>
            <a:r>
              <a:rPr lang="en-US" sz="2000" noProof="0" dirty="0" err="1">
                <a:solidFill>
                  <a:srgbClr val="001080"/>
                </a:solidFill>
                <a:latin typeface="Fira Code" panose="020B0809050000020004" pitchFamily="49" charset="0"/>
              </a:rPr>
              <a:t>MPItrav</a:t>
            </a:r>
            <a:r>
              <a:rPr lang="en-US" sz="2000" b="0" noProof="0" dirty="0">
                <a:solidFill>
                  <a:srgbClr val="000000"/>
                </a:solidFill>
                <a:effectLst/>
                <a:latin typeface="Fira Code" panose="020B0809050000020004" pitchFamily="49" charset="0"/>
              </a:rPr>
              <a:t>);</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8286642" y="3598507"/>
            <a:ext cx="196012" cy="522578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6" name="TextBox 55">
            <a:extLst>
              <a:ext uri="{FF2B5EF4-FFF2-40B4-BE49-F238E27FC236}">
                <a16:creationId xmlns:a16="http://schemas.microsoft.com/office/drawing/2014/main" id="{FA4348FA-14AF-AE42-2449-6C4790D0706A}"/>
              </a:ext>
            </a:extLst>
          </p:cNvPr>
          <p:cNvSpPr txBox="1"/>
          <p:nvPr/>
        </p:nvSpPr>
        <p:spPr>
          <a:xfrm>
            <a:off x="6650758" y="6300823"/>
            <a:ext cx="3467779" cy="369332"/>
          </a:xfrm>
          <a:prstGeom prst="rect">
            <a:avLst/>
          </a:prstGeom>
          <a:noFill/>
        </p:spPr>
        <p:txBody>
          <a:bodyPr wrap="square" rtlCol="0">
            <a:spAutoFit/>
          </a:bodyPr>
          <a:lstStyle/>
          <a:p>
            <a:pPr algn="ctr"/>
            <a:r>
              <a:rPr lang="en-US" noProof="0" dirty="0"/>
              <a:t>Gathers the tiles into the result</a:t>
            </a: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412156" y="3162420"/>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8885" y="3049108"/>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412156" y="3988961"/>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412156" y="4696523"/>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412156" y="5407427"/>
            <a:ext cx="521160" cy="521160"/>
          </a:xfrm>
          <a:prstGeom prst="rect">
            <a:avLst/>
          </a:prstGeom>
        </p:spPr>
      </p:pic>
      <p:sp>
        <p:nvSpPr>
          <p:cNvPr id="28" name="Right Brace 27">
            <a:extLst>
              <a:ext uri="{FF2B5EF4-FFF2-40B4-BE49-F238E27FC236}">
                <a16:creationId xmlns:a16="http://schemas.microsoft.com/office/drawing/2014/main" id="{33DFE98B-B773-C0A8-5D8E-16846E420AC9}"/>
              </a:ext>
            </a:extLst>
          </p:cNvPr>
          <p:cNvSpPr/>
          <p:nvPr/>
        </p:nvSpPr>
        <p:spPr>
          <a:xfrm>
            <a:off x="2684016" y="3049108"/>
            <a:ext cx="153563" cy="3067050"/>
          </a:xfrm>
          <a:prstGeom prst="rightBrace">
            <a:avLst>
              <a:gd name="adj1" fmla="val 8333"/>
              <a:gd name="adj2" fmla="val 72774"/>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EE10E03B-CD42-27DC-6DF5-CB9596382EE5}"/>
                  </a:ext>
                </a:extLst>
              </p:cNvPr>
              <p:cNvSpPr txBox="1"/>
              <p:nvPr/>
            </p:nvSpPr>
            <p:spPr>
              <a:xfrm>
                <a:off x="2783414" y="5102729"/>
                <a:ext cx="1567391" cy="369332"/>
              </a:xfrm>
              <a:prstGeom prst="rect">
                <a:avLst/>
              </a:prstGeom>
              <a:noFill/>
            </p:spPr>
            <p:txBody>
              <a:bodyPr wrap="square" rtlCol="0">
                <a:spAutoFit/>
              </a:bodyPr>
              <a:lstStyle/>
              <a:p>
                <a14:m>
                  <m:oMath xmlns:m="http://schemas.openxmlformats.org/officeDocument/2006/math">
                    <m:r>
                      <a:rPr lang="en-US" i="1" noProof="0" smtClean="0">
                        <a:solidFill>
                          <a:srgbClr val="FF0000"/>
                        </a:solidFill>
                        <a:latin typeface="Cambria Math" panose="02040503050406030204" pitchFamily="18" charset="0"/>
                      </a:rPr>
                      <m:t>𝑀</m:t>
                    </m:r>
                  </m:oMath>
                </a14:m>
                <a:r>
                  <a:rPr lang="en-US" noProof="0" dirty="0"/>
                  <a:t> blocks of </a:t>
                </a:r>
                <a14:m>
                  <m:oMath xmlns:m="http://schemas.openxmlformats.org/officeDocument/2006/math">
                    <m:r>
                      <a:rPr lang="en-US" i="1" noProof="0" smtClean="0">
                        <a:solidFill>
                          <a:srgbClr val="FF0000"/>
                        </a:solidFill>
                        <a:latin typeface="Cambria Math" panose="02040503050406030204" pitchFamily="18" charset="0"/>
                      </a:rPr>
                      <m:t>𝑚</m:t>
                    </m:r>
                  </m:oMath>
                </a14:m>
                <a:endParaRPr lang="en-US" noProof="0" dirty="0"/>
              </a:p>
            </p:txBody>
          </p:sp>
        </mc:Choice>
        <mc:Fallback>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2783414" y="5102729"/>
                <a:ext cx="1567391" cy="369332"/>
              </a:xfrm>
              <a:prstGeom prst="rect">
                <a:avLst/>
              </a:prstGeom>
              <a:blipFill>
                <a:blip r:embed="rId8"/>
                <a:stretch>
                  <a:fillRect t="-6557" b="-262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830D2A10-C3C9-5980-4B7C-1920E7A6499E}"/>
                  </a:ext>
                </a:extLst>
              </p:cNvPr>
              <p:cNvSpPr txBox="1"/>
              <p:nvPr/>
            </p:nvSpPr>
            <p:spPr>
              <a:xfrm>
                <a:off x="1033705" y="2614207"/>
                <a:ext cx="1567391" cy="369332"/>
              </a:xfrm>
              <a:prstGeom prst="rect">
                <a:avLst/>
              </a:prstGeom>
              <a:noFill/>
            </p:spPr>
            <p:txBody>
              <a:bodyPr wrap="square" rtlCol="0">
                <a:spAutoFit/>
              </a:bodyPr>
              <a:lstStyle/>
              <a:p>
                <a:pPr/>
                <a14:m>
                  <m:oMathPara xmlns:m="http://schemas.openxmlformats.org/officeDocument/2006/math">
                    <m:oMath>
                      <m:r>
                        <a:rPr lang="en-US" b="0" i="1" noProof="0" smtClean="0">
                          <a:solidFill>
                            <a:srgbClr val="FF0000"/>
                          </a:solidFill>
                          <a:latin typeface="Cambria Math" panose="02040503050406030204" pitchFamily="18" charset="0"/>
                        </a:rPr>
                        <m:t>𝑛</m:t>
                      </m:r>
                    </m:oMath>
                  </m:oMathPara>
                </a14:m>
                <a:endParaRPr lang="en-US" noProof="0" dirty="0"/>
              </a:p>
            </p:txBody>
          </p:sp>
        </mc:Choice>
        <mc:Fallback>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033705" y="2614207"/>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904990" y="3406997"/>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904990" y="4199953"/>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904990" y="4957103"/>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904990" y="5719407"/>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1466876" y="6116157"/>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noProof="0" dirty="0"/>
          </a:p>
        </p:txBody>
      </p:sp>
      <p:sp>
        <p:nvSpPr>
          <p:cNvPr id="50" name="Left Brace 49">
            <a:extLst>
              <a:ext uri="{FF2B5EF4-FFF2-40B4-BE49-F238E27FC236}">
                <a16:creationId xmlns:a16="http://schemas.microsoft.com/office/drawing/2014/main" id="{E95766C1-B5D9-13B5-FB19-BBB779E706C4}"/>
              </a:ext>
            </a:extLst>
          </p:cNvPr>
          <p:cNvSpPr/>
          <p:nvPr/>
        </p:nvSpPr>
        <p:spPr>
          <a:xfrm>
            <a:off x="338460" y="3049108"/>
            <a:ext cx="122402" cy="311153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634661" y="4368896"/>
            <a:ext cx="1638654" cy="369332"/>
          </a:xfrm>
          <a:prstGeom prst="rect">
            <a:avLst/>
          </a:prstGeom>
          <a:noFill/>
        </p:spPr>
        <p:txBody>
          <a:bodyPr wrap="none" rtlCol="0">
            <a:spAutoFit/>
          </a:bodyPr>
          <a:lstStyle/>
          <a:p>
            <a:r>
              <a:rPr lang="en-US" noProof="0" dirty="0"/>
              <a:t>MPI processes</a:t>
            </a:r>
          </a:p>
        </p:txBody>
      </p:sp>
      <p:sp>
        <p:nvSpPr>
          <p:cNvPr id="9" name="TextBox 8">
            <a:extLst>
              <a:ext uri="{FF2B5EF4-FFF2-40B4-BE49-F238E27FC236}">
                <a16:creationId xmlns:a16="http://schemas.microsoft.com/office/drawing/2014/main" id="{EC115D85-1245-54F7-5612-78A120D97EC4}"/>
              </a:ext>
            </a:extLst>
          </p:cNvPr>
          <p:cNvSpPr txBox="1"/>
          <p:nvPr/>
        </p:nvSpPr>
        <p:spPr>
          <a:xfrm>
            <a:off x="3018253" y="2935084"/>
            <a:ext cx="8685169" cy="2167645"/>
          </a:xfrm>
          <a:prstGeom prst="rect">
            <a:avLst/>
          </a:prstGeom>
          <a:noFill/>
        </p:spPr>
        <p:txBody>
          <a:bodyPr wrap="square">
            <a:spAutoFit/>
          </a:bodyPr>
          <a:lstStyle/>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r>
              <a:rPr lang="en-US" sz="2000" noProof="0" dirty="0">
                <a:solidFill>
                  <a:srgbClr val="267F99"/>
                </a:solidFill>
                <a:latin typeface="Fira Code" panose="020B0809050000020004" pitchFamily="49" charset="0"/>
              </a:rPr>
              <a:t>auto Tile</a:t>
            </a:r>
            <a:r>
              <a:rPr lang="en-US" sz="2000" noProof="0" dirty="0">
                <a:solidFill>
                  <a:srgbClr val="000000"/>
                </a:solidFill>
                <a:latin typeface="Fira Code" panose="020B0809050000020004" pitchFamily="49" charset="0"/>
              </a:rPr>
              <a:t> = …</a:t>
            </a:r>
          </a:p>
          <a:p>
            <a:pPr>
              <a:lnSpc>
                <a:spcPct val="113095"/>
              </a:lnSpc>
              <a:buNone/>
            </a:pPr>
            <a:r>
              <a:rPr lang="en-US" sz="2000" b="0" noProof="0" dirty="0" err="1">
                <a:solidFill>
                  <a:srgbClr val="001080"/>
                </a:solidFill>
                <a:effectLst/>
                <a:latin typeface="Fira Code" panose="020B0809050000020004" pitchFamily="49" charset="0"/>
              </a:rPr>
              <a:t>MPItrav</a:t>
            </a:r>
            <a:r>
              <a:rPr lang="en-US" sz="2000" noProof="0" dirty="0" err="1">
                <a:solidFill>
                  <a:srgbClr val="000000"/>
                </a:solidFill>
                <a:latin typeface="Fira Code" panose="020B0809050000020004" pitchFamily="49" charset="0"/>
              </a:rPr>
              <a:t>.</a:t>
            </a:r>
            <a:r>
              <a:rPr lang="en-US" sz="2000" noProof="0" dirty="0" err="1">
                <a:solidFill>
                  <a:srgbClr val="795E26"/>
                </a:solidFill>
                <a:latin typeface="Fira Code" panose="020B0809050000020004" pitchFamily="49" charset="0"/>
              </a:rPr>
              <a:t>for_each</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70C1"/>
                </a:solidFill>
                <a:effectLst/>
                <a:latin typeface="Fira Code" panose="020B0809050000020004" pitchFamily="49" charset="0"/>
              </a:rPr>
              <a:t>Tile</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24" name="TextBox 23">
            <a:extLst>
              <a:ext uri="{FF2B5EF4-FFF2-40B4-BE49-F238E27FC236}">
                <a16:creationId xmlns:a16="http://schemas.microsoft.com/office/drawing/2014/main" id="{FA059D70-FCD1-6DBE-F6AD-CD030885F585}"/>
              </a:ext>
            </a:extLst>
          </p:cNvPr>
          <p:cNvSpPr txBox="1"/>
          <p:nvPr/>
        </p:nvSpPr>
        <p:spPr>
          <a:xfrm>
            <a:off x="2917939" y="1053229"/>
            <a:ext cx="2359365" cy="369332"/>
          </a:xfrm>
          <a:prstGeom prst="rect">
            <a:avLst/>
          </a:prstGeom>
          <a:noFill/>
        </p:spPr>
        <p:txBody>
          <a:bodyPr wrap="none" rtlCol="0">
            <a:spAutoFit/>
          </a:bodyPr>
          <a:lstStyle/>
          <a:p>
            <a:pPr algn="ctr"/>
            <a:r>
              <a:rPr lang="en-US" noProof="0" dirty="0"/>
              <a:t>We want to distribute:</a:t>
            </a:r>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43" grpId="0"/>
      <p:bldP spid="21" grpId="0"/>
      <p:bldP spid="25" grpId="0" animBg="1"/>
      <p:bldP spid="45" grpId="0"/>
      <p:bldP spid="54" grpId="0" animBg="1"/>
      <p:bldP spid="56" grpId="0"/>
      <p:bldP spid="9"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9/2/2026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4667457" y="1339278"/>
            <a:ext cx="3134191" cy="461665"/>
          </a:xfrm>
          <a:prstGeom prst="rect">
            <a:avLst/>
          </a:prstGeom>
          <a:noFill/>
        </p:spPr>
        <p:txBody>
          <a:bodyPr wrap="none" rtlCol="0">
            <a:spAutoFit/>
          </a:bodyPr>
          <a:lstStyle/>
          <a:p>
            <a:r>
              <a:rPr lang="en-US" sz="2400" noProof="0" dirty="0">
                <a:solidFill>
                  <a:srgbClr val="795E26"/>
                </a:solidFill>
                <a:latin typeface="Fira Code" panose="020B0809050000020004" pitchFamily="49" charset="0"/>
              </a:rPr>
              <a:t>send</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row_major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023316" y="3551624"/>
            <a:ext cx="3134191" cy="461665"/>
          </a:xfrm>
          <a:prstGeom prst="rect">
            <a:avLst/>
          </a:prstGeom>
          <a:noFill/>
        </p:spPr>
        <p:txBody>
          <a:bodyPr wrap="none" rtlCol="0">
            <a:spAutoFit/>
          </a:bodyPr>
          <a:lstStyle/>
          <a:p>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33555" y="3085823"/>
            <a:ext cx="913712" cy="523220"/>
          </a:xfrm>
          <a:prstGeom prst="rect">
            <a:avLst/>
          </a:prstGeom>
          <a:noFill/>
        </p:spPr>
        <p:txBody>
          <a:bodyPr wrap="none" rtlCol="0">
            <a:spAutoFit/>
          </a:bodyPr>
          <a:lstStyle/>
          <a:p>
            <a:pPr marL="0" algn="l" rtl="0" eaLnBrk="1" latinLnBrk="0" hangingPunct="1">
              <a:buNone/>
            </a:pPr>
            <a:r>
              <a:rPr lang="en-US" sz="2800" b="1" kern="1200" noProof="0" dirty="0">
                <a:solidFill>
                  <a:srgbClr val="000000"/>
                </a:solidFill>
                <a:effectLst/>
                <a:latin typeface="Aptos" panose="020B0004020202020204" pitchFamily="34" charset="0"/>
                <a:ea typeface="+mn-ea"/>
                <a:cs typeface="+mn-cs"/>
              </a:rPr>
              <a:t>ours</a:t>
            </a:r>
            <a:endParaRPr lang="en-US" sz="2800" noProof="0" dirty="0">
              <a:effectLst/>
            </a:endParaRPr>
          </a:p>
        </p:txBody>
      </p:sp>
      <p:sp>
        <p:nvSpPr>
          <p:cNvPr id="13" name="TextBox 12">
            <a:extLst>
              <a:ext uri="{FF2B5EF4-FFF2-40B4-BE49-F238E27FC236}">
                <a16:creationId xmlns:a16="http://schemas.microsoft.com/office/drawing/2014/main" id="{439C9CAD-9E1E-7EC1-4429-D017CA1092E1}"/>
              </a:ext>
            </a:extLst>
          </p:cNvPr>
          <p:cNvSpPr txBox="1"/>
          <p:nvPr/>
        </p:nvSpPr>
        <p:spPr>
          <a:xfrm>
            <a:off x="2503783" y="3082682"/>
            <a:ext cx="1062791" cy="523220"/>
          </a:xfrm>
          <a:prstGeom prst="rect">
            <a:avLst/>
          </a:prstGeom>
          <a:noFill/>
        </p:spPr>
        <p:txBody>
          <a:bodyPr wrap="none" rtlCol="0">
            <a:spAutoFit/>
          </a:bodyPr>
          <a:lstStyle/>
          <a:p>
            <a:pPr marL="0" algn="l" rtl="0" eaLnBrk="1" latinLnBrk="0" hangingPunct="1">
              <a:buNone/>
            </a:pPr>
            <a:r>
              <a:rPr lang="en-US" sz="2800" b="1" kern="1200" noProof="0" dirty="0">
                <a:solidFill>
                  <a:srgbClr val="C00000"/>
                </a:solidFill>
                <a:effectLst/>
                <a:latin typeface="Aptos" panose="020B0004020202020204" pitchFamily="34" charset="0"/>
                <a:ea typeface="+mn-ea"/>
                <a:cs typeface="+mn-cs"/>
              </a:rPr>
              <a:t>naive</a:t>
            </a:r>
            <a:endParaRPr lang="en-US" sz="2800" noProof="0" dirty="0">
              <a:effectLst/>
            </a:endParaRPr>
          </a:p>
        </p:txBody>
      </p:sp>
      <p:sp>
        <p:nvSpPr>
          <p:cNvPr id="26" name="TextBox 25">
            <a:extLst>
              <a:ext uri="{FF2B5EF4-FFF2-40B4-BE49-F238E27FC236}">
                <a16:creationId xmlns:a16="http://schemas.microsoft.com/office/drawing/2014/main" id="{961FBEC7-CB4A-332B-8305-81A140E2B4BC}"/>
              </a:ext>
            </a:extLst>
          </p:cNvPr>
          <p:cNvSpPr txBox="1"/>
          <p:nvPr/>
        </p:nvSpPr>
        <p:spPr>
          <a:xfrm>
            <a:off x="1505514" y="3478608"/>
            <a:ext cx="3134191" cy="461665"/>
          </a:xfrm>
          <a:prstGeom prst="rect">
            <a:avLst/>
          </a:prstGeom>
          <a:noFill/>
        </p:spPr>
        <p:txBody>
          <a:bodyPr wrap="none" rtlCol="0">
            <a:spAutoFit/>
          </a:bodyPr>
          <a:lstStyle/>
          <a:p>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cxnSp>
        <p:nvCxnSpPr>
          <p:cNvPr id="28" name="Straight Arrow Connector 27">
            <a:extLst>
              <a:ext uri="{FF2B5EF4-FFF2-40B4-BE49-F238E27FC236}">
                <a16:creationId xmlns:a16="http://schemas.microsoft.com/office/drawing/2014/main" id="{2045E9BC-7505-AE12-2FF8-B6E23CAD3D28}"/>
              </a:ext>
            </a:extLst>
          </p:cNvPr>
          <p:cNvCxnSpPr>
            <a:cxnSpLocks/>
          </p:cNvCxnSpPr>
          <p:nvPr/>
        </p:nvCxnSpPr>
        <p:spPr>
          <a:xfrm flipH="1">
            <a:off x="4035771" y="3798827"/>
            <a:ext cx="2199832" cy="14401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cxnSpLocks/>
          </p:cNvCxnSpPr>
          <p:nvPr/>
        </p:nvCxnSpPr>
        <p:spPr>
          <a:xfrm>
            <a:off x="6235603" y="3798827"/>
            <a:ext cx="2280209" cy="14766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321148" y="4578262"/>
            <a:ext cx="2350708" cy="461665"/>
          </a:xfrm>
          <a:prstGeom prst="rect">
            <a:avLst/>
          </a:prstGeom>
          <a:noFill/>
        </p:spPr>
        <p:txBody>
          <a:bodyPr wrap="none" rtlCol="0">
            <a:spAutoFit/>
          </a:bodyPr>
          <a:lstStyle/>
          <a:p>
            <a:pPr marL="0" algn="l" rtl="0" eaLnBrk="1" latinLnBrk="0" hangingPunct="1">
              <a:buNone/>
            </a:pPr>
            <a:r>
              <a:rPr lang="en-US" sz="2400" b="1" kern="1200" noProof="0" dirty="0">
                <a:solidFill>
                  <a:srgbClr val="000000"/>
                </a:solidFill>
                <a:effectLst/>
                <a:latin typeface="Aptos" panose="020B0004020202020204" pitchFamily="34" charset="0"/>
                <a:ea typeface="+mn-ea"/>
                <a:cs typeface="+mn-cs"/>
              </a:rPr>
              <a:t>logical ordering</a:t>
            </a:r>
            <a:endParaRPr lang="en-US" sz="2400" noProof="0" dirty="0">
              <a:effectLst/>
            </a:endParaRP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072345" y="4454517"/>
            <a:ext cx="2297873" cy="461665"/>
          </a:xfrm>
          <a:prstGeom prst="rect">
            <a:avLst/>
          </a:prstGeom>
          <a:noFill/>
        </p:spPr>
        <p:txBody>
          <a:bodyPr wrap="none" rtlCol="0">
            <a:spAutoFit/>
          </a:bodyPr>
          <a:lstStyle/>
          <a:p>
            <a:pPr marL="0" algn="l" rtl="0" eaLnBrk="1" latinLnBrk="0" hangingPunct="1">
              <a:buNone/>
            </a:pPr>
            <a:r>
              <a:rPr lang="en-US" sz="2400" b="1" kern="1200" noProof="0" dirty="0">
                <a:solidFill>
                  <a:srgbClr val="C00000"/>
                </a:solidFill>
                <a:effectLst/>
                <a:latin typeface="Aptos" panose="020B0004020202020204" pitchFamily="34" charset="0"/>
                <a:ea typeface="+mn-ea"/>
                <a:cs typeface="+mn-cs"/>
              </a:rPr>
              <a:t>physical layout</a:t>
            </a:r>
            <a:endParaRPr lang="en-US" sz="2400" noProof="0" dirty="0">
              <a:effectLst/>
            </a:endParaRP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8023316" y="1515849"/>
            <a:ext cx="2743200" cy="912635"/>
            <a:chOff x="8661401" y="1810235"/>
            <a:chExt cx="2743200" cy="912635"/>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26744"/>
                <a:gd name="adj2" fmla="val 179316"/>
                <a:gd name="adj3" fmla="val 16667"/>
              </a:avLst>
            </a:prstGeom>
            <a:solidFill>
              <a:srgbClr val="7ABEED"/>
            </a:solidFill>
            <a:ln w="19050"/>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661401" y="1812471"/>
              <a:ext cx="2743200" cy="898064"/>
            </a:xfrm>
            <a:prstGeom prst="wedgeRoundRectCallout">
              <a:avLst>
                <a:gd name="adj1" fmla="val -59905"/>
                <a:gd name="adj2" fmla="val -45335"/>
                <a:gd name="adj3" fmla="val 16667"/>
              </a:avLst>
            </a:prstGeom>
            <a:ln w="19050"/>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000" noProof="0" dirty="0"/>
                <a:t>Same for </a:t>
              </a:r>
              <a:r>
                <a:rPr lang="en-US" sz="2000" noProof="0" dirty="0" err="1">
                  <a:solidFill>
                    <a:srgbClr val="795E26"/>
                  </a:solidFill>
                  <a:latin typeface="Fira Code" panose="020B0809050000020004" pitchFamily="49" charset="0"/>
                </a:rPr>
                <a:t>bcast</a:t>
              </a:r>
              <a:r>
                <a:rPr lang="en-US" sz="2000" noProof="0" dirty="0"/>
                <a:t>, </a:t>
              </a:r>
              <a:r>
                <a:rPr lang="en-US" sz="2000" noProof="0" dirty="0">
                  <a:solidFill>
                    <a:srgbClr val="795E26"/>
                  </a:solidFill>
                  <a:latin typeface="Fira Code" panose="020B0809050000020004" pitchFamily="49" charset="0"/>
                </a:rPr>
                <a:t>scatter</a:t>
              </a:r>
              <a:r>
                <a:rPr lang="en-US" sz="2000" noProof="0" dirty="0"/>
                <a:t>, </a:t>
              </a:r>
              <a:r>
                <a:rPr lang="en-US" sz="2000" noProof="0" dirty="0">
                  <a:solidFill>
                    <a:srgbClr val="795E26"/>
                  </a:solidFill>
                  <a:latin typeface="Fira Code" panose="020B0809050000020004" pitchFamily="49" charset="0"/>
                </a:rPr>
                <a:t>gather</a:t>
              </a:r>
              <a:r>
                <a:rPr lang="en-US" sz="2000" noProof="0"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58748" y="2621961"/>
              <a:ext cx="653208" cy="100909"/>
            </a:xfrm>
            <a:prstGeom prst="roundRect">
              <a:avLst>
                <a:gd name="adj" fmla="val 50000"/>
              </a:avLst>
            </a:prstGeom>
            <a:solidFill>
              <a:srgbClr val="7ABEED"/>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grpSp>
      <p:grpSp>
        <p:nvGrpSpPr>
          <p:cNvPr id="247" name="Group 246">
            <a:extLst>
              <a:ext uri="{FF2B5EF4-FFF2-40B4-BE49-F238E27FC236}">
                <a16:creationId xmlns:a16="http://schemas.microsoft.com/office/drawing/2014/main" id="{39546144-54F9-8B96-CF33-3E5BF0E44AE0}"/>
              </a:ext>
            </a:extLst>
          </p:cNvPr>
          <p:cNvGrpSpPr/>
          <p:nvPr/>
        </p:nvGrpSpPr>
        <p:grpSpPr>
          <a:xfrm>
            <a:off x="8560458" y="3978562"/>
            <a:ext cx="1959624" cy="2612861"/>
            <a:chOff x="2695324" y="4724546"/>
            <a:chExt cx="1959624" cy="2612861"/>
          </a:xfrm>
        </p:grpSpPr>
        <p:sp>
          <p:nvSpPr>
            <p:cNvPr id="248" name="Rectangle 247">
              <a:extLst>
                <a:ext uri="{FF2B5EF4-FFF2-40B4-BE49-F238E27FC236}">
                  <a16:creationId xmlns:a16="http://schemas.microsoft.com/office/drawing/2014/main" id="{67E95BE1-B58B-3D52-8832-A34FFB8E47B2}"/>
                </a:ext>
              </a:extLst>
            </p:cNvPr>
            <p:cNvSpPr/>
            <p:nvPr/>
          </p:nvSpPr>
          <p:spPr>
            <a:xfrm>
              <a:off x="2695324" y="4724546"/>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1</a:t>
              </a:r>
            </a:p>
          </p:txBody>
        </p:sp>
        <p:sp>
          <p:nvSpPr>
            <p:cNvPr id="249" name="Rectangle 248">
              <a:extLst>
                <a:ext uri="{FF2B5EF4-FFF2-40B4-BE49-F238E27FC236}">
                  <a16:creationId xmlns:a16="http://schemas.microsoft.com/office/drawing/2014/main" id="{3C510894-67E4-56EC-75D0-C5A3D4CEDB8B}"/>
                </a:ext>
              </a:extLst>
            </p:cNvPr>
            <p:cNvSpPr/>
            <p:nvPr/>
          </p:nvSpPr>
          <p:spPr>
            <a:xfrm>
              <a:off x="2695324" y="5377761"/>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2</a:t>
              </a:r>
            </a:p>
          </p:txBody>
        </p:sp>
        <p:sp>
          <p:nvSpPr>
            <p:cNvPr id="250" name="Rectangle 249">
              <a:extLst>
                <a:ext uri="{FF2B5EF4-FFF2-40B4-BE49-F238E27FC236}">
                  <a16:creationId xmlns:a16="http://schemas.microsoft.com/office/drawing/2014/main" id="{8BBB6E45-3B33-3D7B-ECFA-C6D524DC0C69}"/>
                </a:ext>
              </a:extLst>
            </p:cNvPr>
            <p:cNvSpPr/>
            <p:nvPr/>
          </p:nvSpPr>
          <p:spPr>
            <a:xfrm>
              <a:off x="2695324" y="6030977"/>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3</a:t>
              </a:r>
            </a:p>
          </p:txBody>
        </p:sp>
        <p:sp>
          <p:nvSpPr>
            <p:cNvPr id="251" name="Rectangle 250">
              <a:extLst>
                <a:ext uri="{FF2B5EF4-FFF2-40B4-BE49-F238E27FC236}">
                  <a16:creationId xmlns:a16="http://schemas.microsoft.com/office/drawing/2014/main" id="{3C804533-48C9-60EF-0ED7-DAA1CB46E57F}"/>
                </a:ext>
              </a:extLst>
            </p:cNvPr>
            <p:cNvSpPr/>
            <p:nvPr/>
          </p:nvSpPr>
          <p:spPr>
            <a:xfrm>
              <a:off x="2695324" y="6684192"/>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4</a:t>
              </a:r>
            </a:p>
          </p:txBody>
        </p:sp>
        <p:sp>
          <p:nvSpPr>
            <p:cNvPr id="252" name="Rectangle 251">
              <a:extLst>
                <a:ext uri="{FF2B5EF4-FFF2-40B4-BE49-F238E27FC236}">
                  <a16:creationId xmlns:a16="http://schemas.microsoft.com/office/drawing/2014/main" id="{F75E07F7-895B-5974-F694-EF3CBD895052}"/>
                </a:ext>
              </a:extLst>
            </p:cNvPr>
            <p:cNvSpPr/>
            <p:nvPr/>
          </p:nvSpPr>
          <p:spPr>
            <a:xfrm>
              <a:off x="3348532" y="4724546"/>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5</a:t>
              </a:r>
            </a:p>
          </p:txBody>
        </p:sp>
        <p:sp>
          <p:nvSpPr>
            <p:cNvPr id="253" name="Rectangle 252">
              <a:extLst>
                <a:ext uri="{FF2B5EF4-FFF2-40B4-BE49-F238E27FC236}">
                  <a16:creationId xmlns:a16="http://schemas.microsoft.com/office/drawing/2014/main" id="{027BD938-2CE3-50FB-5A6C-DF7578D19233}"/>
                </a:ext>
              </a:extLst>
            </p:cNvPr>
            <p:cNvSpPr/>
            <p:nvPr/>
          </p:nvSpPr>
          <p:spPr>
            <a:xfrm>
              <a:off x="3348532" y="5377761"/>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6</a:t>
              </a:r>
            </a:p>
          </p:txBody>
        </p:sp>
        <p:sp>
          <p:nvSpPr>
            <p:cNvPr id="254" name="Rectangle 253">
              <a:extLst>
                <a:ext uri="{FF2B5EF4-FFF2-40B4-BE49-F238E27FC236}">
                  <a16:creationId xmlns:a16="http://schemas.microsoft.com/office/drawing/2014/main" id="{CD2BF58C-4B2A-DDB2-0590-4FA5296E7978}"/>
                </a:ext>
              </a:extLst>
            </p:cNvPr>
            <p:cNvSpPr/>
            <p:nvPr/>
          </p:nvSpPr>
          <p:spPr>
            <a:xfrm>
              <a:off x="3348532" y="6030977"/>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7</a:t>
              </a:r>
            </a:p>
          </p:txBody>
        </p:sp>
        <p:sp>
          <p:nvSpPr>
            <p:cNvPr id="255" name="Rectangle 254">
              <a:extLst>
                <a:ext uri="{FF2B5EF4-FFF2-40B4-BE49-F238E27FC236}">
                  <a16:creationId xmlns:a16="http://schemas.microsoft.com/office/drawing/2014/main" id="{B2D05F2D-BBAD-A3F2-4410-20DFB91A330C}"/>
                </a:ext>
              </a:extLst>
            </p:cNvPr>
            <p:cNvSpPr/>
            <p:nvPr/>
          </p:nvSpPr>
          <p:spPr>
            <a:xfrm>
              <a:off x="3348532" y="6684192"/>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8</a:t>
              </a:r>
            </a:p>
          </p:txBody>
        </p:sp>
        <p:sp>
          <p:nvSpPr>
            <p:cNvPr id="256" name="Rectangle 255">
              <a:extLst>
                <a:ext uri="{FF2B5EF4-FFF2-40B4-BE49-F238E27FC236}">
                  <a16:creationId xmlns:a16="http://schemas.microsoft.com/office/drawing/2014/main" id="{11714080-B8B6-1EEC-E322-0AC57C54313B}"/>
                </a:ext>
              </a:extLst>
            </p:cNvPr>
            <p:cNvSpPr/>
            <p:nvPr/>
          </p:nvSpPr>
          <p:spPr>
            <a:xfrm>
              <a:off x="4001740" y="4724546"/>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9</a:t>
              </a:r>
            </a:p>
          </p:txBody>
        </p:sp>
        <p:sp>
          <p:nvSpPr>
            <p:cNvPr id="257" name="Rectangle 256">
              <a:extLst>
                <a:ext uri="{FF2B5EF4-FFF2-40B4-BE49-F238E27FC236}">
                  <a16:creationId xmlns:a16="http://schemas.microsoft.com/office/drawing/2014/main" id="{404FCA19-9279-8EAF-394F-45A3EA34AFA0}"/>
                </a:ext>
              </a:extLst>
            </p:cNvPr>
            <p:cNvSpPr/>
            <p:nvPr/>
          </p:nvSpPr>
          <p:spPr>
            <a:xfrm>
              <a:off x="4001740" y="5377761"/>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10</a:t>
              </a:r>
            </a:p>
          </p:txBody>
        </p:sp>
        <p:sp>
          <p:nvSpPr>
            <p:cNvPr id="258" name="Rectangle 257">
              <a:extLst>
                <a:ext uri="{FF2B5EF4-FFF2-40B4-BE49-F238E27FC236}">
                  <a16:creationId xmlns:a16="http://schemas.microsoft.com/office/drawing/2014/main" id="{E1955B61-0DF9-348A-80A9-1BF1B88C14B7}"/>
                </a:ext>
              </a:extLst>
            </p:cNvPr>
            <p:cNvSpPr/>
            <p:nvPr/>
          </p:nvSpPr>
          <p:spPr>
            <a:xfrm>
              <a:off x="4001740" y="6030977"/>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11</a:t>
              </a:r>
            </a:p>
          </p:txBody>
        </p:sp>
        <p:sp>
          <p:nvSpPr>
            <p:cNvPr id="259" name="Rectangle 258">
              <a:extLst>
                <a:ext uri="{FF2B5EF4-FFF2-40B4-BE49-F238E27FC236}">
                  <a16:creationId xmlns:a16="http://schemas.microsoft.com/office/drawing/2014/main" id="{EE589CD3-DC6E-F797-F207-8CE5ABDE65D0}"/>
                </a:ext>
              </a:extLst>
            </p:cNvPr>
            <p:cNvSpPr/>
            <p:nvPr/>
          </p:nvSpPr>
          <p:spPr>
            <a:xfrm>
              <a:off x="4001740" y="6684192"/>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12</a:t>
              </a:r>
            </a:p>
          </p:txBody>
        </p:sp>
      </p:grpSp>
      <p:grpSp>
        <p:nvGrpSpPr>
          <p:cNvPr id="262" name="Group 261">
            <a:extLst>
              <a:ext uri="{FF2B5EF4-FFF2-40B4-BE49-F238E27FC236}">
                <a16:creationId xmlns:a16="http://schemas.microsoft.com/office/drawing/2014/main" id="{E3BFC522-F1EF-2168-0CD0-4D620EEFE5BA}"/>
              </a:ext>
            </a:extLst>
          </p:cNvPr>
          <p:cNvGrpSpPr/>
          <p:nvPr/>
        </p:nvGrpSpPr>
        <p:grpSpPr>
          <a:xfrm>
            <a:off x="4928137" y="1806440"/>
            <a:ext cx="2612833" cy="1959646"/>
            <a:chOff x="2695324" y="2111684"/>
            <a:chExt cx="2612833" cy="1959646"/>
          </a:xfrm>
        </p:grpSpPr>
        <p:sp>
          <p:nvSpPr>
            <p:cNvPr id="263" name="Rectangle 262">
              <a:extLst>
                <a:ext uri="{FF2B5EF4-FFF2-40B4-BE49-F238E27FC236}">
                  <a16:creationId xmlns:a16="http://schemas.microsoft.com/office/drawing/2014/main" id="{C24216A8-419D-DB33-BC85-B971CEB56A4E}"/>
                </a:ext>
              </a:extLst>
            </p:cNvPr>
            <p:cNvSpPr/>
            <p:nvPr/>
          </p:nvSpPr>
          <p:spPr>
            <a:xfrm>
              <a:off x="2695324" y="2111684"/>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1</a:t>
              </a:r>
            </a:p>
          </p:txBody>
        </p:sp>
        <p:sp>
          <p:nvSpPr>
            <p:cNvPr id="264" name="Rectangle 263">
              <a:extLst>
                <a:ext uri="{FF2B5EF4-FFF2-40B4-BE49-F238E27FC236}">
                  <a16:creationId xmlns:a16="http://schemas.microsoft.com/office/drawing/2014/main" id="{311C226C-C930-FE9B-896D-7A8A1C8DC3AE}"/>
                </a:ext>
              </a:extLst>
            </p:cNvPr>
            <p:cNvSpPr/>
            <p:nvPr/>
          </p:nvSpPr>
          <p:spPr>
            <a:xfrm>
              <a:off x="3348532" y="2111684"/>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2</a:t>
              </a:r>
            </a:p>
          </p:txBody>
        </p:sp>
        <p:sp>
          <p:nvSpPr>
            <p:cNvPr id="265" name="Rectangle 264">
              <a:extLst>
                <a:ext uri="{FF2B5EF4-FFF2-40B4-BE49-F238E27FC236}">
                  <a16:creationId xmlns:a16="http://schemas.microsoft.com/office/drawing/2014/main" id="{35980DA4-ADFC-6F8A-0BA1-010E6EE067E0}"/>
                </a:ext>
              </a:extLst>
            </p:cNvPr>
            <p:cNvSpPr/>
            <p:nvPr/>
          </p:nvSpPr>
          <p:spPr>
            <a:xfrm>
              <a:off x="4001740" y="2111684"/>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3</a:t>
              </a:r>
            </a:p>
          </p:txBody>
        </p:sp>
        <p:sp>
          <p:nvSpPr>
            <p:cNvPr id="266" name="Rectangle 265">
              <a:extLst>
                <a:ext uri="{FF2B5EF4-FFF2-40B4-BE49-F238E27FC236}">
                  <a16:creationId xmlns:a16="http://schemas.microsoft.com/office/drawing/2014/main" id="{569D00A0-CC33-75F5-4446-A596ADE4352F}"/>
                </a:ext>
              </a:extLst>
            </p:cNvPr>
            <p:cNvSpPr/>
            <p:nvPr/>
          </p:nvSpPr>
          <p:spPr>
            <a:xfrm>
              <a:off x="4654949" y="2111684"/>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4</a:t>
              </a:r>
            </a:p>
          </p:txBody>
        </p:sp>
        <p:sp>
          <p:nvSpPr>
            <p:cNvPr id="267" name="Rectangle 266">
              <a:extLst>
                <a:ext uri="{FF2B5EF4-FFF2-40B4-BE49-F238E27FC236}">
                  <a16:creationId xmlns:a16="http://schemas.microsoft.com/office/drawing/2014/main" id="{ACC0D66D-D18E-C431-AA37-49C15CC7EC41}"/>
                </a:ext>
              </a:extLst>
            </p:cNvPr>
            <p:cNvSpPr/>
            <p:nvPr/>
          </p:nvSpPr>
          <p:spPr>
            <a:xfrm>
              <a:off x="2695324" y="2764899"/>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5</a:t>
              </a:r>
            </a:p>
          </p:txBody>
        </p:sp>
        <p:sp>
          <p:nvSpPr>
            <p:cNvPr id="268" name="Rectangle 267">
              <a:extLst>
                <a:ext uri="{FF2B5EF4-FFF2-40B4-BE49-F238E27FC236}">
                  <a16:creationId xmlns:a16="http://schemas.microsoft.com/office/drawing/2014/main" id="{A29CA531-0659-5409-828F-DD6F3284FF20}"/>
                </a:ext>
              </a:extLst>
            </p:cNvPr>
            <p:cNvSpPr/>
            <p:nvPr/>
          </p:nvSpPr>
          <p:spPr>
            <a:xfrm>
              <a:off x="3348532" y="2764899"/>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6</a:t>
              </a:r>
            </a:p>
          </p:txBody>
        </p:sp>
        <p:sp>
          <p:nvSpPr>
            <p:cNvPr id="269" name="Rectangle 268">
              <a:extLst>
                <a:ext uri="{FF2B5EF4-FFF2-40B4-BE49-F238E27FC236}">
                  <a16:creationId xmlns:a16="http://schemas.microsoft.com/office/drawing/2014/main" id="{F2F9797C-CE4F-B9BB-281C-DA3FE25AE0A9}"/>
                </a:ext>
              </a:extLst>
            </p:cNvPr>
            <p:cNvSpPr/>
            <p:nvPr/>
          </p:nvSpPr>
          <p:spPr>
            <a:xfrm>
              <a:off x="4001740" y="2764899"/>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7</a:t>
              </a:r>
            </a:p>
          </p:txBody>
        </p:sp>
        <p:sp>
          <p:nvSpPr>
            <p:cNvPr id="270" name="Rectangle 269">
              <a:extLst>
                <a:ext uri="{FF2B5EF4-FFF2-40B4-BE49-F238E27FC236}">
                  <a16:creationId xmlns:a16="http://schemas.microsoft.com/office/drawing/2014/main" id="{5260F082-0A0A-3985-3FAB-DD757292FF8E}"/>
                </a:ext>
              </a:extLst>
            </p:cNvPr>
            <p:cNvSpPr/>
            <p:nvPr/>
          </p:nvSpPr>
          <p:spPr>
            <a:xfrm>
              <a:off x="4654949" y="2764899"/>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8</a:t>
              </a:r>
            </a:p>
          </p:txBody>
        </p:sp>
        <p:sp>
          <p:nvSpPr>
            <p:cNvPr id="271" name="Rectangle 270">
              <a:extLst>
                <a:ext uri="{FF2B5EF4-FFF2-40B4-BE49-F238E27FC236}">
                  <a16:creationId xmlns:a16="http://schemas.microsoft.com/office/drawing/2014/main" id="{8D3385A8-1686-1E53-4C0A-F729BFF0EA84}"/>
                </a:ext>
              </a:extLst>
            </p:cNvPr>
            <p:cNvSpPr/>
            <p:nvPr/>
          </p:nvSpPr>
          <p:spPr>
            <a:xfrm>
              <a:off x="2695324" y="3418115"/>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9</a:t>
              </a:r>
            </a:p>
          </p:txBody>
        </p:sp>
        <p:sp>
          <p:nvSpPr>
            <p:cNvPr id="272" name="Rectangle 271">
              <a:extLst>
                <a:ext uri="{FF2B5EF4-FFF2-40B4-BE49-F238E27FC236}">
                  <a16:creationId xmlns:a16="http://schemas.microsoft.com/office/drawing/2014/main" id="{5EB78552-7BB3-5601-6FFD-E537D2448EA2}"/>
                </a:ext>
              </a:extLst>
            </p:cNvPr>
            <p:cNvSpPr/>
            <p:nvPr/>
          </p:nvSpPr>
          <p:spPr>
            <a:xfrm>
              <a:off x="3348532" y="3418115"/>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10</a:t>
              </a:r>
            </a:p>
          </p:txBody>
        </p:sp>
        <p:sp>
          <p:nvSpPr>
            <p:cNvPr id="273" name="Rectangle 272">
              <a:extLst>
                <a:ext uri="{FF2B5EF4-FFF2-40B4-BE49-F238E27FC236}">
                  <a16:creationId xmlns:a16="http://schemas.microsoft.com/office/drawing/2014/main" id="{1B25A40A-A26F-7725-07CE-39A7BFF318BE}"/>
                </a:ext>
              </a:extLst>
            </p:cNvPr>
            <p:cNvSpPr/>
            <p:nvPr/>
          </p:nvSpPr>
          <p:spPr>
            <a:xfrm>
              <a:off x="4001740" y="3418115"/>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11</a:t>
              </a:r>
            </a:p>
          </p:txBody>
        </p:sp>
        <p:sp>
          <p:nvSpPr>
            <p:cNvPr id="274" name="Rectangle 273">
              <a:extLst>
                <a:ext uri="{FF2B5EF4-FFF2-40B4-BE49-F238E27FC236}">
                  <a16:creationId xmlns:a16="http://schemas.microsoft.com/office/drawing/2014/main" id="{819EB925-88FA-DC61-7720-C364D646144D}"/>
                </a:ext>
              </a:extLst>
            </p:cNvPr>
            <p:cNvSpPr/>
            <p:nvPr/>
          </p:nvSpPr>
          <p:spPr>
            <a:xfrm>
              <a:off x="4654949" y="3418115"/>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12</a:t>
              </a:r>
            </a:p>
          </p:txBody>
        </p:sp>
      </p:grpSp>
      <p:grpSp>
        <p:nvGrpSpPr>
          <p:cNvPr id="275" name="Group 274">
            <a:extLst>
              <a:ext uri="{FF2B5EF4-FFF2-40B4-BE49-F238E27FC236}">
                <a16:creationId xmlns:a16="http://schemas.microsoft.com/office/drawing/2014/main" id="{417B981E-C63C-E124-C567-767FE72B7AAC}"/>
              </a:ext>
            </a:extLst>
          </p:cNvPr>
          <p:cNvGrpSpPr/>
          <p:nvPr/>
        </p:nvGrpSpPr>
        <p:grpSpPr>
          <a:xfrm>
            <a:off x="1998386" y="3932508"/>
            <a:ext cx="1959624" cy="2612861"/>
            <a:chOff x="7267782" y="2111684"/>
            <a:chExt cx="1959624" cy="2612861"/>
          </a:xfrm>
        </p:grpSpPr>
        <p:sp>
          <p:nvSpPr>
            <p:cNvPr id="276" name="Rectangle 275">
              <a:extLst>
                <a:ext uri="{FF2B5EF4-FFF2-40B4-BE49-F238E27FC236}">
                  <a16:creationId xmlns:a16="http://schemas.microsoft.com/office/drawing/2014/main" id="{E432A966-D3D9-4263-BD18-BBCFDC19418B}"/>
                </a:ext>
              </a:extLst>
            </p:cNvPr>
            <p:cNvSpPr/>
            <p:nvPr/>
          </p:nvSpPr>
          <p:spPr>
            <a:xfrm>
              <a:off x="7267782" y="2111684"/>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1</a:t>
              </a:r>
            </a:p>
          </p:txBody>
        </p:sp>
        <p:sp>
          <p:nvSpPr>
            <p:cNvPr id="277" name="Rectangle 276">
              <a:extLst>
                <a:ext uri="{FF2B5EF4-FFF2-40B4-BE49-F238E27FC236}">
                  <a16:creationId xmlns:a16="http://schemas.microsoft.com/office/drawing/2014/main" id="{6D77121A-E1BE-4D31-20A0-203F0D202B63}"/>
                </a:ext>
              </a:extLst>
            </p:cNvPr>
            <p:cNvSpPr/>
            <p:nvPr/>
          </p:nvSpPr>
          <p:spPr>
            <a:xfrm>
              <a:off x="7920990" y="2111684"/>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2</a:t>
              </a:r>
            </a:p>
          </p:txBody>
        </p:sp>
        <p:sp>
          <p:nvSpPr>
            <p:cNvPr id="278" name="Rectangle 277">
              <a:extLst>
                <a:ext uri="{FF2B5EF4-FFF2-40B4-BE49-F238E27FC236}">
                  <a16:creationId xmlns:a16="http://schemas.microsoft.com/office/drawing/2014/main" id="{C8419681-EE03-ECC7-F0F2-F2932A667AFE}"/>
                </a:ext>
              </a:extLst>
            </p:cNvPr>
            <p:cNvSpPr/>
            <p:nvPr/>
          </p:nvSpPr>
          <p:spPr>
            <a:xfrm>
              <a:off x="8574198" y="2111684"/>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3</a:t>
              </a:r>
            </a:p>
          </p:txBody>
        </p:sp>
        <p:sp>
          <p:nvSpPr>
            <p:cNvPr id="279" name="Rectangle 278">
              <a:extLst>
                <a:ext uri="{FF2B5EF4-FFF2-40B4-BE49-F238E27FC236}">
                  <a16:creationId xmlns:a16="http://schemas.microsoft.com/office/drawing/2014/main" id="{F166A70F-73ED-803F-3F0C-71DE3565EDBC}"/>
                </a:ext>
              </a:extLst>
            </p:cNvPr>
            <p:cNvSpPr/>
            <p:nvPr/>
          </p:nvSpPr>
          <p:spPr>
            <a:xfrm>
              <a:off x="7267782" y="2764899"/>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4</a:t>
              </a:r>
            </a:p>
          </p:txBody>
        </p:sp>
        <p:sp>
          <p:nvSpPr>
            <p:cNvPr id="280" name="Rectangle 279">
              <a:extLst>
                <a:ext uri="{FF2B5EF4-FFF2-40B4-BE49-F238E27FC236}">
                  <a16:creationId xmlns:a16="http://schemas.microsoft.com/office/drawing/2014/main" id="{E15C6862-61A1-8EFD-63CA-3918EB71239D}"/>
                </a:ext>
              </a:extLst>
            </p:cNvPr>
            <p:cNvSpPr/>
            <p:nvPr/>
          </p:nvSpPr>
          <p:spPr>
            <a:xfrm>
              <a:off x="7920990" y="2764899"/>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5</a:t>
              </a:r>
            </a:p>
          </p:txBody>
        </p:sp>
        <p:sp>
          <p:nvSpPr>
            <p:cNvPr id="281" name="Rectangle 280">
              <a:extLst>
                <a:ext uri="{FF2B5EF4-FFF2-40B4-BE49-F238E27FC236}">
                  <a16:creationId xmlns:a16="http://schemas.microsoft.com/office/drawing/2014/main" id="{972B3B49-62D6-42EF-3FA1-8E655F00AA44}"/>
                </a:ext>
              </a:extLst>
            </p:cNvPr>
            <p:cNvSpPr/>
            <p:nvPr/>
          </p:nvSpPr>
          <p:spPr>
            <a:xfrm>
              <a:off x="8574198" y="2764899"/>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6</a:t>
              </a:r>
            </a:p>
          </p:txBody>
        </p:sp>
        <p:sp>
          <p:nvSpPr>
            <p:cNvPr id="282" name="Rectangle 281">
              <a:extLst>
                <a:ext uri="{FF2B5EF4-FFF2-40B4-BE49-F238E27FC236}">
                  <a16:creationId xmlns:a16="http://schemas.microsoft.com/office/drawing/2014/main" id="{A1D4053D-B172-78CF-A694-B1E16F5EC418}"/>
                </a:ext>
              </a:extLst>
            </p:cNvPr>
            <p:cNvSpPr/>
            <p:nvPr/>
          </p:nvSpPr>
          <p:spPr>
            <a:xfrm>
              <a:off x="7267782" y="3418115"/>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7</a:t>
              </a:r>
            </a:p>
          </p:txBody>
        </p:sp>
        <p:sp>
          <p:nvSpPr>
            <p:cNvPr id="283" name="Rectangle 282">
              <a:extLst>
                <a:ext uri="{FF2B5EF4-FFF2-40B4-BE49-F238E27FC236}">
                  <a16:creationId xmlns:a16="http://schemas.microsoft.com/office/drawing/2014/main" id="{80CA5CB3-BDE6-56FD-A424-135F609A4B33}"/>
                </a:ext>
              </a:extLst>
            </p:cNvPr>
            <p:cNvSpPr/>
            <p:nvPr/>
          </p:nvSpPr>
          <p:spPr>
            <a:xfrm>
              <a:off x="7920990" y="3418115"/>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8</a:t>
              </a:r>
            </a:p>
          </p:txBody>
        </p:sp>
        <p:sp>
          <p:nvSpPr>
            <p:cNvPr id="284" name="Rectangle 283">
              <a:extLst>
                <a:ext uri="{FF2B5EF4-FFF2-40B4-BE49-F238E27FC236}">
                  <a16:creationId xmlns:a16="http://schemas.microsoft.com/office/drawing/2014/main" id="{DCF04BFA-01E3-13E2-55F2-91585F9FC85B}"/>
                </a:ext>
              </a:extLst>
            </p:cNvPr>
            <p:cNvSpPr/>
            <p:nvPr/>
          </p:nvSpPr>
          <p:spPr>
            <a:xfrm>
              <a:off x="8574198" y="3418115"/>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9</a:t>
              </a:r>
            </a:p>
          </p:txBody>
        </p:sp>
        <p:sp>
          <p:nvSpPr>
            <p:cNvPr id="285" name="Rectangle 284">
              <a:extLst>
                <a:ext uri="{FF2B5EF4-FFF2-40B4-BE49-F238E27FC236}">
                  <a16:creationId xmlns:a16="http://schemas.microsoft.com/office/drawing/2014/main" id="{9D1404AE-BDF6-8EDE-8D97-2B7F5AD57054}"/>
                </a:ext>
              </a:extLst>
            </p:cNvPr>
            <p:cNvSpPr/>
            <p:nvPr/>
          </p:nvSpPr>
          <p:spPr>
            <a:xfrm>
              <a:off x="7267782" y="4071330"/>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10</a:t>
              </a:r>
            </a:p>
          </p:txBody>
        </p:sp>
        <p:sp>
          <p:nvSpPr>
            <p:cNvPr id="286" name="Rectangle 285">
              <a:extLst>
                <a:ext uri="{FF2B5EF4-FFF2-40B4-BE49-F238E27FC236}">
                  <a16:creationId xmlns:a16="http://schemas.microsoft.com/office/drawing/2014/main" id="{D00AE7D2-DF24-407A-268B-452856AF8CC3}"/>
                </a:ext>
              </a:extLst>
            </p:cNvPr>
            <p:cNvSpPr/>
            <p:nvPr/>
          </p:nvSpPr>
          <p:spPr>
            <a:xfrm>
              <a:off x="7920990" y="4071330"/>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11</a:t>
              </a:r>
            </a:p>
          </p:txBody>
        </p:sp>
        <p:sp>
          <p:nvSpPr>
            <p:cNvPr id="287" name="Rectangle 286">
              <a:extLst>
                <a:ext uri="{FF2B5EF4-FFF2-40B4-BE49-F238E27FC236}">
                  <a16:creationId xmlns:a16="http://schemas.microsoft.com/office/drawing/2014/main" id="{AB675FF9-4A7E-55C7-0BD7-BB123C923E54}"/>
                </a:ext>
              </a:extLst>
            </p:cNvPr>
            <p:cNvSpPr/>
            <p:nvPr/>
          </p:nvSpPr>
          <p:spPr>
            <a:xfrm>
              <a:off x="8574198" y="4071330"/>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12</a:t>
              </a:r>
            </a:p>
          </p:txBody>
        </p:sp>
      </p:grpSp>
    </p:spTree>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4" grpId="0"/>
      <p:bldP spid="3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pic>
        <p:nvPicPr>
          <p:cNvPr id="8" name="Picture 7">
            <a:extLst>
              <a:ext uri="{FF2B5EF4-FFF2-40B4-BE49-F238E27FC236}">
                <a16:creationId xmlns:a16="http://schemas.microsoft.com/office/drawing/2014/main" id="{E0FCA7EC-7437-CC15-6D3A-990AAB3DDAFA}"/>
              </a:ext>
            </a:extLst>
          </p:cNvPr>
          <p:cNvPicPr>
            <a:picLocks noChangeAspect="1"/>
          </p:cNvPicPr>
          <p:nvPr/>
        </p:nvPicPr>
        <p:blipFill>
          <a:blip r:embed="rId3"/>
          <a:stretch>
            <a:fillRect/>
          </a:stretch>
        </p:blipFill>
        <p:spPr>
          <a:xfrm>
            <a:off x="0" y="1646281"/>
            <a:ext cx="12192000" cy="3565438"/>
          </a:xfrm>
          <a:prstGeom prst="rect">
            <a:avLst/>
          </a:prstGeom>
        </p:spPr>
      </p:pic>
    </p:spTree>
    <p:extLst>
      <p:ext uri="{BB962C8B-B14F-4D97-AF65-F5344CB8AC3E}">
        <p14:creationId xmlns:p14="http://schemas.microsoft.com/office/powerpoint/2010/main" val="202421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3AE25-E132-6DBD-F16F-E9598EA68D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2CBB0C-3BD1-5355-89AC-1EFD3483308F}"/>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28BB4D7E-1AFC-CDF0-9265-FE90CABB0DF6}"/>
              </a:ext>
            </a:extLst>
          </p:cNvPr>
          <p:cNvSpPr>
            <a:spLocks noGrp="1"/>
          </p:cNvSpPr>
          <p:nvPr>
            <p:ph type="dt" sz="half" idx="10"/>
          </p:nvPr>
        </p:nvSpPr>
        <p:spPr/>
        <p:txBody>
          <a:bodyPr/>
          <a:lstStyle/>
          <a:p>
            <a:fld id="{D2B8A75C-05AF-4892-8E0E-22A5D3C1A1D7}"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5F5A869E-F9A0-1579-FBDB-E8F79B3DF8D9}"/>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8" name="Picture 7">
            <a:extLst>
              <a:ext uri="{FF2B5EF4-FFF2-40B4-BE49-F238E27FC236}">
                <a16:creationId xmlns:a16="http://schemas.microsoft.com/office/drawing/2014/main" id="{9B147978-2CA9-0505-C6D4-60F25215B78C}"/>
              </a:ext>
            </a:extLst>
          </p:cNvPr>
          <p:cNvPicPr>
            <a:picLocks noChangeAspect="1"/>
          </p:cNvPicPr>
          <p:nvPr/>
        </p:nvPicPr>
        <p:blipFill>
          <a:blip r:embed="rId3"/>
          <a:stretch>
            <a:fillRect/>
          </a:stretch>
        </p:blipFill>
        <p:spPr>
          <a:xfrm>
            <a:off x="2628" y="1466512"/>
            <a:ext cx="12189372" cy="3924976"/>
          </a:xfrm>
          <a:prstGeom prst="rect">
            <a:avLst/>
          </a:prstGeom>
        </p:spPr>
      </p:pic>
    </p:spTree>
    <p:extLst>
      <p:ext uri="{BB962C8B-B14F-4D97-AF65-F5344CB8AC3E}">
        <p14:creationId xmlns:p14="http://schemas.microsoft.com/office/powerpoint/2010/main" val="39727034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grpSp>
        <p:nvGrpSpPr>
          <p:cNvPr id="13" name="Group 12">
            <a:extLst>
              <a:ext uri="{FF2B5EF4-FFF2-40B4-BE49-F238E27FC236}">
                <a16:creationId xmlns:a16="http://schemas.microsoft.com/office/drawing/2014/main" id="{A5BE2021-FCAC-8FB0-E321-D307239CA810}"/>
              </a:ext>
            </a:extLst>
          </p:cNvPr>
          <p:cNvGrpSpPr/>
          <p:nvPr/>
        </p:nvGrpSpPr>
        <p:grpSpPr>
          <a:xfrm>
            <a:off x="3074132" y="1339032"/>
            <a:ext cx="2969064" cy="732656"/>
            <a:chOff x="3417496" y="1428852"/>
            <a:chExt cx="2969064" cy="732656"/>
          </a:xfrm>
        </p:grpSpPr>
        <p:pic>
          <p:nvPicPr>
            <p:cNvPr id="7" name="Graphic 6" descr="Rain with solid fill">
              <a:extLst>
                <a:ext uri="{FF2B5EF4-FFF2-40B4-BE49-F238E27FC236}">
                  <a16:creationId xmlns:a16="http://schemas.microsoft.com/office/drawing/2014/main" id="{C82052E5-5676-1353-12D7-18B167CB27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7496" y="1428852"/>
              <a:ext cx="732656" cy="732656"/>
            </a:xfrm>
            <a:prstGeom prst="rect">
              <a:avLst/>
            </a:prstGeom>
          </p:spPr>
        </p:pic>
        <p:sp>
          <p:nvSpPr>
            <p:cNvPr id="9" name="TextBox 8">
              <a:extLst>
                <a:ext uri="{FF2B5EF4-FFF2-40B4-BE49-F238E27FC236}">
                  <a16:creationId xmlns:a16="http://schemas.microsoft.com/office/drawing/2014/main" id="{9D4FD725-88BE-61BC-EA94-E5BEA6E7C2CD}"/>
                </a:ext>
              </a:extLst>
            </p:cNvPr>
            <p:cNvSpPr txBox="1"/>
            <p:nvPr/>
          </p:nvSpPr>
          <p:spPr>
            <a:xfrm>
              <a:off x="4083685" y="1653739"/>
              <a:ext cx="2302875" cy="400110"/>
            </a:xfrm>
            <a:prstGeom prst="rect">
              <a:avLst/>
            </a:prstGeom>
            <a:noFill/>
          </p:spPr>
          <p:txBody>
            <a:bodyPr wrap="none" rtlCol="0">
              <a:spAutoFit/>
            </a:bodyPr>
            <a:lstStyle/>
            <a:p>
              <a:r>
                <a:rPr lang="en-US" sz="2000" noProof="0" dirty="0"/>
                <a:t>Weather prediction</a:t>
              </a:r>
            </a:p>
          </p:txBody>
        </p:sp>
      </p:grpSp>
      <p:grpSp>
        <p:nvGrpSpPr>
          <p:cNvPr id="10" name="Group 9">
            <a:extLst>
              <a:ext uri="{FF2B5EF4-FFF2-40B4-BE49-F238E27FC236}">
                <a16:creationId xmlns:a16="http://schemas.microsoft.com/office/drawing/2014/main" id="{DCEA82E3-1BE2-3FF6-28C1-ADABA685AC1D}"/>
              </a:ext>
            </a:extLst>
          </p:cNvPr>
          <p:cNvGrpSpPr/>
          <p:nvPr/>
        </p:nvGrpSpPr>
        <p:grpSpPr>
          <a:xfrm>
            <a:off x="6500396" y="1313599"/>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spAutoFit/>
            </a:bodyPr>
            <a:lstStyle/>
            <a:p>
              <a:r>
                <a:rPr lang="en-US" sz="2000" noProof="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4082596" y="3169452"/>
            <a:ext cx="4026808" cy="461665"/>
          </a:xfrm>
          <a:prstGeom prst="rect">
            <a:avLst/>
          </a:prstGeom>
          <a:noFill/>
        </p:spPr>
        <p:txBody>
          <a:bodyPr wrap="none" rtlCol="0">
            <a:spAutoFit/>
          </a:bodyPr>
          <a:lstStyle/>
          <a:p>
            <a:pPr algn="ctr"/>
            <a:r>
              <a:rPr lang="en-US" sz="2400" noProof="0" dirty="0"/>
              <a:t>Example of an 8-point stencil</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2320646"/>
            <a:chOff x="4042550" y="4991122"/>
            <a:chExt cx="4627188" cy="2320646"/>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5"/>
            <a:stretch>
              <a:fillRect/>
            </a:stretch>
          </p:blipFill>
          <p:spPr>
            <a:xfrm>
              <a:off x="6970149" y="5560830"/>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785232" cy="578882"/>
            </a:xfrm>
            <a:prstGeom prst="wedgeRoundRectCallout">
              <a:avLst>
                <a:gd name="adj1" fmla="val 32918"/>
                <a:gd name="adj2" fmla="val 128777"/>
                <a:gd name="adj3" fmla="val 16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800" noProof="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294921" y="6850103"/>
              <a:ext cx="2374817" cy="461665"/>
            </a:xfrm>
            <a:prstGeom prst="rect">
              <a:avLst/>
            </a:prstGeom>
            <a:noFill/>
          </p:spPr>
          <p:txBody>
            <a:bodyPr wrap="none" rtlCol="0">
              <a:spAutoFit/>
            </a:bodyPr>
            <a:lstStyle/>
            <a:p>
              <a:r>
                <a:rPr lang="en-US" sz="2400" noProof="0" dirty="0" err="1"/>
                <a:t>Collegue</a:t>
              </a:r>
              <a:r>
                <a:rPr lang="en-US" sz="2400" noProof="0" dirty="0"/>
                <a:t> Brabec</a:t>
              </a:r>
            </a:p>
          </p:txBody>
        </p:sp>
      </p:grpSp>
      <p:sp>
        <p:nvSpPr>
          <p:cNvPr id="19" name="Rectangle 18">
            <a:extLst>
              <a:ext uri="{FF2B5EF4-FFF2-40B4-BE49-F238E27FC236}">
                <a16:creationId xmlns:a16="http://schemas.microsoft.com/office/drawing/2014/main" id="{6E59B725-5B8D-D594-A1C6-5596E71C41D8}"/>
              </a:ext>
            </a:extLst>
          </p:cNvPr>
          <p:cNvSpPr/>
          <p:nvPr/>
        </p:nvSpPr>
        <p:spPr>
          <a:xfrm>
            <a:off x="4644245" y="3631117"/>
            <a:ext cx="2705100" cy="2705100"/>
          </a:xfrm>
          <a:prstGeom prst="rect">
            <a:avLst/>
          </a:prstGeom>
          <a:solidFill>
            <a:srgbClr val="FFFFFF"/>
          </a:solidFill>
          <a:ln w="9525" cap="flat">
            <a:noFill/>
            <a:prstDash val="solid"/>
            <a:miter/>
          </a:ln>
        </p:spPr>
        <p:txBody>
          <a:bodyPr/>
          <a:lstStyle/>
          <a:p>
            <a:endParaRPr lang="en-US" noProof="0" dirty="0"/>
          </a:p>
        </p:txBody>
      </p:sp>
      <p:grpSp>
        <p:nvGrpSpPr>
          <p:cNvPr id="21" name="Graphic 14">
            <a:extLst>
              <a:ext uri="{FF2B5EF4-FFF2-40B4-BE49-F238E27FC236}">
                <a16:creationId xmlns:a16="http://schemas.microsoft.com/office/drawing/2014/main" id="{131381F6-097A-8BC9-D3A9-020A95F0412B}"/>
              </a:ext>
            </a:extLst>
          </p:cNvPr>
          <p:cNvGrpSpPr/>
          <p:nvPr/>
        </p:nvGrpSpPr>
        <p:grpSpPr>
          <a:xfrm>
            <a:off x="4658532" y="3645404"/>
            <a:ext cx="2667000" cy="2667000"/>
            <a:chOff x="4757737" y="2090737"/>
            <a:chExt cx="2667000" cy="2667000"/>
          </a:xfrm>
        </p:grpSpPr>
        <p:sp>
          <p:nvSpPr>
            <p:cNvPr id="22" name="Rectangle 21">
              <a:extLst>
                <a:ext uri="{FF2B5EF4-FFF2-40B4-BE49-F238E27FC236}">
                  <a16:creationId xmlns:a16="http://schemas.microsoft.com/office/drawing/2014/main" id="{EF7F5BCC-707A-C7A9-26AA-9EBB8EB6FDF3}"/>
                </a:ext>
              </a:extLst>
            </p:cNvPr>
            <p:cNvSpPr/>
            <p:nvPr/>
          </p:nvSpPr>
          <p:spPr>
            <a:xfrm>
              <a:off x="4757737" y="2090737"/>
              <a:ext cx="2667000" cy="2667000"/>
            </a:xfrm>
            <a:prstGeom prst="rect">
              <a:avLst/>
            </a:prstGeom>
            <a:noFill/>
            <a:ln w="28575" cap="flat">
              <a:solidFill>
                <a:srgbClr val="000000"/>
              </a:solidFill>
              <a:prstDash val="solid"/>
              <a:miter/>
            </a:ln>
          </p:spPr>
          <p:txBody>
            <a:bodyPr/>
            <a:lstStyle/>
            <a:p>
              <a:endParaRPr lang="en-US" noProof="0" dirty="0"/>
            </a:p>
          </p:txBody>
        </p:sp>
        <p:sp>
          <p:nvSpPr>
            <p:cNvPr id="23" name="Rectangle 22">
              <a:extLst>
                <a:ext uri="{FF2B5EF4-FFF2-40B4-BE49-F238E27FC236}">
                  <a16:creationId xmlns:a16="http://schemas.microsoft.com/office/drawing/2014/main" id="{6188D0D4-A30F-BF09-D1A4-991195FC2358}"/>
                </a:ext>
              </a:extLst>
            </p:cNvPr>
            <p:cNvSpPr/>
            <p:nvPr/>
          </p:nvSpPr>
          <p:spPr>
            <a:xfrm>
              <a:off x="4757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4" name="Rectangle 23">
              <a:extLst>
                <a:ext uri="{FF2B5EF4-FFF2-40B4-BE49-F238E27FC236}">
                  <a16:creationId xmlns:a16="http://schemas.microsoft.com/office/drawing/2014/main" id="{00188916-92A3-C146-6295-587F5EA3BBA0}"/>
                </a:ext>
              </a:extLst>
            </p:cNvPr>
            <p:cNvSpPr/>
            <p:nvPr/>
          </p:nvSpPr>
          <p:spPr>
            <a:xfrm>
              <a:off x="5138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5" name="Rectangle 24">
              <a:extLst>
                <a:ext uri="{FF2B5EF4-FFF2-40B4-BE49-F238E27FC236}">
                  <a16:creationId xmlns:a16="http://schemas.microsoft.com/office/drawing/2014/main" id="{D565B24B-CFB0-9AF6-2694-250DAAC2D82A}"/>
                </a:ext>
              </a:extLst>
            </p:cNvPr>
            <p:cNvSpPr/>
            <p:nvPr/>
          </p:nvSpPr>
          <p:spPr>
            <a:xfrm>
              <a:off x="4757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6" name="Rectangle 25">
              <a:extLst>
                <a:ext uri="{FF2B5EF4-FFF2-40B4-BE49-F238E27FC236}">
                  <a16:creationId xmlns:a16="http://schemas.microsoft.com/office/drawing/2014/main" id="{CFFB034F-FB02-984D-1C5D-AD7DADD8CCEE}"/>
                </a:ext>
              </a:extLst>
            </p:cNvPr>
            <p:cNvSpPr/>
            <p:nvPr/>
          </p:nvSpPr>
          <p:spPr>
            <a:xfrm>
              <a:off x="5138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7" name="Rectangle 26">
              <a:extLst>
                <a:ext uri="{FF2B5EF4-FFF2-40B4-BE49-F238E27FC236}">
                  <a16:creationId xmlns:a16="http://schemas.microsoft.com/office/drawing/2014/main" id="{016B05D1-22BF-3997-FCC5-A7BF9E1104CC}"/>
                </a:ext>
              </a:extLst>
            </p:cNvPr>
            <p:cNvSpPr/>
            <p:nvPr/>
          </p:nvSpPr>
          <p:spPr>
            <a:xfrm>
              <a:off x="5519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8" name="Rectangle 27">
              <a:extLst>
                <a:ext uri="{FF2B5EF4-FFF2-40B4-BE49-F238E27FC236}">
                  <a16:creationId xmlns:a16="http://schemas.microsoft.com/office/drawing/2014/main" id="{96FDCCAA-F3FB-DF0F-194B-10625614E55E}"/>
                </a:ext>
              </a:extLst>
            </p:cNvPr>
            <p:cNvSpPr/>
            <p:nvPr/>
          </p:nvSpPr>
          <p:spPr>
            <a:xfrm>
              <a:off x="5900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9" name="Rectangle 28">
              <a:extLst>
                <a:ext uri="{FF2B5EF4-FFF2-40B4-BE49-F238E27FC236}">
                  <a16:creationId xmlns:a16="http://schemas.microsoft.com/office/drawing/2014/main" id="{E566E2F5-E6AC-E8BB-DD7C-0DE27F52268C}"/>
                </a:ext>
              </a:extLst>
            </p:cNvPr>
            <p:cNvSpPr/>
            <p:nvPr/>
          </p:nvSpPr>
          <p:spPr>
            <a:xfrm>
              <a:off x="5519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0" name="Rectangle 29">
              <a:extLst>
                <a:ext uri="{FF2B5EF4-FFF2-40B4-BE49-F238E27FC236}">
                  <a16:creationId xmlns:a16="http://schemas.microsoft.com/office/drawing/2014/main" id="{6702C292-D602-F047-6E5D-07963C84A4EB}"/>
                </a:ext>
              </a:extLst>
            </p:cNvPr>
            <p:cNvSpPr/>
            <p:nvPr/>
          </p:nvSpPr>
          <p:spPr>
            <a:xfrm>
              <a:off x="5900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1" name="Rectangle 30">
              <a:extLst>
                <a:ext uri="{FF2B5EF4-FFF2-40B4-BE49-F238E27FC236}">
                  <a16:creationId xmlns:a16="http://schemas.microsoft.com/office/drawing/2014/main" id="{713BC10D-DEEF-977B-5260-48F3EFFA0845}"/>
                </a:ext>
              </a:extLst>
            </p:cNvPr>
            <p:cNvSpPr/>
            <p:nvPr/>
          </p:nvSpPr>
          <p:spPr>
            <a:xfrm>
              <a:off x="6281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2" name="Rectangle 31">
              <a:extLst>
                <a:ext uri="{FF2B5EF4-FFF2-40B4-BE49-F238E27FC236}">
                  <a16:creationId xmlns:a16="http://schemas.microsoft.com/office/drawing/2014/main" id="{8FAA4B6A-CFDE-D085-E468-CE06D057F64F}"/>
                </a:ext>
              </a:extLst>
            </p:cNvPr>
            <p:cNvSpPr/>
            <p:nvPr/>
          </p:nvSpPr>
          <p:spPr>
            <a:xfrm>
              <a:off x="6662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3" name="Rectangle 32">
              <a:extLst>
                <a:ext uri="{FF2B5EF4-FFF2-40B4-BE49-F238E27FC236}">
                  <a16:creationId xmlns:a16="http://schemas.microsoft.com/office/drawing/2014/main" id="{6389750B-27AD-9F2E-3F88-CFA26D7D8A81}"/>
                </a:ext>
              </a:extLst>
            </p:cNvPr>
            <p:cNvSpPr/>
            <p:nvPr/>
          </p:nvSpPr>
          <p:spPr>
            <a:xfrm>
              <a:off x="6281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4" name="Rectangle 33">
              <a:extLst>
                <a:ext uri="{FF2B5EF4-FFF2-40B4-BE49-F238E27FC236}">
                  <a16:creationId xmlns:a16="http://schemas.microsoft.com/office/drawing/2014/main" id="{3C890C6A-2351-89FA-0F19-374AD2365963}"/>
                </a:ext>
              </a:extLst>
            </p:cNvPr>
            <p:cNvSpPr/>
            <p:nvPr/>
          </p:nvSpPr>
          <p:spPr>
            <a:xfrm>
              <a:off x="6662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5" name="Rectangle 34">
              <a:extLst>
                <a:ext uri="{FF2B5EF4-FFF2-40B4-BE49-F238E27FC236}">
                  <a16:creationId xmlns:a16="http://schemas.microsoft.com/office/drawing/2014/main" id="{E5044FC0-207D-AD26-4347-8122E38748B0}"/>
                </a:ext>
              </a:extLst>
            </p:cNvPr>
            <p:cNvSpPr/>
            <p:nvPr/>
          </p:nvSpPr>
          <p:spPr>
            <a:xfrm>
              <a:off x="7043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6" name="Rectangle 35">
              <a:extLst>
                <a:ext uri="{FF2B5EF4-FFF2-40B4-BE49-F238E27FC236}">
                  <a16:creationId xmlns:a16="http://schemas.microsoft.com/office/drawing/2014/main" id="{9E0ADB09-AF36-DF07-D7AB-BB065EDC6924}"/>
                </a:ext>
              </a:extLst>
            </p:cNvPr>
            <p:cNvSpPr/>
            <p:nvPr/>
          </p:nvSpPr>
          <p:spPr>
            <a:xfrm>
              <a:off x="7043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7" name="Rectangle 36">
              <a:extLst>
                <a:ext uri="{FF2B5EF4-FFF2-40B4-BE49-F238E27FC236}">
                  <a16:creationId xmlns:a16="http://schemas.microsoft.com/office/drawing/2014/main" id="{22E54BAB-88FD-1454-1BD8-2B98F80E238A}"/>
                </a:ext>
              </a:extLst>
            </p:cNvPr>
            <p:cNvSpPr/>
            <p:nvPr/>
          </p:nvSpPr>
          <p:spPr>
            <a:xfrm>
              <a:off x="4757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8" name="Rectangle 37">
              <a:extLst>
                <a:ext uri="{FF2B5EF4-FFF2-40B4-BE49-F238E27FC236}">
                  <a16:creationId xmlns:a16="http://schemas.microsoft.com/office/drawing/2014/main" id="{358A08F8-CED6-6152-0F69-34DAEE3D4046}"/>
                </a:ext>
              </a:extLst>
            </p:cNvPr>
            <p:cNvSpPr/>
            <p:nvPr/>
          </p:nvSpPr>
          <p:spPr>
            <a:xfrm>
              <a:off x="5138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9" name="Rectangle 38">
              <a:extLst>
                <a:ext uri="{FF2B5EF4-FFF2-40B4-BE49-F238E27FC236}">
                  <a16:creationId xmlns:a16="http://schemas.microsoft.com/office/drawing/2014/main" id="{5A10A4CB-C35E-F199-070A-4C13EE0AF10C}"/>
                </a:ext>
              </a:extLst>
            </p:cNvPr>
            <p:cNvSpPr/>
            <p:nvPr/>
          </p:nvSpPr>
          <p:spPr>
            <a:xfrm>
              <a:off x="4757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0" name="Rectangle 39">
              <a:extLst>
                <a:ext uri="{FF2B5EF4-FFF2-40B4-BE49-F238E27FC236}">
                  <a16:creationId xmlns:a16="http://schemas.microsoft.com/office/drawing/2014/main" id="{824DB158-9A93-B150-0B6B-4432E7BF3A1D}"/>
                </a:ext>
              </a:extLst>
            </p:cNvPr>
            <p:cNvSpPr/>
            <p:nvPr/>
          </p:nvSpPr>
          <p:spPr>
            <a:xfrm>
              <a:off x="5138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1" name="Rectangle 40">
              <a:extLst>
                <a:ext uri="{FF2B5EF4-FFF2-40B4-BE49-F238E27FC236}">
                  <a16:creationId xmlns:a16="http://schemas.microsoft.com/office/drawing/2014/main" id="{BCDE420E-24C9-F752-1F86-628695037DFB}"/>
                </a:ext>
              </a:extLst>
            </p:cNvPr>
            <p:cNvSpPr/>
            <p:nvPr/>
          </p:nvSpPr>
          <p:spPr>
            <a:xfrm>
              <a:off x="5519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2" name="Rectangle 41">
              <a:extLst>
                <a:ext uri="{FF2B5EF4-FFF2-40B4-BE49-F238E27FC236}">
                  <a16:creationId xmlns:a16="http://schemas.microsoft.com/office/drawing/2014/main" id="{D2573C6B-914F-6E70-3607-01D6D4AA2171}"/>
                </a:ext>
              </a:extLst>
            </p:cNvPr>
            <p:cNvSpPr/>
            <p:nvPr/>
          </p:nvSpPr>
          <p:spPr>
            <a:xfrm>
              <a:off x="5900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3" name="Rectangle 42">
              <a:extLst>
                <a:ext uri="{FF2B5EF4-FFF2-40B4-BE49-F238E27FC236}">
                  <a16:creationId xmlns:a16="http://schemas.microsoft.com/office/drawing/2014/main" id="{4E9D0D9C-1D7E-4015-DC4B-F852F0E0E8C5}"/>
                </a:ext>
              </a:extLst>
            </p:cNvPr>
            <p:cNvSpPr/>
            <p:nvPr/>
          </p:nvSpPr>
          <p:spPr>
            <a:xfrm>
              <a:off x="5519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4" name="Rectangle 43">
              <a:extLst>
                <a:ext uri="{FF2B5EF4-FFF2-40B4-BE49-F238E27FC236}">
                  <a16:creationId xmlns:a16="http://schemas.microsoft.com/office/drawing/2014/main" id="{2009D743-456B-CC33-B852-F2B83A20B667}"/>
                </a:ext>
              </a:extLst>
            </p:cNvPr>
            <p:cNvSpPr/>
            <p:nvPr/>
          </p:nvSpPr>
          <p:spPr>
            <a:xfrm>
              <a:off x="5900737" y="3233737"/>
              <a:ext cx="381000" cy="381000"/>
            </a:xfrm>
            <a:prstGeom prst="rect">
              <a:avLst/>
            </a:prstGeom>
            <a:solidFill>
              <a:srgbClr val="000000"/>
            </a:solidFill>
            <a:ln w="9525" cap="flat">
              <a:solidFill>
                <a:srgbClr val="000000"/>
              </a:solidFill>
              <a:prstDash val="solid"/>
              <a:miter/>
            </a:ln>
          </p:spPr>
          <p:txBody>
            <a:bodyPr/>
            <a:lstStyle/>
            <a:p>
              <a:endParaRPr lang="en-US" noProof="0" dirty="0"/>
            </a:p>
          </p:txBody>
        </p:sp>
        <p:sp>
          <p:nvSpPr>
            <p:cNvPr id="45" name="Rectangle 44">
              <a:extLst>
                <a:ext uri="{FF2B5EF4-FFF2-40B4-BE49-F238E27FC236}">
                  <a16:creationId xmlns:a16="http://schemas.microsoft.com/office/drawing/2014/main" id="{51D6CE2D-EC21-F227-66B9-A82F2F55270F}"/>
                </a:ext>
              </a:extLst>
            </p:cNvPr>
            <p:cNvSpPr/>
            <p:nvPr/>
          </p:nvSpPr>
          <p:spPr>
            <a:xfrm>
              <a:off x="6281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6" name="Rectangle 45">
              <a:extLst>
                <a:ext uri="{FF2B5EF4-FFF2-40B4-BE49-F238E27FC236}">
                  <a16:creationId xmlns:a16="http://schemas.microsoft.com/office/drawing/2014/main" id="{69D39EEB-9B98-21F0-046F-3C36D161BCCE}"/>
                </a:ext>
              </a:extLst>
            </p:cNvPr>
            <p:cNvSpPr/>
            <p:nvPr/>
          </p:nvSpPr>
          <p:spPr>
            <a:xfrm>
              <a:off x="6662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7" name="Rectangle 46">
              <a:extLst>
                <a:ext uri="{FF2B5EF4-FFF2-40B4-BE49-F238E27FC236}">
                  <a16:creationId xmlns:a16="http://schemas.microsoft.com/office/drawing/2014/main" id="{D8023305-2D4B-C087-55B5-07F10F8019CD}"/>
                </a:ext>
              </a:extLst>
            </p:cNvPr>
            <p:cNvSpPr/>
            <p:nvPr/>
          </p:nvSpPr>
          <p:spPr>
            <a:xfrm>
              <a:off x="6281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8" name="Rectangle 47">
              <a:extLst>
                <a:ext uri="{FF2B5EF4-FFF2-40B4-BE49-F238E27FC236}">
                  <a16:creationId xmlns:a16="http://schemas.microsoft.com/office/drawing/2014/main" id="{D54D7C03-3CBC-B686-415D-AA21F544ACE7}"/>
                </a:ext>
              </a:extLst>
            </p:cNvPr>
            <p:cNvSpPr/>
            <p:nvPr/>
          </p:nvSpPr>
          <p:spPr>
            <a:xfrm>
              <a:off x="6662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9" name="Rectangle 48">
              <a:extLst>
                <a:ext uri="{FF2B5EF4-FFF2-40B4-BE49-F238E27FC236}">
                  <a16:creationId xmlns:a16="http://schemas.microsoft.com/office/drawing/2014/main" id="{5380EAF7-0F2E-056E-76E7-DF9F1382E993}"/>
                </a:ext>
              </a:extLst>
            </p:cNvPr>
            <p:cNvSpPr/>
            <p:nvPr/>
          </p:nvSpPr>
          <p:spPr>
            <a:xfrm>
              <a:off x="7043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0" name="Rectangle 49">
              <a:extLst>
                <a:ext uri="{FF2B5EF4-FFF2-40B4-BE49-F238E27FC236}">
                  <a16:creationId xmlns:a16="http://schemas.microsoft.com/office/drawing/2014/main" id="{CB5759A0-355A-D02E-5D90-8FC5737A3AA5}"/>
                </a:ext>
              </a:extLst>
            </p:cNvPr>
            <p:cNvSpPr/>
            <p:nvPr/>
          </p:nvSpPr>
          <p:spPr>
            <a:xfrm>
              <a:off x="7043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1" name="Rectangle 50">
              <a:extLst>
                <a:ext uri="{FF2B5EF4-FFF2-40B4-BE49-F238E27FC236}">
                  <a16:creationId xmlns:a16="http://schemas.microsoft.com/office/drawing/2014/main" id="{9DBB0A95-8172-7945-C268-841E3B935C4B}"/>
                </a:ext>
              </a:extLst>
            </p:cNvPr>
            <p:cNvSpPr/>
            <p:nvPr/>
          </p:nvSpPr>
          <p:spPr>
            <a:xfrm>
              <a:off x="4757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2" name="Rectangle 51">
              <a:extLst>
                <a:ext uri="{FF2B5EF4-FFF2-40B4-BE49-F238E27FC236}">
                  <a16:creationId xmlns:a16="http://schemas.microsoft.com/office/drawing/2014/main" id="{D8D4BD9B-EDF0-D194-D15E-B7B21262275A}"/>
                </a:ext>
              </a:extLst>
            </p:cNvPr>
            <p:cNvSpPr/>
            <p:nvPr/>
          </p:nvSpPr>
          <p:spPr>
            <a:xfrm>
              <a:off x="5138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3" name="Rectangle 52">
              <a:extLst>
                <a:ext uri="{FF2B5EF4-FFF2-40B4-BE49-F238E27FC236}">
                  <a16:creationId xmlns:a16="http://schemas.microsoft.com/office/drawing/2014/main" id="{AD785FB2-6A56-DB40-4026-78CF899FE89A}"/>
                </a:ext>
              </a:extLst>
            </p:cNvPr>
            <p:cNvSpPr/>
            <p:nvPr/>
          </p:nvSpPr>
          <p:spPr>
            <a:xfrm>
              <a:off x="4757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4" name="Rectangle 53">
              <a:extLst>
                <a:ext uri="{FF2B5EF4-FFF2-40B4-BE49-F238E27FC236}">
                  <a16:creationId xmlns:a16="http://schemas.microsoft.com/office/drawing/2014/main" id="{6DCBFF32-E6E1-23DE-1749-D186187E8D3B}"/>
                </a:ext>
              </a:extLst>
            </p:cNvPr>
            <p:cNvSpPr/>
            <p:nvPr/>
          </p:nvSpPr>
          <p:spPr>
            <a:xfrm>
              <a:off x="5138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5" name="Rectangle 54">
              <a:extLst>
                <a:ext uri="{FF2B5EF4-FFF2-40B4-BE49-F238E27FC236}">
                  <a16:creationId xmlns:a16="http://schemas.microsoft.com/office/drawing/2014/main" id="{330818D5-1AC3-12B2-BBBE-0FC00ADF755D}"/>
                </a:ext>
              </a:extLst>
            </p:cNvPr>
            <p:cNvSpPr/>
            <p:nvPr/>
          </p:nvSpPr>
          <p:spPr>
            <a:xfrm>
              <a:off x="5519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6" name="Rectangle 55">
              <a:extLst>
                <a:ext uri="{FF2B5EF4-FFF2-40B4-BE49-F238E27FC236}">
                  <a16:creationId xmlns:a16="http://schemas.microsoft.com/office/drawing/2014/main" id="{97126080-7EA2-8DEC-2EF7-686C0EEBD4C4}"/>
                </a:ext>
              </a:extLst>
            </p:cNvPr>
            <p:cNvSpPr/>
            <p:nvPr/>
          </p:nvSpPr>
          <p:spPr>
            <a:xfrm>
              <a:off x="5900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7" name="Rectangle 56">
              <a:extLst>
                <a:ext uri="{FF2B5EF4-FFF2-40B4-BE49-F238E27FC236}">
                  <a16:creationId xmlns:a16="http://schemas.microsoft.com/office/drawing/2014/main" id="{AEA4483D-3D15-9D38-0587-882779D8E507}"/>
                </a:ext>
              </a:extLst>
            </p:cNvPr>
            <p:cNvSpPr/>
            <p:nvPr/>
          </p:nvSpPr>
          <p:spPr>
            <a:xfrm>
              <a:off x="5519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8" name="Rectangle 57">
              <a:extLst>
                <a:ext uri="{FF2B5EF4-FFF2-40B4-BE49-F238E27FC236}">
                  <a16:creationId xmlns:a16="http://schemas.microsoft.com/office/drawing/2014/main" id="{84161FC5-3F75-246A-88F7-52C64A2E0528}"/>
                </a:ext>
              </a:extLst>
            </p:cNvPr>
            <p:cNvSpPr/>
            <p:nvPr/>
          </p:nvSpPr>
          <p:spPr>
            <a:xfrm>
              <a:off x="5900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9" name="Rectangle 58">
              <a:extLst>
                <a:ext uri="{FF2B5EF4-FFF2-40B4-BE49-F238E27FC236}">
                  <a16:creationId xmlns:a16="http://schemas.microsoft.com/office/drawing/2014/main" id="{F1EAC736-6456-0CE3-6AEF-2B8E3DA5A09B}"/>
                </a:ext>
              </a:extLst>
            </p:cNvPr>
            <p:cNvSpPr/>
            <p:nvPr/>
          </p:nvSpPr>
          <p:spPr>
            <a:xfrm>
              <a:off x="6281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60" name="Rectangle 59">
              <a:extLst>
                <a:ext uri="{FF2B5EF4-FFF2-40B4-BE49-F238E27FC236}">
                  <a16:creationId xmlns:a16="http://schemas.microsoft.com/office/drawing/2014/main" id="{EDAC7F04-1BD8-0A14-9AAA-0A3104224F6F}"/>
                </a:ext>
              </a:extLst>
            </p:cNvPr>
            <p:cNvSpPr/>
            <p:nvPr/>
          </p:nvSpPr>
          <p:spPr>
            <a:xfrm>
              <a:off x="6662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1" name="Rectangle 60">
              <a:extLst>
                <a:ext uri="{FF2B5EF4-FFF2-40B4-BE49-F238E27FC236}">
                  <a16:creationId xmlns:a16="http://schemas.microsoft.com/office/drawing/2014/main" id="{D87ED04B-9027-FAA2-A1B8-ED3C9DE2B44B}"/>
                </a:ext>
              </a:extLst>
            </p:cNvPr>
            <p:cNvSpPr/>
            <p:nvPr/>
          </p:nvSpPr>
          <p:spPr>
            <a:xfrm>
              <a:off x="6281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2" name="Rectangle 61">
              <a:extLst>
                <a:ext uri="{FF2B5EF4-FFF2-40B4-BE49-F238E27FC236}">
                  <a16:creationId xmlns:a16="http://schemas.microsoft.com/office/drawing/2014/main" id="{F097E7EE-FDEB-0281-CE11-213C25A9584A}"/>
                </a:ext>
              </a:extLst>
            </p:cNvPr>
            <p:cNvSpPr/>
            <p:nvPr/>
          </p:nvSpPr>
          <p:spPr>
            <a:xfrm>
              <a:off x="6662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3" name="Rectangle 62">
              <a:extLst>
                <a:ext uri="{FF2B5EF4-FFF2-40B4-BE49-F238E27FC236}">
                  <a16:creationId xmlns:a16="http://schemas.microsoft.com/office/drawing/2014/main" id="{A2B744D5-0A39-8D5B-2C2B-1934A69835CE}"/>
                </a:ext>
              </a:extLst>
            </p:cNvPr>
            <p:cNvSpPr/>
            <p:nvPr/>
          </p:nvSpPr>
          <p:spPr>
            <a:xfrm>
              <a:off x="7043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4" name="Rectangle 63">
              <a:extLst>
                <a:ext uri="{FF2B5EF4-FFF2-40B4-BE49-F238E27FC236}">
                  <a16:creationId xmlns:a16="http://schemas.microsoft.com/office/drawing/2014/main" id="{9DDD8BDB-2928-13A7-DA72-4276F995358C}"/>
                </a:ext>
              </a:extLst>
            </p:cNvPr>
            <p:cNvSpPr/>
            <p:nvPr/>
          </p:nvSpPr>
          <p:spPr>
            <a:xfrm>
              <a:off x="7043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5" name="Rectangle 64">
              <a:extLst>
                <a:ext uri="{FF2B5EF4-FFF2-40B4-BE49-F238E27FC236}">
                  <a16:creationId xmlns:a16="http://schemas.microsoft.com/office/drawing/2014/main" id="{96130875-0B1F-A0F1-5C8A-0B597CFA38EF}"/>
                </a:ext>
              </a:extLst>
            </p:cNvPr>
            <p:cNvSpPr/>
            <p:nvPr/>
          </p:nvSpPr>
          <p:spPr>
            <a:xfrm>
              <a:off x="4757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6" name="Rectangle 65">
              <a:extLst>
                <a:ext uri="{FF2B5EF4-FFF2-40B4-BE49-F238E27FC236}">
                  <a16:creationId xmlns:a16="http://schemas.microsoft.com/office/drawing/2014/main" id="{95A17DD4-7EEC-6816-B3AE-965CDD860873}"/>
                </a:ext>
              </a:extLst>
            </p:cNvPr>
            <p:cNvSpPr/>
            <p:nvPr/>
          </p:nvSpPr>
          <p:spPr>
            <a:xfrm>
              <a:off x="5138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7" name="Rectangle 66">
              <a:extLst>
                <a:ext uri="{FF2B5EF4-FFF2-40B4-BE49-F238E27FC236}">
                  <a16:creationId xmlns:a16="http://schemas.microsoft.com/office/drawing/2014/main" id="{9C9136F6-0E96-BCA6-AE37-27E0C1711017}"/>
                </a:ext>
              </a:extLst>
            </p:cNvPr>
            <p:cNvSpPr/>
            <p:nvPr/>
          </p:nvSpPr>
          <p:spPr>
            <a:xfrm>
              <a:off x="5519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8" name="Rectangle 67">
              <a:extLst>
                <a:ext uri="{FF2B5EF4-FFF2-40B4-BE49-F238E27FC236}">
                  <a16:creationId xmlns:a16="http://schemas.microsoft.com/office/drawing/2014/main" id="{8BA9E4EA-B9A7-45EA-6627-6E577E5ABF85}"/>
                </a:ext>
              </a:extLst>
            </p:cNvPr>
            <p:cNvSpPr/>
            <p:nvPr/>
          </p:nvSpPr>
          <p:spPr>
            <a:xfrm>
              <a:off x="5900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9" name="Rectangle 68">
              <a:extLst>
                <a:ext uri="{FF2B5EF4-FFF2-40B4-BE49-F238E27FC236}">
                  <a16:creationId xmlns:a16="http://schemas.microsoft.com/office/drawing/2014/main" id="{3575F222-3D19-8E86-D9EF-648AA78DAFF2}"/>
                </a:ext>
              </a:extLst>
            </p:cNvPr>
            <p:cNvSpPr/>
            <p:nvPr/>
          </p:nvSpPr>
          <p:spPr>
            <a:xfrm>
              <a:off x="6281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0" name="Rectangle 69">
              <a:extLst>
                <a:ext uri="{FF2B5EF4-FFF2-40B4-BE49-F238E27FC236}">
                  <a16:creationId xmlns:a16="http://schemas.microsoft.com/office/drawing/2014/main" id="{0B7B1F17-8648-71C3-9A16-DD3FD0A826A4}"/>
                </a:ext>
              </a:extLst>
            </p:cNvPr>
            <p:cNvSpPr/>
            <p:nvPr/>
          </p:nvSpPr>
          <p:spPr>
            <a:xfrm>
              <a:off x="6662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1" name="Rectangle 70">
              <a:extLst>
                <a:ext uri="{FF2B5EF4-FFF2-40B4-BE49-F238E27FC236}">
                  <a16:creationId xmlns:a16="http://schemas.microsoft.com/office/drawing/2014/main" id="{B0A66F5A-941C-CD39-1FB9-F29D909642CB}"/>
                </a:ext>
              </a:extLst>
            </p:cNvPr>
            <p:cNvSpPr/>
            <p:nvPr/>
          </p:nvSpPr>
          <p:spPr>
            <a:xfrm>
              <a:off x="7043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grpSp>
      <p:cxnSp>
        <p:nvCxnSpPr>
          <p:cNvPr id="73" name="Straight Arrow Connector 72">
            <a:extLst>
              <a:ext uri="{FF2B5EF4-FFF2-40B4-BE49-F238E27FC236}">
                <a16:creationId xmlns:a16="http://schemas.microsoft.com/office/drawing/2014/main" id="{1C7BF7AF-DC09-34FF-9444-944EDC6A9794}"/>
              </a:ext>
            </a:extLst>
          </p:cNvPr>
          <p:cNvCxnSpPr/>
          <p:nvPr/>
        </p:nvCxnSpPr>
        <p:spPr>
          <a:xfrm flipH="1" flipV="1">
            <a:off x="6006736" y="4996266"/>
            <a:ext cx="1898650" cy="241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92165F4C-C28A-EF05-DBA3-80C928C520DD}"/>
              </a:ext>
            </a:extLst>
          </p:cNvPr>
          <p:cNvSpPr txBox="1"/>
          <p:nvPr/>
        </p:nvSpPr>
        <p:spPr>
          <a:xfrm>
            <a:off x="7873837" y="5052285"/>
            <a:ext cx="1599797" cy="400110"/>
          </a:xfrm>
          <a:prstGeom prst="rect">
            <a:avLst/>
          </a:prstGeom>
          <a:noFill/>
        </p:spPr>
        <p:txBody>
          <a:bodyPr wrap="none" rtlCol="0">
            <a:spAutoFit/>
          </a:bodyPr>
          <a:lstStyle/>
          <a:p>
            <a:r>
              <a:rPr lang="en-US" sz="2000" noProof="0" dirty="0"/>
              <a:t>Updated cell</a:t>
            </a:r>
          </a:p>
        </p:txBody>
      </p:sp>
      <p:cxnSp>
        <p:nvCxnSpPr>
          <p:cNvPr id="76" name="Straight Arrow Connector 75">
            <a:extLst>
              <a:ext uri="{FF2B5EF4-FFF2-40B4-BE49-F238E27FC236}">
                <a16:creationId xmlns:a16="http://schemas.microsoft.com/office/drawing/2014/main" id="{C124EAF2-32DC-27D9-87E5-D12E3A32FC6C}"/>
              </a:ext>
            </a:extLst>
          </p:cNvPr>
          <p:cNvCxnSpPr/>
          <p:nvPr/>
        </p:nvCxnSpPr>
        <p:spPr>
          <a:xfrm flipH="1" flipV="1">
            <a:off x="6436905" y="5422232"/>
            <a:ext cx="1258931" cy="8901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42AA0690-756B-164D-33E4-45263355827E}"/>
              </a:ext>
            </a:extLst>
          </p:cNvPr>
          <p:cNvSpPr txBox="1"/>
          <p:nvPr/>
        </p:nvSpPr>
        <p:spPr>
          <a:xfrm>
            <a:off x="7673180" y="6191593"/>
            <a:ext cx="1766830" cy="400110"/>
          </a:xfrm>
          <a:prstGeom prst="rect">
            <a:avLst/>
          </a:prstGeom>
          <a:noFill/>
        </p:spPr>
        <p:txBody>
          <a:bodyPr wrap="none" rtlCol="0">
            <a:spAutoFit/>
          </a:bodyPr>
          <a:lstStyle/>
          <a:p>
            <a:r>
              <a:rPr lang="en-US" sz="2000" noProof="0" dirty="0"/>
              <a:t>Neighborhood</a:t>
            </a:r>
          </a:p>
        </p:txBody>
      </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animBg="1"/>
      <p:bldP spid="74" grpId="0"/>
      <p:bldP spid="7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Cellular automata abstraction</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084212"/>
            <a:ext cx="5225579" cy="3318028"/>
            <a:chOff x="118662" y="3398116"/>
            <a:chExt cx="5225579" cy="33180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5225579" cy="2899383"/>
            </a:xfrm>
            <a:prstGeom prst="rect">
              <a:avLst/>
            </a:prstGeom>
            <a:noFill/>
            <a:ln>
              <a:solidFill>
                <a:schemeClr val="tx1"/>
              </a:solidFill>
            </a:ln>
          </p:spPr>
          <p:txBody>
            <a:bodyPr wrap="square">
              <a:spAutoFit/>
            </a:bodyPr>
            <a:lstStyle/>
            <a:p>
              <a:pPr>
                <a:lnSpc>
                  <a:spcPct val="113095"/>
                </a:lnSpc>
                <a:buNone/>
              </a:pPr>
              <a:r>
                <a:rPr lang="en-US" noProof="0" dirty="0">
                  <a:solidFill>
                    <a:srgbClr val="AF00DB"/>
                  </a:solidFill>
                  <a:effectLst/>
                  <a:latin typeface="Fira Code" panose="020B0809050000020004" pitchFamily="49" charset="0"/>
                </a:rPr>
                <a:t>if</a:t>
              </a:r>
              <a:r>
                <a:rPr lang="en-US" noProof="0" dirty="0">
                  <a:solidFill>
                    <a:srgbClr val="000000"/>
                  </a:solidFill>
                  <a:effectLst/>
                  <a:latin typeface="Fira Code" panose="020B0809050000020004" pitchFamily="49" charset="0"/>
                </a:rPr>
                <a:t> (</a:t>
              </a:r>
              <a:r>
                <a:rPr lang="en-US" noProof="0" dirty="0">
                  <a:solidFill>
                    <a:srgbClr val="001080"/>
                  </a:solidFill>
                  <a:effectLst/>
                  <a:latin typeface="Fira Code" panose="020B0809050000020004" pitchFamily="49" charset="0"/>
                </a:rPr>
                <a:t>current</a:t>
              </a:r>
              <a:r>
                <a:rPr lang="en-US" sz="500" noProof="0" dirty="0">
                  <a:solidFill>
                    <a:srgbClr val="000000"/>
                  </a:solidFill>
                  <a:effectLst/>
                  <a:latin typeface="Fira Code" panose="020B0809050000020004" pitchFamily="49" charset="0"/>
                </a:rPr>
                <a:t> </a:t>
              </a:r>
              <a:r>
                <a:rPr lang="en-US"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a:solidFill>
                    <a:srgbClr val="000000"/>
                  </a:solidFill>
                  <a:effectLst/>
                  <a:latin typeface="Fira Code" panose="020B0809050000020004" pitchFamily="49" charset="0"/>
                </a:rPr>
                <a:t>=</a:t>
              </a:r>
              <a:r>
                <a:rPr lang="en-US" sz="500" noProof="0" dirty="0">
                  <a:solidFill>
                    <a:srgbClr val="000000"/>
                  </a:solidFill>
                  <a:effectLst/>
                  <a:latin typeface="Fira Code" panose="020B0809050000020004" pitchFamily="49" charset="0"/>
                </a:rPr>
                <a:t> </a:t>
              </a:r>
              <a:r>
                <a:rPr lang="en-US" noProof="0" dirty="0">
                  <a:solidFill>
                    <a:srgbClr val="0070C1"/>
                  </a:solidFill>
                  <a:effectLst/>
                  <a:latin typeface="Fira Code" panose="020B0809050000020004" pitchFamily="49" charset="0"/>
                </a:rPr>
                <a:t>ALIVE</a:t>
              </a:r>
              <a:r>
                <a:rPr lang="en-US"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2</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 </a:t>
              </a:r>
              <a:r>
                <a:rPr lang="en-US" b="0" noProof="0" dirty="0">
                  <a:solidFill>
                    <a:srgbClr val="000000"/>
                  </a:solidFill>
                  <a:effectLst/>
                  <a:latin typeface="Fira Code" panose="020B0809050000020004" pitchFamily="49" charset="0"/>
                </a:rPr>
                <a:t>=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781622" y="3398116"/>
              <a:ext cx="3899657" cy="461665"/>
            </a:xfrm>
            <a:prstGeom prst="rect">
              <a:avLst/>
            </a:prstGeom>
            <a:noFill/>
          </p:spPr>
          <p:txBody>
            <a:bodyPr wrap="none" rtlCol="0">
              <a:spAutoFit/>
            </a:bodyPr>
            <a:lstStyle/>
            <a:p>
              <a:pPr algn="ctr"/>
              <a:r>
                <a:rPr lang="en-US" sz="2400" noProof="0" dirty="0"/>
                <a:t>Update rule for Game of Life</a:t>
              </a:r>
            </a:p>
          </p:txBody>
        </p:sp>
      </p:grpSp>
      <p:grpSp>
        <p:nvGrpSpPr>
          <p:cNvPr id="12" name="Group 11">
            <a:extLst>
              <a:ext uri="{FF2B5EF4-FFF2-40B4-BE49-F238E27FC236}">
                <a16:creationId xmlns:a16="http://schemas.microsoft.com/office/drawing/2014/main" id="{0E365D69-516D-0808-8085-F8A462F03D96}"/>
              </a:ext>
            </a:extLst>
          </p:cNvPr>
          <p:cNvGrpSpPr/>
          <p:nvPr/>
        </p:nvGrpSpPr>
        <p:grpSpPr>
          <a:xfrm>
            <a:off x="5426127" y="3607154"/>
            <a:ext cx="6706530" cy="2225552"/>
            <a:chOff x="5703901" y="3724517"/>
            <a:chExt cx="6369437" cy="2225552"/>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819857"/>
            </a:xfrm>
            <a:prstGeom prst="rect">
              <a:avLst/>
            </a:prstGeom>
            <a:noFill/>
            <a:ln>
              <a:solidFill>
                <a:schemeClr val="tx1"/>
              </a:solidFill>
            </a:ln>
          </p:spPr>
          <p:txBody>
            <a:bodyPr wrap="square">
              <a:spAutoFit/>
            </a:bodyPr>
            <a:lstStyle/>
            <a:p>
              <a:pPr>
                <a:lnSpc>
                  <a:spcPct val="113095"/>
                </a:lnSpc>
                <a:buNone/>
              </a:pP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err="1">
                  <a:solidFill>
                    <a:srgbClr val="001080"/>
                  </a:solidFill>
                  <a:latin typeface="Fira Code" panose="020B0809050000020004" pitchFamily="49" charset="0"/>
                  <a:ea typeface="Fira Code" panose="020B0809050000020004" pitchFamily="49" charset="0"/>
                  <a:cs typeface="Fira Code" panose="020B0809050000020004" pitchFamily="49" charset="0"/>
                </a:rPr>
                <a:t>is_alive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has3_or_2</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endParaRPr lang="en-US" sz="2000" noProof="0" dirty="0">
                <a:solidFill>
                  <a:srgbClr val="000000"/>
                </a:solidFill>
                <a:latin typeface="Fira Code" panose="020B0809050000020004" pitchFamily="49" charset="0"/>
                <a:ea typeface="Fira Code" panose="020B0809050000020004" pitchFamily="49" charset="0"/>
                <a:cs typeface="Fira Code" panose="020B0809050000020004" pitchFamily="49" charset="0"/>
              </a:endParaRP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6891475" y="3724517"/>
              <a:ext cx="4579776" cy="461665"/>
            </a:xfrm>
            <a:prstGeom prst="rect">
              <a:avLst/>
            </a:prstGeom>
            <a:noFill/>
          </p:spPr>
          <p:txBody>
            <a:bodyPr wrap="none" rtlCol="0">
              <a:spAutoFit/>
            </a:bodyPr>
            <a:lstStyle/>
            <a:p>
              <a:pPr algn="ctr"/>
              <a:r>
                <a:rPr lang="en-US" sz="2400" noProof="0" dirty="0">
                  <a:ea typeface="Fira Code" panose="020B0809050000020004" pitchFamily="49" charset="0"/>
                  <a:cs typeface="Fira Code" panose="020B0809050000020004" pitchFamily="49" charset="0"/>
                </a:rPr>
                <a:t>Type-level expression (Cellato DSL)</a:t>
              </a:r>
            </a:p>
          </p:txBody>
        </p:sp>
      </p:grpSp>
      <p:pic>
        <p:nvPicPr>
          <p:cNvPr id="16" name="Picture 15" descr="Glider Gun">
            <a:extLst>
              <a:ext uri="{FF2B5EF4-FFF2-40B4-BE49-F238E27FC236}">
                <a16:creationId xmlns:a16="http://schemas.microsoft.com/office/drawing/2014/main" id="{82C71BC4-EA06-7F93-2807-F6C8B43B18A3}"/>
              </a:ext>
            </a:extLst>
          </p:cNvPr>
          <p:cNvPicPr>
            <a:picLocks noChangeAspect="1"/>
          </p:cNvPicPr>
          <p:nvPr/>
        </p:nvPicPr>
        <p:blipFill>
          <a:blip r:embed="rId3"/>
          <a:stretch>
            <a:fillRect/>
          </a:stretch>
        </p:blipFill>
        <p:spPr>
          <a:xfrm>
            <a:off x="5123665" y="1797656"/>
            <a:ext cx="1944670" cy="1400161"/>
          </a:xfrm>
          <a:prstGeom prst="rect">
            <a:avLst/>
          </a:prstGeom>
          <a:ln>
            <a:solidFill>
              <a:schemeClr val="tx1"/>
            </a:solidFill>
          </a:ln>
        </p:spPr>
      </p:pic>
      <p:sp>
        <p:nvSpPr>
          <p:cNvPr id="10" name="TextBox 9">
            <a:extLst>
              <a:ext uri="{FF2B5EF4-FFF2-40B4-BE49-F238E27FC236}">
                <a16:creationId xmlns:a16="http://schemas.microsoft.com/office/drawing/2014/main" id="{F87652A6-37F0-2CC7-1FD2-E46D9878EE9E}"/>
              </a:ext>
            </a:extLst>
          </p:cNvPr>
          <p:cNvSpPr txBox="1"/>
          <p:nvPr/>
        </p:nvSpPr>
        <p:spPr>
          <a:xfrm>
            <a:off x="4274091" y="1332348"/>
            <a:ext cx="3643818" cy="461665"/>
          </a:xfrm>
          <a:prstGeom prst="rect">
            <a:avLst/>
          </a:prstGeom>
          <a:noFill/>
        </p:spPr>
        <p:txBody>
          <a:bodyPr wrap="none" rtlCol="0">
            <a:spAutoFit/>
          </a:bodyPr>
          <a:lstStyle/>
          <a:p>
            <a:r>
              <a:rPr lang="en-US" sz="2400" b="1" noProof="0" dirty="0"/>
              <a:t>Discrete cell state space</a:t>
            </a:r>
          </a:p>
        </p:txBody>
      </p:sp>
      <p:grpSp>
        <p:nvGrpSpPr>
          <p:cNvPr id="9" name="Group 8">
            <a:extLst>
              <a:ext uri="{FF2B5EF4-FFF2-40B4-BE49-F238E27FC236}">
                <a16:creationId xmlns:a16="http://schemas.microsoft.com/office/drawing/2014/main" id="{EAE8EF76-1A93-88AD-C40A-2D709F01B4DD}"/>
              </a:ext>
            </a:extLst>
          </p:cNvPr>
          <p:cNvGrpSpPr/>
          <p:nvPr/>
        </p:nvGrpSpPr>
        <p:grpSpPr>
          <a:xfrm>
            <a:off x="961382" y="1387557"/>
            <a:ext cx="1987550" cy="1721883"/>
            <a:chOff x="961382" y="1387557"/>
            <a:chExt cx="1987550" cy="1721883"/>
          </a:xfrm>
        </p:grpSpPr>
        <p:pic>
          <p:nvPicPr>
            <p:cNvPr id="7" name="Picture 6">
              <a:extLst>
                <a:ext uri="{FF2B5EF4-FFF2-40B4-BE49-F238E27FC236}">
                  <a16:creationId xmlns:a16="http://schemas.microsoft.com/office/drawing/2014/main" id="{7108A5DE-946E-A9E3-10F6-09FBA9E4F6EF}"/>
                </a:ext>
              </a:extLst>
            </p:cNvPr>
            <p:cNvPicPr>
              <a:picLocks noChangeAspect="1"/>
            </p:cNvPicPr>
            <p:nvPr/>
          </p:nvPicPr>
          <p:blipFill>
            <a:blip r:embed="rId4"/>
            <a:srcRect l="17499" t="6902" r="15499" b="6587"/>
            <a:stretch>
              <a:fillRect/>
            </a:stretch>
          </p:blipFill>
          <p:spPr>
            <a:xfrm>
              <a:off x="961382" y="1756889"/>
              <a:ext cx="1987550" cy="1352551"/>
            </a:xfrm>
            <a:prstGeom prst="rect">
              <a:avLst/>
            </a:prstGeom>
          </p:spPr>
        </p:pic>
        <p:sp>
          <p:nvSpPr>
            <p:cNvPr id="8" name="TextBox 7">
              <a:extLst>
                <a:ext uri="{FF2B5EF4-FFF2-40B4-BE49-F238E27FC236}">
                  <a16:creationId xmlns:a16="http://schemas.microsoft.com/office/drawing/2014/main" id="{4E387B90-4111-B4C3-051E-DCE556A45748}"/>
                </a:ext>
              </a:extLst>
            </p:cNvPr>
            <p:cNvSpPr txBox="1"/>
            <p:nvPr/>
          </p:nvSpPr>
          <p:spPr>
            <a:xfrm>
              <a:off x="1025254" y="1387557"/>
              <a:ext cx="1859805" cy="400110"/>
            </a:xfrm>
            <a:prstGeom prst="rect">
              <a:avLst/>
            </a:prstGeom>
            <a:noFill/>
          </p:spPr>
          <p:txBody>
            <a:bodyPr wrap="none" rtlCol="0">
              <a:spAutoFit/>
            </a:bodyPr>
            <a:lstStyle/>
            <a:p>
              <a:pPr algn="ctr"/>
              <a:r>
                <a:rPr lang="en-US" sz="2000" noProof="0" dirty="0"/>
                <a:t>Fluid dynamics</a:t>
              </a:r>
            </a:p>
          </p:txBody>
        </p:sp>
      </p:grpSp>
      <p:grpSp>
        <p:nvGrpSpPr>
          <p:cNvPr id="17" name="Group 16">
            <a:extLst>
              <a:ext uri="{FF2B5EF4-FFF2-40B4-BE49-F238E27FC236}">
                <a16:creationId xmlns:a16="http://schemas.microsoft.com/office/drawing/2014/main" id="{36A80210-2057-860D-4D9D-9F92A76239F8}"/>
              </a:ext>
            </a:extLst>
          </p:cNvPr>
          <p:cNvGrpSpPr/>
          <p:nvPr/>
        </p:nvGrpSpPr>
        <p:grpSpPr>
          <a:xfrm>
            <a:off x="8744636" y="1146026"/>
            <a:ext cx="2129109" cy="2171373"/>
            <a:chOff x="8744636" y="1146026"/>
            <a:chExt cx="2129109" cy="2171373"/>
          </a:xfrm>
        </p:grpSpPr>
        <p:pic>
          <p:nvPicPr>
            <p:cNvPr id="13" name="Picture 12" descr="Fig. 15">
              <a:extLst>
                <a:ext uri="{FF2B5EF4-FFF2-40B4-BE49-F238E27FC236}">
                  <a16:creationId xmlns:a16="http://schemas.microsoft.com/office/drawing/2014/main" id="{05595CE9-4B9F-9647-A512-81FF33A227D9}"/>
                </a:ext>
              </a:extLst>
            </p:cNvPr>
            <p:cNvPicPr>
              <a:picLocks noChangeAspect="1"/>
            </p:cNvPicPr>
            <p:nvPr/>
          </p:nvPicPr>
          <p:blipFill>
            <a:blip r:embed="rId5"/>
            <a:stretch>
              <a:fillRect/>
            </a:stretch>
          </p:blipFill>
          <p:spPr>
            <a:xfrm>
              <a:off x="8815416" y="1548928"/>
              <a:ext cx="1987550" cy="1768471"/>
            </a:xfrm>
            <a:prstGeom prst="rect">
              <a:avLst/>
            </a:prstGeom>
          </p:spPr>
        </p:pic>
        <p:sp>
          <p:nvSpPr>
            <p:cNvPr id="15" name="TextBox 14">
              <a:extLst>
                <a:ext uri="{FF2B5EF4-FFF2-40B4-BE49-F238E27FC236}">
                  <a16:creationId xmlns:a16="http://schemas.microsoft.com/office/drawing/2014/main" id="{44BE9838-5D14-20B3-90E2-F30B7471C0D3}"/>
                </a:ext>
              </a:extLst>
            </p:cNvPr>
            <p:cNvSpPr txBox="1"/>
            <p:nvPr/>
          </p:nvSpPr>
          <p:spPr>
            <a:xfrm>
              <a:off x="8744636" y="1146026"/>
              <a:ext cx="2129109" cy="400110"/>
            </a:xfrm>
            <a:prstGeom prst="rect">
              <a:avLst/>
            </a:prstGeom>
            <a:noFill/>
          </p:spPr>
          <p:txBody>
            <a:bodyPr wrap="none" rtlCol="0">
              <a:spAutoFit/>
            </a:bodyPr>
            <a:lstStyle/>
            <a:p>
              <a:pPr algn="ctr"/>
              <a:r>
                <a:rPr lang="en-US" sz="2000" noProof="0" dirty="0"/>
                <a:t>Materials science</a:t>
              </a:r>
            </a:p>
          </p:txBody>
        </p:sp>
      </p:gr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4367950-8D7A-8F93-A9DA-64D5AC81F27E}"/>
              </a:ext>
            </a:extLst>
          </p:cNvPr>
          <p:cNvSpPr txBox="1"/>
          <p:nvPr/>
        </p:nvSpPr>
        <p:spPr>
          <a:xfrm>
            <a:off x="2787245" y="609035"/>
            <a:ext cx="6617508" cy="2167645"/>
          </a:xfrm>
          <a:prstGeom prst="rect">
            <a:avLst/>
          </a:prstGeom>
          <a:noFill/>
          <a:ln>
            <a:solidFill>
              <a:schemeClr val="tx1"/>
            </a:solidFill>
          </a:ln>
        </p:spPr>
        <p:txBody>
          <a:bodyPr wrap="square">
            <a:spAutoFit/>
          </a:bodyPr>
          <a:lstStyle/>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err="1">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is_alive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has3_or_2</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p:txBody>
      </p:sp>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047003" y="2824126"/>
            <a:ext cx="10286254" cy="3636772"/>
          </a:xfrm>
          <a:prstGeom prst="rect">
            <a:avLst/>
          </a:prstGeom>
          <a:ln>
            <a:solidFill>
              <a:schemeClr val="tx1"/>
            </a:solidFill>
          </a:ln>
        </p:spPr>
      </p:pic>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8600090" y="2405746"/>
            <a:ext cx="977462" cy="9680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3680915" y="166269"/>
            <a:ext cx="4830168" cy="461665"/>
          </a:xfrm>
          <a:prstGeom prst="rect">
            <a:avLst/>
          </a:prstGeom>
          <a:noFill/>
        </p:spPr>
        <p:txBody>
          <a:bodyPr wrap="none" rtlCol="0">
            <a:spAutoFit/>
          </a:bodyPr>
          <a:lstStyle/>
          <a:p>
            <a:pPr algn="ctr"/>
            <a:r>
              <a:rPr lang="en-US" sz="2400" noProof="0" dirty="0"/>
              <a:t>Type-level expression (Cellato DSL)</a:t>
            </a:r>
          </a:p>
        </p:txBody>
      </p:sp>
      <p:sp>
        <p:nvSpPr>
          <p:cNvPr id="11" name="TextBox 10">
            <a:extLst>
              <a:ext uri="{FF2B5EF4-FFF2-40B4-BE49-F238E27FC236}">
                <a16:creationId xmlns:a16="http://schemas.microsoft.com/office/drawing/2014/main" id="{04678AD1-9DFB-3AD1-C85E-E08FEAB31F7D}"/>
              </a:ext>
            </a:extLst>
          </p:cNvPr>
          <p:cNvSpPr txBox="1"/>
          <p:nvPr/>
        </p:nvSpPr>
        <p:spPr>
          <a:xfrm>
            <a:off x="1563128" y="4776952"/>
            <a:ext cx="2448234" cy="830997"/>
          </a:xfrm>
          <a:prstGeom prst="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400" noProof="0" dirty="0"/>
              <a:t>Already prepared</a:t>
            </a:r>
            <a:br>
              <a:rPr lang="en-US" sz="2400" noProof="0" dirty="0"/>
            </a:br>
            <a:r>
              <a:rPr lang="en-US" sz="2400" noProof="0" dirty="0"/>
              <a:t>in the library</a:t>
            </a:r>
          </a:p>
        </p:txBody>
      </p:sp>
      <p:cxnSp>
        <p:nvCxnSpPr>
          <p:cNvPr id="14" name="Straight Arrow Connector 13">
            <a:extLst>
              <a:ext uri="{FF2B5EF4-FFF2-40B4-BE49-F238E27FC236}">
                <a16:creationId xmlns:a16="http://schemas.microsoft.com/office/drawing/2014/main" id="{66F763AA-62BB-1A9E-B067-864136F9DBD9}"/>
              </a:ext>
            </a:extLst>
          </p:cNvPr>
          <p:cNvCxnSpPr>
            <a:stCxn id="11" idx="0"/>
          </p:cNvCxnSpPr>
          <p:nvPr/>
        </p:nvCxnSpPr>
        <p:spPr>
          <a:xfrm flipH="1" flipV="1">
            <a:off x="2388476" y="4099034"/>
            <a:ext cx="398769" cy="67791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2EA30E8-0AB2-E770-D08E-8C4BF7B98448}"/>
              </a:ext>
            </a:extLst>
          </p:cNvPr>
          <p:cNvCxnSpPr>
            <a:stCxn id="11" idx="3"/>
          </p:cNvCxnSpPr>
          <p:nvPr/>
        </p:nvCxnSpPr>
        <p:spPr>
          <a:xfrm>
            <a:off x="4011362" y="5192451"/>
            <a:ext cx="1341031" cy="33336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0A2D40E2-56FA-1456-C944-4EAED82B478E}"/>
              </a:ext>
            </a:extLst>
          </p:cNvPr>
          <p:cNvCxnSpPr/>
          <p:nvPr/>
        </p:nvCxnSpPr>
        <p:spPr>
          <a:xfrm flipV="1">
            <a:off x="4011362" y="4035972"/>
            <a:ext cx="1199141" cy="7409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53544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0" y="1486810"/>
            <a:ext cx="12192000" cy="4511038"/>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 (follow-up work)</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1493191" y="6114784"/>
            <a:ext cx="9205020" cy="430887"/>
          </a:xfrm>
          <a:prstGeom prst="rect">
            <a:avLst/>
          </a:prstGeom>
          <a:noFill/>
        </p:spPr>
        <p:txBody>
          <a:bodyPr wrap="none" rtlCol="0">
            <a:spAutoFit/>
          </a:bodyPr>
          <a:lstStyle/>
          <a:p>
            <a:pPr algn="ctr"/>
            <a:r>
              <a:rPr lang="en-US" sz="2200" noProof="0" dirty="0"/>
              <a:t>Comparison of GPU-parallelized computation of various cellular automata</a:t>
            </a:r>
            <a:endParaRPr lang="en-US" sz="2200" i="1" noProof="0" dirty="0"/>
          </a:p>
        </p:txBody>
      </p:sp>
      <p:cxnSp>
        <p:nvCxnSpPr>
          <p:cNvPr id="8" name="Straight Arrow Connector 7">
            <a:extLst>
              <a:ext uri="{FF2B5EF4-FFF2-40B4-BE49-F238E27FC236}">
                <a16:creationId xmlns:a16="http://schemas.microsoft.com/office/drawing/2014/main" id="{B863BE26-2F7A-628C-DE51-549D69E8BAAA}"/>
              </a:ext>
            </a:extLst>
          </p:cNvPr>
          <p:cNvCxnSpPr>
            <a:cxnSpLocks/>
            <a:stCxn id="9" idx="0"/>
          </p:cNvCxnSpPr>
          <p:nvPr/>
        </p:nvCxnSpPr>
        <p:spPr>
          <a:xfrm flipV="1">
            <a:off x="670528" y="5216478"/>
            <a:ext cx="288758" cy="5751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AA33C645-3BF2-0721-A2F4-A1F8BC4B7C33}"/>
              </a:ext>
            </a:extLst>
          </p:cNvPr>
          <p:cNvSpPr txBox="1"/>
          <p:nvPr/>
        </p:nvSpPr>
        <p:spPr>
          <a:xfrm>
            <a:off x="-32549" y="5791618"/>
            <a:ext cx="1406154" cy="646331"/>
          </a:xfrm>
          <a:prstGeom prst="rect">
            <a:avLst/>
          </a:prstGeom>
          <a:noFill/>
        </p:spPr>
        <p:txBody>
          <a:bodyPr wrap="none" rtlCol="0">
            <a:spAutoFit/>
          </a:bodyPr>
          <a:lstStyle/>
          <a:p>
            <a:pPr algn="ctr"/>
            <a:r>
              <a:rPr lang="en-US" noProof="0" dirty="0">
                <a:solidFill>
                  <a:srgbClr val="FF0000"/>
                </a:solidFill>
              </a:rPr>
              <a:t>Byte per cell</a:t>
            </a:r>
          </a:p>
          <a:p>
            <a:pPr algn="ctr"/>
            <a:r>
              <a:rPr lang="en-US" noProof="0" dirty="0">
                <a:solidFill>
                  <a:srgbClr val="FF0000"/>
                </a:solidFill>
              </a:rPr>
              <a:t>baseline</a:t>
            </a:r>
          </a:p>
        </p:txBody>
      </p:sp>
    </p:spTree>
    <p:extLst>
      <p:ext uri="{BB962C8B-B14F-4D97-AF65-F5344CB8AC3E}">
        <p14:creationId xmlns:p14="http://schemas.microsoft.com/office/powerpoint/2010/main" val="13104121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noProof="0" dirty="0"/>
              <a:t> Distributed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Wingdings" panose="05000000000000000000" pitchFamily="2" charset="2"/>
              <a:buChar char="ü"/>
            </a:pPr>
            <a:r>
              <a:rPr lang="en-US" noProof="0" dirty="0"/>
              <a:t> Simplicity</a:t>
            </a:r>
          </a:p>
          <a:p>
            <a:pPr lvl="1">
              <a:buFont typeface="Wingdings" panose="05000000000000000000" pitchFamily="2" charset="2"/>
              <a:buChar char="ü"/>
            </a:pPr>
            <a:r>
              <a:rPr lang="en-US" noProof="0" dirty="0"/>
              <a:t> Flexibility</a:t>
            </a:r>
          </a:p>
          <a:p>
            <a:pPr lvl="1">
              <a:buFont typeface="Wingdings" panose="05000000000000000000" pitchFamily="2" charset="2"/>
              <a:buChar char="ü"/>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388659" y="3805519"/>
            <a:ext cx="296553" cy="1268296"/>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8" name="Graphic 7" descr="Robot with solid fill">
            <a:extLst>
              <a:ext uri="{FF2B5EF4-FFF2-40B4-BE49-F238E27FC236}">
                <a16:creationId xmlns:a16="http://schemas.microsoft.com/office/drawing/2014/main" id="{DC3A6F04-0374-7B2A-6A87-FEA92F4C8D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27130" y="3818768"/>
            <a:ext cx="2532229" cy="2532229"/>
          </a:xfrm>
          <a:prstGeom prst="rect">
            <a:avLst/>
          </a:prstGeom>
        </p:spPr>
      </p:pic>
      <p:cxnSp>
        <p:nvCxnSpPr>
          <p:cNvPr id="10" name="Straight Connector 9">
            <a:extLst>
              <a:ext uri="{FF2B5EF4-FFF2-40B4-BE49-F238E27FC236}">
                <a16:creationId xmlns:a16="http://schemas.microsoft.com/office/drawing/2014/main" id="{6A7A7546-AB4B-B0AA-3591-AB55403B6F68}"/>
              </a:ext>
            </a:extLst>
          </p:cNvPr>
          <p:cNvCxnSpPr>
            <a:cxnSpLocks/>
          </p:cNvCxnSpPr>
          <p:nvPr/>
        </p:nvCxnSpPr>
        <p:spPr>
          <a:xfrm>
            <a:off x="3685212" y="4439667"/>
            <a:ext cx="2070129" cy="645215"/>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7412931" y="3543408"/>
            <a:ext cx="4109740" cy="896259"/>
          </a:xfrm>
          <a:prstGeom prst="wedgeRoundRectCallout">
            <a:avLst>
              <a:gd name="adj1" fmla="val -49944"/>
              <a:gd name="adj2" fmla="val 66003"/>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I, an LLM, can redesign algorithms</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12" name="TextBox 11">
            <a:extLst>
              <a:ext uri="{FF2B5EF4-FFF2-40B4-BE49-F238E27FC236}">
                <a16:creationId xmlns:a16="http://schemas.microsoft.com/office/drawing/2014/main" id="{3685388B-D88A-850D-5EA1-512834C22715}"/>
              </a:ext>
            </a:extLst>
          </p:cNvPr>
          <p:cNvSpPr txBox="1"/>
          <p:nvPr/>
        </p:nvSpPr>
        <p:spPr>
          <a:xfrm>
            <a:off x="1684587" y="3561854"/>
            <a:ext cx="1135247" cy="923330"/>
          </a:xfrm>
          <a:prstGeom prst="rect">
            <a:avLst/>
          </a:prstGeom>
          <a:noFill/>
        </p:spPr>
        <p:txBody>
          <a:bodyPr wrap="none" rtlCol="0">
            <a:spAutoFit/>
          </a:bodyPr>
          <a:lstStyle/>
          <a:p>
            <a:r>
              <a:rPr lang="en-US" sz="5400" noProof="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4" y="1799789"/>
            <a:ext cx="4423175" cy="1168539"/>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Implement</a:t>
            </a:r>
            <a:br>
              <a:rPr lang="en-US" sz="2400" noProof="0" dirty="0"/>
            </a:br>
            <a:r>
              <a:rPr lang="en-US" sz="2400" noProof="0" dirty="0"/>
              <a:t>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flipH="1">
            <a:off x="2252211" y="2968328"/>
            <a:ext cx="1" cy="59352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803279" y="5440720"/>
            <a:ext cx="2897864"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a:off x="2252211" y="4485184"/>
            <a:ext cx="0" cy="95553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4D4E8062-9D67-E981-C7E7-CB3905FE099A}"/>
              </a:ext>
            </a:extLst>
          </p:cNvPr>
          <p:cNvSpPr txBox="1"/>
          <p:nvPr/>
        </p:nvSpPr>
        <p:spPr>
          <a:xfrm>
            <a:off x="6051627" y="3637430"/>
            <a:ext cx="1135247" cy="923330"/>
          </a:xfrm>
          <a:prstGeom prst="rect">
            <a:avLst/>
          </a:prstGeom>
          <a:noFill/>
        </p:spPr>
        <p:txBody>
          <a:bodyPr wrap="none" rtlCol="0">
            <a:spAutoFit/>
          </a:bodyPr>
          <a:lstStyle/>
          <a:p>
            <a:r>
              <a:rPr lang="en-US" sz="5400" noProof="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4910430" y="1799788"/>
            <a:ext cx="3417642" cy="1168539"/>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 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a:off x="6619251" y="2968327"/>
            <a:ext cx="0" cy="6691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5391640"/>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a:off x="6619251" y="4560760"/>
            <a:ext cx="0" cy="83088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9269869" y="1799788"/>
            <a:ext cx="2754452" cy="1168539"/>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5391640"/>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Efficient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079471" y="3637430"/>
            <a:ext cx="1135247" cy="923330"/>
          </a:xfrm>
          <a:prstGeom prst="rect">
            <a:avLst/>
          </a:prstGeom>
          <a:noFill/>
        </p:spPr>
        <p:txBody>
          <a:bodyPr wrap="none" rtlCol="0">
            <a:spAutoFit/>
          </a:bodyPr>
          <a:lstStyle/>
          <a:p>
            <a:r>
              <a:rPr lang="en-US" sz="5400" noProof="0" dirty="0"/>
              <a:t>🤖</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63" idx="0"/>
          </p:cNvCxnSpPr>
          <p:nvPr/>
        </p:nvCxnSpPr>
        <p:spPr>
          <a:xfrm>
            <a:off x="10647095" y="2968327"/>
            <a:ext cx="0" cy="6691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5" y="4560760"/>
            <a:ext cx="3" cy="83088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noProof="0" dirty="0"/>
              <a:t>…</a:t>
            </a:r>
          </a:p>
        </p:txBody>
      </p:sp>
    </p:spTree>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30" grpId="0" animBg="1"/>
      <p:bldP spid="32" grpId="0" animBg="1"/>
      <p:bldP spid="47" grpId="0" animBg="1"/>
      <p:bldP spid="61" grpId="0" animBg="1"/>
      <p:bldP spid="63" grpId="0"/>
      <p:bldP spid="68" grpId="0"/>
      <p:bldP spid="7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486525" y="1648814"/>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352298" y="2622246"/>
            <a:ext cx="1635384" cy="461665"/>
          </a:xfrm>
          <a:prstGeom prst="rect">
            <a:avLst/>
          </a:prstGeom>
          <a:noFill/>
        </p:spPr>
        <p:txBody>
          <a:bodyPr wrap="none" rtlCol="0">
            <a:spAutoFit/>
          </a:bodyPr>
          <a:lstStyle/>
          <a:p>
            <a:pPr algn="ctr"/>
            <a:r>
              <a:rPr lang="en-US" sz="2400" b="1" noProof="0"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127887" y="1662709"/>
            <a:ext cx="1490506" cy="1073162"/>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5896961" y="2731778"/>
            <a:ext cx="1936749" cy="461665"/>
          </a:xfrm>
          <a:prstGeom prst="rect">
            <a:avLst/>
          </a:prstGeom>
          <a:noFill/>
        </p:spPr>
        <p:txBody>
          <a:bodyPr wrap="none" rtlCol="0">
            <a:spAutoFit/>
          </a:bodyPr>
          <a:lstStyle/>
          <a:p>
            <a:pPr algn="ctr"/>
            <a:r>
              <a:rPr lang="en-US" sz="24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545342" y="1659658"/>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474567" y="2668413"/>
            <a:ext cx="1622560" cy="830997"/>
          </a:xfrm>
          <a:prstGeom prst="rect">
            <a:avLst/>
          </a:prstGeom>
          <a:noFill/>
        </p:spPr>
        <p:txBody>
          <a:bodyPr wrap="none" rtlCol="0">
            <a:spAutoFit/>
          </a:bodyPr>
          <a:lstStyle/>
          <a:p>
            <a:pPr algn="ctr"/>
            <a:r>
              <a:rPr lang="en-US" sz="2400" b="1" noProof="0" dirty="0"/>
              <a:t>K-Nearest</a:t>
            </a:r>
            <a:br>
              <a:rPr lang="en-US" sz="2400" b="1" noProof="0" dirty="0"/>
            </a:br>
            <a:r>
              <a:rPr lang="en-US" sz="24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052558" y="3468770"/>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723626" y="3468770"/>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641777" y="3468770"/>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380748" y="4106371"/>
            <a:ext cx="2214068" cy="461665"/>
          </a:xfrm>
          <a:prstGeom prst="rect">
            <a:avLst/>
          </a:prstGeom>
          <a:noFill/>
        </p:spPr>
        <p:txBody>
          <a:bodyPr wrap="none" rtlCol="0">
            <a:spAutoFit/>
          </a:bodyPr>
          <a:lstStyle/>
          <a:p>
            <a:pPr algn="ctr"/>
            <a:r>
              <a:rPr lang="en-US" sz="24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2822048" y="4105182"/>
            <a:ext cx="748923" cy="584775"/>
          </a:xfrm>
          <a:prstGeom prst="rect">
            <a:avLst/>
          </a:prstGeom>
          <a:noFill/>
        </p:spPr>
        <p:txBody>
          <a:bodyPr wrap="none" rtlCol="0">
            <a:spAutoFit/>
          </a:bodyPr>
          <a:lstStyle/>
          <a:p>
            <a:pPr algn="r"/>
            <a:r>
              <a:rPr lang="en-US" sz="32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463411" y="4105182"/>
            <a:ext cx="748923" cy="584775"/>
          </a:xfrm>
          <a:prstGeom prst="rect">
            <a:avLst/>
          </a:prstGeom>
          <a:noFill/>
        </p:spPr>
        <p:txBody>
          <a:bodyPr wrap="none" rtlCol="0">
            <a:spAutoFit/>
          </a:bodyPr>
          <a:lstStyle/>
          <a:p>
            <a:pPr algn="r"/>
            <a:r>
              <a:rPr lang="en-US" sz="32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9880866" y="4105182"/>
            <a:ext cx="748923" cy="584775"/>
          </a:xfrm>
          <a:prstGeom prst="rect">
            <a:avLst/>
          </a:prstGeom>
          <a:noFill/>
        </p:spPr>
        <p:txBody>
          <a:bodyPr wrap="none" rtlCol="0">
            <a:spAutoFit/>
          </a:bodyPr>
          <a:lstStyle/>
          <a:p>
            <a:pPr algn="r"/>
            <a:r>
              <a:rPr lang="en-US" sz="32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24441" y="4793321"/>
            <a:ext cx="1525162" cy="461665"/>
          </a:xfrm>
          <a:prstGeom prst="rect">
            <a:avLst/>
          </a:prstGeom>
          <a:noFill/>
        </p:spPr>
        <p:txBody>
          <a:bodyPr wrap="none" rtlCol="0">
            <a:spAutoFit/>
          </a:bodyPr>
          <a:lstStyle/>
          <a:p>
            <a:pPr algn="ctr"/>
            <a:r>
              <a:rPr lang="en-US" sz="24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381318" y="4105182"/>
            <a:ext cx="748923" cy="584775"/>
          </a:xfrm>
          <a:prstGeom prst="rect">
            <a:avLst/>
          </a:prstGeom>
          <a:noFill/>
        </p:spPr>
        <p:txBody>
          <a:bodyPr wrap="none" rtlCol="0">
            <a:spAutoFit/>
          </a:bodyPr>
          <a:lstStyle/>
          <a:p>
            <a:r>
              <a:rPr lang="en-US" sz="32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6988894" y="4105182"/>
            <a:ext cx="748923" cy="584775"/>
          </a:xfrm>
          <a:prstGeom prst="rect">
            <a:avLst/>
          </a:prstGeom>
          <a:noFill/>
        </p:spPr>
        <p:txBody>
          <a:bodyPr wrap="none" rtlCol="0">
            <a:spAutoFit/>
          </a:bodyPr>
          <a:lstStyle/>
          <a:p>
            <a:r>
              <a:rPr lang="en-US" sz="32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409168" y="4105182"/>
            <a:ext cx="748923" cy="584775"/>
          </a:xfrm>
          <a:prstGeom prst="rect">
            <a:avLst/>
          </a:prstGeom>
          <a:noFill/>
        </p:spPr>
        <p:txBody>
          <a:bodyPr wrap="none" rtlCol="0">
            <a:spAutoFit/>
          </a:bodyPr>
          <a:lstStyle/>
          <a:p>
            <a:r>
              <a:rPr lang="en-US" sz="32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381318" y="4695336"/>
            <a:ext cx="748923" cy="584775"/>
          </a:xfrm>
          <a:prstGeom prst="rect">
            <a:avLst/>
          </a:prstGeom>
          <a:noFill/>
        </p:spPr>
        <p:txBody>
          <a:bodyPr wrap="none" rtlCol="0">
            <a:spAutoFit/>
          </a:bodyPr>
          <a:lstStyle/>
          <a:p>
            <a:r>
              <a:rPr lang="en-US" sz="32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2822048" y="4736228"/>
            <a:ext cx="748923" cy="584775"/>
          </a:xfrm>
          <a:prstGeom prst="rect">
            <a:avLst/>
          </a:prstGeom>
          <a:noFill/>
        </p:spPr>
        <p:txBody>
          <a:bodyPr wrap="none" rtlCol="0">
            <a:spAutoFit/>
          </a:bodyPr>
          <a:lstStyle/>
          <a:p>
            <a:pPr algn="r"/>
            <a:r>
              <a:rPr lang="en-US" sz="32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019287" y="4695336"/>
            <a:ext cx="748923" cy="584775"/>
          </a:xfrm>
          <a:prstGeom prst="rect">
            <a:avLst/>
          </a:prstGeom>
          <a:noFill/>
        </p:spPr>
        <p:txBody>
          <a:bodyPr wrap="none" rtlCol="0">
            <a:spAutoFit/>
          </a:bodyPr>
          <a:lstStyle/>
          <a:p>
            <a:r>
              <a:rPr lang="en-US" sz="32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460017" y="4736228"/>
            <a:ext cx="748923" cy="584775"/>
          </a:xfrm>
          <a:prstGeom prst="rect">
            <a:avLst/>
          </a:prstGeom>
          <a:noFill/>
        </p:spPr>
        <p:txBody>
          <a:bodyPr wrap="none" rtlCol="0">
            <a:spAutoFit/>
          </a:bodyPr>
          <a:lstStyle/>
          <a:p>
            <a:pPr algn="r"/>
            <a:r>
              <a:rPr lang="en-US" sz="32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157847" y="4731767"/>
            <a:ext cx="748923" cy="584775"/>
          </a:xfrm>
          <a:prstGeom prst="rect">
            <a:avLst/>
          </a:prstGeom>
          <a:noFill/>
        </p:spPr>
        <p:txBody>
          <a:bodyPr wrap="none" rtlCol="0">
            <a:spAutoFit/>
          </a:bodyPr>
          <a:lstStyle/>
          <a:p>
            <a:pPr algn="ctr"/>
            <a:r>
              <a:rPr lang="en-US" sz="32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315066" y="5384799"/>
            <a:ext cx="2343911" cy="461665"/>
          </a:xfrm>
          <a:prstGeom prst="rect">
            <a:avLst/>
          </a:prstGeom>
          <a:noFill/>
        </p:spPr>
        <p:txBody>
          <a:bodyPr wrap="none" rtlCol="0">
            <a:spAutoFit/>
          </a:bodyPr>
          <a:lstStyle/>
          <a:p>
            <a:pPr algn="ctr"/>
            <a:r>
              <a:rPr lang="en-US" sz="24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381318" y="5305044"/>
            <a:ext cx="748923" cy="584775"/>
          </a:xfrm>
          <a:prstGeom prst="rect">
            <a:avLst/>
          </a:prstGeom>
          <a:noFill/>
        </p:spPr>
        <p:txBody>
          <a:bodyPr wrap="none" rtlCol="0">
            <a:spAutoFit/>
          </a:bodyPr>
          <a:lstStyle/>
          <a:p>
            <a:r>
              <a:rPr lang="en-US" sz="32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2822048" y="5345936"/>
            <a:ext cx="748923" cy="584775"/>
          </a:xfrm>
          <a:prstGeom prst="rect">
            <a:avLst/>
          </a:prstGeom>
          <a:noFill/>
        </p:spPr>
        <p:txBody>
          <a:bodyPr wrap="none" rtlCol="0">
            <a:spAutoFit/>
          </a:bodyPr>
          <a:lstStyle/>
          <a:p>
            <a:pPr algn="r"/>
            <a:r>
              <a:rPr lang="en-US" sz="32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019287" y="5263718"/>
            <a:ext cx="748923" cy="584775"/>
          </a:xfrm>
          <a:prstGeom prst="rect">
            <a:avLst/>
          </a:prstGeom>
          <a:noFill/>
        </p:spPr>
        <p:txBody>
          <a:bodyPr wrap="none" rtlCol="0">
            <a:spAutoFit/>
          </a:bodyPr>
          <a:lstStyle/>
          <a:p>
            <a:r>
              <a:rPr lang="en-US" sz="32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460017" y="5304610"/>
            <a:ext cx="748923" cy="584775"/>
          </a:xfrm>
          <a:prstGeom prst="rect">
            <a:avLst/>
          </a:prstGeom>
          <a:noFill/>
        </p:spPr>
        <p:txBody>
          <a:bodyPr wrap="none" rtlCol="0">
            <a:spAutoFit/>
          </a:bodyPr>
          <a:lstStyle/>
          <a:p>
            <a:pPr algn="r"/>
            <a:r>
              <a:rPr lang="en-US" sz="32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157847" y="5304610"/>
            <a:ext cx="748923" cy="584775"/>
          </a:xfrm>
          <a:prstGeom prst="rect">
            <a:avLst/>
          </a:prstGeom>
          <a:noFill/>
        </p:spPr>
        <p:txBody>
          <a:bodyPr wrap="none" rtlCol="0">
            <a:spAutoFit/>
          </a:bodyPr>
          <a:lstStyle/>
          <a:p>
            <a:pPr algn="ctr"/>
            <a:r>
              <a:rPr lang="en-US" sz="3200" noProof="0" dirty="0"/>
              <a:t>❌</a:t>
            </a:r>
          </a:p>
        </p:txBody>
      </p:sp>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307365" y="1513149"/>
            <a:ext cx="1330814" cy="400110"/>
          </a:xfrm>
          <a:prstGeom prst="rect">
            <a:avLst/>
          </a:prstGeom>
          <a:noFill/>
        </p:spPr>
        <p:txBody>
          <a:bodyPr wrap="none" rtlCol="0">
            <a:spAutoFit/>
          </a:bodyPr>
          <a:lstStyle/>
          <a:p>
            <a:pPr algn="ctr"/>
            <a:r>
              <a:rPr lang="en-US" sz="2000"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540870" y="2094541"/>
            <a:ext cx="1576073" cy="400110"/>
          </a:xfrm>
          <a:prstGeom prst="rect">
            <a:avLst/>
          </a:prstGeom>
          <a:noFill/>
        </p:spPr>
        <p:txBody>
          <a:bodyPr wrap="none" rtlCol="0">
            <a:spAutoFit/>
          </a:bodyPr>
          <a:lstStyle/>
          <a:p>
            <a:pPr algn="ctr"/>
            <a:r>
              <a:rPr lang="en-US" sz="2000"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521915" y="2091797"/>
            <a:ext cx="5419726" cy="3940140"/>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350972" y="2037561"/>
            <a:ext cx="5494327" cy="3994376"/>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443741" y="1637451"/>
            <a:ext cx="1576073" cy="400110"/>
          </a:xfrm>
          <a:prstGeom prst="rect">
            <a:avLst/>
          </a:prstGeom>
          <a:noFill/>
        </p:spPr>
        <p:txBody>
          <a:bodyPr wrap="none" rtlCol="0">
            <a:spAutoFit/>
          </a:bodyPr>
          <a:lstStyle/>
          <a:p>
            <a:pPr algn="ctr"/>
            <a:r>
              <a:rPr lang="en-US" sz="2000"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378779" y="1614554"/>
            <a:ext cx="2460930" cy="400110"/>
          </a:xfrm>
          <a:prstGeom prst="rect">
            <a:avLst/>
          </a:prstGeom>
          <a:noFill/>
        </p:spPr>
        <p:txBody>
          <a:bodyPr wrap="none" rtlCol="0">
            <a:spAutoFit/>
          </a:bodyPr>
          <a:lstStyle/>
          <a:p>
            <a:pPr algn="ctr"/>
            <a:r>
              <a:rPr lang="en-US" sz="2000"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
        <p:nvSpPr>
          <p:cNvPr id="6" name="TextBox 5">
            <a:extLst>
              <a:ext uri="{FF2B5EF4-FFF2-40B4-BE49-F238E27FC236}">
                <a16:creationId xmlns:a16="http://schemas.microsoft.com/office/drawing/2014/main" id="{19E4B8FB-55FB-804F-D918-87CA02061244}"/>
              </a:ext>
            </a:extLst>
          </p:cNvPr>
          <p:cNvSpPr txBox="1"/>
          <p:nvPr/>
        </p:nvSpPr>
        <p:spPr>
          <a:xfrm>
            <a:off x="2598019" y="2790430"/>
            <a:ext cx="2184998" cy="578882"/>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45540" y="2713079"/>
            <a:ext cx="1474203" cy="578882"/>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noProof="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2758743" y="1672286"/>
            <a:ext cx="6851556" cy="578882"/>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Simplifying algorithm design &amp; optimization</a:t>
            </a:r>
          </a:p>
        </p:txBody>
      </p: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7904908" y="2217761"/>
            <a:ext cx="977734" cy="495318"/>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BC68EF8-2BD7-3EAB-EBBD-E77F253B6551}"/>
              </a:ext>
            </a:extLst>
          </p:cNvPr>
          <p:cNvSpPr txBox="1"/>
          <p:nvPr/>
        </p:nvSpPr>
        <p:spPr>
          <a:xfrm>
            <a:off x="792196" y="3611786"/>
            <a:ext cx="2237285" cy="578882"/>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6906565" y="3619191"/>
            <a:ext cx="1428916" cy="578882"/>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256462" y="4333988"/>
            <a:ext cx="2626180" cy="578882"/>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792196" y="4331346"/>
            <a:ext cx="2134343" cy="578882"/>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Some safety</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585124" y="3612310"/>
            <a:ext cx="2498727" cy="578882"/>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781206" y="4331346"/>
            <a:ext cx="2003622" cy="578882"/>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549708" y="3615620"/>
            <a:ext cx="1893310" cy="578882"/>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81148" y="4333988"/>
            <a:ext cx="2727489" cy="578882"/>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4510" y="898475"/>
            <a:ext cx="162980" cy="8496300"/>
          </a:xfrm>
          <a:prstGeom prst="rightBrace">
            <a:avLst/>
          </a:prstGeom>
          <a:ln w="19050">
            <a:solidFill>
              <a:srgbClr val="0D17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36" name="TextBox 35">
            <a:extLst>
              <a:ext uri="{FF2B5EF4-FFF2-40B4-BE49-F238E27FC236}">
                <a16:creationId xmlns:a16="http://schemas.microsoft.com/office/drawing/2014/main" id="{2389E2B3-4BCB-989F-B436-E7DF27AF788B}"/>
              </a:ext>
            </a:extLst>
          </p:cNvPr>
          <p:cNvSpPr txBox="1"/>
          <p:nvPr/>
        </p:nvSpPr>
        <p:spPr>
          <a:xfrm>
            <a:off x="3673702" y="5222758"/>
            <a:ext cx="4844596" cy="954107"/>
          </a:xfrm>
          <a:prstGeom prst="rect">
            <a:avLst/>
          </a:prstGeom>
          <a:noFill/>
        </p:spPr>
        <p:txBody>
          <a:bodyPr wrap="none" rtlCol="0">
            <a:spAutoFit/>
          </a:bodyPr>
          <a:lstStyle/>
          <a:p>
            <a:pPr algn="ctr"/>
            <a:r>
              <a:rPr lang="en-US" sz="2800" noProof="0" dirty="0"/>
              <a:t>Would abstractions help LLMs</a:t>
            </a:r>
            <a:br>
              <a:rPr lang="en-US" sz="2800" noProof="0" dirty="0"/>
            </a:br>
            <a:r>
              <a:rPr lang="en-US" sz="2800" noProof="0" dirty="0"/>
              <a:t>generate better code?</a:t>
            </a:r>
          </a:p>
        </p:txBody>
      </p:sp>
      <p:cxnSp>
        <p:nvCxnSpPr>
          <p:cNvPr id="38" name="Straight Connector 37">
            <a:extLst>
              <a:ext uri="{FF2B5EF4-FFF2-40B4-BE49-F238E27FC236}">
                <a16:creationId xmlns:a16="http://schemas.microsoft.com/office/drawing/2014/main" id="{89876299-1652-9960-0CF0-FAE18BAA3D39}"/>
              </a:ext>
            </a:extLst>
          </p:cNvPr>
          <p:cNvCxnSpPr>
            <a:cxnSpLocks/>
            <a:stCxn id="14" idx="0"/>
            <a:endCxn id="6" idx="2"/>
          </p:cNvCxnSpPr>
          <p:nvPr/>
        </p:nvCxnSpPr>
        <p:spPr>
          <a:xfrm flipV="1">
            <a:off x="1910839" y="3369312"/>
            <a:ext cx="1779679" cy="242474"/>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a:endCxn id="24" idx="0"/>
          </p:cNvCxnSpPr>
          <p:nvPr/>
        </p:nvCxnSpPr>
        <p:spPr>
          <a:xfrm>
            <a:off x="3690518" y="3369312"/>
            <a:ext cx="1143970" cy="242998"/>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stCxn id="16" idx="0"/>
            <a:endCxn id="7" idx="2"/>
          </p:cNvCxnSpPr>
          <p:nvPr/>
        </p:nvCxnSpPr>
        <p:spPr>
          <a:xfrm flipV="1">
            <a:off x="7621023" y="3291961"/>
            <a:ext cx="1261619" cy="327230"/>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stCxn id="28" idx="0"/>
            <a:endCxn id="7" idx="2"/>
          </p:cNvCxnSpPr>
          <p:nvPr/>
        </p:nvCxnSpPr>
        <p:spPr>
          <a:xfrm flipH="1" flipV="1">
            <a:off x="8882642" y="3291961"/>
            <a:ext cx="1613721" cy="323659"/>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147523" y="2205523"/>
            <a:ext cx="11896954" cy="3659422"/>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sp>
        <p:nvSpPr>
          <p:cNvPr id="7" name="TextBox 6">
            <a:extLst>
              <a:ext uri="{FF2B5EF4-FFF2-40B4-BE49-F238E27FC236}">
                <a16:creationId xmlns:a16="http://schemas.microsoft.com/office/drawing/2014/main" id="{DB9497BC-6D29-1801-EA64-2882313902E4}"/>
              </a:ext>
            </a:extLst>
          </p:cNvPr>
          <p:cNvSpPr txBox="1"/>
          <p:nvPr/>
        </p:nvSpPr>
        <p:spPr>
          <a:xfrm>
            <a:off x="2961639" y="6013588"/>
            <a:ext cx="6016391" cy="830997"/>
          </a:xfrm>
          <a:prstGeom prst="rect">
            <a:avLst/>
          </a:prstGeom>
          <a:noFill/>
        </p:spPr>
        <p:txBody>
          <a:bodyPr wrap="none" rtlCol="0">
            <a:spAutoFit/>
          </a:bodyPr>
          <a:lstStyle/>
          <a:p>
            <a:pPr algn="ctr"/>
            <a:r>
              <a:rPr lang="en-US" sz="2400" noProof="0" dirty="0"/>
              <a:t>Developer guide + abstraction-specific hints</a:t>
            </a:r>
          </a:p>
          <a:p>
            <a:pPr algn="ctr"/>
            <a:r>
              <a:rPr lang="en-US" sz="2400" i="1" noProof="0"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cxnSpLocks/>
            <a:stCxn id="7" idx="0"/>
          </p:cNvCxnSpPr>
          <p:nvPr/>
        </p:nvCxnSpPr>
        <p:spPr>
          <a:xfrm flipH="1" flipV="1">
            <a:off x="2961639" y="4450976"/>
            <a:ext cx="3008196" cy="156261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cxnSpLocks/>
            <a:stCxn id="7" idx="0"/>
          </p:cNvCxnSpPr>
          <p:nvPr/>
        </p:nvCxnSpPr>
        <p:spPr>
          <a:xfrm flipV="1">
            <a:off x="5969835" y="4652682"/>
            <a:ext cx="2021738" cy="1360906"/>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p:cNvCxnSpPr>
          <p:nvPr/>
        </p:nvCxnSpPr>
        <p:spPr>
          <a:xfrm>
            <a:off x="2585951" y="2049544"/>
            <a:ext cx="0" cy="949150"/>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1616294" y="1218547"/>
            <a:ext cx="1939313" cy="830997"/>
          </a:xfrm>
          <a:prstGeom prst="rect">
            <a:avLst/>
          </a:prstGeom>
          <a:noFill/>
        </p:spPr>
        <p:txBody>
          <a:bodyPr wrap="none" rtlCol="0">
            <a:spAutoFit/>
          </a:bodyPr>
          <a:lstStyle/>
          <a:p>
            <a:pPr algn="ctr"/>
            <a:r>
              <a:rPr lang="en-US" sz="2400" noProof="0" dirty="0"/>
              <a:t>Example</a:t>
            </a:r>
            <a:br>
              <a:rPr lang="en-US" sz="2400" noProof="0" dirty="0"/>
            </a:br>
            <a:r>
              <a:rPr lang="en-US" sz="2400" noProof="0"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p:cNvCxnSpPr>
          <p:nvPr/>
        </p:nvCxnSpPr>
        <p:spPr>
          <a:xfrm>
            <a:off x="8499278" y="1931503"/>
            <a:ext cx="0" cy="145853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7231142" y="1469838"/>
            <a:ext cx="2536272" cy="461665"/>
          </a:xfrm>
          <a:prstGeom prst="rect">
            <a:avLst/>
          </a:prstGeom>
          <a:noFill/>
        </p:spPr>
        <p:txBody>
          <a:bodyPr wrap="none" rtlCol="0">
            <a:spAutoFit/>
          </a:bodyPr>
          <a:lstStyle/>
          <a:p>
            <a:pPr algn="ctr"/>
            <a:r>
              <a:rPr lang="en-US" sz="2400" noProof="0" dirty="0"/>
              <a:t>Different prompts</a:t>
            </a:r>
          </a:p>
        </p:txBody>
      </p: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4" grpId="0"/>
      <p:bldP spid="31"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0" y="339180"/>
            <a:ext cx="12192000" cy="5931408"/>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224053" y="739290"/>
            <a:ext cx="590330" cy="65281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0" y="339180"/>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noProof="0" dirty="0"/>
              <a:t>Possible future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688871"/>
            <a:ext cx="2125390" cy="461665"/>
          </a:xfrm>
          <a:prstGeom prst="rect">
            <a:avLst/>
          </a:prstGeom>
          <a:noFill/>
        </p:spPr>
        <p:txBody>
          <a:bodyPr wrap="none" rtlCol="0">
            <a:spAutoFit/>
          </a:bodyPr>
          <a:lstStyle/>
          <a:p>
            <a:pPr algn="ctr"/>
            <a:r>
              <a:rPr lang="en-US" sz="2400" noProof="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397074"/>
            <a:ext cx="1884948" cy="461665"/>
          </a:xfrm>
          <a:prstGeom prst="rect">
            <a:avLst/>
          </a:prstGeom>
          <a:noFill/>
        </p:spPr>
        <p:txBody>
          <a:bodyPr wrap="square">
            <a:spAutoFit/>
          </a:bodyPr>
          <a:lstStyle/>
          <a:p>
            <a:pPr algn="ctr"/>
            <a:r>
              <a:rPr lang="en-US" sz="2400" noProof="0" dirty="0"/>
              <a:t>determinism</a:t>
            </a:r>
            <a:endParaRPr lang="en-US" noProof="0"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0C2203B1-0F93-3F92-FADF-DA1FA387F65C}"/>
              </a:ext>
            </a:extLst>
          </p:cNvPr>
          <p:cNvSpPr txBox="1"/>
          <p:nvPr/>
        </p:nvSpPr>
        <p:spPr>
          <a:xfrm>
            <a:off x="489544" y="3744795"/>
            <a:ext cx="1717472" cy="510778"/>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2070522" y="4624640"/>
            <a:ext cx="1686131" cy="510778"/>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9103226" y="566078"/>
            <a:ext cx="2988319"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defPPr>
              <a:defRPr lang="en-US"/>
            </a:defPPr>
            <a:lvl1pPr algn="ctr">
              <a:defRPr sz="2400"/>
            </a:lvl1pPr>
          </a:lstStyle>
          <a:p>
            <a:r>
              <a:rPr lang="en-US" sz="2800" noProof="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8234151" y="2301941"/>
            <a:ext cx="3501860" cy="595610"/>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Bitwise encoding of </a:t>
            </a:r>
            <a:r>
              <a:rPr lang="en-US" sz="2400" noProof="0" dirty="0" err="1"/>
              <a:t>GoL</a:t>
            </a:r>
            <a:endParaRPr lang="en-US" sz="2400"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5338774" y="1699279"/>
            <a:ext cx="2300630" cy="609005"/>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7015459" y="4904585"/>
            <a:ext cx="3312125" cy="461665"/>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Tutoring LLMs for CUDA</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sp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nvSpPr>
        <p:spPr>
          <a:xfrm>
            <a:off x="9116787" y="5760739"/>
            <a:ext cx="2935740" cy="461665"/>
          </a:xfrm>
          <a:prstGeom prst="rect">
            <a:avLst/>
          </a:prstGeom>
        </p:spPr>
        <p:style>
          <a:lnRef idx="0">
            <a:schemeClr val="accent2"/>
          </a:lnRef>
          <a:fillRef idx="3">
            <a:schemeClr val="accent2"/>
          </a:fillRef>
          <a:effectRef idx="3">
            <a:schemeClr val="accent2"/>
          </a:effectRef>
          <a:fontRef idx="minor">
            <a:schemeClr val="lt1"/>
          </a:fontRef>
        </p:style>
        <p:txBody>
          <a:bodyPr wrap="none" rtlCol="0">
            <a:spAutoFit/>
          </a:bodyPr>
          <a:lstStyle/>
          <a:p>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nvSpPr>
        <p:spPr>
          <a:xfrm>
            <a:off x="3193480" y="5441518"/>
            <a:ext cx="3106068" cy="626864"/>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sz="2400" noProof="0" dirty="0" err="1"/>
              <a:t>kNN</a:t>
            </a:r>
            <a:r>
              <a:rPr lang="en-US" sz="2400" noProof="0" dirty="0"/>
              <a:t> with </a:t>
            </a:r>
            <a:r>
              <a:rPr lang="en-US" sz="2400" noProof="0" dirty="0" err="1"/>
              <a:t>bitonic</a:t>
            </a:r>
            <a:r>
              <a:rPr lang="en-US" sz="2400" noProof="0" dirty="0"/>
              <a:t> sort</a:t>
            </a:r>
          </a:p>
        </p:txBody>
      </p:sp>
      <p:sp>
        <p:nvSpPr>
          <p:cNvPr id="83" name="TextBox 82">
            <a:extLst>
              <a:ext uri="{FF2B5EF4-FFF2-40B4-BE49-F238E27FC236}">
                <a16:creationId xmlns:a16="http://schemas.microsoft.com/office/drawing/2014/main" id="{B8340993-B06E-A311-6876-6E4CE72B0A74}"/>
              </a:ext>
            </a:extLst>
          </p:cNvPr>
          <p:cNvSpPr txBox="1"/>
          <p:nvPr/>
        </p:nvSpPr>
        <p:spPr>
          <a:xfrm>
            <a:off x="3893672" y="2845393"/>
            <a:ext cx="4110914" cy="595610"/>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Bit-Planes for CA abstraction</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32</a:t>
            </a:fld>
            <a:endParaRPr lang="en-US" noProof="0" dirty="0"/>
          </a:p>
        </p:txBody>
      </p:sp>
      <p:sp>
        <p:nvSpPr>
          <p:cNvPr id="30" name="TextBox 29">
            <a:extLst>
              <a:ext uri="{FF2B5EF4-FFF2-40B4-BE49-F238E27FC236}">
                <a16:creationId xmlns:a16="http://schemas.microsoft.com/office/drawing/2014/main" id="{4AD7395F-5DE8-A141-7F54-EB10905B989D}"/>
              </a:ext>
            </a:extLst>
          </p:cNvPr>
          <p:cNvSpPr txBox="1"/>
          <p:nvPr/>
        </p:nvSpPr>
        <p:spPr>
          <a:xfrm>
            <a:off x="3350642" y="3959149"/>
            <a:ext cx="3180935" cy="461665"/>
          </a:xfrm>
          <a:prstGeom prst="rect">
            <a:avLst/>
          </a:prstGeom>
          <a:gradFill flip="none" rotWithShape="1">
            <a:gsLst>
              <a:gs pos="0">
                <a:schemeClr val="accent2">
                  <a:lumMod val="67000"/>
                </a:schemeClr>
              </a:gs>
              <a:gs pos="48000">
                <a:srgbClr val="AF9A19"/>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LLMs and abstractions</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flipH="1">
            <a:off x="1348280" y="3370297"/>
            <a:ext cx="691032" cy="37449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a:off x="2039312" y="3370297"/>
            <a:ext cx="874276" cy="125434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nvCxnSpPr>
        <p:spPr>
          <a:xfrm flipH="1">
            <a:off x="9985081" y="1089298"/>
            <a:ext cx="612305" cy="1212643"/>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2"/>
            <a:endCxn id="27" idx="0"/>
          </p:cNvCxnSpPr>
          <p:nvPr/>
        </p:nvCxnSpPr>
        <p:spPr>
          <a:xfrm flipH="1">
            <a:off x="6489089" y="1089298"/>
            <a:ext cx="4108297" cy="609981"/>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4941110" y="4420814"/>
            <a:ext cx="3730412" cy="483771"/>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2"/>
          </p:cNvCxnSpPr>
          <p:nvPr/>
        </p:nvCxnSpPr>
        <p:spPr>
          <a:xfrm flipH="1" flipV="1">
            <a:off x="8671522" y="5366250"/>
            <a:ext cx="1913135" cy="39448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nvCxnSpPr>
        <p:spPr>
          <a:xfrm flipV="1">
            <a:off x="4017096" y="6068382"/>
            <a:ext cx="729418" cy="248143"/>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cxnSpLocks/>
            <a:stCxn id="14" idx="0"/>
            <a:endCxn id="28" idx="1"/>
          </p:cNvCxnSpPr>
          <p:nvPr/>
        </p:nvCxnSpPr>
        <p:spPr>
          <a:xfrm rot="5400000" flipH="1" flipV="1">
            <a:off x="5727936" y="4153996"/>
            <a:ext cx="306100" cy="2268945"/>
          </a:xfrm>
          <a:prstGeom prst="curvedConnector2">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0"/>
          </p:cNvCxnSpPr>
          <p:nvPr/>
        </p:nvCxnSpPr>
        <p:spPr>
          <a:xfrm rot="5400000">
            <a:off x="8324785" y="3244289"/>
            <a:ext cx="2007034" cy="1313559"/>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2817222" y="3114908"/>
            <a:ext cx="2123888" cy="844241"/>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1"/>
          </p:cNvCxnSpPr>
          <p:nvPr/>
        </p:nvCxnSpPr>
        <p:spPr>
          <a:xfrm rot="5400000" flipH="1" flipV="1">
            <a:off x="3261175" y="781920"/>
            <a:ext cx="855737" cy="3299462"/>
          </a:xfrm>
          <a:prstGeom prst="curvedConnector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rot="21191511">
            <a:off x="2651177" y="1663874"/>
            <a:ext cx="2731838" cy="461665"/>
          </a:xfrm>
          <a:prstGeom prst="rect">
            <a:avLst/>
          </a:prstGeom>
          <a:noFill/>
        </p:spPr>
        <p:txBody>
          <a:bodyPr wrap="none" rtlCol="0">
            <a:spAutoFit/>
          </a:bodyPr>
          <a:lstStyle/>
          <a:p>
            <a:r>
              <a:rPr lang="en-US" sz="2400"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55319" y="4591229"/>
            <a:ext cx="684040" cy="684040"/>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5915" y="3667354"/>
            <a:ext cx="688481" cy="688481"/>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925547" y="2853336"/>
            <a:ext cx="684040" cy="684040"/>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66243" y="1663220"/>
            <a:ext cx="688481" cy="688481"/>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78121" y="2867246"/>
            <a:ext cx="688481" cy="688481"/>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61624" y="4783992"/>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03775" y="5466476"/>
            <a:ext cx="684040" cy="684040"/>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72227" y="3815400"/>
            <a:ext cx="684040" cy="684040"/>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033641" y="4003059"/>
            <a:ext cx="373844" cy="373844"/>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707576" y="5641725"/>
            <a:ext cx="373844" cy="373844"/>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505304" y="3008758"/>
            <a:ext cx="373844" cy="373844"/>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559685" y="3096948"/>
            <a:ext cx="556077" cy="556077"/>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099942" y="2041367"/>
            <a:ext cx="556077" cy="556077"/>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495140" y="4847974"/>
            <a:ext cx="556077" cy="556077"/>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928085" y="3954139"/>
            <a:ext cx="556077" cy="556077"/>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983599" y="2059326"/>
            <a:ext cx="556077" cy="556077"/>
          </a:xfrm>
          <a:prstGeom prst="rect">
            <a:avLst/>
          </a:prstGeom>
        </p:spPr>
      </p:pic>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5949129" y="2308284"/>
            <a:ext cx="539960" cy="53710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0"/>
          </p:cNvCxnSpPr>
          <p:nvPr/>
        </p:nvCxnSpPr>
        <p:spPr>
          <a:xfrm flipH="1">
            <a:off x="5949129" y="2599746"/>
            <a:ext cx="2285022" cy="24564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pic>
        <p:nvPicPr>
          <p:cNvPr id="94" name="Graphic 93" descr="Gears with solid fill">
            <a:extLst>
              <a:ext uri="{FF2B5EF4-FFF2-40B4-BE49-F238E27FC236}">
                <a16:creationId xmlns:a16="http://schemas.microsoft.com/office/drawing/2014/main" id="{541F1A89-B8F8-9B56-46FB-008EA662398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595132" y="2776019"/>
            <a:ext cx="556077" cy="556077"/>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9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2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3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1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3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noProof="0" dirty="0"/>
              <a:t>Summary</a:t>
            </a:r>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33</a:t>
            </a:fld>
            <a:endParaRPr lang="en-US" noProof="0" dirty="0"/>
          </a:p>
        </p:txBody>
      </p:sp>
      <p:sp>
        <p:nvSpPr>
          <p:cNvPr id="5" name="TextBox 4">
            <a:extLst>
              <a:ext uri="{FF2B5EF4-FFF2-40B4-BE49-F238E27FC236}">
                <a16:creationId xmlns:a16="http://schemas.microsoft.com/office/drawing/2014/main" id="{07460CFD-1ADD-C377-3592-F33BC4F867B6}"/>
              </a:ext>
            </a:extLst>
          </p:cNvPr>
          <p:cNvSpPr txBox="1"/>
          <p:nvPr/>
        </p:nvSpPr>
        <p:spPr>
          <a:xfrm>
            <a:off x="2426878" y="1800983"/>
            <a:ext cx="1230658" cy="430887"/>
          </a:xfrm>
          <a:prstGeom prst="rect">
            <a:avLst/>
          </a:prstGeom>
          <a:noFill/>
        </p:spPr>
        <p:txBody>
          <a:bodyPr wrap="square" rtlCol="0">
            <a:spAutoFit/>
          </a:bodyPr>
          <a:lstStyle/>
          <a:p>
            <a:pPr algn="r"/>
            <a:r>
              <a:rPr lang="en-US" sz="2200" noProof="0"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252985" y="2116499"/>
            <a:ext cx="1404551" cy="430887"/>
          </a:xfrm>
          <a:prstGeom prst="rect">
            <a:avLst/>
          </a:prstGeom>
          <a:noFill/>
        </p:spPr>
        <p:txBody>
          <a:bodyPr wrap="none" rtlCol="0">
            <a:spAutoFit/>
          </a:bodyPr>
          <a:lstStyle/>
          <a:p>
            <a:pPr algn="r"/>
            <a:r>
              <a:rPr lang="en-US" sz="2200" noProof="0"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061971" y="2399717"/>
            <a:ext cx="1595565" cy="430887"/>
          </a:xfrm>
          <a:prstGeom prst="rect">
            <a:avLst/>
          </a:prstGeom>
          <a:noFill/>
        </p:spPr>
        <p:txBody>
          <a:bodyPr wrap="none" rtlCol="0">
            <a:spAutoFit/>
          </a:bodyPr>
          <a:lstStyle/>
          <a:p>
            <a:pPr algn="r"/>
            <a:r>
              <a:rPr lang="en-US" sz="2200" b="1" noProof="0"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111920" y="2695114"/>
            <a:ext cx="1545616" cy="430887"/>
          </a:xfrm>
          <a:prstGeom prst="rect">
            <a:avLst/>
          </a:prstGeom>
          <a:noFill/>
        </p:spPr>
        <p:txBody>
          <a:bodyPr wrap="none" rtlCol="0">
            <a:spAutoFit/>
          </a:bodyPr>
          <a:lstStyle/>
          <a:p>
            <a:pPr algn="r"/>
            <a:r>
              <a:rPr lang="en-US" sz="2200" noProof="0"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570426" y="2961166"/>
            <a:ext cx="2087110" cy="430887"/>
          </a:xfrm>
          <a:prstGeom prst="rect">
            <a:avLst/>
          </a:prstGeom>
          <a:noFill/>
        </p:spPr>
        <p:txBody>
          <a:bodyPr wrap="none" rtlCol="0">
            <a:spAutoFit/>
          </a:bodyPr>
          <a:lstStyle/>
          <a:p>
            <a:pPr algn="r"/>
            <a:r>
              <a:rPr lang="en-US" sz="2200" b="1" noProof="0"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603495" y="3232729"/>
            <a:ext cx="3054041" cy="430887"/>
          </a:xfrm>
          <a:prstGeom prst="rect">
            <a:avLst/>
          </a:prstGeom>
          <a:noFill/>
        </p:spPr>
        <p:txBody>
          <a:bodyPr wrap="none" rtlCol="0">
            <a:spAutoFit/>
          </a:bodyPr>
          <a:lstStyle/>
          <a:p>
            <a:pPr algn="r"/>
            <a:r>
              <a:rPr lang="en-US" sz="2200" noProof="0"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723721" y="3541885"/>
            <a:ext cx="2933815" cy="430887"/>
          </a:xfrm>
          <a:prstGeom prst="rect">
            <a:avLst/>
          </a:prstGeom>
          <a:noFill/>
        </p:spPr>
        <p:txBody>
          <a:bodyPr wrap="none" rtlCol="0">
            <a:spAutoFit/>
          </a:bodyPr>
          <a:lstStyle/>
          <a:p>
            <a:pPr algn="r"/>
            <a:r>
              <a:rPr lang="en-US" sz="2200" noProof="0"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404996" y="4431055"/>
            <a:ext cx="2252540" cy="430887"/>
          </a:xfrm>
          <a:prstGeom prst="rect">
            <a:avLst/>
          </a:prstGeom>
          <a:noFill/>
        </p:spPr>
        <p:txBody>
          <a:bodyPr wrap="none" rtlCol="0">
            <a:spAutoFit/>
          </a:bodyPr>
          <a:lstStyle/>
          <a:p>
            <a:pPr algn="r"/>
            <a:r>
              <a:rPr lang="en-US" sz="2200" noProof="0" dirty="0"/>
              <a:t>GPU </a:t>
            </a:r>
            <a:r>
              <a:rPr lang="en-US" sz="2200" noProof="0" dirty="0" err="1"/>
              <a:t>EmbedSOM</a:t>
            </a:r>
            <a:endParaRPr lang="en-US" sz="2200" noProof="0"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550596" y="4716295"/>
            <a:ext cx="3106940" cy="430887"/>
          </a:xfrm>
          <a:prstGeom prst="rect">
            <a:avLst/>
          </a:prstGeom>
          <a:noFill/>
        </p:spPr>
        <p:txBody>
          <a:bodyPr wrap="none" rtlCol="0">
            <a:spAutoFit/>
          </a:bodyPr>
          <a:lstStyle/>
          <a:p>
            <a:pPr algn="r"/>
            <a:r>
              <a:rPr lang="en-US" sz="2200" noProof="0" dirty="0"/>
              <a:t>Bitwise encoding of </a:t>
            </a:r>
            <a:r>
              <a:rPr lang="en-US" sz="2200" noProof="0" dirty="0" err="1"/>
              <a:t>GoL</a:t>
            </a:r>
            <a:endParaRPr lang="en-US" sz="2200" noProof="0"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778223" y="5026689"/>
            <a:ext cx="2879313" cy="430887"/>
          </a:xfrm>
          <a:prstGeom prst="rect">
            <a:avLst/>
          </a:prstGeom>
          <a:noFill/>
        </p:spPr>
        <p:txBody>
          <a:bodyPr wrap="none" rtlCol="0">
            <a:spAutoFit/>
          </a:bodyPr>
          <a:lstStyle/>
          <a:p>
            <a:pPr algn="r"/>
            <a:r>
              <a:rPr lang="en-US" sz="2200" b="1" noProof="0" dirty="0" err="1"/>
              <a:t>kNN</a:t>
            </a:r>
            <a:r>
              <a:rPr lang="en-US" sz="2200" b="1" noProof="0" dirty="0"/>
              <a:t> with </a:t>
            </a:r>
            <a:r>
              <a:rPr lang="en-US" sz="2200" b="1" noProof="0" dirty="0" err="1"/>
              <a:t>bitonic</a:t>
            </a:r>
            <a:r>
              <a:rPr lang="en-US" sz="2200" b="1" noProof="0"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743853" y="5292203"/>
            <a:ext cx="2913683" cy="430887"/>
          </a:xfrm>
          <a:prstGeom prst="rect">
            <a:avLst/>
          </a:prstGeom>
          <a:noFill/>
        </p:spPr>
        <p:txBody>
          <a:bodyPr wrap="none" rtlCol="0">
            <a:spAutoFit/>
          </a:bodyPr>
          <a:lstStyle/>
          <a:p>
            <a:pPr algn="r"/>
            <a:r>
              <a:rPr lang="en-US" sz="2200" b="1" noProof="0" dirty="0"/>
              <a:t>Bit-Planes – CA </a:t>
            </a:r>
            <a:r>
              <a:rPr lang="en-US" sz="2200" b="1" noProof="0" dirty="0" err="1"/>
              <a:t>abstr</a:t>
            </a:r>
            <a:r>
              <a:rPr lang="en-US" sz="2200" b="1" noProof="0" dirty="0"/>
              <a:t>.</a:t>
            </a:r>
          </a:p>
        </p:txBody>
      </p:sp>
      <p:sp>
        <p:nvSpPr>
          <p:cNvPr id="7" name="Left Brace 6">
            <a:extLst>
              <a:ext uri="{FF2B5EF4-FFF2-40B4-BE49-F238E27FC236}">
                <a16:creationId xmlns:a16="http://schemas.microsoft.com/office/drawing/2014/main" id="{70FB1660-D075-7B01-57E6-A7BE0BF087E2}"/>
              </a:ext>
            </a:extLst>
          </p:cNvPr>
          <p:cNvSpPr/>
          <p:nvPr/>
        </p:nvSpPr>
        <p:spPr>
          <a:xfrm>
            <a:off x="1958742" y="1903362"/>
            <a:ext cx="183607" cy="1061465"/>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9" name="TextBox 8">
            <a:extLst>
              <a:ext uri="{FF2B5EF4-FFF2-40B4-BE49-F238E27FC236}">
                <a16:creationId xmlns:a16="http://schemas.microsoft.com/office/drawing/2014/main" id="{074A760B-F774-39E3-E0AC-9B2DEC8AF4DE}"/>
              </a:ext>
            </a:extLst>
          </p:cNvPr>
          <p:cNvSpPr txBox="1"/>
          <p:nvPr/>
        </p:nvSpPr>
        <p:spPr>
          <a:xfrm>
            <a:off x="1079975" y="2221582"/>
            <a:ext cx="878767" cy="430887"/>
          </a:xfrm>
          <a:prstGeom prst="rect">
            <a:avLst/>
          </a:prstGeom>
          <a:noFill/>
        </p:spPr>
        <p:txBody>
          <a:bodyPr wrap="none" rtlCol="0">
            <a:spAutoFit/>
          </a:bodyPr>
          <a:lstStyle/>
          <a:p>
            <a:r>
              <a:rPr lang="en-US" sz="2200" noProof="0" dirty="0"/>
              <a:t>Noarr</a:t>
            </a:r>
          </a:p>
        </p:txBody>
      </p:sp>
      <p:sp>
        <p:nvSpPr>
          <p:cNvPr id="13" name="Left Brace 12">
            <a:extLst>
              <a:ext uri="{FF2B5EF4-FFF2-40B4-BE49-F238E27FC236}">
                <a16:creationId xmlns:a16="http://schemas.microsoft.com/office/drawing/2014/main" id="{6258EB1D-0B46-9D04-4739-FBEC2EF2265A}"/>
              </a:ext>
            </a:extLst>
          </p:cNvPr>
          <p:cNvSpPr/>
          <p:nvPr/>
        </p:nvSpPr>
        <p:spPr>
          <a:xfrm>
            <a:off x="1469940" y="3017218"/>
            <a:ext cx="183607" cy="286541"/>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17" name="TextBox 16">
            <a:extLst>
              <a:ext uri="{FF2B5EF4-FFF2-40B4-BE49-F238E27FC236}">
                <a16:creationId xmlns:a16="http://schemas.microsoft.com/office/drawing/2014/main" id="{FD7B44A4-A32D-E3BD-91BE-CB60C63F0094}"/>
              </a:ext>
            </a:extLst>
          </p:cNvPr>
          <p:cNvSpPr txBox="1"/>
          <p:nvPr/>
        </p:nvSpPr>
        <p:spPr>
          <a:xfrm>
            <a:off x="408380" y="2941387"/>
            <a:ext cx="1066318" cy="430887"/>
          </a:xfrm>
          <a:prstGeom prst="rect">
            <a:avLst/>
          </a:prstGeom>
          <a:noFill/>
        </p:spPr>
        <p:txBody>
          <a:bodyPr wrap="none" rtlCol="0">
            <a:spAutoFit/>
          </a:bodyPr>
          <a:lstStyle/>
          <a:p>
            <a:pPr algn="r"/>
            <a:r>
              <a:rPr lang="en-US" sz="2200" noProof="0" dirty="0"/>
              <a:t>Cellato</a:t>
            </a:r>
          </a:p>
        </p:txBody>
      </p:sp>
      <p:pic>
        <p:nvPicPr>
          <p:cNvPr id="19" name="Picture 18">
            <a:extLst>
              <a:ext uri="{FF2B5EF4-FFF2-40B4-BE49-F238E27FC236}">
                <a16:creationId xmlns:a16="http://schemas.microsoft.com/office/drawing/2014/main" id="{7BBFF5E8-6F34-AD91-483A-BF96ED8BB2E9}"/>
              </a:ext>
            </a:extLst>
          </p:cNvPr>
          <p:cNvPicPr>
            <a:picLocks noChangeAspect="1"/>
          </p:cNvPicPr>
          <p:nvPr/>
        </p:nvPicPr>
        <p:blipFill>
          <a:blip r:embed="rId2"/>
          <a:srcRect l="8227"/>
          <a:stretch>
            <a:fillRect/>
          </a:stretch>
        </p:blipFill>
        <p:spPr>
          <a:xfrm>
            <a:off x="3690596" y="1422499"/>
            <a:ext cx="8501404" cy="4274301"/>
          </a:xfrm>
          <a:prstGeom prst="rect">
            <a:avLst/>
          </a:prstGeom>
        </p:spPr>
      </p:pic>
      <p:cxnSp>
        <p:nvCxnSpPr>
          <p:cNvPr id="37" name="Connector: Curved 36">
            <a:extLst>
              <a:ext uri="{FF2B5EF4-FFF2-40B4-BE49-F238E27FC236}">
                <a16:creationId xmlns:a16="http://schemas.microsoft.com/office/drawing/2014/main" id="{2240D803-50FC-D08D-43CC-A9BA0D55AD8B}"/>
              </a:ext>
            </a:extLst>
          </p:cNvPr>
          <p:cNvCxnSpPr>
            <a:cxnSpLocks/>
            <a:stCxn id="25" idx="1"/>
            <a:endCxn id="17" idx="1"/>
          </p:cNvCxnSpPr>
          <p:nvPr/>
        </p:nvCxnSpPr>
        <p:spPr>
          <a:xfrm rot="10800000">
            <a:off x="408381" y="3156831"/>
            <a:ext cx="335473" cy="2350816"/>
          </a:xfrm>
          <a:prstGeom prst="curvedConnector3">
            <a:avLst>
              <a:gd name="adj1" fmla="val 16814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253718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noProof="0"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34</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DA3A68D-BA44-145A-8266-F48BAE5922B6}"/>
              </a:ext>
            </a:extLst>
          </p:cNvPr>
          <p:cNvSpPr>
            <a:spLocks noGrp="1"/>
          </p:cNvSpPr>
          <p:nvPr>
            <p:ph type="title"/>
          </p:nvPr>
        </p:nvSpPr>
        <p:spPr/>
        <p:txBody>
          <a:bodyPr>
            <a:normAutofit/>
          </a:bodyPr>
          <a:lstStyle/>
          <a:p>
            <a:r>
              <a:rPr lang="en-US" noProof="0" dirty="0"/>
              <a:t>Why is Cellato separate from Noarr?</a:t>
            </a:r>
          </a:p>
        </p:txBody>
      </p:sp>
      <p:sp>
        <p:nvSpPr>
          <p:cNvPr id="7" name="Content Placeholder 6">
            <a:extLst>
              <a:ext uri="{FF2B5EF4-FFF2-40B4-BE49-F238E27FC236}">
                <a16:creationId xmlns:a16="http://schemas.microsoft.com/office/drawing/2014/main" id="{78E4B909-7FF2-6BA5-88FD-CADA9D5BE98F}"/>
              </a:ext>
            </a:extLst>
          </p:cNvPr>
          <p:cNvSpPr>
            <a:spLocks noGrp="1"/>
          </p:cNvSpPr>
          <p:nvPr>
            <p:ph idx="1"/>
          </p:nvPr>
        </p:nvSpPr>
        <p:spPr/>
        <p:txBody>
          <a:bodyPr anchor="ctr"/>
          <a:lstStyle/>
          <a:p>
            <a:r>
              <a:rPr lang="en-US" noProof="0" dirty="0"/>
              <a:t>Optimization tied to bit-level encoding and bitwise evaluation</a:t>
            </a:r>
          </a:p>
          <a:p>
            <a:r>
              <a:rPr lang="en-US" noProof="0" dirty="0"/>
              <a:t>Noarr doesn’t yet inspect statements/expressions</a:t>
            </a:r>
          </a:p>
        </p:txBody>
      </p:sp>
      <p:sp>
        <p:nvSpPr>
          <p:cNvPr id="4" name="Date Placeholder 3">
            <a:extLst>
              <a:ext uri="{FF2B5EF4-FFF2-40B4-BE49-F238E27FC236}">
                <a16:creationId xmlns:a16="http://schemas.microsoft.com/office/drawing/2014/main" id="{165FE8C8-E861-092A-DD67-F97F8685CC22}"/>
              </a:ext>
            </a:extLst>
          </p:cNvPr>
          <p:cNvSpPr>
            <a:spLocks noGrp="1"/>
          </p:cNvSpPr>
          <p:nvPr>
            <p:ph type="dt" sz="half" idx="10"/>
          </p:nvPr>
        </p:nvSpPr>
        <p:spPr/>
        <p:txBody>
          <a:bodyPr/>
          <a:lstStyle/>
          <a:p>
            <a:fld id="{34463B7D-19AB-44BF-8DCC-FDF87A48CBC2}"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63AF3829-2535-EDEB-0FC1-2B5DC2FB518B}"/>
              </a:ext>
            </a:extLst>
          </p:cNvPr>
          <p:cNvSpPr>
            <a:spLocks noGrp="1"/>
          </p:cNvSpPr>
          <p:nvPr>
            <p:ph type="sldNum" sz="quarter" idx="12"/>
          </p:nvPr>
        </p:nvSpPr>
        <p:spPr/>
        <p:txBody>
          <a:bodyPr/>
          <a:lstStyle/>
          <a:p>
            <a:fld id="{DA0BB241-1B5F-4309-9407-9EEA04D9598D}" type="slidenum">
              <a:rPr lang="en-US" noProof="0" smtClean="0"/>
              <a:t>35</a:t>
            </a:fld>
            <a:endParaRPr lang="en-US" noProof="0" dirty="0"/>
          </a:p>
        </p:txBody>
      </p:sp>
    </p:spTree>
    <p:extLst>
      <p:ext uri="{BB962C8B-B14F-4D97-AF65-F5344CB8AC3E}">
        <p14:creationId xmlns:p14="http://schemas.microsoft.com/office/powerpoint/2010/main" val="37053176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F595D-F97E-73E9-84DA-0FC353335568}"/>
              </a:ext>
            </a:extLst>
          </p:cNvPr>
          <p:cNvSpPr>
            <a:spLocks noGrp="1"/>
          </p:cNvSpPr>
          <p:nvPr>
            <p:ph type="title"/>
          </p:nvPr>
        </p:nvSpPr>
        <p:spPr/>
        <p:txBody>
          <a:bodyPr/>
          <a:lstStyle/>
          <a:p>
            <a:r>
              <a:rPr lang="en-US" noProof="0" dirty="0"/>
              <a:t>What do you think an abstraction designed specifically for an LLM should look like?</a:t>
            </a:r>
          </a:p>
        </p:txBody>
      </p:sp>
      <p:sp>
        <p:nvSpPr>
          <p:cNvPr id="3" name="Content Placeholder 2">
            <a:extLst>
              <a:ext uri="{FF2B5EF4-FFF2-40B4-BE49-F238E27FC236}">
                <a16:creationId xmlns:a16="http://schemas.microsoft.com/office/drawing/2014/main" id="{6F21508F-6DB1-BCB4-96D9-949E58869DE2}"/>
              </a:ext>
            </a:extLst>
          </p:cNvPr>
          <p:cNvSpPr>
            <a:spLocks noGrp="1"/>
          </p:cNvSpPr>
          <p:nvPr>
            <p:ph idx="1"/>
          </p:nvPr>
        </p:nvSpPr>
        <p:spPr/>
        <p:txBody>
          <a:bodyPr anchor="ctr"/>
          <a:lstStyle/>
          <a:p>
            <a:r>
              <a:rPr lang="en-US" noProof="0" dirty="0"/>
              <a:t>A good answer would require a specific study</a:t>
            </a:r>
          </a:p>
          <a:p>
            <a:r>
              <a:rPr lang="en-US" noProof="0" dirty="0"/>
              <a:t>I have identified (at the time of experiments) that C++ syntax was quite challenging to the LLM (particularly angle brackets)</a:t>
            </a:r>
          </a:p>
          <a:p>
            <a:r>
              <a:rPr lang="en-US" noProof="0" dirty="0"/>
              <a:t>Python-based Exo performed best out of the studied abstractions</a:t>
            </a:r>
          </a:p>
          <a:p>
            <a:r>
              <a:rPr lang="en-US" noProof="0" dirty="0"/>
              <a:t>Good performance on abstraction-less C suggests more explicit representation might perform better</a:t>
            </a:r>
          </a:p>
          <a:p>
            <a:endParaRPr lang="en-US" noProof="0" dirty="0"/>
          </a:p>
          <a:p>
            <a:r>
              <a:rPr lang="en-US" noProof="0" dirty="0"/>
              <a:t>Agentic LLMs might benefit from extensive compiler feedback and runtime metrics</a:t>
            </a:r>
          </a:p>
        </p:txBody>
      </p:sp>
      <p:sp>
        <p:nvSpPr>
          <p:cNvPr id="4" name="Date Placeholder 3">
            <a:extLst>
              <a:ext uri="{FF2B5EF4-FFF2-40B4-BE49-F238E27FC236}">
                <a16:creationId xmlns:a16="http://schemas.microsoft.com/office/drawing/2014/main" id="{4D600627-2EB4-B0E4-6C58-9D40BFDA6DD6}"/>
              </a:ext>
            </a:extLst>
          </p:cNvPr>
          <p:cNvSpPr>
            <a:spLocks noGrp="1"/>
          </p:cNvSpPr>
          <p:nvPr>
            <p:ph type="dt" sz="half" idx="10"/>
          </p:nvPr>
        </p:nvSpPr>
        <p:spPr/>
        <p:txBody>
          <a:bodyPr/>
          <a:lstStyle/>
          <a:p>
            <a:fld id="{358C28A6-2969-482E-9A3B-5E13FCD8DD03}"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EDCA47EB-C20E-1A0D-DA75-7B7C311F0375}"/>
              </a:ext>
            </a:extLst>
          </p:cNvPr>
          <p:cNvSpPr>
            <a:spLocks noGrp="1"/>
          </p:cNvSpPr>
          <p:nvPr>
            <p:ph type="sldNum" sz="quarter" idx="12"/>
          </p:nvPr>
        </p:nvSpPr>
        <p:spPr/>
        <p:txBody>
          <a:bodyPr/>
          <a:lstStyle/>
          <a:p>
            <a:fld id="{DA0BB241-1B5F-4309-9407-9EEA04D9598D}" type="slidenum">
              <a:rPr lang="en-US" noProof="0" smtClean="0"/>
              <a:t>36</a:t>
            </a:fld>
            <a:endParaRPr lang="en-US" noProof="0" dirty="0"/>
          </a:p>
        </p:txBody>
      </p:sp>
    </p:spTree>
    <p:extLst>
      <p:ext uri="{BB962C8B-B14F-4D97-AF65-F5344CB8AC3E}">
        <p14:creationId xmlns:p14="http://schemas.microsoft.com/office/powerpoint/2010/main" val="42697049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231CC-E8C4-0B21-8037-B59EAE91DFC2}"/>
              </a:ext>
            </a:extLst>
          </p:cNvPr>
          <p:cNvSpPr>
            <a:spLocks noGrp="1"/>
          </p:cNvSpPr>
          <p:nvPr>
            <p:ph type="title"/>
          </p:nvPr>
        </p:nvSpPr>
        <p:spPr/>
        <p:txBody>
          <a:bodyPr/>
          <a:lstStyle/>
          <a:p>
            <a:r>
              <a:rPr lang="en-US" noProof="0" dirty="0"/>
              <a:t> Is </a:t>
            </a:r>
            <a:r>
              <a:rPr lang="en-US" noProof="0" dirty="0" err="1"/>
              <a:t>hvector</a:t>
            </a:r>
            <a:r>
              <a:rPr lang="en-US" noProof="0" dirty="0"/>
              <a:t> necessary? vector more convenient?</a:t>
            </a:r>
          </a:p>
        </p:txBody>
      </p:sp>
      <p:sp>
        <p:nvSpPr>
          <p:cNvPr id="3" name="Content Placeholder 2">
            <a:extLst>
              <a:ext uri="{FF2B5EF4-FFF2-40B4-BE49-F238E27FC236}">
                <a16:creationId xmlns:a16="http://schemas.microsoft.com/office/drawing/2014/main" id="{671A00C2-D819-CE9A-6EA6-9695C2780324}"/>
              </a:ext>
            </a:extLst>
          </p:cNvPr>
          <p:cNvSpPr>
            <a:spLocks noGrp="1"/>
          </p:cNvSpPr>
          <p:nvPr>
            <p:ph idx="1"/>
          </p:nvPr>
        </p:nvSpPr>
        <p:spPr/>
        <p:txBody>
          <a:bodyPr anchor="ctr"/>
          <a:lstStyle/>
          <a:p>
            <a:r>
              <a:rPr lang="en-US" noProof="0" dirty="0"/>
              <a:t>For a multidimensional structure, </a:t>
            </a:r>
            <a:r>
              <a:rPr lang="en-US" noProof="0" dirty="0" err="1"/>
              <a:t>hvector</a:t>
            </a:r>
            <a:r>
              <a:rPr lang="en-US" noProof="0" dirty="0"/>
              <a:t> is more convenient</a:t>
            </a:r>
          </a:p>
          <a:p>
            <a:pPr lvl="1"/>
            <a:r>
              <a:rPr lang="en-US" noProof="0" dirty="0"/>
              <a:t>For the first iteration, vector seems like the right choice</a:t>
            </a:r>
          </a:p>
          <a:p>
            <a:pPr lvl="1"/>
            <a:r>
              <a:rPr lang="en-US" noProof="0" dirty="0"/>
              <a:t>For later iterations, the underlying datatype is the previous iteration</a:t>
            </a:r>
          </a:p>
          <a:p>
            <a:pPr lvl="2"/>
            <a:r>
              <a:rPr lang="en-US" noProof="0" dirty="0"/>
              <a:t>Then works conveniently only for contiguous-like encodings</a:t>
            </a:r>
          </a:p>
          <a:p>
            <a:pPr lvl="2"/>
            <a:r>
              <a:rPr lang="en-US" noProof="0" dirty="0"/>
              <a:t>Not for the following:</a:t>
            </a:r>
          </a:p>
        </p:txBody>
      </p:sp>
      <p:sp>
        <p:nvSpPr>
          <p:cNvPr id="4" name="Date Placeholder 3">
            <a:extLst>
              <a:ext uri="{FF2B5EF4-FFF2-40B4-BE49-F238E27FC236}">
                <a16:creationId xmlns:a16="http://schemas.microsoft.com/office/drawing/2014/main" id="{74CE120E-B666-59CF-BAF9-35F39BFC89E6}"/>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18EED586-2A74-4D32-AAE4-9ED352AB10CB}"/>
              </a:ext>
            </a:extLst>
          </p:cNvPr>
          <p:cNvSpPr>
            <a:spLocks noGrp="1"/>
          </p:cNvSpPr>
          <p:nvPr>
            <p:ph type="sldNum" sz="quarter" idx="12"/>
          </p:nvPr>
        </p:nvSpPr>
        <p:spPr/>
        <p:txBody>
          <a:bodyPr/>
          <a:lstStyle/>
          <a:p>
            <a:fld id="{DA0BB241-1B5F-4309-9407-9EEA04D9598D}" type="slidenum">
              <a:rPr lang="en-US" noProof="0" smtClean="0"/>
              <a:t>37</a:t>
            </a:fld>
            <a:endParaRPr lang="en-US" noProof="0" dirty="0"/>
          </a:p>
        </p:txBody>
      </p:sp>
      <p:sp>
        <p:nvSpPr>
          <p:cNvPr id="6" name="TextBox 5">
            <a:extLst>
              <a:ext uri="{FF2B5EF4-FFF2-40B4-BE49-F238E27FC236}">
                <a16:creationId xmlns:a16="http://schemas.microsoft.com/office/drawing/2014/main" id="{E4446F09-51B2-65D1-B5C7-B33B2B727078}"/>
              </a:ext>
            </a:extLst>
          </p:cNvPr>
          <p:cNvSpPr txBox="1"/>
          <p:nvPr/>
        </p:nvSpPr>
        <p:spPr>
          <a:xfrm>
            <a:off x="1694793" y="5123793"/>
            <a:ext cx="373820" cy="369332"/>
          </a:xfrm>
          <a:prstGeom prst="rect">
            <a:avLst/>
          </a:prstGeom>
          <a:noFill/>
        </p:spPr>
        <p:txBody>
          <a:bodyPr wrap="none" rtlCol="0">
            <a:spAutoFit/>
          </a:bodyPr>
          <a:lstStyle/>
          <a:p>
            <a:r>
              <a:rPr lang="en-US" noProof="0" dirty="0"/>
              <a:t>1.</a:t>
            </a:r>
          </a:p>
        </p:txBody>
      </p:sp>
      <p:sp>
        <p:nvSpPr>
          <p:cNvPr id="7" name="Rectangle 6">
            <a:extLst>
              <a:ext uri="{FF2B5EF4-FFF2-40B4-BE49-F238E27FC236}">
                <a16:creationId xmlns:a16="http://schemas.microsoft.com/office/drawing/2014/main" id="{ED173626-BF0E-DC66-AF9C-49C4425418EF}"/>
              </a:ext>
            </a:extLst>
          </p:cNvPr>
          <p:cNvSpPr/>
          <p:nvPr/>
        </p:nvSpPr>
        <p:spPr>
          <a:xfrm>
            <a:off x="2199290" y="5123793"/>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Rectangle 8">
            <a:extLst>
              <a:ext uri="{FF2B5EF4-FFF2-40B4-BE49-F238E27FC236}">
                <a16:creationId xmlns:a16="http://schemas.microsoft.com/office/drawing/2014/main" id="{72FE75E6-20CA-0C32-444D-F5E72974B166}"/>
              </a:ext>
            </a:extLst>
          </p:cNvPr>
          <p:cNvSpPr/>
          <p:nvPr/>
        </p:nvSpPr>
        <p:spPr>
          <a:xfrm>
            <a:off x="3334406" y="5123788"/>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Rectangle 10">
            <a:extLst>
              <a:ext uri="{FF2B5EF4-FFF2-40B4-BE49-F238E27FC236}">
                <a16:creationId xmlns:a16="http://schemas.microsoft.com/office/drawing/2014/main" id="{AACFBA8D-FE38-38D4-9ED4-818152959C8D}"/>
              </a:ext>
            </a:extLst>
          </p:cNvPr>
          <p:cNvSpPr/>
          <p:nvPr/>
        </p:nvSpPr>
        <p:spPr>
          <a:xfrm>
            <a:off x="4477560" y="5123785"/>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3" name="Rectangle 12">
            <a:extLst>
              <a:ext uri="{FF2B5EF4-FFF2-40B4-BE49-F238E27FC236}">
                <a16:creationId xmlns:a16="http://schemas.microsoft.com/office/drawing/2014/main" id="{D81B5FB8-3E80-148D-A1CF-7D8097D394FC}"/>
              </a:ext>
            </a:extLst>
          </p:cNvPr>
          <p:cNvSpPr/>
          <p:nvPr/>
        </p:nvSpPr>
        <p:spPr>
          <a:xfrm>
            <a:off x="5623035" y="5123785"/>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C63AD2B4-D9EF-D3CE-FC20-5695D2C82C8E}"/>
              </a:ext>
            </a:extLst>
          </p:cNvPr>
          <p:cNvSpPr txBox="1"/>
          <p:nvPr/>
        </p:nvSpPr>
        <p:spPr>
          <a:xfrm>
            <a:off x="1694793" y="5615152"/>
            <a:ext cx="373820" cy="369332"/>
          </a:xfrm>
          <a:prstGeom prst="rect">
            <a:avLst/>
          </a:prstGeom>
          <a:noFill/>
        </p:spPr>
        <p:txBody>
          <a:bodyPr wrap="none" rtlCol="0">
            <a:spAutoFit/>
          </a:bodyPr>
          <a:lstStyle/>
          <a:p>
            <a:r>
              <a:rPr lang="en-US" noProof="0" dirty="0"/>
              <a:t>2.</a:t>
            </a:r>
          </a:p>
        </p:txBody>
      </p:sp>
      <p:sp>
        <p:nvSpPr>
          <p:cNvPr id="17" name="Rectangle 16">
            <a:extLst>
              <a:ext uri="{FF2B5EF4-FFF2-40B4-BE49-F238E27FC236}">
                <a16:creationId xmlns:a16="http://schemas.microsoft.com/office/drawing/2014/main" id="{BE996E37-8BAE-6155-A295-145A6CCF4B82}"/>
              </a:ext>
            </a:extLst>
          </p:cNvPr>
          <p:cNvSpPr/>
          <p:nvPr/>
        </p:nvSpPr>
        <p:spPr>
          <a:xfrm>
            <a:off x="2199290" y="5615152"/>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C77AC894-FDFC-15D2-D531-72EF1A4246F3}"/>
              </a:ext>
            </a:extLst>
          </p:cNvPr>
          <p:cNvSpPr/>
          <p:nvPr/>
        </p:nvSpPr>
        <p:spPr>
          <a:xfrm>
            <a:off x="3334406" y="5615147"/>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tangle 20">
            <a:extLst>
              <a:ext uri="{FF2B5EF4-FFF2-40B4-BE49-F238E27FC236}">
                <a16:creationId xmlns:a16="http://schemas.microsoft.com/office/drawing/2014/main" id="{AAD899D7-8DF9-519A-B48F-0662D93D854D}"/>
              </a:ext>
            </a:extLst>
          </p:cNvPr>
          <p:cNvSpPr/>
          <p:nvPr/>
        </p:nvSpPr>
        <p:spPr>
          <a:xfrm>
            <a:off x="4477560" y="5615144"/>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3" name="Rectangle 22">
            <a:extLst>
              <a:ext uri="{FF2B5EF4-FFF2-40B4-BE49-F238E27FC236}">
                <a16:creationId xmlns:a16="http://schemas.microsoft.com/office/drawing/2014/main" id="{1E53DBD4-FED9-7F10-40C8-168760C29B11}"/>
              </a:ext>
            </a:extLst>
          </p:cNvPr>
          <p:cNvSpPr/>
          <p:nvPr/>
        </p:nvSpPr>
        <p:spPr>
          <a:xfrm>
            <a:off x="5623035" y="5615144"/>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Rectangle 24">
            <a:extLst>
              <a:ext uri="{FF2B5EF4-FFF2-40B4-BE49-F238E27FC236}">
                <a16:creationId xmlns:a16="http://schemas.microsoft.com/office/drawing/2014/main" id="{C071E504-7CC1-B356-FAE6-A5DBFF0C87C7}"/>
              </a:ext>
            </a:extLst>
          </p:cNvPr>
          <p:cNvSpPr/>
          <p:nvPr/>
        </p:nvSpPr>
        <p:spPr>
          <a:xfrm>
            <a:off x="2577662" y="5615151"/>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7" name="Rectangle 26">
            <a:extLst>
              <a:ext uri="{FF2B5EF4-FFF2-40B4-BE49-F238E27FC236}">
                <a16:creationId xmlns:a16="http://schemas.microsoft.com/office/drawing/2014/main" id="{F6CB748B-0E70-E5A5-F020-DA07D9CB2730}"/>
              </a:ext>
            </a:extLst>
          </p:cNvPr>
          <p:cNvSpPr/>
          <p:nvPr/>
        </p:nvSpPr>
        <p:spPr>
          <a:xfrm>
            <a:off x="3712778" y="5615146"/>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9" name="Rectangle 28">
            <a:extLst>
              <a:ext uri="{FF2B5EF4-FFF2-40B4-BE49-F238E27FC236}">
                <a16:creationId xmlns:a16="http://schemas.microsoft.com/office/drawing/2014/main" id="{D8CFBA8D-EA0C-ED86-7BBC-6F8DB3D90524}"/>
              </a:ext>
            </a:extLst>
          </p:cNvPr>
          <p:cNvSpPr/>
          <p:nvPr/>
        </p:nvSpPr>
        <p:spPr>
          <a:xfrm>
            <a:off x="4855932" y="5615143"/>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FFC0ADC7-CBA2-EB31-FD31-8FAB768F3C96}"/>
              </a:ext>
            </a:extLst>
          </p:cNvPr>
          <p:cNvSpPr/>
          <p:nvPr/>
        </p:nvSpPr>
        <p:spPr>
          <a:xfrm>
            <a:off x="6001407" y="5615143"/>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3" name="Rectangle 32">
            <a:extLst>
              <a:ext uri="{FF2B5EF4-FFF2-40B4-BE49-F238E27FC236}">
                <a16:creationId xmlns:a16="http://schemas.microsoft.com/office/drawing/2014/main" id="{0BB49EF2-834B-00B9-CCAF-6035659289E3}"/>
              </a:ext>
            </a:extLst>
          </p:cNvPr>
          <p:cNvSpPr/>
          <p:nvPr/>
        </p:nvSpPr>
        <p:spPr>
          <a:xfrm>
            <a:off x="2956034" y="5615149"/>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03556D99-5A2D-184E-D039-451132AD5FE0}"/>
              </a:ext>
            </a:extLst>
          </p:cNvPr>
          <p:cNvSpPr/>
          <p:nvPr/>
        </p:nvSpPr>
        <p:spPr>
          <a:xfrm>
            <a:off x="4091150" y="5615144"/>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D658752F-1256-ECD3-4378-261ADA797F54}"/>
              </a:ext>
            </a:extLst>
          </p:cNvPr>
          <p:cNvSpPr/>
          <p:nvPr/>
        </p:nvSpPr>
        <p:spPr>
          <a:xfrm>
            <a:off x="5234304" y="5615141"/>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9" name="Rectangle 38">
            <a:extLst>
              <a:ext uri="{FF2B5EF4-FFF2-40B4-BE49-F238E27FC236}">
                <a16:creationId xmlns:a16="http://schemas.microsoft.com/office/drawing/2014/main" id="{4812BFAD-5F87-4E46-3C3B-8B136D168949}"/>
              </a:ext>
            </a:extLst>
          </p:cNvPr>
          <p:cNvSpPr/>
          <p:nvPr/>
        </p:nvSpPr>
        <p:spPr>
          <a:xfrm>
            <a:off x="6379779" y="5615141"/>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40" name="TextBox 39">
            <a:extLst>
              <a:ext uri="{FF2B5EF4-FFF2-40B4-BE49-F238E27FC236}">
                <a16:creationId xmlns:a16="http://schemas.microsoft.com/office/drawing/2014/main" id="{3B057709-2131-BEA4-A760-B569B0EC1EFB}"/>
              </a:ext>
            </a:extLst>
          </p:cNvPr>
          <p:cNvSpPr txBox="1"/>
          <p:nvPr/>
        </p:nvSpPr>
        <p:spPr>
          <a:xfrm>
            <a:off x="328993" y="1734207"/>
            <a:ext cx="10966465" cy="523220"/>
          </a:xfrm>
          <a:prstGeom prst="rect">
            <a:avLst/>
          </a:prstGeom>
          <a:noFill/>
        </p:spPr>
        <p:txBody>
          <a:bodyPr wrap="none" rtlCol="0">
            <a:spAutoFit/>
          </a:bodyPr>
          <a:lstStyle/>
          <a:p>
            <a:pPr algn="ctr"/>
            <a:r>
              <a:rPr lang="en-US" sz="2800" dirty="0"/>
              <a:t>(context: </a:t>
            </a:r>
            <a:r>
              <a:rPr lang="en-US" sz="2800" dirty="0" err="1"/>
              <a:t>type_vector</a:t>
            </a:r>
            <a:r>
              <a:rPr lang="en-US" sz="2800" dirty="0"/>
              <a:t> uses extent of the underlying type for offset calc.)</a:t>
            </a:r>
          </a:p>
        </p:txBody>
      </p:sp>
    </p:spTree>
    <p:extLst>
      <p:ext uri="{BB962C8B-B14F-4D97-AF65-F5344CB8AC3E}">
        <p14:creationId xmlns:p14="http://schemas.microsoft.com/office/powerpoint/2010/main" val="1348916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79577-4141-543D-D922-3370CFEB625E}"/>
              </a:ext>
            </a:extLst>
          </p:cNvPr>
          <p:cNvSpPr>
            <a:spLocks noGrp="1"/>
          </p:cNvSpPr>
          <p:nvPr>
            <p:ph type="title"/>
          </p:nvPr>
        </p:nvSpPr>
        <p:spPr/>
        <p:txBody>
          <a:bodyPr/>
          <a:lstStyle/>
          <a:p>
            <a:r>
              <a:rPr lang="en-US" noProof="0" dirty="0"/>
              <a:t>Is Noarr used outside the department?/Why not?</a:t>
            </a:r>
          </a:p>
        </p:txBody>
      </p:sp>
      <p:sp>
        <p:nvSpPr>
          <p:cNvPr id="3" name="Content Placeholder 2">
            <a:extLst>
              <a:ext uri="{FF2B5EF4-FFF2-40B4-BE49-F238E27FC236}">
                <a16:creationId xmlns:a16="http://schemas.microsoft.com/office/drawing/2014/main" id="{31E821CD-BE7F-B010-9DB1-510E4FCFFBDE}"/>
              </a:ext>
            </a:extLst>
          </p:cNvPr>
          <p:cNvSpPr>
            <a:spLocks noGrp="1"/>
          </p:cNvSpPr>
          <p:nvPr>
            <p:ph idx="1"/>
          </p:nvPr>
        </p:nvSpPr>
        <p:spPr/>
        <p:txBody>
          <a:bodyPr anchor="ctr"/>
          <a:lstStyle/>
          <a:p>
            <a:r>
              <a:rPr lang="en-US" noProof="0" dirty="0"/>
              <a:t>Some little use</a:t>
            </a:r>
          </a:p>
          <a:p>
            <a:pPr lvl="1"/>
            <a:r>
              <a:rPr lang="en-US" noProof="0" dirty="0"/>
              <a:t>Adam </a:t>
            </a:r>
            <a:r>
              <a:rPr lang="en-US" noProof="0" dirty="0" err="1"/>
              <a:t>Šmelko</a:t>
            </a:r>
            <a:r>
              <a:rPr lang="en-US" noProof="0" dirty="0"/>
              <a:t> (past member of the department)</a:t>
            </a:r>
          </a:p>
          <a:p>
            <a:pPr lvl="1"/>
            <a:r>
              <a:rPr lang="en-US" noProof="0" dirty="0"/>
              <a:t>Marek </a:t>
            </a:r>
            <a:r>
              <a:rPr lang="en-US" noProof="0" dirty="0" err="1"/>
              <a:t>Čupr</a:t>
            </a:r>
            <a:r>
              <a:rPr lang="en-US" noProof="0" dirty="0"/>
              <a:t> (BUT student)</a:t>
            </a:r>
          </a:p>
          <a:p>
            <a:r>
              <a:rPr lang="en-US" noProof="0" dirty="0"/>
              <a:t>Noarr is mostly an experimental tool</a:t>
            </a:r>
          </a:p>
          <a:p>
            <a:r>
              <a:rPr lang="en-US" noProof="0" dirty="0"/>
              <a:t>Development tied to research</a:t>
            </a:r>
          </a:p>
          <a:p>
            <a:endParaRPr lang="en-US" noProof="0" dirty="0"/>
          </a:p>
        </p:txBody>
      </p:sp>
      <p:sp>
        <p:nvSpPr>
          <p:cNvPr id="4" name="Date Placeholder 3">
            <a:extLst>
              <a:ext uri="{FF2B5EF4-FFF2-40B4-BE49-F238E27FC236}">
                <a16:creationId xmlns:a16="http://schemas.microsoft.com/office/drawing/2014/main" id="{24530F84-F1D1-A8AF-C539-37F86DA2DC81}"/>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02BCFBEF-2181-071A-E2A2-850955C7B133}"/>
              </a:ext>
            </a:extLst>
          </p:cNvPr>
          <p:cNvSpPr>
            <a:spLocks noGrp="1"/>
          </p:cNvSpPr>
          <p:nvPr>
            <p:ph type="sldNum" sz="quarter" idx="12"/>
          </p:nvPr>
        </p:nvSpPr>
        <p:spPr/>
        <p:txBody>
          <a:bodyPr/>
          <a:lstStyle/>
          <a:p>
            <a:fld id="{DA0BB241-1B5F-4309-9407-9EEA04D9598D}" type="slidenum">
              <a:rPr lang="en-US" noProof="0" smtClean="0"/>
              <a:t>38</a:t>
            </a:fld>
            <a:endParaRPr lang="en-US" noProof="0" dirty="0"/>
          </a:p>
        </p:txBody>
      </p:sp>
    </p:spTree>
    <p:extLst>
      <p:ext uri="{BB962C8B-B14F-4D97-AF65-F5344CB8AC3E}">
        <p14:creationId xmlns:p14="http://schemas.microsoft.com/office/powerpoint/2010/main" val="17507385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13DB4-56B7-B5F6-DADB-224E92331A19}"/>
              </a:ext>
            </a:extLst>
          </p:cNvPr>
          <p:cNvSpPr>
            <a:spLocks noGrp="1"/>
          </p:cNvSpPr>
          <p:nvPr>
            <p:ph type="title"/>
          </p:nvPr>
        </p:nvSpPr>
        <p:spPr/>
        <p:txBody>
          <a:bodyPr>
            <a:normAutofit/>
          </a:bodyPr>
          <a:lstStyle/>
          <a:p>
            <a:r>
              <a:rPr lang="en-US" noProof="0" dirty="0"/>
              <a:t>Can Noarr naturally incorporate</a:t>
            </a:r>
            <a:br>
              <a:rPr lang="en-US" noProof="0" dirty="0"/>
            </a:br>
            <a:r>
              <a:rPr lang="en-US" noProof="0" dirty="0"/>
              <a:t>#pragma </a:t>
            </a:r>
            <a:r>
              <a:rPr lang="en-US" noProof="0" dirty="0" err="1"/>
              <a:t>omp</a:t>
            </a:r>
            <a:r>
              <a:rPr lang="en-US" noProof="0" dirty="0"/>
              <a:t> </a:t>
            </a:r>
            <a:r>
              <a:rPr lang="en-US" noProof="0" dirty="0" err="1"/>
              <a:t>simd</a:t>
            </a:r>
            <a:r>
              <a:rPr lang="en-US" noProof="0" dirty="0"/>
              <a:t> or SIMD-aware traversers</a:t>
            </a:r>
          </a:p>
        </p:txBody>
      </p:sp>
      <p:sp>
        <p:nvSpPr>
          <p:cNvPr id="3" name="Content Placeholder 2">
            <a:extLst>
              <a:ext uri="{FF2B5EF4-FFF2-40B4-BE49-F238E27FC236}">
                <a16:creationId xmlns:a16="http://schemas.microsoft.com/office/drawing/2014/main" id="{BC42B871-DAA1-BBF1-B375-5D0537118BC2}"/>
              </a:ext>
            </a:extLst>
          </p:cNvPr>
          <p:cNvSpPr>
            <a:spLocks noGrp="1"/>
          </p:cNvSpPr>
          <p:nvPr>
            <p:ph idx="1"/>
          </p:nvPr>
        </p:nvSpPr>
        <p:spPr/>
        <p:txBody>
          <a:bodyPr anchor="ctr"/>
          <a:lstStyle/>
          <a:p>
            <a:r>
              <a:rPr lang="en-US" noProof="0" dirty="0"/>
              <a:t>More extensive OpenMP pragma support challenging</a:t>
            </a:r>
          </a:p>
          <a:p>
            <a:pPr lvl="1"/>
            <a:r>
              <a:rPr lang="en-US" noProof="0" dirty="0"/>
              <a:t>Would require SIMD-specific for_each</a:t>
            </a:r>
          </a:p>
          <a:p>
            <a:r>
              <a:rPr lang="en-US" noProof="0" dirty="0"/>
              <a:t>SIMD-aware traversers: possible with computation-aware abstractions</a:t>
            </a:r>
          </a:p>
          <a:p>
            <a:pPr lvl="1"/>
            <a:r>
              <a:rPr lang="en-US" noProof="0" dirty="0"/>
              <a:t>Noarr already implements “planners” </a:t>
            </a:r>
            <a:r>
              <a:rPr lang="en-US" noProof="0" dirty="0">
                <a:sym typeface="Wingdings" panose="05000000000000000000" pitchFamily="2" charset="2"/>
              </a:rPr>
              <a:t> traversers that store the computation and enable more expressive transformations</a:t>
            </a:r>
            <a:endParaRPr lang="en-US" noProof="0" dirty="0"/>
          </a:p>
        </p:txBody>
      </p:sp>
      <p:sp>
        <p:nvSpPr>
          <p:cNvPr id="4" name="Date Placeholder 3">
            <a:extLst>
              <a:ext uri="{FF2B5EF4-FFF2-40B4-BE49-F238E27FC236}">
                <a16:creationId xmlns:a16="http://schemas.microsoft.com/office/drawing/2014/main" id="{1892527F-86FC-931B-BB6D-A846949E1C75}"/>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8311E580-80EB-54AE-90EB-F7D45DA0B45E}"/>
              </a:ext>
            </a:extLst>
          </p:cNvPr>
          <p:cNvSpPr>
            <a:spLocks noGrp="1"/>
          </p:cNvSpPr>
          <p:nvPr>
            <p:ph type="sldNum" sz="quarter" idx="12"/>
          </p:nvPr>
        </p:nvSpPr>
        <p:spPr/>
        <p:txBody>
          <a:bodyPr/>
          <a:lstStyle/>
          <a:p>
            <a:fld id="{DA0BB241-1B5F-4309-9407-9EEA04D9598D}" type="slidenum">
              <a:rPr lang="en-US" noProof="0" smtClean="0"/>
              <a:t>39</a:t>
            </a:fld>
            <a:endParaRPr lang="en-US" noProof="0" dirty="0"/>
          </a:p>
        </p:txBody>
      </p:sp>
    </p:spTree>
    <p:extLst>
      <p:ext uri="{BB962C8B-B14F-4D97-AF65-F5344CB8AC3E}">
        <p14:creationId xmlns:p14="http://schemas.microsoft.com/office/powerpoint/2010/main" val="20295816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noProof="0"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lstStyle/>
          <a:p>
            <a:r>
              <a:rPr lang="en-US" noProof="0" dirty="0"/>
              <a:t>We do not claim to invent these two concepts as new paradigms</a:t>
            </a:r>
          </a:p>
          <a:p>
            <a:pPr lvl="1"/>
            <a:r>
              <a:rPr lang="en-US" noProof="0" dirty="0"/>
              <a:t>The thesis explicitly studies the two concepts</a:t>
            </a:r>
          </a:p>
          <a:p>
            <a:pPr lvl="2"/>
            <a:r>
              <a:rPr lang="en-US" noProof="0" dirty="0"/>
              <a:t>introducing them as two identified underexplored principles</a:t>
            </a:r>
          </a:p>
          <a:p>
            <a:pPr lvl="1"/>
            <a:r>
              <a:rPr lang="en-US" noProof="0" dirty="0"/>
              <a:t>Not targeted by prior research or design in HPC algorithms</a:t>
            </a:r>
          </a:p>
          <a:p>
            <a:r>
              <a:rPr lang="en-US" noProof="0" dirty="0"/>
              <a:t>Main novelty</a:t>
            </a:r>
          </a:p>
          <a:p>
            <a:pPr lvl="1"/>
            <a:r>
              <a:rPr lang="en-US" noProof="0" dirty="0"/>
              <a:t>Unified approach for layout &amp; traversal-agnostic algorithm design</a:t>
            </a:r>
          </a:p>
          <a:p>
            <a:pPr lvl="1"/>
            <a:r>
              <a:rPr lang="en-US" noProof="0" dirty="0"/>
              <a:t>Named dimensions and compositional approach</a:t>
            </a:r>
          </a:p>
          <a:p>
            <a:pPr lvl="1"/>
            <a:r>
              <a:rPr lang="en-US" noProof="0" dirty="0"/>
              <a:t>Support for heterogeneous layouts</a:t>
            </a:r>
          </a:p>
          <a:p>
            <a:pPr lvl="1"/>
            <a:r>
              <a:rPr lang="en-US" noProof="0" dirty="0"/>
              <a:t>Abstracting evaluation strategy and encoding for Cellular Automata</a:t>
            </a:r>
          </a:p>
          <a:p>
            <a:endParaRPr lang="en-US" noProof="0" dirty="0"/>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noProof="0" smtClean="0"/>
              <a:t>40</a:t>
            </a:fld>
            <a:endParaRPr lang="en-US" noProof="0" dirty="0"/>
          </a:p>
        </p:txBody>
      </p:sp>
    </p:spTree>
    <p:extLst>
      <p:ext uri="{BB962C8B-B14F-4D97-AF65-F5344CB8AC3E}">
        <p14:creationId xmlns:p14="http://schemas.microsoft.com/office/powerpoint/2010/main" val="17565713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a:bodyPr>
          <a:lstStyle/>
          <a:p>
            <a:r>
              <a:rPr lang="en-US" noProof="0"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noProof="0" dirty="0"/>
              <a:t>(reaction to layout- and traversal-agnostic design)</a:t>
            </a:r>
          </a:p>
          <a:p>
            <a:endParaRPr lang="en-US" noProof="0" dirty="0"/>
          </a:p>
          <a:p>
            <a:r>
              <a:rPr lang="en-US" noProof="0" dirty="0"/>
              <a:t>Kokkos Views (and </a:t>
            </a:r>
            <a:r>
              <a:rPr lang="en-US" noProof="0" dirty="0" err="1"/>
              <a:t>mdspans</a:t>
            </a:r>
            <a:r>
              <a:rPr lang="en-US" noProof="0" dirty="0"/>
              <a:t>) abstract physical memory layout</a:t>
            </a:r>
          </a:p>
          <a:p>
            <a:pPr lvl="1"/>
            <a:r>
              <a:rPr lang="en-US" noProof="0" dirty="0"/>
              <a:t>Limited to multidimensional arrays</a:t>
            </a:r>
          </a:p>
          <a:p>
            <a:pPr lvl="1"/>
            <a:r>
              <a:rPr lang="en-US" noProof="0" dirty="0"/>
              <a:t>Mostly focus row-major vs column-major (and custom strides)</a:t>
            </a:r>
          </a:p>
          <a:p>
            <a:pPr lvl="1"/>
            <a:r>
              <a:rPr lang="en-US" noProof="0" dirty="0" err="1"/>
              <a:t>Subview</a:t>
            </a:r>
            <a:r>
              <a:rPr lang="en-US" noProof="0" dirty="0"/>
              <a:t> </a:t>
            </a:r>
            <a:r>
              <a:rPr lang="en-US" noProof="0" dirty="0">
                <a:sym typeface="Wingdings" panose="05000000000000000000" pitchFamily="2" charset="2"/>
              </a:rPr>
              <a:t> the only supported transformation</a:t>
            </a:r>
          </a:p>
          <a:p>
            <a:pPr lvl="1"/>
            <a:r>
              <a:rPr lang="en-US" noProof="0" dirty="0" err="1">
                <a:sym typeface="Wingdings" panose="05000000000000000000" pitchFamily="2" charset="2"/>
              </a:rPr>
              <a:t>CUTe</a:t>
            </a:r>
            <a:r>
              <a:rPr lang="en-US" noProof="0" dirty="0">
                <a:sym typeface="Wingdings" panose="05000000000000000000" pitchFamily="2" charset="2"/>
              </a:rPr>
              <a:t> supports more general layout algebra</a:t>
            </a:r>
          </a:p>
          <a:p>
            <a:r>
              <a:rPr lang="en-US" noProof="0" dirty="0">
                <a:sym typeface="Wingdings" panose="05000000000000000000" pitchFamily="2" charset="2"/>
              </a:rPr>
              <a:t>OpenMP (6.0)  some powerful loop transformation directives</a:t>
            </a:r>
          </a:p>
          <a:p>
            <a:pPr lvl="1"/>
            <a:r>
              <a:rPr lang="en-US" noProof="0" dirty="0"/>
              <a:t>Not exactly traversal-agnostic design; good alternative in many use cases</a:t>
            </a:r>
          </a:p>
          <a:p>
            <a:r>
              <a:rPr lang="en-US" noProof="0" dirty="0"/>
              <a:t>Some traversal-agnostic capabilities in </a:t>
            </a:r>
            <a:r>
              <a:rPr lang="en-US" noProof="0" dirty="0" err="1"/>
              <a:t>GridTools</a:t>
            </a:r>
            <a:r>
              <a:rPr lang="en-US" noProof="0" dirty="0"/>
              <a:t> and RAJA</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noProof="0" smtClean="0"/>
              <a:t>41</a:t>
            </a:fld>
            <a:endParaRPr lang="en-US" noProof="0" dirty="0"/>
          </a:p>
        </p:txBody>
      </p:sp>
    </p:spTree>
    <p:extLst>
      <p:ext uri="{BB962C8B-B14F-4D97-AF65-F5344CB8AC3E}">
        <p14:creationId xmlns:p14="http://schemas.microsoft.com/office/powerpoint/2010/main" val="3901880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noProof="0" dirty="0"/>
              <a:t>Comparison table?</a:t>
            </a:r>
          </a:p>
        </p:txBody>
      </p:sp>
      <p:sp>
        <p:nvSpPr>
          <p:cNvPr id="3" name="Content Placeholder 2">
            <a:extLst>
              <a:ext uri="{FF2B5EF4-FFF2-40B4-BE49-F238E27FC236}">
                <a16:creationId xmlns:a16="http://schemas.microsoft.com/office/drawing/2014/main" id="{EFD4FC06-723D-4133-C57B-96E03F8E703F}"/>
              </a:ext>
            </a:extLst>
          </p:cNvPr>
          <p:cNvSpPr>
            <a:spLocks noGrp="1"/>
          </p:cNvSpPr>
          <p:nvPr>
            <p:ph idx="1"/>
          </p:nvPr>
        </p:nvSpPr>
        <p:spPr/>
        <p:txBody>
          <a:bodyPr/>
          <a:lstStyle/>
          <a:p>
            <a:r>
              <a:rPr lang="en-US" noProof="0" dirty="0"/>
              <a:t>Mdspan, Kokkos, Raja, CuTe, </a:t>
            </a:r>
            <a:r>
              <a:rPr lang="en-US" noProof="0" dirty="0" err="1"/>
              <a:t>GridTools</a:t>
            </a:r>
            <a:r>
              <a:rPr lang="en-US" noProof="0" dirty="0"/>
              <a:t>, OpenMP loops, Noarr Cellato</a:t>
            </a:r>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noProof="0" smtClean="0"/>
              <a:t>42</a:t>
            </a:fld>
            <a:endParaRPr lang="en-US" noProof="0" dirty="0"/>
          </a:p>
        </p:txBody>
      </p:sp>
    </p:spTree>
    <p:extLst>
      <p:ext uri="{BB962C8B-B14F-4D97-AF65-F5344CB8AC3E}">
        <p14:creationId xmlns:p14="http://schemas.microsoft.com/office/powerpoint/2010/main" val="141375254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43</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noProof="0"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noProof="0" smtClean="0"/>
              <a:t>44</a:t>
            </a:fld>
            <a:endParaRPr lang="en-US" noProof="0" dirty="0"/>
          </a:p>
        </p:txBody>
      </p:sp>
    </p:spTree>
    <p:extLst>
      <p:ext uri="{BB962C8B-B14F-4D97-AF65-F5344CB8AC3E}">
        <p14:creationId xmlns:p14="http://schemas.microsoft.com/office/powerpoint/2010/main" val="411395911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7.8|14.2|11.3|16.8|21.6|13"/>
</p:tagLst>
</file>

<file path=ppt/tags/tag2.xml><?xml version="1.0" encoding="utf-8"?>
<p:tagLst xmlns:a="http://schemas.openxmlformats.org/drawingml/2006/main" xmlns:r="http://schemas.openxmlformats.org/officeDocument/2006/relationships" xmlns:p="http://schemas.openxmlformats.org/presentationml/2006/main">
  <p:tag name="TIMING" val="|4"/>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6377</TotalTime>
  <Words>6325</Words>
  <Application>Microsoft Office PowerPoint</Application>
  <PresentationFormat>Widescreen</PresentationFormat>
  <Paragraphs>863</Paragraphs>
  <Slides>44</Slides>
  <Notes>35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44</vt:i4>
      </vt:variant>
    </vt:vector>
  </HeadingPairs>
  <TitlesOfParts>
    <vt:vector size="51" baseType="lpstr">
      <vt:lpstr>Aptos</vt:lpstr>
      <vt:lpstr>Aptos Display</vt:lpstr>
      <vt:lpstr>Arial</vt:lpstr>
      <vt:lpstr>Cambria Math</vt:lpstr>
      <vt:lpstr>Fira Code</vt:lpstr>
      <vt:lpstr>Wingdings</vt:lpstr>
      <vt:lpstr>Office Theme</vt:lpstr>
      <vt:lpstr>Optimizing Memory Layouts and Traversal Orders in HPC</vt:lpstr>
      <vt:lpstr>Motivation</vt:lpstr>
      <vt:lpstr>Illustrative example: matrix initialization</vt:lpstr>
      <vt:lpstr>Layout-agnostic design</vt:lpstr>
      <vt:lpstr>Layout abstractions (Noarr)</vt:lpstr>
      <vt:lpstr>Traversal abstractions</vt:lpstr>
      <vt:lpstr>Structures with different index spaces</vt:lpstr>
      <vt:lpstr>Traversal transformations</vt:lpstr>
      <vt:lpstr>Traversal parallelization</vt:lpstr>
      <vt:lpstr>Autotuning</vt:lpstr>
      <vt:lpstr>Autotuning</vt:lpstr>
      <vt:lpstr>Results</vt:lpstr>
      <vt:lpstr>Results</vt:lpstr>
      <vt:lpstr>Results</vt:lpstr>
      <vt:lpstr>Distributed initialization</vt:lpstr>
      <vt:lpstr>Automatic transformation in communication</vt:lpstr>
      <vt:lpstr>Results</vt:lpstr>
      <vt:lpstr>Results</vt:lpstr>
      <vt:lpstr>Stencil computation abstractions</vt:lpstr>
      <vt:lpstr>Cellular automata abstraction</vt:lpstr>
      <vt:lpstr>PowerPoint Presentation</vt:lpstr>
      <vt:lpstr>Results (follow-up work)</vt:lpstr>
      <vt:lpstr>Abstractions summary</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PowerPoint Presentation</vt:lpstr>
      <vt:lpstr>LLM-guided optimization summary</vt:lpstr>
      <vt:lpstr>Contribution map</vt:lpstr>
      <vt:lpstr>Summary</vt:lpstr>
      <vt:lpstr>Review comments and questions</vt:lpstr>
      <vt:lpstr>Why is Cellato separate from Noarr?</vt:lpstr>
      <vt:lpstr>What do you think an abstraction designed specifically for an LLM should look like?</vt:lpstr>
      <vt:lpstr> Is hvector necessary? vector more convenient?</vt:lpstr>
      <vt:lpstr>Is Noarr used outside the department?/Why not?</vt:lpstr>
      <vt:lpstr>Can Noarr naturally incorporate #pragma omp simd or SIMD-aware traversers</vt:lpstr>
      <vt:lpstr>Novelty in layout- and traversal-agnosticism</vt:lpstr>
      <vt:lpstr>Which of these ideas can be found in software like Kokkos or OpenMP's loop transformations?</vt:lpstr>
      <vt:lpstr>Comparison table?</vt:lpstr>
      <vt:lpstr>Template-exclusive statements</vt:lpstr>
      <vt:lpstr>Why did the abstractions hinder the LLM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458</cp:revision>
  <dcterms:created xsi:type="dcterms:W3CDTF">2026-08-08T18:10:38Z</dcterms:created>
  <dcterms:modified xsi:type="dcterms:W3CDTF">2026-09-02T23:57:41Z</dcterms:modified>
</cp:coreProperties>
</file>