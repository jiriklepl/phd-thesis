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93" r:id="rId3"/>
    <p:sldId id="277" r:id="rId4"/>
    <p:sldId id="296" r:id="rId5"/>
    <p:sldId id="297" r:id="rId6"/>
    <p:sldId id="283" r:id="rId7"/>
    <p:sldId id="314" r:id="rId8"/>
    <p:sldId id="284" r:id="rId9"/>
    <p:sldId id="285" r:id="rId10"/>
    <p:sldId id="278" r:id="rId11"/>
    <p:sldId id="300" r:id="rId12"/>
    <p:sldId id="286" r:id="rId13"/>
    <p:sldId id="290" r:id="rId14"/>
    <p:sldId id="279" r:id="rId15"/>
    <p:sldId id="287" r:id="rId16"/>
    <p:sldId id="316" r:id="rId17"/>
    <p:sldId id="302" r:id="rId18"/>
    <p:sldId id="280" r:id="rId19"/>
    <p:sldId id="310" r:id="rId20"/>
    <p:sldId id="295" r:id="rId21"/>
    <p:sldId id="288" r:id="rId22"/>
    <p:sldId id="305" r:id="rId23"/>
    <p:sldId id="291" r:id="rId24"/>
    <p:sldId id="306" r:id="rId25"/>
    <p:sldId id="315" r:id="rId26"/>
    <p:sldId id="308" r:id="rId27"/>
    <p:sldId id="309" r:id="rId28"/>
    <p:sldId id="311" r:id="rId29"/>
    <p:sldId id="266" r:id="rId30"/>
    <p:sldId id="312" r:id="rId31"/>
    <p:sldId id="26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83"/>
            <p14:sldId id="314"/>
            <p14:sldId id="284"/>
            <p14:sldId id="285"/>
            <p14:sldId id="278"/>
            <p14:sldId id="300"/>
            <p14:sldId id="286"/>
            <p14:sldId id="290"/>
            <p14:sldId id="279"/>
            <p14:sldId id="287"/>
            <p14:sldId id="316"/>
            <p14:sldId id="302"/>
            <p14:sldId id="280"/>
            <p14:sldId id="310"/>
          </p14:sldIdLst>
        </p14:section>
        <p14:section name="llms" id="{2FE3CF17-CBFB-48E9-A3BF-DD99B7D2F01E}">
          <p14:sldIdLst>
            <p14:sldId id="295"/>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ers' comments" id="{40190F67-0659-405D-810E-4AC194B72FA5}">
          <p14:sldIdLst>
            <p14:sldId id="262"/>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ABEED"/>
    <a:srgbClr val="0F9ED5"/>
    <a:srgbClr val="79BEED"/>
    <a:srgbClr val="8DC3EB"/>
    <a:srgbClr val="7BBEED"/>
    <a:srgbClr val="7BBFED"/>
    <a:srgbClr val="8CC3EB"/>
    <a:srgbClr val="9673A6"/>
    <a:srgbClr val="E1D5E7"/>
    <a:srgbClr val="82B3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86509" autoAdjust="0"/>
  </p:normalViewPr>
  <p:slideViewPr>
    <p:cSldViewPr snapToGrid="0">
      <p:cViewPr varScale="1">
        <p:scale>
          <a:sx n="137" d="100"/>
          <a:sy n="137" d="100"/>
        </p:scale>
        <p:origin x="2496" y="13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These algorithms often contain multidimensional structures and computation in regular loops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pPr marL="0" indent="0">
              <a:buFontTx/>
              <a:buNone/>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a:t>
            </a:r>
            <a:r>
              <a:rPr lang="cs-CZ" dirty="0"/>
              <a:t> (</a:t>
            </a:r>
            <a:r>
              <a:rPr lang="en-US" noProof="0" dirty="0"/>
              <a:t>the</a:t>
            </a:r>
            <a:r>
              <a:rPr lang="cs-CZ" dirty="0"/>
              <a:t> most </a:t>
            </a:r>
            <a:r>
              <a:rPr lang="cs-CZ" dirty="0" err="1"/>
              <a:t>common</a:t>
            </a:r>
            <a:r>
              <a:rPr lang="cs-CZ" dirty="0"/>
              <a:t> matrix layout)</a:t>
            </a:r>
            <a:r>
              <a:rPr lang="en-US" dirty="0"/>
              <a: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Handle communication with the autotuning framework</a:t>
            </a:r>
          </a:p>
          <a:p>
            <a:pPr marL="171450" indent="-171450">
              <a:buFontTx/>
              <a:buChar char="-"/>
            </a:pPr>
            <a:r>
              <a:rPr lang="en-US" dirty="0"/>
              <a:t>Define the parameter on the </a:t>
            </a:r>
            <a:r>
              <a:rPr lang="en-US" dirty="0" err="1"/>
              <a:t>autotuner’s</a:t>
            </a:r>
            <a:r>
              <a:rPr lang="en-US" dirty="0"/>
              <a:t> side</a:t>
            </a:r>
          </a:p>
          <a:p>
            <a:pPr marL="0" indent="0">
              <a:buFontTx/>
              <a:buNone/>
            </a:pPr>
            <a:endParaRPr lang="en-US" dirty="0"/>
          </a:p>
          <a:p>
            <a:pPr marL="0" indent="0">
              <a:buFontTx/>
              <a:buNone/>
            </a:pPr>
            <a:r>
              <a:rPr lang="en-US" dirty="0"/>
              <a:t>This creates unnecessary amount of boilerplate definitions and communication specification that is difficult to maintain and easy to make mistakes in.</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(but most of the verbosity can be resolved with code completion and static code analyzers)</a:t>
            </a:r>
            <a:br>
              <a:rPr lang="en-US" dirty="0"/>
            </a:br>
            <a:r>
              <a:rPr lang="en-US" dirty="0"/>
              <a:t>but contains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(perhaps due to efficiency requirements).</a:t>
            </a:r>
          </a:p>
          <a:p>
            <a:r>
              <a:rPr lang="en-US" dirty="0"/>
              <a:t>If such communication was done naively. the MPI backend would corrupt the data by preserving the physical layout instead of the intended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manage to seamlessly enable layout-agnostic communication of data over MPI.</a:t>
            </a:r>
          </a:p>
          <a:p>
            <a:r>
              <a:rPr lang="en-US" dirty="0"/>
              <a:t>Fo that, we have identified 6 main characteristics.</a:t>
            </a:r>
          </a:p>
          <a:p>
            <a:endParaRPr lang="en-US" dirty="0"/>
          </a:p>
          <a:p>
            <a:r>
              <a:rPr lang="en-US" dirty="0"/>
              <a:t>Our approach is the only one that automatically handles differing physical layouts on opposite endpoints of communication (as shown on the previous slide),</a:t>
            </a:r>
          </a:p>
          <a:p>
            <a:r>
              <a:rPr lang="en-US" dirty="0"/>
              <a:t>Supporting general multidimensional data layouts, without explicit packing and unpacking of data elements, and performing some type safety checks.</a:t>
            </a:r>
          </a:p>
          <a:p>
            <a:endParaRPr lang="en-US" dirty="0"/>
          </a:p>
          <a:p>
            <a:r>
              <a:rPr lang="en-US" dirty="0"/>
              <a:t>(Many of the bindings do not even fully support scatter and gather instructions that can distribute/collect data into/from smaller chunks)</a:t>
            </a:r>
          </a:p>
          <a:p>
            <a:endParaRPr lang="en-US" dirty="0"/>
          </a:p>
          <a:p>
            <a:r>
              <a:rPr lang="en-US" dirty="0"/>
              <a:t>And, in terms of performance, it does not add overhead compared to a hand-written native MPI distributed computation.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stencil computations.</a:t>
            </a:r>
          </a:p>
          <a:p>
            <a:r>
              <a:rPr lang="en-US" dirty="0"/>
              <a:t>Stencil computations are used in many field ranging from weather prediction to image processing.</a:t>
            </a:r>
          </a:p>
          <a:p>
            <a:endParaRPr lang="en-US" dirty="0"/>
          </a:p>
          <a:p>
            <a:r>
              <a:rPr lang="en-US" dirty="0"/>
              <a:t>They are computed on regular grids with cells. The grid is updated by applying a neighborhood-based rule to each cell.</a:t>
            </a:r>
          </a:p>
          <a:p>
            <a:endParaRPr lang="en-US" dirty="0"/>
          </a:p>
          <a:p>
            <a:r>
              <a:rPr lang="en-US" dirty="0"/>
              <a:t>While the earlier abstractions are usable for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modelling various systems such as fluid dynamics or material sciences.</a:t>
            </a:r>
          </a:p>
          <a:p>
            <a:endParaRPr lang="en-US" dirty="0"/>
          </a:p>
          <a:p>
            <a:r>
              <a:rPr lang="en-US" dirty="0"/>
              <a:t>Their rules can often be expressed as nested logic expressions that depend on cell states in the neighborhood.</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many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shown that the abstractions for layouts and traversals that simplify user-guided optimization,</a:t>
            </a:r>
          </a:p>
          <a:p>
            <a:r>
              <a:rPr lang="en-US" dirty="0"/>
              <a:t>Including parallel CPU and GPU computation, as well as distributed computing.</a:t>
            </a:r>
          </a:p>
          <a:p>
            <a:r>
              <a:rPr lang="en-US" dirty="0"/>
              <a:t>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application of advanced optimizations.</a:t>
            </a:r>
          </a:p>
          <a:p>
            <a:endParaRPr lang="en-US" dirty="0"/>
          </a:p>
          <a:p>
            <a:r>
              <a:rPr lang="en-US" dirty="0"/>
              <a:t>But we can make the development even simpler and more automatic!</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r>
              <a:rPr lang="en-US" dirty="0"/>
              <a:t>After extending our earlier work to cover distributed computing as well and adapting it for a specific domain,</a:t>
            </a:r>
          </a:p>
          <a:p>
            <a:r>
              <a:rPr lang="en-US" dirty="0"/>
              <a:t>We have started to do research in a different approach for simplifying HPC algorithm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work reacts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time of the beginning of our research in this area, LLM models were capable of implementing simple algorithms (like data visualization, simple scripting, </a:t>
            </a:r>
            <a:r>
              <a:rPr lang="en-US" dirty="0" err="1"/>
              <a:t>etc</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not yet that competent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In our first work in this area, we focused on CUDA code generation, which was one of the challenging areas for the contemporary LLMs; more specifically,</a:t>
            </a:r>
            <a:br>
              <a:rPr lang="en-US" dirty="0"/>
            </a:br>
            <a:r>
              <a:rPr lang="en-US" dirty="0"/>
              <a:t>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a:t>
            </a:r>
            <a:br>
              <a:rPr lang="en-US" dirty="0"/>
            </a:b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a:t>
            </a:r>
          </a:p>
          <a:p>
            <a:endParaRPr lang="en-US" dirty="0"/>
          </a:p>
          <a:p>
            <a:r>
              <a:rPr lang="en-US" dirty="0"/>
              <a:t>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the LLM state of the art had already shifted;</a:t>
            </a:r>
          </a:p>
          <a:p>
            <a:r>
              <a:rPr lang="en-US" dirty="0"/>
              <a:t>The then-current GPT-5 provided expert-level performance on the Game of Life algorithm for all prompts except the naïve one,</a:t>
            </a:r>
          </a:p>
          <a:p>
            <a:r>
              <a:rPr lang="en-US" dirty="0"/>
              <a:t>And it successfully benefitted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TODO MOTIVATION</a:t>
            </a:r>
          </a:p>
          <a:p>
            <a:endParaRPr lang="en-US" dirty="0"/>
          </a:p>
          <a:p>
            <a:r>
              <a:rPr lang="en-US" dirty="0"/>
              <a:t>OLD:</a:t>
            </a:r>
          </a:p>
          <a:p>
            <a:r>
              <a:rPr lang="en-US" dirty="0"/>
              <a:t>Then, we have studied whether the earlier studied abstractions enabling layout- and traversal-agnostic design significantly improve the correctness and efficiency of the generated parallel code during optimization tasks.</a:t>
            </a:r>
          </a:p>
          <a:p>
            <a:endParaRPr lang="en-US" dirty="0"/>
          </a:p>
          <a:p>
            <a:r>
              <a:rPr lang="en-US" dirty="0"/>
              <a:t>For that, we have compared 3 abstractions (Halide, Exo and </a:t>
            </a:r>
            <a:r>
              <a:rPr lang="en-US" dirty="0" err="1"/>
              <a:t>Noarr</a:t>
            </a:r>
            <a:r>
              <a:rPr lang="en-US" dirty="0"/>
              <a:t>) with different designs and principles as well as outputting pure C on the 30 algorithms from the </a:t>
            </a:r>
            <a:r>
              <a:rPr lang="en-US" dirty="0" err="1"/>
              <a:t>PolyBench</a:t>
            </a:r>
            <a:r>
              <a:rPr lang="en-US" dirty="0"/>
              <a:t>/C benchmark suite.</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the contemporary abstractions do not help.</a:t>
            </a:r>
          </a:p>
          <a:p>
            <a:endParaRPr lang="en-US" dirty="0"/>
          </a:p>
          <a:p>
            <a:r>
              <a:rPr lang="en-US" dirty="0"/>
              <a:t>Future research may re-evaluate our approach to agentic LLMs that can automatically gather feedback</a:t>
            </a:r>
            <a:br>
              <a:rPr lang="en-US" dirty="0"/>
            </a:br>
            <a:r>
              <a:rPr lang="en-US" dirty="0"/>
              <a:t>(from compiling and running the generated implementations) and they can collect the necessary context,</a:t>
            </a:r>
          </a:p>
          <a:p>
            <a:r>
              <a:rPr lang="en-US" dirty="0"/>
              <a:t>So they can, </a:t>
            </a:r>
            <a:r>
              <a:rPr lang="en-US"/>
              <a:t>for example, </a:t>
            </a:r>
            <a:r>
              <a:rPr lang="en-US" dirty="0"/>
              <a:t>look up how to use specific abstractions or what algorithm designs to use.</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9110468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8/29/2026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8/29/2026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8/29/2026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8/29/2026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8/29/2026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8/29/2026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8/29/2026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8/29/2026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8/29/2026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8/29/2026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8/29/2026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8/29/2026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svg"/><Relationship Id="rId7" Type="http://schemas.openxmlformats.org/officeDocument/2006/relationships/image" Target="../media/image21.sv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 Id="rId9"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svg"/></Relationships>
</file>

<file path=ppt/slides/_rels/slide16.xml.rels><?xml version="1.0" encoding="UTF-8" standalone="yes"?>
<Relationships xmlns="http://schemas.openxmlformats.org/package/2006/relationships"><Relationship Id="rId3" Type="http://schemas.openxmlformats.org/officeDocument/2006/relationships/image" Target="../media/image31.gif"/><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36.png"/><Relationship Id="rId4" Type="http://schemas.openxmlformats.org/officeDocument/2006/relationships/image" Target="../media/image31.gif"/></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image" Target="../media/image43.svg"/><Relationship Id="rId7" Type="http://schemas.openxmlformats.org/officeDocument/2006/relationships/image" Target="../media/image47.sv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46.svg"/><Relationship Id="rId5" Type="http://schemas.openxmlformats.org/officeDocument/2006/relationships/image" Target="../media/image45.svg"/><Relationship Id="rId10" Type="http://schemas.openxmlformats.org/officeDocument/2006/relationships/image" Target="../media/image50.svg"/><Relationship Id="rId4" Type="http://schemas.openxmlformats.org/officeDocument/2006/relationships/image" Target="../media/image44.svg"/><Relationship Id="rId9" Type="http://schemas.openxmlformats.org/officeDocument/2006/relationships/image" Target="../media/image49.svg"/></Relationships>
</file>

<file path=ppt/slides/_rels/slide3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8/29/2026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noProof="0"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r>
              <a:rPr lang="en-US" noProof="0" dirty="0"/>
              <a:t>Development of algorithms for scientific computing</a:t>
            </a:r>
          </a:p>
          <a:p>
            <a:pPr lvl="1"/>
            <a:r>
              <a:rPr lang="en-US" noProof="0" dirty="0"/>
              <a:t>Multidimensional data structures</a:t>
            </a:r>
          </a:p>
          <a:p>
            <a:pPr lvl="1"/>
            <a:r>
              <a:rPr lang="en-US" noProof="0" dirty="0"/>
              <a:t>Regular loops</a:t>
            </a:r>
          </a:p>
          <a:p>
            <a:r>
              <a:rPr lang="en-US" noProof="0" dirty="0"/>
              <a:t>Complexity rises with every design decision</a:t>
            </a:r>
          </a:p>
          <a:p>
            <a:pPr lvl="1"/>
            <a:r>
              <a:rPr lang="en-US" noProof="0" dirty="0"/>
              <a:t>How to store the data</a:t>
            </a:r>
          </a:p>
          <a:p>
            <a:pPr lvl="1"/>
            <a:r>
              <a:rPr lang="en-US" noProof="0" dirty="0"/>
              <a:t>In what order do the computations</a:t>
            </a:r>
          </a:p>
          <a:p>
            <a:endParaRPr lang="en-US" noProof="0" dirty="0"/>
          </a:p>
          <a:p>
            <a:r>
              <a:rPr lang="en-US" noProof="0" dirty="0"/>
              <a:t>Performance very difficult to predict</a:t>
            </a:r>
          </a:p>
          <a:p>
            <a:endParaRPr lang="en-US" noProof="0" dirty="0"/>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noProof="0" smtClean="0"/>
              <a:t>8/29/2026</a:t>
            </a:fld>
            <a:endParaRPr lang="en-US" noProof="0" dirty="0"/>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8/29/2026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9" y="3424149"/>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8/29/2026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5"/>
                <a:stretch>
                  <a:fillRect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6"/>
                <a:stretch>
                  <a:fillRect b="-13115"/>
                </a:stretch>
              </a:blipFill>
            </p:spPr>
            <p:txBody>
              <a:bodyPr/>
              <a:lstStyle/>
              <a:p>
                <a:r>
                  <a:rPr lang="en-US">
                    <a:noFill/>
                  </a:rPr>
                  <a:t> </a:t>
                </a:r>
              </a:p>
            </p:txBody>
          </p:sp>
        </mc:Fallback>
      </mc:AlternateContent>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non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5925244" y="3140003"/>
            <a:ext cx="1941388"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5925244" y="3631744"/>
            <a:ext cx="18156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5925244" y="4111106"/>
            <a:ext cx="18156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46970" y="2629816"/>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8/29/2026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cxnSp>
        <p:nvCxnSpPr>
          <p:cNvPr id="15" name="Straight Arrow Connector 14">
            <a:extLst>
              <a:ext uri="{FF2B5EF4-FFF2-40B4-BE49-F238E27FC236}">
                <a16:creationId xmlns:a16="http://schemas.microsoft.com/office/drawing/2014/main" id="{1BF3510A-7AA6-1D61-17F1-1FC3E8CDC948}"/>
              </a:ext>
            </a:extLst>
          </p:cNvPr>
          <p:cNvCxnSpPr>
            <a:cxnSpLocks/>
            <a:stCxn id="7" idx="3"/>
          </p:cNvCxnSpPr>
          <p:nvPr/>
        </p:nvCxnSpPr>
        <p:spPr>
          <a:xfrm flipV="1">
            <a:off x="2874938" y="3428927"/>
            <a:ext cx="1312546" cy="343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49BE013-F209-8403-8D5B-F71D68CF5E02}"/>
              </a:ext>
            </a:extLst>
          </p:cNvPr>
          <p:cNvSpPr txBox="1"/>
          <p:nvPr/>
        </p:nvSpPr>
        <p:spPr>
          <a:xfrm>
            <a:off x="7437322" y="4889622"/>
            <a:ext cx="1838587"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 </a:t>
            </a:r>
            <a:r>
              <a:rPr lang="en-US" dirty="0" err="1"/>
              <a:t>alloc</a:t>
            </a:r>
            <a:endParaRPr lang="en-US" dirty="0"/>
          </a:p>
        </p:txBody>
      </p:sp>
      <p:sp>
        <p:nvSpPr>
          <p:cNvPr id="13" name="TextBox 12">
            <a:extLst>
              <a:ext uri="{FF2B5EF4-FFF2-40B4-BE49-F238E27FC236}">
                <a16:creationId xmlns:a16="http://schemas.microsoft.com/office/drawing/2014/main" id="{E43C382B-2568-3BB2-FF89-3DD00349CEA9}"/>
              </a:ext>
            </a:extLst>
          </p:cNvPr>
          <p:cNvSpPr txBox="1"/>
          <p:nvPr/>
        </p:nvSpPr>
        <p:spPr>
          <a:xfrm>
            <a:off x="9584196" y="4884070"/>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noProof="0" dirty="0">
                <a:solidFill>
                  <a:srgbClr val="098658"/>
                </a:solidFill>
                <a:latin typeface="Fira Code" panose="020B0809050000020004" pitchFamily="49" charset="0"/>
              </a:rPr>
              <a:t>M</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noProof="0" dirty="0">
                <a:solidFill>
                  <a:srgbClr val="098658"/>
                </a:solidFill>
                <a:latin typeface="Fira Code" panose="020B0809050000020004" pitchFamily="49" charset="0"/>
              </a:rPr>
              <a:t>N</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001080"/>
                </a:solidFill>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8/29/2026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2690771" y="1726004"/>
            <a:ext cx="1781258" cy="369332"/>
          </a:xfrm>
          <a:prstGeom prst="rect">
            <a:avLst/>
          </a:prstGeom>
          <a:noFill/>
        </p:spPr>
        <p:txBody>
          <a:bodyPr wrap="none" rtlCol="0">
            <a:spAutoFit/>
          </a:bodyPr>
          <a:lstStyle/>
          <a:p>
            <a:pPr algn="ctr"/>
            <a:r>
              <a:rPr lang="en-US" b="1" noProof="0" dirty="0"/>
              <a:t>Matrix initialize</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161496" y="4745859"/>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Tree>
    <p:extLst>
      <p:ext uri="{BB962C8B-B14F-4D97-AF65-F5344CB8AC3E}">
        <p14:creationId xmlns:p14="http://schemas.microsoft.com/office/powerpoint/2010/main" val="1912447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Traversal abstractions</a:t>
            </a:r>
          </a:p>
        </p:txBody>
      </p:sp>
      <p:sp>
        <p:nvSpPr>
          <p:cNvPr id="8" name="TextBox 7">
            <a:extLst>
              <a:ext uri="{FF2B5EF4-FFF2-40B4-BE49-F238E27FC236}">
                <a16:creationId xmlns:a16="http://schemas.microsoft.com/office/drawing/2014/main" id="{9E2F7AA6-5F7F-99DE-465E-A4472E5548CB}"/>
              </a:ext>
            </a:extLst>
          </p:cNvPr>
          <p:cNvSpPr txBox="1"/>
          <p:nvPr/>
        </p:nvSpPr>
        <p:spPr>
          <a:xfrm>
            <a:off x="4274320" y="4746531"/>
            <a:ext cx="6181949" cy="2032031"/>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noProof="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noProof="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A31515"/>
                </a:solidFill>
                <a:effectLst/>
                <a:latin typeface="Fira Code" panose="020B0809050000020004" pitchFamily="49" charset="0"/>
              </a:rPr>
              <a:t>'n</a:t>
            </a:r>
            <a:r>
              <a:rPr lang="en-US" sz="1400" noProof="0" dirty="0">
                <a:solidFill>
                  <a:srgbClr val="A31515"/>
                </a:solidFill>
                <a:latin typeface="Fira Code" panose="020B0809050000020004" pitchFamily="49" charset="0"/>
              </a:rPr>
              <a:t>'</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a:p>
            <a:pPr>
              <a:lnSpc>
                <a:spcPct val="113095"/>
              </a:lnSpc>
            </a:pPr>
            <a:r>
              <a:rPr lang="en-US" sz="1400" noProof="0" dirty="0">
                <a:solidFill>
                  <a:srgbClr val="267F99"/>
                </a:solidFill>
                <a:latin typeface="Fira Code" panose="020B0809050000020004" pitchFamily="49" charset="0"/>
              </a:rPr>
              <a:t>auto</a:t>
            </a:r>
            <a:r>
              <a:rPr lang="en-US" sz="1400" noProof="0" dirty="0">
                <a:solidFill>
                  <a:srgbClr val="000000"/>
                </a:solidFill>
                <a:latin typeface="Fira Code" panose="020B0809050000020004" pitchFamily="49" charset="0"/>
              </a:rPr>
              <a:t> </a:t>
            </a:r>
            <a:r>
              <a:rPr lang="en-US" sz="1400" noProof="0" dirty="0">
                <a:solidFill>
                  <a:srgbClr val="001080"/>
                </a:solidFill>
                <a:latin typeface="Fira Code" panose="020B0809050000020004" pitchFamily="49" charset="0"/>
              </a:rPr>
              <a:t>C</a:t>
            </a:r>
            <a:r>
              <a:rPr lang="en-US" sz="1400" noProof="0" dirty="0">
                <a:solidFill>
                  <a:srgbClr val="000000"/>
                </a:solidFill>
                <a:latin typeface="Fira Code" panose="020B0809050000020004" pitchFamily="49" charset="0"/>
              </a:rPr>
              <a:t> = </a:t>
            </a:r>
            <a:r>
              <a:rPr lang="en-US" sz="1400" noProof="0" dirty="0">
                <a:solidFill>
                  <a:srgbClr val="795E26"/>
                </a:solidFill>
                <a:latin typeface="Fira Code" panose="020B0809050000020004" pitchFamily="49" charset="0"/>
              </a:rPr>
              <a:t>bag</a:t>
            </a:r>
            <a:r>
              <a:rPr lang="en-US" sz="1400" noProof="0" dirty="0">
                <a:solidFill>
                  <a:srgbClr val="000000"/>
                </a:solidFill>
                <a:latin typeface="Fira Code" panose="020B0809050000020004" pitchFamily="49" charset="0"/>
              </a:rPr>
              <a:t>(</a:t>
            </a:r>
            <a:r>
              <a:rPr lang="en-US" sz="1400" noProof="0" dirty="0">
                <a:solidFill>
                  <a:srgbClr val="267F99"/>
                </a:solidFill>
                <a:latin typeface="Fira Code" panose="020B0809050000020004" pitchFamily="49" charset="0"/>
              </a:rPr>
              <a:t>scalar</a:t>
            </a:r>
            <a:r>
              <a:rPr lang="en-US" sz="1400" noProof="0" dirty="0">
                <a:solidFill>
                  <a:srgbClr val="000000"/>
                </a:solidFill>
                <a:latin typeface="Fira Code" panose="020B0809050000020004" pitchFamily="49" charset="0"/>
              </a:rPr>
              <a:t>&lt;</a:t>
            </a:r>
            <a:r>
              <a:rPr lang="en-US" sz="1400" noProof="0" dirty="0">
                <a:solidFill>
                  <a:srgbClr val="0000FF"/>
                </a:solidFill>
                <a:latin typeface="Fira Code" panose="020B0809050000020004" pitchFamily="49" charset="0"/>
              </a:rPr>
              <a:t>float</a:t>
            </a:r>
            <a:r>
              <a:rPr lang="en-US" sz="1400" noProof="0" dirty="0">
                <a:solidFill>
                  <a:srgbClr val="000000"/>
                </a:solidFill>
                <a:latin typeface="Fira Code" panose="020B0809050000020004" pitchFamily="49" charset="0"/>
              </a:rPr>
              <a:t>&gt;() ^ </a:t>
            </a:r>
            <a:r>
              <a:rPr lang="en-US" sz="1400" noProof="0" dirty="0">
                <a:solidFill>
                  <a:srgbClr val="795E26"/>
                </a:solidFill>
                <a:latin typeface="Fira Code" panose="020B0809050000020004" pitchFamily="49" charset="0"/>
              </a:rPr>
              <a:t>vectors</a:t>
            </a:r>
            <a:r>
              <a:rPr lang="en-US" sz="1400" noProof="0" dirty="0">
                <a:solidFill>
                  <a:srgbClr val="000000"/>
                </a:solidFill>
                <a:latin typeface="Fira Code" panose="020B0809050000020004" pitchFamily="49" charset="0"/>
              </a:rPr>
              <a:t>&lt;</a:t>
            </a:r>
            <a:r>
              <a:rPr lang="en-US" sz="1400" noProof="0" dirty="0">
                <a:solidFill>
                  <a:srgbClr val="A31515"/>
                </a:solidFill>
                <a:latin typeface="Fira Code" panose="020B0809050000020004" pitchFamily="49" charset="0"/>
              </a:rPr>
              <a:t>'m'</a:t>
            </a:r>
            <a:r>
              <a:rPr lang="en-US" sz="1400" noProof="0" dirty="0">
                <a:solidFill>
                  <a:srgbClr val="000000"/>
                </a:solidFill>
                <a:latin typeface="Fira Code" panose="020B0809050000020004" pitchFamily="49" charset="0"/>
              </a:rPr>
              <a:t>, </a:t>
            </a:r>
            <a:r>
              <a:rPr lang="en-US" sz="1400" noProof="0" dirty="0">
                <a:solidFill>
                  <a:srgbClr val="A31515"/>
                </a:solidFill>
                <a:latin typeface="Fira Code" panose="020B0809050000020004" pitchFamily="49" charset="0"/>
              </a:rPr>
              <a:t>'n'</a:t>
            </a:r>
            <a:r>
              <a:rPr lang="en-US" sz="1400" noProof="0" dirty="0">
                <a:solidFill>
                  <a:srgbClr val="000000"/>
                </a:solidFill>
                <a:latin typeface="Fira Code" panose="020B0809050000020004" pitchFamily="49" charset="0"/>
              </a:rPr>
              <a:t>&gt;(</a:t>
            </a:r>
            <a:r>
              <a:rPr lang="en-US" sz="1400" noProof="0" dirty="0">
                <a:solidFill>
                  <a:srgbClr val="0070C1"/>
                </a:solidFill>
                <a:latin typeface="Fira Code" panose="020B0809050000020004" pitchFamily="49" charset="0"/>
              </a:rPr>
              <a:t>M</a:t>
            </a:r>
            <a:r>
              <a:rPr lang="en-US" sz="1400" noProof="0" dirty="0">
                <a:solidFill>
                  <a:srgbClr val="000000"/>
                </a:solidFill>
                <a:latin typeface="Fira Code" panose="020B0809050000020004" pitchFamily="49" charset="0"/>
              </a:rPr>
              <a:t>, </a:t>
            </a:r>
            <a:r>
              <a:rPr lang="en-US" sz="1400" noProof="0" dirty="0">
                <a:solidFill>
                  <a:srgbClr val="0070C1"/>
                </a:solidFill>
                <a:latin typeface="Fira Code" panose="020B0809050000020004" pitchFamily="49" charset="0"/>
              </a:rPr>
              <a:t>N</a:t>
            </a:r>
            <a:r>
              <a:rPr lang="en-US" sz="1400" noProof="0" dirty="0">
                <a:solidFill>
                  <a:srgbClr val="000000"/>
                </a:solidFill>
                <a:latin typeface="Fira Code" panose="020B0809050000020004" pitchFamily="49" charset="0"/>
              </a:rPr>
              <a:t>));</a:t>
            </a:r>
          </a:p>
          <a:p>
            <a:pPr>
              <a:lnSpc>
                <a:spcPct val="113095"/>
              </a:lnSpc>
              <a:buNone/>
            </a:pPr>
            <a:br>
              <a:rPr lang="en-US" sz="1400" b="0" noProof="0" dirty="0">
                <a:solidFill>
                  <a:srgbClr val="000000"/>
                </a:solidFill>
                <a:effectLst/>
                <a:latin typeface="Fira Code" panose="020B0809050000020004" pitchFamily="49" charset="0"/>
              </a:rPr>
            </a:br>
            <a:endParaRPr lang="en-US" sz="1400" b="0" noProof="0" dirty="0">
              <a:solidFill>
                <a:srgbClr val="000000"/>
              </a:solidFill>
              <a:effectLst/>
              <a:latin typeface="Fira Code" panose="020B0809050000020004" pitchFamily="49" charset="0"/>
            </a:endParaRPr>
          </a:p>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dirty="0" err="1">
                <a:solidFill>
                  <a:srgbClr val="795E26"/>
                </a:solidFill>
                <a:latin typeface="Fira Code" panose="020B0809050000020004" pitchFamily="49" charset="0"/>
              </a:rPr>
              <a:t>for_each</a:t>
            </a:r>
            <a:r>
              <a:rPr lang="en-US" sz="1400" b="0" noProof="0" dirty="0">
                <a:solidFill>
                  <a:srgbClr val="000000"/>
                </a:solidFill>
                <a:effectLst/>
                <a:latin typeface="Fira Code" panose="020B0809050000020004" pitchFamily="49" charset="0"/>
              </a:rPr>
              <a:t>([&amp;](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pic>
        <p:nvPicPr>
          <p:cNvPr id="7" name="Picture 6">
            <a:extLst>
              <a:ext uri="{FF2B5EF4-FFF2-40B4-BE49-F238E27FC236}">
                <a16:creationId xmlns:a16="http://schemas.microsoft.com/office/drawing/2014/main" id="{DAEC2F36-34A0-C683-8870-B93EE863D813}"/>
              </a:ext>
            </a:extLst>
          </p:cNvPr>
          <p:cNvPicPr>
            <a:picLocks noChangeAspect="1"/>
          </p:cNvPicPr>
          <p:nvPr/>
        </p:nvPicPr>
        <p:blipFill>
          <a:blip r:embed="rId3"/>
          <a:stretch>
            <a:fillRect/>
          </a:stretch>
        </p:blipFill>
        <p:spPr>
          <a:xfrm>
            <a:off x="1810250" y="4922429"/>
            <a:ext cx="2381250" cy="1352550"/>
          </a:xfrm>
          <a:prstGeom prst="rect">
            <a:avLst/>
          </a:prstGeom>
        </p:spPr>
      </p:pic>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8/29/2026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1" name="Rectangle 10">
            <a:extLst>
              <a:ext uri="{FF2B5EF4-FFF2-40B4-BE49-F238E27FC236}">
                <a16:creationId xmlns:a16="http://schemas.microsoft.com/office/drawing/2014/main" id="{BAD4D919-4AB3-4AB4-76B3-B1FAC162167B}"/>
              </a:ext>
            </a:extLst>
          </p:cNvPr>
          <p:cNvSpPr/>
          <p:nvPr/>
        </p:nvSpPr>
        <p:spPr>
          <a:xfrm>
            <a:off x="5276997" y="4610085"/>
            <a:ext cx="5104754" cy="920271"/>
          </a:xfrm>
          <a:prstGeom prst="rect">
            <a:avLst/>
          </a:prstGeom>
          <a:solidFill>
            <a:srgbClr val="FFFFFF">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6539590" y="4425419"/>
            <a:ext cx="1651414" cy="369332"/>
          </a:xfrm>
          <a:prstGeom prst="rect">
            <a:avLst/>
          </a:prstGeom>
          <a:noFill/>
        </p:spPr>
        <p:txBody>
          <a:bodyPr wrap="none" rtlCol="0">
            <a:spAutoFit/>
          </a:bodyPr>
          <a:lstStyle/>
          <a:p>
            <a:pPr algn="ctr"/>
            <a:r>
              <a:rPr lang="en-US" noProof="0" dirty="0"/>
              <a:t>Matrix multiply</a:t>
            </a:r>
          </a:p>
        </p:txBody>
      </p:sp>
    </p:spTree>
    <p:extLst>
      <p:ext uri="{BB962C8B-B14F-4D97-AF65-F5344CB8AC3E}">
        <p14:creationId xmlns:p14="http://schemas.microsoft.com/office/powerpoint/2010/main" val="15849151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1196097"/>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noProof="0" dirty="0" err="1">
                <a:solidFill>
                  <a:srgbClr val="795E26"/>
                </a:solidFill>
                <a:latin typeface="Fira Code" panose="020B0809050000020004" pitchFamily="49" charset="0"/>
              </a:rPr>
              <a:t>init</a:t>
            </a:r>
            <a:r>
              <a:rPr lang="en-US" sz="1400" noProof="0" dirty="0">
                <a:solidFill>
                  <a:srgbClr val="000000"/>
                </a:solidFill>
                <a:latin typeface="Fira Code" panose="020B0809050000020004" pitchFamily="49" charset="0"/>
              </a:rPr>
              <a:t>(</a:t>
            </a:r>
            <a:r>
              <a:rPr lang="en-US" sz="1400" noProof="0" dirty="0">
                <a:solidFill>
                  <a:srgbClr val="001080"/>
                </a:solidFill>
                <a:latin typeface="Fira Code" panose="020B0809050000020004" pitchFamily="49" charset="0"/>
              </a:rPr>
              <a:t>index</a:t>
            </a:r>
            <a:r>
              <a:rPr lang="en-US" sz="1400" noProof="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noProof="0" dirty="0" err="1">
                  <a:solidFill>
                    <a:srgbClr val="795E26"/>
                  </a:solidFill>
                  <a:effectLst/>
                  <a:latin typeface="Fira Code" panose="020B0809050000020004" pitchFamily="49" charset="0"/>
                </a:rPr>
                <a:t>omp_for_each</a:t>
              </a:r>
              <a:r>
                <a:rPr lang="en-US" sz="1400" noProof="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noProof="0" dirty="0" err="1">
                  <a:solidFill>
                    <a:srgbClr val="795E26"/>
                  </a:solidFill>
                  <a:latin typeface="Fira Code" panose="020B0809050000020004" pitchFamily="49" charset="0"/>
                </a:rPr>
                <a:t>init</a:t>
              </a:r>
              <a:r>
                <a:rPr lang="en-US" sz="1400" noProof="0" dirty="0">
                  <a:solidFill>
                    <a:srgbClr val="000000"/>
                  </a:solidFill>
                  <a:latin typeface="Fira Code" panose="020B0809050000020004" pitchFamily="49" charset="0"/>
                </a:rPr>
                <a:t>(</a:t>
              </a:r>
              <a:r>
                <a:rPr lang="en-US" sz="1400" noProof="0" dirty="0">
                  <a:solidFill>
                    <a:srgbClr val="001080"/>
                  </a:solidFill>
                  <a:latin typeface="Fira Code" panose="020B0809050000020004" pitchFamily="49" charset="0"/>
                </a:rPr>
                <a:t>index</a:t>
              </a:r>
              <a:r>
                <a:rPr lang="en-US" sz="1400" noProof="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noProof="0" dirty="0" err="1">
                  <a:solidFill>
                    <a:srgbClr val="795E26"/>
                  </a:solidFill>
                  <a:effectLst/>
                  <a:latin typeface="Fira Code" panose="020B0809050000020004" pitchFamily="49" charset="0"/>
                </a:rPr>
                <a:t>tbb_for_each</a:t>
              </a:r>
              <a:r>
                <a:rPr lang="en-US" sz="1400" noProof="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noProof="0" dirty="0" err="1">
                  <a:solidFill>
                    <a:srgbClr val="795E26"/>
                  </a:solidFill>
                  <a:latin typeface="Fira Code" panose="020B0809050000020004" pitchFamily="49" charset="0"/>
                </a:rPr>
                <a:t>init</a:t>
              </a:r>
              <a:r>
                <a:rPr lang="en-US" sz="1400" noProof="0" dirty="0">
                  <a:solidFill>
                    <a:srgbClr val="000000"/>
                  </a:solidFill>
                  <a:latin typeface="Fira Code" panose="020B0809050000020004" pitchFamily="49" charset="0"/>
                </a:rPr>
                <a:t>(</a:t>
              </a:r>
              <a:r>
                <a:rPr lang="en-US" sz="1400" noProof="0" dirty="0">
                  <a:solidFill>
                    <a:srgbClr val="001080"/>
                  </a:solidFill>
                  <a:latin typeface="Fira Code" panose="020B0809050000020004" pitchFamily="49" charset="0"/>
                </a:rPr>
                <a:t>index</a:t>
              </a:r>
              <a:r>
                <a:rPr lang="en-US" sz="1400" noProof="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noProof="0" dirty="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8/29/2026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4" name="Flowchart: Process 3">
            <a:extLst>
              <a:ext uri="{FF2B5EF4-FFF2-40B4-BE49-F238E27FC236}">
                <a16:creationId xmlns:a16="http://schemas.microsoft.com/office/drawing/2014/main" id="{1A3646A4-0501-E64C-9EBA-2A5D70FCC45E}"/>
              </a:ext>
            </a:extLst>
          </p:cNvPr>
          <p:cNvSpPr/>
          <p:nvPr/>
        </p:nvSpPr>
        <p:spPr>
          <a:xfrm>
            <a:off x="2719349"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6756788"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noProof="0" dirty="0" err="1"/>
              <a:t>autotuner</a:t>
            </a:r>
            <a:r>
              <a:rPr lang="en-US"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642964"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605927" y="17730"/>
            <a:ext cx="187902" cy="596105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3949108" y="3152109"/>
            <a:ext cx="3501536" cy="369332"/>
          </a:xfrm>
          <a:prstGeom prst="rect">
            <a:avLst/>
          </a:prstGeom>
          <a:noFill/>
        </p:spPr>
        <p:txBody>
          <a:bodyPr wrap="none" rtlCol="0">
            <a:spAutoFit/>
          </a:bodyPr>
          <a:lstStyle/>
          <a:p>
            <a:pPr algn="ctr"/>
            <a:r>
              <a:rPr lang="en-US" noProof="0" dirty="0"/>
              <a:t>Too much boilerplate, error-prone</a:t>
            </a:r>
          </a:p>
        </p:txBody>
      </p:sp>
      <p:sp>
        <p:nvSpPr>
          <p:cNvPr id="15" name="Arrow: Down 14">
            <a:extLst>
              <a:ext uri="{FF2B5EF4-FFF2-40B4-BE49-F238E27FC236}">
                <a16:creationId xmlns:a16="http://schemas.microsoft.com/office/drawing/2014/main" id="{6270A02A-F64D-1590-FA37-729E2E1BC765}"/>
              </a:ext>
            </a:extLst>
          </p:cNvPr>
          <p:cNvSpPr/>
          <p:nvPr/>
        </p:nvSpPr>
        <p:spPr>
          <a:xfrm>
            <a:off x="5200214"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cxnSp>
        <p:nvCxnSpPr>
          <p:cNvPr id="21" name="Straight Arrow Connector 20">
            <a:extLst>
              <a:ext uri="{FF2B5EF4-FFF2-40B4-BE49-F238E27FC236}">
                <a16:creationId xmlns:a16="http://schemas.microsoft.com/office/drawing/2014/main" id="{A517191D-6E0A-AA15-0D0A-F36C9AFA3E26}"/>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7DDBBE2-A63E-674B-08AE-0EFF57E0FE30}"/>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DEE38BC2-DE6F-53AE-919A-9277CD5405A3}"/>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2273315"/>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r>
              <a:rPr lang="en-US" dirty="0">
                <a:solidFill>
                  <a:srgbClr val="267F99"/>
                </a:solidFill>
                <a:latin typeface="Fira Code" panose="020B0809050000020004" pitchFamily="49" charset="0"/>
              </a:rPr>
              <a:t>auto Tile</a:t>
            </a:r>
            <a:r>
              <a:rPr lang="en-US" dirty="0">
                <a:solidFill>
                  <a:srgbClr val="000000"/>
                </a:solidFill>
                <a:latin typeface="Fira Code" panose="020B0809050000020004" pitchFamily="49" charset="0"/>
              </a:rPr>
              <a:t> = …</a:t>
            </a: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b="0" noProof="0" dirty="0">
                <a:solidFill>
                  <a:srgbClr val="000000"/>
                </a:solidFill>
                <a:effectLst/>
                <a:latin typeface="Fira Code" panose="020B0809050000020004" pitchFamily="49" charset="0"/>
              </a:rPr>
              <a:t> | [&amp;](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7615841" y="3384350"/>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2" name="TextBox 51">
            <a:extLst>
              <a:ext uri="{FF2B5EF4-FFF2-40B4-BE49-F238E27FC236}">
                <a16:creationId xmlns:a16="http://schemas.microsoft.com/office/drawing/2014/main" id="{BDF331C8-C8ED-B5C4-3373-8B0D250696A0}"/>
              </a:ext>
            </a:extLst>
          </p:cNvPr>
          <p:cNvSpPr txBox="1"/>
          <p:nvPr/>
        </p:nvSpPr>
        <p:spPr>
          <a:xfrm>
            <a:off x="7940038" y="3658171"/>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547061" y="4461432"/>
            <a:ext cx="2169440" cy="369332"/>
          </a:xfrm>
          <a:prstGeom prst="rect">
            <a:avLst/>
          </a:prstGeom>
          <a:noFill/>
        </p:spPr>
        <p:txBody>
          <a:bodyPr wrap="none" rtlCol="0">
            <a:spAutoFit/>
          </a:bodyPr>
          <a:lstStyle/>
          <a:p>
            <a:r>
              <a:rPr lang="en-US" dirty="0"/>
              <a:t>Computation nodes</a:t>
            </a:r>
          </a:p>
        </p:txBody>
      </p:sp>
      <p:cxnSp>
        <p:nvCxnSpPr>
          <p:cNvPr id="63" name="Straight Arrow Connector 62">
            <a:extLst>
              <a:ext uri="{FF2B5EF4-FFF2-40B4-BE49-F238E27FC236}">
                <a16:creationId xmlns:a16="http://schemas.microsoft.com/office/drawing/2014/main" id="{9780762E-A23C-5469-71C2-48809E66AA91}"/>
              </a:ext>
            </a:extLst>
          </p:cNvPr>
          <p:cNvCxnSpPr/>
          <p:nvPr/>
        </p:nvCxnSpPr>
        <p:spPr>
          <a:xfrm flipH="1">
            <a:off x="5493380" y="2868843"/>
            <a:ext cx="85759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0589E420-67E2-ACC3-4070-A0BB22EE89A0}"/>
              </a:ext>
            </a:extLst>
          </p:cNvPr>
          <p:cNvSpPr txBox="1"/>
          <p:nvPr/>
        </p:nvSpPr>
        <p:spPr>
          <a:xfrm>
            <a:off x="6350978" y="2671479"/>
            <a:ext cx="3662477" cy="369332"/>
          </a:xfrm>
          <a:prstGeom prst="rect">
            <a:avLst/>
          </a:prstGeom>
          <a:noFill/>
        </p:spPr>
        <p:txBody>
          <a:bodyPr wrap="none" rtlCol="0">
            <a:spAutoFit/>
          </a:bodyPr>
          <a:lstStyle/>
          <a:p>
            <a:r>
              <a:rPr lang="en-US" dirty="0"/>
              <a:t>Define using dimensions of </a:t>
            </a:r>
            <a:r>
              <a:rPr lang="en-US" dirty="0" err="1"/>
              <a:t>MPItrav</a:t>
            </a:r>
            <a:endParaRPr lang="en-US" dirty="0"/>
          </a:p>
        </p:txBody>
      </p: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8/29/2026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100829" y="4624428"/>
            <a:ext cx="2791342" cy="369332"/>
          </a:xfrm>
          <a:prstGeom prst="rect">
            <a:avLst/>
          </a:prstGeom>
          <a:noFill/>
        </p:spPr>
        <p:txBody>
          <a:bodyPr wrap="none" rtlCol="0">
            <a:spAutoFit/>
          </a:bodyPr>
          <a:lstStyle/>
          <a:p>
            <a:r>
              <a:rPr lang="en-US" noProof="0" dirty="0"/>
              <a:t>Preserves </a:t>
            </a:r>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731828" y="4466362"/>
            <a:ext cx="2929648" cy="369332"/>
          </a:xfrm>
          <a:prstGeom prst="rect">
            <a:avLst/>
          </a:prstGeom>
          <a:noFill/>
        </p:spPr>
        <p:txBody>
          <a:bodyPr wrap="none" rtlCol="0">
            <a:spAutoFit/>
          </a:bodyPr>
          <a:lstStyle/>
          <a:p>
            <a:r>
              <a:rPr lang="en-US" noProof="0" dirty="0"/>
              <a:t>Preserves </a:t>
            </a:r>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934595" y="1810235"/>
            <a:ext cx="2470005" cy="919943"/>
            <a:chOff x="8934595" y="1810235"/>
            <a:chExt cx="2470005" cy="919943"/>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7688"/>
                <a:gd name="adj2" fmla="val 153247"/>
                <a:gd name="adj3" fmla="val 16667"/>
              </a:avLst>
            </a:prstGeom>
            <a:solidFill>
              <a:srgbClr val="79BEED"/>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111916"/>
                <a:gd name="adj2" fmla="val -72812"/>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latin typeface="Fira Code" panose="020B0809050000020004" pitchFamily="49" charset="0"/>
                  <a:ea typeface="Fira Code" panose="020B0809050000020004" pitchFamily="49" charset="0"/>
                  <a:cs typeface="Fira Code" panose="020B0809050000020004" pitchFamily="49" charset="0"/>
                </a:rPr>
                <a:t>bcast</a:t>
              </a:r>
              <a:r>
                <a:rPr lang="en-US" dirty="0"/>
                <a:t>, </a:t>
              </a:r>
              <a:r>
                <a:rPr lang="en-US" dirty="0">
                  <a:latin typeface="Fira Code" panose="020B0809050000020004" pitchFamily="49" charset="0"/>
                  <a:ea typeface="Fira Code" panose="020B0809050000020004" pitchFamily="49" charset="0"/>
                  <a:cs typeface="Fira Code" panose="020B0809050000020004" pitchFamily="49" charset="0"/>
                </a:rPr>
                <a:t>scatter</a:t>
              </a:r>
              <a:r>
                <a:rPr lang="en-US" dirty="0"/>
                <a:t>, </a:t>
              </a:r>
              <a:r>
                <a:rPr lang="en-US" dirty="0">
                  <a:latin typeface="Fira Code" panose="020B0809050000020004" pitchFamily="49" charset="0"/>
                  <a:ea typeface="Fira Code" panose="020B0809050000020004" pitchFamily="49" charset="0"/>
                  <a:cs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67962" y="2629269"/>
              <a:ext cx="623887" cy="100909"/>
            </a:xfrm>
            <a:prstGeom prst="roundRect">
              <a:avLst>
                <a:gd name="adj" fmla="val 50000"/>
              </a:avLst>
            </a:prstGeom>
            <a:solidFill>
              <a:srgbClr val="7ABEED"/>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1794862" y="3305637"/>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733204" y="1356359"/>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089290" cy="369332"/>
          </a:xfrm>
          <a:prstGeom prst="rect">
            <a:avLst/>
          </a:prstGeom>
          <a:noFill/>
        </p:spPr>
        <p:txBody>
          <a:bodyPr wrap="none" rtlCol="0">
            <a:spAutoFit/>
          </a:bodyPr>
          <a:lstStyle/>
          <a:p>
            <a:r>
              <a:rPr lang="en-US" dirty="0"/>
              <a:t>Weather prediction</a:t>
            </a:r>
          </a:p>
        </p:txBody>
      </p:sp>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1935145" cy="369332"/>
          </a:xfrm>
          <a:prstGeom prst="rect">
            <a:avLst/>
          </a:prstGeom>
          <a:noFill/>
        </p:spPr>
        <p:txBody>
          <a:bodyPr wrap="none" rtlCol="0">
            <a:spAutoFit/>
          </a:bodyPr>
          <a:lstStyle/>
          <a:p>
            <a:r>
              <a:rPr lang="en-US" dirty="0"/>
              <a:t>Image processing</a:t>
            </a:r>
          </a:p>
        </p:txBody>
      </p:sp>
      <p:sp>
        <p:nvSpPr>
          <p:cNvPr id="17" name="TextBox 16">
            <a:extLst>
              <a:ext uri="{FF2B5EF4-FFF2-40B4-BE49-F238E27FC236}">
                <a16:creationId xmlns:a16="http://schemas.microsoft.com/office/drawing/2014/main" id="{EDBA9A01-C547-889B-493B-188DC700AFAE}"/>
              </a:ext>
            </a:extLst>
          </p:cNvPr>
          <p:cNvSpPr txBox="1"/>
          <p:nvPr/>
        </p:nvSpPr>
        <p:spPr>
          <a:xfrm>
            <a:off x="4748692" y="2585231"/>
            <a:ext cx="2934778" cy="369332"/>
          </a:xfrm>
          <a:prstGeom prst="rect">
            <a:avLst/>
          </a:prstGeom>
          <a:noFill/>
        </p:spPr>
        <p:txBody>
          <a:bodyPr wrap="none" rtlCol="0">
            <a:spAutoFit/>
          </a:bodyPr>
          <a:lstStyle/>
          <a:p>
            <a:r>
              <a:rPr lang="en-US"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730706" y="2961728"/>
            <a:ext cx="970750" cy="970750"/>
          </a:xfrm>
          <a:prstGeom prst="rect">
            <a:avLst/>
          </a:prstGeom>
        </p:spPr>
      </p:pic>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7BF11FBE-6E66-AF47-90FB-A53F1CB69841}"/>
                  </a:ext>
                </a:extLst>
              </p:cNvPr>
              <p:cNvSpPr txBox="1"/>
              <p:nvPr/>
            </p:nvSpPr>
            <p:spPr>
              <a:xfrm>
                <a:off x="2512745" y="3850171"/>
                <a:ext cx="6677790" cy="369332"/>
              </a:xfrm>
              <a:prstGeom prst="rect">
                <a:avLst/>
              </a:prstGeom>
              <a:noFill/>
            </p:spPr>
            <p:txBody>
              <a:bodyPr wrap="none" rtlCol="0">
                <a:spAutoFit/>
              </a:bodyPr>
              <a:lstStyle/>
              <a:p>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𝑡</m:t>
                          </m:r>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−1, </m:t>
                          </m:r>
                          <m:r>
                            <a:rPr lang="en-US" b="0" i="1" smtClean="0">
                              <a:latin typeface="Cambria Math" panose="02040503050406030204" pitchFamily="18" charset="0"/>
                            </a:rPr>
                            <m:t>𝑦</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𝑡</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 </m:t>
                          </m:r>
                          <m:r>
                            <a:rPr lang="en-US" i="1">
                              <a:latin typeface="Cambria Math" panose="02040503050406030204" pitchFamily="18" charset="0"/>
                            </a:rPr>
                            <m:t>𝑦</m:t>
                          </m:r>
                          <m:r>
                            <a:rPr lang="en-US" b="0" i="1" smtClean="0">
                              <a:latin typeface="Cambria Math" panose="02040503050406030204" pitchFamily="18" charset="0"/>
                            </a:rPr>
                            <m:t>−1</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𝑡</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b="0" i="1" smtClean="0">
                              <a:latin typeface="Cambria Math" panose="02040503050406030204" pitchFamily="18" charset="0"/>
                            </a:rPr>
                            <m:t>+</m:t>
                          </m:r>
                          <m:r>
                            <a:rPr lang="en-US" i="1">
                              <a:latin typeface="Cambria Math" panose="02040503050406030204" pitchFamily="18" charset="0"/>
                            </a:rPr>
                            <m:t>1, </m:t>
                          </m:r>
                          <m:r>
                            <a:rPr lang="en-US" i="1">
                              <a:latin typeface="Cambria Math" panose="02040503050406030204" pitchFamily="18" charset="0"/>
                            </a:rPr>
                            <m:t>𝑦</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𝑡</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 </m:t>
                          </m:r>
                          <m:r>
                            <a:rPr lang="en-US" i="1">
                              <a:latin typeface="Cambria Math" panose="02040503050406030204" pitchFamily="18" charset="0"/>
                            </a:rPr>
                            <m:t>𝑦</m:t>
                          </m:r>
                          <m:r>
                            <a:rPr lang="en-US" b="0" i="1" smtClean="0">
                              <a:latin typeface="Cambria Math" panose="02040503050406030204" pitchFamily="18" charset="0"/>
                            </a:rPr>
                            <m:t>+1</m:t>
                          </m:r>
                        </m:e>
                      </m:d>
                      <m:r>
                        <a:rPr lang="en-US" b="0" i="1" smtClean="0">
                          <a:latin typeface="Cambria Math" panose="02040503050406030204" pitchFamily="18" charset="0"/>
                        </a:rPr>
                        <m:t>)</m:t>
                      </m:r>
                    </m:oMath>
                  </m:oMathPara>
                </a14:m>
                <a:endParaRPr lang="en-US" dirty="0"/>
              </a:p>
            </p:txBody>
          </p:sp>
        </mc:Choice>
        <mc:Fallback>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512745" y="3850171"/>
                <a:ext cx="6677790" cy="369332"/>
              </a:xfrm>
              <a:prstGeom prst="rect">
                <a:avLst/>
              </a:prstGeom>
              <a:blipFill>
                <a:blip r:embed="rId6"/>
                <a:stretch>
                  <a:fillRect b="-1333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00085155-9776-5628-AC7C-0E24C456238E}"/>
              </a:ext>
            </a:extLst>
          </p:cNvPr>
          <p:cNvSpPr txBox="1"/>
          <p:nvPr/>
        </p:nvSpPr>
        <p:spPr>
          <a:xfrm>
            <a:off x="4856814" y="5114046"/>
            <a:ext cx="2478371" cy="369332"/>
          </a:xfrm>
          <a:prstGeom prst="rect">
            <a:avLst/>
          </a:prstGeom>
          <a:noFill/>
        </p:spPr>
        <p:txBody>
          <a:bodyPr wrap="none" rtlCol="0">
            <a:spAutoFit/>
          </a:bodyPr>
          <a:lstStyle/>
          <a:p>
            <a:r>
              <a:rPr lang="en-US" dirty="0"/>
              <a:t>Can we abstract more?</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248256" y="3381228"/>
            <a:ext cx="2966389" cy="369332"/>
          </a:xfrm>
          <a:prstGeom prst="rect">
            <a:avLst/>
          </a:prstGeom>
          <a:noFill/>
        </p:spPr>
        <p:txBody>
          <a:bodyPr wrap="none" rtlCol="0">
            <a:spAutoFit/>
          </a:bodyPr>
          <a:lstStyle/>
          <a:p>
            <a:r>
              <a:rPr lang="en-US" noProof="0" dirty="0"/>
              <a:t>Update rule for Game of Life</a:t>
            </a:r>
          </a:p>
        </p:txBody>
      </p:sp>
      <p:sp>
        <p:nvSpPr>
          <p:cNvPr id="46" name="TextBox 45">
            <a:extLst>
              <a:ext uri="{FF2B5EF4-FFF2-40B4-BE49-F238E27FC236}">
                <a16:creationId xmlns:a16="http://schemas.microsoft.com/office/drawing/2014/main" id="{0F7A28B7-7C76-0D69-D0F9-D698CC5C32FC}"/>
              </a:ext>
            </a:extLst>
          </p:cNvPr>
          <p:cNvSpPr txBox="1"/>
          <p:nvPr/>
        </p:nvSpPr>
        <p:spPr>
          <a:xfrm>
            <a:off x="5992066" y="4234086"/>
            <a:ext cx="6096000" cy="1752531"/>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using</a:t>
            </a:r>
            <a:r>
              <a:rPr lang="en-US" sz="1600" b="0" noProof="0" dirty="0">
                <a:solidFill>
                  <a:srgbClr val="000000"/>
                </a:solidFill>
                <a:effectLst/>
                <a:latin typeface="Fira Code" panose="020B0809050000020004" pitchFamily="49" charset="0"/>
              </a:rPr>
              <a:t> </a:t>
            </a:r>
            <a:r>
              <a:rPr lang="en-US" sz="1600" b="0" noProof="0" dirty="0" err="1">
                <a:solidFill>
                  <a:srgbClr val="267F99"/>
                </a:solidFill>
                <a:effectLst/>
                <a:latin typeface="Fira Code" panose="020B0809050000020004" pitchFamily="49" charset="0"/>
              </a:rPr>
              <a:t>gol_rule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noProof="0" dirty="0">
                <a:solidFill>
                  <a:srgbClr val="AF00DB"/>
                </a:solidFill>
                <a:latin typeface="Fira Code" panose="020B0809050000020004" pitchFamily="49" charset="0"/>
              </a:rPr>
              <a:t>if_</a:t>
            </a:r>
            <a:r>
              <a:rPr lang="en-US" sz="1600" b="0" noProof="0" dirty="0">
                <a:solidFill>
                  <a:srgbClr val="000000"/>
                </a:solidFill>
                <a:effectLst/>
                <a:latin typeface="Fira Code" panose="020B0809050000020004" pitchFamily="49" charset="0"/>
              </a:rPr>
              <a:t>&lt;</a:t>
            </a:r>
            <a:r>
              <a:rPr lang="en-US" sz="1600" noProof="0" dirty="0" err="1">
                <a:solidFill>
                  <a:srgbClr val="001080"/>
                </a:solidFill>
                <a:latin typeface="Fira Code" panose="020B0809050000020004" pitchFamily="49" charset="0"/>
              </a:rPr>
              <a:t>is_alive</a:t>
            </a:r>
            <a:r>
              <a:rPr lang="en-US" sz="1600" b="0" noProof="0" dirty="0">
                <a:solidFill>
                  <a:srgbClr val="000000"/>
                </a:solidFill>
                <a:effectLst/>
                <a:latin typeface="Fira Code" panose="020B0809050000020004" pitchFamily="49" charset="0"/>
              </a:rPr>
              <a:t>&gt;::</a:t>
            </a:r>
            <a:r>
              <a:rPr lang="en-US" sz="1600" b="0" noProof="0" dirty="0">
                <a:effectLst/>
                <a:latin typeface="Fira Code" panose="020B0809050000020004" pitchFamily="49" charset="0"/>
              </a:rPr>
              <a:t>then_</a:t>
            </a:r>
            <a:r>
              <a:rPr lang="en-US" sz="1600" b="0" noProof="0" dirty="0">
                <a:solidFill>
                  <a:srgbClr val="000000"/>
                </a:solidFill>
                <a:effectLst/>
                <a:latin typeface="Fira Code" panose="020B0809050000020004" pitchFamily="49" charset="0"/>
              </a:rPr>
              <a:t>&lt;</a:t>
            </a:r>
          </a:p>
          <a:p>
            <a:pPr>
              <a:lnSpc>
                <a:spcPct val="113095"/>
              </a:lnSpc>
              <a:buNone/>
            </a:pPr>
            <a:r>
              <a:rPr lang="en-US" sz="1600" b="0" noProof="0" dirty="0">
                <a:solidFill>
                  <a:srgbClr val="000000"/>
                </a:solidFill>
                <a:effectLst/>
                <a:latin typeface="Fira Code" panose="020B0809050000020004" pitchFamily="49" charset="0"/>
              </a:rPr>
              <a:t>    </a:t>
            </a:r>
            <a:r>
              <a:rPr lang="en-US" sz="1600" noProof="0" dirty="0">
                <a:solidFill>
                  <a:srgbClr val="AF00DB"/>
                </a:solidFill>
                <a:latin typeface="Fira Code" panose="020B0809050000020004" pitchFamily="49" charset="0"/>
              </a:rPr>
              <a:t>if_</a:t>
            </a:r>
            <a:r>
              <a:rPr lang="en-US" sz="1600" b="0" noProof="0" dirty="0">
                <a:solidFill>
                  <a:srgbClr val="000000"/>
                </a:solidFill>
                <a:effectLst/>
                <a:latin typeface="Fira Code" panose="020B0809050000020004" pitchFamily="49" charset="0"/>
              </a:rPr>
              <a:t>&lt;</a:t>
            </a:r>
            <a:r>
              <a:rPr lang="en-US" sz="1600" noProof="0" dirty="0">
                <a:solidFill>
                  <a:srgbClr val="001080"/>
                </a:solidFill>
                <a:latin typeface="Fira Code" panose="020B0809050000020004" pitchFamily="49" charset="0"/>
              </a:rPr>
              <a:t>has3_or_2</a:t>
            </a:r>
            <a:r>
              <a:rPr lang="en-US" sz="1600" b="0" noProof="0" dirty="0">
                <a:solidFill>
                  <a:srgbClr val="000000"/>
                </a:solidFill>
                <a:effectLst/>
                <a:latin typeface="Fira Code" panose="020B0809050000020004" pitchFamily="49" charset="0"/>
              </a:rPr>
              <a:t>&gt;::</a:t>
            </a:r>
            <a:r>
              <a:rPr lang="en-US" sz="1600" b="0" noProof="0" dirty="0">
                <a:effectLst/>
                <a:latin typeface="Fira Code" panose="020B0809050000020004" pitchFamily="49" charset="0"/>
              </a:rPr>
              <a:t>then_</a:t>
            </a:r>
            <a:r>
              <a:rPr lang="en-US" sz="1600" b="0" noProof="0" dirty="0">
                <a:solidFill>
                  <a:srgbClr val="000000"/>
                </a:solidFill>
                <a:effectLst/>
                <a:latin typeface="Fira Code" panose="020B0809050000020004" pitchFamily="49" charset="0"/>
              </a:rPr>
              <a:t>&lt;</a:t>
            </a:r>
            <a:r>
              <a:rPr lang="en-US" sz="1600" b="0" noProof="0" dirty="0">
                <a:solidFill>
                  <a:srgbClr val="267F99"/>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&gt;::</a:t>
            </a:r>
            <a:r>
              <a:rPr lang="en-US" sz="1600" noProof="0" dirty="0">
                <a:solidFill>
                  <a:srgbClr val="AF00DB"/>
                </a:solidFill>
                <a:latin typeface="Fira Code" panose="020B0809050000020004" pitchFamily="49" charset="0"/>
              </a:rPr>
              <a:t>else_</a:t>
            </a:r>
            <a:r>
              <a:rPr lang="en-US" sz="1600" b="0" noProof="0" dirty="0">
                <a:solidFill>
                  <a:srgbClr val="000000"/>
                </a:solidFill>
                <a:effectLst/>
                <a:latin typeface="Fira Code" panose="020B0809050000020004" pitchFamily="49" charset="0"/>
              </a:rPr>
              <a:t>&lt;</a:t>
            </a:r>
            <a:r>
              <a:rPr lang="en-US" sz="1600" b="0" noProof="0" dirty="0">
                <a:solidFill>
                  <a:srgbClr val="267F99"/>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&gt;</a:t>
            </a:r>
            <a:endParaRPr lang="en-US" sz="1600" dirty="0">
              <a:solidFill>
                <a:srgbClr val="000000"/>
              </a:solidFill>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&gt;::</a:t>
            </a:r>
            <a:r>
              <a:rPr lang="en-US" sz="1600" noProof="0" dirty="0">
                <a:solidFill>
                  <a:srgbClr val="AF00DB"/>
                </a:solidFill>
                <a:latin typeface="Fira Code" panose="020B0809050000020004" pitchFamily="49" charset="0"/>
              </a:rPr>
              <a:t>else_</a:t>
            </a:r>
            <a:r>
              <a:rPr lang="en-US" sz="1600" b="0" noProof="0" dirty="0">
                <a:solidFill>
                  <a:srgbClr val="000000"/>
                </a:solidFill>
                <a:effectLst/>
                <a:latin typeface="Fira Code" panose="020B0809050000020004" pitchFamily="49" charset="0"/>
              </a:rPr>
              <a:t>&lt;</a:t>
            </a:r>
          </a:p>
          <a:p>
            <a:pPr>
              <a:lnSpc>
                <a:spcPct val="113095"/>
              </a:lnSpc>
              <a:buNone/>
            </a:pPr>
            <a:r>
              <a:rPr lang="en-US" sz="1600" b="0" noProof="0" dirty="0">
                <a:solidFill>
                  <a:srgbClr val="000000"/>
                </a:solidFill>
                <a:effectLst/>
                <a:latin typeface="Fira Code" panose="020B0809050000020004" pitchFamily="49" charset="0"/>
              </a:rPr>
              <a:t>    </a:t>
            </a:r>
            <a:r>
              <a:rPr lang="en-US" sz="1600" noProof="0" dirty="0">
                <a:solidFill>
                  <a:srgbClr val="AF00DB"/>
                </a:solidFill>
                <a:latin typeface="Fira Code" panose="020B0809050000020004" pitchFamily="49" charset="0"/>
              </a:rPr>
              <a:t>if_</a:t>
            </a:r>
            <a:r>
              <a:rPr lang="en-US" sz="1600" b="0" noProof="0" dirty="0">
                <a:solidFill>
                  <a:srgbClr val="000000"/>
                </a:solidFill>
                <a:effectLst/>
                <a:latin typeface="Fira Code" panose="020B0809050000020004" pitchFamily="49" charset="0"/>
              </a:rPr>
              <a:t>&lt;</a:t>
            </a:r>
            <a:r>
              <a:rPr lang="en-US" sz="1600" noProof="0" dirty="0">
                <a:solidFill>
                  <a:srgbClr val="001080"/>
                </a:solidFill>
                <a:latin typeface="Fira Code" panose="020B0809050000020004" pitchFamily="49" charset="0"/>
              </a:rPr>
              <a:t>has3</a:t>
            </a:r>
            <a:r>
              <a:rPr lang="en-US" sz="1600" b="0" noProof="0" dirty="0">
                <a:solidFill>
                  <a:srgbClr val="000000"/>
                </a:solidFill>
                <a:effectLst/>
                <a:latin typeface="Fira Code" panose="020B0809050000020004" pitchFamily="49" charset="0"/>
              </a:rPr>
              <a:t>&gt;::</a:t>
            </a:r>
            <a:r>
              <a:rPr lang="en-US" sz="1600" b="0" noProof="0" dirty="0">
                <a:effectLst/>
                <a:latin typeface="Fira Code" panose="020B0809050000020004" pitchFamily="49" charset="0"/>
              </a:rPr>
              <a:t>then_</a:t>
            </a:r>
            <a:r>
              <a:rPr lang="en-US" sz="1600" b="0" noProof="0" dirty="0">
                <a:solidFill>
                  <a:srgbClr val="000000"/>
                </a:solidFill>
                <a:effectLst/>
                <a:latin typeface="Fira Code" panose="020B0809050000020004" pitchFamily="49" charset="0"/>
              </a:rPr>
              <a:t>&lt;</a:t>
            </a:r>
            <a:r>
              <a:rPr lang="en-US" sz="1600" b="0" noProof="0" dirty="0">
                <a:solidFill>
                  <a:srgbClr val="267F99"/>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&gt;::</a:t>
            </a:r>
            <a:r>
              <a:rPr lang="en-US" sz="1600" noProof="0" dirty="0">
                <a:solidFill>
                  <a:srgbClr val="AF00DB"/>
                </a:solidFill>
                <a:latin typeface="Fira Code" panose="020B0809050000020004" pitchFamily="49" charset="0"/>
              </a:rPr>
              <a:t>else_</a:t>
            </a:r>
            <a:r>
              <a:rPr lang="en-US" sz="1600" b="0" noProof="0" dirty="0">
                <a:solidFill>
                  <a:srgbClr val="000000"/>
                </a:solidFill>
                <a:effectLst/>
                <a:latin typeface="Fira Code" panose="020B0809050000020004" pitchFamily="49" charset="0"/>
              </a:rPr>
              <a:t>&lt;</a:t>
            </a:r>
            <a:r>
              <a:rPr lang="en-US" sz="1600" b="0" noProof="0" dirty="0">
                <a:solidFill>
                  <a:srgbClr val="267F99"/>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&gt;</a:t>
            </a:r>
          </a:p>
          <a:p>
            <a:pPr>
              <a:lnSpc>
                <a:spcPct val="113095"/>
              </a:lnSpc>
              <a:buNone/>
            </a:pPr>
            <a:r>
              <a:rPr lang="en-US" sz="1600" b="0" noProof="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64782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B0BF9745-75CB-C855-CD93-BB61357ED979}"/>
              </a:ext>
            </a:extLst>
          </p:cNvPr>
          <p:cNvSpPr txBox="1"/>
          <p:nvPr/>
        </p:nvSpPr>
        <p:spPr>
          <a:xfrm>
            <a:off x="7256341" y="3780904"/>
            <a:ext cx="3665171" cy="369332"/>
          </a:xfrm>
          <a:prstGeom prst="rect">
            <a:avLst/>
          </a:prstGeom>
          <a:noFill/>
        </p:spPr>
        <p:txBody>
          <a:bodyPr wrap="none" rtlCol="0">
            <a:spAutoFit/>
          </a:bodyPr>
          <a:lstStyle/>
          <a:p>
            <a:r>
              <a:rPr lang="en-US" noProof="0" dirty="0"/>
              <a:t>Type-level expression (</a:t>
            </a:r>
            <a:r>
              <a:rPr lang="en-US" noProof="0" dirty="0" err="1"/>
              <a:t>Cellato</a:t>
            </a:r>
            <a:r>
              <a:rPr lang="en-US" noProof="0" dirty="0"/>
              <a:t> DSL)</a:t>
            </a:r>
          </a:p>
        </p:txBody>
      </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637132" cy="369332"/>
          </a:xfrm>
          <a:prstGeom prst="rect">
            <a:avLst/>
          </a:prstGeom>
          <a:noFill/>
        </p:spPr>
        <p:txBody>
          <a:bodyPr wrap="none" rtlCol="0">
            <a:spAutoFit/>
          </a:bodyPr>
          <a:lstStyle/>
          <a:p>
            <a:r>
              <a:rPr lang="en-US" dirty="0"/>
              <a:t>Discrete cell state space</a:t>
            </a:r>
          </a:p>
        </p:txBody>
      </p:sp>
    </p:spTree>
    <p:extLst>
      <p:ext uri="{BB962C8B-B14F-4D97-AF65-F5344CB8AC3E}">
        <p14:creationId xmlns:p14="http://schemas.microsoft.com/office/powerpoint/2010/main" val="16641807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noProof="0" dirty="0">
                <a:solidFill>
                  <a:srgbClr val="AF00DB"/>
                </a:solidFill>
                <a:latin typeface="Fira Code" panose="020B0809050000020004" pitchFamily="49" charset="0"/>
              </a:rPr>
              <a:t>using</a:t>
            </a:r>
            <a:r>
              <a:rPr lang="en-US" sz="1400" noProof="0" dirty="0">
                <a:solidFill>
                  <a:srgbClr val="000000"/>
                </a:solidFill>
                <a:latin typeface="Fira Code" panose="020B0809050000020004" pitchFamily="49" charset="0"/>
              </a:rPr>
              <a:t> </a:t>
            </a:r>
            <a:r>
              <a:rPr lang="en-US" sz="1400" noProof="0" dirty="0" err="1">
                <a:solidFill>
                  <a:srgbClr val="267F99"/>
                </a:solidFill>
                <a:latin typeface="Fira Code" panose="020B0809050000020004" pitchFamily="49" charset="0"/>
              </a:rPr>
              <a:t>gol_rule</a:t>
            </a:r>
            <a:r>
              <a:rPr lang="en-US" sz="1400" noProof="0" dirty="0">
                <a:solidFill>
                  <a:srgbClr val="000000"/>
                </a:solidFill>
                <a:latin typeface="Fira Code" panose="020B0809050000020004" pitchFamily="49" charset="0"/>
              </a:rPr>
              <a:t> =</a:t>
            </a:r>
          </a:p>
          <a:p>
            <a:pPr>
              <a:lnSpc>
                <a:spcPct val="113095"/>
              </a:lnSpc>
              <a:buNone/>
            </a:pPr>
            <a:r>
              <a:rPr lang="en-US" sz="1400" noProof="0" dirty="0">
                <a:solidFill>
                  <a:srgbClr val="000000"/>
                </a:solidFill>
                <a:latin typeface="Fira Code" panose="020B0809050000020004" pitchFamily="49" charset="0"/>
              </a:rPr>
              <a:t>  </a:t>
            </a:r>
            <a:r>
              <a:rPr lang="en-US" sz="1400" noProof="0" dirty="0">
                <a:solidFill>
                  <a:srgbClr val="AF00DB"/>
                </a:solidFill>
                <a:latin typeface="Fira Code" panose="020B0809050000020004" pitchFamily="49" charset="0"/>
              </a:rPr>
              <a:t>if_</a:t>
            </a:r>
            <a:r>
              <a:rPr lang="en-US" sz="1400" noProof="0" dirty="0">
                <a:solidFill>
                  <a:srgbClr val="000000"/>
                </a:solidFill>
                <a:latin typeface="Fira Code" panose="020B0809050000020004" pitchFamily="49" charset="0"/>
              </a:rPr>
              <a:t>&lt;</a:t>
            </a:r>
            <a:r>
              <a:rPr lang="en-US" sz="1400" noProof="0" dirty="0" err="1">
                <a:solidFill>
                  <a:srgbClr val="001080"/>
                </a:solidFill>
                <a:latin typeface="Fira Code" panose="020B0809050000020004" pitchFamily="49" charset="0"/>
              </a:rPr>
              <a:t>is_alive</a:t>
            </a:r>
            <a:r>
              <a:rPr lang="en-US" sz="1400" noProof="0" dirty="0">
                <a:solidFill>
                  <a:srgbClr val="000000"/>
                </a:solidFill>
                <a:latin typeface="Fira Code" panose="020B0809050000020004" pitchFamily="49" charset="0"/>
              </a:rPr>
              <a:t>&gt;::</a:t>
            </a:r>
            <a:r>
              <a:rPr lang="en-US" sz="1400" noProof="0" dirty="0">
                <a:latin typeface="Fira Code" panose="020B0809050000020004" pitchFamily="49" charset="0"/>
              </a:rPr>
              <a:t>then_</a:t>
            </a:r>
            <a:r>
              <a:rPr lang="en-US" sz="1400" noProof="0" dirty="0">
                <a:solidFill>
                  <a:srgbClr val="000000"/>
                </a:solidFill>
                <a:latin typeface="Fira Code" panose="020B0809050000020004" pitchFamily="49" charset="0"/>
              </a:rPr>
              <a:t>&lt;</a:t>
            </a:r>
          </a:p>
          <a:p>
            <a:pPr>
              <a:lnSpc>
                <a:spcPct val="113095"/>
              </a:lnSpc>
              <a:buNone/>
            </a:pPr>
            <a:r>
              <a:rPr lang="en-US" sz="1400" noProof="0" dirty="0">
                <a:solidFill>
                  <a:srgbClr val="000000"/>
                </a:solidFill>
                <a:latin typeface="Fira Code" panose="020B0809050000020004" pitchFamily="49" charset="0"/>
              </a:rPr>
              <a:t>    </a:t>
            </a:r>
            <a:r>
              <a:rPr lang="en-US" sz="1400" noProof="0" dirty="0">
                <a:solidFill>
                  <a:srgbClr val="AF00DB"/>
                </a:solidFill>
                <a:latin typeface="Fira Code" panose="020B0809050000020004" pitchFamily="49" charset="0"/>
              </a:rPr>
              <a:t>if_</a:t>
            </a:r>
            <a:r>
              <a:rPr lang="en-US" sz="1400" noProof="0" dirty="0">
                <a:solidFill>
                  <a:srgbClr val="000000"/>
                </a:solidFill>
                <a:latin typeface="Fira Code" panose="020B0809050000020004" pitchFamily="49" charset="0"/>
              </a:rPr>
              <a:t>&lt;</a:t>
            </a:r>
            <a:r>
              <a:rPr lang="en-US" sz="1400" noProof="0" dirty="0">
                <a:solidFill>
                  <a:srgbClr val="001080"/>
                </a:solidFill>
                <a:latin typeface="Fira Code" panose="020B0809050000020004" pitchFamily="49" charset="0"/>
              </a:rPr>
              <a:t>has3_or_2</a:t>
            </a:r>
            <a:r>
              <a:rPr lang="en-US" sz="1400" noProof="0" dirty="0">
                <a:solidFill>
                  <a:srgbClr val="000000"/>
                </a:solidFill>
                <a:latin typeface="Fira Code" panose="020B0809050000020004" pitchFamily="49" charset="0"/>
              </a:rPr>
              <a:t>&gt;::</a:t>
            </a:r>
            <a:r>
              <a:rPr lang="en-US" sz="1400" noProof="0" dirty="0">
                <a:latin typeface="Fira Code" panose="020B0809050000020004" pitchFamily="49" charset="0"/>
              </a:rPr>
              <a:t>then_</a:t>
            </a:r>
            <a:r>
              <a:rPr lang="en-US" sz="1400" noProof="0" dirty="0">
                <a:solidFill>
                  <a:srgbClr val="000000"/>
                </a:solidFill>
                <a:latin typeface="Fira Code" panose="020B0809050000020004" pitchFamily="49" charset="0"/>
              </a:rPr>
              <a:t>&lt;</a:t>
            </a:r>
            <a:r>
              <a:rPr lang="en-US" sz="1400" noProof="0" dirty="0">
                <a:solidFill>
                  <a:srgbClr val="267F99"/>
                </a:solidFill>
                <a:latin typeface="Fira Code" panose="020B0809050000020004" pitchFamily="49" charset="0"/>
              </a:rPr>
              <a:t>alive</a:t>
            </a:r>
            <a:r>
              <a:rPr lang="en-US" sz="1400" noProof="0" dirty="0">
                <a:solidFill>
                  <a:srgbClr val="000000"/>
                </a:solidFill>
                <a:latin typeface="Fira Code" panose="020B0809050000020004" pitchFamily="49" charset="0"/>
              </a:rPr>
              <a:t>&gt;::</a:t>
            </a:r>
            <a:r>
              <a:rPr lang="en-US" sz="1400" noProof="0" dirty="0">
                <a:solidFill>
                  <a:srgbClr val="AF00DB"/>
                </a:solidFill>
                <a:latin typeface="Fira Code" panose="020B0809050000020004" pitchFamily="49" charset="0"/>
              </a:rPr>
              <a:t>else_</a:t>
            </a:r>
            <a:r>
              <a:rPr lang="en-US" sz="1400" noProof="0" dirty="0">
                <a:solidFill>
                  <a:srgbClr val="000000"/>
                </a:solidFill>
                <a:latin typeface="Fira Code" panose="020B0809050000020004" pitchFamily="49" charset="0"/>
              </a:rPr>
              <a:t>&lt;</a:t>
            </a:r>
            <a:r>
              <a:rPr lang="en-US" sz="1400" noProof="0" dirty="0">
                <a:solidFill>
                  <a:srgbClr val="267F99"/>
                </a:solidFill>
                <a:latin typeface="Fira Code" panose="020B0809050000020004" pitchFamily="49" charset="0"/>
              </a:rPr>
              <a:t>dead</a:t>
            </a:r>
            <a:r>
              <a:rPr lang="en-US" sz="1400" noProof="0" dirty="0">
                <a:solidFill>
                  <a:srgbClr val="000000"/>
                </a:solidFill>
                <a:latin typeface="Fira Code" panose="020B0809050000020004" pitchFamily="49" charset="0"/>
              </a:rPr>
              <a:t>&gt;</a:t>
            </a:r>
            <a:br>
              <a:rPr lang="en-US" sz="1400" noProof="0" dirty="0">
                <a:solidFill>
                  <a:srgbClr val="000000"/>
                </a:solidFill>
                <a:latin typeface="Fira Code" panose="020B0809050000020004" pitchFamily="49" charset="0"/>
              </a:rPr>
            </a:br>
            <a:r>
              <a:rPr lang="en-US" sz="1400" noProof="0" dirty="0">
                <a:solidFill>
                  <a:srgbClr val="000000"/>
                </a:solidFill>
                <a:latin typeface="Fira Code" panose="020B0809050000020004" pitchFamily="49" charset="0"/>
              </a:rPr>
              <a:t>  &gt;::</a:t>
            </a:r>
            <a:r>
              <a:rPr lang="en-US" sz="1400" noProof="0" dirty="0">
                <a:solidFill>
                  <a:srgbClr val="AF00DB"/>
                </a:solidFill>
                <a:latin typeface="Fira Code" panose="020B0809050000020004" pitchFamily="49" charset="0"/>
              </a:rPr>
              <a:t>else_</a:t>
            </a:r>
            <a:r>
              <a:rPr lang="en-US" sz="1400" noProof="0" dirty="0">
                <a:solidFill>
                  <a:srgbClr val="000000"/>
                </a:solidFill>
                <a:latin typeface="Fira Code" panose="020B0809050000020004" pitchFamily="49" charset="0"/>
              </a:rPr>
              <a:t>&lt;</a:t>
            </a:r>
          </a:p>
          <a:p>
            <a:pPr>
              <a:lnSpc>
                <a:spcPct val="113095"/>
              </a:lnSpc>
              <a:buNone/>
            </a:pPr>
            <a:r>
              <a:rPr lang="en-US" sz="1400" noProof="0" dirty="0">
                <a:solidFill>
                  <a:srgbClr val="000000"/>
                </a:solidFill>
                <a:latin typeface="Fira Code" panose="020B0809050000020004" pitchFamily="49" charset="0"/>
              </a:rPr>
              <a:t>    </a:t>
            </a:r>
            <a:r>
              <a:rPr lang="en-US" sz="1400" noProof="0" dirty="0">
                <a:solidFill>
                  <a:srgbClr val="AF00DB"/>
                </a:solidFill>
                <a:latin typeface="Fira Code" panose="020B0809050000020004" pitchFamily="49" charset="0"/>
              </a:rPr>
              <a:t>if_</a:t>
            </a:r>
            <a:r>
              <a:rPr lang="en-US" sz="1400" noProof="0" dirty="0">
                <a:solidFill>
                  <a:srgbClr val="000000"/>
                </a:solidFill>
                <a:latin typeface="Fira Code" panose="020B0809050000020004" pitchFamily="49" charset="0"/>
              </a:rPr>
              <a:t>&lt;</a:t>
            </a:r>
            <a:r>
              <a:rPr lang="en-US" sz="1400" noProof="0" dirty="0">
                <a:solidFill>
                  <a:srgbClr val="001080"/>
                </a:solidFill>
                <a:latin typeface="Fira Code" panose="020B0809050000020004" pitchFamily="49" charset="0"/>
              </a:rPr>
              <a:t>has3</a:t>
            </a:r>
            <a:r>
              <a:rPr lang="en-US" sz="1400" noProof="0" dirty="0">
                <a:solidFill>
                  <a:srgbClr val="000000"/>
                </a:solidFill>
                <a:latin typeface="Fira Code" panose="020B0809050000020004" pitchFamily="49" charset="0"/>
              </a:rPr>
              <a:t>&gt;::</a:t>
            </a:r>
            <a:r>
              <a:rPr lang="en-US" sz="1400" noProof="0" dirty="0">
                <a:latin typeface="Fira Code" panose="020B0809050000020004" pitchFamily="49" charset="0"/>
              </a:rPr>
              <a:t>then_</a:t>
            </a:r>
            <a:r>
              <a:rPr lang="en-US" sz="1400" noProof="0" dirty="0">
                <a:solidFill>
                  <a:srgbClr val="000000"/>
                </a:solidFill>
                <a:latin typeface="Fira Code" panose="020B0809050000020004" pitchFamily="49" charset="0"/>
              </a:rPr>
              <a:t>&lt;</a:t>
            </a:r>
            <a:r>
              <a:rPr lang="en-US" sz="1400" noProof="0" dirty="0">
                <a:solidFill>
                  <a:srgbClr val="267F99"/>
                </a:solidFill>
                <a:latin typeface="Fira Code" panose="020B0809050000020004" pitchFamily="49" charset="0"/>
              </a:rPr>
              <a:t>alive</a:t>
            </a:r>
            <a:r>
              <a:rPr lang="en-US" sz="1400" noProof="0" dirty="0">
                <a:solidFill>
                  <a:srgbClr val="000000"/>
                </a:solidFill>
                <a:latin typeface="Fira Code" panose="020B0809050000020004" pitchFamily="49" charset="0"/>
              </a:rPr>
              <a:t>&gt;::</a:t>
            </a:r>
            <a:r>
              <a:rPr lang="en-US" sz="1400" noProof="0" dirty="0">
                <a:solidFill>
                  <a:srgbClr val="AF00DB"/>
                </a:solidFill>
                <a:latin typeface="Fira Code" panose="020B0809050000020004" pitchFamily="49" charset="0"/>
              </a:rPr>
              <a:t>else_</a:t>
            </a:r>
            <a:r>
              <a:rPr lang="en-US" sz="1400" noProof="0" dirty="0">
                <a:solidFill>
                  <a:srgbClr val="000000"/>
                </a:solidFill>
                <a:latin typeface="Fira Code" panose="020B0809050000020004" pitchFamily="49" charset="0"/>
              </a:rPr>
              <a:t>&lt;</a:t>
            </a:r>
            <a:r>
              <a:rPr lang="en-US" sz="1400" noProof="0" dirty="0">
                <a:solidFill>
                  <a:srgbClr val="267F99"/>
                </a:solidFill>
                <a:latin typeface="Fira Code" panose="020B0809050000020004" pitchFamily="49" charset="0"/>
              </a:rPr>
              <a:t>dead</a:t>
            </a:r>
            <a:r>
              <a:rPr lang="en-US" sz="1400" noProof="0" dirty="0">
                <a:solidFill>
                  <a:srgbClr val="000000"/>
                </a:solidFill>
                <a:latin typeface="Fira Code" panose="020B0809050000020004" pitchFamily="49" charset="0"/>
              </a:rPr>
              <a:t>&gt;</a:t>
            </a:r>
          </a:p>
          <a:p>
            <a:pPr>
              <a:lnSpc>
                <a:spcPct val="113095"/>
              </a:lnSpc>
              <a:buNone/>
            </a:pPr>
            <a:r>
              <a:rPr lang="en-US" sz="1400"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noProof="0" dirty="0"/>
              <a:t>Type-level expression (</a:t>
            </a:r>
            <a:r>
              <a:rPr lang="en-US" noProof="0" dirty="0" err="1"/>
              <a:t>Cellato</a:t>
            </a:r>
            <a:r>
              <a:rPr lang="en-US" noProof="0" dirty="0"/>
              <a:t> DSL)</a:t>
            </a:r>
          </a:p>
        </p:txBody>
      </p:sp>
    </p:spTree>
    <p:extLst>
      <p:ext uri="{BB962C8B-B14F-4D97-AF65-F5344CB8AC3E}">
        <p14:creationId xmlns:p14="http://schemas.microsoft.com/office/powerpoint/2010/main" val="28535449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2" y="3807728"/>
            <a:ext cx="2561716" cy="661840"/>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I am an LLM</a:t>
            </a:r>
            <a:br>
              <a:rPr lang="en-US" dirty="0"/>
            </a:br>
            <a:r>
              <a:rPr lang="en-US" dirty="0"/>
              <a:t>and I can do that too</a:t>
            </a:r>
          </a:p>
        </p:txBody>
      </p:sp>
    </p:spTree>
    <p:extLst>
      <p:ext uri="{BB962C8B-B14F-4D97-AF65-F5344CB8AC3E}">
        <p14:creationId xmlns:p14="http://schemas.microsoft.com/office/powerpoint/2010/main" val="32597657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noProof="0" dirty="0"/>
              <a:t>LLMs in HPC</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noProof="0" dirty="0"/>
              <a:t>LLMs capable of writing simple code</a:t>
            </a:r>
          </a:p>
          <a:p>
            <a:pPr lvl="1"/>
            <a:r>
              <a:rPr lang="en-US" noProof="0" dirty="0"/>
              <a:t>Data visualization, simple scripting, …</a:t>
            </a:r>
          </a:p>
          <a:p>
            <a:r>
              <a:rPr lang="en-US" noProof="0" dirty="0"/>
              <a:t>But not high-</a:t>
            </a:r>
            <a:r>
              <a:rPr lang="en-US" noProof="0" dirty="0" err="1"/>
              <a:t>lvl</a:t>
            </a:r>
            <a:r>
              <a:rPr lang="en-US" noProof="0" dirty="0"/>
              <a:t> decisions and parallel algorithms</a:t>
            </a:r>
          </a:p>
          <a:p>
            <a:endParaRPr lang="en-US" noProof="0" dirty="0"/>
          </a:p>
          <a:p>
            <a:endParaRPr lang="en-US" noProof="0" dirty="0"/>
          </a:p>
          <a:p>
            <a:endParaRPr lang="en-US" noProof="0" dirty="0"/>
          </a:p>
          <a:p>
            <a:r>
              <a:rPr lang="en-US" noProof="0" dirty="0"/>
              <a:t>What helps LLMs generate better code?</a:t>
            </a:r>
          </a:p>
          <a:p>
            <a:pPr lvl="1"/>
            <a:r>
              <a:rPr lang="en-US" noProof="0"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pic>
        <p:nvPicPr>
          <p:cNvPr id="11" name="Graphic 10" descr="Robot with solid fill">
            <a:extLst>
              <a:ext uri="{FF2B5EF4-FFF2-40B4-BE49-F238E27FC236}">
                <a16:creationId xmlns:a16="http://schemas.microsoft.com/office/drawing/2014/main" id="{41CECEA7-3178-756D-41C4-D6B0C12E3D7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90046" y="4035437"/>
            <a:ext cx="1788083" cy="1788083"/>
          </a:xfrm>
          <a:prstGeom prst="rect">
            <a:avLst/>
          </a:prstGeom>
        </p:spPr>
      </p:pic>
      <p:sp>
        <p:nvSpPr>
          <p:cNvPr id="13" name="Speech Bubble: Rectangle with Corners Rounded 12">
            <a:extLst>
              <a:ext uri="{FF2B5EF4-FFF2-40B4-BE49-F238E27FC236}">
                <a16:creationId xmlns:a16="http://schemas.microsoft.com/office/drawing/2014/main" id="{AE7025AB-C2BF-48E9-6016-7ED3E2EDADB6}"/>
              </a:ext>
            </a:extLst>
          </p:cNvPr>
          <p:cNvSpPr/>
          <p:nvPr/>
        </p:nvSpPr>
        <p:spPr>
          <a:xfrm>
            <a:off x="9423788" y="3704517"/>
            <a:ext cx="2561716" cy="661840"/>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I am an LLM</a:t>
            </a:r>
            <a:br>
              <a:rPr lang="en-US" dirty="0"/>
            </a:br>
            <a:r>
              <a:rPr lang="en-US" dirty="0"/>
              <a:t>and I can do that too</a:t>
            </a:r>
          </a:p>
        </p:txBody>
      </p:sp>
    </p:spTree>
    <p:extLst>
      <p:ext uri="{BB962C8B-B14F-4D97-AF65-F5344CB8AC3E}">
        <p14:creationId xmlns:p14="http://schemas.microsoft.com/office/powerpoint/2010/main" val="25408518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8/29/2026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en-US" noProof="0"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8/29/2026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880282" y="1690688"/>
            <a:ext cx="1103155" cy="858622"/>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823231" y="2398622"/>
            <a:ext cx="1217256" cy="369332"/>
          </a:xfrm>
          <a:prstGeom prst="rect">
            <a:avLst/>
          </a:prstGeom>
          <a:noFill/>
        </p:spPr>
        <p:txBody>
          <a:bodyPr wrap="none" rtlCol="0">
            <a:spAutoFit/>
          </a:bodyPr>
          <a:lstStyle/>
          <a:p>
            <a:r>
              <a:rPr lang="en-US"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521644" y="1693284"/>
            <a:ext cx="1103155" cy="794271"/>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354787" y="2487555"/>
            <a:ext cx="1436868" cy="369332"/>
          </a:xfrm>
          <a:prstGeom prst="rect">
            <a:avLst/>
          </a:prstGeom>
          <a:noFill/>
        </p:spPr>
        <p:txBody>
          <a:bodyPr wrap="none" rtlCol="0">
            <a:spAutoFit/>
          </a:bodyPr>
          <a:lstStyle/>
          <a:p>
            <a:r>
              <a:rPr lang="en-US"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939099" y="1690688"/>
            <a:ext cx="1103155" cy="796867"/>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939099" y="2484959"/>
            <a:ext cx="1206741" cy="646331"/>
          </a:xfrm>
          <a:prstGeom prst="rect">
            <a:avLst/>
          </a:prstGeom>
          <a:noFill/>
        </p:spPr>
        <p:txBody>
          <a:bodyPr wrap="none" rtlCol="0">
            <a:spAutoFit/>
          </a:bodyPr>
          <a:lstStyle/>
          <a:p>
            <a:pPr algn="ctr"/>
            <a:r>
              <a:rPr lang="en-US" noProof="0" dirty="0"/>
              <a:t>K-Nearest</a:t>
            </a:r>
            <a:br>
              <a:rPr lang="en-US" noProof="0" dirty="0"/>
            </a:br>
            <a:r>
              <a:rPr lang="en-US"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473598" y="3557054"/>
            <a:ext cx="3916521" cy="369332"/>
          </a:xfrm>
          <a:prstGeom prst="rect">
            <a:avLst/>
          </a:prstGeom>
          <a:noFill/>
        </p:spPr>
        <p:txBody>
          <a:bodyPr wrap="none" rtlCol="0">
            <a:spAutoFit/>
          </a:bodyPr>
          <a:lstStyle/>
          <a:p>
            <a:pPr algn="ctr"/>
            <a:r>
              <a:rPr lang="en-US"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6032039" y="3557054"/>
            <a:ext cx="2082365" cy="369332"/>
          </a:xfrm>
          <a:prstGeom prst="rect">
            <a:avLst/>
          </a:prstGeom>
          <a:noFill/>
        </p:spPr>
        <p:txBody>
          <a:bodyPr wrap="none" rtlCol="0">
            <a:spAutoFit/>
          </a:bodyPr>
          <a:lstStyle/>
          <a:p>
            <a:pPr algn="ctr"/>
            <a:r>
              <a:rPr lang="en-US" noProof="0" dirty="0"/>
              <a:t>Bit-</a:t>
            </a:r>
            <a:r>
              <a:rPr lang="en-US" noProof="0" dirty="0" err="1"/>
              <a:t>lvl</a:t>
            </a:r>
            <a:r>
              <a:rPr lang="en-US"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950703" y="3557054"/>
            <a:ext cx="3079946" cy="369332"/>
          </a:xfrm>
          <a:prstGeom prst="rect">
            <a:avLst/>
          </a:prstGeom>
          <a:noFill/>
        </p:spPr>
        <p:txBody>
          <a:bodyPr wrap="none" rtlCol="0">
            <a:spAutoFit/>
          </a:bodyPr>
          <a:lstStyle/>
          <a:p>
            <a:pPr algn="ctr"/>
            <a:r>
              <a:rPr lang="en-US"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14887" y="4530820"/>
            <a:ext cx="1706173" cy="369332"/>
          </a:xfrm>
          <a:prstGeom prst="rect">
            <a:avLst/>
          </a:prstGeom>
          <a:noFill/>
        </p:spPr>
        <p:txBody>
          <a:bodyPr wrap="none" rtlCol="0">
            <a:spAutoFit/>
          </a:bodyPr>
          <a:lstStyle/>
          <a:p>
            <a:r>
              <a:rPr lang="en-US"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210788" y="5189669"/>
            <a:ext cx="1187248" cy="369332"/>
          </a:xfrm>
          <a:prstGeom prst="rect">
            <a:avLst/>
          </a:prstGeom>
          <a:noFill/>
        </p:spPr>
        <p:txBody>
          <a:bodyPr wrap="none" rtlCol="0">
            <a:spAutoFit/>
          </a:bodyPr>
          <a:lstStyle/>
          <a:p>
            <a:r>
              <a:rPr lang="en-US"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62048" y="5848518"/>
            <a:ext cx="1800493" cy="369332"/>
          </a:xfrm>
          <a:prstGeom prst="rect">
            <a:avLst/>
          </a:prstGeom>
          <a:noFill/>
        </p:spPr>
        <p:txBody>
          <a:bodyPr wrap="none" rtlCol="0">
            <a:spAutoFit/>
          </a:bodyPr>
          <a:lstStyle/>
          <a:p>
            <a:r>
              <a:rPr lang="en-US"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GPT-o3-mini</a:t>
            </a:r>
            <a:endParaRPr lang="en-US" sz="2400" noProof="0" dirty="0"/>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rcRect l="2698" r="47262"/>
          <a:stretch>
            <a:fillRect/>
          </a:stretch>
        </p:blipFill>
        <p:spPr>
          <a:xfrm>
            <a:off x="408393" y="2599181"/>
            <a:ext cx="4680138" cy="3692232"/>
          </a:xfrm>
          <a:prstGeom prst="rect">
            <a:avLst/>
          </a:prstGeom>
        </p:spPr>
      </p:pic>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4"/>
          <a:srcRect l="5830" t="5264" r="1424" b="4017"/>
          <a:stretch>
            <a:fillRect/>
          </a:stretch>
        </p:blipFill>
        <p:spPr>
          <a:xfrm>
            <a:off x="5934239" y="2761577"/>
            <a:ext cx="5849368" cy="2994486"/>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TextBox 5">
            <a:extLst>
              <a:ext uri="{FF2B5EF4-FFF2-40B4-BE49-F238E27FC236}">
                <a16:creationId xmlns:a16="http://schemas.microsoft.com/office/drawing/2014/main" id="{72D4F460-314F-F2C1-B648-8D4D93BCB4E5}"/>
              </a:ext>
            </a:extLst>
          </p:cNvPr>
          <p:cNvSpPr txBox="1"/>
          <p:nvPr/>
        </p:nvSpPr>
        <p:spPr>
          <a:xfrm>
            <a:off x="2364144" y="22298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391244" y="2229849"/>
            <a:ext cx="1436612" cy="369332"/>
          </a:xfrm>
          <a:prstGeom prst="rect">
            <a:avLst/>
          </a:prstGeom>
          <a:noFill/>
        </p:spPr>
        <p:txBody>
          <a:bodyPr wrap="none" rtlCol="0">
            <a:spAutoFit/>
          </a:bodyPr>
          <a:lstStyle/>
          <a:p>
            <a:r>
              <a:rPr lang="en-US" noProof="0" dirty="0"/>
              <a:t>Game of Life</a:t>
            </a:r>
          </a:p>
        </p:txBody>
      </p:sp>
      <p:sp>
        <p:nvSpPr>
          <p:cNvPr id="9" name="TextBox 8">
            <a:extLst>
              <a:ext uri="{FF2B5EF4-FFF2-40B4-BE49-F238E27FC236}">
                <a16:creationId xmlns:a16="http://schemas.microsoft.com/office/drawing/2014/main" id="{5F4D55C3-3077-8567-A06E-0244BA5AA6CA}"/>
              </a:ext>
            </a:extLst>
          </p:cNvPr>
          <p:cNvSpPr txBox="1"/>
          <p:nvPr/>
        </p:nvSpPr>
        <p:spPr>
          <a:xfrm>
            <a:off x="236845" y="6084477"/>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307166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8/29/2026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25</a:t>
            </a:fld>
            <a:endParaRPr lang="en-US"/>
          </a:p>
        </p:txBody>
      </p:sp>
    </p:spTree>
    <p:extLst>
      <p:ext uri="{BB962C8B-B14F-4D97-AF65-F5344CB8AC3E}">
        <p14:creationId xmlns:p14="http://schemas.microsoft.com/office/powerpoint/2010/main" val="34181083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95571F21-827D-539D-D4E5-DB1BB7B71F43}"/>
              </a:ext>
            </a:extLst>
          </p:cNvPr>
          <p:cNvGrpSpPr/>
          <p:nvPr/>
        </p:nvGrpSpPr>
        <p:grpSpPr>
          <a:xfrm>
            <a:off x="2579748" y="2908938"/>
            <a:ext cx="6725589" cy="2229161"/>
            <a:chOff x="2579748" y="2908938"/>
            <a:chExt cx="6725589" cy="2229161"/>
          </a:xfrm>
        </p:grpSpPr>
        <p:pic>
          <p:nvPicPr>
            <p:cNvPr id="6" name="Picture 5">
              <a:extLst>
                <a:ext uri="{FF2B5EF4-FFF2-40B4-BE49-F238E27FC236}">
                  <a16:creationId xmlns:a16="http://schemas.microsoft.com/office/drawing/2014/main" id="{0D4C5F21-8011-3C8D-D688-5EAD5518EC37}"/>
                </a:ext>
              </a:extLst>
            </p:cNvPr>
            <p:cNvPicPr>
              <a:picLocks noChangeAspect="1"/>
            </p:cNvPicPr>
            <p:nvPr/>
          </p:nvPicPr>
          <p:blipFill>
            <a:blip r:embed="rId3"/>
            <a:stretch>
              <a:fillRect/>
            </a:stretch>
          </p:blipFill>
          <p:spPr>
            <a:xfrm>
              <a:off x="2579748" y="2908938"/>
              <a:ext cx="6725589" cy="2229161"/>
            </a:xfrm>
            <a:prstGeom prst="rect">
              <a:avLst/>
            </a:prstGeom>
          </p:spPr>
        </p:pic>
        <p:sp>
          <p:nvSpPr>
            <p:cNvPr id="16" name="Oval 15">
              <a:extLst>
                <a:ext uri="{FF2B5EF4-FFF2-40B4-BE49-F238E27FC236}">
                  <a16:creationId xmlns:a16="http://schemas.microsoft.com/office/drawing/2014/main" id="{10B03CF7-C5DD-D42F-BE83-737ACAF8269B}"/>
                </a:ext>
              </a:extLst>
            </p:cNvPr>
            <p:cNvSpPr/>
            <p:nvPr/>
          </p:nvSpPr>
          <p:spPr>
            <a:xfrm>
              <a:off x="4127127" y="3526657"/>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2" name="Oval 31">
              <a:extLst>
                <a:ext uri="{FF2B5EF4-FFF2-40B4-BE49-F238E27FC236}">
                  <a16:creationId xmlns:a16="http://schemas.microsoft.com/office/drawing/2014/main" id="{FBA743B9-2D84-0FA8-5F12-F601E209A913}"/>
                </a:ext>
              </a:extLst>
            </p:cNvPr>
            <p:cNvSpPr/>
            <p:nvPr/>
          </p:nvSpPr>
          <p:spPr>
            <a:xfrm>
              <a:off x="7232277" y="374806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5" name="Oval 34">
              <a:extLst>
                <a:ext uri="{FF2B5EF4-FFF2-40B4-BE49-F238E27FC236}">
                  <a16:creationId xmlns:a16="http://schemas.microsoft.com/office/drawing/2014/main" id="{9B153F27-549E-59FD-49DD-71B68B6AF1E2}"/>
                </a:ext>
              </a:extLst>
            </p:cNvPr>
            <p:cNvSpPr/>
            <p:nvPr/>
          </p:nvSpPr>
          <p:spPr>
            <a:xfrm>
              <a:off x="2832521" y="376711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818164" y="5562558"/>
            <a:ext cx="4555671" cy="646331"/>
          </a:xfrm>
          <a:prstGeom prst="rect">
            <a:avLst/>
          </a:prstGeom>
          <a:noFill/>
        </p:spPr>
        <p:txBody>
          <a:bodyPr wrap="none" rtlCol="0">
            <a:spAutoFit/>
          </a:bodyPr>
          <a:lstStyle/>
          <a:p>
            <a:r>
              <a:rPr lang="en-US" noProof="0" dirty="0"/>
              <a:t>Developer guide + abstraction-specific hints</a:t>
            </a:r>
          </a:p>
          <a:p>
            <a:pPr algn="ctr"/>
            <a:r>
              <a:rPr lang="en-US"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stCxn id="7" idx="0"/>
          </p:cNvCxnSpPr>
          <p:nvPr/>
        </p:nvCxnSpPr>
        <p:spPr>
          <a:xfrm flipH="1" flipV="1">
            <a:off x="4292794" y="4292794"/>
            <a:ext cx="1803206" cy="1269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stCxn id="7" idx="0"/>
          </p:cNvCxnSpPr>
          <p:nvPr/>
        </p:nvCxnSpPr>
        <p:spPr>
          <a:xfrm flipV="1">
            <a:off x="6096000" y="4544079"/>
            <a:ext cx="1030736" cy="1018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a:endCxn id="16" idx="0"/>
          </p:cNvCxnSpPr>
          <p:nvPr/>
        </p:nvCxnSpPr>
        <p:spPr>
          <a:xfrm>
            <a:off x="4127128" y="2906562"/>
            <a:ext cx="0" cy="6200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3378012" y="2260231"/>
            <a:ext cx="1498231" cy="646331"/>
          </a:xfrm>
          <a:prstGeom prst="rect">
            <a:avLst/>
          </a:prstGeom>
          <a:noFill/>
        </p:spPr>
        <p:txBody>
          <a:bodyPr wrap="none" rtlCol="0">
            <a:spAutoFit/>
          </a:bodyPr>
          <a:lstStyle/>
          <a:p>
            <a:pPr algn="ctr"/>
            <a:r>
              <a:rPr lang="en-US" noProof="0" dirty="0"/>
              <a:t>Example</a:t>
            </a:r>
            <a:br>
              <a:rPr lang="en-US" noProof="0" dirty="0"/>
            </a:br>
            <a:r>
              <a:rPr lang="en-US"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a:endCxn id="32" idx="0"/>
          </p:cNvCxnSpPr>
          <p:nvPr/>
        </p:nvCxnSpPr>
        <p:spPr>
          <a:xfrm flipH="1">
            <a:off x="7232278" y="2850970"/>
            <a:ext cx="10" cy="8970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260964" y="2481638"/>
            <a:ext cx="1942648" cy="369332"/>
          </a:xfrm>
          <a:prstGeom prst="rect">
            <a:avLst/>
          </a:prstGeom>
          <a:noFill/>
        </p:spPr>
        <p:txBody>
          <a:bodyPr wrap="none" rtlCol="0">
            <a:spAutoFit/>
          </a:bodyPr>
          <a:lstStyle/>
          <a:p>
            <a:pPr algn="ctr"/>
            <a:r>
              <a:rPr lang="en-US"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38052" y="3582449"/>
            <a:ext cx="1540743" cy="369332"/>
          </a:xfrm>
          <a:prstGeom prst="rect">
            <a:avLst/>
          </a:prstGeom>
          <a:noFill/>
        </p:spPr>
        <p:txBody>
          <a:bodyPr wrap="none" rtlCol="0">
            <a:spAutoFit/>
          </a:bodyPr>
          <a:lstStyle/>
          <a:p>
            <a:r>
              <a:rPr lang="en-US"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stCxn id="33" idx="3"/>
            <a:endCxn id="35" idx="2"/>
          </p:cNvCxnSpPr>
          <p:nvPr/>
        </p:nvCxnSpPr>
        <p:spPr>
          <a:xfrm>
            <a:off x="2378795" y="3767115"/>
            <a:ext cx="4537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182100" y="2443163"/>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46" name="TextBox 45">
            <a:extLst>
              <a:ext uri="{FF2B5EF4-FFF2-40B4-BE49-F238E27FC236}">
                <a16:creationId xmlns:a16="http://schemas.microsoft.com/office/drawing/2014/main" id="{B681D359-D348-006D-B5F6-3F7D47199734}"/>
              </a:ext>
            </a:extLst>
          </p:cNvPr>
          <p:cNvSpPr txBox="1"/>
          <p:nvPr/>
        </p:nvSpPr>
        <p:spPr>
          <a:xfrm>
            <a:off x="9482156" y="3526657"/>
            <a:ext cx="2709844" cy="646331"/>
          </a:xfrm>
          <a:prstGeom prst="rect">
            <a:avLst/>
          </a:prstGeom>
          <a:noFill/>
        </p:spPr>
        <p:txBody>
          <a:bodyPr wrap="none" rtlCol="0">
            <a:spAutoFit/>
          </a:bodyPr>
          <a:lstStyle/>
          <a:p>
            <a:pPr algn="ctr"/>
            <a:r>
              <a:rPr lang="en-US" noProof="0" dirty="0"/>
              <a:t>Almost 500</a:t>
            </a:r>
            <a:br>
              <a:rPr lang="en-US" noProof="0" dirty="0"/>
            </a:br>
            <a:r>
              <a:rPr lang="en-US" noProof="0" dirty="0"/>
              <a:t>optimization experiments</a:t>
            </a:r>
          </a:p>
        </p:txBody>
      </p:sp>
    </p:spTree>
    <p:extLst>
      <p:ext uri="{BB962C8B-B14F-4D97-AF65-F5344CB8AC3E}">
        <p14:creationId xmlns:p14="http://schemas.microsoft.com/office/powerpoint/2010/main" val="23302827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56745"/>
            <a:ext cx="590330" cy="683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216385" y="587413"/>
            <a:ext cx="2309415" cy="369332"/>
          </a:xfrm>
          <a:prstGeom prst="rect">
            <a:avLst/>
          </a:prstGeom>
          <a:noFill/>
        </p:spPr>
        <p:txBody>
          <a:bodyPr wrap="none" rtlCol="0">
            <a:spAutoFit/>
          </a:bodyPr>
          <a:lstStyle/>
          <a:p>
            <a:r>
              <a:rPr lang="en-US" noProof="0" dirty="0"/>
              <a:t>Best performance (C)</a:t>
            </a:r>
          </a:p>
        </p:txBody>
      </p:sp>
    </p:spTree>
    <p:extLst>
      <p:ext uri="{BB962C8B-B14F-4D97-AF65-F5344CB8AC3E}">
        <p14:creationId xmlns:p14="http://schemas.microsoft.com/office/powerpoint/2010/main" val="13416658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noProof="0" dirty="0"/>
              <a:t>Prompting specificity</a:t>
            </a:r>
          </a:p>
          <a:p>
            <a:r>
              <a:rPr lang="en-US" noProof="0" dirty="0"/>
              <a:t>Contemporary abstractions do not help</a:t>
            </a:r>
          </a:p>
          <a:p>
            <a:endParaRPr lang="en-US" noProof="0" dirty="0"/>
          </a:p>
          <a:p>
            <a:r>
              <a:rPr lang="en-US" noProof="0" dirty="0">
                <a:solidFill>
                  <a:srgbClr val="FF0000"/>
                </a:solidFill>
              </a:rPr>
              <a:t>Future research</a:t>
            </a:r>
          </a:p>
          <a:p>
            <a:pPr lvl="1"/>
            <a:r>
              <a:rPr lang="en-US" noProof="0" dirty="0"/>
              <a:t>Re-evaluate on agentic LLMs</a:t>
            </a:r>
          </a:p>
          <a:p>
            <a:pPr lvl="2"/>
            <a:r>
              <a:rPr lang="en-US" noProof="0" dirty="0"/>
              <a:t>Automatically gather feedback</a:t>
            </a:r>
          </a:p>
          <a:p>
            <a:pPr lvl="2"/>
            <a:r>
              <a:rPr lang="en-US" noProof="0" dirty="0"/>
              <a:t>Can collect necessary context (e.g., work with abstraction reference)</a:t>
            </a:r>
          </a:p>
          <a:p>
            <a:pPr lvl="1"/>
            <a:r>
              <a:rPr lang="en-US" noProof="0" dirty="0"/>
              <a:t>More LLM-focused abstractions or scaffolding</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Tree>
    <p:extLst>
      <p:ext uri="{BB962C8B-B14F-4D97-AF65-F5344CB8AC3E}">
        <p14:creationId xmlns:p14="http://schemas.microsoft.com/office/powerpoint/2010/main" val="27099458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03081" y="3886390"/>
            <a:ext cx="511973" cy="511973"/>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33671" y="4449065"/>
            <a:ext cx="511973" cy="511973"/>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6973" y="2878271"/>
            <a:ext cx="511973" cy="511973"/>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Conclusion</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Tree>
    <p:extLst>
      <p:ext uri="{BB962C8B-B14F-4D97-AF65-F5344CB8AC3E}">
        <p14:creationId xmlns:p14="http://schemas.microsoft.com/office/powerpoint/2010/main" val="20253718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8/29/2026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3973</TotalTime>
  <Words>5319</Words>
  <Application>Microsoft Office PowerPoint</Application>
  <PresentationFormat>Widescreen</PresentationFormat>
  <Paragraphs>630</Paragraphs>
  <Slides>31</Slides>
  <Notes>29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 for memory layouts</vt:lpstr>
      <vt:lpstr>Illustrative example: initialization algorithm</vt:lpstr>
      <vt:lpstr>Layout-agnostic design</vt:lpstr>
      <vt:lpstr>Layout abstractions</vt:lpstr>
      <vt:lpstr>Traversal abstractions</vt:lpstr>
      <vt:lpstr>Traversal abstractions</vt:lpstr>
      <vt:lpstr>Traversal transformations &amp; parallelization</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vt:lpstr>
      <vt:lpstr>Abstractions summary</vt:lpstr>
      <vt:lpstr>LLMs in HPC</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170</cp:revision>
  <dcterms:created xsi:type="dcterms:W3CDTF">2026-08-08T18:10:38Z</dcterms:created>
  <dcterms:modified xsi:type="dcterms:W3CDTF">2026-08-29T16:49:23Z</dcterms:modified>
</cp:coreProperties>
</file>