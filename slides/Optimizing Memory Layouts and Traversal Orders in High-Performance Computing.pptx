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322" r:id="rId3"/>
    <p:sldId id="277" r:id="rId4"/>
    <p:sldId id="296" r:id="rId5"/>
    <p:sldId id="297" r:id="rId6"/>
    <p:sldId id="283" r:id="rId7"/>
    <p:sldId id="314" r:id="rId8"/>
    <p:sldId id="284" r:id="rId9"/>
    <p:sldId id="285" r:id="rId10"/>
    <p:sldId id="323" r:id="rId11"/>
    <p:sldId id="278" r:id="rId12"/>
    <p:sldId id="300" r:id="rId13"/>
    <p:sldId id="286" r:id="rId14"/>
    <p:sldId id="290" r:id="rId15"/>
    <p:sldId id="279" r:id="rId16"/>
    <p:sldId id="287" r:id="rId17"/>
    <p:sldId id="316" r:id="rId18"/>
    <p:sldId id="302" r:id="rId19"/>
    <p:sldId id="280" r:id="rId20"/>
    <p:sldId id="310" r:id="rId21"/>
    <p:sldId id="288" r:id="rId22"/>
    <p:sldId id="305" r:id="rId23"/>
    <p:sldId id="291" r:id="rId24"/>
    <p:sldId id="306" r:id="rId25"/>
    <p:sldId id="315" r:id="rId26"/>
    <p:sldId id="308" r:id="rId27"/>
    <p:sldId id="309" r:id="rId28"/>
    <p:sldId id="311" r:id="rId29"/>
    <p:sldId id="266" r:id="rId30"/>
    <p:sldId id="312" r:id="rId31"/>
    <p:sldId id="262" r:id="rId32"/>
    <p:sldId id="320" r:id="rId33"/>
    <p:sldId id="318" r:id="rId34"/>
    <p:sldId id="319" r:id="rId35"/>
    <p:sldId id="317" r:id="rId36"/>
    <p:sldId id="321"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284"/>
            <p14:sldId id="285"/>
            <p14:sldId id="323"/>
            <p14:sldId id="278"/>
            <p14:sldId id="300"/>
            <p14:sldId id="286"/>
            <p14:sldId id="290"/>
            <p14:sldId id="279"/>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E8FC"/>
    <a:srgbClr val="91C5EC"/>
    <a:srgbClr val="90C5EC"/>
    <a:srgbClr val="0D1717"/>
    <a:srgbClr val="A12B2B"/>
    <a:srgbClr val="DC9494"/>
    <a:srgbClr val="D08888"/>
    <a:srgbClr val="D07070"/>
    <a:srgbClr val="C69292"/>
    <a:srgbClr val="C1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75000" autoAdjust="0"/>
  </p:normalViewPr>
  <p:slideViewPr>
    <p:cSldViewPr snapToGrid="0">
      <p:cViewPr varScale="1">
        <p:scale>
          <a:sx n="68" d="100"/>
          <a:sy n="68" d="100"/>
        </p:scale>
        <p:origin x="90" y="1200"/>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4194"/>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Implementing efficient HPC algorithms is challenging.</a:t>
            </a:r>
          </a:p>
          <a:p>
            <a:endParaRPr lang="en-US" dirty="0"/>
          </a:p>
          <a:p>
            <a:r>
              <a:rPr lang="en-US" dirty="0"/>
              <a:t>Efficient HPC code needs both a scalable algorithm and an implementation that uses the target hardware well.</a:t>
            </a:r>
          </a:p>
          <a:p>
            <a:r>
              <a:rPr lang="en-US" dirty="0"/>
              <a:t>Many algorithms operate on large multidimensional data through nested loops, so semantics-preserving changes to data layout and traversal order can substantially affect performance.</a:t>
            </a:r>
          </a:p>
          <a:p>
            <a:endParaRPr lang="en-US" dirty="0"/>
          </a:p>
          <a:p>
            <a:r>
              <a:rPr lang="en-US" dirty="0"/>
              <a:t>In many cases, finding the most efficient implementation may require re-evaluating the algorithm with many layout and traversal choices.</a:t>
            </a:r>
          </a:p>
          <a:p>
            <a:r>
              <a:rPr lang="en-US" dirty="0"/>
              <a:t>Furthermore, it may be necessary to repeat the process on each target system.</a:t>
            </a:r>
          </a:p>
          <a:p>
            <a:endParaRPr lang="en-US" dirty="0"/>
          </a:p>
          <a:p>
            <a:r>
              <a:rPr lang="en-US" dirty="0"/>
              <a:t>Our research starts by designing C++ abstractions for layouts and traversals that enable their optimization without modifying the algorithm design</a:t>
            </a:r>
          </a:p>
          <a:p>
            <a:r>
              <a:rPr lang="en-US" dirty="0"/>
              <a:t>and then progresses toward automated exploration.</a:t>
            </a:r>
          </a:p>
          <a:p>
            <a:r>
              <a:rPr lang="en-US" dirty="0"/>
              <a:t>We then study LLM-guided optimization for even broader optimization options.</a:t>
            </a:r>
          </a:p>
          <a:p>
            <a:r>
              <a:rPr lang="en-US" dirty="0"/>
              <a:t>We then finalize the work by studying whether these two approaches together lead to an improvement over using LLMs to generate the code directly.</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single matrix elements to some values.</a:t>
            </a:r>
          </a:p>
          <a:p>
            <a:endParaRPr lang="en-US" dirty="0"/>
          </a:p>
          <a:p>
            <a:r>
              <a:rPr lang="en-US" dirty="0"/>
              <a:t>For a typical *m-by-n matrix*, 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r>
              <a:rPr lang="en-US" dirty="0"/>
              <a:t>This affects hardware mechanisms such as caching, which makes accesses to close-by elements faster.</a:t>
            </a:r>
          </a:p>
          <a:p>
            <a:endParaRPr lang="en-US" dirty="0"/>
          </a:p>
          <a:p>
            <a:r>
              <a:rPr lang="en-US" dirty="0"/>
              <a:t>In real-world algorithms, the situation may be further complicated by factors such as algorithms with more elaborate traversal patterns and accessing multiple data structures at once.</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The logical structure and the physical memory layout together form a single *layout abstraction* - a mapping from one to the other. It defines the indexation of the data structure as a public interface, and internally specifies how the elements</a:t>
            </a:r>
            <a:br>
              <a:rPr lang="en-US" dirty="0"/>
            </a:br>
            <a:r>
              <a:rPr lang="en-US" dirty="0"/>
              <a:t>are stored in memory (memory offsets).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 It is handled natively by C++ templates to ensure portability and minimal runtime overhead.</a:t>
            </a:r>
          </a:p>
          <a:p>
            <a:endParaRPr lang="en-US" dirty="0"/>
          </a:p>
          <a:p>
            <a:r>
              <a:rPr lang="en-US" dirty="0"/>
              <a:t>By iteratively composing these building blocks, we can define a wide variety of derived data structures.</a:t>
            </a:r>
          </a:p>
          <a:p>
            <a:r>
              <a:rPr lang="en-US" dirty="0"/>
              <a:t>All dimensions are named, and they specify the semantic logical structure of the layout, providing a predictable API.</a:t>
            </a:r>
          </a:p>
          <a:p>
            <a:endParaRPr lang="en-US" dirty="0"/>
          </a:p>
          <a:p>
            <a:r>
              <a:rPr lang="en-US" dirty="0"/>
              <a:t>A data structure with dimensions ‘m’ and ‘n’ can be indexed with an index point with the appropriate dimensions.</a:t>
            </a:r>
          </a:p>
          <a:p>
            <a:r>
              <a:rPr lang="en-US" dirty="0"/>
              <a:t>The encoded dimension names ensure that the indices will be paired with the dimensions of the structure correctly.</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simple “bag” constructor, which automatically manages an appropriate memory buffer.</a:t>
            </a:r>
          </a:p>
          <a:p>
            <a:br>
              <a:rPr lang="en-US" dirty="0"/>
            </a:br>
            <a:r>
              <a:rPr lang="en-US" dirty="0"/>
              <a:t>If we require the buffer to reside in a specific memory region, for example, we can supply it ourselves to create a non-owning view to the data.</a:t>
            </a:r>
          </a:p>
          <a:p>
            <a:r>
              <a:rPr lang="en-US" dirty="0"/>
              <a:t>This is useful if we want the data to reside in GPU device memory or a mapped file.</a:t>
            </a:r>
          </a:p>
          <a:p>
            <a:endParaRPr lang="en-US" dirty="0"/>
          </a:p>
          <a:p>
            <a:r>
              <a:rPr lang="en-US" dirty="0"/>
              <a:t>---</a:t>
            </a:r>
          </a:p>
          <a:p>
            <a:br>
              <a:rPr lang="en-US" dirty="0"/>
            </a:br>
            <a:r>
              <a:rPr lang="en-US" dirty="0"/>
              <a:t>(bridge)</a:t>
            </a:r>
          </a:p>
          <a:p>
            <a:r>
              <a:rPr lang="en-US" dirty="0"/>
              <a:t>Related forms of layout abstraction appear in std::</a:t>
            </a:r>
            <a:r>
              <a:rPr lang="en-US" dirty="0" err="1"/>
              <a:t>mdspan</a:t>
            </a:r>
            <a:r>
              <a:rPr lang="en-US" dirty="0"/>
              <a:t> and </a:t>
            </a:r>
            <a:r>
              <a:rPr lang="en-US" dirty="0" err="1"/>
              <a:t>Kokkos</a:t>
            </a:r>
            <a:r>
              <a:rPr lang="en-US" dirty="0"/>
              <a:t>::View, with no support for composability, and </a:t>
            </a:r>
            <a:r>
              <a:rPr lang="en-US" dirty="0" err="1"/>
              <a:t>CuTe</a:t>
            </a:r>
            <a:r>
              <a:rPr lang="en-US" dirty="0"/>
              <a:t> layouts in CUTLASS framework for tensor representation. All of them are based on linear algebra and use positional encoding for the logical structure. However, our approach generalizes well to traversal abstraction as well.</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introducing abstraction for traversal-agnostic algorithms – traversers)</a:t>
            </a:r>
            <a:br>
              <a:rPr lang="en-US" dirty="0"/>
            </a:br>
            <a:br>
              <a:rPr lang="en-US" dirty="0"/>
            </a:br>
            <a:r>
              <a:rPr lang="en-US" dirty="0"/>
              <a:t>(with bridge: which enables traversal-agnostic design)</a:t>
            </a:r>
          </a:p>
          <a:p>
            <a:r>
              <a:rPr lang="en-US" dirty="0"/>
              <a:t>(without bridge: After carefully assessing how the principles play into defining layout-agnostic algorithms,</a:t>
            </a:r>
            <a:br>
              <a:rPr lang="en-US" dirty="0"/>
            </a:br>
            <a:r>
              <a:rPr lang="en-US" dirty="0"/>
              <a:t>we have extended the approach to define traversals as well, enabling traversal-agnostic design.)</a:t>
            </a:r>
          </a:p>
          <a:p>
            <a:endParaRPr lang="en-US" dirty="0"/>
          </a:p>
          <a:p>
            <a:r>
              <a:rPr lang="en-US" dirty="0"/>
              <a:t>For that, we have devised a traverser abstraction.</a:t>
            </a:r>
          </a:p>
          <a:p>
            <a:r>
              <a:rPr lang="en-US" dirty="0"/>
              <a:t>For a single structure, the traverser offers the functionality of a for-each algorithm –</a:t>
            </a:r>
            <a:br>
              <a:rPr lang="en-US" dirty="0"/>
            </a:br>
            <a:r>
              <a:rPr lang="en-US" dirty="0"/>
              <a:t>we can thus write the earlier shown initialization algorithm without relying on the dimensions of the structure.</a:t>
            </a:r>
          </a:p>
          <a:p>
            <a:r>
              <a:rPr lang="en-US" dirty="0"/>
              <a:t>The dimensions are traversed automatically and composed into an index point that is given as an argument to a lambda expression specifying the element-wise action on the traversed structure.</a:t>
            </a:r>
            <a:br>
              <a:rPr lang="en-US" dirty="0"/>
            </a:br>
            <a:br>
              <a:rPr lang="en-US" dirty="0"/>
            </a:br>
            <a:r>
              <a:rPr lang="en-US"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structures use different physical layouts, the same algorithm automatically converts between the layouts while preserving the logical structure.</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 Let’s show that on the matrix multiplication algorithm.</a:t>
            </a:r>
          </a:p>
          <a:p>
            <a:endParaRPr lang="en-US" dirty="0"/>
          </a:p>
          <a:p>
            <a:r>
              <a:rPr lang="en-US" dirty="0"/>
              <a:t>It multiplies two matrices with a shared dimension (in this case, k) into a single one, which has the other two dimensions (m and n). It can be written as a dot product for each element of the output matrix, which, in code, naturally translates into three loops.</a:t>
            </a:r>
          </a:p>
          <a:p>
            <a:endParaRPr lang="en-US" dirty="0"/>
          </a:p>
          <a:p>
            <a:r>
              <a:rPr lang="en-US" dirty="0"/>
              <a:t>We can define the same three loops by simply using the traverser,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first infers the index space from A, then extends it to cover B as well.</a:t>
            </a: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 adds no additional dimensions, as both m</a:t>
            </a:r>
            <a:r>
              <a:rPr lang="en-US" baseline="0" dirty="0"/>
              <a:t> </a:t>
            </a:r>
            <a:r>
              <a:rPr lang="en-US" dirty="0"/>
              <a:t>and n are already present in the combined index space.</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Even by itself, this would be nice, but we can do even more.</a:t>
            </a:r>
            <a:br>
              <a:rPr lang="en-US" dirty="0"/>
            </a:br>
            <a:endParaRPr lang="en-US" dirty="0"/>
          </a:p>
          <a:p>
            <a:r>
              <a:rPr lang="en-US" dirty="0"/>
              <a:t>Let’s say we want to perform the matrix multiplication by tiles of the output to improve the caching behavior.</a:t>
            </a:r>
            <a:br>
              <a:rPr lang="en-US" dirty="0"/>
            </a:br>
            <a:r>
              <a:rPr lang="en-US" dirty="0"/>
              <a:t>We can do so by defining the transformation using the same principles as defining layouts and then applying it to the traverser.</a:t>
            </a:r>
          </a:p>
          <a:p>
            <a:r>
              <a:rPr lang="en-US" dirty="0"/>
              <a:t>We do not need to rewrite the computation logic or change the structures to do that.</a:t>
            </a:r>
          </a:p>
          <a:p>
            <a:endParaRPr lang="en-US" dirty="0"/>
          </a:p>
          <a:p>
            <a:r>
              <a:rPr lang="en-US" dirty="0"/>
              <a:t>We can also parallelize the computation on CPU using various parallel backends such as OpenMP or Threading Building Blocks using dedicated </a:t>
            </a:r>
            <a:r>
              <a:rPr lang="en-US" dirty="0" err="1"/>
              <a:t>for_each</a:t>
            </a:r>
            <a:r>
              <a:rPr lang="en-US" dirty="0"/>
              <a:t> executors.</a:t>
            </a:r>
          </a:p>
          <a:p>
            <a:r>
              <a:rPr lang="en-US" dirty="0"/>
              <a:t>For parallelization on the GPU device using the CUDA framework, we define cuda_traversers, which bind the traversal to parallelization over a GPU grid.</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 We then finalized it by showing its integrability with existing autotuning solutions.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Define the same parameter on the </a:t>
            </a:r>
            <a:r>
              <a:rPr lang="en-US" dirty="0" err="1"/>
              <a:t>autotuner’s</a:t>
            </a:r>
            <a:r>
              <a:rPr lang="en-US" dirty="0"/>
              <a:t> side</a:t>
            </a:r>
          </a:p>
          <a:p>
            <a:pPr marL="171450" indent="-171450">
              <a:buFontTx/>
              <a:buChar char="-"/>
            </a:pPr>
            <a:r>
              <a:rPr lang="en-US" dirty="0"/>
              <a:t>Handle how the value is communicated</a:t>
            </a:r>
          </a:p>
          <a:p>
            <a:pPr marL="171450" indent="-171450">
              <a:buFontTx/>
              <a:buChar char="-"/>
            </a:pPr>
            <a:endParaRPr lang="en-US" dirty="0"/>
          </a:p>
          <a:p>
            <a:pPr marL="0" indent="0">
              <a:buFontTx/>
              <a:buNone/>
            </a:pPr>
            <a:r>
              <a:rPr lang="en-US" dirty="0"/>
              <a:t>The values may be passed as compiler defines and then injected into the code or used in conditions of preprocessor directives.</a:t>
            </a:r>
          </a:p>
          <a:p>
            <a:pPr marL="0" indent="0">
              <a:buFontTx/>
              <a:buNone/>
            </a:pPr>
            <a:endParaRPr lang="en-US" dirty="0"/>
          </a:p>
          <a:p>
            <a:pPr marL="0" indent="0">
              <a:buFontTx/>
              <a:buNone/>
            </a:pPr>
            <a:r>
              <a:rPr lang="en-US" dirty="0"/>
              <a:t>This creates an unnecessary amount of boilerplate definitions and communication specifications that are difficult to maintain and prone to mistakes.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r>
              <a:rPr lang="en-US" dirty="0"/>
              <a:t>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as the mapping follows the shared logical structure.</a:t>
            </a:r>
          </a:p>
          <a:p>
            <a:r>
              <a:rPr lang="en-US" dirty="0"/>
              <a:t>If such communication was done naively, the data could be corrupted by wrongfully following the physical layout instead of the intended logical structure.</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a:p>
            <a:pPr marL="0" indent="0">
              <a:buFontTx/>
              <a:buNone/>
            </a:pPr>
            <a:endParaRPr lang="en-US" dirty="0"/>
          </a:p>
          <a:p>
            <a:pPr marL="0" indent="0">
              <a:buFontTx/>
              <a:buNone/>
            </a:pPr>
            <a:r>
              <a:rPr lang="en-US" dirty="0"/>
              <a:t>One of the optimization techniques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In follow-up work currently under review, the best-tested configurations using efficient bitwise evaluation were roughly one to two orders of magnitude faster than the byte-per-cell GPU baseline.</a:t>
            </a:r>
          </a:p>
          <a:p>
            <a:endParaRPr lang="en-US" dirty="0"/>
          </a:p>
          <a:p>
            <a:r>
              <a:rPr lang="en-US" dirty="0"/>
              <a:t>This plot shows possible speedup using different optimization techniques available in our prototype framework on multiple cellular automata.</a:t>
            </a:r>
          </a:p>
          <a:p>
            <a:endParaRPr lang="en-US" dirty="0"/>
          </a:p>
          <a:p>
            <a:r>
              <a:rPr lang="en-US" dirty="0"/>
              <a:t>Packing alone is not enough. Most of the gain comes from evaluating many cells simultaneously with bitwise operations, with further improvement from computing multiple updates simultaneously.</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lower is better.</a:t>
            </a:r>
          </a:p>
          <a:p>
            <a:r>
              <a:rPr lang="en-US" dirty="0"/>
              <a:t>The x-axis of both shows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our experiments, we made 5 independent attempts to account for LLM generation stochasticity.</a:t>
            </a:r>
          </a:p>
          <a:p>
            <a:endParaRPr lang="en-US" dirty="0"/>
          </a:p>
          <a:p>
            <a:r>
              <a:rPr lang="en-US" dirty="0"/>
              <a:t>The plot shows the achieved speedup in the first row and the likelihood of observing at least a single valid solution in the second row, both dependent on the number of attempts. (In both cases, the upper is better.)</a:t>
            </a:r>
          </a:p>
          <a:p>
            <a:r>
              <a:rPr lang="en-US" dirty="0"/>
              <a:t>Different columns show different prompting strategies.</a:t>
            </a:r>
            <a:br>
              <a:rPr lang="en-US" dirty="0"/>
            </a:br>
            <a:br>
              <a:rPr lang="en-US" dirty="0"/>
            </a:br>
            <a:r>
              <a:rPr lang="en-US" dirty="0"/>
              <a:t>We observed that contemporary abstractions do not improve the performance or correctness of the generated code, as generating C code yielded the best performance and correctness overall. 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a:t>
            </a:r>
            <a:r>
              <a:rPr lang="en-US" dirty="0" err="1"/>
              <a:t>Kokkos</a:t>
            </a:r>
            <a:r>
              <a:rPr lang="en-US" dirty="0"/>
              <a:t>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err="1"/>
              <a:t>Kokkos</a:t>
            </a:r>
            <a:r>
              <a:rPr lang="en-US" dirty="0"/>
              <a:t>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a:t>
            </a:r>
            <a:r>
              <a:rPr lang="en-US" dirty="0" err="1"/>
              <a:t>CuTe</a:t>
            </a:r>
            <a:r>
              <a:rPr lang="en-US" dirty="0"/>
              <a:t>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9/1/2026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9/1/2026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9/1/2026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9/1/2026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9/1/2026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9/1/2026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9/1/2026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9/1/2026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9/1/2026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9/1/2026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9/1/2026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svg"/></Relationships>
</file>

<file path=ppt/slides/_rels/slide17.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41.jpe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2.xml"/><Relationship Id="rId1" Type="http://schemas.openxmlformats.org/officeDocument/2006/relationships/slideLayout" Target="../slideLayouts/slideLayout6.xml"/><Relationship Id="rId5" Type="http://schemas.openxmlformats.org/officeDocument/2006/relationships/image" Target="../media/image46.png"/><Relationship Id="rId4" Type="http://schemas.openxmlformats.org/officeDocument/2006/relationships/image" Target="../media/image39.gif"/></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5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58.svg"/><Relationship Id="rId3" Type="http://schemas.openxmlformats.org/officeDocument/2006/relationships/image" Target="../media/image53.svg"/><Relationship Id="rId7" Type="http://schemas.openxmlformats.org/officeDocument/2006/relationships/image" Target="../media/image57.svg"/><Relationship Id="rId2" Type="http://schemas.openxmlformats.org/officeDocument/2006/relationships/notesSlide" Target="../notesSlides/notesSlide29.xml"/><Relationship Id="rId1" Type="http://schemas.openxmlformats.org/officeDocument/2006/relationships/slideLayout" Target="../slideLayouts/slideLayout6.xml"/><Relationship Id="rId6" Type="http://schemas.openxmlformats.org/officeDocument/2006/relationships/image" Target="../media/image56.svg"/><Relationship Id="rId5" Type="http://schemas.openxmlformats.org/officeDocument/2006/relationships/image" Target="../media/image55.svg"/><Relationship Id="rId10" Type="http://schemas.openxmlformats.org/officeDocument/2006/relationships/image" Target="../media/image60.svg"/><Relationship Id="rId4" Type="http://schemas.openxmlformats.org/officeDocument/2006/relationships/image" Target="../media/image54.svg"/><Relationship Id="rId9" Type="http://schemas.openxmlformats.org/officeDocument/2006/relationships/image" Target="../media/image59.svg"/></Relationships>
</file>

<file path=ppt/slides/_rels/slide3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9/1/2026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dirty="0"/>
              <a:t>Multidimensional data processed in nested loops</a:t>
            </a:r>
          </a:p>
          <a:p>
            <a:pPr lvl="1"/>
            <a:r>
              <a:rPr lang="en-US" b="1" dirty="0"/>
              <a:t>Right</a:t>
            </a:r>
            <a:r>
              <a:rPr lang="en-US" dirty="0"/>
              <a:t> </a:t>
            </a:r>
            <a:r>
              <a:rPr lang="en-US" b="1" dirty="0"/>
              <a:t>data layouts</a:t>
            </a:r>
            <a:r>
              <a:rPr lang="en-US" dirty="0"/>
              <a:t> and </a:t>
            </a:r>
            <a:r>
              <a:rPr lang="en-US" b="1" dirty="0"/>
              <a:t>traversals</a:t>
            </a:r>
            <a:r>
              <a:rPr lang="en-US" dirty="0"/>
              <a:t> </a:t>
            </a:r>
            <a:r>
              <a:rPr lang="en-US" dirty="0">
                <a:sym typeface="Wingdings" panose="05000000000000000000" pitchFamily="2" charset="2"/>
              </a:rPr>
              <a:t> </a:t>
            </a:r>
            <a:r>
              <a:rPr lang="en-US" b="1" dirty="0"/>
              <a:t>speedup</a:t>
            </a:r>
          </a:p>
          <a:p>
            <a:r>
              <a:rPr lang="en-US" dirty="0"/>
              <a:t>Trial-and-error evaluation of many different choices</a:t>
            </a:r>
          </a:p>
          <a:p>
            <a:pPr lvl="1"/>
            <a:r>
              <a:rPr lang="en-US" dirty="0"/>
              <a:t>Different optima on different systems</a:t>
            </a:r>
          </a:p>
          <a:p>
            <a:endParaRPr lang="en-US" dirty="0"/>
          </a:p>
          <a:p>
            <a:r>
              <a:rPr lang="en-US" dirty="0"/>
              <a:t>Decoupling layouts and traversals, toward automation</a:t>
            </a:r>
          </a:p>
          <a:p>
            <a:r>
              <a:rPr lang="en-US" dirty="0"/>
              <a:t>LLM-guided optimization for broader options</a:t>
            </a:r>
          </a:p>
          <a:p>
            <a:r>
              <a:rPr lang="en-US" dirty="0"/>
              <a:t>Does combining the approaches lead to improvement?</a:t>
            </a:r>
          </a:p>
          <a:p>
            <a:endParaRPr lang="en-US"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3"/>
          <a:stretch>
            <a:fillRect/>
          </a:stretch>
        </p:blipFill>
        <p:spPr>
          <a:xfrm>
            <a:off x="8950656" y="915929"/>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4"/>
          <a:stretch>
            <a:fillRect/>
          </a:stretch>
        </p:blipFill>
        <p:spPr>
          <a:xfrm>
            <a:off x="9135818" y="3210791"/>
            <a:ext cx="1269681" cy="1269681"/>
          </a:xfrm>
          <a:prstGeom prst="rect">
            <a:avLst/>
          </a:prstGeom>
        </p:spPr>
      </p:pic>
    </p:spTree>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9/1/2026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8" y="3241914"/>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9/1/2026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637237" y="3704951"/>
                <a:ext cx="1017523"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𝑗</m:t>
                      </m:r>
                    </m:oMath>
                  </m:oMathPara>
                </a14:m>
                <a:endParaRPr lang="en-US"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637237" y="3704951"/>
                <a:ext cx="1017523" cy="369332"/>
              </a:xfrm>
              <a:prstGeom prst="rect">
                <a:avLst/>
              </a:prstGeom>
              <a:blipFill>
                <a:blip r:embed="rId5"/>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403582" y="4915789"/>
                <a:ext cx="1046377"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𝑖</m:t>
                      </m:r>
                    </m:oMath>
                  </m:oMathPara>
                </a14:m>
                <a:endParaRPr lang="en-US"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403582" y="4915789"/>
                <a:ext cx="1046377" cy="369332"/>
              </a:xfrm>
              <a:prstGeom prst="rect">
                <a:avLst/>
              </a:prstGeom>
              <a:blipFill>
                <a:blip r:embed="rId6"/>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1248300" y="4151556"/>
                <a:ext cx="429092"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1248300" y="4151556"/>
                <a:ext cx="429092"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2209800" y="3461441"/>
                <a:ext cx="368178"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2209800" y="3461441"/>
                <a:ext cx="368178" cy="369332"/>
              </a:xfrm>
              <a:prstGeom prst="rect">
                <a:avLst/>
              </a:prstGeom>
              <a:blipFill>
                <a:blip r:embed="rId8"/>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748722" y="4175104"/>
            <a:ext cx="1272464" cy="369332"/>
          </a:xfrm>
          <a:prstGeom prst="rect">
            <a:avLst/>
          </a:prstGeom>
          <a:noFill/>
        </p:spPr>
        <p:txBody>
          <a:bodyPr wrap="none" rtlCol="0">
            <a:spAutoFit/>
          </a:bodyPr>
          <a:lstStyle/>
          <a:p>
            <a:r>
              <a:rPr lang="en-US"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564857" y="6196688"/>
            <a:ext cx="1640193" cy="369332"/>
          </a:xfrm>
          <a:prstGeom prst="rect">
            <a:avLst/>
          </a:prstGeom>
          <a:noFill/>
        </p:spPr>
        <p:txBody>
          <a:bodyPr wrap="none" rtlCol="0">
            <a:spAutoFit/>
          </a:bodyPr>
          <a:lstStyle/>
          <a:p>
            <a:r>
              <a:rPr lang="en-US" dirty="0"/>
              <a:t>Column-major</a:t>
            </a:r>
          </a:p>
        </p:txBody>
      </p:sp>
    </p:spTree>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10" grpId="0" animBg="1"/>
      <p:bldP spid="33" grpId="0" animBg="1"/>
      <p:bldP spid="3" grpId="0"/>
      <p:bldP spid="5" grpId="0"/>
      <p:bldP spid="4" grpId="0"/>
      <p:bldP spid="12" grpId="0"/>
      <p:bldP spid="18" grpId="0"/>
      <p:bldP spid="2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5ADDBBC2-AFD6-00E5-EC92-B2FBB581AE19}"/>
              </a:ext>
            </a:extLst>
          </p:cNvPr>
          <p:cNvSpPr/>
          <p:nvPr/>
        </p:nvSpPr>
        <p:spPr>
          <a:xfrm>
            <a:off x="6707810" y="374475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6707810" y="424570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10133635" y="3596200"/>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6704635" y="3270983"/>
            <a:ext cx="874244"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noProof="0" dirty="0">
                <a:solidFill>
                  <a:srgbClr val="001080"/>
                </a:solidFill>
                <a:latin typeface="Fira Code" panose="020B0809050000020004" pitchFamily="49" charset="0"/>
              </a:rPr>
              <a:t>matrix</a:t>
            </a:r>
            <a:r>
              <a:rPr lang="en-US" sz="1600" noProof="0" dirty="0">
                <a:solidFill>
                  <a:srgbClr val="000000"/>
                </a:solidFill>
                <a:latin typeface="Fira Code" panose="020B0809050000020004" pitchFamily="49" charset="0"/>
              </a:rPr>
              <a:t>[</a:t>
            </a:r>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4</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2</a:t>
            </a:r>
            <a:r>
              <a:rPr lang="en-US" sz="1600" noProof="0" dirty="0">
                <a:solidFill>
                  <a:srgbClr val="000000"/>
                </a:solidFill>
                <a:latin typeface="Fira Code" panose="020B0809050000020004" pitchFamily="49" charset="0"/>
              </a:rPr>
              <a:t>)]</a:t>
            </a:r>
            <a:endParaRPr lang="en-US" sz="20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square" rtlCol="0">
            <a:spAutoFit/>
          </a:bodyPr>
          <a:lstStyle/>
          <a:p>
            <a:r>
              <a:rPr lang="en-US" noProof="0" dirty="0"/>
              <a:t>access</a:t>
            </a:r>
          </a:p>
        </p:txBody>
      </p:sp>
      <p:sp>
        <p:nvSpPr>
          <p:cNvPr id="6" name="TextBox 5">
            <a:extLst>
              <a:ext uri="{FF2B5EF4-FFF2-40B4-BE49-F238E27FC236}">
                <a16:creationId xmlns:a16="http://schemas.microsoft.com/office/drawing/2014/main" id="{A28F9A7A-4E68-17F0-FD80-992DB87E748C}"/>
              </a:ext>
            </a:extLst>
          </p:cNvPr>
          <p:cNvSpPr txBox="1"/>
          <p:nvPr/>
        </p:nvSpPr>
        <p:spPr>
          <a:xfrm>
            <a:off x="4146506" y="3030894"/>
            <a:ext cx="4300406" cy="1506951"/>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400" b="0" noProof="0" dirty="0">
                <a:solidFill>
                  <a:srgbClr val="267F99"/>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6980306" y="2634413"/>
            <a:ext cx="275785" cy="9213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588538" y="5417454"/>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476824" y="5451116"/>
            <a:ext cx="5603818" cy="361446"/>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myBuffer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9/1/2026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sp>
        <p:nvSpPr>
          <p:cNvPr id="4" name="TextBox 3">
            <a:extLst>
              <a:ext uri="{FF2B5EF4-FFF2-40B4-BE49-F238E27FC236}">
                <a16:creationId xmlns:a16="http://schemas.microsoft.com/office/drawing/2014/main" id="{E49BE013-F209-8403-8D5B-F71D68CF5E02}"/>
              </a:ext>
            </a:extLst>
          </p:cNvPr>
          <p:cNvSpPr txBox="1"/>
          <p:nvPr/>
        </p:nvSpPr>
        <p:spPr>
          <a:xfrm>
            <a:off x="7627010" y="4899951"/>
            <a:ext cx="1303445"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411469" y="4899951"/>
            <a:ext cx="1392518" cy="408623"/>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285001" y="4884070"/>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559201" y="3174866"/>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3" name="Group 2">
            <a:extLst>
              <a:ext uri="{FF2B5EF4-FFF2-40B4-BE49-F238E27FC236}">
                <a16:creationId xmlns:a16="http://schemas.microsoft.com/office/drawing/2014/main" id="{E69272C8-BC17-D7C7-20A0-7A4287C346B2}"/>
              </a:ext>
            </a:extLst>
          </p:cNvPr>
          <p:cNvGrpSpPr/>
          <p:nvPr/>
        </p:nvGrpSpPr>
        <p:grpSpPr>
          <a:xfrm>
            <a:off x="1625868" y="2630436"/>
            <a:ext cx="1249070" cy="705129"/>
            <a:chOff x="1077265" y="1909480"/>
            <a:chExt cx="1249070" cy="705129"/>
          </a:xfrm>
        </p:grpSpPr>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077265" y="2432700"/>
              <a:ext cx="1249070" cy="181909"/>
            </a:xfrm>
            <a:prstGeom prst="rect">
              <a:avLst/>
            </a:prstGeom>
          </p:spPr>
        </p:pic>
        <p:sp>
          <p:nvSpPr>
            <p:cNvPr id="23" name="TextBox 26">
              <a:extLst>
                <a:ext uri="{FF2B5EF4-FFF2-40B4-BE49-F238E27FC236}">
                  <a16:creationId xmlns:a16="http://schemas.microsoft.com/office/drawing/2014/main" id="{EB25A0C5-5719-0DD1-AF44-52FB609C5160}"/>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625868" y="3151837"/>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919720" y="3151837"/>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F2CCB64-480B-94C0-D265-F80677755FCA}"/>
              </a:ext>
            </a:extLst>
          </p:cNvPr>
          <p:cNvSpPr/>
          <p:nvPr/>
        </p:nvSpPr>
        <p:spPr>
          <a:xfrm>
            <a:off x="7866632" y="372386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xit"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xit"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2" dur="1" fill="hold">
                                          <p:stCondLst>
                                            <p:cond delay="0"/>
                                          </p:stCondLst>
                                        </p:cTn>
                                        <p:tgtEl>
                                          <p:spTgt spid="4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7" grpId="0"/>
      <p:bldP spid="18" grpId="0" animBg="1"/>
      <p:bldP spid="19" grpId="0"/>
      <p:bldP spid="21" grpId="0" animBg="1"/>
      <p:bldP spid="28" grpId="0" animBg="1"/>
      <p:bldP spid="4" grpId="0" animBg="1"/>
      <p:bldP spid="13" grpId="0" animBg="1"/>
      <p:bldP spid="32" grpId="0"/>
      <p:bldP spid="33" grpId="0" animBg="1"/>
      <p:bldP spid="27"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208341" y="2816803"/>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404476" y="3301596"/>
            <a:ext cx="636008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834968" y="5115191"/>
            <a:ext cx="831417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225416" y="2099095"/>
            <a:ext cx="4979939" cy="1021177"/>
          </a:xfrm>
          <a:prstGeom prst="rect">
            <a:avLst/>
          </a:prstGeom>
          <a:noFill/>
          <a:ln>
            <a:solidFill>
              <a:schemeClr val="tx1"/>
            </a:solidFill>
          </a:ln>
        </p:spPr>
        <p:txBody>
          <a:bodyPr wrap="square">
            <a:spAutoFit/>
          </a:bodyPr>
          <a:lstStyle/>
          <a:p>
            <a:pPr>
              <a:lnSpc>
                <a:spcPct val="113095"/>
              </a:lnSpc>
              <a:buNone/>
            </a:pP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M</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N</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j</a:t>
            </a:r>
            <a:r>
              <a:rPr lang="en-US" sz="1800" b="0" dirty="0" err="1">
                <a:solidFill>
                  <a:srgbClr val="000000"/>
                </a:solidFill>
                <a:effectLst/>
                <a:latin typeface="Fira Code" panose="020B0809050000020004" pitchFamily="49" charset="0"/>
              </a:rPr>
              <a:t>++</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matrix</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3"/>
            <a:endCxn id="12" idx="0"/>
          </p:cNvCxnSpPr>
          <p:nvPr/>
        </p:nvCxnSpPr>
        <p:spPr>
          <a:xfrm>
            <a:off x="6205355" y="2609684"/>
            <a:ext cx="1379163" cy="691912"/>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9/1/2026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1248333" y="1726004"/>
            <a:ext cx="4666149" cy="369332"/>
          </a:xfrm>
          <a:prstGeom prst="rect">
            <a:avLst/>
          </a:prstGeom>
          <a:noFill/>
        </p:spPr>
        <p:txBody>
          <a:bodyPr wrap="none" rtlCol="0">
            <a:spAutoFit/>
          </a:bodyPr>
          <a:lstStyle/>
          <a:p>
            <a:pPr algn="ctr"/>
            <a:r>
              <a:rPr lang="en-US"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3320272" y="6129753"/>
            <a:ext cx="5551456" cy="369332"/>
          </a:xfrm>
          <a:prstGeom prst="rect">
            <a:avLst/>
          </a:prstGeom>
          <a:noFill/>
        </p:spPr>
        <p:txBody>
          <a:bodyPr wrap="none" rtlCol="0">
            <a:spAutoFit/>
          </a:bodyPr>
          <a:lstStyle/>
          <a:p>
            <a:pPr algn="ctr"/>
            <a:r>
              <a:rPr lang="en-US" b="1" noProof="0" dirty="0"/>
              <a:t>Copy</a:t>
            </a:r>
            <a:r>
              <a:rPr lang="en-US" noProof="0" dirty="0"/>
              <a:t> to another matrix with the same logical structure</a:t>
            </a:r>
          </a:p>
        </p:txBody>
      </p:sp>
      <p:sp>
        <p:nvSpPr>
          <p:cNvPr id="5" name="TextBox 4">
            <a:extLst>
              <a:ext uri="{FF2B5EF4-FFF2-40B4-BE49-F238E27FC236}">
                <a16:creationId xmlns:a16="http://schemas.microsoft.com/office/drawing/2014/main" id="{102F209B-F6E7-05CC-AF4B-64FCAFC0D5D7}"/>
              </a:ext>
            </a:extLst>
          </p:cNvPr>
          <p:cNvSpPr txBox="1"/>
          <p:nvPr/>
        </p:nvSpPr>
        <p:spPr>
          <a:xfrm>
            <a:off x="5939850" y="4322773"/>
            <a:ext cx="4162037" cy="369332"/>
          </a:xfrm>
          <a:prstGeom prst="rect">
            <a:avLst/>
          </a:prstGeom>
          <a:noFill/>
        </p:spPr>
        <p:txBody>
          <a:bodyPr wrap="none" rtlCol="0">
            <a:spAutoFit/>
          </a:bodyPr>
          <a:lstStyle/>
          <a:p>
            <a:pPr algn="ctr"/>
            <a:r>
              <a:rPr lang="en-US" b="1" dirty="0"/>
              <a:t>Traversal-agnostic </a:t>
            </a:r>
            <a:r>
              <a:rPr lang="en-US" b="1" noProof="0" dirty="0"/>
              <a:t>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9675775" y="2829893"/>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F4B3C17-3722-616D-840D-1F144C8A9277}"/>
              </a:ext>
            </a:extLst>
          </p:cNvPr>
          <p:cNvSpPr txBox="1"/>
          <p:nvPr/>
        </p:nvSpPr>
        <p:spPr>
          <a:xfrm>
            <a:off x="8712952" y="2750938"/>
            <a:ext cx="2640848" cy="338554"/>
          </a:xfrm>
          <a:prstGeom prst="rect">
            <a:avLst/>
          </a:prstGeom>
          <a:noFill/>
        </p:spPr>
        <p:txBody>
          <a:bodyPr wrap="square">
            <a:spAutoFit/>
          </a:bodyPr>
          <a:lstStyle/>
          <a:p>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dirty="0">
                <a:solidFill>
                  <a:srgbClr val="0070C1"/>
                </a:solidFill>
                <a:latin typeface="Fira Code" panose="020B0809050000020004" pitchFamily="49" charset="0"/>
              </a:rPr>
              <a:t>…</a:t>
            </a:r>
            <a:r>
              <a:rPr lang="en-US" sz="1600" noProof="0" dirty="0">
                <a:solidFill>
                  <a:srgbClr val="000000"/>
                </a:solidFill>
                <a:latin typeface="Fira Code" panose="020B0809050000020004" pitchFamily="49" charset="0"/>
              </a:rPr>
              <a:t>)</a:t>
            </a:r>
            <a:endParaRPr lang="en-US" dirty="0"/>
          </a:p>
        </p:txBody>
      </p:sp>
      <p:sp>
        <p:nvSpPr>
          <p:cNvPr id="14" name="TextBox 13">
            <a:extLst>
              <a:ext uri="{FF2B5EF4-FFF2-40B4-BE49-F238E27FC236}">
                <a16:creationId xmlns:a16="http://schemas.microsoft.com/office/drawing/2014/main" id="{DE599A66-2C77-B63D-16EA-47EE19900D7A}"/>
              </a:ext>
            </a:extLst>
          </p:cNvPr>
          <p:cNvSpPr txBox="1"/>
          <p:nvPr/>
        </p:nvSpPr>
        <p:spPr>
          <a:xfrm>
            <a:off x="1359568" y="4307305"/>
            <a:ext cx="1990994" cy="369332"/>
          </a:xfrm>
          <a:prstGeom prst="rect">
            <a:avLst/>
          </a:prstGeom>
          <a:noFill/>
        </p:spPr>
        <p:txBody>
          <a:bodyPr wrap="none" rtlCol="0">
            <a:spAutoFit/>
          </a:bodyPr>
          <a:lstStyle/>
          <a:p>
            <a:r>
              <a:rPr lang="en-US" dirty="0"/>
              <a:t>Same index space</a:t>
            </a:r>
          </a:p>
        </p:txBody>
      </p:sp>
      <p:cxnSp>
        <p:nvCxnSpPr>
          <p:cNvPr id="18" name="Straight Connector 17">
            <a:extLst>
              <a:ext uri="{FF2B5EF4-FFF2-40B4-BE49-F238E27FC236}">
                <a16:creationId xmlns:a16="http://schemas.microsoft.com/office/drawing/2014/main" id="{FDD51E7F-9D97-3209-E921-A43ED05B1390}"/>
              </a:ext>
            </a:extLst>
          </p:cNvPr>
          <p:cNvCxnSpPr>
            <a:endCxn id="14" idx="2"/>
          </p:cNvCxnSpPr>
          <p:nvPr/>
        </p:nvCxnSpPr>
        <p:spPr>
          <a:xfrm flipH="1" flipV="1">
            <a:off x="2355065" y="4676637"/>
            <a:ext cx="1013777"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8F25CC1C-2057-68E1-21B8-A4878749C96D}"/>
              </a:ext>
            </a:extLst>
          </p:cNvPr>
          <p:cNvCxnSpPr>
            <a:cxnSpLocks/>
            <a:endCxn id="14" idx="2"/>
          </p:cNvCxnSpPr>
          <p:nvPr/>
        </p:nvCxnSpPr>
        <p:spPr>
          <a:xfrm flipH="1" flipV="1">
            <a:off x="2355065" y="4676637"/>
            <a:ext cx="2049411"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B800FBA5-1D37-3DF6-701A-70896D275692}"/>
              </a:ext>
            </a:extLst>
          </p:cNvPr>
          <p:cNvSpPr/>
          <p:nvPr/>
        </p:nvSpPr>
        <p:spPr>
          <a:xfrm>
            <a:off x="5601353" y="5345302"/>
            <a:ext cx="180991" cy="279329"/>
          </a:xfrm>
          <a:prstGeom prst="rect">
            <a:avLst/>
          </a:prstGeom>
          <a:solidFill>
            <a:srgbClr val="DAE8FC"/>
          </a:solidFill>
          <a:ln w="9525" cap="flat">
            <a:solidFill>
              <a:srgbClr val="6C8EBF"/>
            </a:solidFill>
            <a:prstDash val="solid"/>
            <a:miter/>
          </a:ln>
        </p:spPr>
        <p:txBody>
          <a:bodyPr/>
          <a:lstStyle/>
          <a:p>
            <a:endParaRPr lang="en-US"/>
          </a:p>
        </p:txBody>
      </p:sp>
      <p:sp>
        <p:nvSpPr>
          <p:cNvPr id="13" name="Rectangle 12">
            <a:extLst>
              <a:ext uri="{FF2B5EF4-FFF2-40B4-BE49-F238E27FC236}">
                <a16:creationId xmlns:a16="http://schemas.microsoft.com/office/drawing/2014/main" id="{666A78F4-88C1-5BB5-A720-F8E1C747C4A4}"/>
              </a:ext>
            </a:extLst>
          </p:cNvPr>
          <p:cNvSpPr/>
          <p:nvPr/>
        </p:nvSpPr>
        <p:spPr>
          <a:xfrm>
            <a:off x="5248452" y="5334843"/>
            <a:ext cx="180991" cy="279329"/>
          </a:xfrm>
          <a:prstGeom prst="rect">
            <a:avLst/>
          </a:prstGeom>
          <a:solidFill>
            <a:srgbClr val="F8CECC"/>
          </a:solidFill>
          <a:ln w="9525" cap="flat">
            <a:solidFill>
              <a:srgbClr val="B85450"/>
            </a:solidFill>
            <a:prstDash val="solid"/>
            <a:miter/>
          </a:ln>
        </p:spPr>
        <p:txBody>
          <a:bodyPr/>
          <a:lstStyle/>
          <a:p>
            <a:endParaRPr lang="en-US"/>
          </a:p>
        </p:txBody>
      </p:sp>
      <p:sp>
        <p:nvSpPr>
          <p:cNvPr id="14" name="Rectangle 13">
            <a:extLst>
              <a:ext uri="{FF2B5EF4-FFF2-40B4-BE49-F238E27FC236}">
                <a16:creationId xmlns:a16="http://schemas.microsoft.com/office/drawing/2014/main" id="{75F7C241-9D44-3CF8-9535-9112860BF57B}"/>
              </a:ext>
            </a:extLst>
          </p:cNvPr>
          <p:cNvSpPr/>
          <p:nvPr/>
        </p:nvSpPr>
        <p:spPr>
          <a:xfrm>
            <a:off x="6611189" y="2438179"/>
            <a:ext cx="3378631" cy="279329"/>
          </a:xfrm>
          <a:prstGeom prst="rect">
            <a:avLst/>
          </a:prstGeom>
          <a:solidFill>
            <a:srgbClr val="F8CECC"/>
          </a:solidFill>
          <a:ln w="9525" cap="flat">
            <a:solidFill>
              <a:srgbClr val="B85450"/>
            </a:solidFill>
            <a:prstDash val="solid"/>
            <a:miter/>
          </a:ln>
        </p:spPr>
        <p:txBody>
          <a:bodyPr/>
          <a:lstStyle/>
          <a:p>
            <a:endParaRPr lang="en-US"/>
          </a:p>
        </p:txBody>
      </p:sp>
      <p:sp>
        <p:nvSpPr>
          <p:cNvPr id="12" name="Rectangle 11">
            <a:extLst>
              <a:ext uri="{FF2B5EF4-FFF2-40B4-BE49-F238E27FC236}">
                <a16:creationId xmlns:a16="http://schemas.microsoft.com/office/drawing/2014/main" id="{1FF9B84D-952D-904E-C8E6-65F23E348220}"/>
              </a:ext>
            </a:extLst>
          </p:cNvPr>
          <p:cNvSpPr/>
          <p:nvPr/>
        </p:nvSpPr>
        <p:spPr>
          <a:xfrm>
            <a:off x="7132064" y="2713960"/>
            <a:ext cx="3825495" cy="554467"/>
          </a:xfrm>
          <a:prstGeom prst="rect">
            <a:avLst/>
          </a:prstGeom>
          <a:solidFill>
            <a:srgbClr val="D5E8D4"/>
          </a:solidFill>
          <a:ln w="9525" cap="flat">
            <a:solidFill>
              <a:srgbClr val="82B366"/>
            </a:solidFill>
            <a:prstDash val="solid"/>
            <a:miter/>
          </a:ln>
        </p:spPr>
        <p:txBody>
          <a:bodyPr/>
          <a:lstStyle/>
          <a:p>
            <a:endParaRPr lang="en-US"/>
          </a:p>
        </p:txBody>
      </p:sp>
      <p:sp>
        <p:nvSpPr>
          <p:cNvPr id="11" name="Rectangle 10">
            <a:extLst>
              <a:ext uri="{FF2B5EF4-FFF2-40B4-BE49-F238E27FC236}">
                <a16:creationId xmlns:a16="http://schemas.microsoft.com/office/drawing/2014/main" id="{45C6B551-6774-AC99-228E-D1F7AAF62B05}"/>
              </a:ext>
            </a:extLst>
          </p:cNvPr>
          <p:cNvSpPr/>
          <p:nvPr/>
        </p:nvSpPr>
        <p:spPr>
          <a:xfrm>
            <a:off x="4895552" y="5345303"/>
            <a:ext cx="180990" cy="279328"/>
          </a:xfrm>
          <a:prstGeom prst="rect">
            <a:avLst/>
          </a:prstGeom>
          <a:solidFill>
            <a:srgbClr val="D5E8D4"/>
          </a:solidFill>
          <a:ln w="9525" cap="flat">
            <a:solidFill>
              <a:srgbClr val="82B366"/>
            </a:solidFill>
            <a:prstDash val="solid"/>
            <a:miter/>
          </a:ln>
        </p:spPr>
        <p:txBody>
          <a:bodyPr/>
          <a:lstStyle/>
          <a:p>
            <a:endParaRPr lang="en-US"/>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9/1/2026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2738492" y="1701592"/>
            <a:ext cx="1651414" cy="369332"/>
          </a:xfrm>
          <a:prstGeom prst="rect">
            <a:avLst/>
          </a:prstGeom>
          <a:noFill/>
        </p:spPr>
        <p:txBody>
          <a:bodyPr wrap="none" rtlCol="0">
            <a:spAutoFit/>
          </a:bodyPr>
          <a:lstStyle/>
          <a:p>
            <a:pPr algn="ctr"/>
            <a:r>
              <a:rPr lang="en-US"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6556239" y="2392674"/>
            <a:ext cx="5255085" cy="1196097"/>
          </a:xfrm>
          <a:prstGeom prst="rect">
            <a:avLst/>
          </a:prstGeom>
          <a:noFill/>
          <a:ln>
            <a:solidFill>
              <a:schemeClr val="tx1"/>
            </a:solidFill>
          </a:ln>
        </p:spPr>
        <p:txBody>
          <a:bodyPr wrap="square">
            <a:spAutoFit/>
          </a:bodyPr>
          <a:lstStyle/>
          <a:p>
            <a:pPr>
              <a:lnSpc>
                <a:spcPct val="113095"/>
              </a:lnSpc>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    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M</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C</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A</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B</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8368825" y="4836317"/>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E5347DA-3F5A-6C6C-F424-88F41C72727D}"/>
              </a:ext>
            </a:extLst>
          </p:cNvPr>
          <p:cNvSpPr/>
          <p:nvPr/>
        </p:nvSpPr>
        <p:spPr>
          <a:xfrm>
            <a:off x="8368825" y="456530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BB2AD3C-93CE-6E6C-6024-6CF36DA40579}"/>
              </a:ext>
            </a:extLst>
          </p:cNvPr>
          <p:cNvSpPr/>
          <p:nvPr/>
        </p:nvSpPr>
        <p:spPr>
          <a:xfrm>
            <a:off x="8368824" y="427355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2F7AA6-5F7F-99DE-465E-A4472E5548CB}"/>
              </a:ext>
            </a:extLst>
          </p:cNvPr>
          <p:cNvSpPr txBox="1"/>
          <p:nvPr/>
        </p:nvSpPr>
        <p:spPr>
          <a:xfrm>
            <a:off x="3603601" y="4189207"/>
            <a:ext cx="7115199" cy="2030749"/>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b="0" noProof="0" dirty="0" err="1">
                <a:solidFill>
                  <a:srgbClr val="000000"/>
                </a:solidFill>
                <a:effectLst/>
                <a:latin typeface="Fira Code" panose="020B0809050000020004" pitchFamily="49" charset="0"/>
              </a:rPr>
              <a:t>,</a:t>
            </a:r>
            <a:r>
              <a:rPr lang="en-US" sz="1600" noProof="0" dirty="0" err="1">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noProof="0" dirty="0">
                <a:solidFill>
                  <a:srgbClr val="A31515"/>
                </a:solidFill>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a:t>
            </a:r>
          </a:p>
          <a:p>
            <a:pPr>
              <a:lnSpc>
                <a:spcPct val="113095"/>
              </a:lnSpc>
            </a:pPr>
            <a:r>
              <a:rPr lang="en-US" sz="1600" noProof="0" dirty="0">
                <a:solidFill>
                  <a:srgbClr val="267F99"/>
                </a:solidFill>
                <a:latin typeface="Fira Code" panose="020B0809050000020004" pitchFamily="49" charset="0"/>
              </a:rPr>
              <a:t>auto</a:t>
            </a:r>
            <a:r>
              <a:rPr lang="en-US" sz="1600" noProof="0" dirty="0">
                <a:solidFill>
                  <a:srgbClr val="000000"/>
                </a:solidFill>
                <a:latin typeface="Fira Code" panose="020B0809050000020004" pitchFamily="49" charset="0"/>
              </a:rPr>
              <a:t> </a:t>
            </a:r>
            <a:r>
              <a:rPr lang="en-US" sz="1600" noProof="0" dirty="0">
                <a:solidFill>
                  <a:srgbClr val="001080"/>
                </a:solidFill>
                <a:latin typeface="Fira Code" panose="020B0809050000020004" pitchFamily="49" charset="0"/>
              </a:rPr>
              <a:t>C</a:t>
            </a:r>
            <a:r>
              <a:rPr lang="en-US" sz="1600" noProof="0" dirty="0">
                <a:solidFill>
                  <a:srgbClr val="000000"/>
                </a:solidFill>
                <a:latin typeface="Fira Code" panose="020B0809050000020004" pitchFamily="49" charset="0"/>
              </a:rPr>
              <a:t> = </a:t>
            </a:r>
            <a:r>
              <a:rPr lang="en-US" sz="1600" noProof="0" dirty="0">
                <a:solidFill>
                  <a:srgbClr val="795E26"/>
                </a:solidFill>
                <a:latin typeface="Fira Code" panose="020B0809050000020004" pitchFamily="49" charset="0"/>
              </a:rPr>
              <a:t>bag</a:t>
            </a:r>
            <a:r>
              <a:rPr lang="en-US" sz="1600" noProof="0" dirty="0">
                <a:solidFill>
                  <a:srgbClr val="000000"/>
                </a:solidFill>
                <a:latin typeface="Fira Code" panose="020B0809050000020004" pitchFamily="49" charset="0"/>
              </a:rPr>
              <a:t>(</a:t>
            </a:r>
            <a:r>
              <a:rPr lang="en-US" sz="1600" noProof="0" dirty="0">
                <a:solidFill>
                  <a:srgbClr val="267F99"/>
                </a:solidFill>
                <a:latin typeface="Fira Code" panose="020B0809050000020004" pitchFamily="49" charset="0"/>
              </a:rPr>
              <a:t>scalar</a:t>
            </a:r>
            <a:r>
              <a:rPr lang="en-US" sz="1600" noProof="0" dirty="0">
                <a:solidFill>
                  <a:srgbClr val="000000"/>
                </a:solidFill>
                <a:latin typeface="Fira Code" panose="020B0809050000020004" pitchFamily="49" charset="0"/>
              </a:rPr>
              <a:t>&lt;</a:t>
            </a:r>
            <a:r>
              <a:rPr lang="en-US" sz="1600" noProof="0" dirty="0">
                <a:solidFill>
                  <a:srgbClr val="0000FF"/>
                </a:solidFill>
                <a:latin typeface="Fira Code" panose="020B0809050000020004" pitchFamily="49" charset="0"/>
              </a:rPr>
              <a:t>float</a:t>
            </a:r>
            <a:r>
              <a:rPr lang="en-US" sz="1600" noProof="0" dirty="0">
                <a:solidFill>
                  <a:srgbClr val="000000"/>
                </a:solidFill>
                <a:latin typeface="Fira Code" panose="020B0809050000020004" pitchFamily="49" charset="0"/>
              </a:rPr>
              <a:t>&gt;() ^ </a:t>
            </a:r>
            <a:r>
              <a:rPr lang="en-US" sz="1600" noProof="0" dirty="0">
                <a:solidFill>
                  <a:srgbClr val="795E26"/>
                </a:solidFill>
                <a:latin typeface="Fira Code" panose="020B0809050000020004" pitchFamily="49" charset="0"/>
              </a:rPr>
              <a:t>vectors</a:t>
            </a:r>
            <a:r>
              <a:rPr lang="en-US" sz="400" noProof="0" dirty="0">
                <a:solidFill>
                  <a:srgbClr val="795E26"/>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N</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M</a:t>
            </a:r>
            <a:r>
              <a:rPr lang="en-US" sz="1600" noProof="0" dirty="0">
                <a:solidFill>
                  <a:srgbClr val="000000"/>
                </a:solidFill>
                <a:latin typeface="Fira Code" panose="020B0809050000020004" pitchFamily="49" charset="0"/>
              </a:rPr>
              <a:t>));</a:t>
            </a:r>
          </a:p>
          <a:p>
            <a:pPr>
              <a:lnSpc>
                <a:spcPct val="113095"/>
              </a:lnSpc>
              <a:buNone/>
            </a:pP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4755888" y="4230666"/>
            <a:ext cx="5761997" cy="864020"/>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Left Brace 26">
            <a:extLst>
              <a:ext uri="{FF2B5EF4-FFF2-40B4-BE49-F238E27FC236}">
                <a16:creationId xmlns:a16="http://schemas.microsoft.com/office/drawing/2014/main" id="{7F2480A4-F85D-835C-D9CF-78D5AEA6691A}"/>
              </a:ext>
            </a:extLst>
          </p:cNvPr>
          <p:cNvSpPr/>
          <p:nvPr/>
        </p:nvSpPr>
        <p:spPr>
          <a:xfrm>
            <a:off x="6934647" y="2736790"/>
            <a:ext cx="145474" cy="44767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CE370899-1C65-D83C-089B-CAEE925683F6}"/>
              </a:ext>
            </a:extLst>
          </p:cNvPr>
          <p:cNvSpPr txBox="1"/>
          <p:nvPr/>
        </p:nvSpPr>
        <p:spPr>
          <a:xfrm>
            <a:off x="6626549" y="2791350"/>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A</a:t>
            </a:r>
          </a:p>
        </p:txBody>
      </p:sp>
      <p:sp>
        <p:nvSpPr>
          <p:cNvPr id="30" name="Left Brace 29">
            <a:extLst>
              <a:ext uri="{FF2B5EF4-FFF2-40B4-BE49-F238E27FC236}">
                <a16:creationId xmlns:a16="http://schemas.microsoft.com/office/drawing/2014/main" id="{AEF9BC57-EA20-B17F-B5CA-7C288124FACF}"/>
              </a:ext>
            </a:extLst>
          </p:cNvPr>
          <p:cNvSpPr/>
          <p:nvPr/>
        </p:nvSpPr>
        <p:spPr>
          <a:xfrm>
            <a:off x="6324307" y="2421066"/>
            <a:ext cx="145474" cy="29289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502F7957-9487-6F32-7082-9BD1A9389590}"/>
              </a:ext>
            </a:extLst>
          </p:cNvPr>
          <p:cNvSpPr txBox="1"/>
          <p:nvPr/>
        </p:nvSpPr>
        <p:spPr>
          <a:xfrm>
            <a:off x="6016209" y="2398236"/>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B</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1518373" y="2029939"/>
            <a:ext cx="3983136" cy="1752403"/>
            <a:chOff x="1126336" y="1862333"/>
            <a:chExt cx="3983136" cy="1752403"/>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26336" y="1862333"/>
              <a:ext cx="3935834" cy="1703254"/>
              <a:chOff x="65016" y="1664560"/>
              <a:chExt cx="5368435" cy="2323220"/>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D0D73947-8818-5717-38FC-7ECD4EA12641}"/>
                  </a:ext>
                </a:extLst>
              </p:cNvPr>
              <p:cNvSpPr txBox="1"/>
              <p:nvPr/>
            </p:nvSpPr>
            <p:spPr>
              <a:xfrm>
                <a:off x="6548778" y="1435638"/>
                <a:ext cx="2097947" cy="871457"/>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𝑖𝑗</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𝑘</m:t>
                          </m:r>
                          <m:r>
                            <m:rPr>
                              <m:brk m:alnAt="23"/>
                            </m:rPr>
                            <a:rPr lang="en-US" b="0" i="1" smtClean="0">
                              <a:latin typeface="Cambria Math" panose="02040503050406030204" pitchFamily="18" charset="0"/>
                            </a:rPr>
                            <m:t>=</m:t>
                          </m:r>
                          <m:r>
                            <m:rPr>
                              <m:brk m:alnAt="23"/>
                            </m:rPr>
                            <a:rPr lang="en-US" b="0" i="1" smtClean="0">
                              <a:latin typeface="Cambria Math" panose="02040503050406030204" pitchFamily="18" charset="0"/>
                            </a:rPr>
                            <m:t>0</m:t>
                          </m:r>
                        </m:sub>
                        <m:sup>
                          <m:r>
                            <a:rPr lang="en-US" b="0" i="1" smtClean="0">
                              <a:latin typeface="Cambria Math" panose="02040503050406030204" pitchFamily="18" charset="0"/>
                            </a:rPr>
                            <m:t>𝐾</m:t>
                          </m:r>
                          <m:r>
                            <a:rPr lang="en-US" b="0" i="1" smtClean="0">
                              <a:latin typeface="Cambria Math" panose="02040503050406030204" pitchFamily="18" charset="0"/>
                            </a:rPr>
                            <m:t>−1</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𝑖𝑘</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𝑘𝑗</m:t>
                              </m:r>
                            </m:sub>
                          </m:sSub>
                        </m:e>
                      </m:nary>
                    </m:oMath>
                  </m:oMathPara>
                </a14:m>
                <a:endParaRPr lang="en-US" dirty="0"/>
              </a:p>
            </p:txBody>
          </p:sp>
        </mc:Choice>
        <mc:Fallback xmlns="">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6548778" y="1435638"/>
                <a:ext cx="2097947" cy="871457"/>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stCxn id="183" idx="3"/>
            <a:endCxn id="24" idx="0"/>
          </p:cNvCxnSpPr>
          <p:nvPr/>
        </p:nvCxnSpPr>
        <p:spPr>
          <a:xfrm>
            <a:off x="8646725" y="1871367"/>
            <a:ext cx="537057" cy="521307"/>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7" name="Left Brace 186">
            <a:extLst>
              <a:ext uri="{FF2B5EF4-FFF2-40B4-BE49-F238E27FC236}">
                <a16:creationId xmlns:a16="http://schemas.microsoft.com/office/drawing/2014/main" id="{8A60AD5E-BCD3-A5CC-080F-BB0C2C74CDEB}"/>
              </a:ext>
            </a:extLst>
          </p:cNvPr>
          <p:cNvSpPr/>
          <p:nvPr/>
        </p:nvSpPr>
        <p:spPr>
          <a:xfrm>
            <a:off x="3470710" y="4173482"/>
            <a:ext cx="110689" cy="905479"/>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8" name="TextBox 187">
            <a:extLst>
              <a:ext uri="{FF2B5EF4-FFF2-40B4-BE49-F238E27FC236}">
                <a16:creationId xmlns:a16="http://schemas.microsoft.com/office/drawing/2014/main" id="{C0F2A9DC-A0E5-D4DD-B577-5076225F23C6}"/>
              </a:ext>
            </a:extLst>
          </p:cNvPr>
          <p:cNvSpPr txBox="1"/>
          <p:nvPr/>
        </p:nvSpPr>
        <p:spPr>
          <a:xfrm>
            <a:off x="1418444" y="4301904"/>
            <a:ext cx="2011448" cy="646331"/>
          </a:xfrm>
          <a:prstGeom prst="rect">
            <a:avLst/>
          </a:prstGeom>
          <a:noFill/>
        </p:spPr>
        <p:txBody>
          <a:bodyPr wrap="none" rtlCol="0">
            <a:spAutoFit/>
          </a:bodyPr>
          <a:lstStyle/>
          <a:p>
            <a:pPr algn="ctr"/>
            <a:r>
              <a:rPr lang="en-US" dirty="0"/>
              <a:t>Possible definition</a:t>
            </a:r>
            <a:br>
              <a:rPr lang="en-US" dirty="0"/>
            </a:br>
            <a:r>
              <a:rPr lang="en-US" dirty="0"/>
              <a:t>of </a:t>
            </a:r>
            <a:r>
              <a:rPr lang="en-US" dirty="0">
                <a:solidFill>
                  <a:srgbClr val="001080"/>
                </a:solidFill>
                <a:latin typeface="Fira Code" panose="020B0809050000020004" pitchFamily="49" charset="0"/>
              </a:rPr>
              <a:t>A</a:t>
            </a:r>
            <a:r>
              <a:rPr lang="en-US" dirty="0"/>
              <a:t>, </a:t>
            </a:r>
            <a:r>
              <a:rPr lang="en-US" dirty="0">
                <a:solidFill>
                  <a:srgbClr val="001080"/>
                </a:solidFill>
                <a:latin typeface="Fira Code" panose="020B0809050000020004" pitchFamily="49" charset="0"/>
              </a:rPr>
              <a:t>B</a:t>
            </a:r>
            <a:r>
              <a:rPr lang="en-US" dirty="0"/>
              <a:t>, </a:t>
            </a:r>
            <a:r>
              <a:rPr lang="en-US" dirty="0">
                <a:solidFill>
                  <a:srgbClr val="001080"/>
                </a:solidFill>
                <a:latin typeface="Fira Code" panose="020B0809050000020004" pitchFamily="49" charset="0"/>
              </a:rPr>
              <a:t>C</a:t>
            </a:r>
          </a:p>
        </p:txBody>
      </p:sp>
      <p:cxnSp>
        <p:nvCxnSpPr>
          <p:cNvPr id="190" name="Connector: Curved 189">
            <a:extLst>
              <a:ext uri="{FF2B5EF4-FFF2-40B4-BE49-F238E27FC236}">
                <a16:creationId xmlns:a16="http://schemas.microsoft.com/office/drawing/2014/main" id="{F64ECC42-FB7A-6531-B37F-E21B555249CC}"/>
              </a:ext>
            </a:extLst>
          </p:cNvPr>
          <p:cNvCxnSpPr>
            <a:stCxn id="181" idx="3"/>
            <a:endCxn id="183" idx="1"/>
          </p:cNvCxnSpPr>
          <p:nvPr/>
        </p:nvCxnSpPr>
        <p:spPr>
          <a:xfrm flipV="1">
            <a:off x="5501509" y="1871367"/>
            <a:ext cx="1047269" cy="1058474"/>
          </a:xfrm>
          <a:prstGeom prst="curvedConnector3">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872274" y="2877699"/>
            <a:ext cx="600436" cy="202258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3" grpId="0" animBg="1"/>
      <p:bldP spid="14" grpId="0" animBg="1"/>
      <p:bldP spid="12" grpId="0" animBg="1"/>
      <p:bldP spid="11" grpId="0" animBg="1"/>
      <p:bldP spid="24" grpId="0" animBg="1"/>
      <p:bldP spid="5" grpId="0" animBg="1"/>
      <p:bldP spid="17" grpId="0" animBg="1"/>
      <p:bldP spid="20" grpId="0" animBg="1"/>
      <p:bldP spid="8" grpId="0" animBg="1"/>
      <p:bldP spid="25" grpId="0" animBg="1"/>
      <p:bldP spid="27" grpId="0" animBg="1"/>
      <p:bldP spid="28" grpId="0"/>
      <p:bldP spid="30" grpId="0" animBg="1"/>
      <p:bldP spid="32" grpId="0"/>
      <p:bldP spid="183" grpId="0" animBg="1"/>
      <p:bldP spid="187" grpId="0" animBg="1"/>
      <p:bldP spid="1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8261B2B9-C469-602B-A2E3-3AA44F99C414}"/>
              </a:ext>
            </a:extLst>
          </p:cNvPr>
          <p:cNvGrpSpPr/>
          <p:nvPr/>
        </p:nvGrpSpPr>
        <p:grpSpPr>
          <a:xfrm>
            <a:off x="4057435" y="4029146"/>
            <a:ext cx="3983136" cy="1752403"/>
            <a:chOff x="4057435" y="4029146"/>
            <a:chExt cx="3983136" cy="1752403"/>
          </a:xfrm>
        </p:grpSpPr>
        <p:grpSp>
          <p:nvGrpSpPr>
            <p:cNvPr id="2" name="Group 1">
              <a:extLst>
                <a:ext uri="{FF2B5EF4-FFF2-40B4-BE49-F238E27FC236}">
                  <a16:creationId xmlns:a16="http://schemas.microsoft.com/office/drawing/2014/main" id="{5352FAED-5D54-7B19-095D-7CF32912893D}"/>
                </a:ext>
              </a:extLst>
            </p:cNvPr>
            <p:cNvGrpSpPr/>
            <p:nvPr/>
          </p:nvGrpSpPr>
          <p:grpSpPr>
            <a:xfrm>
              <a:off x="4057435" y="4029146"/>
              <a:ext cx="3983136" cy="1752403"/>
              <a:chOff x="1126336" y="1862333"/>
              <a:chExt cx="3983136" cy="1752403"/>
            </a:xfrm>
          </p:grpSpPr>
          <p:sp>
            <p:nvSpPr>
              <p:cNvPr id="5" name="Rectangle 4">
                <a:extLst>
                  <a:ext uri="{FF2B5EF4-FFF2-40B4-BE49-F238E27FC236}">
                    <a16:creationId xmlns:a16="http://schemas.microsoft.com/office/drawing/2014/main" id="{9836DBEE-1A6E-C29C-105F-84EC0A96CECF}"/>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297522E-3028-0341-DAE2-963A7D4DC95D}"/>
                  </a:ext>
                </a:extLst>
              </p:cNvPr>
              <p:cNvGrpSpPr/>
              <p:nvPr/>
            </p:nvGrpSpPr>
            <p:grpSpPr>
              <a:xfrm>
                <a:off x="1126336" y="1862333"/>
                <a:ext cx="3935834" cy="1703254"/>
                <a:chOff x="65016" y="1664560"/>
                <a:chExt cx="5368435" cy="2323220"/>
              </a:xfrm>
            </p:grpSpPr>
            <p:grpSp>
              <p:nvGrpSpPr>
                <p:cNvPr id="16" name="Group 15">
                  <a:extLst>
                    <a:ext uri="{FF2B5EF4-FFF2-40B4-BE49-F238E27FC236}">
                      <a16:creationId xmlns:a16="http://schemas.microsoft.com/office/drawing/2014/main" id="{D3C83771-FA7B-B410-22E2-78F36C720C9E}"/>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F104B93F-D80D-FFAA-1192-9075FFD58C64}"/>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69" name="Rectangle 68">
                    <a:extLst>
                      <a:ext uri="{FF2B5EF4-FFF2-40B4-BE49-F238E27FC236}">
                        <a16:creationId xmlns:a16="http://schemas.microsoft.com/office/drawing/2014/main" id="{10A9836B-300B-1198-9F13-172D4B8E21F5}"/>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0" name="Rectangle 69">
                    <a:extLst>
                      <a:ext uri="{FF2B5EF4-FFF2-40B4-BE49-F238E27FC236}">
                        <a16:creationId xmlns:a16="http://schemas.microsoft.com/office/drawing/2014/main" id="{8721D433-E3AA-A1F7-45D3-AD392FBA4E6F}"/>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1" name="Rectangle 70">
                    <a:extLst>
                      <a:ext uri="{FF2B5EF4-FFF2-40B4-BE49-F238E27FC236}">
                        <a16:creationId xmlns:a16="http://schemas.microsoft.com/office/drawing/2014/main" id="{D91126E2-19A9-B1C8-490F-55FAE5CF047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2" name="Rectangle 71">
                    <a:extLst>
                      <a:ext uri="{FF2B5EF4-FFF2-40B4-BE49-F238E27FC236}">
                        <a16:creationId xmlns:a16="http://schemas.microsoft.com/office/drawing/2014/main" id="{6EF3A2AD-F024-2567-5355-893D31E5A823}"/>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3" name="Rectangle 72">
                    <a:extLst>
                      <a:ext uri="{FF2B5EF4-FFF2-40B4-BE49-F238E27FC236}">
                        <a16:creationId xmlns:a16="http://schemas.microsoft.com/office/drawing/2014/main" id="{210FE543-CFA3-4B76-1C20-E3A0CBB33CD7}"/>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4" name="Rectangle 73">
                    <a:extLst>
                      <a:ext uri="{FF2B5EF4-FFF2-40B4-BE49-F238E27FC236}">
                        <a16:creationId xmlns:a16="http://schemas.microsoft.com/office/drawing/2014/main" id="{0CE62B15-F58C-58BE-7976-AC1339893E6C}"/>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5" name="Rectangle 74">
                    <a:extLst>
                      <a:ext uri="{FF2B5EF4-FFF2-40B4-BE49-F238E27FC236}">
                        <a16:creationId xmlns:a16="http://schemas.microsoft.com/office/drawing/2014/main" id="{FBA9508F-FE58-2FA1-9C8F-EF5F3E1AEA3A}"/>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6" name="Rectangle 75">
                    <a:extLst>
                      <a:ext uri="{FF2B5EF4-FFF2-40B4-BE49-F238E27FC236}">
                        <a16:creationId xmlns:a16="http://schemas.microsoft.com/office/drawing/2014/main" id="{E1BD5726-9998-A690-1D27-1F1287CE6E94}"/>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77" name="Rectangle 76">
                    <a:extLst>
                      <a:ext uri="{FF2B5EF4-FFF2-40B4-BE49-F238E27FC236}">
                        <a16:creationId xmlns:a16="http://schemas.microsoft.com/office/drawing/2014/main" id="{7E71ECAC-DE64-9BC9-D7BD-FE40F6529F63}"/>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8" name="Rectangle 77">
                    <a:extLst>
                      <a:ext uri="{FF2B5EF4-FFF2-40B4-BE49-F238E27FC236}">
                        <a16:creationId xmlns:a16="http://schemas.microsoft.com/office/drawing/2014/main" id="{F94386A7-F93B-8AB0-42F9-944A26983A6A}"/>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9" name="Rectangle 78">
                    <a:extLst>
                      <a:ext uri="{FF2B5EF4-FFF2-40B4-BE49-F238E27FC236}">
                        <a16:creationId xmlns:a16="http://schemas.microsoft.com/office/drawing/2014/main" id="{DF9825E6-5236-927D-8B7A-8D72529C9C30}"/>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7" name="Group 16">
                  <a:extLst>
                    <a:ext uri="{FF2B5EF4-FFF2-40B4-BE49-F238E27FC236}">
                      <a16:creationId xmlns:a16="http://schemas.microsoft.com/office/drawing/2014/main" id="{21C6EC1D-FBD0-CE78-FBA3-7194C44510F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23F12A75-F774-16A8-FC20-FDF7636A1E71}"/>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7" name="Rectangle 56">
                    <a:extLst>
                      <a:ext uri="{FF2B5EF4-FFF2-40B4-BE49-F238E27FC236}">
                        <a16:creationId xmlns:a16="http://schemas.microsoft.com/office/drawing/2014/main" id="{8D83FE23-1505-0B2B-383F-3A7ECA358199}"/>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8" name="Rectangle 57">
                    <a:extLst>
                      <a:ext uri="{FF2B5EF4-FFF2-40B4-BE49-F238E27FC236}">
                        <a16:creationId xmlns:a16="http://schemas.microsoft.com/office/drawing/2014/main" id="{5015652B-59A7-F7FE-403E-4B30A8D0AC48}"/>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9" name="Rectangle 58">
                    <a:extLst>
                      <a:ext uri="{FF2B5EF4-FFF2-40B4-BE49-F238E27FC236}">
                        <a16:creationId xmlns:a16="http://schemas.microsoft.com/office/drawing/2014/main" id="{D7F9F02E-B672-E256-D15A-3134B259284A}"/>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0" name="Rectangle 59">
                    <a:extLst>
                      <a:ext uri="{FF2B5EF4-FFF2-40B4-BE49-F238E27FC236}">
                        <a16:creationId xmlns:a16="http://schemas.microsoft.com/office/drawing/2014/main" id="{E3993A90-7BDD-9B9A-2521-81AE8A5AEC2C}"/>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1" name="Rectangle 60">
                    <a:extLst>
                      <a:ext uri="{FF2B5EF4-FFF2-40B4-BE49-F238E27FC236}">
                        <a16:creationId xmlns:a16="http://schemas.microsoft.com/office/drawing/2014/main" id="{AA9F1307-971B-0B06-EC0B-11AC8B2826CE}"/>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2" name="Rectangle 61">
                    <a:extLst>
                      <a:ext uri="{FF2B5EF4-FFF2-40B4-BE49-F238E27FC236}">
                        <a16:creationId xmlns:a16="http://schemas.microsoft.com/office/drawing/2014/main" id="{F5A73423-66CF-9292-46CC-F5940DB94EDC}"/>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3" name="Rectangle 62">
                    <a:extLst>
                      <a:ext uri="{FF2B5EF4-FFF2-40B4-BE49-F238E27FC236}">
                        <a16:creationId xmlns:a16="http://schemas.microsoft.com/office/drawing/2014/main" id="{9BF7643F-B9A5-DE3E-8D8B-A7C209B6DAB3}"/>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4" name="Rectangle 63">
                    <a:extLst>
                      <a:ext uri="{FF2B5EF4-FFF2-40B4-BE49-F238E27FC236}">
                        <a16:creationId xmlns:a16="http://schemas.microsoft.com/office/drawing/2014/main" id="{FFF8BB0B-73C4-0ED1-483A-A57F8A8584A1}"/>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5" name="Rectangle 64">
                    <a:extLst>
                      <a:ext uri="{FF2B5EF4-FFF2-40B4-BE49-F238E27FC236}">
                        <a16:creationId xmlns:a16="http://schemas.microsoft.com/office/drawing/2014/main" id="{F3F686B1-61B0-0EAC-E8C6-CAE658A0E6B3}"/>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6" name="Rectangle 65">
                    <a:extLst>
                      <a:ext uri="{FF2B5EF4-FFF2-40B4-BE49-F238E27FC236}">
                        <a16:creationId xmlns:a16="http://schemas.microsoft.com/office/drawing/2014/main" id="{2F15BB46-2EDB-6D17-4E78-20B566D70A42}"/>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7" name="Rectangle 66">
                    <a:extLst>
                      <a:ext uri="{FF2B5EF4-FFF2-40B4-BE49-F238E27FC236}">
                        <a16:creationId xmlns:a16="http://schemas.microsoft.com/office/drawing/2014/main" id="{9E969A7E-88DB-D5AA-B7DD-A5883B749410}"/>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8" name="Group 17">
                  <a:extLst>
                    <a:ext uri="{FF2B5EF4-FFF2-40B4-BE49-F238E27FC236}">
                      <a16:creationId xmlns:a16="http://schemas.microsoft.com/office/drawing/2014/main" id="{C729EE7B-FB7B-CBA0-5967-2806B16A2F65}"/>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BA985FAA-1D15-4101-88FF-435104B7C994}"/>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0" name="Rectangle 39">
                    <a:extLst>
                      <a:ext uri="{FF2B5EF4-FFF2-40B4-BE49-F238E27FC236}">
                        <a16:creationId xmlns:a16="http://schemas.microsoft.com/office/drawing/2014/main" id="{D8CF8803-3266-C175-5BC0-F0BC4BDC40E9}"/>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1" name="Rectangle 40">
                    <a:extLst>
                      <a:ext uri="{FF2B5EF4-FFF2-40B4-BE49-F238E27FC236}">
                        <a16:creationId xmlns:a16="http://schemas.microsoft.com/office/drawing/2014/main" id="{A371ED71-AC4A-B776-19A7-033AC9251E41}"/>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2" name="Rectangle 41">
                    <a:extLst>
                      <a:ext uri="{FF2B5EF4-FFF2-40B4-BE49-F238E27FC236}">
                        <a16:creationId xmlns:a16="http://schemas.microsoft.com/office/drawing/2014/main" id="{930CAD25-3C53-19D6-2FA8-433BF71F2FE7}"/>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4" name="Rectangle 43">
                    <a:extLst>
                      <a:ext uri="{FF2B5EF4-FFF2-40B4-BE49-F238E27FC236}">
                        <a16:creationId xmlns:a16="http://schemas.microsoft.com/office/drawing/2014/main" id="{7D8F67E6-DC65-9133-A95A-335E663BCB59}"/>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5" name="Rectangle 44">
                    <a:extLst>
                      <a:ext uri="{FF2B5EF4-FFF2-40B4-BE49-F238E27FC236}">
                        <a16:creationId xmlns:a16="http://schemas.microsoft.com/office/drawing/2014/main" id="{FDDFBA86-873A-ACEC-5B6F-844D2F109EEA}"/>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6" name="Rectangle 45">
                    <a:extLst>
                      <a:ext uri="{FF2B5EF4-FFF2-40B4-BE49-F238E27FC236}">
                        <a16:creationId xmlns:a16="http://schemas.microsoft.com/office/drawing/2014/main" id="{26D4EC4C-7095-EDC5-3770-0739F8E94A74}"/>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7" name="Rectangle 46">
                    <a:extLst>
                      <a:ext uri="{FF2B5EF4-FFF2-40B4-BE49-F238E27FC236}">
                        <a16:creationId xmlns:a16="http://schemas.microsoft.com/office/drawing/2014/main" id="{23B78262-8050-510D-A047-B1B72593D87B}"/>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8" name="Rectangle 47">
                    <a:extLst>
                      <a:ext uri="{FF2B5EF4-FFF2-40B4-BE49-F238E27FC236}">
                        <a16:creationId xmlns:a16="http://schemas.microsoft.com/office/drawing/2014/main" id="{D482531D-A502-3ECE-CDBC-86AB00665208}"/>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9" name="Rectangle 48">
                    <a:extLst>
                      <a:ext uri="{FF2B5EF4-FFF2-40B4-BE49-F238E27FC236}">
                        <a16:creationId xmlns:a16="http://schemas.microsoft.com/office/drawing/2014/main" id="{236D8D14-F797-76E5-1F61-59A65892DB28}"/>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0" name="Rectangle 49">
                    <a:extLst>
                      <a:ext uri="{FF2B5EF4-FFF2-40B4-BE49-F238E27FC236}">
                        <a16:creationId xmlns:a16="http://schemas.microsoft.com/office/drawing/2014/main" id="{1084C65B-50D1-829B-A65B-8A8BF681C828}"/>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1" name="Rectangle 50">
                    <a:extLst>
                      <a:ext uri="{FF2B5EF4-FFF2-40B4-BE49-F238E27FC236}">
                        <a16:creationId xmlns:a16="http://schemas.microsoft.com/office/drawing/2014/main" id="{D3ACCAEC-3E5E-CE29-9EF1-9D0FAEA190E6}"/>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2" name="Rectangle 51">
                    <a:extLst>
                      <a:ext uri="{FF2B5EF4-FFF2-40B4-BE49-F238E27FC236}">
                        <a16:creationId xmlns:a16="http://schemas.microsoft.com/office/drawing/2014/main" id="{D34B7C51-2FE9-C6C3-F11C-5605C43B977D}"/>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3" name="Rectangle 52">
                    <a:extLst>
                      <a:ext uri="{FF2B5EF4-FFF2-40B4-BE49-F238E27FC236}">
                        <a16:creationId xmlns:a16="http://schemas.microsoft.com/office/drawing/2014/main" id="{382B8EB3-68E9-3FDE-99AB-3466E2C1B0B6}"/>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54" name="Rectangle 53">
                    <a:extLst>
                      <a:ext uri="{FF2B5EF4-FFF2-40B4-BE49-F238E27FC236}">
                        <a16:creationId xmlns:a16="http://schemas.microsoft.com/office/drawing/2014/main" id="{A305010B-6FB3-06BA-D2CA-A0E8F333A858}"/>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5" name="Rectangle 54">
                    <a:extLst>
                      <a:ext uri="{FF2B5EF4-FFF2-40B4-BE49-F238E27FC236}">
                        <a16:creationId xmlns:a16="http://schemas.microsoft.com/office/drawing/2014/main" id="{AAFC6FEB-F769-EDC6-A8F5-9402714056F4}"/>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E0E1B8C-9799-7358-CC65-ECB3732F88EE}"/>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BA2BEC4-3FD6-7B18-396A-3D9DA7A3B082}"/>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B7D83A3E-0A3F-9471-1425-C2843378CC04}"/>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BF214E72-A55F-E646-3804-4599D4B2E9C1}"/>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B779916A-570A-62FD-1E57-5839E54FF846}"/>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FC77EB7-D037-1847-6BAD-08CFA0CF1FC5}"/>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62AFBE8-4193-58D1-E3FA-B79641055AE5}"/>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E0EF3E7-6E32-5875-70F5-13C81D46858B}"/>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D9D2A07-8298-0C78-FE09-AADDD1DC2DE9}"/>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3A53DAF4-81A0-3F38-FA0F-55349A519ABD}"/>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ED7A3614-7016-EA72-27D3-33B45CA09BF0}"/>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37DBCDB4-1D18-7B61-94E5-2F52FA04C4E7}"/>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B59027FF-4416-8EDD-2DCE-928F81E7C39B}"/>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BFA16D73-A81F-478F-C9AB-8861042E390F}"/>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9/1/2026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21" name="TextBox 20">
            <a:extLst>
              <a:ext uri="{FF2B5EF4-FFF2-40B4-BE49-F238E27FC236}">
                <a16:creationId xmlns:a16="http://schemas.microsoft.com/office/drawing/2014/main" id="{3F6B7F5F-6A6B-7B50-99CB-AE3DAB2E86D8}"/>
              </a:ext>
            </a:extLst>
          </p:cNvPr>
          <p:cNvSpPr txBox="1"/>
          <p:nvPr/>
        </p:nvSpPr>
        <p:spPr>
          <a:xfrm>
            <a:off x="5068155" y="4495744"/>
            <a:ext cx="2055691" cy="461665"/>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Parallelization</a:t>
            </a:r>
          </a:p>
        </p:txBody>
      </p:sp>
      <p:sp>
        <p:nvSpPr>
          <p:cNvPr id="23" name="TextBox 22">
            <a:extLst>
              <a:ext uri="{FF2B5EF4-FFF2-40B4-BE49-F238E27FC236}">
                <a16:creationId xmlns:a16="http://schemas.microsoft.com/office/drawing/2014/main" id="{BB09330A-A449-CB40-3FCF-2B26BA222655}"/>
              </a:ext>
            </a:extLst>
          </p:cNvPr>
          <p:cNvSpPr txBox="1"/>
          <p:nvPr/>
        </p:nvSpPr>
        <p:spPr>
          <a:xfrm>
            <a:off x="1716323" y="5458711"/>
            <a:ext cx="2264558"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rPr>
              <a:t>OpenMP</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omp_for_each</a:t>
            </a:r>
            <a:endParaRPr lang="en-US" sz="2400" dirty="0">
              <a:solidFill>
                <a:schemeClr val="tx1"/>
              </a:solidFill>
            </a:endParaRPr>
          </a:p>
        </p:txBody>
      </p:sp>
      <p:sp>
        <p:nvSpPr>
          <p:cNvPr id="25" name="TextBox 24">
            <a:extLst>
              <a:ext uri="{FF2B5EF4-FFF2-40B4-BE49-F238E27FC236}">
                <a16:creationId xmlns:a16="http://schemas.microsoft.com/office/drawing/2014/main" id="{65FADC59-989F-AE0F-9D16-0E35E9C69C74}"/>
              </a:ext>
            </a:extLst>
          </p:cNvPr>
          <p:cNvSpPr txBox="1"/>
          <p:nvPr/>
        </p:nvSpPr>
        <p:spPr>
          <a:xfrm>
            <a:off x="4964185"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err="1">
                <a:solidFill>
                  <a:schemeClr val="tx1"/>
                </a:solidFill>
                <a:effectLst/>
                <a:latin typeface="Fira Code" panose="020B0809050000020004" pitchFamily="49" charset="0"/>
              </a:rPr>
              <a:t>oneTBB</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tbb_for_each</a:t>
            </a:r>
            <a:endParaRPr lang="en-US" sz="2400" dirty="0">
              <a:solidFill>
                <a:schemeClr val="tx1"/>
              </a:solidFill>
            </a:endParaRPr>
          </a:p>
        </p:txBody>
      </p:sp>
      <p:sp>
        <p:nvSpPr>
          <p:cNvPr id="29" name="TextBox 28">
            <a:extLst>
              <a:ext uri="{FF2B5EF4-FFF2-40B4-BE49-F238E27FC236}">
                <a16:creationId xmlns:a16="http://schemas.microsoft.com/office/drawing/2014/main" id="{BC584833-E86B-4C27-58B9-4ED8496F2A50}"/>
              </a:ext>
            </a:extLst>
          </p:cNvPr>
          <p:cNvSpPr txBox="1"/>
          <p:nvPr/>
        </p:nvSpPr>
        <p:spPr>
          <a:xfrm>
            <a:off x="8212047"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latin typeface="Fira Code" panose="020B0809050000020004" pitchFamily="49" charset="0"/>
              </a:rPr>
              <a:t>CUDA</a:t>
            </a:r>
            <a:br>
              <a:rPr lang="en-US" b="0" noProof="0" dirty="0">
                <a:solidFill>
                  <a:schemeClr val="tx1"/>
                </a:solidFill>
                <a:effectLst/>
                <a:latin typeface="Fira Code" panose="020B0809050000020004" pitchFamily="49" charset="0"/>
              </a:rPr>
            </a:br>
            <a:r>
              <a:rPr lang="en-US" noProof="0" dirty="0">
                <a:solidFill>
                  <a:schemeClr val="tx1"/>
                </a:solidFill>
                <a:effectLst/>
                <a:latin typeface="Fira Code" panose="020B0809050000020004" pitchFamily="49" charset="0"/>
              </a:rPr>
              <a:t>cuda_traverser</a:t>
            </a:r>
            <a:endParaRPr lang="en-US" sz="2400" dirty="0">
              <a:solidFill>
                <a:schemeClr val="tx1"/>
              </a:solidFill>
            </a:endParaRPr>
          </a:p>
        </p:txBody>
      </p:sp>
      <p:cxnSp>
        <p:nvCxnSpPr>
          <p:cNvPr id="33" name="Straight Arrow Connector 32">
            <a:extLst>
              <a:ext uri="{FF2B5EF4-FFF2-40B4-BE49-F238E27FC236}">
                <a16:creationId xmlns:a16="http://schemas.microsoft.com/office/drawing/2014/main" id="{8BAD00C5-4215-60FE-63AA-DCA7EB732E24}"/>
              </a:ext>
            </a:extLst>
          </p:cNvPr>
          <p:cNvCxnSpPr>
            <a:stCxn id="21" idx="2"/>
            <a:endCxn id="25" idx="0"/>
          </p:cNvCxnSpPr>
          <p:nvPr/>
        </p:nvCxnSpPr>
        <p:spPr>
          <a:xfrm flipH="1">
            <a:off x="6096000" y="4957409"/>
            <a:ext cx="1" cy="501303"/>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5" name="Straight Arrow Connector 34">
            <a:extLst>
              <a:ext uri="{FF2B5EF4-FFF2-40B4-BE49-F238E27FC236}">
                <a16:creationId xmlns:a16="http://schemas.microsoft.com/office/drawing/2014/main" id="{DFEA1C61-7960-E9FD-D288-69F76C20F474}"/>
              </a:ext>
            </a:extLst>
          </p:cNvPr>
          <p:cNvCxnSpPr>
            <a:cxnSpLocks/>
            <a:stCxn id="21" idx="2"/>
            <a:endCxn id="23" idx="3"/>
          </p:cNvCxnSpPr>
          <p:nvPr/>
        </p:nvCxnSpPr>
        <p:spPr>
          <a:xfrm flipH="1">
            <a:off x="3980881" y="4957409"/>
            <a:ext cx="2115120" cy="858847"/>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7" name="Straight Arrow Connector 36">
            <a:extLst>
              <a:ext uri="{FF2B5EF4-FFF2-40B4-BE49-F238E27FC236}">
                <a16:creationId xmlns:a16="http://schemas.microsoft.com/office/drawing/2014/main" id="{CFFA2151-7675-411C-6539-37EA8EE743B3}"/>
              </a:ext>
            </a:extLst>
          </p:cNvPr>
          <p:cNvCxnSpPr>
            <a:cxnSpLocks/>
            <a:stCxn id="21" idx="2"/>
            <a:endCxn id="29" idx="1"/>
          </p:cNvCxnSpPr>
          <p:nvPr/>
        </p:nvCxnSpPr>
        <p:spPr>
          <a:xfrm>
            <a:off x="6096001" y="4957409"/>
            <a:ext cx="2116046" cy="858848"/>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6" name="Rectangle 5">
            <a:extLst>
              <a:ext uri="{FF2B5EF4-FFF2-40B4-BE49-F238E27FC236}">
                <a16:creationId xmlns:a16="http://schemas.microsoft.com/office/drawing/2014/main" id="{772ACBDE-BD4C-3B9F-D357-B50E2AB5E13A}"/>
              </a:ext>
            </a:extLst>
          </p:cNvPr>
          <p:cNvSpPr/>
          <p:nvPr/>
        </p:nvSpPr>
        <p:spPr>
          <a:xfrm>
            <a:off x="6782428" y="1847750"/>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49B183-D23D-199F-5762-CEB810CEF7DB}"/>
              </a:ext>
            </a:extLst>
          </p:cNvPr>
          <p:cNvSpPr/>
          <p:nvPr/>
        </p:nvSpPr>
        <p:spPr>
          <a:xfrm>
            <a:off x="6782427" y="211232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2FEA9AA-ED47-6068-BF0F-49A412CD8F7F}"/>
              </a:ext>
            </a:extLst>
          </p:cNvPr>
          <p:cNvSpPr/>
          <p:nvPr/>
        </p:nvSpPr>
        <p:spPr>
          <a:xfrm>
            <a:off x="6049003" y="238339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17E6F97-71C0-E7B6-3913-C7F1E0B84654}"/>
              </a:ext>
            </a:extLst>
          </p:cNvPr>
          <p:cNvSpPr txBox="1"/>
          <p:nvPr/>
        </p:nvSpPr>
        <p:spPr>
          <a:xfrm>
            <a:off x="3363539" y="1765307"/>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D494DC07-12F0-E28A-EFF4-4CF7F2299BE3}"/>
              </a:ext>
            </a:extLst>
          </p:cNvPr>
          <p:cNvSpPr txBox="1"/>
          <p:nvPr/>
        </p:nvSpPr>
        <p:spPr>
          <a:xfrm>
            <a:off x="2393643" y="3076561"/>
            <a:ext cx="7404714" cy="917880"/>
          </a:xfrm>
          <a:prstGeom prst="rect">
            <a:avLst/>
          </a:prstGeom>
          <a:noFill/>
          <a:ln>
            <a:solidFill>
              <a:schemeClr val="tx1"/>
            </a:solidFill>
          </a:ln>
        </p:spPr>
        <p:txBody>
          <a:bodyPr wrap="square">
            <a:spAutoFit/>
          </a:bodyPr>
          <a:lstStyle/>
          <a:p>
            <a:pPr>
              <a:lnSpc>
                <a:spcPct val="113095"/>
              </a:lnSpc>
              <a:buNone/>
            </a:pPr>
            <a:r>
              <a:rPr lang="en-US" sz="1600" dirty="0">
                <a:solidFill>
                  <a:srgbClr val="000000"/>
                </a:solidFill>
                <a:latin typeface="Fira Code" panose="020B0809050000020004" pitchFamily="49" charset="0"/>
              </a:rPr>
              <a:t>(</a:t>
            </a: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flipH="1">
            <a:off x="6096000" y="2683187"/>
            <a:ext cx="1" cy="393374"/>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0D3DC4ED-8B07-FA72-912D-D5AFDF1779D5}"/>
              </a:ext>
            </a:extLst>
          </p:cNvPr>
          <p:cNvSpPr txBox="1"/>
          <p:nvPr/>
        </p:nvSpPr>
        <p:spPr>
          <a:xfrm>
            <a:off x="2393643" y="3076561"/>
            <a:ext cx="7404714" cy="917880"/>
          </a:xfrm>
          <a:prstGeom prst="rect">
            <a:avLst/>
          </a:prstGeom>
          <a:solidFill>
            <a:schemeClr val="bg1"/>
          </a:solid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9" name="Right Brace 8">
            <a:extLst>
              <a:ext uri="{FF2B5EF4-FFF2-40B4-BE49-F238E27FC236}">
                <a16:creationId xmlns:a16="http://schemas.microsoft.com/office/drawing/2014/main" id="{91045F7D-5F95-D4A4-2108-8EF08244EF72}"/>
              </a:ext>
            </a:extLst>
          </p:cNvPr>
          <p:cNvSpPr/>
          <p:nvPr/>
        </p:nvSpPr>
        <p:spPr>
          <a:xfrm rot="5400000">
            <a:off x="4432819" y="3561426"/>
            <a:ext cx="78497" cy="5511492"/>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E10EEBB8-CEAC-5121-92BA-FBA1CBC662D5}"/>
              </a:ext>
            </a:extLst>
          </p:cNvPr>
          <p:cNvSpPr txBox="1"/>
          <p:nvPr/>
        </p:nvSpPr>
        <p:spPr>
          <a:xfrm>
            <a:off x="4154512" y="6352143"/>
            <a:ext cx="635110" cy="369332"/>
          </a:xfrm>
          <a:prstGeom prst="rect">
            <a:avLst/>
          </a:prstGeom>
          <a:noFill/>
        </p:spPr>
        <p:txBody>
          <a:bodyPr wrap="none" rtlCol="0">
            <a:spAutoFit/>
          </a:bodyPr>
          <a:lstStyle/>
          <a:p>
            <a:pPr algn="ctr"/>
            <a:r>
              <a:rPr lang="en-US" dirty="0"/>
              <a:t>CPU</a:t>
            </a:r>
          </a:p>
        </p:txBody>
      </p:sp>
      <p:sp>
        <p:nvSpPr>
          <p:cNvPr id="14" name="Right Brace 13">
            <a:extLst>
              <a:ext uri="{FF2B5EF4-FFF2-40B4-BE49-F238E27FC236}">
                <a16:creationId xmlns:a16="http://schemas.microsoft.com/office/drawing/2014/main" id="{31D2927F-1B91-15E0-3A30-9D2B9E9F1A75}"/>
              </a:ext>
            </a:extLst>
          </p:cNvPr>
          <p:cNvSpPr/>
          <p:nvPr/>
        </p:nvSpPr>
        <p:spPr>
          <a:xfrm rot="5400000">
            <a:off x="9315742" y="5192211"/>
            <a:ext cx="74219" cy="2245650"/>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48453C35-A3D1-C43A-87EB-29D2FECA4E69}"/>
              </a:ext>
            </a:extLst>
          </p:cNvPr>
          <p:cNvSpPr txBox="1"/>
          <p:nvPr/>
        </p:nvSpPr>
        <p:spPr>
          <a:xfrm>
            <a:off x="9024704" y="6352143"/>
            <a:ext cx="638316" cy="369332"/>
          </a:xfrm>
          <a:prstGeom prst="rect">
            <a:avLst/>
          </a:prstGeom>
          <a:noFill/>
        </p:spPr>
        <p:txBody>
          <a:bodyPr wrap="none" rtlCol="0">
            <a:spAutoFit/>
          </a:bodyPr>
          <a:lstStyle/>
          <a:p>
            <a:pPr algn="ctr"/>
            <a:r>
              <a:rPr lang="en-US" dirty="0"/>
              <a:t>GPU</a:t>
            </a:r>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85"/>
                                        </p:tgtEl>
                                        <p:attrNameLst>
                                          <p:attrName>style.visibility</p:attrName>
                                        </p:attrNameLst>
                                      </p:cBhvr>
                                      <p:to>
                                        <p:strVal val="hidden"/>
                                      </p:to>
                                    </p:set>
                                  </p:childTnLst>
                                </p:cTn>
                              </p:par>
                            </p:childTnLst>
                          </p:cTn>
                        </p:par>
                        <p:par>
                          <p:cTn id="21" fill="hold">
                            <p:stCondLst>
                              <p:cond delay="0"/>
                            </p:stCondLst>
                            <p:childTnLst>
                              <p:par>
                                <p:cTn id="22" presetID="1" presetClass="entr" presetSubtype="0" fill="hold" grpId="0" nodeType="afterEffect">
                                  <p:stCondLst>
                                    <p:cond delay="0"/>
                                  </p:stCondLst>
                                  <p:childTnLst>
                                    <p:set>
                                      <p:cBhvr>
                                        <p:cTn id="23" dur="1" fill="hold">
                                          <p:stCondLst>
                                            <p:cond delay="0"/>
                                          </p:stCondLst>
                                        </p:cTn>
                                        <p:tgtEl>
                                          <p:spTgt spid="21"/>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35"/>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3"/>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3" grpId="0" animBg="1"/>
      <p:bldP spid="25" grpId="0" animBg="1"/>
      <p:bldP spid="29" grpId="0" animBg="1"/>
      <p:bldP spid="6" grpId="0" animBg="1"/>
      <p:bldP spid="10" grpId="0" animBg="1"/>
      <p:bldP spid="12" grpId="0" animBg="1"/>
      <p:bldP spid="8" grpId="0" animBg="1"/>
      <p:bldP spid="43" grpId="0" animBg="1"/>
      <p:bldP spid="9" grpId="0" animBg="1"/>
      <p:bldP spid="11" grpId="0"/>
      <p:bldP spid="14" grpId="0" animBg="1"/>
      <p:bldP spid="1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448183" y="2545885"/>
            <a:ext cx="2387504" cy="533827"/>
          </a:xfrm>
          <a:prstGeom prst="wedgeRoundRectCallout">
            <a:avLst>
              <a:gd name="adj1" fmla="val 59836"/>
              <a:gd name="adj2" fmla="val -4357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Tile size for tiling</a:t>
            </a:r>
            <a:br>
              <a:rPr lang="en-US" dirty="0"/>
            </a:br>
            <a:endParaRPr lang="en-US"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448183" y="1811504"/>
            <a:ext cx="2470974" cy="533827"/>
          </a:xfrm>
          <a:prstGeom prst="wedgeRoundRectCallout">
            <a:avLst>
              <a:gd name="adj1" fmla="val 56729"/>
              <a:gd name="adj2" fmla="val 3618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Choice of layout</a:t>
            </a:r>
          </a:p>
          <a:p>
            <a:pPr algn="ctr"/>
            <a:endParaRPr lang="en-US"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260629" y="1917729"/>
            <a:ext cx="2470974" cy="396321"/>
          </a:xfrm>
          <a:prstGeom prst="wedgeRoundRectCallout">
            <a:avLst>
              <a:gd name="adj1" fmla="val -55983"/>
              <a:gd name="adj2" fmla="val 3530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Categorical value</a:t>
            </a:r>
          </a:p>
        </p:txBody>
      </p:sp>
      <p:sp>
        <p:nvSpPr>
          <p:cNvPr id="16" name="TextBox 15">
            <a:extLst>
              <a:ext uri="{FF2B5EF4-FFF2-40B4-BE49-F238E27FC236}">
                <a16:creationId xmlns:a16="http://schemas.microsoft.com/office/drawing/2014/main" id="{472AE935-6135-FF9E-8DE3-57AF290EEA84}"/>
              </a:ext>
            </a:extLst>
          </p:cNvPr>
          <p:cNvSpPr txBox="1"/>
          <p:nvPr/>
        </p:nvSpPr>
        <p:spPr>
          <a:xfrm>
            <a:off x="4889459" y="1411183"/>
            <a:ext cx="2666114" cy="369332"/>
          </a:xfrm>
          <a:prstGeom prst="wedgeRectCallout">
            <a:avLst>
              <a:gd name="adj1" fmla="val 374"/>
              <a:gd name="adj2" fmla="val 162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latin typeface="Fira Code" panose="020B0809050000020004" pitchFamily="49" charset="0"/>
                <a:ea typeface="Fira Code" panose="020B0809050000020004" pitchFamily="49" charset="0"/>
                <a:cs typeface="Fira Code" panose="020B0809050000020004" pitchFamily="49" charset="0"/>
              </a:rPr>
              <a:t>-D parameter=value</a:t>
            </a:r>
          </a:p>
        </p:txBody>
      </p:sp>
      <p:cxnSp>
        <p:nvCxnSpPr>
          <p:cNvPr id="22" name="Connector: Curved 21">
            <a:extLst>
              <a:ext uri="{FF2B5EF4-FFF2-40B4-BE49-F238E27FC236}">
                <a16:creationId xmlns:a16="http://schemas.microsoft.com/office/drawing/2014/main" id="{4B79FC75-E7A8-9028-A1F8-9FC3B360D73A}"/>
              </a:ext>
            </a:extLst>
          </p:cNvPr>
          <p:cNvCxnSpPr>
            <a:cxnSpLocks/>
            <a:stCxn id="14" idx="0"/>
            <a:endCxn id="16" idx="3"/>
          </p:cNvCxnSpPr>
          <p:nvPr/>
        </p:nvCxnSpPr>
        <p:spPr>
          <a:xfrm rot="16200000" flipV="1">
            <a:off x="8864905" y="286517"/>
            <a:ext cx="321880" cy="2940543"/>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Connector: Curved 27">
            <a:extLst>
              <a:ext uri="{FF2B5EF4-FFF2-40B4-BE49-F238E27FC236}">
                <a16:creationId xmlns:a16="http://schemas.microsoft.com/office/drawing/2014/main" id="{1B743716-5A26-8119-52C1-05AC74AA0158}"/>
              </a:ext>
            </a:extLst>
          </p:cNvPr>
          <p:cNvCxnSpPr>
            <a:cxnSpLocks/>
            <a:stCxn id="16" idx="1"/>
            <a:endCxn id="10" idx="0"/>
          </p:cNvCxnSpPr>
          <p:nvPr/>
        </p:nvCxnSpPr>
        <p:spPr>
          <a:xfrm rot="10800000" flipV="1">
            <a:off x="1683671" y="1595848"/>
            <a:ext cx="3205789" cy="215655"/>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272843" y="2614639"/>
            <a:ext cx="2470974" cy="396321"/>
          </a:xfrm>
          <a:prstGeom prst="wedgeRoundRectCallout">
            <a:avLst>
              <a:gd name="adj1" fmla="val -55701"/>
              <a:gd name="adj2" fmla="val -3338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Numerical value</a:t>
            </a:r>
            <a:endParaRPr lang="en-US"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448183" y="2012058"/>
            <a:ext cx="2446546" cy="369332"/>
          </a:xfrm>
          <a:prstGeom prst="rect">
            <a:avLst/>
          </a:prstGeom>
          <a:noFill/>
        </p:spPr>
        <p:txBody>
          <a:bodyPr wrap="square">
            <a:spAutoFit/>
          </a:bodyPr>
          <a:lstStyle/>
          <a:p>
            <a:pPr algn="ctr"/>
            <a:r>
              <a:rPr lang="en-US" sz="1800" dirty="0">
                <a:latin typeface="Fira Code" panose="020B0809050000020004" pitchFamily="49" charset="0"/>
                <a:ea typeface="Fira Code" panose="020B0809050000020004" pitchFamily="49" charset="0"/>
                <a:cs typeface="Fira Code" panose="020B0809050000020004" pitchFamily="49" charset="0"/>
              </a:rPr>
              <a:t>#if CHOICE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800" dirty="0">
                <a:latin typeface="Fira Code" panose="020B0809050000020004" pitchFamily="49" charset="0"/>
                <a:ea typeface="Fira Code" panose="020B0809050000020004" pitchFamily="49" charset="0"/>
                <a:cs typeface="Fira Code" panose="020B0809050000020004" pitchFamily="49" charset="0"/>
              </a:rPr>
              <a:t>= 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448183" y="2752703"/>
            <a:ext cx="2446546" cy="369332"/>
          </a:xfrm>
          <a:prstGeom prst="rect">
            <a:avLst/>
          </a:prstGeom>
          <a:noFill/>
        </p:spPr>
        <p:txBody>
          <a:bodyPr wrap="square">
            <a:spAutoFit/>
          </a:bodyPr>
          <a:lstStyle/>
          <a:p>
            <a:pPr algn="ctr"/>
            <a:r>
              <a:rPr lang="en-US" dirty="0"/>
              <a:t>I += TILE_SIZE</a:t>
            </a:r>
            <a:endParaRPr lang="en-US" sz="180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16" grpId="0" animBg="1"/>
      <p:bldP spid="40" grpId="0" animBg="1"/>
      <p:bldP spid="12" grpId="0"/>
      <p:bldP spid="2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Flowchart: Process 3">
            <a:extLst>
              <a:ext uri="{FF2B5EF4-FFF2-40B4-BE49-F238E27FC236}">
                <a16:creationId xmlns:a16="http://schemas.microsoft.com/office/drawing/2014/main" id="{FBA1CFD1-FB44-81BF-1ADF-47112A3D7FF6}"/>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AD0AEC91-112C-8989-20C4-BC559402C9AD}"/>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DA55191F-C77E-4F09-69FB-19C0FE86ABB6}"/>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32788D0A-1D00-5F57-DCF3-DC56CB817279}"/>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7E483B54-C45F-0098-17F3-FEF97A194FD7}"/>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5" name="Arrow: Down 14">
            <a:extLst>
              <a:ext uri="{FF2B5EF4-FFF2-40B4-BE49-F238E27FC236}">
                <a16:creationId xmlns:a16="http://schemas.microsoft.com/office/drawing/2014/main" id="{71F4EF2F-6E0C-390A-B96B-78A98DF8198D}"/>
              </a:ext>
            </a:extLst>
          </p:cNvPr>
          <p:cNvSpPr/>
          <p:nvPr/>
        </p:nvSpPr>
        <p:spPr>
          <a:xfrm>
            <a:off x="5590231"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565484" y="4275380"/>
            <a:ext cx="2861454"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996211" y="4684003"/>
            <a:ext cx="966728" cy="670050"/>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443051" y="2747513"/>
            <a:ext cx="4919167" cy="3074479"/>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2335442" y="5821992"/>
            <a:ext cx="1577676" cy="369332"/>
          </a:xfrm>
          <a:prstGeom prst="rect">
            <a:avLst/>
          </a:prstGeom>
          <a:noFill/>
        </p:spPr>
        <p:txBody>
          <a:bodyPr wrap="none" rtlCol="0">
            <a:spAutoFit/>
          </a:bodyPr>
          <a:lstStyle/>
          <a:p>
            <a:r>
              <a:rPr lang="en-US"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083984" y="2137112"/>
            <a:ext cx="1626098" cy="369332"/>
          </a:xfrm>
          <a:prstGeom prst="rect">
            <a:avLst/>
          </a:prstGeom>
          <a:noFill/>
        </p:spPr>
        <p:txBody>
          <a:bodyPr wrap="square" rtlCol="0">
            <a:spAutoFit/>
          </a:bodyPr>
          <a:lstStyle/>
          <a:p>
            <a:pPr algn="ctr"/>
            <a:r>
              <a:rPr lang="en-US" noProof="0" dirty="0" err="1"/>
              <a:t>PolyBench</a:t>
            </a:r>
            <a:r>
              <a:rPr lang="en-US" noProof="0" dirty="0"/>
              <a:t>/C</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4722869" y="-1773373"/>
            <a:ext cx="241068" cy="880070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073698DB-93D9-A5F0-02CC-BCBD40643F77}"/>
              </a:ext>
            </a:extLst>
          </p:cNvPr>
          <p:cNvSpPr txBox="1"/>
          <p:nvPr/>
        </p:nvSpPr>
        <p:spPr>
          <a:xfrm>
            <a:off x="9845901" y="2299485"/>
            <a:ext cx="1903048" cy="369332"/>
          </a:xfrm>
          <a:prstGeom prst="rect">
            <a:avLst/>
          </a:prstGeom>
          <a:noFill/>
        </p:spPr>
        <p:txBody>
          <a:bodyPr wrap="square" rtlCol="0">
            <a:spAutoFit/>
          </a:bodyPr>
          <a:lstStyle/>
          <a:p>
            <a:pPr algn="ctr"/>
            <a:r>
              <a:rPr lang="en-US" noProof="0" dirty="0" err="1"/>
              <a:t>PolyBench</a:t>
            </a:r>
            <a:r>
              <a:rPr lang="en-US" noProof="0" dirty="0"/>
              <a:t>/GPU</a:t>
            </a:r>
          </a:p>
        </p:txBody>
      </p:sp>
      <p:pic>
        <p:nvPicPr>
          <p:cNvPr id="9" name="Picture 8">
            <a:extLst>
              <a:ext uri="{FF2B5EF4-FFF2-40B4-BE49-F238E27FC236}">
                <a16:creationId xmlns:a16="http://schemas.microsoft.com/office/drawing/2014/main" id="{05B9092E-CEC8-7BAA-4EAF-6DF235867735}"/>
              </a:ext>
            </a:extLst>
          </p:cNvPr>
          <p:cNvPicPr>
            <a:picLocks noChangeAspect="1"/>
          </p:cNvPicPr>
          <p:nvPr/>
        </p:nvPicPr>
        <p:blipFill>
          <a:blip r:embed="rId4"/>
          <a:stretch>
            <a:fillRect/>
          </a:stretch>
        </p:blipFill>
        <p:spPr>
          <a:xfrm>
            <a:off x="6189873" y="2868048"/>
            <a:ext cx="1389266" cy="2360849"/>
          </a:xfrm>
          <a:prstGeom prst="rect">
            <a:avLst/>
          </a:prstGeom>
        </p:spPr>
      </p:pic>
      <p:pic>
        <p:nvPicPr>
          <p:cNvPr id="12" name="Picture 11">
            <a:extLst>
              <a:ext uri="{FF2B5EF4-FFF2-40B4-BE49-F238E27FC236}">
                <a16:creationId xmlns:a16="http://schemas.microsoft.com/office/drawing/2014/main" id="{589DFD6F-FACD-00D1-E9AB-84DDD3BD2DC5}"/>
              </a:ext>
            </a:extLst>
          </p:cNvPr>
          <p:cNvPicPr>
            <a:picLocks noChangeAspect="1"/>
          </p:cNvPicPr>
          <p:nvPr/>
        </p:nvPicPr>
        <p:blipFill>
          <a:blip r:embed="rId5"/>
          <a:stretch>
            <a:fillRect/>
          </a:stretch>
        </p:blipFill>
        <p:spPr>
          <a:xfrm>
            <a:off x="8000297" y="2868048"/>
            <a:ext cx="1389266" cy="2360848"/>
          </a:xfrm>
          <a:prstGeom prst="rect">
            <a:avLst/>
          </a:prstGeom>
        </p:spPr>
      </p:pic>
      <p:pic>
        <p:nvPicPr>
          <p:cNvPr id="13" name="Picture 12">
            <a:extLst>
              <a:ext uri="{FF2B5EF4-FFF2-40B4-BE49-F238E27FC236}">
                <a16:creationId xmlns:a16="http://schemas.microsoft.com/office/drawing/2014/main" id="{F1F00E57-C02A-3826-7043-E1771BA4C877}"/>
              </a:ext>
            </a:extLst>
          </p:cNvPr>
          <p:cNvPicPr>
            <a:picLocks noChangeAspect="1"/>
          </p:cNvPicPr>
          <p:nvPr/>
        </p:nvPicPr>
        <p:blipFill>
          <a:blip r:embed="rId6"/>
          <a:stretch>
            <a:fillRect/>
          </a:stretch>
        </p:blipFill>
        <p:spPr>
          <a:xfrm>
            <a:off x="9945226" y="2668817"/>
            <a:ext cx="1476298" cy="2508746"/>
          </a:xfrm>
          <a:prstGeom prst="rect">
            <a:avLst/>
          </a:prstGeom>
        </p:spPr>
      </p:pic>
      <p:sp>
        <p:nvSpPr>
          <p:cNvPr id="14" name="TextBox 13">
            <a:extLst>
              <a:ext uri="{FF2B5EF4-FFF2-40B4-BE49-F238E27FC236}">
                <a16:creationId xmlns:a16="http://schemas.microsoft.com/office/drawing/2014/main" id="{E483A899-FCA6-734B-1BF1-F098BCA106E6}"/>
              </a:ext>
            </a:extLst>
          </p:cNvPr>
          <p:cNvSpPr txBox="1"/>
          <p:nvPr/>
        </p:nvSpPr>
        <p:spPr>
          <a:xfrm>
            <a:off x="6610927" y="5164766"/>
            <a:ext cx="1047082" cy="369332"/>
          </a:xfrm>
          <a:prstGeom prst="rect">
            <a:avLst/>
          </a:prstGeom>
          <a:noFill/>
        </p:spPr>
        <p:txBody>
          <a:bodyPr wrap="none" rtlCol="0">
            <a:spAutoFit/>
          </a:bodyPr>
          <a:lstStyle/>
          <a:p>
            <a:r>
              <a:rPr lang="en-US" dirty="0"/>
              <a:t>OpenMP</a:t>
            </a:r>
          </a:p>
        </p:txBody>
      </p:sp>
      <p:sp>
        <p:nvSpPr>
          <p:cNvPr id="17" name="TextBox 16">
            <a:extLst>
              <a:ext uri="{FF2B5EF4-FFF2-40B4-BE49-F238E27FC236}">
                <a16:creationId xmlns:a16="http://schemas.microsoft.com/office/drawing/2014/main" id="{0964486E-966E-9592-1DC4-84988B7901F0}"/>
              </a:ext>
            </a:extLst>
          </p:cNvPr>
          <p:cNvSpPr txBox="1"/>
          <p:nvPr/>
        </p:nvSpPr>
        <p:spPr>
          <a:xfrm>
            <a:off x="8610600" y="5177563"/>
            <a:ext cx="574196" cy="369332"/>
          </a:xfrm>
          <a:prstGeom prst="rect">
            <a:avLst/>
          </a:prstGeom>
          <a:noFill/>
        </p:spPr>
        <p:txBody>
          <a:bodyPr wrap="none" rtlCol="0">
            <a:spAutoFit/>
          </a:bodyPr>
          <a:lstStyle/>
          <a:p>
            <a:r>
              <a:rPr lang="en-US" dirty="0"/>
              <a:t>TBB</a:t>
            </a:r>
          </a:p>
        </p:txBody>
      </p:sp>
      <p:sp>
        <p:nvSpPr>
          <p:cNvPr id="19" name="TextBox 18">
            <a:extLst>
              <a:ext uri="{FF2B5EF4-FFF2-40B4-BE49-F238E27FC236}">
                <a16:creationId xmlns:a16="http://schemas.microsoft.com/office/drawing/2014/main" id="{FAF2EF67-657C-ADE5-06D6-C5D272407884}"/>
              </a:ext>
            </a:extLst>
          </p:cNvPr>
          <p:cNvSpPr txBox="1"/>
          <p:nvPr/>
        </p:nvSpPr>
        <p:spPr>
          <a:xfrm>
            <a:off x="10432220" y="5072356"/>
            <a:ext cx="790601" cy="369332"/>
          </a:xfrm>
          <a:prstGeom prst="rect">
            <a:avLst/>
          </a:prstGeom>
          <a:noFill/>
        </p:spPr>
        <p:txBody>
          <a:bodyPr wrap="none" rtlCol="0">
            <a:spAutoFit/>
          </a:bodyPr>
          <a:lstStyle/>
          <a:p>
            <a:r>
              <a:rPr lang="en-US" dirty="0"/>
              <a:t>CUDA</a:t>
            </a:r>
          </a:p>
        </p:txBody>
      </p:sp>
      <p:sp>
        <p:nvSpPr>
          <p:cNvPr id="7" name="Right Brace 6">
            <a:extLst>
              <a:ext uri="{FF2B5EF4-FFF2-40B4-BE49-F238E27FC236}">
                <a16:creationId xmlns:a16="http://schemas.microsoft.com/office/drawing/2014/main" id="{9F80BE60-1479-2CFB-1F6A-01CC42AF6970}"/>
              </a:ext>
            </a:extLst>
          </p:cNvPr>
          <p:cNvSpPr/>
          <p:nvPr/>
        </p:nvSpPr>
        <p:spPr>
          <a:xfrm rot="5400000">
            <a:off x="8760748" y="3071155"/>
            <a:ext cx="111170" cy="5210381"/>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6" name="TextBox 15">
            <a:extLst>
              <a:ext uri="{FF2B5EF4-FFF2-40B4-BE49-F238E27FC236}">
                <a16:creationId xmlns:a16="http://schemas.microsoft.com/office/drawing/2014/main" id="{3045E075-C72C-7501-C5B1-9BE0939859C0}"/>
              </a:ext>
            </a:extLst>
          </p:cNvPr>
          <p:cNvSpPr txBox="1"/>
          <p:nvPr/>
        </p:nvSpPr>
        <p:spPr>
          <a:xfrm>
            <a:off x="7939428" y="5801982"/>
            <a:ext cx="1753813" cy="369332"/>
          </a:xfrm>
          <a:prstGeom prst="rect">
            <a:avLst/>
          </a:prstGeom>
          <a:noFill/>
        </p:spPr>
        <p:txBody>
          <a:bodyPr wrap="none" rtlCol="0">
            <a:spAutoFit/>
          </a:bodyPr>
          <a:lstStyle/>
          <a:p>
            <a:pPr algn="ctr"/>
            <a:r>
              <a:rPr lang="en-US" dirty="0"/>
              <a:t>Parallel runtime</a:t>
            </a:r>
          </a:p>
        </p:txBody>
      </p:sp>
    </p:spTree>
    <p:extLst>
      <p:ext uri="{BB962C8B-B14F-4D97-AF65-F5344CB8AC3E}">
        <p14:creationId xmlns:p14="http://schemas.microsoft.com/office/powerpoint/2010/main" val="522048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3683740" y="5578114"/>
            <a:ext cx="6806526"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r>
              <a:rPr lang="en-US"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453313" y="2164167"/>
            <a:ext cx="676275" cy="217083"/>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6350978" y="1712569"/>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6001728" y="4672963"/>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505200" y="2081901"/>
            <a:ext cx="8584859"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noProof="0" dirty="0" err="1">
                <a:solidFill>
                  <a:srgbClr val="001080"/>
                </a:solidFill>
                <a:effectLst/>
                <a:latin typeface="Fira Code" panose="020B0809050000020004" pitchFamily="49" charset="0"/>
              </a:rPr>
              <a:t>MPItrav</a:t>
            </a:r>
            <a:r>
              <a:rPr lang="en-US" b="0" noProof="0" dirty="0">
                <a:solidFill>
                  <a:srgbClr val="000000"/>
                </a:solidFill>
                <a:effectLst/>
                <a:latin typeface="Fira Code" panose="020B0809050000020004" pitchFamily="49" charset="0"/>
              </a:rPr>
              <a:t> = </a:t>
            </a:r>
            <a:r>
              <a:rPr lang="en-US"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&lt;</a:t>
            </a:r>
            <a:r>
              <a:rPr lang="en-US" b="0" noProof="0" dirty="0">
                <a:solidFill>
                  <a:srgbClr val="A31515"/>
                </a:solidFill>
                <a:effectLst/>
                <a:latin typeface="Fira Code" panose="020B0809050000020004" pitchFamily="49" charset="0"/>
              </a:rPr>
              <a:t>'M'</a:t>
            </a:r>
            <a:r>
              <a:rPr lang="en-US"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b="0" noProof="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6020426" y="5042295"/>
            <a:ext cx="4839852" cy="395108"/>
          </a:xfrm>
          <a:prstGeom prst="rect">
            <a:avLst/>
          </a:prstGeom>
          <a:noFill/>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gather</a:t>
            </a:r>
            <a:r>
              <a:rPr lang="en-US" b="0" noProof="0" dirty="0">
                <a:solidFill>
                  <a:srgbClr val="000000"/>
                </a:solidFill>
                <a:effectLst/>
                <a:latin typeface="Fira Code" panose="020B0809050000020004" pitchFamily="49" charset="0"/>
              </a:rPr>
              <a:t>(</a:t>
            </a:r>
            <a:r>
              <a:rPr lang="en-US" noProof="0" dirty="0">
                <a:solidFill>
                  <a:srgbClr val="0070C1"/>
                </a:solidFill>
                <a:latin typeface="Fira Code" panose="020B0809050000020004" pitchFamily="49" charset="0"/>
              </a:rPr>
              <a:t>Tile</a:t>
            </a:r>
            <a:r>
              <a:rPr lang="en-US" noProof="0" dirty="0">
                <a:solidFill>
                  <a:srgbClr val="000000"/>
                </a:solidFill>
                <a:latin typeface="Fira Code" panose="020B0809050000020004" pitchFamily="49" charset="0"/>
              </a:rPr>
              <a:t>, </a:t>
            </a:r>
            <a:r>
              <a:rPr lang="en-US" noProof="0" dirty="0">
                <a:solidFill>
                  <a:srgbClr val="0070C1"/>
                </a:solidFill>
                <a:latin typeface="Fira Code" panose="020B0809050000020004" pitchFamily="49" charset="0"/>
              </a:rPr>
              <a:t>Data</a:t>
            </a:r>
            <a:r>
              <a:rPr lang="en-US" noProof="0" dirty="0">
                <a:solidFill>
                  <a:srgbClr val="000000"/>
                </a:solidFill>
                <a:latin typeface="Fira Code" panose="020B0809050000020004" pitchFamily="49" charset="0"/>
              </a:rPr>
              <a:t>, </a:t>
            </a:r>
            <a:r>
              <a:rPr lang="en-US" b="0" noProof="0" dirty="0">
                <a:solidFill>
                  <a:srgbClr val="0070C1"/>
                </a:solidFill>
                <a:effectLst/>
                <a:latin typeface="Fira Code" panose="020B0809050000020004" pitchFamily="49" charset="0"/>
              </a:rPr>
              <a:t>root</a:t>
            </a:r>
            <a:r>
              <a:rPr lang="en-US" b="0" noProof="0" dirty="0">
                <a:solidFill>
                  <a:srgbClr val="000000"/>
                </a:solidFill>
                <a:effectLst/>
                <a:latin typeface="Fira Code" panose="020B0809050000020004" pitchFamily="49" charset="0"/>
              </a:rPr>
              <a:t>, </a:t>
            </a:r>
            <a:r>
              <a:rPr lang="en-US" noProof="0" dirty="0" err="1">
                <a:solidFill>
                  <a:srgbClr val="001080"/>
                </a:solidFill>
                <a:latin typeface="Fira Code" panose="020B0809050000020004" pitchFamily="49" charset="0"/>
              </a:rPr>
              <a:t>MPItrav</a:t>
            </a:r>
            <a:r>
              <a:rPr lang="en-US"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357720" y="3180661"/>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706462" y="5644447"/>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843841" y="3178142"/>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1784" y="3056457"/>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843841" y="4004683"/>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843841" y="4712245"/>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843841" y="5423149"/>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3226915" y="3056457"/>
            <a:ext cx="153563" cy="30670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3380478" y="4405316"/>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3380478" y="4405316"/>
                <a:ext cx="1567391"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576604" y="2621556"/>
                <a:ext cx="1567391" cy="369332"/>
              </a:xfrm>
              <a:prstGeom prst="rect">
                <a:avLst/>
              </a:prstGeom>
              <a:noFill/>
            </p:spPr>
            <p:txBody>
              <a:bodyPr wrap="square" rtlCol="0">
                <a:spAutoFit/>
              </a:bodyPr>
              <a:lstStyle/>
              <a:p>
                <a:pPr/>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576604" y="2621556"/>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1336675" y="342271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1336675" y="421567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1336675" y="497282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1336675" y="573512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2009775" y="6123506"/>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741501" y="3090333"/>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281666" y="4461432"/>
            <a:ext cx="1638654" cy="369332"/>
          </a:xfrm>
          <a:prstGeom prst="rect">
            <a:avLst/>
          </a:prstGeom>
          <a:noFill/>
        </p:spPr>
        <p:txBody>
          <a:bodyPr wrap="none" rtlCol="0">
            <a:spAutoFit/>
          </a:bodyPr>
          <a:lstStyle/>
          <a:p>
            <a:r>
              <a:rPr lang="en-US"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505199" y="2081901"/>
            <a:ext cx="8584859" cy="1960280"/>
          </a:xfrm>
          <a:prstGeom prst="rect">
            <a:avLst/>
          </a:prstGeom>
          <a:noFill/>
        </p:spPr>
        <p:txBody>
          <a:bodyPr wrap="square">
            <a:spAutoFit/>
          </a:bodyPr>
          <a:lstStyle/>
          <a:p>
            <a:pPr>
              <a:lnSpc>
                <a:spcPct val="113095"/>
              </a:lnSpc>
              <a:buNone/>
            </a:pPr>
            <a:endParaRPr lang="en-US" sz="1800" b="0" noProof="0" dirty="0">
              <a:solidFill>
                <a:srgbClr val="000000"/>
              </a:solidFill>
              <a:effectLst/>
              <a:latin typeface="Fira Code" panose="020B0809050000020004" pitchFamily="49" charset="0"/>
            </a:endParaRPr>
          </a:p>
          <a:p>
            <a:pPr>
              <a:lnSpc>
                <a:spcPct val="113095"/>
              </a:lnSpc>
              <a:buNone/>
            </a:pPr>
            <a:endParaRPr lang="en-US" sz="1800" noProof="0" dirty="0">
              <a:solidFill>
                <a:srgbClr val="000000"/>
              </a:solidFill>
              <a:latin typeface="Fira Code" panose="020B0809050000020004" pitchFamily="49" charset="0"/>
            </a:endParaRPr>
          </a:p>
          <a:p>
            <a:pPr>
              <a:lnSpc>
                <a:spcPct val="113095"/>
              </a:lnSpc>
              <a:buNone/>
            </a:pPr>
            <a:r>
              <a:rPr lang="en-US" sz="1800" dirty="0">
                <a:solidFill>
                  <a:srgbClr val="267F99"/>
                </a:solidFill>
                <a:latin typeface="Fira Code" panose="020B0809050000020004" pitchFamily="49" charset="0"/>
              </a:rPr>
              <a:t>auto Tile</a:t>
            </a:r>
            <a:r>
              <a:rPr lang="en-US" sz="1800" dirty="0">
                <a:solidFill>
                  <a:srgbClr val="000000"/>
                </a:solidFill>
                <a:latin typeface="Fira Code" panose="020B0809050000020004" pitchFamily="49" charset="0"/>
              </a:rPr>
              <a:t> = …</a:t>
            </a:r>
            <a:endParaRPr lang="en-US" sz="1800" noProof="0" dirty="0">
              <a:solidFill>
                <a:srgbClr val="000000"/>
              </a:solidFill>
              <a:latin typeface="Fira Code" panose="020B0809050000020004" pitchFamily="49" charset="0"/>
            </a:endParaRPr>
          </a:p>
          <a:p>
            <a:pPr>
              <a:lnSpc>
                <a:spcPct val="113095"/>
              </a:lnSpc>
              <a:buNone/>
            </a:pPr>
            <a:r>
              <a:rPr lang="en-US" sz="1800" b="0" noProof="0" dirty="0" err="1">
                <a:solidFill>
                  <a:srgbClr val="001080"/>
                </a:solidFill>
                <a:effectLst/>
                <a:latin typeface="Fira Code" panose="020B0809050000020004" pitchFamily="49" charset="0"/>
              </a:rPr>
              <a:t>MPItrav</a:t>
            </a:r>
            <a:r>
              <a:rPr lang="en-US" sz="1800" dirty="0">
                <a:solidFill>
                  <a:srgbClr val="000000"/>
                </a:solidFill>
                <a:latin typeface="Fira Code" panose="020B0809050000020004" pitchFamily="49" charset="0"/>
              </a:rPr>
              <a:t>.</a:t>
            </a:r>
            <a:r>
              <a:rPr lang="en-US" sz="1800" dirty="0" err="1">
                <a:solidFill>
                  <a:srgbClr val="795E26"/>
                </a:solidFill>
                <a:latin typeface="Fira Code" panose="020B0809050000020004" pitchFamily="49" charset="0"/>
              </a:rPr>
              <a:t>for_each</a:t>
            </a:r>
            <a:r>
              <a:rPr lang="en-US" sz="1800" dirty="0">
                <a:solidFill>
                  <a:srgbClr val="000000"/>
                </a:solidFill>
                <a:latin typeface="Fira Code" panose="020B0809050000020004" pitchFamily="49" charset="0"/>
              </a:rPr>
              <a:t>(</a:t>
            </a:r>
            <a:r>
              <a:rPr lang="en-US" sz="1800" b="0" noProof="0" dirty="0">
                <a:solidFill>
                  <a:srgbClr val="000000"/>
                </a:solidFill>
                <a:effectLst/>
                <a:latin typeface="Fira Code" panose="020B0809050000020004" pitchFamily="49" charset="0"/>
              </a:rPr>
              <a:t>[&amp;](</a:t>
            </a:r>
            <a:r>
              <a:rPr lang="en-US" sz="1800" b="0" noProof="0" dirty="0">
                <a:solidFill>
                  <a:srgbClr val="267F99"/>
                </a:solidFill>
                <a:effectLst/>
                <a:latin typeface="Fira Code" panose="020B0809050000020004" pitchFamily="49" charset="0"/>
              </a:rPr>
              <a:t>auto</a:t>
            </a:r>
            <a:r>
              <a:rPr lang="en-US" sz="1800" b="0" noProof="0" dirty="0">
                <a:solidFill>
                  <a:srgbClr val="000000"/>
                </a:solidFill>
                <a:effectLst/>
                <a:latin typeface="Fira Code" panose="020B0809050000020004" pitchFamily="49" charset="0"/>
              </a:rPr>
              <a:t> </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a:t>
            </a:r>
          </a:p>
          <a:p>
            <a:pPr>
              <a:lnSpc>
                <a:spcPct val="113095"/>
              </a:lnSpc>
              <a:buNone/>
            </a:pPr>
            <a:r>
              <a:rPr lang="en-US" sz="1800" b="0" noProof="0" dirty="0">
                <a:solidFill>
                  <a:srgbClr val="000000"/>
                </a:solidFill>
                <a:effectLst/>
                <a:latin typeface="Fira Code" panose="020B0809050000020004" pitchFamily="49" charset="0"/>
              </a:rPr>
              <a:t>    </a:t>
            </a:r>
            <a:r>
              <a:rPr lang="en-US" sz="1800" b="0" noProof="0" dirty="0">
                <a:solidFill>
                  <a:srgbClr val="0070C1"/>
                </a:solidFill>
                <a:effectLst/>
                <a:latin typeface="Fira Code" panose="020B0809050000020004" pitchFamily="49" charset="0"/>
              </a:rPr>
              <a:t>Tile</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 </a:t>
            </a:r>
            <a:r>
              <a:rPr lang="en-US" sz="1800" b="0" noProof="0" dirty="0" err="1">
                <a:solidFill>
                  <a:srgbClr val="795E26"/>
                </a:solidFill>
                <a:effectLst/>
                <a:latin typeface="Fira Code" panose="020B0809050000020004" pitchFamily="49" charset="0"/>
              </a:rPr>
              <a:t>init</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a:t>
            </a:r>
          </a:p>
          <a:p>
            <a:pPr>
              <a:lnSpc>
                <a:spcPct val="113095"/>
              </a:lnSpc>
              <a:buNone/>
            </a:pPr>
            <a:r>
              <a:rPr lang="en-US" sz="1800" b="0" noProof="0" dirty="0">
                <a:solidFill>
                  <a:srgbClr val="000000"/>
                </a:solidFill>
                <a:effectLst/>
                <a:latin typeface="Fira Code" panose="020B0809050000020004" pitchFamily="49" charset="0"/>
              </a:rPr>
              <a:t>});</a:t>
            </a:r>
          </a:p>
        </p:txBody>
      </p:sp>
      <p:cxnSp>
        <p:nvCxnSpPr>
          <p:cNvPr id="11" name="Straight Arrow Connector 10">
            <a:extLst>
              <a:ext uri="{FF2B5EF4-FFF2-40B4-BE49-F238E27FC236}">
                <a16:creationId xmlns:a16="http://schemas.microsoft.com/office/drawing/2014/main" id="{6D1C257A-B7F4-3EFE-457D-28EC108BA876}"/>
              </a:ext>
            </a:extLst>
          </p:cNvPr>
          <p:cNvCxnSpPr>
            <a:cxnSpLocks/>
          </p:cNvCxnSpPr>
          <p:nvPr/>
        </p:nvCxnSpPr>
        <p:spPr>
          <a:xfrm flipH="1" flipV="1">
            <a:off x="9201873" y="2494154"/>
            <a:ext cx="1254227" cy="6940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10F83B9-0C61-CC0C-9EBD-E4151A6AF752}"/>
              </a:ext>
            </a:extLst>
          </p:cNvPr>
          <p:cNvSpPr txBox="1"/>
          <p:nvPr/>
        </p:nvSpPr>
        <p:spPr>
          <a:xfrm>
            <a:off x="8924639" y="3188213"/>
            <a:ext cx="3131254" cy="783193"/>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More intricate bindings by</a:t>
            </a:r>
          </a:p>
          <a:p>
            <a:pPr algn="ctr"/>
            <a:r>
              <a:rPr lang="en-US" sz="2000" dirty="0"/>
              <a:t>transforming the traverser</a:t>
            </a:r>
          </a:p>
        </p:txBody>
      </p:sp>
      <p:sp>
        <p:nvSpPr>
          <p:cNvPr id="22" name="Rectangle 21">
            <a:extLst>
              <a:ext uri="{FF2B5EF4-FFF2-40B4-BE49-F238E27FC236}">
                <a16:creationId xmlns:a16="http://schemas.microsoft.com/office/drawing/2014/main" id="{CA6745C6-10A3-DAE2-5E80-85DAF1DD36E7}"/>
              </a:ext>
            </a:extLst>
          </p:cNvPr>
          <p:cNvSpPr/>
          <p:nvPr/>
        </p:nvSpPr>
        <p:spPr>
          <a:xfrm>
            <a:off x="8356922" y="2424472"/>
            <a:ext cx="3715063" cy="15802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FA059D70-FCD1-6DBE-F6AD-CD030885F585}"/>
              </a:ext>
            </a:extLst>
          </p:cNvPr>
          <p:cNvSpPr txBox="1"/>
          <p:nvPr/>
        </p:nvSpPr>
        <p:spPr>
          <a:xfrm>
            <a:off x="5911109" y="5215006"/>
            <a:ext cx="2359365" cy="369332"/>
          </a:xfrm>
          <a:prstGeom prst="rect">
            <a:avLst/>
          </a:prstGeom>
          <a:noFill/>
        </p:spPr>
        <p:txBody>
          <a:bodyPr wrap="none" rtlCol="0">
            <a:spAutoFit/>
          </a:bodyPr>
          <a:lstStyle/>
          <a:p>
            <a:pPr algn="ctr"/>
            <a:r>
              <a:rPr lang="en-US"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par>
                                <p:cTn id="35" presetID="1" presetClass="exit"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hidden"/>
                                      </p:to>
                                    </p:set>
                                  </p:childTnLst>
                                </p:cTn>
                              </p:par>
                              <p:par>
                                <p:cTn id="37" presetID="1" presetClass="exit"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5" grpId="0" animBg="1"/>
      <p:bldP spid="43" grpId="0"/>
      <p:bldP spid="21" grpId="0"/>
      <p:bldP spid="25" grpId="0" animBg="1"/>
      <p:bldP spid="45" grpId="0"/>
      <p:bldP spid="54" grpId="0" animBg="1"/>
      <p:bldP spid="56" grpId="0"/>
      <p:bldP spid="9" grpId="0"/>
      <p:bldP spid="13" grpId="0" animBg="1"/>
      <p:bldP spid="22" grpId="0" animBg="1"/>
      <p:bldP spid="2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9/1/2026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grpSp>
        <p:nvGrpSpPr>
          <p:cNvPr id="17" name="Group 16">
            <a:extLst>
              <a:ext uri="{FF2B5EF4-FFF2-40B4-BE49-F238E27FC236}">
                <a16:creationId xmlns:a16="http://schemas.microsoft.com/office/drawing/2014/main" id="{5650573C-B606-1D93-3169-1638F303D228}"/>
              </a:ext>
            </a:extLst>
          </p:cNvPr>
          <p:cNvGrpSpPr/>
          <p:nvPr/>
        </p:nvGrpSpPr>
        <p:grpSpPr>
          <a:xfrm>
            <a:off x="4919971" y="1404368"/>
            <a:ext cx="2631264" cy="2394459"/>
            <a:chOff x="4919971" y="1404368"/>
            <a:chExt cx="2631264" cy="2394459"/>
          </a:xfrm>
        </p:grpSpPr>
        <p:sp>
          <p:nvSpPr>
            <p:cNvPr id="6" name="TextBox 5">
              <a:extLst>
                <a:ext uri="{FF2B5EF4-FFF2-40B4-BE49-F238E27FC236}">
                  <a16:creationId xmlns:a16="http://schemas.microsoft.com/office/drawing/2014/main" id="{C1A4FEEA-F6A5-2F0C-61D6-D842A122ADD5}"/>
                </a:ext>
              </a:extLst>
            </p:cNvPr>
            <p:cNvSpPr txBox="1"/>
            <p:nvPr/>
          </p:nvSpPr>
          <p:spPr>
            <a:xfrm>
              <a:off x="5106102" y="1404368"/>
              <a:ext cx="2390398" cy="369332"/>
            </a:xfrm>
            <a:prstGeom prst="rect">
              <a:avLst/>
            </a:prstGeom>
            <a:noFill/>
          </p:spPr>
          <p:txBody>
            <a:bodyPr wrap="none" rtlCol="0">
              <a:spAutoFit/>
            </a:bodyPr>
            <a:lstStyle/>
            <a:p>
              <a:r>
                <a:rPr lang="en-US" dirty="0">
                  <a:solidFill>
                    <a:srgbClr val="795E26"/>
                  </a:solidFill>
                  <a:latin typeface="Fira Code" panose="020B0809050000020004" pitchFamily="49" charset="0"/>
                </a:rPr>
                <a:t>send</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row_major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919971" y="1812471"/>
              <a:ext cx="2631264" cy="1986356"/>
            </a:xfrm>
            <a:prstGeom prst="rect">
              <a:avLst/>
            </a:prstGeom>
          </p:spPr>
        </p:pic>
      </p:grpSp>
      <p:grpSp>
        <p:nvGrpSpPr>
          <p:cNvPr id="15" name="Group 14">
            <a:extLst>
              <a:ext uri="{FF2B5EF4-FFF2-40B4-BE49-F238E27FC236}">
                <a16:creationId xmlns:a16="http://schemas.microsoft.com/office/drawing/2014/main" id="{A959BC3A-EAE5-7038-FDF7-CE47FECE7DCB}"/>
              </a:ext>
            </a:extLst>
          </p:cNvPr>
          <p:cNvGrpSpPr/>
          <p:nvPr/>
        </p:nvGrpSpPr>
        <p:grpSpPr>
          <a:xfrm>
            <a:off x="8459256" y="3152001"/>
            <a:ext cx="2390398" cy="3497304"/>
            <a:chOff x="8459256" y="3152001"/>
            <a:chExt cx="2390398" cy="3497304"/>
          </a:xfrm>
        </p:grpSpPr>
        <p:sp>
          <p:nvSpPr>
            <p:cNvPr id="8" name="TextBox 7">
              <a:extLst>
                <a:ext uri="{FF2B5EF4-FFF2-40B4-BE49-F238E27FC236}">
                  <a16:creationId xmlns:a16="http://schemas.microsoft.com/office/drawing/2014/main" id="{C10BA276-D3D5-43CD-BA0F-E78D4E84387D}"/>
                </a:ext>
              </a:extLst>
            </p:cNvPr>
            <p:cNvSpPr txBox="1"/>
            <p:nvPr/>
          </p:nvSpPr>
          <p:spPr>
            <a:xfrm>
              <a:off x="8459256" y="3607132"/>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01870" y="3152001"/>
              <a:ext cx="935064" cy="461665"/>
            </a:xfrm>
            <a:prstGeom prst="rect">
              <a:avLst/>
            </a:prstGeom>
            <a:noFill/>
          </p:spPr>
          <p:txBody>
            <a:bodyPr wrap="none" rtlCol="0">
              <a:spAutoFit/>
            </a:bodyPr>
            <a:lstStyle/>
            <a:p>
              <a:r>
                <a:rPr lang="en-US" sz="2400" b="1" noProof="0" dirty="0"/>
                <a:t>naive</a:t>
              </a:r>
              <a:endParaRPr lang="en-US" b="1" noProof="0" dirty="0"/>
            </a:p>
          </p:txBody>
        </p:sp>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558652" y="3998343"/>
              <a:ext cx="2021500" cy="2650962"/>
            </a:xfrm>
            <a:prstGeom prst="rect">
              <a:avLst/>
            </a:prstGeom>
          </p:spPr>
        </p:pic>
      </p:grpSp>
      <p:grpSp>
        <p:nvGrpSpPr>
          <p:cNvPr id="16" name="Group 15">
            <a:extLst>
              <a:ext uri="{FF2B5EF4-FFF2-40B4-BE49-F238E27FC236}">
                <a16:creationId xmlns:a16="http://schemas.microsoft.com/office/drawing/2014/main" id="{E5677424-78DF-5606-13A7-A5CE7C02CC88}"/>
              </a:ext>
            </a:extLst>
          </p:cNvPr>
          <p:cNvGrpSpPr/>
          <p:nvPr/>
        </p:nvGrpSpPr>
        <p:grpSpPr>
          <a:xfrm>
            <a:off x="1934048" y="3152001"/>
            <a:ext cx="2390398" cy="3407922"/>
            <a:chOff x="1934048" y="3152001"/>
            <a:chExt cx="2390398" cy="3407922"/>
          </a:xfrm>
        </p:grpSpPr>
        <p:sp>
          <p:nvSpPr>
            <p:cNvPr id="13" name="TextBox 12">
              <a:extLst>
                <a:ext uri="{FF2B5EF4-FFF2-40B4-BE49-F238E27FC236}">
                  <a16:creationId xmlns:a16="http://schemas.microsoft.com/office/drawing/2014/main" id="{439C9CAD-9E1E-7EC1-4429-D017CA1092E1}"/>
                </a:ext>
              </a:extLst>
            </p:cNvPr>
            <p:cNvSpPr txBox="1"/>
            <p:nvPr/>
          </p:nvSpPr>
          <p:spPr>
            <a:xfrm>
              <a:off x="2667595" y="3152001"/>
              <a:ext cx="810030" cy="461665"/>
            </a:xfrm>
            <a:prstGeom prst="rect">
              <a:avLst/>
            </a:prstGeom>
            <a:noFill/>
          </p:spPr>
          <p:txBody>
            <a:bodyPr wrap="none" rtlCol="0">
              <a:spAutoFit/>
            </a:bodyPr>
            <a:lstStyle/>
            <a:p>
              <a:r>
                <a:rPr lang="en-US" sz="2400" b="1" noProof="0" dirty="0"/>
                <a:t>ours</a:t>
              </a:r>
              <a:endParaRPr lang="en-US" b="1" noProof="0" dirty="0"/>
            </a:p>
          </p:txBody>
        </p:sp>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2077559" y="3908961"/>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1934048" y="3530585"/>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gr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4067661" y="3798827"/>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235603" y="3798827"/>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612508" y="4624428"/>
            <a:ext cx="1767984" cy="369332"/>
          </a:xfrm>
          <a:prstGeom prst="rect">
            <a:avLst/>
          </a:prstGeom>
          <a:noFill/>
        </p:spPr>
        <p:txBody>
          <a:bodyPr wrap="none" rtlCol="0">
            <a:spAutoFit/>
          </a:bodyPr>
          <a:lstStyle/>
          <a:p>
            <a:r>
              <a:rPr lang="en-US" b="1" noProof="0" dirty="0"/>
              <a:t>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281916" y="4487000"/>
            <a:ext cx="1907895" cy="369332"/>
          </a:xfrm>
          <a:prstGeom prst="rect">
            <a:avLst/>
          </a:prstGeom>
          <a:noFill/>
        </p:spPr>
        <p:txBody>
          <a:bodyPr wrap="none" rtlCol="0">
            <a:spAutoFit/>
          </a:bodyPr>
          <a:lstStyle/>
          <a:p>
            <a:r>
              <a:rPr lang="en-US" b="1" noProof="0" dirty="0"/>
              <a:t>logical structure</a:t>
            </a: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2077559" y="1677340"/>
            <a:ext cx="2470005" cy="910522"/>
            <a:chOff x="8934595" y="1810235"/>
            <a:chExt cx="2470005" cy="910522"/>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62244"/>
                <a:gd name="adj2" fmla="val 110376"/>
                <a:gd name="adj3" fmla="val 16667"/>
              </a:avLst>
            </a:prstGeom>
            <a:solidFill>
              <a:srgbClr val="91C5EC"/>
            </a:solidFill>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934595" y="1812471"/>
              <a:ext cx="2470005" cy="898064"/>
            </a:xfrm>
            <a:prstGeom prst="wedgeRoundRectCallout">
              <a:avLst>
                <a:gd name="adj1" fmla="val -39337"/>
                <a:gd name="adj2" fmla="val 16030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Same for </a:t>
              </a:r>
              <a:r>
                <a:rPr lang="en-US" dirty="0" err="1">
                  <a:solidFill>
                    <a:srgbClr val="795E26"/>
                  </a:solidFill>
                  <a:latin typeface="Fira Code" panose="020B0809050000020004" pitchFamily="49" charset="0"/>
                </a:rPr>
                <a:t>bcast</a:t>
              </a:r>
              <a:r>
                <a:rPr lang="en-US" dirty="0"/>
                <a:t>, </a:t>
              </a:r>
              <a:r>
                <a:rPr lang="en-US" dirty="0">
                  <a:solidFill>
                    <a:srgbClr val="795E26"/>
                  </a:solidFill>
                  <a:latin typeface="Fira Code" panose="020B0809050000020004" pitchFamily="49" charset="0"/>
                </a:rPr>
                <a:t>scatter</a:t>
              </a:r>
              <a:r>
                <a:rPr lang="en-US" dirty="0"/>
                <a:t>, </a:t>
              </a:r>
              <a:r>
                <a:rPr lang="en-US" dirty="0">
                  <a:solidFill>
                    <a:srgbClr val="795E26"/>
                  </a:solidFill>
                  <a:latin typeface="Fira Code" panose="020B0809050000020004" pitchFamily="49" charset="0"/>
                </a:rPr>
                <a:t>gather</a:t>
              </a:r>
              <a:r>
                <a:rPr lang="en-US"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85107" y="2619848"/>
              <a:ext cx="636259" cy="100909"/>
            </a:xfrm>
            <a:prstGeom prst="roundRect">
              <a:avLst>
                <a:gd name="adj" fmla="val 50000"/>
              </a:avLst>
            </a:prstGeom>
            <a:solidFill>
              <a:srgbClr val="90C5EC"/>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720896" y="3203167"/>
            <a:ext cx="10750210" cy="3654834"/>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438398" y="1258440"/>
            <a:ext cx="7315204" cy="2051572"/>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Tree>
    <p:extLst>
      <p:ext uri="{BB962C8B-B14F-4D97-AF65-F5344CB8AC3E}">
        <p14:creationId xmlns:p14="http://schemas.microsoft.com/office/powerpoint/2010/main" val="202421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417496" y="142885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373769" y="1459455"/>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104419" y="2694386"/>
            <a:ext cx="3856890" cy="461665"/>
          </a:xfrm>
          <a:prstGeom prst="rect">
            <a:avLst/>
          </a:prstGeom>
          <a:noFill/>
        </p:spPr>
        <p:txBody>
          <a:bodyPr wrap="none" rtlCol="0">
            <a:spAutoFit/>
          </a:bodyPr>
          <a:lstStyle/>
          <a:p>
            <a:pPr algn="ctr"/>
            <a:r>
              <a:rPr lang="en-US" sz="2400" dirty="0"/>
              <a:t>Example of a 4-point stencil</a:t>
            </a:r>
          </a:p>
        </p:txBody>
      </p:sp>
      <p:pic>
        <p:nvPicPr>
          <p:cNvPr id="18" name="Picture 17">
            <a:extLst>
              <a:ext uri="{FF2B5EF4-FFF2-40B4-BE49-F238E27FC236}">
                <a16:creationId xmlns:a16="http://schemas.microsoft.com/office/drawing/2014/main" id="{9A97F5A2-4CA4-CAFF-A67E-E3B95DD9266D}"/>
              </a:ext>
            </a:extLst>
          </p:cNvPr>
          <p:cNvPicPr>
            <a:picLocks noChangeAspect="1"/>
          </p:cNvPicPr>
          <p:nvPr/>
        </p:nvPicPr>
        <p:blipFill>
          <a:blip r:embed="rId5"/>
          <a:stretch>
            <a:fillRect/>
          </a:stretch>
        </p:blipFill>
        <p:spPr>
          <a:xfrm>
            <a:off x="5325631" y="3112225"/>
            <a:ext cx="1414466" cy="1414466"/>
          </a:xfrm>
          <a:prstGeom prst="rect">
            <a:avLst/>
          </a:prstGeom>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BF11FBE-6E66-AF47-90FB-A53F1CB69841}"/>
                  </a:ext>
                </a:extLst>
              </p:cNvPr>
              <p:cNvSpPr txBox="1"/>
              <p:nvPr/>
            </p:nvSpPr>
            <p:spPr>
              <a:xfrm>
                <a:off x="2796373" y="4555293"/>
                <a:ext cx="7440307" cy="400110"/>
              </a:xfrm>
              <a:prstGeom prst="rect">
                <a:avLst/>
              </a:prstGeom>
              <a:noFill/>
            </p:spPr>
            <p:txBody>
              <a:bodyPr wrap="non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r>
                            <a:rPr lang="en-US" sz="2000" b="0" i="1" smtClean="0">
                              <a:latin typeface="Cambria Math" panose="02040503050406030204" pitchFamily="18" charset="0"/>
                            </a:rPr>
                            <m:t>+1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m:t>
                          </m:r>
                          <m:r>
                            <a:rPr lang="en-US" sz="2000" b="0" i="1" smtClean="0">
                              <a:latin typeface="Cambria Math" panose="02040503050406030204" pitchFamily="18" charset="0"/>
                            </a:rPr>
                            <m:t>𝑦</m:t>
                          </m:r>
                        </m:e>
                      </m:d>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−1, </m:t>
                          </m:r>
                          <m:r>
                            <a:rPr lang="en-US" sz="2000" b="0" i="1" smtClean="0">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b="0" i="1" smtClean="0">
                              <a:latin typeface="Cambria Math" panose="02040503050406030204" pitchFamily="18" charset="0"/>
                            </a:rPr>
                            <m:t>+</m:t>
                          </m:r>
                          <m:r>
                            <a:rPr lang="en-US" sz="2000" i="1">
                              <a:latin typeface="Cambria Math" panose="02040503050406030204" pitchFamily="18" charset="0"/>
                            </a:rPr>
                            <m:t>1, </m:t>
                          </m:r>
                          <m:r>
                            <a:rPr lang="en-US" sz="2000" i="1">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b="0" i="1" smtClean="0">
                          <a:latin typeface="Cambria Math" panose="02040503050406030204" pitchFamily="18" charset="0"/>
                        </a:rPr>
                        <m:t>)</m:t>
                      </m:r>
                    </m:oMath>
                  </m:oMathPara>
                </a14:m>
                <a:endParaRPr lang="en-US" sz="2000" dirty="0"/>
              </a:p>
            </p:txBody>
          </p:sp>
        </mc:Choice>
        <mc:Fallback xmlns="">
          <p:sp>
            <p:nvSpPr>
              <p:cNvPr id="19" name="TextBox 18">
                <a:extLst>
                  <a:ext uri="{FF2B5EF4-FFF2-40B4-BE49-F238E27FC236}">
                    <a16:creationId xmlns:a16="http://schemas.microsoft.com/office/drawing/2014/main" id="{7BF11FBE-6E66-AF47-90FB-A53F1CB69841}"/>
                  </a:ext>
                </a:extLst>
              </p:cNvPr>
              <p:cNvSpPr txBox="1">
                <a:spLocks noRot="1" noChangeAspect="1" noMove="1" noResize="1" noEditPoints="1" noAdjustHandles="1" noChangeArrowheads="1" noChangeShapeType="1" noTextEdit="1"/>
              </p:cNvSpPr>
              <p:nvPr/>
            </p:nvSpPr>
            <p:spPr>
              <a:xfrm>
                <a:off x="2796373" y="4555293"/>
                <a:ext cx="7440307" cy="400110"/>
              </a:xfrm>
              <a:prstGeom prst="rect">
                <a:avLst/>
              </a:prstGeom>
              <a:blipFill>
                <a:blip r:embed="rId6"/>
                <a:stretch>
                  <a:fillRect b="-15152"/>
                </a:stretch>
              </a:blipFill>
            </p:spPr>
            <p:txBody>
              <a:bodyPr/>
              <a:lstStyle/>
              <a:p>
                <a:r>
                  <a:rPr lang="en-US">
                    <a:noFill/>
                  </a:rPr>
                  <a:t> </a:t>
                </a:r>
              </a:p>
            </p:txBody>
          </p:sp>
        </mc:Fallback>
      </mc:AlternateContent>
      <p:sp>
        <p:nvSpPr>
          <p:cNvPr id="21" name="Right Brace 20">
            <a:extLst>
              <a:ext uri="{FF2B5EF4-FFF2-40B4-BE49-F238E27FC236}">
                <a16:creationId xmlns:a16="http://schemas.microsoft.com/office/drawing/2014/main" id="{C73A5AD1-03E6-CD93-3B91-D5DCCF46A030}"/>
              </a:ext>
            </a:extLst>
          </p:cNvPr>
          <p:cNvSpPr/>
          <p:nvPr/>
        </p:nvSpPr>
        <p:spPr>
          <a:xfrm rot="5400000">
            <a:off x="3305691" y="4542125"/>
            <a:ext cx="144035" cy="909386"/>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TextBox 21">
            <a:extLst>
              <a:ext uri="{FF2B5EF4-FFF2-40B4-BE49-F238E27FC236}">
                <a16:creationId xmlns:a16="http://schemas.microsoft.com/office/drawing/2014/main" id="{4BB9BD25-7E57-6F2D-B662-1ACB582FE972}"/>
              </a:ext>
            </a:extLst>
          </p:cNvPr>
          <p:cNvSpPr txBox="1"/>
          <p:nvPr/>
        </p:nvSpPr>
        <p:spPr>
          <a:xfrm>
            <a:off x="2649237" y="5112321"/>
            <a:ext cx="1513556" cy="461665"/>
          </a:xfrm>
          <a:prstGeom prst="rect">
            <a:avLst/>
          </a:prstGeom>
          <a:noFill/>
        </p:spPr>
        <p:txBody>
          <a:bodyPr wrap="none" rtlCol="0">
            <a:spAutoFit/>
          </a:bodyPr>
          <a:lstStyle/>
          <a:p>
            <a:pPr algn="ctr"/>
            <a:r>
              <a:rPr lang="en-US" sz="2400" dirty="0"/>
              <a:t>New state</a:t>
            </a:r>
          </a:p>
        </p:txBody>
      </p:sp>
      <p:sp>
        <p:nvSpPr>
          <p:cNvPr id="24" name="Right Brace 23">
            <a:extLst>
              <a:ext uri="{FF2B5EF4-FFF2-40B4-BE49-F238E27FC236}">
                <a16:creationId xmlns:a16="http://schemas.microsoft.com/office/drawing/2014/main" id="{A48C4219-DFA0-5DD8-DCCF-EA1DB2C00267}"/>
              </a:ext>
            </a:extLst>
          </p:cNvPr>
          <p:cNvSpPr/>
          <p:nvPr/>
        </p:nvSpPr>
        <p:spPr>
          <a:xfrm rot="5400000">
            <a:off x="7103520" y="2302480"/>
            <a:ext cx="113433" cy="5419279"/>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524F2AB9-0539-93C8-AA71-D93418571E47}"/>
              </a:ext>
            </a:extLst>
          </p:cNvPr>
          <p:cNvSpPr txBox="1"/>
          <p:nvPr/>
        </p:nvSpPr>
        <p:spPr>
          <a:xfrm>
            <a:off x="5035976" y="5112321"/>
            <a:ext cx="3781805" cy="461665"/>
          </a:xfrm>
          <a:prstGeom prst="rect">
            <a:avLst/>
          </a:prstGeom>
          <a:noFill/>
        </p:spPr>
        <p:txBody>
          <a:bodyPr wrap="none" rtlCol="0">
            <a:spAutoFit/>
          </a:bodyPr>
          <a:lstStyle/>
          <a:p>
            <a:pPr algn="ctr"/>
            <a:r>
              <a:rPr lang="en-US" sz="2400" dirty="0"/>
              <a:t>Current states of neighbors</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1882529"/>
            <a:chOff x="4042550" y="4991122"/>
            <a:chExt cx="4627188" cy="1882529"/>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7"/>
            <a:stretch>
              <a:fillRect/>
            </a:stretch>
          </p:blipFill>
          <p:spPr>
            <a:xfrm>
              <a:off x="7107024" y="5175095"/>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268800" cy="510778"/>
            </a:xfrm>
            <a:prstGeom prst="wedgeRoundRectCallout">
              <a:avLst>
                <a:gd name="adj1" fmla="val 50556"/>
                <a:gd name="adj2" fmla="val 141314"/>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657264" y="6473541"/>
              <a:ext cx="2012474" cy="400110"/>
            </a:xfrm>
            <a:prstGeom prst="rect">
              <a:avLst/>
            </a:prstGeom>
            <a:noFill/>
          </p:spPr>
          <p:txBody>
            <a:bodyPr wrap="none" rtlCol="0">
              <a:spAutoFit/>
            </a:bodyPr>
            <a:lstStyle/>
            <a:p>
              <a:r>
                <a:rPr lang="en-US" sz="2000" dirty="0" err="1"/>
                <a:t>Collegue</a:t>
              </a:r>
              <a:r>
                <a:rPr lang="en-US" sz="2000" dirty="0"/>
                <a:t> Brabec</a:t>
              </a:r>
            </a:p>
          </p:txBody>
        </p:sp>
      </p:gr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p:bldP spid="21" grpId="0" animBg="1"/>
      <p:bldP spid="22" grpId="0"/>
      <p:bldP spid="24"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398116"/>
            <a:ext cx="5225579" cy="3005828"/>
            <a:chOff x="118662" y="3398116"/>
            <a:chExt cx="5225579" cy="30058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587183"/>
            </a:xfrm>
            <a:prstGeom prst="rect">
              <a:avLst/>
            </a:prstGeom>
            <a:noFill/>
            <a:ln>
              <a:solidFill>
                <a:schemeClr val="tx1"/>
              </a:solidFill>
            </a:ln>
          </p:spPr>
          <p:txBody>
            <a:bodyPr wrap="square">
              <a:spAutoFit/>
            </a:bodyPr>
            <a:lstStyle/>
            <a:p>
              <a:pPr>
                <a:lnSpc>
                  <a:spcPct val="113095"/>
                </a:lnSpc>
                <a:buNone/>
              </a:pPr>
              <a:r>
                <a:rPr lang="en-US" sz="1600" noProof="0" dirty="0">
                  <a:solidFill>
                    <a:srgbClr val="AF00DB"/>
                  </a:solidFill>
                  <a:effectLst/>
                  <a:latin typeface="Fira Code" panose="020B0809050000020004" pitchFamily="49" charset="0"/>
                </a:rPr>
                <a:t>if</a:t>
              </a:r>
              <a:r>
                <a:rPr lang="en-US" sz="1600" noProof="0" dirty="0">
                  <a:solidFill>
                    <a:srgbClr val="000000"/>
                  </a:solidFill>
                  <a:effectLst/>
                  <a:latin typeface="Fira Code" panose="020B0809050000020004" pitchFamily="49" charset="0"/>
                </a:rPr>
                <a:t> (</a:t>
              </a:r>
              <a:r>
                <a:rPr lang="en-US" sz="1600" noProof="0" dirty="0">
                  <a:solidFill>
                    <a:srgbClr val="001080"/>
                  </a:solidFill>
                  <a:effectLst/>
                  <a:latin typeface="Fira Code" panose="020B0809050000020004" pitchFamily="49" charset="0"/>
                </a:rPr>
                <a:t>current</a:t>
              </a:r>
              <a:r>
                <a:rPr lang="en-US" sz="160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noProof="0" dirty="0">
                  <a:solidFill>
                    <a:srgbClr val="000000"/>
                  </a:solidFill>
                  <a:effectLst/>
                  <a:latin typeface="Fira Code" panose="020B0809050000020004" pitchFamily="49" charset="0"/>
                </a:rPr>
                <a:t>= </a:t>
              </a:r>
              <a:r>
                <a:rPr lang="en-US" sz="1600" noProof="0" dirty="0">
                  <a:solidFill>
                    <a:srgbClr val="0070C1"/>
                  </a:solidFill>
                  <a:effectLst/>
                  <a:latin typeface="Fira Code" panose="020B0809050000020004" pitchFamily="49" charset="0"/>
                </a:rPr>
                <a:t>ALIVE</a:t>
              </a:r>
              <a:r>
                <a:rPr lang="en-US" sz="160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2</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 </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1091418" y="3398116"/>
              <a:ext cx="3280065" cy="400110"/>
            </a:xfrm>
            <a:prstGeom prst="rect">
              <a:avLst/>
            </a:prstGeom>
            <a:noFill/>
          </p:spPr>
          <p:txBody>
            <a:bodyPr wrap="none" rtlCol="0">
              <a:spAutoFit/>
            </a:bodyPr>
            <a:lstStyle/>
            <a:p>
              <a:pPr algn="ctr"/>
              <a:r>
                <a:rPr lang="en-US" sz="2000" noProof="0" dirty="0"/>
                <a:t>Update rule for Game of Life</a:t>
              </a:r>
            </a:p>
          </p:txBody>
        </p:sp>
      </p:grpSp>
      <p:cxnSp>
        <p:nvCxnSpPr>
          <p:cNvPr id="48" name="Straight Arrow Connector 47">
            <a:extLst>
              <a:ext uri="{FF2B5EF4-FFF2-40B4-BE49-F238E27FC236}">
                <a16:creationId xmlns:a16="http://schemas.microsoft.com/office/drawing/2014/main" id="{3FDFC3A0-3DF2-3607-D2AB-F7A7F82FA0AC}"/>
              </a:ext>
            </a:extLst>
          </p:cNvPr>
          <p:cNvCxnSpPr>
            <a:cxnSpLocks/>
            <a:stCxn id="31" idx="3"/>
            <a:endCxn id="46" idx="1"/>
          </p:cNvCxnSpPr>
          <p:nvPr/>
        </p:nvCxnSpPr>
        <p:spPr>
          <a:xfrm flipV="1">
            <a:off x="5344241" y="5110352"/>
            <a:ext cx="35966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2" name="Group 11">
            <a:extLst>
              <a:ext uri="{FF2B5EF4-FFF2-40B4-BE49-F238E27FC236}">
                <a16:creationId xmlns:a16="http://schemas.microsoft.com/office/drawing/2014/main" id="{0E365D69-516D-0808-8085-F8A462F03D96}"/>
              </a:ext>
            </a:extLst>
          </p:cNvPr>
          <p:cNvGrpSpPr/>
          <p:nvPr/>
        </p:nvGrpSpPr>
        <p:grpSpPr>
          <a:xfrm>
            <a:off x="5703901" y="3724517"/>
            <a:ext cx="6369437" cy="2365975"/>
            <a:chOff x="5703901" y="3724517"/>
            <a:chExt cx="6369437" cy="2365975"/>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using</a:t>
              </a:r>
              <a:r>
                <a:rPr lang="en-US" b="0" noProof="0" dirty="0">
                  <a:solidFill>
                    <a:srgbClr val="000000"/>
                  </a:solidFill>
                  <a:effectLst/>
                  <a:latin typeface="Fira Code" panose="020B0809050000020004" pitchFamily="49" charset="0"/>
                </a:rPr>
                <a:t> </a:t>
              </a:r>
              <a:r>
                <a:rPr lang="en-US" b="0" noProof="0" dirty="0" err="1">
                  <a:solidFill>
                    <a:srgbClr val="267F99"/>
                  </a:solidFill>
                  <a:effectLst/>
                  <a:latin typeface="Fira Code" panose="020B0809050000020004" pitchFamily="49" charset="0"/>
                </a:rPr>
                <a:t>gol_rule</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has3_or_2</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endParaRPr lang="en-US" dirty="0">
                <a:solidFill>
                  <a:srgbClr val="000000"/>
                </a:solidFill>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p>
            <a:p>
              <a:pPr>
                <a:lnSpc>
                  <a:spcPct val="113095"/>
                </a:lnSpc>
                <a:buNone/>
              </a:pPr>
              <a:r>
                <a:rPr lang="en-US" b="0" noProof="0" dirty="0">
                  <a:solidFill>
                    <a:srgbClr val="000000"/>
                  </a:solidFill>
                  <a:effectLst/>
                  <a:latin typeface="Fira Code" panose="020B0809050000020004" pitchFamily="49" charset="0"/>
                </a:rPr>
                <a:t>  &gt;;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7155006" y="3724517"/>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4909839" y="1823089"/>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563608" y="1387557"/>
            <a:ext cx="2773516" cy="369332"/>
          </a:xfrm>
          <a:prstGeom prst="rect">
            <a:avLst/>
          </a:prstGeom>
          <a:noFill/>
        </p:spPr>
        <p:txBody>
          <a:bodyPr wrap="none" rtlCol="0">
            <a:spAutoFit/>
          </a:bodyPr>
          <a:lstStyle/>
          <a:p>
            <a:r>
              <a:rPr lang="en-US" b="1"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6" y="2907800"/>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2787245" y="761030"/>
            <a:ext cx="6617508" cy="1960280"/>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latin typeface="Fira Code" panose="020B0809050000020004" pitchFamily="49" charset="0"/>
              </a:rPr>
              <a:t>using</a:t>
            </a:r>
            <a:r>
              <a:rPr lang="en-US" noProof="0" dirty="0">
                <a:solidFill>
                  <a:srgbClr val="000000"/>
                </a:solidFill>
                <a:latin typeface="Fira Code" panose="020B0809050000020004" pitchFamily="49" charset="0"/>
              </a:rPr>
              <a:t> </a:t>
            </a:r>
            <a:r>
              <a:rPr lang="en-US" noProof="0" dirty="0" err="1">
                <a:solidFill>
                  <a:srgbClr val="267F99"/>
                </a:solidFill>
                <a:latin typeface="Fira Code" panose="020B0809050000020004" pitchFamily="49" charset="0"/>
              </a:rPr>
              <a:t>gol_rule</a:t>
            </a:r>
            <a:r>
              <a:rPr lang="en-US" noProof="0" dirty="0">
                <a:solidFill>
                  <a:srgbClr val="000000"/>
                </a:solidFill>
                <a:latin typeface="Fira Code" panose="020B0809050000020004" pitchFamily="49" charset="0"/>
              </a:rPr>
              <a:t> =</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has3_or_2</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br>
              <a:rPr lang="en-US" noProof="0" dirty="0">
                <a:solidFill>
                  <a:srgbClr val="000000"/>
                </a:solidFill>
                <a:latin typeface="Fira Code" panose="020B0809050000020004" pitchFamily="49" charset="0"/>
              </a:rPr>
            </a:br>
            <a:r>
              <a:rPr lang="en-US" noProof="0" dirty="0">
                <a:solidFill>
                  <a:srgbClr val="000000"/>
                </a:solidFill>
                <a:latin typeface="Fira Code" panose="020B0809050000020004" pitchFamily="49" charset="0"/>
              </a:rPr>
              <a:t>  &gt;::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p>
          <a:p>
            <a:pPr>
              <a:lnSpc>
                <a:spcPct val="113095"/>
              </a:lnSpc>
              <a:buNone/>
            </a:pPr>
            <a:r>
              <a:rPr lang="en-US" noProof="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7750629" y="2721310"/>
            <a:ext cx="754742" cy="7076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069642" y="360920"/>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spTree>
    <p:extLst>
      <p:ext uri="{BB962C8B-B14F-4D97-AF65-F5344CB8AC3E}">
        <p14:creationId xmlns:p14="http://schemas.microsoft.com/office/powerpoint/2010/main" val="28535449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551023" y="1690687"/>
            <a:ext cx="11089954" cy="4103283"/>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noProof="0" dirty="0"/>
              <a:t>Comparison of GPU-parallelized computation of various cellular automata</a:t>
            </a:r>
            <a:br>
              <a:rPr lang="en-US" noProof="0" dirty="0"/>
            </a:br>
            <a:r>
              <a:rPr lang="en-US" i="1" noProof="0" dirty="0"/>
              <a:t>baseline encodes each cell as a single machine word</a:t>
            </a:r>
          </a:p>
        </p:txBody>
      </p:sp>
      <p:cxnSp>
        <p:nvCxnSpPr>
          <p:cNvPr id="8" name="Straight Arrow Connector 7">
            <a:extLst>
              <a:ext uri="{FF2B5EF4-FFF2-40B4-BE49-F238E27FC236}">
                <a16:creationId xmlns:a16="http://schemas.microsoft.com/office/drawing/2014/main" id="{B863BE26-2F7A-628C-DE51-549D69E8BAAA}"/>
              </a:ext>
            </a:extLst>
          </p:cNvPr>
          <p:cNvCxnSpPr>
            <a:cxnSpLocks/>
            <a:stCxn id="9" idx="0"/>
          </p:cNvCxnSpPr>
          <p:nvPr/>
        </p:nvCxnSpPr>
        <p:spPr>
          <a:xfrm flipV="1">
            <a:off x="954505" y="5093368"/>
            <a:ext cx="288758" cy="5751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A33C645-3BF2-0721-A2F4-A1F8BC4B7C33}"/>
              </a:ext>
            </a:extLst>
          </p:cNvPr>
          <p:cNvSpPr txBox="1"/>
          <p:nvPr/>
        </p:nvSpPr>
        <p:spPr>
          <a:xfrm>
            <a:off x="251428" y="5668508"/>
            <a:ext cx="1406154" cy="646331"/>
          </a:xfrm>
          <a:prstGeom prst="rect">
            <a:avLst/>
          </a:prstGeom>
          <a:noFill/>
        </p:spPr>
        <p:txBody>
          <a:bodyPr wrap="none" rtlCol="0">
            <a:spAutoFit/>
          </a:bodyPr>
          <a:lstStyle/>
          <a:p>
            <a:pPr algn="ctr"/>
            <a:r>
              <a:rPr lang="en-US" dirty="0">
                <a:solidFill>
                  <a:srgbClr val="FF0000"/>
                </a:solidFill>
              </a:rPr>
              <a:t>Byte per cell</a:t>
            </a:r>
          </a:p>
          <a:p>
            <a:pPr algn="ctr"/>
            <a:r>
              <a:rPr lang="en-US" dirty="0">
                <a:solidFill>
                  <a:srgbClr val="FF0000"/>
                </a:solidFill>
              </a:rPr>
              <a:t>baseline</a:t>
            </a:r>
          </a:p>
        </p:txBody>
      </p:sp>
    </p:spTree>
    <p:extLst>
      <p:ext uri="{BB962C8B-B14F-4D97-AF65-F5344CB8AC3E}">
        <p14:creationId xmlns:p14="http://schemas.microsoft.com/office/powerpoint/2010/main" val="13104121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dirty="0"/>
              <a:t> D</a:t>
            </a:r>
            <a:r>
              <a:rPr lang="en-US" noProof="0" dirty="0" err="1"/>
              <a:t>istributed</a:t>
            </a:r>
            <a:r>
              <a:rPr lang="en-US" noProof="0" dirty="0"/>
              <a:t>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650619" y="4411455"/>
            <a:ext cx="209405" cy="106098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138648"/>
            <a:ext cx="1788083" cy="1788083"/>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922846" y="4941946"/>
            <a:ext cx="2404081" cy="2"/>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329741" y="3807728"/>
            <a:ext cx="2902011" cy="749758"/>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4" name="Group 3">
            <a:extLst>
              <a:ext uri="{FF2B5EF4-FFF2-40B4-BE49-F238E27FC236}">
                <a16:creationId xmlns:a16="http://schemas.microsoft.com/office/drawing/2014/main" id="{93932BEA-66DD-B983-4DCA-C0218F0C49BF}"/>
              </a:ext>
            </a:extLst>
          </p:cNvPr>
          <p:cNvGrpSpPr/>
          <p:nvPr/>
        </p:nvGrpSpPr>
        <p:grpSpPr>
          <a:xfrm>
            <a:off x="4910432" y="2778099"/>
            <a:ext cx="3417642" cy="2849169"/>
            <a:chOff x="4910432" y="2778099"/>
            <a:chExt cx="3417642" cy="2849169"/>
          </a:xfrm>
        </p:grpSpPr>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2" y="2778099"/>
              <a:ext cx="341764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6" name="Group 5">
            <a:extLst>
              <a:ext uri="{FF2B5EF4-FFF2-40B4-BE49-F238E27FC236}">
                <a16:creationId xmlns:a16="http://schemas.microsoft.com/office/drawing/2014/main" id="{EE2A4B21-FD70-D776-EED8-5789509A1905}"/>
              </a:ext>
            </a:extLst>
          </p:cNvPr>
          <p:cNvGrpSpPr/>
          <p:nvPr/>
        </p:nvGrpSpPr>
        <p:grpSpPr>
          <a:xfrm>
            <a:off x="9269872" y="2778099"/>
            <a:ext cx="2754452" cy="2849169"/>
            <a:chOff x="9269872" y="2778099"/>
            <a:chExt cx="2754452" cy="2849169"/>
          </a:xfrm>
        </p:grpSpPr>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7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686607" y="1688227"/>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672605" y="2661659"/>
            <a:ext cx="1394934" cy="400110"/>
          </a:xfrm>
          <a:prstGeom prst="rect">
            <a:avLst/>
          </a:prstGeom>
          <a:noFill/>
        </p:spPr>
        <p:txBody>
          <a:bodyPr wrap="none" rtlCol="0">
            <a:spAutoFit/>
          </a:bodyPr>
          <a:lstStyle/>
          <a:p>
            <a:pPr algn="ctr"/>
            <a:r>
              <a:rPr lang="en-US" sz="20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327969" y="1702122"/>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242114" y="2771191"/>
            <a:ext cx="1646606" cy="400110"/>
          </a:xfrm>
          <a:prstGeom prst="rect">
            <a:avLst/>
          </a:prstGeom>
          <a:noFill/>
        </p:spPr>
        <p:txBody>
          <a:bodyPr wrap="none" rtlCol="0">
            <a:spAutoFit/>
          </a:bodyPr>
          <a:lstStyle/>
          <a:p>
            <a:pPr algn="ctr"/>
            <a:r>
              <a:rPr lang="en-US" sz="20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745424" y="1699071"/>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792470" y="2707826"/>
            <a:ext cx="1386918" cy="707886"/>
          </a:xfrm>
          <a:prstGeom prst="rect">
            <a:avLst/>
          </a:prstGeom>
          <a:noFill/>
        </p:spPr>
        <p:txBody>
          <a:bodyPr wrap="none" rtlCol="0">
            <a:spAutoFit/>
          </a:bodyPr>
          <a:lstStyle/>
          <a:p>
            <a:pPr algn="ctr"/>
            <a:r>
              <a:rPr lang="en-US" sz="2000" b="1" noProof="0" dirty="0"/>
              <a:t>K-Nearest</a:t>
            </a:r>
            <a:br>
              <a:rPr lang="en-US" sz="2000" b="1" noProof="0" dirty="0"/>
            </a:br>
            <a:r>
              <a:rPr lang="en-US" sz="20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252640" y="3334628"/>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923708" y="3334628"/>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841859" y="3334628"/>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523384" y="4530820"/>
            <a:ext cx="1874232" cy="400110"/>
          </a:xfrm>
          <a:prstGeom prst="rect">
            <a:avLst/>
          </a:prstGeom>
          <a:noFill/>
        </p:spPr>
        <p:txBody>
          <a:bodyPr wrap="none" rtlCol="0">
            <a:spAutoFit/>
          </a:bodyPr>
          <a:lstStyle/>
          <a:p>
            <a:pPr algn="ctr"/>
            <a:r>
              <a:rPr lang="en-US" sz="20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75733" y="5189669"/>
            <a:ext cx="1301959" cy="400110"/>
          </a:xfrm>
          <a:prstGeom prst="rect">
            <a:avLst/>
          </a:prstGeom>
          <a:noFill/>
        </p:spPr>
        <p:txBody>
          <a:bodyPr wrap="none" rtlCol="0">
            <a:spAutoFit/>
          </a:bodyPr>
          <a:lstStyle/>
          <a:p>
            <a:pPr algn="ctr"/>
            <a:r>
              <a:rPr lang="en-US" sz="20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468881" y="5848518"/>
            <a:ext cx="1983235" cy="400110"/>
          </a:xfrm>
          <a:prstGeom prst="rect">
            <a:avLst/>
          </a:prstGeom>
          <a:noFill/>
        </p:spPr>
        <p:txBody>
          <a:bodyPr wrap="none" rtlCol="0">
            <a:spAutoFit/>
          </a:bodyPr>
          <a:lstStyle/>
          <a:p>
            <a:pPr algn="ctr"/>
            <a:r>
              <a:rPr lang="en-US" sz="20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64144" y="1513149"/>
            <a:ext cx="1217256" cy="369332"/>
          </a:xfrm>
          <a:prstGeom prst="rect">
            <a:avLst/>
          </a:prstGeom>
          <a:noFill/>
        </p:spPr>
        <p:txBody>
          <a:bodyPr wrap="none" rtlCol="0">
            <a:spAutoFit/>
          </a:bodyPr>
          <a:lstStyle/>
          <a:p>
            <a:r>
              <a:rPr lang="en-US"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610600" y="2094541"/>
            <a:ext cx="1436612" cy="369332"/>
          </a:xfrm>
          <a:prstGeom prst="rect">
            <a:avLst/>
          </a:prstGeom>
          <a:noFill/>
        </p:spPr>
        <p:txBody>
          <a:bodyPr wrap="none" rtlCol="0">
            <a:spAutoFit/>
          </a:bodyPr>
          <a:lstStyle/>
          <a:p>
            <a:r>
              <a:rPr lang="en-US"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smtClean="0"/>
              <a:t>9/1/2026</a:t>
            </a:fld>
            <a:endParaRPr lang="en-US"/>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smtClean="0"/>
              <a:t>25</a:t>
            </a:fld>
            <a:endParaRPr lang="en-US"/>
          </a:p>
        </p:txBody>
      </p:sp>
      <p:sp>
        <p:nvSpPr>
          <p:cNvPr id="6" name="TextBox 5">
            <a:extLst>
              <a:ext uri="{FF2B5EF4-FFF2-40B4-BE49-F238E27FC236}">
                <a16:creationId xmlns:a16="http://schemas.microsoft.com/office/drawing/2014/main" id="{19E4B8FB-55FB-804F-D918-87CA02061244}"/>
              </a:ext>
            </a:extLst>
          </p:cNvPr>
          <p:cNvSpPr txBox="1"/>
          <p:nvPr/>
        </p:nvSpPr>
        <p:spPr>
          <a:xfrm>
            <a:off x="2526939" y="3224688"/>
            <a:ext cx="1616363"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19778" y="3224688"/>
            <a:ext cx="1474203" cy="442674"/>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3620001" y="2566736"/>
            <a:ext cx="495199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335121" y="2975359"/>
            <a:ext cx="851868"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8005013" y="2975359"/>
            <a:ext cx="851867"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1199786" y="3977774"/>
            <a:ext cx="1652310"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7295000" y="3981345"/>
            <a:ext cx="107759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867119" y="4525356"/>
            <a:ext cx="193335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1238184" y="4526548"/>
            <a:ext cx="1575512"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720547" y="3978297"/>
            <a:ext cx="1840221"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890789" y="4526547"/>
            <a:ext cx="1499736"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334737" y="3977774"/>
            <a:ext cx="1407363"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36607" y="4525356"/>
            <a:ext cx="2003622"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9868" y="1648644"/>
            <a:ext cx="152264" cy="69959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2389E2B3-4BCB-989F-B436-E7DF27AF788B}"/>
              </a:ext>
            </a:extLst>
          </p:cNvPr>
          <p:cNvSpPr txBox="1"/>
          <p:nvPr/>
        </p:nvSpPr>
        <p:spPr>
          <a:xfrm>
            <a:off x="4337345" y="5222758"/>
            <a:ext cx="3517310" cy="707886"/>
          </a:xfrm>
          <a:prstGeom prst="rect">
            <a:avLst/>
          </a:prstGeom>
          <a:noFill/>
        </p:spPr>
        <p:txBody>
          <a:bodyPr wrap="none" rtlCol="0">
            <a:spAutoFit/>
          </a:bodyPr>
          <a:lstStyle/>
          <a:p>
            <a:pPr algn="ctr"/>
            <a:r>
              <a:rPr lang="en-US" sz="2000" dirty="0"/>
              <a:t>Would abstractions help LLMs</a:t>
            </a:r>
            <a:br>
              <a:rPr lang="en-US" sz="2000" dirty="0"/>
            </a:br>
            <a:r>
              <a:rPr lang="en-US" sz="200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endCxn id="6" idx="2"/>
          </p:cNvCxnSpPr>
          <p:nvPr/>
        </p:nvCxnSpPr>
        <p:spPr>
          <a:xfrm flipV="1">
            <a:off x="2188369" y="3667362"/>
            <a:ext cx="1146752"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p:cNvCxnSpPr>
          <p:nvPr/>
        </p:nvCxnSpPr>
        <p:spPr>
          <a:xfrm>
            <a:off x="3335121" y="3667362"/>
            <a:ext cx="1170315"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endCxn id="7" idx="2"/>
          </p:cNvCxnSpPr>
          <p:nvPr/>
        </p:nvCxnSpPr>
        <p:spPr>
          <a:xfrm flipV="1">
            <a:off x="7898606" y="3667362"/>
            <a:ext cx="958274"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endCxn id="7" idx="2"/>
          </p:cNvCxnSpPr>
          <p:nvPr/>
        </p:nvCxnSpPr>
        <p:spPr>
          <a:xfrm flipH="1" flipV="1">
            <a:off x="8856880" y="3667362"/>
            <a:ext cx="1015783"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2213772" y="2813553"/>
            <a:ext cx="7400925" cy="2276475"/>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3182430" y="5351517"/>
            <a:ext cx="5043367" cy="707886"/>
          </a:xfrm>
          <a:prstGeom prst="rect">
            <a:avLst/>
          </a:prstGeom>
          <a:noFill/>
        </p:spPr>
        <p:txBody>
          <a:bodyPr wrap="none" rtlCol="0">
            <a:spAutoFit/>
          </a:bodyPr>
          <a:lstStyle/>
          <a:p>
            <a:pPr algn="ctr"/>
            <a:r>
              <a:rPr lang="en-US" sz="2000" noProof="0" dirty="0"/>
              <a:t>Developer guide + abstraction-specific hints</a:t>
            </a:r>
          </a:p>
          <a:p>
            <a:pPr algn="ctr"/>
            <a:r>
              <a:rPr lang="en-US" sz="20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3961039" y="4175222"/>
            <a:ext cx="1743075" cy="11762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704114" y="4337147"/>
            <a:ext cx="1368796" cy="10143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3735241" y="2757076"/>
            <a:ext cx="0" cy="558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2911938" y="2049190"/>
            <a:ext cx="1646605" cy="707886"/>
          </a:xfrm>
          <a:prstGeom prst="rect">
            <a:avLst/>
          </a:prstGeom>
          <a:noFill/>
        </p:spPr>
        <p:txBody>
          <a:bodyPr wrap="none" rtlCol="0">
            <a:spAutoFit/>
          </a:bodyPr>
          <a:lstStyle/>
          <a:p>
            <a:pPr algn="ctr"/>
            <a:r>
              <a:rPr lang="en-US" sz="2000" noProof="0" dirty="0"/>
              <a:t>Example</a:t>
            </a:r>
            <a:br>
              <a:rPr lang="en-US" sz="2000" noProof="0" dirty="0"/>
            </a:br>
            <a:r>
              <a:rPr lang="en-US" sz="20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7421417" y="2690164"/>
            <a:ext cx="0" cy="8663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351316" y="2290054"/>
            <a:ext cx="2140202" cy="400110"/>
          </a:xfrm>
          <a:prstGeom prst="rect">
            <a:avLst/>
          </a:prstGeom>
          <a:noFill/>
        </p:spPr>
        <p:txBody>
          <a:bodyPr wrap="none" rtlCol="0">
            <a:spAutoFit/>
          </a:bodyPr>
          <a:lstStyle/>
          <a:p>
            <a:pPr algn="ctr"/>
            <a:r>
              <a:rPr lang="en-US" sz="2000" noProof="0"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1646" y="3390457"/>
            <a:ext cx="1692836" cy="400110"/>
          </a:xfrm>
          <a:prstGeom prst="rect">
            <a:avLst/>
          </a:prstGeom>
          <a:noFill/>
        </p:spPr>
        <p:txBody>
          <a:bodyPr wrap="none" rtlCol="0">
            <a:spAutoFit/>
          </a:bodyPr>
          <a:lstStyle/>
          <a:p>
            <a:pPr algn="r"/>
            <a:r>
              <a:rPr lang="en-US" sz="2000" noProof="0"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cxnSpLocks/>
            <a:stCxn id="33" idx="3"/>
          </p:cNvCxnSpPr>
          <p:nvPr/>
        </p:nvCxnSpPr>
        <p:spPr>
          <a:xfrm>
            <a:off x="1774482" y="3590512"/>
            <a:ext cx="43929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P spid="33"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87523"/>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147040" y="587413"/>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825625"/>
            <a:ext cx="10848474" cy="4351338"/>
          </a:xfrm>
        </p:spPr>
        <p:txBody>
          <a:bodyPr>
            <a:noAutofit/>
          </a:bodyPr>
          <a:lstStyle/>
          <a:p>
            <a:r>
              <a:rPr lang="en-US" noProof="0" dirty="0"/>
              <a:t>Prompting specificity ✅</a:t>
            </a:r>
          </a:p>
          <a:p>
            <a:r>
              <a:rPr lang="en-US" noProof="0" dirty="0"/>
              <a:t>Contemporary abstractions ❌</a:t>
            </a:r>
          </a:p>
          <a:p>
            <a:endParaRPr lang="en-US" noProof="0" dirty="0"/>
          </a:p>
          <a:p>
            <a:r>
              <a:rPr lang="en-US" dirty="0"/>
              <a:t>Possible f</a:t>
            </a:r>
            <a:r>
              <a:rPr lang="en-US" noProof="0" dirty="0" err="1"/>
              <a:t>uture</a:t>
            </a:r>
            <a:r>
              <a:rPr lang="en-US" noProof="0" dirty="0"/>
              <a:t>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a:t>
            </a:r>
            <a:r>
              <a:rPr lang="en-US" dirty="0"/>
              <a:t>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850235"/>
            <a:ext cx="2125390" cy="461665"/>
          </a:xfrm>
          <a:prstGeom prst="rect">
            <a:avLst/>
          </a:prstGeom>
          <a:noFill/>
        </p:spPr>
        <p:txBody>
          <a:bodyPr wrap="none" rtlCol="0">
            <a:spAutoFit/>
          </a:bodyPr>
          <a:lstStyle/>
          <a:p>
            <a:pPr algn="ctr"/>
            <a:r>
              <a:rPr lang="en-US" sz="240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558438"/>
            <a:ext cx="1884948" cy="461665"/>
          </a:xfrm>
          <a:prstGeom prst="rect">
            <a:avLst/>
          </a:prstGeom>
          <a:noFill/>
        </p:spPr>
        <p:txBody>
          <a:bodyPr wrap="square">
            <a:spAutoFit/>
          </a:bodyPr>
          <a:lstStyle/>
          <a:p>
            <a:pPr algn="ctr"/>
            <a:r>
              <a:rPr lang="en-US" sz="2400" noProof="0" dirty="0"/>
              <a:t>determinism</a:t>
            </a:r>
            <a:endParaRPr lang="en-US"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6" name="TextBox 5">
            <a:extLst>
              <a:ext uri="{FF2B5EF4-FFF2-40B4-BE49-F238E27FC236}">
                <a16:creationId xmlns:a16="http://schemas.microsoft.com/office/drawing/2014/main" id="{0C2203B1-0F93-3F92-FADF-DA1FA387F65C}"/>
              </a:ext>
            </a:extLst>
          </p:cNvPr>
          <p:cNvSpPr txBox="1"/>
          <p:nvPr/>
        </p:nvSpPr>
        <p:spPr>
          <a:xfrm>
            <a:off x="796339" y="3540214"/>
            <a:ext cx="133716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1578385" y="1964514"/>
            <a:ext cx="1007068"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2202790" y="2704852"/>
            <a:ext cx="1218131"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180692" y="3587248"/>
            <a:ext cx="131050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394667" y="1602719"/>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9073599" y="2712837"/>
            <a:ext cx="2669353"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Bitwise encoding of </a:t>
            </a:r>
            <a:r>
              <a:rPr lang="en-US" noProof="0" dirty="0" err="1"/>
              <a:t>GoL</a:t>
            </a:r>
            <a:endParaRPr lang="en-US"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6617359" y="2114333"/>
            <a:ext cx="1776972" cy="487204"/>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781927" y="495962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857296" y="394165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634" y="1421002"/>
            <a:ext cx="3497625"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noProof="0" dirty="0"/>
              <a:t>General-purpose HPC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421845" y="304329"/>
            <a:ext cx="3457998"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Domain-specific HPC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296654" y="994391"/>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8610600" y="5993832"/>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k-Nearest Neighbors</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3203056"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GPU-specific algorithm design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2397292" cy="501491"/>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err="1"/>
              <a:t>kNN</a:t>
            </a:r>
            <a:r>
              <a:rPr lang="en-US" noProof="0" dirty="0"/>
              <a:t> with </a:t>
            </a:r>
            <a:r>
              <a:rPr lang="en-US" noProof="0" dirty="0" err="1"/>
              <a:t>bitonic</a:t>
            </a:r>
            <a:r>
              <a:rPr lang="en-US" noProof="0" dirty="0"/>
              <a:t> sort</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7" y="1790334"/>
            <a:ext cx="23472"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729937" cy="331715"/>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464919" y="3113475"/>
            <a:ext cx="1346937" cy="42673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811856" y="3113475"/>
            <a:ext cx="1024088" cy="47377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150844" y="673661"/>
            <a:ext cx="1257433"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408276" y="1403014"/>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408276" y="2011342"/>
            <a:ext cx="0" cy="70149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1"/>
            <a:endCxn id="27" idx="3"/>
          </p:cNvCxnSpPr>
          <p:nvPr/>
        </p:nvCxnSpPr>
        <p:spPr>
          <a:xfrm flipH="1">
            <a:off x="8394331" y="1807031"/>
            <a:ext cx="1000336" cy="55090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6074040" y="4310986"/>
            <a:ext cx="1972400" cy="64863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046440" y="5328956"/>
            <a:ext cx="1687545" cy="664876"/>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H="1" flipV="1">
            <a:off x="3001631" y="5552913"/>
            <a:ext cx="161140"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974807"/>
            <a:ext cx="825632" cy="16948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a:off x="5025909" y="4724062"/>
            <a:ext cx="1756018" cy="42022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42209" y="2893556"/>
            <a:ext cx="1770299" cy="2361836"/>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420921" y="2909164"/>
            <a:ext cx="2653119" cy="103249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0"/>
          </p:cNvCxnSpPr>
          <p:nvPr/>
        </p:nvCxnSpPr>
        <p:spPr>
          <a:xfrm rot="5400000" flipH="1" flipV="1">
            <a:off x="4863591" y="62599"/>
            <a:ext cx="590519" cy="4693989"/>
          </a:xfrm>
          <a:prstGeom prst="curvedConnector3">
            <a:avLst>
              <a:gd name="adj1" fmla="val 13871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a:off x="4190498" y="1512671"/>
            <a:ext cx="2095254" cy="369332"/>
          </a:xfrm>
          <a:prstGeom prst="rect">
            <a:avLst/>
          </a:prstGeom>
          <a:noFill/>
        </p:spPr>
        <p:txBody>
          <a:bodyPr wrap="none" rtlCol="0">
            <a:spAutoFit/>
          </a:bodyPr>
          <a:lstStyle/>
          <a:p>
            <a:r>
              <a:rPr lang="en-US"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2109" y="1924917"/>
            <a:ext cx="518025" cy="518025"/>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26784" y="2684666"/>
            <a:ext cx="518025" cy="518025"/>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30762" y="3522977"/>
            <a:ext cx="511973" cy="511973"/>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6827" y="3538609"/>
            <a:ext cx="515297" cy="515297"/>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5039" y="2896199"/>
            <a:ext cx="511973" cy="511973"/>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70633" y="2023201"/>
            <a:ext cx="515297" cy="515297"/>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72790" y="2721461"/>
            <a:ext cx="515297" cy="515297"/>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7561" y="4910959"/>
            <a:ext cx="511973" cy="511973"/>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90335" y="4459198"/>
            <a:ext cx="511973" cy="511973"/>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19894" y="3872085"/>
            <a:ext cx="511973" cy="511973"/>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14178" y="3997487"/>
            <a:ext cx="289780" cy="28978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344768" y="4560162"/>
            <a:ext cx="289780" cy="289780"/>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18070" y="2989368"/>
            <a:ext cx="289780" cy="289780"/>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41528" y="2973061"/>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80982" y="2418786"/>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412006" y="3816512"/>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028179" y="3823349"/>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76009" y="2226415"/>
            <a:ext cx="324709" cy="324709"/>
          </a:xfrm>
          <a:prstGeom prst="rect">
            <a:avLst/>
          </a:prstGeom>
        </p:spPr>
      </p:pic>
      <p:sp>
        <p:nvSpPr>
          <p:cNvPr id="83" name="TextBox 82">
            <a:extLst>
              <a:ext uri="{FF2B5EF4-FFF2-40B4-BE49-F238E27FC236}">
                <a16:creationId xmlns:a16="http://schemas.microsoft.com/office/drawing/2014/main" id="{B8340993-B06E-A311-6876-6E4CE72B0A74}"/>
              </a:ext>
            </a:extLst>
          </p:cNvPr>
          <p:cNvSpPr txBox="1"/>
          <p:nvPr/>
        </p:nvSpPr>
        <p:spPr>
          <a:xfrm>
            <a:off x="5538944" y="2901016"/>
            <a:ext cx="3137966"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Bit-Planes for CA abstraction</a:t>
            </a:r>
          </a:p>
        </p:txBody>
      </p: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7107927" y="2601537"/>
            <a:ext cx="397918" cy="2994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3"/>
          </p:cNvCxnSpPr>
          <p:nvPr/>
        </p:nvCxnSpPr>
        <p:spPr>
          <a:xfrm flipH="1">
            <a:off x="8676910" y="2951081"/>
            <a:ext cx="396689" cy="1881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62773" y="3184491"/>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3409077" y="1874172"/>
            <a:ext cx="7816900" cy="3975196"/>
          </a:xfrm>
          <a:prstGeom prst="rect">
            <a:avLst/>
          </a:prstGeom>
        </p:spPr>
      </p:pic>
      <p:sp>
        <p:nvSpPr>
          <p:cNvPr id="5" name="TextBox 4">
            <a:extLst>
              <a:ext uri="{FF2B5EF4-FFF2-40B4-BE49-F238E27FC236}">
                <a16:creationId xmlns:a16="http://schemas.microsoft.com/office/drawing/2014/main" id="{07460CFD-1ADD-C377-3592-F33BC4F867B6}"/>
              </a:ext>
            </a:extLst>
          </p:cNvPr>
          <p:cNvSpPr txBox="1"/>
          <p:nvPr/>
        </p:nvSpPr>
        <p:spPr>
          <a:xfrm>
            <a:off x="2548168" y="2401805"/>
            <a:ext cx="968535" cy="369332"/>
          </a:xfrm>
          <a:prstGeom prst="rect">
            <a:avLst/>
          </a:prstGeom>
          <a:noFill/>
        </p:spPr>
        <p:txBody>
          <a:bodyPr wrap="none" rtlCol="0">
            <a:spAutoFit/>
          </a:bodyPr>
          <a:lstStyle/>
          <a:p>
            <a:pPr algn="r"/>
            <a:r>
              <a:rPr lang="en-US"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332917" y="2646315"/>
            <a:ext cx="1183786" cy="369332"/>
          </a:xfrm>
          <a:prstGeom prst="rect">
            <a:avLst/>
          </a:prstGeom>
          <a:noFill/>
        </p:spPr>
        <p:txBody>
          <a:bodyPr wrap="none" rtlCol="0">
            <a:spAutoFit/>
          </a:bodyPr>
          <a:lstStyle/>
          <a:p>
            <a:pPr algn="r"/>
            <a:r>
              <a:rPr lang="en-US" i="1"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177426" y="2890825"/>
            <a:ext cx="1339277" cy="369332"/>
          </a:xfrm>
          <a:prstGeom prst="rect">
            <a:avLst/>
          </a:prstGeom>
          <a:noFill/>
        </p:spPr>
        <p:txBody>
          <a:bodyPr wrap="none" rtlCol="0">
            <a:spAutoFit/>
          </a:bodyPr>
          <a:lstStyle/>
          <a:p>
            <a:pPr algn="r"/>
            <a:r>
              <a:rPr lang="en-US" b="1"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275080" y="3135335"/>
            <a:ext cx="1299459" cy="369332"/>
          </a:xfrm>
          <a:prstGeom prst="rect">
            <a:avLst/>
          </a:prstGeom>
          <a:noFill/>
        </p:spPr>
        <p:txBody>
          <a:bodyPr wrap="none" rtlCol="0">
            <a:spAutoFit/>
          </a:bodyPr>
          <a:lstStyle/>
          <a:p>
            <a:pPr algn="r"/>
            <a:r>
              <a:rPr lang="en-US"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837652" y="3359879"/>
            <a:ext cx="1736887" cy="369332"/>
          </a:xfrm>
          <a:prstGeom prst="rect">
            <a:avLst/>
          </a:prstGeom>
          <a:noFill/>
        </p:spPr>
        <p:txBody>
          <a:bodyPr wrap="none" rtlCol="0">
            <a:spAutoFit/>
          </a:bodyPr>
          <a:lstStyle/>
          <a:p>
            <a:pPr algn="r"/>
            <a:r>
              <a:rPr lang="en-US" b="1"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1045513" y="3612140"/>
            <a:ext cx="2529026" cy="369332"/>
          </a:xfrm>
          <a:prstGeom prst="rect">
            <a:avLst/>
          </a:prstGeom>
          <a:noFill/>
        </p:spPr>
        <p:txBody>
          <a:bodyPr wrap="none" rtlCol="0">
            <a:spAutoFit/>
          </a:bodyPr>
          <a:lstStyle/>
          <a:p>
            <a:pPr algn="r"/>
            <a:r>
              <a:rPr lang="en-US"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1141051" y="3868865"/>
            <a:ext cx="2433488" cy="369332"/>
          </a:xfrm>
          <a:prstGeom prst="rect">
            <a:avLst/>
          </a:prstGeom>
          <a:noFill/>
        </p:spPr>
        <p:txBody>
          <a:bodyPr wrap="none" rtlCol="0">
            <a:spAutoFit/>
          </a:bodyPr>
          <a:lstStyle/>
          <a:p>
            <a:pPr algn="r"/>
            <a:r>
              <a:rPr lang="en-US"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647280" y="4603720"/>
            <a:ext cx="1869423" cy="369332"/>
          </a:xfrm>
          <a:prstGeom prst="rect">
            <a:avLst/>
          </a:prstGeom>
          <a:noFill/>
        </p:spPr>
        <p:txBody>
          <a:bodyPr wrap="none" rtlCol="0">
            <a:spAutoFit/>
          </a:bodyPr>
          <a:lstStyle/>
          <a:p>
            <a:pPr algn="r"/>
            <a:r>
              <a:rPr lang="en-US" i="1" dirty="0"/>
              <a:t>GPU </a:t>
            </a:r>
            <a:r>
              <a:rPr lang="en-US" i="1" dirty="0" err="1"/>
              <a:t>EmbedSOM</a:t>
            </a:r>
            <a:endParaRPr lang="en-US" i="1"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946769" y="4859116"/>
            <a:ext cx="2569934" cy="369332"/>
          </a:xfrm>
          <a:prstGeom prst="rect">
            <a:avLst/>
          </a:prstGeom>
          <a:noFill/>
        </p:spPr>
        <p:txBody>
          <a:bodyPr wrap="none" rtlCol="0">
            <a:spAutoFit/>
          </a:bodyPr>
          <a:lstStyle/>
          <a:p>
            <a:pPr algn="r"/>
            <a:r>
              <a:rPr lang="en-US" i="1" dirty="0"/>
              <a:t>Bitwise encoding of </a:t>
            </a:r>
            <a:r>
              <a:rPr lang="en-US" i="1" dirty="0" err="1"/>
              <a:t>GoL</a:t>
            </a:r>
            <a:endParaRPr lang="en-US" i="1"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1130665" y="5129974"/>
            <a:ext cx="2386038" cy="369332"/>
          </a:xfrm>
          <a:prstGeom prst="rect">
            <a:avLst/>
          </a:prstGeom>
          <a:noFill/>
        </p:spPr>
        <p:txBody>
          <a:bodyPr wrap="none" rtlCol="0">
            <a:spAutoFit/>
          </a:bodyPr>
          <a:lstStyle/>
          <a:p>
            <a:pPr algn="r"/>
            <a:r>
              <a:rPr lang="en-US" b="1" dirty="0" err="1"/>
              <a:t>kNN</a:t>
            </a:r>
            <a:r>
              <a:rPr lang="en-US" b="1" dirty="0"/>
              <a:t> with </a:t>
            </a:r>
            <a:r>
              <a:rPr lang="en-US" b="1" dirty="0" err="1"/>
              <a:t>bitonic</a:t>
            </a:r>
            <a:r>
              <a:rPr lang="en-US" b="1"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313967" y="5379130"/>
            <a:ext cx="3202736" cy="369332"/>
          </a:xfrm>
          <a:prstGeom prst="rect">
            <a:avLst/>
          </a:prstGeom>
          <a:noFill/>
        </p:spPr>
        <p:txBody>
          <a:bodyPr wrap="none" rtlCol="0">
            <a:spAutoFit/>
          </a:bodyPr>
          <a:lstStyle/>
          <a:p>
            <a:pPr algn="r"/>
            <a:r>
              <a:rPr lang="en-US" b="1" dirty="0"/>
              <a:t>Bit-Planes for CA abstraction</a:t>
            </a:r>
          </a:p>
        </p:txBody>
      </p:sp>
      <p:sp>
        <p:nvSpPr>
          <p:cNvPr id="26" name="TextBox 25">
            <a:extLst>
              <a:ext uri="{FF2B5EF4-FFF2-40B4-BE49-F238E27FC236}">
                <a16:creationId xmlns:a16="http://schemas.microsoft.com/office/drawing/2014/main" id="{95620A1D-D418-D0F0-133F-FFE0B5C949BE}"/>
              </a:ext>
            </a:extLst>
          </p:cNvPr>
          <p:cNvSpPr txBox="1"/>
          <p:nvPr/>
        </p:nvSpPr>
        <p:spPr>
          <a:xfrm>
            <a:off x="513445" y="5754899"/>
            <a:ext cx="3436582" cy="369332"/>
          </a:xfrm>
          <a:prstGeom prst="rect">
            <a:avLst/>
          </a:prstGeom>
          <a:noFill/>
        </p:spPr>
        <p:txBody>
          <a:bodyPr wrap="none" rtlCol="0">
            <a:spAutoFit/>
          </a:bodyPr>
          <a:lstStyle/>
          <a:p>
            <a:r>
              <a:rPr lang="en-US" dirty="0">
                <a:solidFill>
                  <a:schemeClr val="bg2">
                    <a:lumMod val="50000"/>
                  </a:schemeClr>
                </a:solidFill>
              </a:rPr>
              <a:t>Conference | </a:t>
            </a:r>
            <a:r>
              <a:rPr lang="en-US" i="1" dirty="0">
                <a:solidFill>
                  <a:schemeClr val="bg2">
                    <a:lumMod val="50000"/>
                  </a:schemeClr>
                </a:solidFill>
              </a:rPr>
              <a:t>Workshop</a:t>
            </a:r>
            <a:r>
              <a:rPr lang="en-US" dirty="0">
                <a:solidFill>
                  <a:schemeClr val="bg2">
                    <a:lumMod val="50000"/>
                  </a:schemeClr>
                </a:solidFill>
              </a:rPr>
              <a:t> | </a:t>
            </a:r>
            <a:r>
              <a:rPr lang="en-US" b="1" dirty="0">
                <a:solidFill>
                  <a:schemeClr val="bg2">
                    <a:lumMod val="50000"/>
                  </a:schemeClr>
                </a:solidFill>
              </a:rPr>
              <a:t>Journal</a:t>
            </a:r>
          </a:p>
        </p:txBody>
      </p:sp>
      <p:sp>
        <p:nvSpPr>
          <p:cNvPr id="7" name="Left Brace 6">
            <a:extLst>
              <a:ext uri="{FF2B5EF4-FFF2-40B4-BE49-F238E27FC236}">
                <a16:creationId xmlns:a16="http://schemas.microsoft.com/office/drawing/2014/main" id="{70FB1660-D075-7B01-57E6-A7BE0BF087E2}"/>
              </a:ext>
            </a:extLst>
          </p:cNvPr>
          <p:cNvSpPr/>
          <p:nvPr/>
        </p:nvSpPr>
        <p:spPr>
          <a:xfrm>
            <a:off x="2142590" y="2468103"/>
            <a:ext cx="132490" cy="932148"/>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074A760B-F774-39E3-E0AC-9B2DEC8AF4DE}"/>
              </a:ext>
            </a:extLst>
          </p:cNvPr>
          <p:cNvSpPr txBox="1"/>
          <p:nvPr/>
        </p:nvSpPr>
        <p:spPr>
          <a:xfrm>
            <a:off x="1435486" y="2727322"/>
            <a:ext cx="752129" cy="369332"/>
          </a:xfrm>
          <a:prstGeom prst="rect">
            <a:avLst/>
          </a:prstGeom>
          <a:noFill/>
        </p:spPr>
        <p:txBody>
          <a:bodyPr wrap="none" rtlCol="0">
            <a:spAutoFit/>
          </a:bodyPr>
          <a:lstStyle/>
          <a:p>
            <a:r>
              <a:rPr lang="en-US" dirty="0" err="1"/>
              <a:t>Noarr</a:t>
            </a:r>
            <a:endParaRPr lang="en-US" dirty="0"/>
          </a:p>
        </p:txBody>
      </p:sp>
      <p:sp>
        <p:nvSpPr>
          <p:cNvPr id="13" name="Left Brace 12">
            <a:extLst>
              <a:ext uri="{FF2B5EF4-FFF2-40B4-BE49-F238E27FC236}">
                <a16:creationId xmlns:a16="http://schemas.microsoft.com/office/drawing/2014/main" id="{6258EB1D-0B46-9D04-4739-FBEC2EF2265A}"/>
              </a:ext>
            </a:extLst>
          </p:cNvPr>
          <p:cNvSpPr/>
          <p:nvPr/>
        </p:nvSpPr>
        <p:spPr>
          <a:xfrm>
            <a:off x="1745305" y="3400250"/>
            <a:ext cx="132490" cy="266393"/>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FD7B44A4-A32D-E3BD-91BE-CB60C63F0094}"/>
              </a:ext>
            </a:extLst>
          </p:cNvPr>
          <p:cNvSpPr txBox="1"/>
          <p:nvPr/>
        </p:nvSpPr>
        <p:spPr>
          <a:xfrm>
            <a:off x="906837" y="3328773"/>
            <a:ext cx="907621" cy="369332"/>
          </a:xfrm>
          <a:prstGeom prst="rect">
            <a:avLst/>
          </a:prstGeom>
          <a:noFill/>
        </p:spPr>
        <p:txBody>
          <a:bodyPr wrap="none" rtlCol="0">
            <a:spAutoFit/>
          </a:bodyPr>
          <a:lstStyle/>
          <a:p>
            <a:r>
              <a:rPr lang="en-US" dirty="0" err="1"/>
              <a:t>Cellato</a:t>
            </a:r>
            <a:endParaRPr lang="en-US" dirty="0"/>
          </a:p>
        </p:txBody>
      </p:sp>
      <p:cxnSp>
        <p:nvCxnSpPr>
          <p:cNvPr id="21" name="Connector: Curved 20">
            <a:extLst>
              <a:ext uri="{FF2B5EF4-FFF2-40B4-BE49-F238E27FC236}">
                <a16:creationId xmlns:a16="http://schemas.microsoft.com/office/drawing/2014/main" id="{4A6707A3-43D2-9F55-8429-53C2D1C044B8}"/>
              </a:ext>
            </a:extLst>
          </p:cNvPr>
          <p:cNvCxnSpPr>
            <a:stCxn id="25" idx="1"/>
            <a:endCxn id="17" idx="1"/>
          </p:cNvCxnSpPr>
          <p:nvPr/>
        </p:nvCxnSpPr>
        <p:spPr>
          <a:xfrm rot="10800000" flipH="1">
            <a:off x="313967" y="3513440"/>
            <a:ext cx="592870" cy="2050357"/>
          </a:xfrm>
          <a:prstGeom prst="curvedConnector3">
            <a:avLst>
              <a:gd name="adj1" fmla="val -38558"/>
            </a:avLst>
          </a:prstGeom>
          <a:ln w="19050">
            <a:solidFill>
              <a:schemeClr val="tx1"/>
            </a:solidFill>
            <a:prstDash val="sysDot"/>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dirty="0"/>
              <a:t>We do not claim to invent these two concepts as new paradigms</a:t>
            </a:r>
          </a:p>
          <a:p>
            <a:pPr lvl="1"/>
            <a:r>
              <a:rPr lang="en-US" dirty="0"/>
              <a:t>The thesis explicitly studies the two concepts</a:t>
            </a:r>
          </a:p>
          <a:p>
            <a:pPr lvl="2"/>
            <a:r>
              <a:rPr lang="en-US" dirty="0"/>
              <a:t>introducing them as two identified underexplored principles</a:t>
            </a:r>
          </a:p>
          <a:p>
            <a:pPr lvl="1"/>
            <a:r>
              <a:rPr lang="en-US" dirty="0"/>
              <a:t>Not targeted by prior research or design in HPC algorithms</a:t>
            </a:r>
          </a:p>
          <a:p>
            <a:r>
              <a:rPr lang="en-US" dirty="0"/>
              <a:t>Main novelty</a:t>
            </a:r>
          </a:p>
          <a:p>
            <a:pPr lvl="1"/>
            <a:r>
              <a:rPr lang="en-US" dirty="0"/>
              <a:t>Unified approach for layout &amp; traversal-agnostic algorithm design</a:t>
            </a:r>
          </a:p>
          <a:p>
            <a:pPr lvl="1"/>
            <a:r>
              <a:rPr lang="en-US" dirty="0"/>
              <a:t>Named dimensions and compositional approach</a:t>
            </a:r>
          </a:p>
          <a:p>
            <a:pPr lvl="1"/>
            <a:r>
              <a:rPr lang="en-US" dirty="0"/>
              <a:t>Support for heterogeneous layouts</a:t>
            </a:r>
          </a:p>
          <a:p>
            <a:pPr lvl="1"/>
            <a:r>
              <a:rPr lang="en-US" dirty="0"/>
              <a:t>Abstracting evaluation strategy and encoding for Cellular Automata</a:t>
            </a:r>
          </a:p>
          <a:p>
            <a:endParaRPr lang="en-US"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17565713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fontScale="90000"/>
          </a:bodyPr>
          <a:lstStyle/>
          <a:p>
            <a:r>
              <a:rPr lang="en-US" dirty="0"/>
              <a:t>Which of these ideas can be found in software like </a:t>
            </a:r>
            <a:r>
              <a:rPr lang="en-US" dirty="0" err="1"/>
              <a:t>Kokkos</a:t>
            </a:r>
            <a:r>
              <a:rPr lang="en-US" dirty="0"/>
              <a:t>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dirty="0"/>
              <a:t>(reaction to layout- and traversal-agnostic design)</a:t>
            </a:r>
          </a:p>
          <a:p>
            <a:endParaRPr lang="en-US" dirty="0"/>
          </a:p>
          <a:p>
            <a:r>
              <a:rPr lang="en-US" dirty="0" err="1"/>
              <a:t>Kokkos</a:t>
            </a:r>
            <a:r>
              <a:rPr lang="en-US" dirty="0"/>
              <a:t> Views (and </a:t>
            </a:r>
            <a:r>
              <a:rPr lang="en-US" dirty="0" err="1"/>
              <a:t>mdspans</a:t>
            </a:r>
            <a:r>
              <a:rPr lang="en-US" dirty="0"/>
              <a:t>) abstract physical memory layout</a:t>
            </a:r>
          </a:p>
          <a:p>
            <a:pPr lvl="1"/>
            <a:r>
              <a:rPr lang="en-US" dirty="0"/>
              <a:t>Limited to multidimensional arrays</a:t>
            </a:r>
          </a:p>
          <a:p>
            <a:pPr lvl="1"/>
            <a:r>
              <a:rPr lang="en-US" dirty="0"/>
              <a:t>Mostly focus row-major vs column-major (and custom strides)</a:t>
            </a:r>
          </a:p>
          <a:p>
            <a:pPr lvl="1"/>
            <a:r>
              <a:rPr lang="en-US" dirty="0" err="1"/>
              <a:t>Subview</a:t>
            </a:r>
            <a:r>
              <a:rPr lang="en-US" dirty="0"/>
              <a:t> </a:t>
            </a:r>
            <a:r>
              <a:rPr lang="en-US" dirty="0">
                <a:sym typeface="Wingdings" panose="05000000000000000000" pitchFamily="2" charset="2"/>
              </a:rPr>
              <a:t> the only supported transformation</a:t>
            </a:r>
          </a:p>
          <a:p>
            <a:pPr lvl="1"/>
            <a:r>
              <a:rPr lang="en-US" dirty="0" err="1">
                <a:sym typeface="Wingdings" panose="05000000000000000000" pitchFamily="2" charset="2"/>
              </a:rPr>
              <a:t>CUTe</a:t>
            </a:r>
            <a:r>
              <a:rPr lang="en-US" dirty="0">
                <a:sym typeface="Wingdings" panose="05000000000000000000" pitchFamily="2" charset="2"/>
              </a:rPr>
              <a:t> supports more general layout algebra</a:t>
            </a:r>
          </a:p>
          <a:p>
            <a:r>
              <a:rPr lang="en-US" dirty="0">
                <a:sym typeface="Wingdings" panose="05000000000000000000" pitchFamily="2" charset="2"/>
              </a:rPr>
              <a:t>OpenMP (6.0)  some powerful loop transformation directives</a:t>
            </a:r>
          </a:p>
          <a:p>
            <a:pPr lvl="1"/>
            <a:r>
              <a:rPr lang="en-US" dirty="0"/>
              <a:t>Not exactly traversal-agnostic design; good alternative in many use cases</a:t>
            </a:r>
          </a:p>
          <a:p>
            <a:r>
              <a:rPr lang="en-US" dirty="0"/>
              <a:t>Some traversal-agnostic capabilities in </a:t>
            </a:r>
            <a:r>
              <a:rPr lang="en-US" dirty="0" err="1"/>
              <a:t>GridTools</a:t>
            </a:r>
            <a:r>
              <a:rPr lang="en-US"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3901880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dirty="0" err="1"/>
              <a:t>Mdspan</a:t>
            </a:r>
            <a:r>
              <a:rPr lang="en-US" dirty="0"/>
              <a:t>, </a:t>
            </a:r>
            <a:r>
              <a:rPr lang="en-US" dirty="0" err="1"/>
              <a:t>Kokkos</a:t>
            </a:r>
            <a:r>
              <a:rPr lang="en-US" dirty="0"/>
              <a:t>, Raja, </a:t>
            </a:r>
            <a:r>
              <a:rPr lang="en-US" dirty="0" err="1"/>
              <a:t>CuTe</a:t>
            </a:r>
            <a:r>
              <a:rPr lang="en-US" dirty="0"/>
              <a:t>, </a:t>
            </a:r>
            <a:r>
              <a:rPr lang="en-US" dirty="0" err="1"/>
              <a:t>GridTools</a:t>
            </a:r>
            <a:r>
              <a:rPr lang="en-US" dirty="0"/>
              <a:t>, OpenMP loops, </a:t>
            </a:r>
            <a:r>
              <a:rPr lang="en-US" dirty="0" err="1"/>
              <a:t>Noarr</a:t>
            </a:r>
            <a:r>
              <a:rPr lang="en-US" dirty="0"/>
              <a:t> </a:t>
            </a:r>
            <a:r>
              <a:rPr lang="en-US" dirty="0" err="1"/>
              <a:t>Cellato</a:t>
            </a:r>
            <a:endParaRPr lang="en-US" dirty="0"/>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14137525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41139591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5475</TotalTime>
  <Words>5994</Words>
  <Application>Microsoft Office PowerPoint</Application>
  <PresentationFormat>Widescreen</PresentationFormat>
  <Paragraphs>761</Paragraphs>
  <Slides>36</Slides>
  <Notes>32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Motivation</vt:lpstr>
      <vt:lpstr>Illustrative example: initialization algorithm</vt:lpstr>
      <vt:lpstr>Layout-agnostic design</vt:lpstr>
      <vt:lpstr>Layout abstractions</vt:lpstr>
      <vt:lpstr>Traversal abstractions</vt:lpstr>
      <vt:lpstr>Structures with different index spaces</vt:lpstr>
      <vt:lpstr>Traversal transformations &amp; parallelization</vt:lpstr>
      <vt:lpstr>Autotuning</vt:lpstr>
      <vt:lpstr>Autotuning</vt:lpstr>
      <vt:lpstr>Results</vt:lpstr>
      <vt:lpstr>Results</vt:lpstr>
      <vt:lpstr>Distributed initialization</vt:lpstr>
      <vt:lpstr>Automatic transformation in communication</vt:lpstr>
      <vt:lpstr>Results</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Summary</vt:lpstr>
      <vt:lpstr>Review comments and questions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392</cp:revision>
  <dcterms:created xsi:type="dcterms:W3CDTF">2026-08-08T18:10:38Z</dcterms:created>
  <dcterms:modified xsi:type="dcterms:W3CDTF">2026-09-01T16:40:54Z</dcterms:modified>
</cp:coreProperties>
</file>