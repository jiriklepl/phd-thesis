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67" r:id="rId3"/>
    <p:sldId id="265" r:id="rId4"/>
    <p:sldId id="263" r:id="rId5"/>
    <p:sldId id="264" r:id="rId6"/>
    <p:sldId id="258" r:id="rId7"/>
    <p:sldId id="259" r:id="rId8"/>
    <p:sldId id="260" r:id="rId9"/>
    <p:sldId id="266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67"/>
            <p14:sldId id="265"/>
            <p14:sldId id="263"/>
            <p14:sldId id="264"/>
          </p14:sldIdLst>
        </p14:section>
        <p14:section name="abstractions" id="{F6342274-5FB1-4B75-B42A-2A7654908FF8}">
          <p14:sldIdLst>
            <p14:sldId id="258"/>
          </p14:sldIdLst>
        </p14:section>
        <p14:section name="llms" id="{2FE3CF17-CBFB-48E9-A3BF-DD99B7D2F01E}">
          <p14:sldIdLst>
            <p14:sldId id="259"/>
          </p14:sldIdLst>
        </p14:section>
        <p14:section name="sw artifacts" id="{C643FBD2-A5DD-453D-B5B5-69D3884A4C2F}">
          <p14:sldIdLst>
            <p14:sldId id="260"/>
          </p14:sldIdLst>
        </p14:section>
        <p14:section name="summary" id="{D3BAAF83-51D3-4EFD-B7CC-7BA6DAC4A838}">
          <p14:sldIdLst>
            <p14:sldId id="266"/>
            <p14:sldId id="261"/>
          </p14:sldIdLst>
        </p14:section>
        <p14:section name="Reviewers' comments" id="{40190F67-0659-405D-810E-4AC194B72FA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0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5D912-7048-8F27-7BE0-2F656D101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5DD48-9F56-1FDB-7526-16D2FDD7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2EED6-4A9E-31FB-8AD8-6AEEFF78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57E82-5604-4F8C-BCFA-F7C026884391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Optimizing Memory Layouts and Traversal Orders in HPC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</a:t>
            </a:r>
            <a:r>
              <a:rPr lang="cs-CZ" dirty="0"/>
              <a:t>ří Klepl</a:t>
            </a:r>
          </a:p>
          <a:p>
            <a:r>
              <a:rPr lang="en-US" dirty="0"/>
              <a:t>Department of Distributed and Dependable Systems</a:t>
            </a:r>
          </a:p>
        </p:txBody>
      </p:sp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50859-03D1-3749-29C1-D1A71CA7D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Automatizace</a:t>
            </a:r>
            <a:r>
              <a:rPr lang="en-US" dirty="0"/>
              <a:t> &amp; </a:t>
            </a:r>
            <a:r>
              <a:rPr lang="en-US" dirty="0" err="1"/>
              <a:t>zjednodusovani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separace</a:t>
            </a:r>
            <a:r>
              <a:rPr lang="en-US" dirty="0"/>
              <a:t> </a:t>
            </a:r>
            <a:r>
              <a:rPr lang="en-US" dirty="0" err="1"/>
              <a:t>concernu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19B1D-58F5-79C8-5802-D994DFE79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864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7620-7AA1-EF30-FDC7-27AAC7FF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42AB4-1D66-61B5-41F3-D1C814D6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 &amp; 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71ADE-62E2-F5C5-38A6-5FA51E07F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Motivation: GPU &amp; Cluster computing</a:t>
            </a:r>
          </a:p>
          <a:p>
            <a:pPr lvl="1"/>
            <a:r>
              <a:rPr lang="en-US" dirty="0"/>
              <a:t>Too many decisions, complex code (you don’t know) </a:t>
            </a:r>
            <a:r>
              <a:rPr lang="en-US" dirty="0">
                <a:sym typeface="Wingdings" panose="05000000000000000000" pitchFamily="2" charset="2"/>
              </a:rPr>
              <a:t> the problem, it is hard</a:t>
            </a:r>
            <a:endParaRPr lang="en-US" dirty="0"/>
          </a:p>
          <a:p>
            <a:pPr lvl="2"/>
            <a:r>
              <a:rPr lang="en-US" dirty="0"/>
              <a:t>layout options, traversal options, parallelization (Matice, </a:t>
            </a:r>
            <a:r>
              <a:rPr lang="en-US" dirty="0" err="1"/>
              <a:t>pruchod</a:t>
            </a:r>
            <a:r>
              <a:rPr lang="en-US" dirty="0"/>
              <a:t>; </a:t>
            </a:r>
            <a:r>
              <a:rPr lang="en-US" dirty="0" err="1"/>
              <a:t>nasobeni</a:t>
            </a:r>
            <a:r>
              <a:rPr lang="en-US" dirty="0"/>
              <a:t>?)</a:t>
            </a:r>
          </a:p>
          <a:p>
            <a:pPr lvl="2"/>
            <a:r>
              <a:rPr lang="en-US" dirty="0"/>
              <a:t>parameters for the above (block sizes, …)</a:t>
            </a:r>
          </a:p>
          <a:p>
            <a:r>
              <a:rPr lang="en-US" dirty="0"/>
              <a:t>Our solution: Abstraction &amp; automatization </a:t>
            </a:r>
            <a:r>
              <a:rPr lang="en-US" dirty="0">
                <a:sym typeface="Wingdings" panose="05000000000000000000" pitchFamily="2" charset="2"/>
              </a:rPr>
              <a:t> we offer a solution</a:t>
            </a:r>
            <a:endParaRPr lang="en-US" dirty="0"/>
          </a:p>
          <a:p>
            <a:pPr lvl="1"/>
            <a:r>
              <a:rPr lang="en-US" dirty="0"/>
              <a:t>Separation of concerns, independent aspects</a:t>
            </a:r>
          </a:p>
          <a:p>
            <a:pPr lvl="1"/>
            <a:r>
              <a:rPr lang="en-US" dirty="0"/>
              <a:t>Introducing layout-agnostic and traversal-agnostic algorithm design</a:t>
            </a:r>
          </a:p>
          <a:p>
            <a:pPr lvl="1"/>
            <a:r>
              <a:rPr lang="en-US" dirty="0"/>
              <a:t>How the world is saved</a:t>
            </a:r>
          </a:p>
        </p:txBody>
      </p:sp>
    </p:spTree>
    <p:extLst>
      <p:ext uri="{BB962C8B-B14F-4D97-AF65-F5344CB8AC3E}">
        <p14:creationId xmlns:p14="http://schemas.microsoft.com/office/powerpoint/2010/main" val="1408920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0110-1A1D-46C5-865E-8C33FFF0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8E21C-63B1-8313-A72D-D4A24D26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with explicit offset calculations × Algorithm with logical indices</a:t>
            </a:r>
          </a:p>
        </p:txBody>
      </p:sp>
    </p:spTree>
    <p:extLst>
      <p:ext uri="{BB962C8B-B14F-4D97-AF65-F5344CB8AC3E}">
        <p14:creationId xmlns:p14="http://schemas.microsoft.com/office/powerpoint/2010/main" val="35036517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F90E-47C1-8163-3DF3-3F88A625B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Traversal-agnostic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D725-871B-DFB5-1476-7BE78B119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go even further</a:t>
            </a:r>
          </a:p>
        </p:txBody>
      </p:sp>
    </p:spTree>
    <p:extLst>
      <p:ext uri="{BB962C8B-B14F-4D97-AF65-F5344CB8AC3E}">
        <p14:creationId xmlns:p14="http://schemas.microsoft.com/office/powerpoint/2010/main" val="30263436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D8EA-565C-C8A0-F333-6EBD085AC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abstractions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BC514-DFF4-C541-7399-85275B2E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Layout abstractions</a:t>
            </a:r>
          </a:p>
          <a:p>
            <a:r>
              <a:rPr lang="en-US" dirty="0"/>
              <a:t>Traversal abstractions</a:t>
            </a:r>
          </a:p>
          <a:p>
            <a:endParaRPr lang="en-US" dirty="0"/>
          </a:p>
          <a:p>
            <a:r>
              <a:rPr lang="en-US" dirty="0"/>
              <a:t>Extensions</a:t>
            </a:r>
          </a:p>
          <a:p>
            <a:pPr lvl="1"/>
            <a:r>
              <a:rPr lang="en-US" dirty="0"/>
              <a:t>? Practical aspects; </a:t>
            </a:r>
            <a:r>
              <a:rPr lang="en-US" dirty="0">
                <a:sym typeface="Wingdings" panose="05000000000000000000" pitchFamily="2" charset="2"/>
              </a:rPr>
              <a:t> autotuning</a:t>
            </a:r>
            <a:endParaRPr lang="en-US" dirty="0"/>
          </a:p>
          <a:p>
            <a:pPr lvl="1"/>
            <a:r>
              <a:rPr lang="en-US" dirty="0"/>
              <a:t>Distributed computing</a:t>
            </a:r>
          </a:p>
          <a:p>
            <a:endParaRPr lang="en-US" dirty="0"/>
          </a:p>
          <a:p>
            <a:r>
              <a:rPr lang="en-US" dirty="0"/>
              <a:t>Knowledge </a:t>
            </a:r>
            <a:r>
              <a:rPr lang="en-US" dirty="0" err="1"/>
              <a:t>neco</a:t>
            </a:r>
            <a:r>
              <a:rPr lang="en-US" dirty="0"/>
              <a:t> (</a:t>
            </a:r>
            <a:r>
              <a:rPr lang="en-US" dirty="0" err="1"/>
              <a:t>metaprogramovani</a:t>
            </a:r>
            <a:r>
              <a:rPr lang="en-US" dirty="0"/>
              <a:t>, </a:t>
            </a:r>
            <a:r>
              <a:rPr lang="en-US" dirty="0" err="1"/>
              <a:t>stavebni</a:t>
            </a:r>
            <a:r>
              <a:rPr lang="en-US" dirty="0"/>
              <a:t> </a:t>
            </a:r>
            <a:r>
              <a:rPr lang="en-US" dirty="0" err="1"/>
              <a:t>bloky</a:t>
            </a:r>
            <a:r>
              <a:rPr lang="en-US" dirty="0"/>
              <a:t>, </a:t>
            </a:r>
            <a:r>
              <a:rPr lang="en-US" dirty="0" err="1"/>
              <a:t>traversery</a:t>
            </a:r>
            <a:r>
              <a:rPr lang="en-US" dirty="0"/>
              <a:t>?)</a:t>
            </a:r>
          </a:p>
          <a:p>
            <a:pPr lvl="1"/>
            <a:r>
              <a:rPr lang="en-US" dirty="0"/>
              <a:t>CA computations (</a:t>
            </a:r>
          </a:p>
        </p:txBody>
      </p:sp>
    </p:spTree>
    <p:extLst>
      <p:ext uri="{BB962C8B-B14F-4D97-AF65-F5344CB8AC3E}">
        <p14:creationId xmlns:p14="http://schemas.microsoft.com/office/powerpoint/2010/main" val="21951909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D8E19-FCBD-3C1F-9804-55F9EF315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in algorithm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2D09B-2F00-3457-9D41-D2EAB2BD8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Tutoring LLMs for CUDA optimization</a:t>
            </a:r>
          </a:p>
          <a:p>
            <a:r>
              <a:rPr lang="en-US" dirty="0"/>
              <a:t>LLMs and abstractions</a:t>
            </a:r>
          </a:p>
        </p:txBody>
      </p:sp>
    </p:spTree>
    <p:extLst>
      <p:ext uri="{BB962C8B-B14F-4D97-AF65-F5344CB8AC3E}">
        <p14:creationId xmlns:p14="http://schemas.microsoft.com/office/powerpoint/2010/main" val="6458101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BD501-0287-7E9D-6C52-A86B98F9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Zahodit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5D67-EA03-A5CA-2D82-199F178C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Noarr</a:t>
            </a:r>
            <a:endParaRPr lang="en-US" dirty="0"/>
          </a:p>
          <a:p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122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map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F8197-FC2F-9C2A-050C-CCCB46D86C79}"/>
              </a:ext>
            </a:extLst>
          </p:cNvPr>
          <p:cNvSpPr/>
          <p:nvPr/>
        </p:nvSpPr>
        <p:spPr>
          <a:xfrm>
            <a:off x="4240490" y="140673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Separate algorithm design from performance optimization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EC2A1A-B720-84BC-76D5-4751C09EA61A}"/>
              </a:ext>
            </a:extLst>
          </p:cNvPr>
          <p:cNvSpPr/>
          <p:nvPr/>
        </p:nvSpPr>
        <p:spPr>
          <a:xfrm>
            <a:off x="150074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Layout- and traversal-agnostic abstractions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B7F776-4EDC-09F4-F04A-E586FC4B4500}"/>
              </a:ext>
            </a:extLst>
          </p:cNvPr>
          <p:cNvSpPr/>
          <p:nvPr/>
        </p:nvSpPr>
        <p:spPr>
          <a:xfrm>
            <a:off x="7840178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LLM-assisted optimization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2B9BCB-5805-C1F1-AF45-681B37E6B83E}"/>
              </a:ext>
            </a:extLst>
          </p:cNvPr>
          <p:cNvSpPr/>
          <p:nvPr/>
        </p:nvSpPr>
        <p:spPr>
          <a:xfrm>
            <a:off x="150074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 abstractions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388E94-1EEB-E24E-1923-AA250880AF84}"/>
              </a:ext>
            </a:extLst>
          </p:cNvPr>
          <p:cNvSpPr/>
          <p:nvPr/>
        </p:nvSpPr>
        <p:spPr>
          <a:xfrm>
            <a:off x="4240490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Traversal abstractions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8920A4-4430-6757-E41A-9BA9578DC80D}"/>
              </a:ext>
            </a:extLst>
          </p:cNvPr>
          <p:cNvSpPr/>
          <p:nvPr/>
        </p:nvSpPr>
        <p:spPr>
          <a:xfrm>
            <a:off x="8330906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Practical aspects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1E75A2-333B-DF95-544C-0ACF1B88882C}"/>
              </a:ext>
            </a:extLst>
          </p:cNvPr>
          <p:cNvSpPr/>
          <p:nvPr/>
        </p:nvSpPr>
        <p:spPr>
          <a:xfrm>
            <a:off x="302474" y="53562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structures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736357-2F90-D241-51F6-C03C797EFFC2}"/>
              </a:ext>
            </a:extLst>
          </p:cNvPr>
          <p:cNvSpPr/>
          <p:nvPr/>
        </p:nvSpPr>
        <p:spPr>
          <a:xfrm>
            <a:off x="454874" y="55086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traversers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C73339-8B3D-25F4-18D5-E5821CB7CE8B}"/>
              </a:ext>
            </a:extLst>
          </p:cNvPr>
          <p:cNvSpPr/>
          <p:nvPr/>
        </p:nvSpPr>
        <p:spPr>
          <a:xfrm>
            <a:off x="607274" y="56610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tuning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3EC4F51-D7C0-1DFC-E94E-75AE185B7CC1}"/>
              </a:ext>
            </a:extLst>
          </p:cNvPr>
          <p:cNvSpPr/>
          <p:nvPr/>
        </p:nvSpPr>
        <p:spPr>
          <a:xfrm>
            <a:off x="759674" y="58134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Noarr-MPI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D64168-E19F-C04D-293D-CB07E85D29DA}"/>
              </a:ext>
            </a:extLst>
          </p:cNvPr>
          <p:cNvSpPr/>
          <p:nvPr/>
        </p:nvSpPr>
        <p:spPr>
          <a:xfrm>
            <a:off x="4853138" y="54247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7F39-5957-124B-D20D-4A155E0E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CB38-BBCE-B652-0445-A75C99068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 peer-reviewed publications </a:t>
            </a:r>
          </a:p>
          <a:p>
            <a:pPr lvl="1"/>
            <a:r>
              <a:rPr lang="en-US" dirty="0"/>
              <a:t>2 journal articles</a:t>
            </a:r>
          </a:p>
          <a:p>
            <a:pPr lvl="1"/>
            <a:r>
              <a:rPr lang="en-US" dirty="0"/>
              <a:t>3 conference papers,</a:t>
            </a:r>
          </a:p>
          <a:p>
            <a:pPr lvl="1"/>
            <a:r>
              <a:rPr lang="en-US" dirty="0"/>
              <a:t>1 workshop paper</a:t>
            </a:r>
          </a:p>
          <a:p>
            <a:r>
              <a:rPr lang="en-US" dirty="0"/>
              <a:t>1 publication awaiting peer review</a:t>
            </a:r>
          </a:p>
        </p:txBody>
      </p:sp>
    </p:spTree>
    <p:extLst>
      <p:ext uri="{BB962C8B-B14F-4D97-AF65-F5344CB8AC3E}">
        <p14:creationId xmlns:p14="http://schemas.microsoft.com/office/powerpoint/2010/main" val="309417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CD7CC-C2D6-52E6-02D5-F41FC538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373B6-1B3D-2E32-D54A-18C124620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962</TotalTime>
  <Words>213</Words>
  <Application>Microsoft Office PowerPoint</Application>
  <PresentationFormat>Widescreen</PresentationFormat>
  <Paragraphs>52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Wingdings</vt:lpstr>
      <vt:lpstr>Office Theme</vt:lpstr>
      <vt:lpstr>Optimizing Memory Layouts and Traversal Orders in HPC</vt:lpstr>
      <vt:lpstr>Automatizace &amp; zjednodusovani (separace concernu)</vt:lpstr>
      <vt:lpstr>M &amp; S</vt:lpstr>
      <vt:lpstr>Layout-agnostic design</vt:lpstr>
      <vt:lpstr>Traversal-agnostic design</vt:lpstr>
      <vt:lpstr>Proposed abstractions</vt:lpstr>
      <vt:lpstr>LLMs in algorithm design</vt:lpstr>
      <vt:lpstr>Zahodit</vt:lpstr>
      <vt:lpstr>Contribution map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3</cp:revision>
  <dcterms:created xsi:type="dcterms:W3CDTF">2026-08-08T18:10:38Z</dcterms:created>
  <dcterms:modified xsi:type="dcterms:W3CDTF">2026-08-20T13:38:35Z</dcterms:modified>
</cp:coreProperties>
</file>