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93" r:id="rId3"/>
    <p:sldId id="277" r:id="rId4"/>
    <p:sldId id="296" r:id="rId5"/>
    <p:sldId id="297" r:id="rId6"/>
    <p:sldId id="283" r:id="rId7"/>
    <p:sldId id="314" r:id="rId8"/>
    <p:sldId id="284" r:id="rId9"/>
    <p:sldId id="285" r:id="rId10"/>
    <p:sldId id="278" r:id="rId11"/>
    <p:sldId id="300" r:id="rId12"/>
    <p:sldId id="286" r:id="rId13"/>
    <p:sldId id="290" r:id="rId14"/>
    <p:sldId id="279" r:id="rId15"/>
    <p:sldId id="287" r:id="rId16"/>
    <p:sldId id="316" r:id="rId17"/>
    <p:sldId id="302" r:id="rId18"/>
    <p:sldId id="280" r:id="rId19"/>
    <p:sldId id="310" r:id="rId20"/>
    <p:sldId id="295" r:id="rId21"/>
    <p:sldId id="288" r:id="rId22"/>
    <p:sldId id="305" r:id="rId23"/>
    <p:sldId id="291" r:id="rId24"/>
    <p:sldId id="306" r:id="rId25"/>
    <p:sldId id="315" r:id="rId26"/>
    <p:sldId id="308" r:id="rId27"/>
    <p:sldId id="309" r:id="rId28"/>
    <p:sldId id="311" r:id="rId29"/>
    <p:sldId id="266" r:id="rId30"/>
    <p:sldId id="312" r:id="rId31"/>
    <p:sldId id="262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93"/>
            <p14:sldId id="277"/>
          </p14:sldIdLst>
        </p14:section>
        <p14:section name="algorithms" id="{7894E90A-E282-4867-82A4-369CDB973E4E}">
          <p14:sldIdLst>
            <p14:sldId id="296"/>
            <p14:sldId id="297"/>
            <p14:sldId id="283"/>
            <p14:sldId id="314"/>
            <p14:sldId id="284"/>
            <p14:sldId id="285"/>
            <p14:sldId id="278"/>
            <p14:sldId id="300"/>
            <p14:sldId id="286"/>
            <p14:sldId id="290"/>
            <p14:sldId id="279"/>
            <p14:sldId id="287"/>
            <p14:sldId id="316"/>
            <p14:sldId id="302"/>
            <p14:sldId id="280"/>
            <p14:sldId id="310"/>
          </p14:sldIdLst>
        </p14:section>
        <p14:section name="llms" id="{2FE3CF17-CBFB-48E9-A3BF-DD99B7D2F01E}">
          <p14:sldIdLst>
            <p14:sldId id="295"/>
            <p14:sldId id="288"/>
            <p14:sldId id="305"/>
            <p14:sldId id="291"/>
            <p14:sldId id="306"/>
            <p14:sldId id="315"/>
            <p14:sldId id="308"/>
            <p14:sldId id="309"/>
            <p14:sldId id="311"/>
          </p14:sldIdLst>
        </p14:section>
        <p14:section name="summary" id="{D3BAAF83-51D3-4EFD-B7CC-7BA6DAC4A838}">
          <p14:sldIdLst>
            <p14:sldId id="266"/>
            <p14:sldId id="312"/>
          </p14:sldIdLst>
        </p14:section>
        <p14:section name="Reviewers' comments" id="{40190F67-0659-405D-810E-4AC194B72FA5}">
          <p14:sldIdLst>
            <p14:sldId id="262"/>
          </p14:sldIdLst>
        </p14:section>
        <p14:section name="supplementary" id="{5D95F6E9-DF15-476C-BE69-BBEF48AA8B8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7ABEED"/>
    <a:srgbClr val="0F9ED5"/>
    <a:srgbClr val="79BEED"/>
    <a:srgbClr val="8DC3EB"/>
    <a:srgbClr val="7BBEED"/>
    <a:srgbClr val="7BBFED"/>
    <a:srgbClr val="8CC3EB"/>
    <a:srgbClr val="9673A6"/>
    <a:srgbClr val="E1D5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2" autoAdjust="0"/>
    <p:restoredTop sz="86509" autoAdjust="0"/>
  </p:normalViewPr>
  <p:slideViewPr>
    <p:cSldViewPr snapToGrid="0">
      <p:cViewPr>
        <p:scale>
          <a:sx n="125" d="100"/>
          <a:sy n="125" d="100"/>
        </p:scale>
        <p:origin x="2940" y="3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680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630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very boring, completely off-topic and uninformative start)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Our research is in the area of High-Performance Computing (HPC), focusing on exploring and implementing methods for easier and faster development of efficient scientific algorithms.</a:t>
            </a:r>
          </a:p>
          <a:p>
            <a:endParaRPr lang="en-US" dirty="0"/>
          </a:p>
          <a:p>
            <a:r>
              <a:rPr lang="en-US" dirty="0"/>
              <a:t>These algorithms often contain multidimensional structures and computation in regular loops</a:t>
            </a:r>
          </a:p>
          <a:p>
            <a:endParaRPr lang="en-US" dirty="0"/>
          </a:p>
          <a:p>
            <a:r>
              <a:rPr lang="en-US" dirty="0"/>
              <a:t>One of the core problems when optimizing such algorithms for a particular computing system is that their complexity increases with every specific design decision made.</a:t>
            </a:r>
          </a:p>
          <a:p>
            <a:r>
              <a:rPr lang="en-US" dirty="0"/>
              <a:t>These design decisions range from choosing specific algorithm to smaller decisions such as how data structures such as matrices are stored in memory or in what order a computation is performed.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It is important to choose the right *memory layout* to achieve the best possible performance (due to various hardware-specific effects such as caching or performance of memory operations); but the right choice is usually not obvious, and it often differs between different hardware architectures.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Furthermore, if these choices are hard-coded in the algorithm, the algorithm becomes unreadable and more difficult to port to other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5867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 choosing the “right” memory layout matters)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let’s look at a simple example of initializing a single matrix elements to values that might depend on their indices.</a:t>
            </a:r>
          </a:p>
          <a:p>
            <a:endParaRPr lang="en-US" dirty="0"/>
          </a:p>
          <a:p>
            <a:r>
              <a:rPr lang="en-US" dirty="0"/>
              <a:t>For a typical *m-by-n matrix*, this is commonly expressed as an assignment nested in a two-dimensional loop nest; in this particular example, the indices are iteratively generated for the elements row by row.</a:t>
            </a:r>
          </a:p>
          <a:p>
            <a:br>
              <a:rPr lang="en-US" dirty="0"/>
            </a:br>
            <a:r>
              <a:rPr lang="en-US" dirty="0"/>
              <a:t>(? cool animation)</a:t>
            </a:r>
            <a:br>
              <a:rPr lang="en-US" dirty="0"/>
            </a:br>
            <a:r>
              <a:rPr lang="en-US" dirty="0"/>
              <a:t>Notice that for the *row-major matrix layout* on the left</a:t>
            </a:r>
            <a:r>
              <a:rPr lang="cs-CZ" dirty="0"/>
              <a:t> (</a:t>
            </a:r>
            <a:r>
              <a:rPr lang="en-US" noProof="0" dirty="0"/>
              <a:t>the</a:t>
            </a:r>
            <a:r>
              <a:rPr lang="cs-CZ" dirty="0"/>
              <a:t> most </a:t>
            </a:r>
            <a:r>
              <a:rPr lang="cs-CZ" dirty="0" err="1"/>
              <a:t>common</a:t>
            </a:r>
            <a:r>
              <a:rPr lang="cs-CZ" dirty="0"/>
              <a:t> matrix layout)</a:t>
            </a:r>
            <a:r>
              <a:rPr lang="en-US" dirty="0"/>
              <a:t>, the algorithm tends to access elements that are close together (as the faster-iterating inner loop generates row indices),</a:t>
            </a:r>
            <a:br>
              <a:rPr lang="en-US" dirty="0"/>
            </a:br>
            <a:r>
              <a:rPr lang="en-US" dirty="0"/>
              <a:t>whereas in the other, *column-major layout*, the successive accesses are spread out further.</a:t>
            </a:r>
            <a:br>
              <a:rPr lang="en-US" dirty="0"/>
            </a:br>
            <a:r>
              <a:rPr lang="en-US" dirty="0"/>
              <a:t>This has effect on hardware mechanisms such as caching. which makes accesses to close-by elements faster.</a:t>
            </a:r>
          </a:p>
          <a:p>
            <a:endParaRPr lang="en-US" dirty="0"/>
          </a:p>
          <a:p>
            <a:r>
              <a:rPr lang="en-US" dirty="0"/>
              <a:t>In real-use algorithms, the situation may be further complicated by factors such as algorithms having more elaborate traversal patterns and accessing multiple data structures at once.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(ass bridge: we have started our research by finding abstractions to making this simpler to design and easier to experiment with) (?autotuning)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64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layout-agnostic design and layout abstractions)</a:t>
            </a:r>
          </a:p>
          <a:p>
            <a:endParaRPr lang="en-US" dirty="0"/>
          </a:p>
          <a:p>
            <a:r>
              <a:rPr lang="en-US" dirty="0"/>
              <a:t>The start of our research focused on enabling the design of *layout-agnostic* algorithms; algorithms that do not rely on specific memory layouts of the data structures.</a:t>
            </a:r>
            <a:br>
              <a:rPr lang="en-US" dirty="0"/>
            </a:br>
            <a:r>
              <a:rPr lang="en-US" dirty="0"/>
              <a:t>One example of a sufficiently layout-agnostic algorithm is the earlier shown matrix initialization algorithm, which works for any matrix that exposes a</a:t>
            </a:r>
            <a:br>
              <a:rPr lang="en-US" dirty="0"/>
            </a:br>
            <a:r>
              <a:rPr lang="en-US" dirty="0"/>
              <a:t>two-dimensional *logical structure* of the appropriate dimensions regardless of the specific physical *memory layout*.</a:t>
            </a:r>
          </a:p>
          <a:p>
            <a:endParaRPr lang="en-US" dirty="0"/>
          </a:p>
          <a:p>
            <a:r>
              <a:rPr lang="en-US" dirty="0"/>
              <a:t>Note that the logical structure defines the semantics of the layout abstraction, while the physical memory layout is often not functionally relevant in the context of the algorithm.</a:t>
            </a:r>
          </a:p>
          <a:p>
            <a:endParaRPr lang="en-US" dirty="0"/>
          </a:p>
          <a:p>
            <a:r>
              <a:rPr lang="en-US" dirty="0"/>
              <a:t>We call a *layout abstraction* a mapping between these two concepts. It defines the indexation of a data structure and internally specifies how the elements</a:t>
            </a:r>
            <a:br>
              <a:rPr lang="en-US" dirty="0"/>
            </a:br>
            <a:r>
              <a:rPr lang="en-US" dirty="0"/>
              <a:t>are stored in memory (offsets in memory).</a:t>
            </a:r>
          </a:p>
          <a:p>
            <a:endParaRPr lang="en-US" dirty="0"/>
          </a:p>
          <a:p>
            <a:r>
              <a:rPr lang="en-US" dirty="0"/>
              <a:t>During our research, layout abstractions with similar goals were developed for the C++ standard (std::</a:t>
            </a:r>
            <a:r>
              <a:rPr lang="en-US" dirty="0" err="1"/>
              <a:t>mdspan</a:t>
            </a:r>
            <a:r>
              <a:rPr lang="en-US" dirty="0"/>
              <a:t>) and GPU algorithm development (</a:t>
            </a:r>
            <a:r>
              <a:rPr lang="en-US" dirty="0" err="1"/>
              <a:t>CUTe</a:t>
            </a:r>
            <a:r>
              <a:rPr lang="en-US" dirty="0"/>
              <a:t> layouts),</a:t>
            </a:r>
            <a:br>
              <a:rPr lang="en-US" dirty="0"/>
            </a:br>
            <a:r>
              <a:rPr lang="en-US" dirty="0"/>
              <a:t>showing the practical relevance of this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key concepts of </a:t>
            </a:r>
            <a:r>
              <a:rPr lang="en-US" dirty="0" err="1"/>
              <a:t>Noarr</a:t>
            </a:r>
            <a:r>
              <a:rPr lang="en-US" dirty="0"/>
              <a:t> Structures)</a:t>
            </a:r>
          </a:p>
          <a:p>
            <a:endParaRPr lang="en-US" dirty="0"/>
          </a:p>
          <a:p>
            <a:r>
              <a:rPr lang="en-US" dirty="0"/>
              <a:t>Our approach is based on specifying the layouts via composable *building blocks* (such as “scalar” that names a single value or “vector” that extends a given layout with one named dimension).</a:t>
            </a:r>
          </a:p>
          <a:p>
            <a:endParaRPr lang="en-US" dirty="0"/>
          </a:p>
          <a:p>
            <a:r>
              <a:rPr lang="en-US" dirty="0"/>
              <a:t>By iteratively composing these building blocks, we can define derived data structures of arbitrary complexity.</a:t>
            </a:r>
          </a:p>
          <a:p>
            <a:endParaRPr lang="en-US" dirty="0"/>
          </a:p>
          <a:p>
            <a:r>
              <a:rPr lang="en-US" dirty="0"/>
              <a:t>In our approach, all dimensions are named, and they specify the semantic logical structure of the layout, providing a predictable API;</a:t>
            </a:r>
            <a:br>
              <a:rPr lang="en-US" dirty="0"/>
            </a:br>
            <a:r>
              <a:rPr lang="en-US" dirty="0"/>
              <a:t>a data structure with dimensions ‘m’ and ‘n’ can be indexed with an index point with the appropriate dimensions.</a:t>
            </a:r>
          </a:p>
          <a:p>
            <a:endParaRPr lang="en-US" dirty="0"/>
          </a:p>
          <a:p>
            <a:r>
              <a:rPr lang="en-US" dirty="0"/>
              <a:t>In this case, the encoded dimension names ensure that the indices will be paired with the dimensions of the structure correctly.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if we want to encode a static constant with a compile-time value, it is as simple as replacing a numeric parameter with a special literal value, with no other modifications.</a:t>
            </a:r>
            <a:br>
              <a:rPr lang="en-US" dirty="0"/>
            </a:br>
            <a:r>
              <a:rPr lang="en-US" dirty="0"/>
              <a:t>This makes the value be directly propagated as a compiler constant instead of being stored in the object representing the layout;</a:t>
            </a:r>
            <a:br>
              <a:rPr lang="en-US" dirty="0"/>
            </a:br>
            <a:r>
              <a:rPr lang="en-US" dirty="0"/>
              <a:t>this might also enable more aggressive compiler optimizations. (</a:t>
            </a:r>
            <a:r>
              <a:rPr lang="en-US" dirty="0" err="1"/>
              <a:t>na</a:t>
            </a:r>
            <a:r>
              <a:rPr lang="en-US" dirty="0"/>
              <a:t> to </a:t>
            </a:r>
            <a:r>
              <a:rPr lang="en-US" dirty="0" err="1"/>
              <a:t>mame</a:t>
            </a:r>
            <a:r>
              <a:rPr lang="en-US" dirty="0"/>
              <a:t> </a:t>
            </a:r>
            <a:r>
              <a:rPr lang="en-US" dirty="0" err="1"/>
              <a:t>grafy</a:t>
            </a:r>
            <a:r>
              <a:rPr lang="en-US" dirty="0"/>
              <a:t> od </a:t>
            </a:r>
            <a:r>
              <a:rPr lang="en-US" dirty="0" err="1"/>
              <a:t>adama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An important quality of our approach is that the memory layouts are a separate concept from data structures.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 data structure can be constructed from a given layout using a simple “bag” constructor. In its simplest use, the constructor creates a data structure that automatically manages an appropriate</a:t>
            </a:r>
            <a:br>
              <a:rPr lang="en-US" dirty="0"/>
            </a:br>
            <a:r>
              <a:rPr lang="en-US" dirty="0"/>
              <a:t>memory buffer.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If, instead, we require the memory buffer to reside in a specific memory region or point to an already existing structure, we can supply it ourselves; the constructor then creates a view to the pointed data.</a:t>
            </a:r>
          </a:p>
          <a:p>
            <a:r>
              <a:rPr lang="en-US" dirty="0"/>
              <a:t>Here, for example, we requested the byte-wise size of the layout to allocate it ourselves in GPU device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7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introducing abstraction for traversal-agnostic algorithms – traversers)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After carefully assessing how the principles play into defining layout-agnostic algorithms,</a:t>
            </a:r>
            <a:br>
              <a:rPr lang="en-US" dirty="0"/>
            </a:br>
            <a:r>
              <a:rPr lang="en-US" dirty="0"/>
              <a:t>we have extended the approach to define traversals as well, enabling traversal-agnostic design.</a:t>
            </a:r>
          </a:p>
          <a:p>
            <a:endParaRPr lang="en-US" dirty="0"/>
          </a:p>
          <a:p>
            <a:r>
              <a:rPr lang="en-US" dirty="0"/>
              <a:t>For that, we have devised a traverser abstraction.</a:t>
            </a:r>
            <a:br>
              <a:rPr lang="en-US" dirty="0"/>
            </a:br>
            <a:r>
              <a:rPr lang="en-US" dirty="0"/>
              <a:t>An adaptation of an idea of an iterator for multi-dimensional layouts and traversals.</a:t>
            </a:r>
          </a:p>
          <a:p>
            <a:endParaRPr lang="en-US" dirty="0"/>
          </a:p>
          <a:p>
            <a:r>
              <a:rPr lang="en-US" dirty="0"/>
              <a:t>For a single structure, the traverser offers the functionality of a for-each algorithm –</a:t>
            </a:r>
            <a:br>
              <a:rPr lang="en-US" dirty="0"/>
            </a:br>
            <a:r>
              <a:rPr lang="en-US" dirty="0"/>
              <a:t>we can thus write the earlier shown initialization algorithm without having to consider the dimensions of the structure.</a:t>
            </a:r>
            <a:br>
              <a:rPr lang="en-US" dirty="0"/>
            </a:br>
            <a:r>
              <a:rPr lang="en-US" dirty="0"/>
              <a:t>They are traversed automatically and composed into an index point, which we can use in a lambda expression specifying the element-specific action.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two structures share the same index space, a traverser constructed from them can be used to copy the data from one to the other.</a:t>
            </a:r>
          </a:p>
          <a:p>
            <a:r>
              <a:rPr lang="en-US" dirty="0"/>
              <a:t>It automatically recognizes that their index spaces fully overlap and traverses it only once.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the two structures have different physical memory layouts, this effectively transposes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94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8B7E-2CCD-0A01-49C2-3EEC21B7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C74B1-1EFF-F880-AF5F-62675F3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2714E-2A35-A3E9-DCAC-8D5FD6952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traversers – structures with non-overlapping index spaces)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generalizes to structures with (partially or fully) independent index spaces. Let’s show that on the matrix multiplication algorithm.</a:t>
            </a:r>
          </a:p>
          <a:p>
            <a:endParaRPr lang="en-US" dirty="0"/>
          </a:p>
          <a:p>
            <a:r>
              <a:rPr lang="en-US" dirty="0"/>
              <a:t>It multiplies two matrices with a shared dimension (in this case, k) into a single one with the other two dimensions (m and n).</a:t>
            </a:r>
          </a:p>
          <a:p>
            <a:r>
              <a:rPr lang="en-US" dirty="0"/>
              <a:t>It can be written as a dot product for each element of the output matrix, which, in code, translates into three loops.</a:t>
            </a:r>
          </a:p>
          <a:p>
            <a:endParaRPr lang="en-US" dirty="0"/>
          </a:p>
          <a:p>
            <a:r>
              <a:rPr lang="en-US" dirty="0"/>
              <a:t>We can define the same three loops by simply using the traverser, which first infers the index space from A,</a:t>
            </a:r>
          </a:p>
          <a:p>
            <a:r>
              <a:rPr lang="en-US" dirty="0"/>
              <a:t>Then extends it to cover B as well, and does nothing for C, as its dimensions are already covered by the three loops.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5528D-6039-8EA3-096B-57285E15D8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62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optimizing the traversal)</a:t>
            </a:r>
          </a:p>
          <a:p>
            <a:endParaRPr lang="en-US" dirty="0"/>
          </a:p>
          <a:p>
            <a:r>
              <a:rPr lang="en-US" dirty="0"/>
              <a:t>By itself, this would be nice, but we can do much more.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Let’s say we want to perform the matrix multiplication by tiles of the output to improve the caching behavior;</a:t>
            </a:r>
            <a:br>
              <a:rPr lang="en-US" dirty="0"/>
            </a:br>
            <a:r>
              <a:rPr lang="en-US" dirty="0"/>
              <a:t>we can do so by defining the transformation using the same principles and then applying it to the traverser.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do not need to rewrite the computation logic or change the structures to do that.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can also parallelize the computation using various parallel backends such as OpenMP or Threading Building Blocks using dedicated </a:t>
            </a:r>
            <a:r>
              <a:rPr lang="en-US" dirty="0" err="1"/>
              <a:t>for_each</a:t>
            </a:r>
            <a:r>
              <a:rPr lang="en-US" dirty="0"/>
              <a:t> executors.</a:t>
            </a:r>
          </a:p>
          <a:p>
            <a:r>
              <a:rPr lang="en-US" dirty="0"/>
              <a:t>For the CUDA framework (used for general-purpose GPU programming), we define </a:t>
            </a:r>
            <a:r>
              <a:rPr lang="en-US" dirty="0" err="1"/>
              <a:t>cuda_traversers</a:t>
            </a:r>
            <a:r>
              <a:rPr lang="en-US" dirty="0"/>
              <a:t> that bind the traversal to parallelization over a GPU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71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autotuning made easier &amp; we can switch </a:t>
            </a:r>
            <a:r>
              <a:rPr lang="en-US" dirty="0" err="1"/>
              <a:t>autotuners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These two stages have provided the groundwork for enabling seamless and automatable code optimization in C++ that is fully transparent and directable by the user.</a:t>
            </a:r>
          </a:p>
          <a:p>
            <a:endParaRPr lang="en-US" dirty="0"/>
          </a:p>
          <a:p>
            <a:r>
              <a:rPr lang="en-US" dirty="0"/>
              <a:t>Typically, when we want to use an autotuning framework to optimize an algorithm, we need to: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each parameter in the code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the parameter on the </a:t>
            </a:r>
            <a:r>
              <a:rPr lang="en-US" dirty="0" err="1"/>
              <a:t>autotuner’s</a:t>
            </a:r>
            <a:r>
              <a:rPr lang="en-US" dirty="0"/>
              <a:t> side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Handle how the value is communicated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creates unnecessary amount of boilerplate definitions and communication specification that is difficult to maintain and easy to make mistakes in.</a:t>
            </a:r>
          </a:p>
          <a:p>
            <a:endParaRPr lang="en-US" dirty="0"/>
          </a:p>
          <a:p>
            <a:r>
              <a:rPr lang="en-US" dirty="0"/>
              <a:t>We have implemented an autotuning interface that allows for specifying the tuned parameters in the same code as the algorithm,</a:t>
            </a:r>
            <a:br>
              <a:rPr lang="en-US" dirty="0"/>
            </a:br>
            <a:r>
              <a:rPr lang="en-US" dirty="0"/>
              <a:t>this specification is independent of the autotuning backend, and the whole autotuning process is handled automatically.</a:t>
            </a:r>
          </a:p>
          <a:p>
            <a:endParaRPr lang="en-US" dirty="0"/>
          </a:p>
          <a:p>
            <a:r>
              <a:rPr lang="en-US" dirty="0"/>
              <a:t>Since the specification is independent of the autotuning backend, this also makes switching between different autotuning frameworks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657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pose no runtime overhead)</a:t>
            </a:r>
          </a:p>
          <a:p>
            <a:endParaRPr lang="en-US" dirty="0"/>
          </a:p>
          <a:p>
            <a:r>
              <a:rPr lang="en-US" dirty="0"/>
              <a:t>We have evaluated the abstractions on the </a:t>
            </a:r>
            <a:r>
              <a:rPr lang="en-US" dirty="0" err="1"/>
              <a:t>PolyBench</a:t>
            </a:r>
            <a:r>
              <a:rPr lang="en-US" dirty="0"/>
              <a:t>/C suite, reimplementing each algorithm using </a:t>
            </a:r>
            <a:r>
              <a:rPr lang="en-US" dirty="0" err="1"/>
              <a:t>Noarr</a:t>
            </a:r>
            <a:r>
              <a:rPr lang="en-US" dirty="0"/>
              <a:t> to confirm they do not pose any runtime overhead.</a:t>
            </a:r>
          </a:p>
          <a:p>
            <a:endParaRPr lang="en-US" dirty="0"/>
          </a:p>
          <a:p>
            <a:r>
              <a:rPr lang="en-US" dirty="0"/>
              <a:t>The plot shows speedups of the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reimplementations</a:t>
            </a:r>
            <a:r>
              <a:rPr lang="en-US" dirty="0"/>
              <a:t> compared to the C baselines, most implementations perform exactly the same, showing no runtime overhead;</a:t>
            </a:r>
            <a:br>
              <a:rPr lang="en-US" dirty="0"/>
            </a:br>
            <a:r>
              <a:rPr lang="en-US" dirty="0"/>
              <a:t>there are few minor outliers introduced by differences in compiler optimizations.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parallelization, we have reimplemented OpenMP/TBB parallel modifications of some algorithms as well as </a:t>
            </a:r>
            <a:r>
              <a:rPr lang="en-US" dirty="0" err="1"/>
              <a:t>PolyBench</a:t>
            </a:r>
            <a:r>
              <a:rPr lang="en-US" dirty="0"/>
              <a:t>/GPU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68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F617A-ECA9-145D-3E09-CA8234DB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A356B-A908-4B62-660C-C0165B655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1C459-AD31-11B3-889C-C107D03BB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decrease some complexity)</a:t>
            </a:r>
          </a:p>
          <a:p>
            <a:endParaRPr lang="en-US" dirty="0"/>
          </a:p>
          <a:p>
            <a:r>
              <a:rPr lang="en-US" dirty="0"/>
              <a:t>The programming complexity in practical algorithms is kept low enough;</a:t>
            </a:r>
            <a:br>
              <a:rPr lang="en-US" dirty="0"/>
            </a:br>
            <a:r>
              <a:rPr lang="en-US" dirty="0"/>
              <a:t>the code is more verbose (but most of the verbosity can be resolved with code completion and static code analyzers)</a:t>
            </a:r>
            <a:br>
              <a:rPr lang="en-US" dirty="0"/>
            </a:br>
            <a:r>
              <a:rPr lang="en-US" dirty="0"/>
              <a:t>but contains less complex control flow, and significantly simpler indexation.</a:t>
            </a:r>
          </a:p>
          <a:p>
            <a:endParaRPr lang="en-US" dirty="0"/>
          </a:p>
          <a:p>
            <a:r>
              <a:rPr lang="en-US" dirty="0"/>
              <a:t>On top of these metrics, the resulting code is more flexible in changing different layouts or traversals,</a:t>
            </a:r>
            <a:br>
              <a:rPr lang="en-US" dirty="0"/>
            </a:br>
            <a:r>
              <a:rPr lang="en-US" dirty="0"/>
              <a:t>and the approach improves type safety of the expressions by checking correctly paired dimensions.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1E1BD-B3F7-7337-63A0-396D5EE9A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047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distributed computing can benefit from layout-agnostic design)</a:t>
            </a:r>
          </a:p>
          <a:p>
            <a:endParaRPr lang="en-US" dirty="0"/>
          </a:p>
          <a:p>
            <a:r>
              <a:rPr lang="en-US" dirty="0"/>
              <a:t>Many scientific computing algorithms run in a distributed manner on clusters with many computation nodes, which further complicates the design of applications.</a:t>
            </a:r>
          </a:p>
          <a:p>
            <a:endParaRPr lang="en-US" dirty="0"/>
          </a:p>
          <a:p>
            <a:r>
              <a:rPr lang="en-US" dirty="0"/>
              <a:t>We have thus investigated how the principles from the abstractions work in the context of distributed computing;</a:t>
            </a:r>
          </a:p>
          <a:p>
            <a:r>
              <a:rPr lang="en-US" dirty="0"/>
              <a:t>Specifically using MPI, which is the most predominant technology used to distribute general computing tasks in C++.</a:t>
            </a:r>
          </a:p>
          <a:p>
            <a:endParaRPr lang="en-US" dirty="0"/>
          </a:p>
          <a:p>
            <a:r>
              <a:rPr lang="en-US" dirty="0"/>
              <a:t>Many work distribution patterns, including data communication, can be described using the building blocks for layouts and traversals.</a:t>
            </a:r>
          </a:p>
          <a:p>
            <a:endParaRPr lang="en-US" dirty="0"/>
          </a:p>
          <a:p>
            <a:r>
              <a:rPr lang="en-US" dirty="0"/>
              <a:t>So, let’s reuse the initialization algorithm and distribute it using MPI; initializing each tile of the data on a separate compute node</a:t>
            </a:r>
            <a:br>
              <a:rPr lang="en-US" dirty="0"/>
            </a:br>
            <a:r>
              <a:rPr lang="en-US" dirty="0"/>
              <a:t>and then gathering the tiles into fully initialized data.</a:t>
            </a:r>
          </a:p>
          <a:p>
            <a:endParaRPr lang="en-US" dirty="0"/>
          </a:p>
          <a:p>
            <a:r>
              <a:rPr lang="en-US" dirty="0"/>
              <a:t>This requires two core pieces:</a:t>
            </a:r>
          </a:p>
          <a:p>
            <a:pPr marL="228600" indent="-228600">
              <a:buAutoNum type="arabicPeriod"/>
            </a:pPr>
            <a:r>
              <a:rPr lang="en-US" dirty="0"/>
              <a:t>Binding </a:t>
            </a:r>
            <a:r>
              <a:rPr lang="en-US" dirty="0" err="1"/>
              <a:t>Noarr</a:t>
            </a:r>
            <a:r>
              <a:rPr lang="en-US" dirty="0"/>
              <a:t> dimensions to MPI communicators that describe the abstract topology of different computation nodes.</a:t>
            </a:r>
          </a:p>
          <a:p>
            <a:pPr marL="228600" indent="-228600">
              <a:buAutoNum type="arabicPeriod"/>
            </a:pPr>
            <a:r>
              <a:rPr lang="en-US" dirty="0"/>
              <a:t>Translating </a:t>
            </a:r>
            <a:r>
              <a:rPr lang="en-US" dirty="0" err="1"/>
              <a:t>Noarr</a:t>
            </a:r>
            <a:r>
              <a:rPr lang="en-US" dirty="0"/>
              <a:t> layouts into appropriate MPI datatypes.</a:t>
            </a:r>
          </a:p>
          <a:p>
            <a:endParaRPr lang="en-US" dirty="0"/>
          </a:p>
          <a:p>
            <a:r>
              <a:rPr lang="en-US" dirty="0"/>
              <a:t>This allows for automatic distribution of data that can then be computed locally, and the local results can be gathered to the final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428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8A69-FFF3-3A23-DA52-4F2DF604D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F2818-4E55-EA2D-DF6F-375C3EB09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8896F-4C4A-9A2D-DF90-D9F7BA8F9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why)</a:t>
            </a:r>
          </a:p>
          <a:p>
            <a:endParaRPr lang="en-US" dirty="0"/>
          </a:p>
          <a:p>
            <a:r>
              <a:rPr lang="en-US" dirty="0"/>
              <a:t>It also enables automatic transformation of the data if the memory layouts on the opposing end-points differ (perhaps due to efficiency requirements).</a:t>
            </a:r>
          </a:p>
          <a:p>
            <a:r>
              <a:rPr lang="en-US" dirty="0"/>
              <a:t>If such communication was done naively. the MPI backend would corrupt the data by preserving the physical layout instead of the intended logical structure.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61FD7-F7AC-AAA7-00AE-A5F72A70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90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it is very great)</a:t>
            </a:r>
          </a:p>
          <a:p>
            <a:endParaRPr lang="en-US" dirty="0"/>
          </a:p>
          <a:p>
            <a:r>
              <a:rPr lang="en-US" dirty="0"/>
              <a:t>We have compared our approach to various state-of-the-art C++ bindings for MPI in terms of how they manage to seamlessly enable layout-agnostic communication of data over MPI.</a:t>
            </a:r>
          </a:p>
          <a:p>
            <a:r>
              <a:rPr lang="en-US" dirty="0"/>
              <a:t>Fo that, we have identified 6 main characteristics.</a:t>
            </a:r>
          </a:p>
          <a:p>
            <a:endParaRPr lang="en-US" dirty="0"/>
          </a:p>
          <a:p>
            <a:r>
              <a:rPr lang="en-US" dirty="0"/>
              <a:t>Our approach is the only one that automatically handles differing physical layouts on opposite endpoints of communication (as shown on the previous slide),</a:t>
            </a:r>
          </a:p>
          <a:p>
            <a:r>
              <a:rPr lang="en-US" dirty="0"/>
              <a:t>Supporting general multidimensional data layouts, without explicit packing and unpacking of data elements, and performing some type safety checks.</a:t>
            </a:r>
          </a:p>
          <a:p>
            <a:endParaRPr lang="en-US" dirty="0"/>
          </a:p>
          <a:p>
            <a:r>
              <a:rPr lang="en-US" dirty="0"/>
              <a:t>(Many of the bindings do not even fully support scatter and gather instructions that can distribute/collect data into/from smaller chunks)</a:t>
            </a:r>
          </a:p>
          <a:p>
            <a:endParaRPr lang="en-US" dirty="0"/>
          </a:p>
          <a:p>
            <a:r>
              <a:rPr lang="en-US" dirty="0"/>
              <a:t>And, in terms of performance, it does not add overhead compared to a hand-written native MPI distributed computation.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59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knowledge transfer to stencil computation)</a:t>
            </a:r>
          </a:p>
          <a:p>
            <a:endParaRPr lang="en-US" dirty="0"/>
          </a:p>
          <a:p>
            <a:r>
              <a:rPr lang="en-US" dirty="0"/>
              <a:t>Covering all major aspects of general-purpose HPC programming, we studied application of the principles to more specific domains.</a:t>
            </a:r>
          </a:p>
          <a:p>
            <a:endParaRPr lang="en-US" dirty="0"/>
          </a:p>
          <a:p>
            <a:r>
              <a:rPr lang="en-US" dirty="0"/>
              <a:t>One domain from our past research that could adapt the abstractions was stencil computations.</a:t>
            </a:r>
          </a:p>
          <a:p>
            <a:r>
              <a:rPr lang="en-US" dirty="0"/>
              <a:t>Stencil computations are used in many field ranging from weather prediction to image processing.</a:t>
            </a:r>
          </a:p>
          <a:p>
            <a:endParaRPr lang="en-US" dirty="0"/>
          </a:p>
          <a:p>
            <a:r>
              <a:rPr lang="en-US" dirty="0"/>
              <a:t>They are computed on regular grids with cells. The grid is updated by applying a neighborhood-based rule to each cell.</a:t>
            </a:r>
          </a:p>
          <a:p>
            <a:endParaRPr lang="en-US" dirty="0"/>
          </a:p>
          <a:p>
            <a:r>
              <a:rPr lang="en-US" dirty="0"/>
              <a:t>While the earlier abstractions are usable for general stencil computations,</a:t>
            </a:r>
            <a:br>
              <a:rPr lang="en-US" dirty="0"/>
            </a:br>
            <a:r>
              <a:rPr lang="en-US" dirty="0"/>
              <a:t>we have studied whether we can abstract away even more details of the implementation.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5500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8F060-1288-B07E-F077-DC4D19778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C560A-2FE9-66AF-8FFE-DF75D2310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77610-4852-1BF0-7832-B2A0414FD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cellular automata)</a:t>
            </a:r>
          </a:p>
          <a:p>
            <a:endParaRPr lang="en-US" dirty="0"/>
          </a:p>
          <a:p>
            <a:r>
              <a:rPr lang="en-US" dirty="0"/>
              <a:t>We have successfully designed such abstractions for a specific subclass of</a:t>
            </a:r>
            <a:br>
              <a:rPr lang="en-US" dirty="0"/>
            </a:br>
            <a:r>
              <a:rPr lang="en-US" dirty="0"/>
              <a:t>stencil computations with discrete cell states – Cellular automata.</a:t>
            </a:r>
          </a:p>
          <a:p>
            <a:r>
              <a:rPr lang="en-US" dirty="0"/>
              <a:t>They are used for modelling various systems such as fluid dynamics or material sciences.</a:t>
            </a:r>
          </a:p>
          <a:p>
            <a:endParaRPr lang="en-US" dirty="0"/>
          </a:p>
          <a:p>
            <a:r>
              <a:rPr lang="en-US" dirty="0"/>
              <a:t>Their rules can often be expressed as nested logic expressions that depend on cell states in the neighborhood.</a:t>
            </a:r>
          </a:p>
          <a:p>
            <a:endParaRPr lang="en-US" dirty="0"/>
          </a:p>
          <a:p>
            <a:r>
              <a:rPr lang="en-US" dirty="0"/>
              <a:t>The rule can be encoded in a type-level expression that does not assume any specific layout, traversal, or even cell state encoding and evaluation strategy.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DA17C-3A49-7F24-D366-187D1C66C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23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there is some template metaprogramming magic that enables cool stuff)</a:t>
            </a:r>
          </a:p>
          <a:p>
            <a:endParaRPr lang="en-US" dirty="0"/>
          </a:p>
          <a:p>
            <a:r>
              <a:rPr lang="en-US" dirty="0"/>
              <a:t>This type-level expression can then be evaluated by applying specific templated components via metaprogramming; they specify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grid and the cells are encoded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update rules should be computed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order of computation as well as the parallelization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enables faster development and prototyping of the automatons, and simplifies experimental exploration of different optimization techniques.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One of the optimization technique we study in a recently submitted publication is encoding the cell states in efficient bit-packed arrays instead of wasteful encoding in separate machine words.</a:t>
            </a:r>
          </a:p>
          <a:p>
            <a:pPr marL="0" indent="0">
              <a:buFontTx/>
              <a:buNone/>
            </a:pPr>
            <a:r>
              <a:rPr lang="en-US" dirty="0"/>
              <a:t>These bit-packed encodings also allow for bit-level vectorized computation of many cell updates simultaneously.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086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it can be </a:t>
            </a:r>
            <a:r>
              <a:rPr lang="en-US" dirty="0" err="1"/>
              <a:t>faaaast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If the rule specification is paired with these efficient components, the computation may improve over even already GPU-parallelized baseline performance in one or two decadic orders.</a:t>
            </a:r>
          </a:p>
          <a:p>
            <a:endParaRPr lang="en-US" dirty="0"/>
          </a:p>
          <a:p>
            <a:r>
              <a:rPr lang="en-US" dirty="0"/>
              <a:t>This plot shows possible improvements using different optimization techniques available in our prototype framework on many different cellular automata.</a:t>
            </a:r>
          </a:p>
          <a:p>
            <a:endParaRPr lang="en-US" dirty="0"/>
          </a:p>
          <a:p>
            <a:r>
              <a:rPr lang="en-US" dirty="0"/>
              <a:t>(We can see that simple bit-packing is not enough for achieving highly efficient computation; and it is necessary to compute the cells in bit-vectorized manner, which is implemented by Bit Planes and Temporal, which implements temporal blocking on top of these optimizations)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010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shown that the abstractions for layouts and traversals that simplify user-guided optimization,</a:t>
            </a:r>
          </a:p>
          <a:p>
            <a:r>
              <a:rPr lang="en-US" dirty="0"/>
              <a:t>Including parallel CPU and GPU computation, as well as distributed computing.</a:t>
            </a:r>
          </a:p>
          <a:p>
            <a:r>
              <a:rPr lang="en-US" dirty="0"/>
              <a:t>We have used the principles to enable even stronger optimizations in specific domains, such as Cellular Automata.</a:t>
            </a:r>
          </a:p>
          <a:p>
            <a:endParaRPr lang="en-US" dirty="0"/>
          </a:p>
          <a:p>
            <a:r>
              <a:rPr lang="en-US" dirty="0"/>
              <a:t>These abstractions make the developed algorithms easier to write, more flexible to transform, and allow automatic application of advanced optimizations.</a:t>
            </a:r>
          </a:p>
          <a:p>
            <a:endParaRPr lang="en-US" dirty="0"/>
          </a:p>
          <a:p>
            <a:r>
              <a:rPr lang="en-US" dirty="0"/>
              <a:t>But we can make the development even simpler and more automatic!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5719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we’ve left abstractions to help LLMs generate better para code)</a:t>
            </a:r>
          </a:p>
          <a:p>
            <a:endParaRPr lang="en-US" dirty="0"/>
          </a:p>
          <a:p>
            <a:r>
              <a:rPr lang="en-US" dirty="0"/>
              <a:t>After extending our earlier work to cover distributed computing as well and adapting it for a specific domain,</a:t>
            </a:r>
          </a:p>
          <a:p>
            <a:r>
              <a:rPr lang="en-US" dirty="0"/>
              <a:t>We have started to do research in a different approach for simplifying HPC algorithm design.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work reacts to the recent introduction of LLM models to the area of software design.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 the time of the beginning of our research in this area, LLM models were capable of implementing simple algorithms (like data visualization, simple scripting, </a:t>
            </a:r>
            <a:r>
              <a:rPr lang="en-US" dirty="0" err="1"/>
              <a:t>etc</a:t>
            </a:r>
            <a:r>
              <a:rPr lang="en-US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not yet that competent at making more high-level design decisions for efficient computation, especially in parallel algorithms.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Therefore, our research has focused on identifying what helps LLMs generate better code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236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tutoring; what is it?)</a:t>
            </a:r>
          </a:p>
          <a:p>
            <a:endParaRPr lang="en-US" dirty="0"/>
          </a:p>
          <a:p>
            <a:r>
              <a:rPr lang="en-US" dirty="0"/>
              <a:t>In our first work in this area, we focused on CUDA code generation, which was one of the challenging areas for the contemporary LLMs; more specifically,</a:t>
            </a:r>
            <a:br>
              <a:rPr lang="en-US" dirty="0"/>
            </a:br>
            <a:r>
              <a:rPr lang="en-US" dirty="0"/>
              <a:t>we studied whether adding increasingly more detailed high-level design hints or outright dictating some design decisions significantly helps LLMs generate better code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9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8991-E0E9-FA05-741B-21A18AE9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84EE2-EE3B-A7E9-0208-C780D5DF8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60BAF-3A89-0B22-1575-44F7CAAD9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 three algorithms, what’s challenging, how well the LLM did roughly)</a:t>
            </a:r>
          </a:p>
          <a:p>
            <a:endParaRPr lang="en-US" dirty="0"/>
          </a:p>
          <a:p>
            <a:r>
              <a:rPr lang="en-US" dirty="0"/>
              <a:t>We have performed a study on 3 algorithms from our past work in which we have a good idea how an efficient implementation should be designed.</a:t>
            </a:r>
          </a:p>
          <a:p>
            <a:pPr marL="171450" indent="-171450">
              <a:buFontTx/>
              <a:buChar char="-"/>
            </a:pPr>
            <a:r>
              <a:rPr lang="en-US" dirty="0"/>
              <a:t>Histogram computation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Conway’s Game of Life cellular automaton simulation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K-Nearest Neighbors search in 2D Euclidean space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three algorithms represent implementation problems of increasing complexity.</a:t>
            </a:r>
          </a:p>
          <a:p>
            <a:endParaRPr lang="en-US" dirty="0"/>
          </a:p>
          <a:p>
            <a:r>
              <a:rPr lang="en-US" dirty="0"/>
              <a:t>Efficient implementations of these three algorithms require considering more obscure or CUDA-specific features, such as</a:t>
            </a:r>
          </a:p>
          <a:p>
            <a:pPr marL="171450" indent="-171450">
              <a:buFontTx/>
              <a:buChar char="-"/>
            </a:pPr>
            <a:r>
              <a:rPr lang="en-US" dirty="0"/>
              <a:t>Efficient shared memory</a:t>
            </a:r>
          </a:p>
          <a:p>
            <a:pPr marL="171450" indent="-171450">
              <a:buFontTx/>
              <a:buChar char="-"/>
            </a:pPr>
            <a:r>
              <a:rPr lang="en-US" dirty="0"/>
              <a:t>Bit-level vectorization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Inter-thread communication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For the easier, Histogram and Game of Life algorithms, GPT-o3-mini, a </a:t>
            </a:r>
            <a:r>
              <a:rPr lang="en-US" dirty="0" err="1"/>
              <a:t>SotA</a:t>
            </a:r>
            <a:r>
              <a:rPr lang="en-US" dirty="0"/>
              <a:t> LLM model at that time, generated progressively better code,</a:t>
            </a:r>
            <a:br>
              <a:rPr lang="en-US" dirty="0"/>
            </a:br>
            <a:r>
              <a:rPr lang="en-US" dirty="0"/>
              <a:t>but for the k-Nearest Neighbors search, it managed to implement only the naïve implementation,</a:t>
            </a:r>
            <a:br>
              <a:rPr lang="en-US" dirty="0"/>
            </a:br>
            <a:r>
              <a:rPr lang="en-US" dirty="0"/>
              <a:t>mostly failing due to making mistakes in inter-thread communication and synchronization semantics.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75865-030A-21B1-1F9C-8125A26B3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55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9621-2A59-0C97-52C0-C33469B0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D564E-A314-C164-F46B-625533C8E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CA489-8F89-177F-1849-D0ED6E03E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performance progression matches the assumption)</a:t>
            </a:r>
          </a:p>
          <a:p>
            <a:endParaRPr lang="en-US" dirty="0"/>
          </a:p>
          <a:p>
            <a:r>
              <a:rPr lang="en-US" dirty="0"/>
              <a:t>Here, we can see the plots for the performance measurements of the generated code for the Histogram and Game of Life algorithms.</a:t>
            </a:r>
          </a:p>
          <a:p>
            <a:endParaRPr lang="en-US" dirty="0"/>
          </a:p>
          <a:p>
            <a:r>
              <a:rPr lang="en-US" dirty="0"/>
              <a:t>Both show wall clock times of the runtime on a representative dataset (on the y-axis), lower is better;</a:t>
            </a:r>
          </a:p>
          <a:p>
            <a:r>
              <a:rPr lang="en-US" dirty="0"/>
              <a:t>And the x-axis of both shows the incrementally more specific prompts.</a:t>
            </a:r>
          </a:p>
          <a:p>
            <a:endParaRPr lang="en-US" dirty="0"/>
          </a:p>
          <a:p>
            <a:r>
              <a:rPr lang="en-US" dirty="0"/>
              <a:t>The horizontal lines show various reference implementations.</a:t>
            </a:r>
          </a:p>
          <a:p>
            <a:endParaRPr lang="en-US" dirty="0"/>
          </a:p>
          <a:p>
            <a:r>
              <a:rPr lang="en-US" dirty="0"/>
              <a:t>The performance improves with more specific prompts, which is slightly noticeable for the Histogram algorithm, and more so for the Game of Life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42DA-3928-5CE4-0AD1-F0FEC77A5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81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BF462-4618-DB58-BD2C-D66FAB5C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E319C-5AB9-E042-F397-3CA507211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EDBE9-BF48-3D37-0D9B-16FC8FC0C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LLMs improve over time, the complexity threshold shifts)</a:t>
            </a:r>
          </a:p>
          <a:p>
            <a:endParaRPr lang="en-US" dirty="0"/>
          </a:p>
          <a:p>
            <a:r>
              <a:rPr lang="en-US" dirty="0"/>
              <a:t>When we presented our results, the LLM state of the art had already shifted;</a:t>
            </a:r>
          </a:p>
          <a:p>
            <a:r>
              <a:rPr lang="en-US" dirty="0"/>
              <a:t>The then-current GPT-5 provided expert-level performance on the Game of Life algorithm for all prompts except the naïve one,</a:t>
            </a:r>
          </a:p>
          <a:p>
            <a:r>
              <a:rPr lang="en-US" dirty="0"/>
              <a:t>And it successfully benefitted from tutoring for the k-Nearest Neighbor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B06B-5F9F-67CB-9987-DDB9DCE8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210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(key idea: combining the two branches)</a:t>
            </a:r>
          </a:p>
          <a:p>
            <a:endParaRPr lang="en-US" dirty="0"/>
          </a:p>
          <a:p>
            <a:r>
              <a:rPr lang="en-US" dirty="0"/>
              <a:t>TODO MOTIVATION</a:t>
            </a:r>
          </a:p>
          <a:p>
            <a:endParaRPr lang="en-US" dirty="0"/>
          </a:p>
          <a:p>
            <a:r>
              <a:rPr lang="en-US" dirty="0"/>
              <a:t>OLD:</a:t>
            </a:r>
          </a:p>
          <a:p>
            <a:r>
              <a:rPr lang="en-US" dirty="0"/>
              <a:t>Then, we have studied whether the earlier studied abstractions enabling layout- and traversal-agnostic design significantly improve the correctness and efficiency of the generated parallel code during optimization tasks.</a:t>
            </a:r>
          </a:p>
          <a:p>
            <a:endParaRPr lang="en-US" dirty="0"/>
          </a:p>
          <a:p>
            <a:r>
              <a:rPr lang="en-US" dirty="0"/>
              <a:t>For that, we have compared 3 abstractions (Halide, Exo and </a:t>
            </a:r>
            <a:r>
              <a:rPr lang="en-US" dirty="0" err="1"/>
              <a:t>Noarr</a:t>
            </a:r>
            <a:r>
              <a:rPr lang="en-US" dirty="0"/>
              <a:t>) with different designs and principles as well as outputting pure C on the 30 algorithms from the </a:t>
            </a:r>
            <a:r>
              <a:rPr lang="en-US" dirty="0" err="1"/>
              <a:t>PolyBench</a:t>
            </a:r>
            <a:r>
              <a:rPr lang="en-US" dirty="0"/>
              <a:t>/C benchmark suite.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4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 did a lot)</a:t>
            </a:r>
          </a:p>
          <a:p>
            <a:endParaRPr lang="en-US" dirty="0"/>
          </a:p>
          <a:p>
            <a:r>
              <a:rPr lang="en-US" dirty="0"/>
              <a:t>In the experimental setup, we have used a multithreaded datacenter-grade computer, and to avoid many mistakes, the optimization pipeline consisted of two generation steps: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translated the baseline algorithm into the given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second one optimized the translation that best matched the baseline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first step was followed up by an automated selection of the best generated translation.</a:t>
            </a:r>
          </a:p>
          <a:p>
            <a:pPr marL="0" indent="0">
              <a:buFontTx/>
              <a:buNone/>
            </a:pPr>
            <a:r>
              <a:rPr lang="en-US" dirty="0"/>
              <a:t>This helped to avoid implementations that didn’t correctly capture the semantics or the code, improving the overall correctness rate.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both generation steps, the prompts were accompanied by official developer guides and custom abstraction-specific hints for the given abstractions</a:t>
            </a:r>
            <a:br>
              <a:rPr lang="en-US" dirty="0"/>
            </a:br>
            <a:r>
              <a:rPr lang="en-US" dirty="0"/>
              <a:t>to give the LLM a good understanding how to use them, and the translation tasks were accompanied by one example of translating the algorithm to ensure that the translations follow the expected design.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Finally, we have also prepared multiple optimization prompts to compare the effect of abstraction choice with the effect of prompt specificity.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With the 30 </a:t>
            </a:r>
            <a:r>
              <a:rPr lang="en-US" dirty="0" err="1"/>
              <a:t>polybench</a:t>
            </a:r>
            <a:r>
              <a:rPr lang="en-US" dirty="0"/>
              <a:t> algorithms, 4 different abstraction choices, and 4 prompting strategies, this gives almost 500 optimization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974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Together with increasing number of optimization attempts from 1to5 to account for LLM generation stochasticity,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observed that contemporary abstractions do not improve the performance nor the correctness of the generated code,</a:t>
            </a:r>
            <a:br>
              <a:rPr lang="en-US" dirty="0"/>
            </a:br>
            <a:r>
              <a:rPr lang="en-US" dirty="0"/>
              <a:t>as generating C code yielded both the best performance and correctness overall.</a:t>
            </a:r>
          </a:p>
          <a:p>
            <a:endParaRPr lang="en-US" dirty="0"/>
          </a:p>
          <a:p>
            <a:r>
              <a:rPr lang="en-US" dirty="0"/>
              <a:t>We didn’t study just the specificity of the hints, but also their </a:t>
            </a:r>
            <a:r>
              <a:rPr lang="en-US" dirty="0" err="1"/>
              <a:t>aggresiveness</a:t>
            </a:r>
            <a:r>
              <a:rPr lang="en-US" dirty="0"/>
              <a:t> (more assertive hints yielding slightly better performance),</a:t>
            </a:r>
          </a:p>
          <a:p>
            <a:r>
              <a:rPr lang="en-US" dirty="0"/>
              <a:t>and an alternative approach that separated the optimization task into two steps, which didn’t improve correctness and significantly limited the performance.</a:t>
            </a:r>
          </a:p>
          <a:p>
            <a:endParaRPr lang="en-US" dirty="0"/>
          </a:p>
          <a:p>
            <a:r>
              <a:rPr lang="en-US" dirty="0"/>
              <a:t>The conclusion of this work is that correct prompting strategy yields better results than using the abstractions for user-directed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66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part of this research, we have shown that prompting specificity improves performance,</a:t>
            </a:r>
            <a:br>
              <a:rPr lang="en-US" dirty="0"/>
            </a:br>
            <a:r>
              <a:rPr lang="en-US" dirty="0"/>
              <a:t>and further hints can improve output quality if the algorithm is challenging for the LLM,</a:t>
            </a:r>
          </a:p>
          <a:p>
            <a:r>
              <a:rPr lang="en-US" dirty="0"/>
              <a:t>But the contemporary abstractions do not help.</a:t>
            </a:r>
          </a:p>
          <a:p>
            <a:endParaRPr lang="en-US" dirty="0"/>
          </a:p>
          <a:p>
            <a:r>
              <a:rPr lang="en-US" dirty="0"/>
              <a:t>Future research may re-evaluate our approach to agentic LLMs that can automatically gather feedback</a:t>
            </a:r>
            <a:br>
              <a:rPr lang="en-US" dirty="0"/>
            </a:br>
            <a:r>
              <a:rPr lang="en-US" dirty="0"/>
              <a:t>(from compiling and running the generated implementations) and they can collect the necessary context,</a:t>
            </a:r>
          </a:p>
          <a:p>
            <a:r>
              <a:rPr lang="en-US" dirty="0"/>
              <a:t>So they can, </a:t>
            </a:r>
            <a:r>
              <a:rPr lang="en-US"/>
              <a:t>for example, </a:t>
            </a:r>
            <a:r>
              <a:rPr lang="en-US" dirty="0"/>
              <a:t>look up how to use specific abstractions or what algorithm designs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004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46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1E3191-FE7C-22CF-B0B1-2C7DE460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E97BC-A89E-4CE1-A4AA-4F62BE5183B8}" type="datetime1">
              <a:rPr lang="en-US" smtClean="0"/>
              <a:t>8/29/2026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11BDA9-B9ED-F0FB-CD9D-75B45C3C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FBE2F-862E-0C3E-750A-B4D2A209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63B7D-19AB-44BF-8DCC-FDF87A48CBC2}" type="datetime1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987F8-7DF8-4BA7-9208-8F32E5310AB4}" type="datetime1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A8A3C-441E-40C3-8DCE-8F1C2EB0BADE}" type="datetime1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CC2DC-9E3A-44FF-B316-55456058A0CC}" type="datetime1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5055-4E7B-4EEB-A9E4-14CB598FDB7C}" type="datetime1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3D07F-EA1B-48C7-9BD0-6BED24C9ED67}" type="datetime1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4DF48-C056-4522-9BC2-031A9D197A93}" type="datetime1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EB8912-975C-4DE8-9A59-8B9C133AEEC5}" type="datetime1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4.png"/><Relationship Id="rId4" Type="http://schemas.openxmlformats.org/officeDocument/2006/relationships/image" Target="../media/image39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svg"/><Relationship Id="rId3" Type="http://schemas.openxmlformats.org/officeDocument/2006/relationships/image" Target="../media/image51.svg"/><Relationship Id="rId7" Type="http://schemas.openxmlformats.org/officeDocument/2006/relationships/image" Target="../media/image55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4.svg"/><Relationship Id="rId5" Type="http://schemas.openxmlformats.org/officeDocument/2006/relationships/image" Target="../media/image53.svg"/><Relationship Id="rId10" Type="http://schemas.openxmlformats.org/officeDocument/2006/relationships/image" Target="../media/image58.svg"/><Relationship Id="rId4" Type="http://schemas.openxmlformats.org/officeDocument/2006/relationships/image" Target="../media/image52.svg"/><Relationship Id="rId9" Type="http://schemas.openxmlformats.org/officeDocument/2006/relationships/image" Target="../media/image57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noProof="0" dirty="0"/>
              <a:t>Optimizing Memory Layouts and Traversal Orders in HPC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noProof="0" dirty="0"/>
              <a:t>Jiří Klepl</a:t>
            </a:r>
          </a:p>
          <a:p>
            <a:r>
              <a:rPr lang="en-US" noProof="0" dirty="0"/>
              <a:t>Department of Distributed and Dependable Systems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7AB794C-C02E-1A01-6047-C41EAA0E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699D-645B-483D-AF03-42C342BFDBA5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CD298-A702-19E2-4EB3-83A149EA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</a:t>
            </a:fld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206876-D20A-A82F-956B-A9918DB23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6756" y="5257800"/>
            <a:ext cx="1678488" cy="856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2B0F3-07AF-DDF2-75A9-BE53A93E3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Motivation for memory layouts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FAC94-5637-4468-27F3-D65EF4095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Development of algorithms for scientific computing</a:t>
            </a:r>
          </a:p>
          <a:p>
            <a:pPr lvl="1"/>
            <a:r>
              <a:rPr lang="en-US" noProof="0" dirty="0"/>
              <a:t>Multidimensional data structures</a:t>
            </a:r>
          </a:p>
          <a:p>
            <a:pPr lvl="1"/>
            <a:r>
              <a:rPr lang="en-US" noProof="0" dirty="0"/>
              <a:t>Regular loops</a:t>
            </a:r>
          </a:p>
          <a:p>
            <a:r>
              <a:rPr lang="en-US" noProof="0" dirty="0"/>
              <a:t>Complexity rises with every design decision</a:t>
            </a:r>
          </a:p>
          <a:p>
            <a:pPr lvl="1"/>
            <a:r>
              <a:rPr lang="en-US" noProof="0" dirty="0"/>
              <a:t>How to store the data</a:t>
            </a:r>
          </a:p>
          <a:p>
            <a:pPr lvl="1"/>
            <a:r>
              <a:rPr lang="en-US" noProof="0" dirty="0"/>
              <a:t>In what order do the computations</a:t>
            </a:r>
          </a:p>
          <a:p>
            <a:endParaRPr lang="en-US" noProof="0" dirty="0"/>
          </a:p>
          <a:p>
            <a:r>
              <a:rPr lang="en-US" noProof="0" dirty="0"/>
              <a:t>Performance very difficult to predict</a:t>
            </a:r>
          </a:p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9A157-F47D-07F8-BBBF-9D9647E13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EF2F-EB87-44F5-8698-5E050EDDA902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74A618-B628-9F85-14EF-1E83AA91C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74817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F16B1-5468-83FD-64C7-68045C62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Illustrative example: initialization algorithm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021F81-2E4A-FAB4-0D8F-C5CFA4E675FF}"/>
              </a:ext>
            </a:extLst>
          </p:cNvPr>
          <p:cNvGrpSpPr/>
          <p:nvPr/>
        </p:nvGrpSpPr>
        <p:grpSpPr>
          <a:xfrm>
            <a:off x="3085645" y="2140197"/>
            <a:ext cx="1590800" cy="1764556"/>
            <a:chOff x="735535" y="1909480"/>
            <a:chExt cx="1590800" cy="176455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353F98A-C5CE-9352-8E83-B1375ABB1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6" name="TextBox 25">
              <a:extLst>
                <a:ext uri="{FF2B5EF4-FFF2-40B4-BE49-F238E27FC236}">
                  <a16:creationId xmlns:a16="http://schemas.microsoft.com/office/drawing/2014/main" id="{94AE0714-82E6-AFC1-E7D4-36D9B568E705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7" name="TextBox 26">
              <a:extLst>
                <a:ext uri="{FF2B5EF4-FFF2-40B4-BE49-F238E27FC236}">
                  <a16:creationId xmlns:a16="http://schemas.microsoft.com/office/drawing/2014/main" id="{0FF7A120-509C-08AF-3395-CF8D9F5CEBCA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529F6C-2638-FAF6-7573-04101D2DC4B9}"/>
              </a:ext>
            </a:extLst>
          </p:cNvPr>
          <p:cNvGrpSpPr/>
          <p:nvPr/>
        </p:nvGrpSpPr>
        <p:grpSpPr>
          <a:xfrm>
            <a:off x="7356655" y="2140197"/>
            <a:ext cx="1588351" cy="1758941"/>
            <a:chOff x="3070917" y="1915095"/>
            <a:chExt cx="1588351" cy="1758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9A6B8E-0CD6-2553-0520-DF9244FCF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 flipH="1">
              <a:off x="3414065" y="2428833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E1DBC912-122E-5075-A278-511303718434}"/>
                </a:ext>
              </a:extLst>
            </p:cNvPr>
            <p:cNvSpPr txBox="1"/>
            <p:nvPr/>
          </p:nvSpPr>
          <p:spPr>
            <a:xfrm>
              <a:off x="3070917" y="2787891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5EB1F6F3-234C-D093-D726-133AE769EBEE}"/>
                </a:ext>
              </a:extLst>
            </p:cNvPr>
            <p:cNvSpPr txBox="1"/>
            <p:nvPr/>
          </p:nvSpPr>
          <p:spPr>
            <a:xfrm>
              <a:off x="3931368" y="191509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/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noProof="0" dirty="0"/>
                  <a:t> matrix in row-major and column-major </a:t>
                </a:r>
                <a:r>
                  <a:rPr lang="en-US" sz="2400" i="1" noProof="0" dirty="0"/>
                  <a:t>memory layout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blipFill>
                <a:blip r:embed="rId4"/>
                <a:stretch>
                  <a:fillRect t="-10526" r="-74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272D78A-9733-44AD-5F40-F615D37E734A}"/>
              </a:ext>
            </a:extLst>
          </p:cNvPr>
          <p:cNvSpPr txBox="1"/>
          <p:nvPr/>
        </p:nvSpPr>
        <p:spPr>
          <a:xfrm>
            <a:off x="3866724" y="4850394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E9618-3FF8-BCC6-7768-54ABDA9F1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13F15-5634-45C6-B470-EBFC7B0054B0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FD437B-AF40-42FA-9984-B0121838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640CAD-E8F3-0136-EE14-212BDC4874AA}"/>
              </a:ext>
            </a:extLst>
          </p:cNvPr>
          <p:cNvSpPr txBox="1"/>
          <p:nvPr/>
        </p:nvSpPr>
        <p:spPr>
          <a:xfrm>
            <a:off x="3234121" y="3895948"/>
            <a:ext cx="1635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Row-major</a:t>
            </a:r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8D4C1-EF6C-17E0-8CD6-7A1A3F4F9FD6}"/>
              </a:ext>
            </a:extLst>
          </p:cNvPr>
          <p:cNvSpPr txBox="1"/>
          <p:nvPr/>
        </p:nvSpPr>
        <p:spPr>
          <a:xfrm>
            <a:off x="7259785" y="3895948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Column-major</a:t>
            </a:r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68BC8C-4491-6660-E659-B2498387A799}"/>
              </a:ext>
            </a:extLst>
          </p:cNvPr>
          <p:cNvSpPr txBox="1"/>
          <p:nvPr/>
        </p:nvSpPr>
        <p:spPr>
          <a:xfrm>
            <a:off x="3712713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7B8E21-985F-A8B8-8A89-3F3138337D40}"/>
              </a:ext>
            </a:extLst>
          </p:cNvPr>
          <p:cNvSpPr txBox="1"/>
          <p:nvPr/>
        </p:nvSpPr>
        <p:spPr>
          <a:xfrm>
            <a:off x="7934542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🐌</a:t>
            </a:r>
          </a:p>
        </p:txBody>
      </p:sp>
    </p:spTree>
    <p:extLst>
      <p:ext uri="{BB962C8B-B14F-4D97-AF65-F5344CB8AC3E}">
        <p14:creationId xmlns:p14="http://schemas.microsoft.com/office/powerpoint/2010/main" val="263651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25D7-EA5F-3145-1A91-B45219E7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Layout-agnostic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F019B9-B109-FECE-DF5D-017B5ED66C4E}"/>
              </a:ext>
            </a:extLst>
          </p:cNvPr>
          <p:cNvSpPr txBox="1"/>
          <p:nvPr/>
        </p:nvSpPr>
        <p:spPr>
          <a:xfrm flipH="1">
            <a:off x="1548469" y="3424149"/>
            <a:ext cx="203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Logical structure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0D43FC-A3D8-FA7F-57C5-AF9023BC6E13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3248565" y="3938324"/>
            <a:ext cx="1665433" cy="435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6F46F6-CF65-0E55-0650-3C9E5AB72670}"/>
              </a:ext>
            </a:extLst>
          </p:cNvPr>
          <p:cNvSpPr txBox="1"/>
          <p:nvPr/>
        </p:nvSpPr>
        <p:spPr>
          <a:xfrm flipH="1">
            <a:off x="5903235" y="3317744"/>
            <a:ext cx="2612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Physical memory layout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6AEBD-D49B-6BE3-BEEA-278110BAE03F}"/>
              </a:ext>
            </a:extLst>
          </p:cNvPr>
          <p:cNvSpPr txBox="1"/>
          <p:nvPr/>
        </p:nvSpPr>
        <p:spPr>
          <a:xfrm flipH="1">
            <a:off x="3544294" y="5875762"/>
            <a:ext cx="396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Layout abstraction of a data structure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950412-A4E1-17AA-7F65-11BCBF6AE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286" y="2988147"/>
            <a:ext cx="1249070" cy="1241336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332B380-5281-EE91-2938-5399CC818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C8B4D-7ED9-4C51-A12C-8A3FEA1E5194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FBB65FD-0342-4A62-39CA-BF84A812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DD665-FE0A-F5BF-5FBA-041F0C097A37}"/>
              </a:ext>
            </a:extLst>
          </p:cNvPr>
          <p:cNvSpPr txBox="1"/>
          <p:nvPr/>
        </p:nvSpPr>
        <p:spPr>
          <a:xfrm>
            <a:off x="3866724" y="1771143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9699A7-6E7F-6A4A-1BE0-B901964BBD4A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3405690" y="2689023"/>
            <a:ext cx="2690310" cy="866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4A0BFCCB-128B-7591-E963-1618B5BB9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81959"/>
          <a:stretch>
            <a:fillRect/>
          </a:stretch>
        </p:blipFill>
        <p:spPr>
          <a:xfrm>
            <a:off x="4913998" y="5028331"/>
            <a:ext cx="4591050" cy="48460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A08EC48-FD46-BBE4-EFE8-88F7B225B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53786" b="26396"/>
          <a:stretch>
            <a:fillRect/>
          </a:stretch>
        </p:blipFill>
        <p:spPr>
          <a:xfrm>
            <a:off x="4913998" y="3672168"/>
            <a:ext cx="4591050" cy="532311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E715DACF-F81B-CE55-F91D-759F9C6026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5778" b="56757"/>
          <a:stretch>
            <a:fillRect/>
          </a:stretch>
        </p:blipFill>
        <p:spPr>
          <a:xfrm>
            <a:off x="1677392" y="3793481"/>
            <a:ext cx="1571173" cy="1161511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D1A278-7C00-DF7C-219E-946088D75D0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248565" y="4374237"/>
            <a:ext cx="1665433" cy="935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F9E0881-5D12-8A45-8EDA-5E01EA5D0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 flipH="1">
            <a:off x="9760419" y="4980859"/>
            <a:ext cx="1249070" cy="1241336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54CB22A7-6DC6-B51D-4313-0DD19D0F2AFC}"/>
              </a:ext>
            </a:extLst>
          </p:cNvPr>
          <p:cNvSpPr/>
          <p:nvPr/>
        </p:nvSpPr>
        <p:spPr>
          <a:xfrm rot="5400000">
            <a:off x="5429282" y="1720714"/>
            <a:ext cx="194951" cy="79565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/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/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9746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ADDBBC2-AFD6-00E5-EC92-B2FBB581AE19}"/>
              </a:ext>
            </a:extLst>
          </p:cNvPr>
          <p:cNvSpPr/>
          <p:nvPr/>
        </p:nvSpPr>
        <p:spPr>
          <a:xfrm>
            <a:off x="6707810" y="374475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810C5D-DD0E-9895-8B05-9203DE3C52FC}"/>
              </a:ext>
            </a:extLst>
          </p:cNvPr>
          <p:cNvSpPr/>
          <p:nvPr/>
        </p:nvSpPr>
        <p:spPr>
          <a:xfrm>
            <a:off x="6707810" y="424570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993DAE6-53AF-8D78-063C-7D841E5B5C15}"/>
              </a:ext>
            </a:extLst>
          </p:cNvPr>
          <p:cNvSpPr/>
          <p:nvPr/>
        </p:nvSpPr>
        <p:spPr>
          <a:xfrm>
            <a:off x="10133635" y="3596200"/>
            <a:ext cx="1096340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10BA74-1063-85B3-2324-103E8E900E55}"/>
              </a:ext>
            </a:extLst>
          </p:cNvPr>
          <p:cNvSpPr/>
          <p:nvPr/>
        </p:nvSpPr>
        <p:spPr>
          <a:xfrm>
            <a:off x="6704635" y="3270983"/>
            <a:ext cx="874244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B72882-F921-954D-3177-58DBD37F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 abstractions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25AC7-FE02-6AD7-8040-C0A6A642009E}"/>
              </a:ext>
            </a:extLst>
          </p:cNvPr>
          <p:cNvSpPr txBox="1"/>
          <p:nvPr/>
        </p:nvSpPr>
        <p:spPr>
          <a:xfrm>
            <a:off x="8785840" y="3531626"/>
            <a:ext cx="3537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noProof="0" dirty="0" err="1">
                <a:solidFill>
                  <a:srgbClr val="0070C1"/>
                </a:solidFill>
                <a:latin typeface="Fira Code" panose="020B0809050000020004" pitchFamily="49" charset="0"/>
              </a:rPr>
              <a:t>idx</a:t>
            </a:r>
            <a:r>
              <a:rPr lang="en-US" sz="4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m'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'n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4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2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)]</a:t>
            </a:r>
            <a:endParaRPr lang="en-US" sz="2000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02DA4-367F-2E7C-4748-5E5A83284E85}"/>
              </a:ext>
            </a:extLst>
          </p:cNvPr>
          <p:cNvCxnSpPr>
            <a:cxnSpLocks/>
          </p:cNvCxnSpPr>
          <p:nvPr/>
        </p:nvCxnSpPr>
        <p:spPr>
          <a:xfrm>
            <a:off x="8079856" y="3700903"/>
            <a:ext cx="705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B64E0-7A98-B19A-964F-1077043B0728}"/>
              </a:ext>
            </a:extLst>
          </p:cNvPr>
          <p:cNvSpPr txBox="1"/>
          <p:nvPr/>
        </p:nvSpPr>
        <p:spPr>
          <a:xfrm>
            <a:off x="7983846" y="3385418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access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F9A7A-4E68-17F0-FD80-992DB87E748C}"/>
              </a:ext>
            </a:extLst>
          </p:cNvPr>
          <p:cNvSpPr txBox="1"/>
          <p:nvPr/>
        </p:nvSpPr>
        <p:spPr>
          <a:xfrm>
            <a:off x="4146506" y="3030894"/>
            <a:ext cx="4300406" cy="1506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4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23D42A-BB3F-3EFA-4CCB-5A700F8F468C}"/>
              </a:ext>
            </a:extLst>
          </p:cNvPr>
          <p:cNvSpPr/>
          <p:nvPr/>
        </p:nvSpPr>
        <p:spPr>
          <a:xfrm>
            <a:off x="5925244" y="3140003"/>
            <a:ext cx="1941388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D5C1C8-80D9-8C99-35CE-890BA17FBF13}"/>
              </a:ext>
            </a:extLst>
          </p:cNvPr>
          <p:cNvSpPr/>
          <p:nvPr/>
        </p:nvSpPr>
        <p:spPr>
          <a:xfrm>
            <a:off x="5925244" y="3631744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8AC22D-D974-2FFF-B64D-6B0E1C0C6D26}"/>
              </a:ext>
            </a:extLst>
          </p:cNvPr>
          <p:cNvSpPr/>
          <p:nvPr/>
        </p:nvSpPr>
        <p:spPr>
          <a:xfrm>
            <a:off x="5925244" y="4111106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66E5204-4017-2EAF-4A60-5194514D442A}"/>
              </a:ext>
            </a:extLst>
          </p:cNvPr>
          <p:cNvSpPr/>
          <p:nvPr/>
        </p:nvSpPr>
        <p:spPr>
          <a:xfrm rot="16200000">
            <a:off x="6946970" y="2629816"/>
            <a:ext cx="275785" cy="9213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CBBC8-9EAB-F864-C40F-1C0E855672E6}"/>
              </a:ext>
            </a:extLst>
          </p:cNvPr>
          <p:cNvSpPr txBox="1"/>
          <p:nvPr/>
        </p:nvSpPr>
        <p:spPr>
          <a:xfrm>
            <a:off x="4756218" y="2637256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Parameters specifying types and dimension names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42311-6300-6EC8-B275-0171EF6F9AB9}"/>
              </a:ext>
            </a:extLst>
          </p:cNvPr>
          <p:cNvSpPr txBox="1"/>
          <p:nvPr/>
        </p:nvSpPr>
        <p:spPr>
          <a:xfrm>
            <a:off x="588538" y="5417454"/>
            <a:ext cx="3962969" cy="395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DF814E-5685-475F-2990-B570D542C55C}"/>
              </a:ext>
            </a:extLst>
          </p:cNvPr>
          <p:cNvSpPr txBox="1"/>
          <p:nvPr/>
        </p:nvSpPr>
        <p:spPr>
          <a:xfrm>
            <a:off x="5476824" y="5451116"/>
            <a:ext cx="5603818" cy="3614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matrix_view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myBuffer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9" name="Date Placeholder 28">
            <a:extLst>
              <a:ext uri="{FF2B5EF4-FFF2-40B4-BE49-F238E27FC236}">
                <a16:creationId xmlns:a16="http://schemas.microsoft.com/office/drawing/2014/main" id="{692CB833-F3D6-B987-C77E-BF53C659C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731D-07D7-4C44-A482-993035AAE3B2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A6854BFF-C563-E847-C95B-05954D906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5</a:t>
            </a:fld>
            <a:endParaRPr lang="en-US" noProof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04C328-850E-09BF-6793-2E064014E5D0}"/>
              </a:ext>
            </a:extLst>
          </p:cNvPr>
          <p:cNvGrpSpPr/>
          <p:nvPr/>
        </p:nvGrpSpPr>
        <p:grpSpPr>
          <a:xfrm>
            <a:off x="1284138" y="2628689"/>
            <a:ext cx="1590800" cy="1764556"/>
            <a:chOff x="735535" y="1909480"/>
            <a:chExt cx="1590800" cy="176455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74DA7D-E1D1-F035-AB66-ABD9BF9D2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D6DCBE23-31F2-9BBA-A3EB-A89F392B59A1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E5DE4EB8-FEDA-8B4F-4B5A-7D7108614CC2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F3510A-7AA6-1D61-17F1-1FC3E8CDC948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874938" y="3428927"/>
            <a:ext cx="1312546" cy="343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9BE013-F209-8403-8D5B-F71D68CF5E02}"/>
              </a:ext>
            </a:extLst>
          </p:cNvPr>
          <p:cNvSpPr txBox="1"/>
          <p:nvPr/>
        </p:nvSpPr>
        <p:spPr>
          <a:xfrm>
            <a:off x="7437322" y="4889622"/>
            <a:ext cx="1838587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GPU mem. </a:t>
            </a:r>
            <a:r>
              <a:rPr lang="en-US" dirty="0" err="1"/>
              <a:t>alloc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C382B-2568-3BB2-FF89-3DD00349CEA9}"/>
              </a:ext>
            </a:extLst>
          </p:cNvPr>
          <p:cNvSpPr txBox="1"/>
          <p:nvPr/>
        </p:nvSpPr>
        <p:spPr>
          <a:xfrm>
            <a:off x="9584196" y="4884070"/>
            <a:ext cx="1392518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Mapped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23100F-27E7-78C5-29B0-1E9E9CA71CCB}"/>
              </a:ext>
            </a:extLst>
          </p:cNvPr>
          <p:cNvSpPr txBox="1"/>
          <p:nvPr/>
        </p:nvSpPr>
        <p:spPr>
          <a:xfrm>
            <a:off x="11285001" y="48840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D5BD3CDE-9058-0797-77E8-0CD52F9C3687}"/>
              </a:ext>
            </a:extLst>
          </p:cNvPr>
          <p:cNvSpPr/>
          <p:nvPr/>
        </p:nvSpPr>
        <p:spPr>
          <a:xfrm rot="5400000">
            <a:off x="9559201" y="3174866"/>
            <a:ext cx="159029" cy="442644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00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E5D0D6-5263-D58B-44D9-D77100A6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abstractions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F4919-C499-3F7D-4116-17B83C53ED34}"/>
              </a:ext>
            </a:extLst>
          </p:cNvPr>
          <p:cNvSpPr txBox="1"/>
          <p:nvPr/>
        </p:nvSpPr>
        <p:spPr>
          <a:xfrm>
            <a:off x="4404476" y="3301596"/>
            <a:ext cx="636008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noProof="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1080"/>
                </a:solidFill>
                <a:latin typeface="Fira Code" panose="020B0809050000020004" pitchFamily="49" charset="0"/>
              </a:rPr>
              <a:t>index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C4F588-E815-2009-D7D4-CEEBC4F6F689}"/>
              </a:ext>
            </a:extLst>
          </p:cNvPr>
          <p:cNvSpPr txBox="1"/>
          <p:nvPr/>
        </p:nvSpPr>
        <p:spPr>
          <a:xfrm>
            <a:off x="1834968" y="5115191"/>
            <a:ext cx="831417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25FAF-908F-ADFC-EA60-8D5079C1FE63}"/>
              </a:ext>
            </a:extLst>
          </p:cNvPr>
          <p:cNvSpPr txBox="1"/>
          <p:nvPr/>
        </p:nvSpPr>
        <p:spPr>
          <a:xfrm>
            <a:off x="1225416" y="2099095"/>
            <a:ext cx="4979939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FA6C2DA-116A-0990-5A9C-C4ED04CDF7EE}"/>
              </a:ext>
            </a:extLst>
          </p:cNvPr>
          <p:cNvCxnSpPr>
            <a:cxnSpLocks/>
            <a:stCxn id="3" idx="3"/>
            <a:endCxn id="12" idx="0"/>
          </p:cNvCxnSpPr>
          <p:nvPr/>
        </p:nvCxnSpPr>
        <p:spPr>
          <a:xfrm>
            <a:off x="6205355" y="2609684"/>
            <a:ext cx="1379163" cy="691912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E8472AC-FEB4-52AC-768E-9B4F4BF6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B3787D6-BBAD-D3FC-81F8-5BEACD00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86E85-8E7C-683C-C244-2344EE805A9E}"/>
              </a:ext>
            </a:extLst>
          </p:cNvPr>
          <p:cNvSpPr txBox="1"/>
          <p:nvPr/>
        </p:nvSpPr>
        <p:spPr>
          <a:xfrm>
            <a:off x="2690771" y="1726004"/>
            <a:ext cx="1781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Matrix initialize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C42510-7505-8080-DACA-010297680AE7}"/>
              </a:ext>
            </a:extLst>
          </p:cNvPr>
          <p:cNvSpPr txBox="1"/>
          <p:nvPr/>
        </p:nvSpPr>
        <p:spPr>
          <a:xfrm>
            <a:off x="3161496" y="4745859"/>
            <a:ext cx="5551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Copy</a:t>
            </a:r>
            <a:r>
              <a:rPr lang="en-US" noProof="0" dirty="0"/>
              <a:t> to another matrix with the same logical structure</a:t>
            </a:r>
          </a:p>
        </p:txBody>
      </p:sp>
    </p:spTree>
    <p:extLst>
      <p:ext uri="{BB962C8B-B14F-4D97-AF65-F5344CB8AC3E}">
        <p14:creationId xmlns:p14="http://schemas.microsoft.com/office/powerpoint/2010/main" val="1912447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C270-FFE7-712F-BA5B-C713C51D9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4F76FB-E9C4-9A8F-8092-29CA73FEA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Structures with different index spaces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9863BA9-EDD3-9BC6-2F2C-63F2D4A2C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932224D-9ADE-83F1-8417-D5C309A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7</a:t>
            </a:fld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EAF68D-4F87-22EE-E382-0F9F7359D649}"/>
              </a:ext>
            </a:extLst>
          </p:cNvPr>
          <p:cNvSpPr txBox="1"/>
          <p:nvPr/>
        </p:nvSpPr>
        <p:spPr>
          <a:xfrm>
            <a:off x="2738492" y="1701592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Matrix multiply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BC665-A3D5-7187-98DA-94BA7091C22C}"/>
              </a:ext>
            </a:extLst>
          </p:cNvPr>
          <p:cNvSpPr txBox="1"/>
          <p:nvPr/>
        </p:nvSpPr>
        <p:spPr>
          <a:xfrm>
            <a:off x="6556239" y="2392674"/>
            <a:ext cx="5255085" cy="11960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    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0C66B5-9423-3452-6328-121A7C389203}"/>
              </a:ext>
            </a:extLst>
          </p:cNvPr>
          <p:cNvSpPr/>
          <p:nvPr/>
        </p:nvSpPr>
        <p:spPr>
          <a:xfrm>
            <a:off x="8368825" y="4836317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5347DA-3F5A-6C6C-F424-88F41C72727D}"/>
              </a:ext>
            </a:extLst>
          </p:cNvPr>
          <p:cNvSpPr/>
          <p:nvPr/>
        </p:nvSpPr>
        <p:spPr>
          <a:xfrm>
            <a:off x="8368825" y="456530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B2AD3C-93CE-6E6C-6024-6CF36DA40579}"/>
              </a:ext>
            </a:extLst>
          </p:cNvPr>
          <p:cNvSpPr/>
          <p:nvPr/>
        </p:nvSpPr>
        <p:spPr>
          <a:xfrm>
            <a:off x="8368824" y="427355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2F7AA6-5F7F-99DE-465E-A4472E5548CB}"/>
              </a:ext>
            </a:extLst>
          </p:cNvPr>
          <p:cNvSpPr txBox="1"/>
          <p:nvPr/>
        </p:nvSpPr>
        <p:spPr>
          <a:xfrm>
            <a:off x="3603601" y="4189207"/>
            <a:ext cx="7115199" cy="2030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k'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'k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</a:pP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auto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bag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scalar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00FF"/>
                </a:solidFill>
                <a:latin typeface="Fira Code" panose="020B0809050000020004" pitchFamily="49" charset="0"/>
              </a:rPr>
              <a:t>float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&gt;() ^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vectors</a:t>
            </a:r>
            <a:r>
              <a:rPr lang="en-US" sz="4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n'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'm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2AFE62-17DB-A9EC-26C5-71728919926D}"/>
              </a:ext>
            </a:extLst>
          </p:cNvPr>
          <p:cNvSpPr/>
          <p:nvPr/>
        </p:nvSpPr>
        <p:spPr>
          <a:xfrm>
            <a:off x="4755888" y="4230666"/>
            <a:ext cx="5761997" cy="864020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7F2480A4-F85D-835C-D9CF-78D5AEA6691A}"/>
              </a:ext>
            </a:extLst>
          </p:cNvPr>
          <p:cNvSpPr/>
          <p:nvPr/>
        </p:nvSpPr>
        <p:spPr>
          <a:xfrm>
            <a:off x="6934647" y="2736790"/>
            <a:ext cx="145474" cy="4476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370899-1C65-D83C-089B-CAEE925683F6}"/>
              </a:ext>
            </a:extLst>
          </p:cNvPr>
          <p:cNvSpPr txBox="1"/>
          <p:nvPr/>
        </p:nvSpPr>
        <p:spPr>
          <a:xfrm>
            <a:off x="6626549" y="2791350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AEF9BC57-EA20-B17F-B5CA-7C288124FACF}"/>
              </a:ext>
            </a:extLst>
          </p:cNvPr>
          <p:cNvSpPr/>
          <p:nvPr/>
        </p:nvSpPr>
        <p:spPr>
          <a:xfrm>
            <a:off x="6324307" y="2421066"/>
            <a:ext cx="145474" cy="2928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2F7957-9487-6F32-7082-9BD1A9389590}"/>
              </a:ext>
            </a:extLst>
          </p:cNvPr>
          <p:cNvSpPr txBox="1"/>
          <p:nvPr/>
        </p:nvSpPr>
        <p:spPr>
          <a:xfrm>
            <a:off x="6016209" y="2398236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5E44A02-900A-CE23-2B9A-A1AC40B14A06}"/>
              </a:ext>
            </a:extLst>
          </p:cNvPr>
          <p:cNvGrpSpPr/>
          <p:nvPr/>
        </p:nvGrpSpPr>
        <p:grpSpPr>
          <a:xfrm>
            <a:off x="1518373" y="2029939"/>
            <a:ext cx="3983136" cy="1752403"/>
            <a:chOff x="1126336" y="1862333"/>
            <a:chExt cx="3983136" cy="1752403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162B464-D86A-47B9-02C3-76C1BCAF74E6}"/>
                </a:ext>
              </a:extLst>
            </p:cNvPr>
            <p:cNvSpPr/>
            <p:nvPr/>
          </p:nvSpPr>
          <p:spPr>
            <a:xfrm>
              <a:off x="1174826" y="1909733"/>
              <a:ext cx="3934646" cy="17050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C8158FA-BF04-B836-6345-E003D8A64948}"/>
                </a:ext>
              </a:extLst>
            </p:cNvPr>
            <p:cNvGrpSpPr/>
            <p:nvPr/>
          </p:nvGrpSpPr>
          <p:grpSpPr>
            <a:xfrm>
              <a:off x="1126336" y="1862333"/>
              <a:ext cx="3935834" cy="1703254"/>
              <a:chOff x="65016" y="1664560"/>
              <a:chExt cx="5368435" cy="2323220"/>
            </a:xfrm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414EBBB8-234A-574C-E129-278C9228AE06}"/>
                  </a:ext>
                </a:extLst>
              </p:cNvPr>
              <p:cNvGrpSpPr/>
              <p:nvPr/>
            </p:nvGrpSpPr>
            <p:grpSpPr>
              <a:xfrm>
                <a:off x="1986005" y="2286000"/>
                <a:ext cx="1524000" cy="1143000"/>
                <a:chOff x="1485283" y="2286000"/>
                <a:chExt cx="1524000" cy="114300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0079027-377A-0D56-8EED-00C46E3359ED}"/>
                    </a:ext>
                  </a:extLst>
                </p:cNvPr>
                <p:cNvSpPr/>
                <p:nvPr/>
              </p:nvSpPr>
              <p:spPr>
                <a:xfrm>
                  <a:off x="1485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C341F50F-8363-1E45-8923-E81E0F5B31C2}"/>
                    </a:ext>
                  </a:extLst>
                </p:cNvPr>
                <p:cNvSpPr/>
                <p:nvPr/>
              </p:nvSpPr>
              <p:spPr>
                <a:xfrm>
                  <a:off x="1866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889C340E-7178-DC8E-7370-24941D202A24}"/>
                    </a:ext>
                  </a:extLst>
                </p:cNvPr>
                <p:cNvSpPr/>
                <p:nvPr/>
              </p:nvSpPr>
              <p:spPr>
                <a:xfrm>
                  <a:off x="2247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2295BDB-D0D2-2060-2DE1-A027439DF75B}"/>
                    </a:ext>
                  </a:extLst>
                </p:cNvPr>
                <p:cNvSpPr/>
                <p:nvPr/>
              </p:nvSpPr>
              <p:spPr>
                <a:xfrm>
                  <a:off x="2628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684EBD2F-A037-CFF5-7635-EBB7B7DB1CD4}"/>
                    </a:ext>
                  </a:extLst>
                </p:cNvPr>
                <p:cNvSpPr/>
                <p:nvPr/>
              </p:nvSpPr>
              <p:spPr>
                <a:xfrm>
                  <a:off x="1485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F7058789-0C71-4093-964C-065E9DAA1B5F}"/>
                    </a:ext>
                  </a:extLst>
                </p:cNvPr>
                <p:cNvSpPr/>
                <p:nvPr/>
              </p:nvSpPr>
              <p:spPr>
                <a:xfrm>
                  <a:off x="1866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6EA4D36E-18DE-0BCE-A502-A7D295509793}"/>
                    </a:ext>
                  </a:extLst>
                </p:cNvPr>
                <p:cNvSpPr/>
                <p:nvPr/>
              </p:nvSpPr>
              <p:spPr>
                <a:xfrm>
                  <a:off x="2247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DDB0F9C4-12F3-C24D-F5AD-2DA2D3F86912}"/>
                    </a:ext>
                  </a:extLst>
                </p:cNvPr>
                <p:cNvSpPr/>
                <p:nvPr/>
              </p:nvSpPr>
              <p:spPr>
                <a:xfrm>
                  <a:off x="2628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4DD1CD8-2470-7487-2E6E-F817302558F9}"/>
                    </a:ext>
                  </a:extLst>
                </p:cNvPr>
                <p:cNvSpPr/>
                <p:nvPr/>
              </p:nvSpPr>
              <p:spPr>
                <a:xfrm>
                  <a:off x="1485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36F0AF8A-2C80-C539-F256-FB33FA65DEA6}"/>
                    </a:ext>
                  </a:extLst>
                </p:cNvPr>
                <p:cNvSpPr/>
                <p:nvPr/>
              </p:nvSpPr>
              <p:spPr>
                <a:xfrm>
                  <a:off x="1866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DF403CFD-DEA2-D2C9-0991-1EFCB8947EC3}"/>
                    </a:ext>
                  </a:extLst>
                </p:cNvPr>
                <p:cNvSpPr/>
                <p:nvPr/>
              </p:nvSpPr>
              <p:spPr>
                <a:xfrm>
                  <a:off x="2247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DF46E15B-473F-7866-7C35-B6501FF8CAE6}"/>
                    </a:ext>
                  </a:extLst>
                </p:cNvPr>
                <p:cNvSpPr/>
                <p:nvPr/>
              </p:nvSpPr>
              <p:spPr>
                <a:xfrm>
                  <a:off x="2628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985BB3A7-1EBB-ACBF-0F3A-66F8C8BF504B}"/>
                  </a:ext>
                </a:extLst>
              </p:cNvPr>
              <p:cNvGrpSpPr/>
              <p:nvPr/>
            </p:nvGrpSpPr>
            <p:grpSpPr>
              <a:xfrm>
                <a:off x="507500" y="2097603"/>
                <a:ext cx="1143000" cy="1524000"/>
                <a:chOff x="151783" y="2071688"/>
                <a:chExt cx="1143000" cy="1524000"/>
              </a:xfrm>
            </p:grpSpPr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57D7E4B5-4F4E-61EB-9917-FA056266081A}"/>
                    </a:ext>
                  </a:extLst>
                </p:cNvPr>
                <p:cNvSpPr/>
                <p:nvPr/>
              </p:nvSpPr>
              <p:spPr>
                <a:xfrm>
                  <a:off x="151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7D00D5EA-0890-B00D-950A-65D287102D6E}"/>
                    </a:ext>
                  </a:extLst>
                </p:cNvPr>
                <p:cNvSpPr/>
                <p:nvPr/>
              </p:nvSpPr>
              <p:spPr>
                <a:xfrm>
                  <a:off x="532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0F57E46-66C8-7625-7F07-D56FDB9F482A}"/>
                    </a:ext>
                  </a:extLst>
                </p:cNvPr>
                <p:cNvSpPr/>
                <p:nvPr/>
              </p:nvSpPr>
              <p:spPr>
                <a:xfrm>
                  <a:off x="913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CB1BEEBA-CE4B-423A-DC35-65C4358F6391}"/>
                    </a:ext>
                  </a:extLst>
                </p:cNvPr>
                <p:cNvSpPr/>
                <p:nvPr/>
              </p:nvSpPr>
              <p:spPr>
                <a:xfrm>
                  <a:off x="151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FC11DB9F-16D5-1A9C-AEDB-D1E85ED32A85}"/>
                    </a:ext>
                  </a:extLst>
                </p:cNvPr>
                <p:cNvSpPr/>
                <p:nvPr/>
              </p:nvSpPr>
              <p:spPr>
                <a:xfrm>
                  <a:off x="532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150D4BBF-8286-2145-EB28-1DB5276D1C81}"/>
                    </a:ext>
                  </a:extLst>
                </p:cNvPr>
                <p:cNvSpPr/>
                <p:nvPr/>
              </p:nvSpPr>
              <p:spPr>
                <a:xfrm>
                  <a:off x="913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CABABF41-024D-E218-43D9-15A612557742}"/>
                    </a:ext>
                  </a:extLst>
                </p:cNvPr>
                <p:cNvSpPr/>
                <p:nvPr/>
              </p:nvSpPr>
              <p:spPr>
                <a:xfrm>
                  <a:off x="151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4E551831-EF2C-9D97-1E36-5333A86D2994}"/>
                    </a:ext>
                  </a:extLst>
                </p:cNvPr>
                <p:cNvSpPr/>
                <p:nvPr/>
              </p:nvSpPr>
              <p:spPr>
                <a:xfrm>
                  <a:off x="151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ABD50DB8-D34E-32E9-165E-DB5A4DE1EBBA}"/>
                    </a:ext>
                  </a:extLst>
                </p:cNvPr>
                <p:cNvSpPr/>
                <p:nvPr/>
              </p:nvSpPr>
              <p:spPr>
                <a:xfrm>
                  <a:off x="532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B23B9EF-93AB-59F4-6741-F58E04BDF7F4}"/>
                    </a:ext>
                  </a:extLst>
                </p:cNvPr>
                <p:cNvSpPr/>
                <p:nvPr/>
              </p:nvSpPr>
              <p:spPr>
                <a:xfrm>
                  <a:off x="532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D4A02CE-3199-AD33-A49A-DD114B9C4BE3}"/>
                    </a:ext>
                  </a:extLst>
                </p:cNvPr>
                <p:cNvSpPr/>
                <p:nvPr/>
              </p:nvSpPr>
              <p:spPr>
                <a:xfrm>
                  <a:off x="913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3027EB25-5F10-774C-5DA6-3DCFE9CABA29}"/>
                    </a:ext>
                  </a:extLst>
                </p:cNvPr>
                <p:cNvSpPr/>
                <p:nvPr/>
              </p:nvSpPr>
              <p:spPr>
                <a:xfrm>
                  <a:off x="913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DA00805D-D712-2AF1-DE04-6B29E73230A2}"/>
                  </a:ext>
                </a:extLst>
              </p:cNvPr>
              <p:cNvGrpSpPr/>
              <p:nvPr/>
            </p:nvGrpSpPr>
            <p:grpSpPr>
              <a:xfrm>
                <a:off x="3909451" y="2095500"/>
                <a:ext cx="1524000" cy="1524000"/>
                <a:chOff x="3107359" y="2145800"/>
                <a:chExt cx="1524000" cy="1524000"/>
              </a:xfrm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A42A4767-E46E-410D-7A3A-EDEDAE64E15E}"/>
                    </a:ext>
                  </a:extLst>
                </p:cNvPr>
                <p:cNvSpPr/>
                <p:nvPr/>
              </p:nvSpPr>
              <p:spPr>
                <a:xfrm>
                  <a:off x="3107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160F0266-E94D-2642-41A9-CB48AF596432}"/>
                    </a:ext>
                  </a:extLst>
                </p:cNvPr>
                <p:cNvSpPr/>
                <p:nvPr/>
              </p:nvSpPr>
              <p:spPr>
                <a:xfrm>
                  <a:off x="3488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58CC5973-248F-307A-6EAB-E779182293B7}"/>
                    </a:ext>
                  </a:extLst>
                </p:cNvPr>
                <p:cNvSpPr/>
                <p:nvPr/>
              </p:nvSpPr>
              <p:spPr>
                <a:xfrm>
                  <a:off x="3869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E9DCEC46-4D53-95F6-587B-C239E9203FD2}"/>
                    </a:ext>
                  </a:extLst>
                </p:cNvPr>
                <p:cNvSpPr/>
                <p:nvPr/>
              </p:nvSpPr>
              <p:spPr>
                <a:xfrm>
                  <a:off x="4250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8A4F7006-7017-5729-F662-5CEC492194FF}"/>
                    </a:ext>
                  </a:extLst>
                </p:cNvPr>
                <p:cNvSpPr/>
                <p:nvPr/>
              </p:nvSpPr>
              <p:spPr>
                <a:xfrm>
                  <a:off x="3107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9F07D89A-107F-794A-53D4-0AF9B343B51B}"/>
                    </a:ext>
                  </a:extLst>
                </p:cNvPr>
                <p:cNvSpPr/>
                <p:nvPr/>
              </p:nvSpPr>
              <p:spPr>
                <a:xfrm>
                  <a:off x="3488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C8B2D771-DD1B-2C65-1A70-9DD9A4910371}"/>
                    </a:ext>
                  </a:extLst>
                </p:cNvPr>
                <p:cNvSpPr/>
                <p:nvPr/>
              </p:nvSpPr>
              <p:spPr>
                <a:xfrm>
                  <a:off x="3869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809B9A5-B3C1-3AB0-59A8-4C2DEE1A2E8E}"/>
                    </a:ext>
                  </a:extLst>
                </p:cNvPr>
                <p:cNvSpPr/>
                <p:nvPr/>
              </p:nvSpPr>
              <p:spPr>
                <a:xfrm>
                  <a:off x="4250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E24458F8-B4BC-08DA-AAF4-7036DD689792}"/>
                    </a:ext>
                  </a:extLst>
                </p:cNvPr>
                <p:cNvSpPr/>
                <p:nvPr/>
              </p:nvSpPr>
              <p:spPr>
                <a:xfrm>
                  <a:off x="3107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914AAE84-5921-F13E-235E-3E38FCA17F1D}"/>
                    </a:ext>
                  </a:extLst>
                </p:cNvPr>
                <p:cNvSpPr/>
                <p:nvPr/>
              </p:nvSpPr>
              <p:spPr>
                <a:xfrm>
                  <a:off x="3488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BC14B6F1-9E99-692E-3AF1-DD2DD9A0B224}"/>
                    </a:ext>
                  </a:extLst>
                </p:cNvPr>
                <p:cNvSpPr/>
                <p:nvPr/>
              </p:nvSpPr>
              <p:spPr>
                <a:xfrm>
                  <a:off x="3869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B7D242E2-32E6-1029-7CF1-C712590C1678}"/>
                    </a:ext>
                  </a:extLst>
                </p:cNvPr>
                <p:cNvSpPr/>
                <p:nvPr/>
              </p:nvSpPr>
              <p:spPr>
                <a:xfrm>
                  <a:off x="4250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F7D8052-E832-A523-002B-3FE38B26DA11}"/>
                    </a:ext>
                  </a:extLst>
                </p:cNvPr>
                <p:cNvSpPr/>
                <p:nvPr/>
              </p:nvSpPr>
              <p:spPr>
                <a:xfrm>
                  <a:off x="3107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83D2B734-91DA-56CE-7E18-6A8B4C95CF4B}"/>
                    </a:ext>
                  </a:extLst>
                </p:cNvPr>
                <p:cNvSpPr/>
                <p:nvPr/>
              </p:nvSpPr>
              <p:spPr>
                <a:xfrm>
                  <a:off x="3488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C6F13F13-8DEC-A0D4-025A-3B566306E937}"/>
                    </a:ext>
                  </a:extLst>
                </p:cNvPr>
                <p:cNvSpPr/>
                <p:nvPr/>
              </p:nvSpPr>
              <p:spPr>
                <a:xfrm>
                  <a:off x="3869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66C81D2C-3F36-BC05-B0DB-AF29751FDCEE}"/>
                    </a:ext>
                  </a:extLst>
                </p:cNvPr>
                <p:cNvSpPr/>
                <p:nvPr/>
              </p:nvSpPr>
              <p:spPr>
                <a:xfrm>
                  <a:off x="4250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/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" b="-15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9E97900C-C153-EE19-DF63-350FE2A97C8A}"/>
                  </a:ext>
                </a:extLst>
              </p:cNvPr>
              <p:cNvSpPr txBox="1"/>
              <p:nvPr/>
            </p:nvSpPr>
            <p:spPr>
              <a:xfrm>
                <a:off x="917738" y="3618448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A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DC3CACF7-A1B7-29D0-C432-9242ABB7B3C4}"/>
                  </a:ext>
                </a:extLst>
              </p:cNvPr>
              <p:cNvSpPr txBox="1"/>
              <p:nvPr/>
            </p:nvSpPr>
            <p:spPr>
              <a:xfrm>
                <a:off x="2615981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B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DF7CA29-29E0-61DA-80AE-062D887E51BC}"/>
                  </a:ext>
                </a:extLst>
              </p:cNvPr>
              <p:cNvSpPr txBox="1"/>
              <p:nvPr/>
            </p:nvSpPr>
            <p:spPr>
              <a:xfrm>
                <a:off x="4522383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C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9615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1111" b="-29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13636" b="-2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/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681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765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/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6818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/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or: Curved 184">
            <a:extLst>
              <a:ext uri="{FF2B5EF4-FFF2-40B4-BE49-F238E27FC236}">
                <a16:creationId xmlns:a16="http://schemas.microsoft.com/office/drawing/2014/main" id="{031BA854-8E73-CD70-3923-773D229C8EE1}"/>
              </a:ext>
            </a:extLst>
          </p:cNvPr>
          <p:cNvCxnSpPr>
            <a:stCxn id="183" idx="3"/>
            <a:endCxn id="24" idx="0"/>
          </p:cNvCxnSpPr>
          <p:nvPr/>
        </p:nvCxnSpPr>
        <p:spPr>
          <a:xfrm>
            <a:off x="8646725" y="1871367"/>
            <a:ext cx="537057" cy="521307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Left Brace 186">
            <a:extLst>
              <a:ext uri="{FF2B5EF4-FFF2-40B4-BE49-F238E27FC236}">
                <a16:creationId xmlns:a16="http://schemas.microsoft.com/office/drawing/2014/main" id="{8A60AD5E-BCD3-A5CC-080F-BB0C2C74CDEB}"/>
              </a:ext>
            </a:extLst>
          </p:cNvPr>
          <p:cNvSpPr/>
          <p:nvPr/>
        </p:nvSpPr>
        <p:spPr>
          <a:xfrm>
            <a:off x="3470710" y="4173482"/>
            <a:ext cx="110689" cy="905479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0F2A9DC-A0E5-D4DD-B577-5076225F23C6}"/>
              </a:ext>
            </a:extLst>
          </p:cNvPr>
          <p:cNvSpPr txBox="1"/>
          <p:nvPr/>
        </p:nvSpPr>
        <p:spPr>
          <a:xfrm>
            <a:off x="1418444" y="4301904"/>
            <a:ext cx="2011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Possible definition</a:t>
            </a:r>
            <a:br>
              <a:rPr lang="en-US" dirty="0"/>
            </a:br>
            <a:r>
              <a:rPr lang="en-US" dirty="0"/>
              <a:t>of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</a:p>
        </p:txBody>
      </p:sp>
      <p:cxnSp>
        <p:nvCxnSpPr>
          <p:cNvPr id="190" name="Connector: Curved 189">
            <a:extLst>
              <a:ext uri="{FF2B5EF4-FFF2-40B4-BE49-F238E27FC236}">
                <a16:creationId xmlns:a16="http://schemas.microsoft.com/office/drawing/2014/main" id="{F64ECC42-FB7A-6531-B37F-E21B555249CC}"/>
              </a:ext>
            </a:extLst>
          </p:cNvPr>
          <p:cNvCxnSpPr>
            <a:stCxn id="181" idx="3"/>
            <a:endCxn id="183" idx="1"/>
          </p:cNvCxnSpPr>
          <p:nvPr/>
        </p:nvCxnSpPr>
        <p:spPr>
          <a:xfrm flipV="1">
            <a:off x="5501509" y="1871367"/>
            <a:ext cx="1047269" cy="1058474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91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D9D588-D364-AF9C-5071-96FEC8DB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transformations &amp; parallelization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ACBDE-BD4C-3B9F-D357-B50E2AB5E13A}"/>
              </a:ext>
            </a:extLst>
          </p:cNvPr>
          <p:cNvSpPr/>
          <p:nvPr/>
        </p:nvSpPr>
        <p:spPr>
          <a:xfrm>
            <a:off x="6782428" y="2166505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49B183-D23D-199F-5762-CEB810CEF7DB}"/>
              </a:ext>
            </a:extLst>
          </p:cNvPr>
          <p:cNvSpPr/>
          <p:nvPr/>
        </p:nvSpPr>
        <p:spPr>
          <a:xfrm>
            <a:off x="6782427" y="2431083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EA9AA-ED47-6068-BF0F-49A412CD8F7F}"/>
              </a:ext>
            </a:extLst>
          </p:cNvPr>
          <p:cNvSpPr/>
          <p:nvPr/>
        </p:nvSpPr>
        <p:spPr>
          <a:xfrm>
            <a:off x="6049003" y="2702147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E6F97-71C0-E7B6-3913-C7F1E0B84654}"/>
              </a:ext>
            </a:extLst>
          </p:cNvPr>
          <p:cNvSpPr txBox="1"/>
          <p:nvPr/>
        </p:nvSpPr>
        <p:spPr>
          <a:xfrm>
            <a:off x="3363539" y="2084062"/>
            <a:ext cx="5464923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hoist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4DC07-12F0-E28A-EFF4-4CF7F2299BE3}"/>
              </a:ext>
            </a:extLst>
          </p:cNvPr>
          <p:cNvSpPr txBox="1"/>
          <p:nvPr/>
        </p:nvSpPr>
        <p:spPr>
          <a:xfrm>
            <a:off x="2393643" y="3395316"/>
            <a:ext cx="7404714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 </a:t>
            </a:r>
            <a:r>
              <a:rPr lang="en-US" sz="1600" b="1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E4D446-FA75-8892-1F63-4A50AD51D638}"/>
              </a:ext>
            </a:extLst>
          </p:cNvPr>
          <p:cNvCxnSpPr>
            <a:cxnSpLocks/>
            <a:stCxn id="8" idx="2"/>
            <a:endCxn id="3" idx="0"/>
          </p:cNvCxnSpPr>
          <p:nvPr/>
        </p:nvCxnSpPr>
        <p:spPr>
          <a:xfrm flipH="1">
            <a:off x="6096000" y="3001942"/>
            <a:ext cx="1" cy="3933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FE517BC7-E591-4BF3-D827-EFF2CD30D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690F1-35CC-4B34-B898-A35702C2DAD5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740945D-1B4C-1335-1A43-458E59CE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B7F5F-6A6B-7B50-99CB-AE3DAB2E86D8}"/>
              </a:ext>
            </a:extLst>
          </p:cNvPr>
          <p:cNvSpPr txBox="1"/>
          <p:nvPr/>
        </p:nvSpPr>
        <p:spPr>
          <a:xfrm>
            <a:off x="5068155" y="4765415"/>
            <a:ext cx="2055691" cy="4616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Parallelization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09330A-A449-CB40-3FCF-2B26BA222655}"/>
              </a:ext>
            </a:extLst>
          </p:cNvPr>
          <p:cNvSpPr txBox="1"/>
          <p:nvPr/>
        </p:nvSpPr>
        <p:spPr>
          <a:xfrm>
            <a:off x="1716323" y="5728382"/>
            <a:ext cx="2264558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</a:rPr>
              <a:t>OpenMP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omp_for_each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FADC59-989F-AE0F-9D16-0E35E9C69C74}"/>
              </a:ext>
            </a:extLst>
          </p:cNvPr>
          <p:cNvSpPr txBox="1"/>
          <p:nvPr/>
        </p:nvSpPr>
        <p:spPr>
          <a:xfrm>
            <a:off x="4964185" y="5728383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oneTBB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tbb_for_each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84833-E86B-4C27-58B9-4ED8496F2A50}"/>
              </a:ext>
            </a:extLst>
          </p:cNvPr>
          <p:cNvSpPr txBox="1"/>
          <p:nvPr/>
        </p:nvSpPr>
        <p:spPr>
          <a:xfrm>
            <a:off x="8212047" y="5728383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cuda_traverser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AD00C5-4215-60FE-63AA-DCA7EB732E24}"/>
              </a:ext>
            </a:extLst>
          </p:cNvPr>
          <p:cNvCxnSpPr>
            <a:stCxn id="21" idx="2"/>
            <a:endCxn id="25" idx="0"/>
          </p:cNvCxnSpPr>
          <p:nvPr/>
        </p:nvCxnSpPr>
        <p:spPr>
          <a:xfrm flipH="1">
            <a:off x="6096000" y="5227080"/>
            <a:ext cx="1" cy="501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EA1C61-7960-E9FD-D288-69F76C20F474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3980881" y="5227080"/>
            <a:ext cx="2115120" cy="858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FFA2151-7675-411C-6539-37EA8EE743B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6096001" y="5227080"/>
            <a:ext cx="2116046" cy="85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D3DC4ED-8B07-FA72-912D-D5AFDF1779D5}"/>
              </a:ext>
            </a:extLst>
          </p:cNvPr>
          <p:cNvSpPr txBox="1"/>
          <p:nvPr/>
        </p:nvSpPr>
        <p:spPr>
          <a:xfrm>
            <a:off x="2393643" y="3395316"/>
            <a:ext cx="7404714" cy="917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111761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F1F4AB-2185-6145-DDA4-1F034DCDF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Autotuning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30B5E0-ABB5-8FFF-3D96-A05D108A0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446" r="3272" b="70120"/>
          <a:stretch>
            <a:fillRect/>
          </a:stretch>
        </p:blipFill>
        <p:spPr>
          <a:xfrm>
            <a:off x="2962939" y="4275380"/>
            <a:ext cx="5573788" cy="2582620"/>
          </a:xfrm>
          <a:prstGeom prst="rect">
            <a:avLst/>
          </a:prstGeom>
        </p:spPr>
      </p:pic>
      <p:pic>
        <p:nvPicPr>
          <p:cNvPr id="17" name="Picture 16" descr="OpenTuner - An extensible framework for program autotuning">
            <a:extLst>
              <a:ext uri="{FF2B5EF4-FFF2-40B4-BE49-F238E27FC236}">
                <a16:creationId xmlns:a16="http://schemas.microsoft.com/office/drawing/2014/main" id="{9B62B548-A2CB-44E7-8C14-94F9EC04F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8399" y="5485816"/>
            <a:ext cx="2455817" cy="842437"/>
          </a:xfrm>
          <a:prstGeom prst="rect">
            <a:avLst/>
          </a:prstGeom>
        </p:spPr>
      </p:pic>
      <p:pic>
        <p:nvPicPr>
          <p:cNvPr id="18" name="Picture 17" descr="Optuna: A hyperparameter optimization framework — Optuna 4.9.0 documentation">
            <a:extLst>
              <a:ext uri="{FF2B5EF4-FFF2-40B4-BE49-F238E27FC236}">
                <a16:creationId xmlns:a16="http://schemas.microsoft.com/office/drawing/2014/main" id="{AF010DE9-B658-4682-CFDF-661E5A062A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5748" y="4521033"/>
            <a:ext cx="2455817" cy="515722"/>
          </a:xfrm>
          <a:prstGeom prst="rect">
            <a:avLst/>
          </a:prstGeom>
        </p:spPr>
      </p:pic>
      <p:pic>
        <p:nvPicPr>
          <p:cNvPr id="19" name="Picture 18" descr="Auto-Tuning Framework (ATF) · GitHub">
            <a:extLst>
              <a:ext uri="{FF2B5EF4-FFF2-40B4-BE49-F238E27FC236}">
                <a16:creationId xmlns:a16="http://schemas.microsoft.com/office/drawing/2014/main" id="{F7F7CFF8-EDA0-77B0-914C-2AD8CCB7F8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3323" y="3265015"/>
            <a:ext cx="1099238" cy="10992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A33F8-BA09-FE20-AA3F-F979C5E8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82220-9CE2-4BC9-B6C9-7A7531EEF27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FF31DD-3BF8-7967-3565-500F50D5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9</a:t>
            </a:fld>
            <a:endParaRPr lang="en-US" noProof="0" dirty="0"/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1A3646A4-0501-E64C-9EBA-2A5D70FCC45E}"/>
              </a:ext>
            </a:extLst>
          </p:cNvPr>
          <p:cNvSpPr/>
          <p:nvPr/>
        </p:nvSpPr>
        <p:spPr>
          <a:xfrm>
            <a:off x="2719349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the </a:t>
            </a:r>
            <a:r>
              <a:rPr lang="en-US" b="1" noProof="0" dirty="0"/>
              <a:t>application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09D4644A-2975-4E43-85E5-AC04135744E4}"/>
              </a:ext>
            </a:extLst>
          </p:cNvPr>
          <p:cNvSpPr/>
          <p:nvPr/>
        </p:nvSpPr>
        <p:spPr>
          <a:xfrm>
            <a:off x="6756788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an </a:t>
            </a:r>
            <a:r>
              <a:rPr lang="en-US" b="1" noProof="0" dirty="0" err="1"/>
              <a:t>autotuner</a:t>
            </a:r>
            <a:r>
              <a:rPr lang="en-US" b="1" noProof="0" dirty="0"/>
              <a:t> script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87FD7390-E206-0701-B169-9DA704B413EE}"/>
              </a:ext>
            </a:extLst>
          </p:cNvPr>
          <p:cNvSpPr/>
          <p:nvPr/>
        </p:nvSpPr>
        <p:spPr>
          <a:xfrm>
            <a:off x="4642964" y="2061867"/>
            <a:ext cx="2113824" cy="690836"/>
          </a:xfrm>
          <a:prstGeom prst="leftRightArrow">
            <a:avLst>
              <a:gd name="adj1" fmla="val 41917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Communication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E210CDB-EAA6-0C9F-CAB9-B16CAFD1D4A6}"/>
              </a:ext>
            </a:extLst>
          </p:cNvPr>
          <p:cNvSpPr/>
          <p:nvPr/>
        </p:nvSpPr>
        <p:spPr>
          <a:xfrm rot="5400000">
            <a:off x="5605927" y="17730"/>
            <a:ext cx="187902" cy="596105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D587DC-555E-F024-2296-A3954C42F0E6}"/>
              </a:ext>
            </a:extLst>
          </p:cNvPr>
          <p:cNvSpPr txBox="1"/>
          <p:nvPr/>
        </p:nvSpPr>
        <p:spPr>
          <a:xfrm>
            <a:off x="3760050" y="3172113"/>
            <a:ext cx="38796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0" dirty="0"/>
              <a:t>Too much boilerplate, error-prone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270A02A-F64D-1590-FA37-729E2E1BC765}"/>
              </a:ext>
            </a:extLst>
          </p:cNvPr>
          <p:cNvSpPr/>
          <p:nvPr/>
        </p:nvSpPr>
        <p:spPr>
          <a:xfrm>
            <a:off x="5200214" y="3664580"/>
            <a:ext cx="1099238" cy="670577"/>
          </a:xfrm>
          <a:prstGeom prst="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517191D-6E0A-AA15-0D0A-F36C9AFA3E26}"/>
              </a:ext>
            </a:extLst>
          </p:cNvPr>
          <p:cNvCxnSpPr>
            <a:endCxn id="19" idx="1"/>
          </p:cNvCxnSpPr>
          <p:nvPr/>
        </p:nvCxnSpPr>
        <p:spPr>
          <a:xfrm flipV="1">
            <a:off x="8306382" y="3814634"/>
            <a:ext cx="1216941" cy="904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DDBBE2-A63E-674B-08AE-0EFF57E0FE3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306382" y="4719065"/>
            <a:ext cx="1009366" cy="59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EE38BC2-DE6F-53AE-919A-9277CD5405A3}"/>
              </a:ext>
            </a:extLst>
          </p:cNvPr>
          <p:cNvCxnSpPr>
            <a:endCxn id="17" idx="1"/>
          </p:cNvCxnSpPr>
          <p:nvPr/>
        </p:nvCxnSpPr>
        <p:spPr>
          <a:xfrm>
            <a:off x="8306382" y="4719065"/>
            <a:ext cx="762017" cy="1187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0AB9894-F662-FFB1-44B2-4C81DBE8BFD6}"/>
              </a:ext>
            </a:extLst>
          </p:cNvPr>
          <p:cNvSpPr/>
          <p:nvPr/>
        </p:nvSpPr>
        <p:spPr>
          <a:xfrm>
            <a:off x="58166" y="1811504"/>
            <a:ext cx="2470974" cy="533827"/>
          </a:xfrm>
          <a:prstGeom prst="wedgeRoundRectCallout">
            <a:avLst>
              <a:gd name="adj1" fmla="val 56729"/>
              <a:gd name="adj2" fmla="val 36187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Choice of layout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#if CHOICE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= 1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CE95B9-03F1-05B9-5C53-ED658F5D3701}"/>
              </a:ext>
            </a:extLst>
          </p:cNvPr>
          <p:cNvSpPr/>
          <p:nvPr/>
        </p:nvSpPr>
        <p:spPr>
          <a:xfrm>
            <a:off x="8870612" y="1917729"/>
            <a:ext cx="2470974" cy="396321"/>
          </a:xfrm>
          <a:prstGeom prst="wedgeRoundRectCallout">
            <a:avLst>
              <a:gd name="adj1" fmla="val -55983"/>
              <a:gd name="adj2" fmla="val 3530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Categorical value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2AE935-6135-FF9E-8DE3-57AF290EEA84}"/>
              </a:ext>
            </a:extLst>
          </p:cNvPr>
          <p:cNvSpPr txBox="1"/>
          <p:nvPr/>
        </p:nvSpPr>
        <p:spPr>
          <a:xfrm>
            <a:off x="4499442" y="1411183"/>
            <a:ext cx="2666114" cy="369332"/>
          </a:xfrm>
          <a:prstGeom prst="wedgeRectCallout">
            <a:avLst>
              <a:gd name="adj1" fmla="val 374"/>
              <a:gd name="adj2" fmla="val 162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-D parameter=value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B79FC75-E7A8-9028-A1F8-9FC3B360D73A}"/>
              </a:ext>
            </a:extLst>
          </p:cNvPr>
          <p:cNvCxnSpPr>
            <a:cxnSpLocks/>
            <a:stCxn id="14" idx="0"/>
            <a:endCxn id="16" idx="3"/>
          </p:cNvCxnSpPr>
          <p:nvPr/>
        </p:nvCxnSpPr>
        <p:spPr>
          <a:xfrm rot="16200000" flipV="1">
            <a:off x="8474888" y="286517"/>
            <a:ext cx="321880" cy="294054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1B743716-5A26-8119-52C1-05AC74AA0158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rot="10800000" flipV="1">
            <a:off x="1293654" y="1595848"/>
            <a:ext cx="3205789" cy="21565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FDBB004-242D-F064-134B-A20DA6C00791}"/>
              </a:ext>
            </a:extLst>
          </p:cNvPr>
          <p:cNvSpPr/>
          <p:nvPr/>
        </p:nvSpPr>
        <p:spPr>
          <a:xfrm>
            <a:off x="-25304" y="2637392"/>
            <a:ext cx="2470974" cy="533827"/>
          </a:xfrm>
          <a:prstGeom prst="wedgeRoundRectCallout">
            <a:avLst>
              <a:gd name="adj1" fmla="val 59836"/>
              <a:gd name="adj2" fmla="val -4357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Tile size for tiling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 += TILE_SIZE</a:t>
            </a:r>
          </a:p>
        </p:txBody>
      </p: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FA9C8980-73EE-E008-CB22-42AB34A781C3}"/>
              </a:ext>
            </a:extLst>
          </p:cNvPr>
          <p:cNvSpPr/>
          <p:nvPr/>
        </p:nvSpPr>
        <p:spPr>
          <a:xfrm>
            <a:off x="8882826" y="2614639"/>
            <a:ext cx="2470974" cy="396321"/>
          </a:xfrm>
          <a:prstGeom prst="wedgeRoundRectCallout">
            <a:avLst>
              <a:gd name="adj1" fmla="val -55701"/>
              <a:gd name="adj2" fmla="val -33382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Numerical value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933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91B7BB-BC4C-DBA7-B522-2D603B3BF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51" y="2747513"/>
            <a:ext cx="4919167" cy="30744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C5CD64-6486-850E-0A2A-48532AE26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34B-EFD9-4F73-1FB8-ECD089B1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1DD6E-5048-4D3D-823A-657D259BCC38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7263E-02F8-A021-8D87-59864096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10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EE12D-A54F-6CFD-63D4-ED8425AA5254}"/>
              </a:ext>
            </a:extLst>
          </p:cNvPr>
          <p:cNvSpPr txBox="1"/>
          <p:nvPr/>
        </p:nvSpPr>
        <p:spPr>
          <a:xfrm>
            <a:off x="2335442" y="5821992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Serial runtime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D4-4CFC-E812-3B36-B6402C655DF5}"/>
              </a:ext>
            </a:extLst>
          </p:cNvPr>
          <p:cNvSpPr txBox="1"/>
          <p:nvPr/>
        </p:nvSpPr>
        <p:spPr>
          <a:xfrm>
            <a:off x="4083984" y="2137112"/>
            <a:ext cx="1626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/C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9FEFA2A7-B28D-4893-B5BE-441513E53224}"/>
              </a:ext>
            </a:extLst>
          </p:cNvPr>
          <p:cNvSpPr/>
          <p:nvPr/>
        </p:nvSpPr>
        <p:spPr>
          <a:xfrm rot="16200000">
            <a:off x="4722869" y="-1773373"/>
            <a:ext cx="241068" cy="880070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698DB-93D9-A5F0-02CC-BCBD40643F77}"/>
              </a:ext>
            </a:extLst>
          </p:cNvPr>
          <p:cNvSpPr txBox="1"/>
          <p:nvPr/>
        </p:nvSpPr>
        <p:spPr>
          <a:xfrm>
            <a:off x="9845901" y="2299485"/>
            <a:ext cx="1903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/GPU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B9092E-CEC8-7BAA-4EAF-6DF235867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873" y="2868048"/>
            <a:ext cx="1389266" cy="23608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9DFD6F-FACD-00D1-E9AB-84DDD3BD2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0297" y="2868048"/>
            <a:ext cx="1389266" cy="2360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F00E57-C02A-3826-7043-E1771BA4C8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5226" y="2668817"/>
            <a:ext cx="1476298" cy="25087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483A899-FCA6-734B-1BF1-F098BCA106E6}"/>
              </a:ext>
            </a:extLst>
          </p:cNvPr>
          <p:cNvSpPr txBox="1"/>
          <p:nvPr/>
        </p:nvSpPr>
        <p:spPr>
          <a:xfrm>
            <a:off x="6610927" y="516476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OpenMP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64486E-966E-9592-1DC4-84988B7901F0}"/>
              </a:ext>
            </a:extLst>
          </p:cNvPr>
          <p:cNvSpPr txBox="1"/>
          <p:nvPr/>
        </p:nvSpPr>
        <p:spPr>
          <a:xfrm>
            <a:off x="8610600" y="5177563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TBB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F2EF67-657C-ADE5-06D6-C5D272407884}"/>
              </a:ext>
            </a:extLst>
          </p:cNvPr>
          <p:cNvSpPr txBox="1"/>
          <p:nvPr/>
        </p:nvSpPr>
        <p:spPr>
          <a:xfrm>
            <a:off x="10432220" y="5072356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52204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9F778-9FB2-2C54-1D76-BC106C3A2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333D-65C9-99FE-A895-52D7BE3D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0D10BE1-6FF6-CFAF-522A-ABB1D18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C00000"/>
                </a:solidFill>
              </a:rPr>
              <a:t>Slightly more verbose</a:t>
            </a:r>
          </a:p>
          <a:p>
            <a:r>
              <a:rPr lang="en-US" noProof="0" dirty="0">
                <a:solidFill>
                  <a:schemeClr val="accent6"/>
                </a:solidFill>
              </a:rPr>
              <a:t>Less complex control flow</a:t>
            </a:r>
          </a:p>
          <a:p>
            <a:r>
              <a:rPr lang="en-US" noProof="0" dirty="0">
                <a:solidFill>
                  <a:srgbClr val="0070C0"/>
                </a:solidFill>
              </a:rPr>
              <a:t>Easier indexation</a:t>
            </a:r>
          </a:p>
          <a:p>
            <a:endParaRPr lang="en-US" noProof="0" dirty="0">
              <a:solidFill>
                <a:srgbClr val="0070C0"/>
              </a:solidFill>
            </a:endParaRP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Higher flexibility</a:t>
            </a: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Type safety (checked dimensions)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2A217-522C-9881-8C78-59994DAAB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C01F6-8E80-4F75-81D6-E35CABA351AD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9985D-B777-F27B-0FBA-73D1933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11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199549-C2F9-0F20-FD16-454B08B67F83}"/>
              </a:ext>
            </a:extLst>
          </p:cNvPr>
          <p:cNvGrpSpPr/>
          <p:nvPr/>
        </p:nvGrpSpPr>
        <p:grpSpPr>
          <a:xfrm>
            <a:off x="5521626" y="1230285"/>
            <a:ext cx="6339251" cy="3310304"/>
            <a:chOff x="5048957" y="2128473"/>
            <a:chExt cx="5592052" cy="292012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4FE17F-EA26-4159-D3FA-E24B481BB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8957" y="2128473"/>
              <a:ext cx="5592052" cy="285085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2B97BC-3800-ACC5-7BFA-50147B7B6D49}"/>
                </a:ext>
              </a:extLst>
            </p:cNvPr>
            <p:cNvSpPr/>
            <p:nvPr/>
          </p:nvSpPr>
          <p:spPr>
            <a:xfrm>
              <a:off x="9667703" y="2348513"/>
              <a:ext cx="806334" cy="67732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6600D9-4B00-4F31-3A6D-E2596CFC7619}"/>
                </a:ext>
              </a:extLst>
            </p:cNvPr>
            <p:cNvSpPr/>
            <p:nvPr/>
          </p:nvSpPr>
          <p:spPr>
            <a:xfrm>
              <a:off x="9667703" y="3418199"/>
              <a:ext cx="806334" cy="206149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A10C763-DA46-14E6-7C8A-BA0BEDAC3678}"/>
                </a:ext>
              </a:extLst>
            </p:cNvPr>
            <p:cNvSpPr/>
            <p:nvPr/>
          </p:nvSpPr>
          <p:spPr>
            <a:xfrm>
              <a:off x="9667703" y="4114800"/>
              <a:ext cx="806334" cy="5027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370E709-4729-0F29-3C2F-A7DF2A616475}"/>
                </a:ext>
              </a:extLst>
            </p:cNvPr>
            <p:cNvSpPr/>
            <p:nvPr/>
          </p:nvSpPr>
          <p:spPr>
            <a:xfrm>
              <a:off x="9667703" y="4545845"/>
              <a:ext cx="806334" cy="502751"/>
            </a:xfrm>
            <a:prstGeom prst="ellipse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185466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EE3B59AB-A2B0-AC08-2ABA-C28A804C1D65}"/>
              </a:ext>
            </a:extLst>
          </p:cNvPr>
          <p:cNvSpPr/>
          <p:nvPr/>
        </p:nvSpPr>
        <p:spPr>
          <a:xfrm>
            <a:off x="7453313" y="2164167"/>
            <a:ext cx="676275" cy="217083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DFDB58-EA38-9006-322B-F713E3FA8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initialization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95CC93-9CA9-7209-C22C-7D083498E953}"/>
              </a:ext>
            </a:extLst>
          </p:cNvPr>
          <p:cNvSpPr txBox="1"/>
          <p:nvPr/>
        </p:nvSpPr>
        <p:spPr>
          <a:xfrm>
            <a:off x="6350978" y="1712569"/>
            <a:ext cx="346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noProof="0" dirty="0"/>
              <a:t>Binding to MPI communicator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057125-4E7B-776B-DCD0-38C2BDDEA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53D1-8D82-4D70-AAA7-91480DF3CCDB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D6802-E8E6-C834-23FA-38D2C05C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081B18-2097-F218-444D-8457FDAFE687}"/>
              </a:ext>
            </a:extLst>
          </p:cNvPr>
          <p:cNvSpPr txBox="1"/>
          <p:nvPr/>
        </p:nvSpPr>
        <p:spPr>
          <a:xfrm>
            <a:off x="6001728" y="4672963"/>
            <a:ext cx="502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noProof="0" dirty="0"/>
              <a:t>Automatic Layout </a:t>
            </a:r>
            <a:r>
              <a:rPr lang="en-US" noProof="0" dirty="0">
                <a:sym typeface="Wingdings" panose="05000000000000000000" pitchFamily="2" charset="2"/>
              </a:rPr>
              <a:t> MPI datatype translation</a:t>
            </a:r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A04A5-C71E-DF2C-A354-3E03F875058A}"/>
              </a:ext>
            </a:extLst>
          </p:cNvPr>
          <p:cNvSpPr txBox="1"/>
          <p:nvPr/>
        </p:nvSpPr>
        <p:spPr>
          <a:xfrm>
            <a:off x="3505200" y="2081901"/>
            <a:ext cx="8584859" cy="2273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mpi_traverser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MPI_COMM_WORLD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dirty="0">
                <a:solidFill>
                  <a:srgbClr val="267F99"/>
                </a:solidFill>
                <a:latin typeface="Fira Code" panose="020B0809050000020004" pitchFamily="49" charset="0"/>
              </a:rPr>
              <a:t>auto Tile</a:t>
            </a:r>
            <a:r>
              <a:rPr lang="en-US" dirty="0">
                <a:solidFill>
                  <a:srgbClr val="000000"/>
                </a:solidFill>
                <a:latin typeface="Fira Code" panose="020B0809050000020004" pitchFamily="49" charset="0"/>
              </a:rPr>
              <a:t> = …</a:t>
            </a: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 [&amp;](</a:t>
            </a:r>
            <a:r>
              <a:rPr lang="en-US" sz="18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Tile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5AFA3F-B4AF-ABF4-9BB4-CE1EE90FCB8C}"/>
              </a:ext>
            </a:extLst>
          </p:cNvPr>
          <p:cNvSpPr txBox="1"/>
          <p:nvPr/>
        </p:nvSpPr>
        <p:spPr>
          <a:xfrm>
            <a:off x="6020426" y="5042295"/>
            <a:ext cx="4839852" cy="395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gather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Tile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root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329DFC7F-1CD7-D907-ACE7-DF5BC3131277}"/>
              </a:ext>
            </a:extLst>
          </p:cNvPr>
          <p:cNvSpPr/>
          <p:nvPr/>
        </p:nvSpPr>
        <p:spPr>
          <a:xfrm>
            <a:off x="7615841" y="3384350"/>
            <a:ext cx="324197" cy="913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F331C8-C8ED-B5C4-3373-8B0D250696A0}"/>
              </a:ext>
            </a:extLst>
          </p:cNvPr>
          <p:cNvSpPr txBox="1"/>
          <p:nvPr/>
        </p:nvSpPr>
        <p:spPr>
          <a:xfrm>
            <a:off x="7940038" y="3658171"/>
            <a:ext cx="23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Writes to the local tile </a:t>
            </a:r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FBD68E4F-2E96-6FDC-0CB9-90A5A2A5CA64}"/>
              </a:ext>
            </a:extLst>
          </p:cNvPr>
          <p:cNvSpPr/>
          <p:nvPr/>
        </p:nvSpPr>
        <p:spPr>
          <a:xfrm rot="5400000">
            <a:off x="8357720" y="3180661"/>
            <a:ext cx="169251" cy="463118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4348FA-14AF-AE42-2449-6C4790D0706A}"/>
              </a:ext>
            </a:extLst>
          </p:cNvPr>
          <p:cNvSpPr txBox="1"/>
          <p:nvPr/>
        </p:nvSpPr>
        <p:spPr>
          <a:xfrm>
            <a:off x="6706462" y="5644447"/>
            <a:ext cx="346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Gathers the tiles into the result</a:t>
            </a:r>
          </a:p>
        </p:txBody>
      </p:sp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AE5C4A6A-2A3F-D5E7-21AA-E055A392DE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43841" y="3178142"/>
            <a:ext cx="521160" cy="52116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2275A2-A9C6-807A-E3FF-34B66CDA2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784" y="3056457"/>
            <a:ext cx="1543050" cy="306705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082AF5A3-AB88-5B95-D0E8-599F0C027E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843841" y="4004683"/>
            <a:ext cx="521160" cy="521160"/>
          </a:xfrm>
          <a:prstGeom prst="rect">
            <a:avLst/>
          </a:prstGeom>
        </p:spPr>
      </p:pic>
      <p:pic>
        <p:nvPicPr>
          <p:cNvPr id="19" name="Graphic 18" descr="Server with solid fill">
            <a:extLst>
              <a:ext uri="{FF2B5EF4-FFF2-40B4-BE49-F238E27FC236}">
                <a16:creationId xmlns:a16="http://schemas.microsoft.com/office/drawing/2014/main" id="{71641C04-2032-47B1-3172-33AD1DEB3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43841" y="4712245"/>
            <a:ext cx="521160" cy="521160"/>
          </a:xfrm>
          <a:prstGeom prst="rect">
            <a:avLst/>
          </a:prstGeom>
        </p:spPr>
      </p:pic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7E15CA50-90A7-5F5F-4D61-40F7516A32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43841" y="5423149"/>
            <a:ext cx="521160" cy="521160"/>
          </a:xfrm>
          <a:prstGeom prst="rect">
            <a:avLst/>
          </a:prstGeom>
        </p:spPr>
      </p:pic>
      <p:sp>
        <p:nvSpPr>
          <p:cNvPr id="28" name="Right Brace 27">
            <a:extLst>
              <a:ext uri="{FF2B5EF4-FFF2-40B4-BE49-F238E27FC236}">
                <a16:creationId xmlns:a16="http://schemas.microsoft.com/office/drawing/2014/main" id="{33DFE98B-B773-C0A8-5D8E-16846E420AC9}"/>
              </a:ext>
            </a:extLst>
          </p:cNvPr>
          <p:cNvSpPr/>
          <p:nvPr/>
        </p:nvSpPr>
        <p:spPr>
          <a:xfrm>
            <a:off x="3226915" y="3056457"/>
            <a:ext cx="153563" cy="306705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/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blocks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/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A4A075C-DE25-365C-6E81-3128C8CB92C4}"/>
              </a:ext>
            </a:extLst>
          </p:cNvPr>
          <p:cNvCxnSpPr>
            <a:cxnSpLocks/>
          </p:cNvCxnSpPr>
          <p:nvPr/>
        </p:nvCxnSpPr>
        <p:spPr>
          <a:xfrm flipH="1">
            <a:off x="1336675" y="342271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D1030F-B6DD-00FB-A2C5-AE5590588854}"/>
              </a:ext>
            </a:extLst>
          </p:cNvPr>
          <p:cNvCxnSpPr>
            <a:cxnSpLocks/>
          </p:cNvCxnSpPr>
          <p:nvPr/>
        </p:nvCxnSpPr>
        <p:spPr>
          <a:xfrm flipH="1">
            <a:off x="1336675" y="421567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B751AB-0537-2DC4-981F-1F8596A37ABB}"/>
              </a:ext>
            </a:extLst>
          </p:cNvPr>
          <p:cNvCxnSpPr>
            <a:cxnSpLocks/>
          </p:cNvCxnSpPr>
          <p:nvPr/>
        </p:nvCxnSpPr>
        <p:spPr>
          <a:xfrm flipH="1">
            <a:off x="1336675" y="497282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19B355-FA91-A9A5-2FEF-259C20C86AF7}"/>
              </a:ext>
            </a:extLst>
          </p:cNvPr>
          <p:cNvCxnSpPr>
            <a:cxnSpLocks/>
          </p:cNvCxnSpPr>
          <p:nvPr/>
        </p:nvCxnSpPr>
        <p:spPr>
          <a:xfrm flipH="1">
            <a:off x="1336675" y="573512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675D228-CE77-DE58-39D4-695A05595AAD}"/>
              </a:ext>
            </a:extLst>
          </p:cNvPr>
          <p:cNvSpPr txBox="1"/>
          <p:nvPr/>
        </p:nvSpPr>
        <p:spPr>
          <a:xfrm>
            <a:off x="2009775" y="6123506"/>
            <a:ext cx="920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endParaRPr lang="en-US" dirty="0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E95766C1-B5D9-13B5-FB19-BBB779E706C4}"/>
              </a:ext>
            </a:extLst>
          </p:cNvPr>
          <p:cNvSpPr/>
          <p:nvPr/>
        </p:nvSpPr>
        <p:spPr>
          <a:xfrm>
            <a:off x="741501" y="3090333"/>
            <a:ext cx="122402" cy="31115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78308B-BCCF-A96E-398B-794D49740CFD}"/>
              </a:ext>
            </a:extLst>
          </p:cNvPr>
          <p:cNvSpPr txBox="1"/>
          <p:nvPr/>
        </p:nvSpPr>
        <p:spPr>
          <a:xfrm rot="16200000">
            <a:off x="-547061" y="4461432"/>
            <a:ext cx="2169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Computation nodes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780762E-A23C-5469-71C2-48809E66AA91}"/>
              </a:ext>
            </a:extLst>
          </p:cNvPr>
          <p:cNvCxnSpPr/>
          <p:nvPr/>
        </p:nvCxnSpPr>
        <p:spPr>
          <a:xfrm flipH="1">
            <a:off x="5493380" y="2868843"/>
            <a:ext cx="8575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0589E420-67E2-ACC3-4070-A0BB22EE89A0}"/>
              </a:ext>
            </a:extLst>
          </p:cNvPr>
          <p:cNvSpPr txBox="1"/>
          <p:nvPr/>
        </p:nvSpPr>
        <p:spPr>
          <a:xfrm>
            <a:off x="6350978" y="2671479"/>
            <a:ext cx="3662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 using dimensions of </a:t>
            </a:r>
            <a:r>
              <a:rPr lang="en-US" dirty="0" err="1"/>
              <a:t>MPItrav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022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3D26-2B4F-0ACB-E3E2-25555241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775342-3158-BFC3-939C-F2844540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Automatic transformation in communication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10516-14DF-329F-F9DD-AD879766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4091F-5E68-4514-9CCC-EC8E47A52419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9A66E-8887-529B-AA75-343549185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13</a:t>
            </a:fld>
            <a:endParaRPr lang="en-US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50573C-B606-1D93-3169-1638F303D228}"/>
              </a:ext>
            </a:extLst>
          </p:cNvPr>
          <p:cNvGrpSpPr/>
          <p:nvPr/>
        </p:nvGrpSpPr>
        <p:grpSpPr>
          <a:xfrm>
            <a:off x="4919971" y="1404368"/>
            <a:ext cx="2631264" cy="2394459"/>
            <a:chOff x="4919971" y="1404368"/>
            <a:chExt cx="2631264" cy="239445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A4FEEA-F6A5-2F0C-61D6-D842A122ADD5}"/>
                </a:ext>
              </a:extLst>
            </p:cNvPr>
            <p:cNvSpPr txBox="1"/>
            <p:nvPr/>
          </p:nvSpPr>
          <p:spPr>
            <a:xfrm>
              <a:off x="5106102" y="1404368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send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row_major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6EB6A87-C410-9B14-96CD-100480173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59919" b="62224"/>
            <a:stretch>
              <a:fillRect/>
            </a:stretch>
          </p:blipFill>
          <p:spPr>
            <a:xfrm>
              <a:off x="4919971" y="1812471"/>
              <a:ext cx="2631264" cy="1986356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59BC3A-EAE5-7038-FDF7-CE47FECE7DCB}"/>
              </a:ext>
            </a:extLst>
          </p:cNvPr>
          <p:cNvGrpSpPr/>
          <p:nvPr/>
        </p:nvGrpSpPr>
        <p:grpSpPr>
          <a:xfrm>
            <a:off x="8459256" y="3152001"/>
            <a:ext cx="2390398" cy="3497304"/>
            <a:chOff x="8459256" y="3152001"/>
            <a:chExt cx="2390398" cy="34973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0BA276-D3D5-43CD-BA0F-E78D4E84387D}"/>
                </a:ext>
              </a:extLst>
            </p:cNvPr>
            <p:cNvSpPr txBox="1"/>
            <p:nvPr/>
          </p:nvSpPr>
          <p:spPr>
            <a:xfrm>
              <a:off x="8459256" y="3607132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2521EF-5391-2B3B-B4E1-631E6C4FEF95}"/>
                </a:ext>
              </a:extLst>
            </p:cNvPr>
            <p:cNvSpPr txBox="1"/>
            <p:nvPr/>
          </p:nvSpPr>
          <p:spPr>
            <a:xfrm>
              <a:off x="9101870" y="3152001"/>
              <a:ext cx="9350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naive</a:t>
              </a:r>
              <a:endParaRPr lang="en-US" b="1" noProof="0" dirty="0"/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3AE9794-A1E1-1CB2-4E89-0355A8BF2A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206" b="49586"/>
            <a:stretch>
              <a:fillRect/>
            </a:stretch>
          </p:blipFill>
          <p:spPr>
            <a:xfrm>
              <a:off x="8558652" y="3998343"/>
              <a:ext cx="2021500" cy="265096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677424-78DF-5606-13A7-A5CE7C02CC88}"/>
              </a:ext>
            </a:extLst>
          </p:cNvPr>
          <p:cNvGrpSpPr/>
          <p:nvPr/>
        </p:nvGrpSpPr>
        <p:grpSpPr>
          <a:xfrm>
            <a:off x="1934048" y="3152001"/>
            <a:ext cx="2390398" cy="3407922"/>
            <a:chOff x="1934048" y="3152001"/>
            <a:chExt cx="2390398" cy="340792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9C9CAD-9E1E-7EC1-4429-D017CA1092E1}"/>
                </a:ext>
              </a:extLst>
            </p:cNvPr>
            <p:cNvSpPr txBox="1"/>
            <p:nvPr/>
          </p:nvSpPr>
          <p:spPr>
            <a:xfrm>
              <a:off x="2667595" y="3152001"/>
              <a:ext cx="8100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ours</a:t>
              </a:r>
              <a:endParaRPr lang="en-US" b="1" noProof="0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51998753-317E-8821-611A-BAD4E67A2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49586" r="69685"/>
            <a:stretch>
              <a:fillRect/>
            </a:stretch>
          </p:blipFill>
          <p:spPr>
            <a:xfrm>
              <a:off x="2077559" y="3908961"/>
              <a:ext cx="1990102" cy="2650962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61FBEC7-CB4A-332B-8305-81A140E2B4BC}"/>
                </a:ext>
              </a:extLst>
            </p:cNvPr>
            <p:cNvSpPr txBox="1"/>
            <p:nvPr/>
          </p:nvSpPr>
          <p:spPr>
            <a:xfrm>
              <a:off x="1934048" y="3530585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45E9BC-7505-AE12-2FF8-B6E23CAD3D28}"/>
              </a:ext>
            </a:extLst>
          </p:cNvPr>
          <p:cNvCxnSpPr>
            <a:stCxn id="18" idx="2"/>
            <a:endCxn id="22" idx="3"/>
          </p:cNvCxnSpPr>
          <p:nvPr/>
        </p:nvCxnSpPr>
        <p:spPr>
          <a:xfrm flipH="1">
            <a:off x="4067661" y="3798827"/>
            <a:ext cx="2167942" cy="1435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BDE0C27-4E21-7450-D688-E0A67CB04B34}"/>
              </a:ext>
            </a:extLst>
          </p:cNvPr>
          <p:cNvCxnSpPr>
            <a:stCxn id="18" idx="2"/>
            <a:endCxn id="20" idx="1"/>
          </p:cNvCxnSpPr>
          <p:nvPr/>
        </p:nvCxnSpPr>
        <p:spPr>
          <a:xfrm>
            <a:off x="6235603" y="3798827"/>
            <a:ext cx="2323049" cy="1524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4C11DF-8744-F535-8D96-016E3870A3DE}"/>
              </a:ext>
            </a:extLst>
          </p:cNvPr>
          <p:cNvSpPr txBox="1"/>
          <p:nvPr/>
        </p:nvSpPr>
        <p:spPr>
          <a:xfrm rot="2037324">
            <a:off x="6100829" y="4624428"/>
            <a:ext cx="2791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physical layout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6AED9-F132-9733-D20A-38A72DC05DB0}"/>
              </a:ext>
            </a:extLst>
          </p:cNvPr>
          <p:cNvSpPr txBox="1"/>
          <p:nvPr/>
        </p:nvSpPr>
        <p:spPr>
          <a:xfrm rot="19575917">
            <a:off x="3771040" y="4487000"/>
            <a:ext cx="2929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logical structure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1C5C1F7-6962-E74A-2AAE-EC3FFFDE66D5}"/>
              </a:ext>
            </a:extLst>
          </p:cNvPr>
          <p:cNvGrpSpPr/>
          <p:nvPr/>
        </p:nvGrpSpPr>
        <p:grpSpPr>
          <a:xfrm>
            <a:off x="8934595" y="1810235"/>
            <a:ext cx="2470005" cy="919943"/>
            <a:chOff x="8934595" y="1810235"/>
            <a:chExt cx="2470005" cy="919943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3B3954D8-6618-8968-9344-B52E3B2C2D66}"/>
                </a:ext>
              </a:extLst>
            </p:cNvPr>
            <p:cNvSpPr/>
            <p:nvPr/>
          </p:nvSpPr>
          <p:spPr>
            <a:xfrm>
              <a:off x="8934595" y="1810235"/>
              <a:ext cx="2470005" cy="898064"/>
            </a:xfrm>
            <a:prstGeom prst="wedgeRoundRectCallout">
              <a:avLst>
                <a:gd name="adj1" fmla="val 7688"/>
                <a:gd name="adj2" fmla="val 153247"/>
                <a:gd name="adj3" fmla="val 16667"/>
              </a:avLst>
            </a:prstGeom>
            <a:solidFill>
              <a:srgbClr val="79BEED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A64B26CC-455A-7502-D576-5F3D0CEC1479}"/>
                </a:ext>
              </a:extLst>
            </p:cNvPr>
            <p:cNvSpPr/>
            <p:nvPr/>
          </p:nvSpPr>
          <p:spPr>
            <a:xfrm>
              <a:off x="8934595" y="1812471"/>
              <a:ext cx="2470005" cy="898064"/>
            </a:xfrm>
            <a:prstGeom prst="wedgeRoundRectCallout">
              <a:avLst>
                <a:gd name="adj1" fmla="val -111916"/>
                <a:gd name="adj2" fmla="val -72812"/>
                <a:gd name="adj3" fmla="val 16667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Same for </a:t>
              </a:r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bcast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scatter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gather</a:t>
              </a:r>
              <a:r>
                <a:rPr lang="en-US" dirty="0"/>
                <a:t>, …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41680C2-ADEE-FD1D-982B-41B9FF5E4258}"/>
                </a:ext>
              </a:extLst>
            </p:cNvPr>
            <p:cNvSpPr/>
            <p:nvPr/>
          </p:nvSpPr>
          <p:spPr>
            <a:xfrm>
              <a:off x="10367962" y="2629269"/>
              <a:ext cx="623887" cy="100909"/>
            </a:xfrm>
            <a:prstGeom prst="roundRect">
              <a:avLst>
                <a:gd name="adj" fmla="val 50000"/>
              </a:avLst>
            </a:prstGeom>
            <a:solidFill>
              <a:srgbClr val="7ABEED"/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4151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9E796-E8D3-B4A5-DE7B-322F6338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B218F-11A7-3C72-B764-CB088CE45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862" y="3305637"/>
            <a:ext cx="8602275" cy="2924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06B68-4369-7351-330F-FAD27DE0E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204" y="1356359"/>
            <a:ext cx="6725589" cy="188621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9B0C-32AC-B4DC-D921-8746913B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8A75C-05AF-4892-8E0E-22A5D3C1A1D7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63094-AC61-E3F3-BAF8-AC409B2B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42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43A55-13AD-DFB3-5443-4EA6B4D35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Stencil computation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C5298-6963-89FD-4A0D-2B40AEF8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3A830-7137-2C37-9AF7-67F41210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15</a:t>
            </a:fld>
            <a:endParaRPr lang="en-US" noProof="0" dirty="0"/>
          </a:p>
        </p:txBody>
      </p:sp>
      <p:pic>
        <p:nvPicPr>
          <p:cNvPr id="7" name="Graphic 6" descr="Rain with solid fill">
            <a:extLst>
              <a:ext uri="{FF2B5EF4-FFF2-40B4-BE49-F238E27FC236}">
                <a16:creationId xmlns:a16="http://schemas.microsoft.com/office/drawing/2014/main" id="{C82052E5-5676-1353-12D7-18B167CB2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7496" y="1428852"/>
            <a:ext cx="732656" cy="7326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4FD725-88BE-61BC-EA94-E5BEA6E7C2CD}"/>
              </a:ext>
            </a:extLst>
          </p:cNvPr>
          <p:cNvSpPr txBox="1"/>
          <p:nvPr/>
        </p:nvSpPr>
        <p:spPr>
          <a:xfrm>
            <a:off x="4083685" y="1653739"/>
            <a:ext cx="2089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Weather prediction</a:t>
            </a:r>
          </a:p>
        </p:txBody>
      </p:sp>
      <p:pic>
        <p:nvPicPr>
          <p:cNvPr id="11" name="Graphic 10" descr="Images with solid fill">
            <a:extLst>
              <a:ext uri="{FF2B5EF4-FFF2-40B4-BE49-F238E27FC236}">
                <a16:creationId xmlns:a16="http://schemas.microsoft.com/office/drawing/2014/main" id="{BCB8AB1E-4038-D3A7-C93F-C113F4A994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3769" y="1459455"/>
            <a:ext cx="732656" cy="7326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C41653-37C0-2B80-EE45-53468F84FBC7}"/>
              </a:ext>
            </a:extLst>
          </p:cNvPr>
          <p:cNvSpPr txBox="1"/>
          <p:nvPr/>
        </p:nvSpPr>
        <p:spPr>
          <a:xfrm>
            <a:off x="7036845" y="1641117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A9A01-C547-889B-493B-188DC700AFAE}"/>
              </a:ext>
            </a:extLst>
          </p:cNvPr>
          <p:cNvSpPr txBox="1"/>
          <p:nvPr/>
        </p:nvSpPr>
        <p:spPr>
          <a:xfrm>
            <a:off x="4748692" y="2585231"/>
            <a:ext cx="2934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a 4-point stencil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97F5A2-4CA4-CAFF-A67E-E3B95DD92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706" y="2961728"/>
            <a:ext cx="970750" cy="9707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/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0085155-9776-5628-AC7C-0E24C456238E}"/>
              </a:ext>
            </a:extLst>
          </p:cNvPr>
          <p:cNvSpPr txBox="1"/>
          <p:nvPr/>
        </p:nvSpPr>
        <p:spPr>
          <a:xfrm>
            <a:off x="4856814" y="5114046"/>
            <a:ext cx="2502340" cy="408623"/>
          </a:xfrm>
          <a:prstGeom prst="wedgeRoundRectCallout">
            <a:avLst>
              <a:gd name="adj1" fmla="val 48345"/>
              <a:gd name="adj2" fmla="val 11033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Can we abstract more?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C73A5AD1-03E6-CD93-3B91-D5DCCF46A030}"/>
              </a:ext>
            </a:extLst>
          </p:cNvPr>
          <p:cNvSpPr/>
          <p:nvPr/>
        </p:nvSpPr>
        <p:spPr>
          <a:xfrm rot="5400000">
            <a:off x="3005245" y="3836828"/>
            <a:ext cx="144035" cy="909386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9BD25-7E57-6F2D-B662-1ACB582FE972}"/>
              </a:ext>
            </a:extLst>
          </p:cNvPr>
          <p:cNvSpPr txBox="1"/>
          <p:nvPr/>
        </p:nvSpPr>
        <p:spPr>
          <a:xfrm>
            <a:off x="2512745" y="4407024"/>
            <a:ext cx="1185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New state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A48C4219-DFA0-5DD8-DCCF-EA1DB2C00267}"/>
              </a:ext>
            </a:extLst>
          </p:cNvPr>
          <p:cNvSpPr/>
          <p:nvPr/>
        </p:nvSpPr>
        <p:spPr>
          <a:xfrm rot="5400000">
            <a:off x="6489054" y="1880602"/>
            <a:ext cx="144035" cy="4821839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F2AB9-0539-93C8-AA71-D93418571E47}"/>
              </a:ext>
            </a:extLst>
          </p:cNvPr>
          <p:cNvSpPr txBox="1"/>
          <p:nvPr/>
        </p:nvSpPr>
        <p:spPr>
          <a:xfrm>
            <a:off x="5184980" y="4407024"/>
            <a:ext cx="2882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Current states of neighbors</a:t>
            </a:r>
          </a:p>
        </p:txBody>
      </p:sp>
    </p:spTree>
    <p:extLst>
      <p:ext uri="{BB962C8B-B14F-4D97-AF65-F5344CB8AC3E}">
        <p14:creationId xmlns:p14="http://schemas.microsoft.com/office/powerpoint/2010/main" val="2630539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1AA58-A4AC-2579-03F2-ED09FAFE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A40584-E9E1-E05A-DDA2-513A6AB4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Cellular automata abstraction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693EDC-6C75-05FA-FE9F-559117D7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F34F27-B556-2C57-69D5-4A1495988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16</a:t>
            </a:fld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E75B41-9FF8-203F-11A5-F4CDFE22F9AB}"/>
              </a:ext>
            </a:extLst>
          </p:cNvPr>
          <p:cNvSpPr txBox="1"/>
          <p:nvPr/>
        </p:nvSpPr>
        <p:spPr>
          <a:xfrm>
            <a:off x="118662" y="3816761"/>
            <a:ext cx="5225579" cy="25871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current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||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EFD203-2857-53F1-07FC-94B8A741639D}"/>
              </a:ext>
            </a:extLst>
          </p:cNvPr>
          <p:cNvSpPr txBox="1"/>
          <p:nvPr/>
        </p:nvSpPr>
        <p:spPr>
          <a:xfrm>
            <a:off x="1248256" y="3381228"/>
            <a:ext cx="2966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Update rule for Game of Life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7A28B7-7C76-0D69-D0F9-D698CC5C32FC}"/>
              </a:ext>
            </a:extLst>
          </p:cNvPr>
          <p:cNvSpPr txBox="1"/>
          <p:nvPr/>
        </p:nvSpPr>
        <p:spPr>
          <a:xfrm>
            <a:off x="5992066" y="4234086"/>
            <a:ext cx="6096000" cy="17525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using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gol_rule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endParaRPr lang="en-US" sz="160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 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FDFC3A0-3DF2-3607-D2AB-F7A7F82FA0AC}"/>
              </a:ext>
            </a:extLst>
          </p:cNvPr>
          <p:cNvCxnSpPr>
            <a:cxnSpLocks/>
            <a:stCxn id="31" idx="3"/>
            <a:endCxn id="46" idx="1"/>
          </p:cNvCxnSpPr>
          <p:nvPr/>
        </p:nvCxnSpPr>
        <p:spPr>
          <a:xfrm flipV="1">
            <a:off x="5344241" y="5110352"/>
            <a:ext cx="6478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0BF9745-75CB-C855-CD93-BB61357ED979}"/>
              </a:ext>
            </a:extLst>
          </p:cNvPr>
          <p:cNvSpPr txBox="1"/>
          <p:nvPr/>
        </p:nvSpPr>
        <p:spPr>
          <a:xfrm>
            <a:off x="7256341" y="3780904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  <p:pic>
        <p:nvPicPr>
          <p:cNvPr id="16" name="Picture 15" descr="Glider Gun">
            <a:extLst>
              <a:ext uri="{FF2B5EF4-FFF2-40B4-BE49-F238E27FC236}">
                <a16:creationId xmlns:a16="http://schemas.microsoft.com/office/drawing/2014/main" id="{82C71BC4-EA06-7F93-2807-F6C8B43B1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839" y="1823089"/>
            <a:ext cx="1944670" cy="14001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7652A6-37F0-2CC7-1FD2-E46D9878EE9E}"/>
              </a:ext>
            </a:extLst>
          </p:cNvPr>
          <p:cNvSpPr txBox="1"/>
          <p:nvPr/>
        </p:nvSpPr>
        <p:spPr>
          <a:xfrm>
            <a:off x="4563608" y="1387557"/>
            <a:ext cx="2637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Discrete cell state space</a:t>
            </a:r>
          </a:p>
        </p:txBody>
      </p:sp>
    </p:spTree>
    <p:extLst>
      <p:ext uri="{BB962C8B-B14F-4D97-AF65-F5344CB8AC3E}">
        <p14:creationId xmlns:p14="http://schemas.microsoft.com/office/powerpoint/2010/main" val="166418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684863-8FF8-82FF-0851-73946F13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5ED14-BD2B-929B-4FDF-EB4408FE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17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3639C-7B66-77F3-B03F-A4476642A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47" y="2525655"/>
            <a:ext cx="8197106" cy="2898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367950-8D7A-8F93-A9DA-64D5AC81F27E}"/>
              </a:ext>
            </a:extLst>
          </p:cNvPr>
          <p:cNvSpPr txBox="1"/>
          <p:nvPr/>
        </p:nvSpPr>
        <p:spPr>
          <a:xfrm>
            <a:off x="3339292" y="620089"/>
            <a:ext cx="5513417" cy="1545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using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400" noProof="0" dirty="0" err="1">
                <a:solidFill>
                  <a:srgbClr val="267F99"/>
                </a:solidFill>
                <a:latin typeface="Fira Code" panose="020B0809050000020004" pitchFamily="49" charset="0"/>
              </a:rPr>
              <a:t>gol_rule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b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</a:b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 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207B99-7626-B9B7-5B84-847CAB7644E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096001" y="2165192"/>
            <a:ext cx="2362720" cy="91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9F90E6E-4EBE-508F-0BBE-D1A1083C436D}"/>
              </a:ext>
            </a:extLst>
          </p:cNvPr>
          <p:cNvSpPr txBox="1"/>
          <p:nvPr/>
        </p:nvSpPr>
        <p:spPr>
          <a:xfrm>
            <a:off x="4263414" y="211557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</p:spTree>
    <p:extLst>
      <p:ext uri="{BB962C8B-B14F-4D97-AF65-F5344CB8AC3E}">
        <p14:creationId xmlns:p14="http://schemas.microsoft.com/office/powerpoint/2010/main" val="2853544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9CE6-2253-EE24-67C6-8EB494EB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58269-9358-8822-BB45-2512FA848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620" y="1524433"/>
            <a:ext cx="11570760" cy="426953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CD936-56E6-AA18-96C2-8D61C51D1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2F5E9-57E3-4F5E-A80F-B6C9DE65874A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20B34-8FD2-D44C-9B00-2701B9B94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18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DA207-69B2-929A-62C9-4DE6DBD7195D}"/>
              </a:ext>
            </a:extLst>
          </p:cNvPr>
          <p:cNvSpPr txBox="1"/>
          <p:nvPr/>
        </p:nvSpPr>
        <p:spPr>
          <a:xfrm>
            <a:off x="2323429" y="5862669"/>
            <a:ext cx="7545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Comparison of GPU-parallelized computation of various cellular automata</a:t>
            </a:r>
            <a:br>
              <a:rPr lang="en-US" noProof="0" dirty="0"/>
            </a:br>
            <a:r>
              <a:rPr lang="en-US" i="1" noProof="0" dirty="0"/>
              <a:t>baseline encodes each cell as a single machine word</a:t>
            </a:r>
          </a:p>
        </p:txBody>
      </p:sp>
    </p:spTree>
    <p:extLst>
      <p:ext uri="{BB962C8B-B14F-4D97-AF65-F5344CB8AC3E}">
        <p14:creationId xmlns:p14="http://schemas.microsoft.com/office/powerpoint/2010/main" val="1310412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F0FD2-3D3D-E4D8-0BE2-C6EA0F656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Abstractions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92FA72-0853-FBD0-690C-F10CAE3E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Can transform layouts &amp; traversals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Parallel computing CPU, GPU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D</a:t>
            </a:r>
            <a:r>
              <a:rPr lang="en-US" noProof="0" dirty="0" err="1"/>
              <a:t>istributed</a:t>
            </a:r>
            <a:r>
              <a:rPr lang="en-US" noProof="0" dirty="0"/>
              <a:t> computing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Encoding &amp; Evaluation  in Cellular Automata</a:t>
            </a:r>
          </a:p>
          <a:p>
            <a:pPr marL="0" indent="0">
              <a:buNone/>
            </a:pPr>
            <a:r>
              <a:rPr lang="en-US" noProof="0" dirty="0"/>
              <a:t>Improve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Simplicity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Flexibility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Automatability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8AEDC-D367-7811-10AA-6C0AA66C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F4037-5269-4CAD-BC9E-C76ACF79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8CF35CC-A730-C361-5E7C-62A784D86C38}"/>
              </a:ext>
            </a:extLst>
          </p:cNvPr>
          <p:cNvSpPr/>
          <p:nvPr/>
        </p:nvSpPr>
        <p:spPr>
          <a:xfrm>
            <a:off x="3650619" y="4411455"/>
            <a:ext cx="209405" cy="106098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bot with solid fill">
            <a:extLst>
              <a:ext uri="{FF2B5EF4-FFF2-40B4-BE49-F238E27FC236}">
                <a16:creationId xmlns:a16="http://schemas.microsoft.com/office/drawing/2014/main" id="{DC3A6F04-0374-7B2A-6A87-FEA92F4C8D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138648"/>
            <a:ext cx="1788083" cy="178808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7A7546-AB4B-B0AA-3591-AB55403B6F68}"/>
              </a:ext>
            </a:extLst>
          </p:cNvPr>
          <p:cNvCxnSpPr>
            <a:cxnSpLocks/>
          </p:cNvCxnSpPr>
          <p:nvPr/>
        </p:nvCxnSpPr>
        <p:spPr>
          <a:xfrm>
            <a:off x="3922846" y="4941946"/>
            <a:ext cx="2404081" cy="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EEA29218-CBAB-5518-9C50-26809DEFD9F4}"/>
              </a:ext>
            </a:extLst>
          </p:cNvPr>
          <p:cNvSpPr/>
          <p:nvPr/>
        </p:nvSpPr>
        <p:spPr>
          <a:xfrm>
            <a:off x="7329742" y="3807728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 am an LLM</a:t>
            </a:r>
            <a:br>
              <a:rPr lang="en-US" dirty="0"/>
            </a:br>
            <a:r>
              <a:rPr lang="en-US" dirty="0"/>
              <a:t>and I 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3259765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CED2-BEE7-D354-CAE7-2D1D55708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in HPC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38426C-F143-A522-DD5E-6B4D3FEAE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LLMs capable of writing simple code</a:t>
            </a:r>
          </a:p>
          <a:p>
            <a:pPr lvl="1"/>
            <a:r>
              <a:rPr lang="en-US" noProof="0" dirty="0"/>
              <a:t>Data visualization, simple scripting, …</a:t>
            </a:r>
          </a:p>
          <a:p>
            <a:r>
              <a:rPr lang="en-US" noProof="0" dirty="0"/>
              <a:t>But not high-</a:t>
            </a:r>
            <a:r>
              <a:rPr lang="en-US" noProof="0" dirty="0" err="1"/>
              <a:t>lvl</a:t>
            </a:r>
            <a:r>
              <a:rPr lang="en-US" noProof="0" dirty="0"/>
              <a:t> decisions and parallel algorithms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What helps LLMs generate better code?</a:t>
            </a:r>
          </a:p>
          <a:p>
            <a:pPr lvl="1"/>
            <a:r>
              <a:rPr lang="en-US" noProof="0" dirty="0"/>
              <a:t>And what doesn’t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CC059B-2575-F82C-34AC-4698211F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6853-0028-4549-B0D0-953613129C64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1596-60B1-E40A-3E74-4B0256A54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20</a:t>
            </a:fld>
            <a:endParaRPr lang="en-US" noProof="0" dirty="0"/>
          </a:p>
        </p:txBody>
      </p:sp>
      <p:pic>
        <p:nvPicPr>
          <p:cNvPr id="11" name="Graphic 10" descr="Robot with solid fill">
            <a:extLst>
              <a:ext uri="{FF2B5EF4-FFF2-40B4-BE49-F238E27FC236}">
                <a16:creationId xmlns:a16="http://schemas.microsoft.com/office/drawing/2014/main" id="{41CECEA7-3178-756D-41C4-D6B0C12E3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046" y="4035437"/>
            <a:ext cx="1788083" cy="1788083"/>
          </a:xfrm>
          <a:prstGeom prst="rect">
            <a:avLst/>
          </a:prstGeom>
        </p:spPr>
      </p:pic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AE7025AB-C2BF-48E9-6016-7ED3E2EDADB6}"/>
              </a:ext>
            </a:extLst>
          </p:cNvPr>
          <p:cNvSpPr/>
          <p:nvPr/>
        </p:nvSpPr>
        <p:spPr>
          <a:xfrm>
            <a:off x="9423788" y="3704517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 am an LLM</a:t>
            </a:r>
            <a:br>
              <a:rPr lang="en-US" dirty="0"/>
            </a:br>
            <a:r>
              <a:rPr lang="en-US" dirty="0"/>
              <a:t>and I 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254085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1D975-7AEF-41C8-9128-2012304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8EF9FE-8675-53C4-C0C8-6B18ACCF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975AD-7C47-E1A4-2296-34363FEF7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21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85388B-D88A-850D-5EA1-512834C22715}"/>
              </a:ext>
            </a:extLst>
          </p:cNvPr>
          <p:cNvSpPr txBox="1"/>
          <p:nvPr/>
        </p:nvSpPr>
        <p:spPr>
          <a:xfrm>
            <a:off x="1913016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4E4EB-CC11-6E9C-D81F-7F68194B11AB}"/>
              </a:ext>
            </a:extLst>
          </p:cNvPr>
          <p:cNvSpPr txBox="1"/>
          <p:nvPr/>
        </p:nvSpPr>
        <p:spPr>
          <a:xfrm>
            <a:off x="40623" y="2778100"/>
            <a:ext cx="4423175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Implement efficient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0E3632-2126-AA09-4A31-A863B36D696D}"/>
              </a:ext>
            </a:extLst>
          </p:cNvPr>
          <p:cNvCxnSpPr>
            <a:cxnSpLocks/>
            <a:stCxn id="17" idx="4"/>
            <a:endCxn id="12" idx="0"/>
          </p:cNvCxnSpPr>
          <p:nvPr/>
        </p:nvCxnSpPr>
        <p:spPr>
          <a:xfrm>
            <a:off x="2252211" y="3297451"/>
            <a:ext cx="1" cy="540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BE48174-A02F-06F5-85D2-5A536FDEDB7C}"/>
              </a:ext>
            </a:extLst>
          </p:cNvPr>
          <p:cNvSpPr/>
          <p:nvPr/>
        </p:nvSpPr>
        <p:spPr>
          <a:xfrm>
            <a:off x="923021" y="5012421"/>
            <a:ext cx="2658380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Not very good code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2D887C2-E3E4-CB89-71D1-28346C510357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2252211" y="4360705"/>
            <a:ext cx="1" cy="6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D4E8062-9D67-E981-C7E7-CB3905FE099A}"/>
              </a:ext>
            </a:extLst>
          </p:cNvPr>
          <p:cNvSpPr txBox="1"/>
          <p:nvPr/>
        </p:nvSpPr>
        <p:spPr>
          <a:xfrm>
            <a:off x="6280056" y="387348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AD4EE1-A685-999A-4B14-45D9D5B9DB08}"/>
              </a:ext>
            </a:extLst>
          </p:cNvPr>
          <p:cNvSpPr txBox="1"/>
          <p:nvPr/>
        </p:nvSpPr>
        <p:spPr>
          <a:xfrm>
            <a:off x="5029846" y="2778099"/>
            <a:ext cx="3178813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Here are some hints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2A4212-A4DA-F723-BE49-8CBB358B83EE}"/>
              </a:ext>
            </a:extLst>
          </p:cNvPr>
          <p:cNvCxnSpPr>
            <a:cxnSpLocks/>
            <a:stCxn id="30" idx="4"/>
            <a:endCxn id="29" idx="0"/>
          </p:cNvCxnSpPr>
          <p:nvPr/>
        </p:nvCxnSpPr>
        <p:spPr>
          <a:xfrm flipH="1">
            <a:off x="6619252" y="3297450"/>
            <a:ext cx="1" cy="576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E91551C-845A-9444-C470-26D5FFE36AB4}"/>
              </a:ext>
            </a:extLst>
          </p:cNvPr>
          <p:cNvSpPr/>
          <p:nvPr/>
        </p:nvSpPr>
        <p:spPr>
          <a:xfrm>
            <a:off x="5350928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Better code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C963EE-C48C-9FB8-06B7-25587D005F38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flipH="1">
            <a:off x="6619251" y="4396702"/>
            <a:ext cx="1" cy="56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AD29855-3079-7844-981D-E8EB78A92E21}"/>
              </a:ext>
            </a:extLst>
          </p:cNvPr>
          <p:cNvSpPr txBox="1"/>
          <p:nvPr/>
        </p:nvSpPr>
        <p:spPr>
          <a:xfrm>
            <a:off x="9269872" y="2778099"/>
            <a:ext cx="2754452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Follow this design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0AD894-F06B-81D0-4862-B5F5392198BC}"/>
              </a:ext>
            </a:extLst>
          </p:cNvPr>
          <p:cNvSpPr/>
          <p:nvPr/>
        </p:nvSpPr>
        <p:spPr>
          <a:xfrm>
            <a:off x="9378775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Efficient code?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2E30FE-1D27-B17D-34A3-8D95153D7244}"/>
              </a:ext>
            </a:extLst>
          </p:cNvPr>
          <p:cNvSpPr txBox="1"/>
          <p:nvPr/>
        </p:nvSpPr>
        <p:spPr>
          <a:xfrm>
            <a:off x="10307900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B02E96B-466B-BBC3-B8FB-DB7A29A2BB81}"/>
              </a:ext>
            </a:extLst>
          </p:cNvPr>
          <p:cNvCxnSpPr>
            <a:stCxn id="47" idx="4"/>
            <a:endCxn id="63" idx="0"/>
          </p:cNvCxnSpPr>
          <p:nvPr/>
        </p:nvCxnSpPr>
        <p:spPr>
          <a:xfrm flipH="1">
            <a:off x="10647096" y="3297450"/>
            <a:ext cx="2" cy="54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4C375B0-66D1-4094-A4CE-A46305DDB331}"/>
              </a:ext>
            </a:extLst>
          </p:cNvPr>
          <p:cNvCxnSpPr>
            <a:stCxn id="63" idx="2"/>
            <a:endCxn id="61" idx="0"/>
          </p:cNvCxnSpPr>
          <p:nvPr/>
        </p:nvCxnSpPr>
        <p:spPr>
          <a:xfrm>
            <a:off x="10647096" y="4360705"/>
            <a:ext cx="2" cy="602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5CEB7EB-9DDD-0346-0151-E8B9C95212BD}"/>
              </a:ext>
            </a:extLst>
          </p:cNvPr>
          <p:cNvSpPr txBox="1"/>
          <p:nvPr/>
        </p:nvSpPr>
        <p:spPr>
          <a:xfrm>
            <a:off x="4244813" y="40273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F3DBF-1BFB-DB5C-2306-CC6096186851}"/>
              </a:ext>
            </a:extLst>
          </p:cNvPr>
          <p:cNvSpPr txBox="1"/>
          <p:nvPr/>
        </p:nvSpPr>
        <p:spPr>
          <a:xfrm>
            <a:off x="8611852" y="409909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45250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0028-B1B7-95DE-0316-80DF581C1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4BB94-B0A6-13BF-C326-F04334E31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D361D2-7335-D7E3-A396-473E3CB6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6A58D-5BC7-D48F-CB5B-5600D453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22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1C4562-43FE-7269-9634-084833AC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282" y="1690688"/>
            <a:ext cx="1103155" cy="858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E060F8-4A23-3FC8-95D9-9B0E1AEA2785}"/>
              </a:ext>
            </a:extLst>
          </p:cNvPr>
          <p:cNvSpPr txBox="1"/>
          <p:nvPr/>
        </p:nvSpPr>
        <p:spPr>
          <a:xfrm>
            <a:off x="2823231" y="239862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pic>
        <p:nvPicPr>
          <p:cNvPr id="8" name="Picture 7" descr="Glider Gun">
            <a:extLst>
              <a:ext uri="{FF2B5EF4-FFF2-40B4-BE49-F238E27FC236}">
                <a16:creationId xmlns:a16="http://schemas.microsoft.com/office/drawing/2014/main" id="{007EFFA6-94C3-4A53-EC11-7EEAAEB31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644" y="1693284"/>
            <a:ext cx="1103155" cy="7942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A96B6C-4F97-6D9F-8D10-DDB95932C78B}"/>
              </a:ext>
            </a:extLst>
          </p:cNvPr>
          <p:cNvSpPr txBox="1"/>
          <p:nvPr/>
        </p:nvSpPr>
        <p:spPr>
          <a:xfrm>
            <a:off x="6354787" y="2487555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859A4B-B9FE-9929-891F-052709D3D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9099" y="1690688"/>
            <a:ext cx="1103155" cy="7968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CCE55D-6536-BE73-9343-84038C38E1D7}"/>
              </a:ext>
            </a:extLst>
          </p:cNvPr>
          <p:cNvSpPr txBox="1"/>
          <p:nvPr/>
        </p:nvSpPr>
        <p:spPr>
          <a:xfrm>
            <a:off x="9939099" y="2484959"/>
            <a:ext cx="1206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K-Nearest</a:t>
            </a:r>
            <a:br>
              <a:rPr lang="en-US" noProof="0" dirty="0"/>
            </a:br>
            <a:r>
              <a:rPr lang="en-US" noProof="0" dirty="0"/>
              <a:t>Neighbors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57BF6A-0432-7C47-109B-427D20671C0F}"/>
              </a:ext>
            </a:extLst>
          </p:cNvPr>
          <p:cNvSpPr txBox="1"/>
          <p:nvPr/>
        </p:nvSpPr>
        <p:spPr>
          <a:xfrm>
            <a:off x="1473598" y="3557054"/>
            <a:ext cx="3916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Privatization in GPU “shared memory”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D8334-0385-0BA4-2B6F-D1FA61D876C4}"/>
              </a:ext>
            </a:extLst>
          </p:cNvPr>
          <p:cNvSpPr txBox="1"/>
          <p:nvPr/>
        </p:nvSpPr>
        <p:spPr>
          <a:xfrm>
            <a:off x="6032039" y="3557054"/>
            <a:ext cx="2082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</a:t>
            </a:r>
            <a:r>
              <a:rPr lang="en-US" noProof="0" dirty="0" err="1"/>
              <a:t>lvl</a:t>
            </a:r>
            <a:r>
              <a:rPr lang="en-US" noProof="0" dirty="0"/>
              <a:t> vectorization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EBAD4A-8A58-61C5-702D-D937D74776C7}"/>
              </a:ext>
            </a:extLst>
          </p:cNvPr>
          <p:cNvSpPr txBox="1"/>
          <p:nvPr/>
        </p:nvSpPr>
        <p:spPr>
          <a:xfrm>
            <a:off x="8950703" y="3557054"/>
            <a:ext cx="3079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Inter-thread communication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72CA7-7292-1BA8-43EB-1AB22F03FF4B}"/>
              </a:ext>
            </a:extLst>
          </p:cNvPr>
          <p:cNvSpPr txBox="1"/>
          <p:nvPr/>
        </p:nvSpPr>
        <p:spPr>
          <a:xfrm>
            <a:off x="-14887" y="4530820"/>
            <a:ext cx="1706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Just implement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AF86EE-6508-A108-73BB-E3A6074BD8B8}"/>
              </a:ext>
            </a:extLst>
          </p:cNvPr>
          <p:cNvSpPr txBox="1"/>
          <p:nvPr/>
        </p:nvSpPr>
        <p:spPr>
          <a:xfrm>
            <a:off x="3092662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AEC432-25D7-7B96-183C-81D25BD15AD1}"/>
              </a:ext>
            </a:extLst>
          </p:cNvPr>
          <p:cNvSpPr txBox="1"/>
          <p:nvPr/>
        </p:nvSpPr>
        <p:spPr>
          <a:xfrm>
            <a:off x="6734025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047493-C970-CEB3-77AE-369B5263B184}"/>
              </a:ext>
            </a:extLst>
          </p:cNvPr>
          <p:cNvSpPr txBox="1"/>
          <p:nvPr/>
        </p:nvSpPr>
        <p:spPr>
          <a:xfrm>
            <a:off x="1015148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⚠️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5CABB-484B-5D20-728D-363D4CA9B715}"/>
              </a:ext>
            </a:extLst>
          </p:cNvPr>
          <p:cNvSpPr txBox="1"/>
          <p:nvPr/>
        </p:nvSpPr>
        <p:spPr>
          <a:xfrm>
            <a:off x="210788" y="5189669"/>
            <a:ext cx="1187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With hints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8F57D5-3486-D39C-3F1A-AF9294B9546F}"/>
              </a:ext>
            </a:extLst>
          </p:cNvPr>
          <p:cNvSpPr txBox="1"/>
          <p:nvPr/>
        </p:nvSpPr>
        <p:spPr>
          <a:xfrm>
            <a:off x="358140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7057C3-CFAD-1A34-AF4A-6384A0FA4741}"/>
              </a:ext>
            </a:extLst>
          </p:cNvPr>
          <p:cNvSpPr txBox="1"/>
          <p:nvPr/>
        </p:nvSpPr>
        <p:spPr>
          <a:xfrm>
            <a:off x="7188976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AC2113-CF34-9C42-B33D-D4AC898FA2ED}"/>
              </a:ext>
            </a:extLst>
          </p:cNvPr>
          <p:cNvSpPr txBox="1"/>
          <p:nvPr/>
        </p:nvSpPr>
        <p:spPr>
          <a:xfrm>
            <a:off x="1060925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7B5B0-DCBD-C30B-CC27-B13BCB58D132}"/>
              </a:ext>
            </a:extLst>
          </p:cNvPr>
          <p:cNvSpPr txBox="1"/>
          <p:nvPr/>
        </p:nvSpPr>
        <p:spPr>
          <a:xfrm>
            <a:off x="3581400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D1AA0A-0636-4E65-D880-856193D7CD72}"/>
              </a:ext>
            </a:extLst>
          </p:cNvPr>
          <p:cNvSpPr txBox="1"/>
          <p:nvPr/>
        </p:nvSpPr>
        <p:spPr>
          <a:xfrm>
            <a:off x="3092662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E070EA-6968-5971-34E8-0B4B237BD0C6}"/>
              </a:ext>
            </a:extLst>
          </p:cNvPr>
          <p:cNvSpPr txBox="1"/>
          <p:nvPr/>
        </p:nvSpPr>
        <p:spPr>
          <a:xfrm>
            <a:off x="7219369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90C143-2BBA-5FC8-A7A1-1702F7B36EE9}"/>
              </a:ext>
            </a:extLst>
          </p:cNvPr>
          <p:cNvSpPr txBox="1"/>
          <p:nvPr/>
        </p:nvSpPr>
        <p:spPr>
          <a:xfrm>
            <a:off x="6730631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5838EE-B8C5-9F68-CADA-001435EE4B34}"/>
              </a:ext>
            </a:extLst>
          </p:cNvPr>
          <p:cNvSpPr txBox="1"/>
          <p:nvPr/>
        </p:nvSpPr>
        <p:spPr>
          <a:xfrm>
            <a:off x="10393195" y="5080461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18E619-3F87-FB80-854F-4DCF9530E2F1}"/>
              </a:ext>
            </a:extLst>
          </p:cNvPr>
          <p:cNvSpPr txBox="1"/>
          <p:nvPr/>
        </p:nvSpPr>
        <p:spPr>
          <a:xfrm>
            <a:off x="-62048" y="584851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Design direction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7F903-8467-48BA-F019-3DC25BE369AC}"/>
              </a:ext>
            </a:extLst>
          </p:cNvPr>
          <p:cNvSpPr txBox="1"/>
          <p:nvPr/>
        </p:nvSpPr>
        <p:spPr>
          <a:xfrm>
            <a:off x="3581400" y="5653738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1696E4-B0FB-C0DF-97F3-C5C71AD6EE3C}"/>
              </a:ext>
            </a:extLst>
          </p:cNvPr>
          <p:cNvSpPr txBox="1"/>
          <p:nvPr/>
        </p:nvSpPr>
        <p:spPr>
          <a:xfrm>
            <a:off x="3092662" y="56946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48268A-4787-4053-3F68-3D86F635C60E}"/>
              </a:ext>
            </a:extLst>
          </p:cNvPr>
          <p:cNvSpPr txBox="1"/>
          <p:nvPr/>
        </p:nvSpPr>
        <p:spPr>
          <a:xfrm>
            <a:off x="7219369" y="561241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2E43A5-314A-E8F9-B774-8DD706E19EC8}"/>
              </a:ext>
            </a:extLst>
          </p:cNvPr>
          <p:cNvSpPr txBox="1"/>
          <p:nvPr/>
        </p:nvSpPr>
        <p:spPr>
          <a:xfrm>
            <a:off x="6730631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6BAB42-31A3-D342-F6EC-828DF204BB89}"/>
              </a:ext>
            </a:extLst>
          </p:cNvPr>
          <p:cNvSpPr txBox="1"/>
          <p:nvPr/>
        </p:nvSpPr>
        <p:spPr>
          <a:xfrm>
            <a:off x="10393195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1867703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0E109-C468-9CAD-7328-CB565CAB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9A852-DFA7-BB45-D52F-5ADF7BD5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submission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  <a:endParaRPr lang="en-US" sz="24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A81DD4-BEB3-BF92-82A9-0AB5CDC695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8" r="47262"/>
          <a:stretch>
            <a:fillRect/>
          </a:stretch>
        </p:blipFill>
        <p:spPr>
          <a:xfrm>
            <a:off x="408393" y="2599181"/>
            <a:ext cx="4680138" cy="369223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6E2995D-9749-CB57-94D9-B9971BDA4A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830" t="5264" r="1424" b="4017"/>
          <a:stretch>
            <a:fillRect/>
          </a:stretch>
        </p:blipFill>
        <p:spPr>
          <a:xfrm>
            <a:off x="5934239" y="2761577"/>
            <a:ext cx="5849368" cy="29944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3E9B5A-3051-3FC5-830E-F33DF82F4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0B554-C7EC-EA4A-7377-16FE1E7F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23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4F460-314F-F2C1-B648-8D4D93BCB4E5}"/>
              </a:ext>
            </a:extLst>
          </p:cNvPr>
          <p:cNvSpPr txBox="1"/>
          <p:nvPr/>
        </p:nvSpPr>
        <p:spPr>
          <a:xfrm>
            <a:off x="2364144" y="2229849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B23757-4EAA-DF6D-49E2-44BDA612747C}"/>
              </a:ext>
            </a:extLst>
          </p:cNvPr>
          <p:cNvSpPr txBox="1"/>
          <p:nvPr/>
        </p:nvSpPr>
        <p:spPr>
          <a:xfrm>
            <a:off x="8391244" y="2229849"/>
            <a:ext cx="1436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4D55C3-3077-8567-A06E-0244BA5AA6CA}"/>
              </a:ext>
            </a:extLst>
          </p:cNvPr>
          <p:cNvSpPr txBox="1"/>
          <p:nvPr/>
        </p:nvSpPr>
        <p:spPr>
          <a:xfrm>
            <a:off x="236845" y="6084477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FC1A91-D2F9-8087-5FD2-A346BE6173B0}"/>
              </a:ext>
            </a:extLst>
          </p:cNvPr>
          <p:cNvSpPr txBox="1"/>
          <p:nvPr/>
        </p:nvSpPr>
        <p:spPr>
          <a:xfrm>
            <a:off x="6189752" y="5756063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07166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978C7-4C18-1E14-E39F-1667DC67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D726E-1126-5E1F-5D98-D610109C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at conference</a:t>
            </a:r>
            <a:br>
              <a:rPr lang="en-US" noProof="0" dirty="0"/>
            </a:br>
            <a:r>
              <a:rPr lang="en-US" sz="2400" i="1" noProof="0" dirty="0"/>
              <a:t>OpenAI GPT-5</a:t>
            </a:r>
            <a:endParaRPr lang="en-US" sz="2400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A37D793-DB98-C60F-2025-13AB50A6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54734"/>
            <a:ext cx="4620279" cy="3358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D8561C-C389-8CD1-355F-3F17053E9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521" y="2654733"/>
            <a:ext cx="4620279" cy="335894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2F9E9-446F-AB04-F509-E2224D7D2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E7C3-3B23-4ED6-C275-8801DBA60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45328-838A-47CE-23A0-47149F269933}"/>
              </a:ext>
            </a:extLst>
          </p:cNvPr>
          <p:cNvSpPr txBox="1"/>
          <p:nvPr/>
        </p:nvSpPr>
        <p:spPr>
          <a:xfrm>
            <a:off x="2569508" y="2285401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974EF-A245-0905-3B10-966BC4F2328D}"/>
              </a:ext>
            </a:extLst>
          </p:cNvPr>
          <p:cNvSpPr txBox="1"/>
          <p:nvPr/>
        </p:nvSpPr>
        <p:spPr>
          <a:xfrm>
            <a:off x="8083017" y="22854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870EA-9FA0-3527-D9FC-4D14AAF90D3C}"/>
              </a:ext>
            </a:extLst>
          </p:cNvPr>
          <p:cNvSpPr txBox="1"/>
          <p:nvPr/>
        </p:nvSpPr>
        <p:spPr>
          <a:xfrm>
            <a:off x="299642" y="6013676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A3F10-024D-07D5-20F8-E8C233912E18}"/>
              </a:ext>
            </a:extLst>
          </p:cNvPr>
          <p:cNvSpPr txBox="1"/>
          <p:nvPr/>
        </p:nvSpPr>
        <p:spPr>
          <a:xfrm>
            <a:off x="6350972" y="5987018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573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648C3-E8A8-80F5-FFF8-D207F8FAB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156B7-FB64-2477-4F0F-ECE30CB0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8/29/2026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F62A-6F36-4AFB-C34B-B5CD6527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108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5571F21-827D-539D-D4E5-DB1BB7B71F43}"/>
              </a:ext>
            </a:extLst>
          </p:cNvPr>
          <p:cNvGrpSpPr/>
          <p:nvPr/>
        </p:nvGrpSpPr>
        <p:grpSpPr>
          <a:xfrm>
            <a:off x="2579748" y="2908938"/>
            <a:ext cx="6725589" cy="2229161"/>
            <a:chOff x="2579748" y="2908938"/>
            <a:chExt cx="6725589" cy="222916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D4C5F21-8011-3C8D-D688-5EAD5518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9748" y="2908938"/>
              <a:ext cx="6725589" cy="2229161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B03CF7-C5DD-D42F-BE83-737ACAF8269B}"/>
                </a:ext>
              </a:extLst>
            </p:cNvPr>
            <p:cNvSpPr/>
            <p:nvPr/>
          </p:nvSpPr>
          <p:spPr>
            <a:xfrm>
              <a:off x="4127127" y="3526657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BA743B9-2D84-0FA8-5F12-F601E209A913}"/>
                </a:ext>
              </a:extLst>
            </p:cNvPr>
            <p:cNvSpPr/>
            <p:nvPr/>
          </p:nvSpPr>
          <p:spPr>
            <a:xfrm>
              <a:off x="7232277" y="374806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B153F27-549E-59FD-49DD-71B68B6AF1E2}"/>
                </a:ext>
              </a:extLst>
            </p:cNvPr>
            <p:cNvSpPr/>
            <p:nvPr/>
          </p:nvSpPr>
          <p:spPr>
            <a:xfrm>
              <a:off x="2832521" y="376711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0C2664-DC88-E304-B076-8CF690BA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CFC6B-07B4-BDEC-76A2-BB27FFB2C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3A756-8275-BE08-DCD4-BFA841AF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26</a:t>
            </a:fld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497BC-6D29-1801-EA64-2882313902E4}"/>
              </a:ext>
            </a:extLst>
          </p:cNvPr>
          <p:cNvSpPr txBox="1"/>
          <p:nvPr/>
        </p:nvSpPr>
        <p:spPr>
          <a:xfrm>
            <a:off x="3818164" y="5562558"/>
            <a:ext cx="4555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Developer guide + abstraction-specific hints</a:t>
            </a:r>
          </a:p>
          <a:p>
            <a:pPr algn="ctr"/>
            <a:r>
              <a:rPr lang="en-US" i="1" noProof="0" dirty="0">
                <a:solidFill>
                  <a:schemeClr val="bg2">
                    <a:lumMod val="50000"/>
                  </a:schemeClr>
                </a:solidFill>
              </a:rPr>
              <a:t>(using OpenAI prompting guidelines)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2299F2-DF0C-D427-2C21-1F633FD84712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292794" y="4292794"/>
            <a:ext cx="1803206" cy="1269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483F73-57FD-ABD7-CCEB-C0641F3C7A69}"/>
              </a:ext>
            </a:extLst>
          </p:cNvPr>
          <p:cNvCxnSpPr>
            <a:stCxn id="7" idx="0"/>
          </p:cNvCxnSpPr>
          <p:nvPr/>
        </p:nvCxnSpPr>
        <p:spPr>
          <a:xfrm flipV="1">
            <a:off x="6096000" y="4544079"/>
            <a:ext cx="1030736" cy="1018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C0D334-1CA1-478B-E2DF-FDBB97BA6ED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4127128" y="2906562"/>
            <a:ext cx="0" cy="62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B58845-D5C0-EEBE-C5E3-557A6BA41D27}"/>
              </a:ext>
            </a:extLst>
          </p:cNvPr>
          <p:cNvSpPr txBox="1"/>
          <p:nvPr/>
        </p:nvSpPr>
        <p:spPr>
          <a:xfrm>
            <a:off x="3378012" y="2260231"/>
            <a:ext cx="1498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Example</a:t>
            </a:r>
            <a:br>
              <a:rPr lang="en-US" noProof="0" dirty="0"/>
            </a:br>
            <a:r>
              <a:rPr lang="en-US" noProof="0" dirty="0"/>
              <a:t>of translation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B3DD40-0E3D-BE7E-C1A9-7FE95248193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flipH="1">
            <a:off x="7232278" y="2850970"/>
            <a:ext cx="10" cy="8970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26AD0EB-FFD7-75B6-7E42-6076085C5AFE}"/>
              </a:ext>
            </a:extLst>
          </p:cNvPr>
          <p:cNvSpPr txBox="1"/>
          <p:nvPr/>
        </p:nvSpPr>
        <p:spPr>
          <a:xfrm>
            <a:off x="6260964" y="2481638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Different prompts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8173F-E0BD-D141-B2EC-92BF7ABBA2AE}"/>
              </a:ext>
            </a:extLst>
          </p:cNvPr>
          <p:cNvSpPr txBox="1"/>
          <p:nvPr/>
        </p:nvSpPr>
        <p:spPr>
          <a:xfrm>
            <a:off x="838052" y="3582449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30 algorithms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8E56F74-4621-B7C9-7EE3-98B378CB490A}"/>
              </a:ext>
            </a:extLst>
          </p:cNvPr>
          <p:cNvCxnSpPr>
            <a:stCxn id="33" idx="3"/>
            <a:endCxn id="35" idx="2"/>
          </p:cNvCxnSpPr>
          <p:nvPr/>
        </p:nvCxnSpPr>
        <p:spPr>
          <a:xfrm>
            <a:off x="2378795" y="3767115"/>
            <a:ext cx="4537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76E7C66C-E514-E140-0598-9B479403FA00}"/>
              </a:ext>
            </a:extLst>
          </p:cNvPr>
          <p:cNvSpPr/>
          <p:nvPr/>
        </p:nvSpPr>
        <p:spPr>
          <a:xfrm>
            <a:off x="9182100" y="2443163"/>
            <a:ext cx="300661" cy="282892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81D359-D348-006D-B5F6-3F7D47199734}"/>
              </a:ext>
            </a:extLst>
          </p:cNvPr>
          <p:cNvSpPr txBox="1"/>
          <p:nvPr/>
        </p:nvSpPr>
        <p:spPr>
          <a:xfrm>
            <a:off x="9482156" y="3526657"/>
            <a:ext cx="270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Almost 500</a:t>
            </a:r>
            <a:br>
              <a:rPr lang="en-US" noProof="0" dirty="0"/>
            </a:br>
            <a:r>
              <a:rPr lang="en-US" noProof="0" dirty="0"/>
              <a:t>optimization experiments</a:t>
            </a:r>
          </a:p>
        </p:txBody>
      </p:sp>
    </p:spTree>
    <p:extLst>
      <p:ext uri="{BB962C8B-B14F-4D97-AF65-F5344CB8AC3E}">
        <p14:creationId xmlns:p14="http://schemas.microsoft.com/office/powerpoint/2010/main" val="23302827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49F71-7448-E212-BBEF-8893E6B1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76319-0BF2-515F-5739-FB698D92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27</a:t>
            </a:fld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39328-6AF9-13C4-4F3E-6451615DB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67" y="622007"/>
            <a:ext cx="11231066" cy="54639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052565-253C-E35C-2150-0BF281B9248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371093" y="956745"/>
            <a:ext cx="590330" cy="6835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4510F7E-BEF2-4291-2C14-78CF368B4E8A}"/>
              </a:ext>
            </a:extLst>
          </p:cNvPr>
          <p:cNvSpPr txBox="1"/>
          <p:nvPr/>
        </p:nvSpPr>
        <p:spPr>
          <a:xfrm>
            <a:off x="216385" y="587413"/>
            <a:ext cx="230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Best performance (C)</a:t>
            </a:r>
          </a:p>
        </p:txBody>
      </p:sp>
    </p:spTree>
    <p:extLst>
      <p:ext uri="{BB962C8B-B14F-4D97-AF65-F5344CB8AC3E}">
        <p14:creationId xmlns:p14="http://schemas.microsoft.com/office/powerpoint/2010/main" val="1341665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54ED28-5B59-E4A7-513A-4F06F356F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LLM-directed optimization summary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F66668-3BAD-E37E-63AF-30E04874E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Prompting specificity</a:t>
            </a:r>
          </a:p>
          <a:p>
            <a:r>
              <a:rPr lang="en-US" noProof="0" dirty="0"/>
              <a:t>Contemporary abstractions do not help</a:t>
            </a:r>
          </a:p>
          <a:p>
            <a:endParaRPr lang="en-US" noProof="0" dirty="0"/>
          </a:p>
          <a:p>
            <a:r>
              <a:rPr lang="en-US" noProof="0" dirty="0">
                <a:solidFill>
                  <a:srgbClr val="FF0000"/>
                </a:solidFill>
              </a:rPr>
              <a:t>Future research</a:t>
            </a:r>
          </a:p>
          <a:p>
            <a:pPr lvl="1"/>
            <a:r>
              <a:rPr lang="en-US" noProof="0" dirty="0"/>
              <a:t>Re-evaluate on agentic LLMs</a:t>
            </a:r>
          </a:p>
          <a:p>
            <a:pPr lvl="2"/>
            <a:r>
              <a:rPr lang="en-US" noProof="0" dirty="0"/>
              <a:t>Automatically gather feedback</a:t>
            </a:r>
          </a:p>
          <a:p>
            <a:pPr lvl="2"/>
            <a:r>
              <a:rPr lang="en-US" noProof="0" dirty="0"/>
              <a:t>Can collect necessary context (e.g., work with abstraction reference)</a:t>
            </a:r>
          </a:p>
          <a:p>
            <a:pPr lvl="1"/>
            <a:r>
              <a:rPr lang="en-US" noProof="0" dirty="0"/>
              <a:t>More LLM-focused abstractions or scaffolding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E3398E-268D-A00A-DD6D-029BB4AC9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A52200-683B-032B-050F-13B46C40B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9945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Contribution map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7C89E2-483C-AAE2-A28B-882731CF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C1E11-C476-4762-AFFB-C3D6ECD7A44E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703C1-86DF-7428-224F-96B06FB7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29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203B1-0F93-3F92-FADF-DA1FA387F65C}"/>
              </a:ext>
            </a:extLst>
          </p:cNvPr>
          <p:cNvSpPr txBox="1"/>
          <p:nvPr/>
        </p:nvSpPr>
        <p:spPr>
          <a:xfrm>
            <a:off x="796339" y="3540214"/>
            <a:ext cx="1337160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Distributed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F297F-A46E-4127-A44D-943053748AAD}"/>
              </a:ext>
            </a:extLst>
          </p:cNvPr>
          <p:cNvSpPr txBox="1"/>
          <p:nvPr/>
        </p:nvSpPr>
        <p:spPr>
          <a:xfrm>
            <a:off x="1578385" y="1964514"/>
            <a:ext cx="1007068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Layouts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DD753E-8E05-7A83-7639-B87EDB75A42B}"/>
              </a:ext>
            </a:extLst>
          </p:cNvPr>
          <p:cNvSpPr txBox="1"/>
          <p:nvPr/>
        </p:nvSpPr>
        <p:spPr>
          <a:xfrm>
            <a:off x="2202790" y="2704852"/>
            <a:ext cx="1218131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Traversals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9A3AF-209B-AE12-2963-A07256AC3AD8}"/>
              </a:ext>
            </a:extLst>
          </p:cNvPr>
          <p:cNvSpPr txBox="1"/>
          <p:nvPr/>
        </p:nvSpPr>
        <p:spPr>
          <a:xfrm>
            <a:off x="3180692" y="3587248"/>
            <a:ext cx="1310504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Autotuning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EA25C6-5912-033A-1DD3-AE5CB2BC4AB3}"/>
              </a:ext>
            </a:extLst>
          </p:cNvPr>
          <p:cNvSpPr txBox="1"/>
          <p:nvPr/>
        </p:nvSpPr>
        <p:spPr>
          <a:xfrm>
            <a:off x="9394667" y="1602719"/>
            <a:ext cx="2027218" cy="408623"/>
          </a:xfrm>
          <a:prstGeom prst="roundRect">
            <a:avLst>
              <a:gd name="adj" fmla="val 38874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Cellular automata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5BE16C-7358-765B-9F41-391F715E3540}"/>
              </a:ext>
            </a:extLst>
          </p:cNvPr>
          <p:cNvSpPr txBox="1"/>
          <p:nvPr/>
        </p:nvSpPr>
        <p:spPr>
          <a:xfrm>
            <a:off x="9073599" y="2712837"/>
            <a:ext cx="2669353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Bitwise encoding of </a:t>
            </a:r>
            <a:r>
              <a:rPr lang="en-US" noProof="0" dirty="0" err="1"/>
              <a:t>GoL</a:t>
            </a:r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486DD0-E83D-76B8-FFAB-7DFBC00CF409}"/>
              </a:ext>
            </a:extLst>
          </p:cNvPr>
          <p:cNvSpPr txBox="1"/>
          <p:nvPr/>
        </p:nvSpPr>
        <p:spPr>
          <a:xfrm>
            <a:off x="6617359" y="2114333"/>
            <a:ext cx="1776972" cy="487204"/>
          </a:xfrm>
          <a:prstGeom prst="roundRect">
            <a:avLst>
              <a:gd name="adj" fmla="val 42290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CA abstraction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10342D-AF4F-9D7A-596A-774C5A75EE80}"/>
              </a:ext>
            </a:extLst>
          </p:cNvPr>
          <p:cNvSpPr txBox="1"/>
          <p:nvPr/>
        </p:nvSpPr>
        <p:spPr>
          <a:xfrm>
            <a:off x="6781927" y="4959624"/>
            <a:ext cx="2529026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Tutoring LLMs for CUDA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D7395F-5DE8-A141-7F54-EB10905B989D}"/>
              </a:ext>
            </a:extLst>
          </p:cNvPr>
          <p:cNvSpPr txBox="1"/>
          <p:nvPr/>
        </p:nvSpPr>
        <p:spPr>
          <a:xfrm>
            <a:off x="4857296" y="3941654"/>
            <a:ext cx="2433487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rgbClr val="AF9A19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LLMs and abstractions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5DD392-3AAA-5F2A-363D-37ADF1B2AD3E}"/>
              </a:ext>
            </a:extLst>
          </p:cNvPr>
          <p:cNvSpPr txBox="1"/>
          <p:nvPr/>
        </p:nvSpPr>
        <p:spPr>
          <a:xfrm>
            <a:off x="309634" y="1421002"/>
            <a:ext cx="349762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General-purpose HPC computing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996F6F-87F6-9490-D8CC-27045B68F5E1}"/>
              </a:ext>
            </a:extLst>
          </p:cNvPr>
          <p:cNvSpPr txBox="1"/>
          <p:nvPr/>
        </p:nvSpPr>
        <p:spPr>
          <a:xfrm>
            <a:off x="7421845" y="304329"/>
            <a:ext cx="3457998" cy="3693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Domain-specific HPC computing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F1346-871A-D701-3289-C975F8E5768B}"/>
              </a:ext>
            </a:extLst>
          </p:cNvPr>
          <p:cNvSpPr txBox="1"/>
          <p:nvPr/>
        </p:nvSpPr>
        <p:spPr>
          <a:xfrm>
            <a:off x="9296654" y="994391"/>
            <a:ext cx="2223245" cy="408623"/>
          </a:xfrm>
          <a:prstGeom prst="roundRect">
            <a:avLst>
              <a:gd name="adj" fmla="val 3545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Stencil computation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78AC6C-FC18-4019-D6D7-374777F1BAEC}"/>
              </a:ext>
            </a:extLst>
          </p:cNvPr>
          <p:cNvSpPr txBox="1"/>
          <p:nvPr/>
        </p:nvSpPr>
        <p:spPr>
          <a:xfrm>
            <a:off x="8610600" y="5993832"/>
            <a:ext cx="224676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LLM code generation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6887D-8433-28B1-0FDD-63B1B7428374}"/>
              </a:ext>
            </a:extLst>
          </p:cNvPr>
          <p:cNvSpPr txBox="1"/>
          <p:nvPr/>
        </p:nvSpPr>
        <p:spPr>
          <a:xfrm>
            <a:off x="1873532" y="5144290"/>
            <a:ext cx="2256197" cy="408623"/>
          </a:xfrm>
          <a:prstGeom prst="roundRect">
            <a:avLst>
              <a:gd name="adj" fmla="val 43999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FB3F7D-0D2D-953D-31F7-7DD3D9F1427F}"/>
              </a:ext>
            </a:extLst>
          </p:cNvPr>
          <p:cNvSpPr txBox="1"/>
          <p:nvPr/>
        </p:nvSpPr>
        <p:spPr>
          <a:xfrm>
            <a:off x="1561243" y="5903812"/>
            <a:ext cx="320305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GPU-specific algorithm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4A14F9-37A7-558D-DCD1-B6BA288136A3}"/>
              </a:ext>
            </a:extLst>
          </p:cNvPr>
          <p:cNvSpPr txBox="1"/>
          <p:nvPr/>
        </p:nvSpPr>
        <p:spPr>
          <a:xfrm>
            <a:off x="2628617" y="4473316"/>
            <a:ext cx="2397292" cy="501491"/>
          </a:xfrm>
          <a:prstGeom prst="roundRect">
            <a:avLst>
              <a:gd name="adj" fmla="val 4570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 err="1"/>
              <a:t>kNN</a:t>
            </a:r>
            <a:r>
              <a:rPr lang="en-US" noProof="0" dirty="0"/>
              <a:t> with </a:t>
            </a:r>
            <a:r>
              <a:rPr lang="en-US" noProof="0" dirty="0" err="1"/>
              <a:t>bitonic</a:t>
            </a:r>
            <a:r>
              <a:rPr lang="en-US" noProof="0" dirty="0"/>
              <a:t> sort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233798-963E-F8A0-85A4-DCE8EC91DBF9}"/>
              </a:ext>
            </a:extLst>
          </p:cNvPr>
          <p:cNvCxnSpPr>
            <a:stCxn id="8" idx="0"/>
            <a:endCxn id="32" idx="2"/>
          </p:cNvCxnSpPr>
          <p:nvPr/>
        </p:nvCxnSpPr>
        <p:spPr>
          <a:xfrm flipH="1" flipV="1">
            <a:off x="2058447" y="1790334"/>
            <a:ext cx="23472" cy="1741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289B2B-81D7-3AAE-0581-2401DD73C129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2081919" y="2373137"/>
            <a:ext cx="729937" cy="3317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5AF3EF-64B7-79EF-0C5F-53B19C1B2FAA}"/>
              </a:ext>
            </a:extLst>
          </p:cNvPr>
          <p:cNvCxnSpPr>
            <a:cxnSpLocks/>
            <a:stCxn id="12" idx="2"/>
            <a:endCxn id="6" idx="0"/>
          </p:cNvCxnSpPr>
          <p:nvPr/>
        </p:nvCxnSpPr>
        <p:spPr>
          <a:xfrm flipH="1">
            <a:off x="1464919" y="3113475"/>
            <a:ext cx="1346937" cy="42673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3B896-BD13-512A-E580-7BE4DFC4E1B3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2811856" y="3113475"/>
            <a:ext cx="1024088" cy="47377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AF8F44-0F6C-B866-8218-A530540B6E98}"/>
              </a:ext>
            </a:extLst>
          </p:cNvPr>
          <p:cNvCxnSpPr>
            <a:stCxn id="34" idx="2"/>
            <a:endCxn id="5" idx="0"/>
          </p:cNvCxnSpPr>
          <p:nvPr/>
        </p:nvCxnSpPr>
        <p:spPr>
          <a:xfrm>
            <a:off x="9150844" y="673661"/>
            <a:ext cx="1257433" cy="32073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2F6BFB-AE9D-1000-B08C-FA799A71A0D4}"/>
              </a:ext>
            </a:extLst>
          </p:cNvPr>
          <p:cNvCxnSpPr>
            <a:stCxn id="5" idx="2"/>
            <a:endCxn id="20" idx="0"/>
          </p:cNvCxnSpPr>
          <p:nvPr/>
        </p:nvCxnSpPr>
        <p:spPr>
          <a:xfrm flipH="1">
            <a:off x="10408276" y="1403014"/>
            <a:ext cx="1" cy="19970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55A13C-9878-1144-1E9D-F162566EDD33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408276" y="2011342"/>
            <a:ext cx="0" cy="70149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200874-7B6C-FB45-5B09-FF8BB238D79B}"/>
              </a:ext>
            </a:extLst>
          </p:cNvPr>
          <p:cNvCxnSpPr>
            <a:cxnSpLocks/>
            <a:stCxn id="20" idx="1"/>
            <a:endCxn id="27" idx="3"/>
          </p:cNvCxnSpPr>
          <p:nvPr/>
        </p:nvCxnSpPr>
        <p:spPr>
          <a:xfrm flipH="1">
            <a:off x="8394331" y="1807031"/>
            <a:ext cx="1000336" cy="550904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95E5EAD-8C5F-44D5-24B6-62E7988C0C83}"/>
              </a:ext>
            </a:extLst>
          </p:cNvPr>
          <p:cNvCxnSpPr>
            <a:stCxn id="28" idx="0"/>
            <a:endCxn id="30" idx="2"/>
          </p:cNvCxnSpPr>
          <p:nvPr/>
        </p:nvCxnSpPr>
        <p:spPr>
          <a:xfrm flipH="1" flipV="1">
            <a:off x="6074040" y="4310986"/>
            <a:ext cx="1972400" cy="6486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FA5D45D-66F4-E252-F84E-6AB600B22F19}"/>
              </a:ext>
            </a:extLst>
          </p:cNvPr>
          <p:cNvCxnSpPr>
            <a:cxnSpLocks/>
            <a:stCxn id="7" idx="0"/>
            <a:endCxn id="28" idx="2"/>
          </p:cNvCxnSpPr>
          <p:nvPr/>
        </p:nvCxnSpPr>
        <p:spPr>
          <a:xfrm flipH="1" flipV="1">
            <a:off x="8046440" y="5328956"/>
            <a:ext cx="1687545" cy="664876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E74FF5-B7C7-D011-0BDF-A21E4555D25B}"/>
              </a:ext>
            </a:extLst>
          </p:cNvPr>
          <p:cNvCxnSpPr>
            <a:stCxn id="11" idx="0"/>
            <a:endCxn id="9" idx="2"/>
          </p:cNvCxnSpPr>
          <p:nvPr/>
        </p:nvCxnSpPr>
        <p:spPr>
          <a:xfrm flipH="1" flipV="1">
            <a:off x="3001631" y="5552913"/>
            <a:ext cx="161140" cy="350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FBF46-A6BD-4284-E20E-BCB82964D1D7}"/>
              </a:ext>
            </a:extLst>
          </p:cNvPr>
          <p:cNvCxnSpPr>
            <a:stCxn id="9" idx="0"/>
            <a:endCxn id="14" idx="2"/>
          </p:cNvCxnSpPr>
          <p:nvPr/>
        </p:nvCxnSpPr>
        <p:spPr>
          <a:xfrm flipV="1">
            <a:off x="3001631" y="4974807"/>
            <a:ext cx="825632" cy="169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Curved 56">
            <a:extLst>
              <a:ext uri="{FF2B5EF4-FFF2-40B4-BE49-F238E27FC236}">
                <a16:creationId xmlns:a16="http://schemas.microsoft.com/office/drawing/2014/main" id="{1F8B0C2D-897D-CBED-F309-05EF687E2ECB}"/>
              </a:ext>
            </a:extLst>
          </p:cNvPr>
          <p:cNvCxnSpPr>
            <a:stCxn id="14" idx="3"/>
            <a:endCxn id="28" idx="1"/>
          </p:cNvCxnSpPr>
          <p:nvPr/>
        </p:nvCxnSpPr>
        <p:spPr>
          <a:xfrm>
            <a:off x="5025909" y="4724062"/>
            <a:ext cx="1756018" cy="420228"/>
          </a:xfrm>
          <a:prstGeom prst="curvedConnector3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Curved 58">
            <a:extLst>
              <a:ext uri="{FF2B5EF4-FFF2-40B4-BE49-F238E27FC236}">
                <a16:creationId xmlns:a16="http://schemas.microsoft.com/office/drawing/2014/main" id="{8E46E008-894C-4654-09CA-E580A4B474FB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8342209" y="2893556"/>
            <a:ext cx="1770299" cy="2361836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AEA780-35AE-C922-6C99-138293EB3A99}"/>
              </a:ext>
            </a:extLst>
          </p:cNvPr>
          <p:cNvCxnSpPr>
            <a:cxnSpLocks/>
            <a:stCxn id="12" idx="3"/>
            <a:endCxn id="30" idx="0"/>
          </p:cNvCxnSpPr>
          <p:nvPr/>
        </p:nvCxnSpPr>
        <p:spPr>
          <a:xfrm>
            <a:off x="3420921" y="2909164"/>
            <a:ext cx="2653119" cy="103249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>
            <a:extLst>
              <a:ext uri="{FF2B5EF4-FFF2-40B4-BE49-F238E27FC236}">
                <a16:creationId xmlns:a16="http://schemas.microsoft.com/office/drawing/2014/main" id="{59BF5CAB-CE77-3E1E-A10F-85C7982CD7CE}"/>
              </a:ext>
            </a:extLst>
          </p:cNvPr>
          <p:cNvCxnSpPr>
            <a:cxnSpLocks/>
            <a:stCxn id="12" idx="0"/>
            <a:endCxn id="27" idx="0"/>
          </p:cNvCxnSpPr>
          <p:nvPr/>
        </p:nvCxnSpPr>
        <p:spPr>
          <a:xfrm rot="5400000" flipH="1" flipV="1">
            <a:off x="4863591" y="62599"/>
            <a:ext cx="590519" cy="4693989"/>
          </a:xfrm>
          <a:prstGeom prst="curvedConnector3">
            <a:avLst>
              <a:gd name="adj1" fmla="val 1387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4EEE70E-66B1-DBA0-D563-ADA02418E73F}"/>
              </a:ext>
            </a:extLst>
          </p:cNvPr>
          <p:cNvSpPr txBox="1"/>
          <p:nvPr/>
        </p:nvSpPr>
        <p:spPr>
          <a:xfrm>
            <a:off x="4190498" y="1512671"/>
            <a:ext cx="2095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Knowledge transfer</a:t>
            </a:r>
          </a:p>
        </p:txBody>
      </p:sp>
      <p:pic>
        <p:nvPicPr>
          <p:cNvPr id="108" name="Graphic 107" descr="Document with solid fill">
            <a:extLst>
              <a:ext uri="{FF2B5EF4-FFF2-40B4-BE49-F238E27FC236}">
                <a16:creationId xmlns:a16="http://schemas.microsoft.com/office/drawing/2014/main" id="{C2DFAA5D-5334-A49A-48B2-E76A0FA60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2109" y="1924917"/>
            <a:ext cx="518025" cy="51802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89A83EF7-9621-C7E8-72AF-14DB294FEC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6784" y="2684666"/>
            <a:ext cx="518025" cy="518025"/>
          </a:xfrm>
          <a:prstGeom prst="rect">
            <a:avLst/>
          </a:prstGeom>
        </p:spPr>
      </p:pic>
      <p:pic>
        <p:nvPicPr>
          <p:cNvPr id="114" name="Graphic 113" descr="Document with solid fill">
            <a:extLst>
              <a:ext uri="{FF2B5EF4-FFF2-40B4-BE49-F238E27FC236}">
                <a16:creationId xmlns:a16="http://schemas.microsoft.com/office/drawing/2014/main" id="{429BC7B5-3FE6-AD92-9E9A-1B2F2AEC39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0762" y="3522977"/>
            <a:ext cx="511973" cy="511973"/>
          </a:xfrm>
          <a:prstGeom prst="rect">
            <a:avLst/>
          </a:prstGeom>
        </p:spPr>
      </p:pic>
      <p:pic>
        <p:nvPicPr>
          <p:cNvPr id="116" name="Graphic 115" descr="Document with solid fill">
            <a:extLst>
              <a:ext uri="{FF2B5EF4-FFF2-40B4-BE49-F238E27FC236}">
                <a16:creationId xmlns:a16="http://schemas.microsoft.com/office/drawing/2014/main" id="{A0950E09-4E68-6022-AEDC-C43AAE7095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827" y="3538609"/>
            <a:ext cx="515297" cy="515297"/>
          </a:xfrm>
          <a:prstGeom prst="rect">
            <a:avLst/>
          </a:prstGeom>
        </p:spPr>
      </p:pic>
      <p:pic>
        <p:nvPicPr>
          <p:cNvPr id="118" name="Graphic 117" descr="Document with solid fill">
            <a:extLst>
              <a:ext uri="{FF2B5EF4-FFF2-40B4-BE49-F238E27FC236}">
                <a16:creationId xmlns:a16="http://schemas.microsoft.com/office/drawing/2014/main" id="{2272B4AB-7D5F-AB8E-81F9-35DCF3C22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5039" y="2896199"/>
            <a:ext cx="511973" cy="511973"/>
          </a:xfrm>
          <a:prstGeom prst="rect">
            <a:avLst/>
          </a:prstGeom>
        </p:spPr>
      </p:pic>
      <p:pic>
        <p:nvPicPr>
          <p:cNvPr id="120" name="Graphic 119" descr="Document with solid fill">
            <a:extLst>
              <a:ext uri="{FF2B5EF4-FFF2-40B4-BE49-F238E27FC236}">
                <a16:creationId xmlns:a16="http://schemas.microsoft.com/office/drawing/2014/main" id="{0495A40B-1AEC-0013-8842-1E42AD2CB0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0633" y="2023201"/>
            <a:ext cx="515297" cy="515297"/>
          </a:xfrm>
          <a:prstGeom prst="rect">
            <a:avLst/>
          </a:prstGeom>
        </p:spPr>
      </p:pic>
      <p:pic>
        <p:nvPicPr>
          <p:cNvPr id="122" name="Graphic 121" descr="Document with solid fill">
            <a:extLst>
              <a:ext uri="{FF2B5EF4-FFF2-40B4-BE49-F238E27FC236}">
                <a16:creationId xmlns:a16="http://schemas.microsoft.com/office/drawing/2014/main" id="{20BCF91A-2BC4-2C84-EDB6-83BC8A598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72790" y="2721461"/>
            <a:ext cx="515297" cy="515297"/>
          </a:xfrm>
          <a:prstGeom prst="rect">
            <a:avLst/>
          </a:prstGeom>
        </p:spPr>
      </p:pic>
      <p:pic>
        <p:nvPicPr>
          <p:cNvPr id="124" name="Graphic 123" descr="Document with solid fill">
            <a:extLst>
              <a:ext uri="{FF2B5EF4-FFF2-40B4-BE49-F238E27FC236}">
                <a16:creationId xmlns:a16="http://schemas.microsoft.com/office/drawing/2014/main" id="{37545ACE-E0D5-4418-C01A-F54A238C5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7561" y="4910959"/>
            <a:ext cx="511973" cy="511973"/>
          </a:xfrm>
          <a:prstGeom prst="rect">
            <a:avLst/>
          </a:prstGeom>
        </p:spPr>
      </p:pic>
      <p:pic>
        <p:nvPicPr>
          <p:cNvPr id="126" name="Graphic 125" descr="Document with solid fill">
            <a:extLst>
              <a:ext uri="{FF2B5EF4-FFF2-40B4-BE49-F238E27FC236}">
                <a16:creationId xmlns:a16="http://schemas.microsoft.com/office/drawing/2014/main" id="{F102692C-45CE-30BD-D7DB-69F758D39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90335" y="4459198"/>
            <a:ext cx="511973" cy="511973"/>
          </a:xfrm>
          <a:prstGeom prst="rect">
            <a:avLst/>
          </a:prstGeom>
        </p:spPr>
      </p:pic>
      <p:pic>
        <p:nvPicPr>
          <p:cNvPr id="128" name="Graphic 127" descr="Document with solid fill">
            <a:extLst>
              <a:ext uri="{FF2B5EF4-FFF2-40B4-BE49-F238E27FC236}">
                <a16:creationId xmlns:a16="http://schemas.microsoft.com/office/drawing/2014/main" id="{E84D08A1-6570-0EBA-AB89-9527CFD74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9894" y="3872085"/>
            <a:ext cx="511973" cy="511973"/>
          </a:xfrm>
          <a:prstGeom prst="rect">
            <a:avLst/>
          </a:prstGeom>
        </p:spPr>
      </p:pic>
      <p:pic>
        <p:nvPicPr>
          <p:cNvPr id="130" name="Graphic 129" descr="Hourglass 90% with solid fill">
            <a:extLst>
              <a:ext uri="{FF2B5EF4-FFF2-40B4-BE49-F238E27FC236}">
                <a16:creationId xmlns:a16="http://schemas.microsoft.com/office/drawing/2014/main" id="{50528A97-8AB5-A140-C267-C37E4D5DC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03081" y="3886390"/>
            <a:ext cx="511973" cy="511973"/>
          </a:xfrm>
          <a:prstGeom prst="rect">
            <a:avLst/>
          </a:prstGeom>
        </p:spPr>
      </p:pic>
      <p:pic>
        <p:nvPicPr>
          <p:cNvPr id="132" name="Graphic 131" descr="Hourglass 90% with solid fill">
            <a:extLst>
              <a:ext uri="{FF2B5EF4-FFF2-40B4-BE49-F238E27FC236}">
                <a16:creationId xmlns:a16="http://schemas.microsoft.com/office/drawing/2014/main" id="{AB289F9A-E988-4BD3-D736-A280662A82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233671" y="4449065"/>
            <a:ext cx="511973" cy="511973"/>
          </a:xfrm>
          <a:prstGeom prst="rect">
            <a:avLst/>
          </a:prstGeom>
        </p:spPr>
      </p:pic>
      <p:pic>
        <p:nvPicPr>
          <p:cNvPr id="134" name="Graphic 133" descr="Hourglass 90% with solid fill">
            <a:extLst>
              <a:ext uri="{FF2B5EF4-FFF2-40B4-BE49-F238E27FC236}">
                <a16:creationId xmlns:a16="http://schemas.microsoft.com/office/drawing/2014/main" id="{3A28964A-C8E0-7C8E-551D-E262DC957E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06973" y="2878271"/>
            <a:ext cx="511973" cy="511973"/>
          </a:xfrm>
          <a:prstGeom prst="rect">
            <a:avLst/>
          </a:prstGeom>
        </p:spPr>
      </p:pic>
      <p:pic>
        <p:nvPicPr>
          <p:cNvPr id="137" name="Graphic 136" descr="Gears with solid fill">
            <a:extLst>
              <a:ext uri="{FF2B5EF4-FFF2-40B4-BE49-F238E27FC236}">
                <a16:creationId xmlns:a16="http://schemas.microsoft.com/office/drawing/2014/main" id="{87B9CD5A-2314-3BC0-19F3-4DB9B6E8BA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41528" y="2973061"/>
            <a:ext cx="324709" cy="324709"/>
          </a:xfrm>
          <a:prstGeom prst="rect">
            <a:avLst/>
          </a:prstGeom>
        </p:spPr>
      </p:pic>
      <p:pic>
        <p:nvPicPr>
          <p:cNvPr id="142" name="Graphic 141" descr="Gears with solid fill">
            <a:extLst>
              <a:ext uri="{FF2B5EF4-FFF2-40B4-BE49-F238E27FC236}">
                <a16:creationId xmlns:a16="http://schemas.microsoft.com/office/drawing/2014/main" id="{8BA176CA-D896-178E-0A65-84C759D3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80982" y="2418786"/>
            <a:ext cx="324709" cy="324709"/>
          </a:xfrm>
          <a:prstGeom prst="rect">
            <a:avLst/>
          </a:prstGeom>
        </p:spPr>
      </p:pic>
      <p:pic>
        <p:nvPicPr>
          <p:cNvPr id="144" name="Graphic 143" descr="Gears with solid fill">
            <a:extLst>
              <a:ext uri="{FF2B5EF4-FFF2-40B4-BE49-F238E27FC236}">
                <a16:creationId xmlns:a16="http://schemas.microsoft.com/office/drawing/2014/main" id="{E03D2392-BDD9-D1F9-8C3F-1454062E58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12006" y="3816512"/>
            <a:ext cx="324709" cy="324709"/>
          </a:xfrm>
          <a:prstGeom prst="rect">
            <a:avLst/>
          </a:prstGeom>
        </p:spPr>
      </p:pic>
      <p:pic>
        <p:nvPicPr>
          <p:cNvPr id="146" name="Graphic 145" descr="Gears with solid fill">
            <a:extLst>
              <a:ext uri="{FF2B5EF4-FFF2-40B4-BE49-F238E27FC236}">
                <a16:creationId xmlns:a16="http://schemas.microsoft.com/office/drawing/2014/main" id="{C682619D-8374-F943-ACD1-A2A22D038A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8179" y="3823349"/>
            <a:ext cx="324709" cy="324709"/>
          </a:xfrm>
          <a:prstGeom prst="rect">
            <a:avLst/>
          </a:prstGeom>
        </p:spPr>
      </p:pic>
      <p:pic>
        <p:nvPicPr>
          <p:cNvPr id="148" name="Graphic 147" descr="Gears with solid fill">
            <a:extLst>
              <a:ext uri="{FF2B5EF4-FFF2-40B4-BE49-F238E27FC236}">
                <a16:creationId xmlns:a16="http://schemas.microsoft.com/office/drawing/2014/main" id="{B5B149AE-766F-5F50-86B4-81D50A3A92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6009" y="2226415"/>
            <a:ext cx="324709" cy="324709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B8340993-B06E-A311-6876-6E4CE72B0A74}"/>
              </a:ext>
            </a:extLst>
          </p:cNvPr>
          <p:cNvSpPr txBox="1"/>
          <p:nvPr/>
        </p:nvSpPr>
        <p:spPr>
          <a:xfrm>
            <a:off x="5538944" y="2901016"/>
            <a:ext cx="3137966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Bit-Planes for CA abstraction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33C5503-8ADB-3112-D468-A9D46C7291F9}"/>
              </a:ext>
            </a:extLst>
          </p:cNvPr>
          <p:cNvCxnSpPr>
            <a:cxnSpLocks/>
            <a:stCxn id="83" idx="0"/>
            <a:endCxn id="27" idx="2"/>
          </p:cNvCxnSpPr>
          <p:nvPr/>
        </p:nvCxnSpPr>
        <p:spPr>
          <a:xfrm flipV="1">
            <a:off x="7107927" y="2601537"/>
            <a:ext cx="397918" cy="2994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EDBBB33-4558-F22F-1F22-F472582CA31D}"/>
              </a:ext>
            </a:extLst>
          </p:cNvPr>
          <p:cNvCxnSpPr>
            <a:cxnSpLocks/>
            <a:stCxn id="24" idx="1"/>
            <a:endCxn id="83" idx="3"/>
          </p:cNvCxnSpPr>
          <p:nvPr/>
        </p:nvCxnSpPr>
        <p:spPr>
          <a:xfrm flipH="1">
            <a:off x="8676910" y="2951081"/>
            <a:ext cx="396689" cy="1881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Gears with solid fill">
            <a:extLst>
              <a:ext uri="{FF2B5EF4-FFF2-40B4-BE49-F238E27FC236}">
                <a16:creationId xmlns:a16="http://schemas.microsoft.com/office/drawing/2014/main" id="{541F1A89-B8F8-9B56-46FB-008EA662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62773" y="3184491"/>
            <a:ext cx="324709" cy="32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E2FB-C33B-F5A6-39E3-F8E23A83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Conclusion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F2EFF-764E-D77C-839A-710FB5E7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53686-DDC4-AE26-E80F-25922CD6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30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E9E7E9-B0F2-7688-8691-124AAE9C5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077" y="1874172"/>
            <a:ext cx="7816900" cy="39751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460CFD-1ADD-C377-3592-F33BC4F867B6}"/>
              </a:ext>
            </a:extLst>
          </p:cNvPr>
          <p:cNvSpPr txBox="1"/>
          <p:nvPr/>
        </p:nvSpPr>
        <p:spPr>
          <a:xfrm>
            <a:off x="2548168" y="2401805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Layouts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90452-B9A2-74CC-8DAA-A01425E62FD3}"/>
              </a:ext>
            </a:extLst>
          </p:cNvPr>
          <p:cNvSpPr txBox="1"/>
          <p:nvPr/>
        </p:nvSpPr>
        <p:spPr>
          <a:xfrm>
            <a:off x="2332917" y="2646315"/>
            <a:ext cx="118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Traversals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8A1E1A-6D5A-56E5-F8EC-DE0EA51B3C0D}"/>
              </a:ext>
            </a:extLst>
          </p:cNvPr>
          <p:cNvSpPr txBox="1"/>
          <p:nvPr/>
        </p:nvSpPr>
        <p:spPr>
          <a:xfrm>
            <a:off x="2177426" y="2890825"/>
            <a:ext cx="1339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Autotuning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77F25-EB33-FBD0-50C1-C49A0970F767}"/>
              </a:ext>
            </a:extLst>
          </p:cNvPr>
          <p:cNvSpPr txBox="1"/>
          <p:nvPr/>
        </p:nvSpPr>
        <p:spPr>
          <a:xfrm>
            <a:off x="2275080" y="3135335"/>
            <a:ext cx="1299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Distributed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8F7A3C-A424-8253-CB99-0B73DC4FE674}"/>
              </a:ext>
            </a:extLst>
          </p:cNvPr>
          <p:cNvSpPr txBox="1"/>
          <p:nvPr/>
        </p:nvSpPr>
        <p:spPr>
          <a:xfrm>
            <a:off x="1837652" y="3359879"/>
            <a:ext cx="1736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CA abstraction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24A68-C53E-11BD-CAF9-0273F97C47FA}"/>
              </a:ext>
            </a:extLst>
          </p:cNvPr>
          <p:cNvSpPr txBox="1"/>
          <p:nvPr/>
        </p:nvSpPr>
        <p:spPr>
          <a:xfrm>
            <a:off x="1045513" y="3612140"/>
            <a:ext cx="2529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Tutoring LLMs for CUDA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78D3E-9071-30B3-5084-67810955D802}"/>
              </a:ext>
            </a:extLst>
          </p:cNvPr>
          <p:cNvSpPr txBox="1"/>
          <p:nvPr/>
        </p:nvSpPr>
        <p:spPr>
          <a:xfrm>
            <a:off x="1141051" y="3868865"/>
            <a:ext cx="243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LLMs and abstractions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B6927-BD1C-C0F1-C38D-1A40C72A2497}"/>
              </a:ext>
            </a:extLst>
          </p:cNvPr>
          <p:cNvSpPr txBox="1"/>
          <p:nvPr/>
        </p:nvSpPr>
        <p:spPr>
          <a:xfrm>
            <a:off x="1647280" y="4603720"/>
            <a:ext cx="1869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GPU </a:t>
            </a:r>
            <a:r>
              <a:rPr lang="en-US" i="1" dirty="0" err="1"/>
              <a:t>EmbedSOM</a:t>
            </a:r>
            <a:endParaRPr lang="en-US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C78A90-FEC1-2DB8-B891-AC8BDA35A2A4}"/>
              </a:ext>
            </a:extLst>
          </p:cNvPr>
          <p:cNvSpPr txBox="1"/>
          <p:nvPr/>
        </p:nvSpPr>
        <p:spPr>
          <a:xfrm>
            <a:off x="946769" y="485911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Bitwise encoding of </a:t>
            </a:r>
            <a:r>
              <a:rPr lang="en-US" i="1" dirty="0" err="1"/>
              <a:t>GoL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FF1FA-5071-1EAC-9BA2-D4E5B82F1A7A}"/>
              </a:ext>
            </a:extLst>
          </p:cNvPr>
          <p:cNvSpPr txBox="1"/>
          <p:nvPr/>
        </p:nvSpPr>
        <p:spPr>
          <a:xfrm>
            <a:off x="1130665" y="5129974"/>
            <a:ext cx="2386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kNN</a:t>
            </a:r>
            <a:r>
              <a:rPr lang="en-US" b="1" dirty="0"/>
              <a:t> with </a:t>
            </a:r>
            <a:r>
              <a:rPr lang="en-US" b="1" dirty="0" err="1"/>
              <a:t>bitonic</a:t>
            </a:r>
            <a:r>
              <a:rPr lang="en-US" b="1" dirty="0"/>
              <a:t> sort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4196E-42A9-2357-683E-D9B1852BAD1C}"/>
              </a:ext>
            </a:extLst>
          </p:cNvPr>
          <p:cNvSpPr txBox="1"/>
          <p:nvPr/>
        </p:nvSpPr>
        <p:spPr>
          <a:xfrm>
            <a:off x="313967" y="5379130"/>
            <a:ext cx="320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Bit-Planes for CA abstraction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20A1D-D418-D0F0-133F-FFE0B5C949BE}"/>
              </a:ext>
            </a:extLst>
          </p:cNvPr>
          <p:cNvSpPr txBox="1"/>
          <p:nvPr/>
        </p:nvSpPr>
        <p:spPr>
          <a:xfrm>
            <a:off x="513445" y="5754899"/>
            <a:ext cx="3436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Conference | </a:t>
            </a:r>
            <a:r>
              <a:rPr lang="en-US" i="1" dirty="0">
                <a:solidFill>
                  <a:schemeClr val="bg2">
                    <a:lumMod val="50000"/>
                  </a:schemeClr>
                </a:solidFill>
              </a:rPr>
              <a:t>Workshop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|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Journal</a:t>
            </a:r>
          </a:p>
        </p:txBody>
      </p:sp>
    </p:spTree>
    <p:extLst>
      <p:ext uri="{BB962C8B-B14F-4D97-AF65-F5344CB8AC3E}">
        <p14:creationId xmlns:p14="http://schemas.microsoft.com/office/powerpoint/2010/main" val="20253718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CD7CC-C2D6-52E6-02D5-F41FC538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373B6-1B3D-2E32-D54A-18C124620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4B596-5AF7-51AF-3EE6-313BDA5C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8/29/2026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45EBF-BF5B-CB1B-7863-61BA3DD3C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4178</TotalTime>
  <Words>5226</Words>
  <Application>Microsoft Office PowerPoint</Application>
  <PresentationFormat>Widescreen</PresentationFormat>
  <Paragraphs>654</Paragraphs>
  <Slides>31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9" baseType="lpstr">
      <vt:lpstr>Aptos</vt:lpstr>
      <vt:lpstr>Aptos Display</vt:lpstr>
      <vt:lpstr>Arial</vt:lpstr>
      <vt:lpstr>Blackadder ITC</vt:lpstr>
      <vt:lpstr>Cambria Math</vt:lpstr>
      <vt:lpstr>Fira Code</vt:lpstr>
      <vt:lpstr>Wingdings</vt:lpstr>
      <vt:lpstr>Office Theme</vt:lpstr>
      <vt:lpstr>Optimizing Memory Layouts and Traversal Orders in HPC</vt:lpstr>
      <vt:lpstr>Motivation for memory layouts</vt:lpstr>
      <vt:lpstr>Illustrative example: initialization algorithm</vt:lpstr>
      <vt:lpstr>Layout-agnostic design</vt:lpstr>
      <vt:lpstr>Layout abstractions</vt:lpstr>
      <vt:lpstr>Traversal abstractions</vt:lpstr>
      <vt:lpstr>Structures with different index spaces</vt:lpstr>
      <vt:lpstr>Traversal transformations &amp; parallelization</vt:lpstr>
      <vt:lpstr>Autotuning</vt:lpstr>
      <vt:lpstr>Results</vt:lpstr>
      <vt:lpstr>Results</vt:lpstr>
      <vt:lpstr>Distributed initialization</vt:lpstr>
      <vt:lpstr>Automatic transformation in communication</vt:lpstr>
      <vt:lpstr>Results</vt:lpstr>
      <vt:lpstr>Stencil computation abstractions</vt:lpstr>
      <vt:lpstr>Cellular automata abstraction</vt:lpstr>
      <vt:lpstr>PowerPoint Presentation</vt:lpstr>
      <vt:lpstr>Results</vt:lpstr>
      <vt:lpstr>Abstractions summary</vt:lpstr>
      <vt:lpstr>LLMs in HPC</vt:lpstr>
      <vt:lpstr>Tutoring LLMs for CUDA</vt:lpstr>
      <vt:lpstr>Tutoring LLMs for CUDA OpenAI GPT-o3-mini</vt:lpstr>
      <vt:lpstr>Tutoring LLMs for CUDA – submission OpenAI GPT-o3-mini</vt:lpstr>
      <vt:lpstr>Tutoring LLMs for CUDA – at conference OpenAI GPT-5</vt:lpstr>
      <vt:lpstr>LLMs and abstractions</vt:lpstr>
      <vt:lpstr>LLMs and abstractions</vt:lpstr>
      <vt:lpstr>PowerPoint Presentation</vt:lpstr>
      <vt:lpstr>LLM-directed optimization summary</vt:lpstr>
      <vt:lpstr>Contribution map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184</cp:revision>
  <dcterms:created xsi:type="dcterms:W3CDTF">2026-08-08T18:10:38Z</dcterms:created>
  <dcterms:modified xsi:type="dcterms:W3CDTF">2026-08-29T20:13:57Z</dcterms:modified>
</cp:coreProperties>
</file>