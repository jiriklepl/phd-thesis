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68" r:id="rId3"/>
    <p:sldId id="277" r:id="rId4"/>
    <p:sldId id="269" r:id="rId5"/>
    <p:sldId id="270" r:id="rId6"/>
    <p:sldId id="281" r:id="rId7"/>
    <p:sldId id="282" r:id="rId8"/>
    <p:sldId id="263" r:id="rId9"/>
    <p:sldId id="271" r:id="rId10"/>
    <p:sldId id="283" r:id="rId11"/>
    <p:sldId id="284" r:id="rId12"/>
    <p:sldId id="272" r:id="rId13"/>
    <p:sldId id="285" r:id="rId14"/>
    <p:sldId id="278" r:id="rId15"/>
    <p:sldId id="273" r:id="rId16"/>
    <p:sldId id="286" r:id="rId17"/>
    <p:sldId id="289" r:id="rId18"/>
    <p:sldId id="290" r:id="rId19"/>
    <p:sldId id="279" r:id="rId20"/>
    <p:sldId id="274" r:id="rId21"/>
    <p:sldId id="287" r:id="rId22"/>
    <p:sldId id="280" r:id="rId23"/>
    <p:sldId id="288" r:id="rId24"/>
    <p:sldId id="291" r:id="rId25"/>
    <p:sldId id="276" r:id="rId26"/>
    <p:sldId id="292" r:id="rId27"/>
    <p:sldId id="266" r:id="rId28"/>
    <p:sldId id="261" r:id="rId29"/>
    <p:sldId id="26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68"/>
            <p14:sldId id="277"/>
            <p14:sldId id="269"/>
          </p14:sldIdLst>
        </p14:section>
        <p14:section name="algorithms" id="{7894E90A-E282-4867-82A4-369CDB973E4E}">
          <p14:sldIdLst>
            <p14:sldId id="270"/>
            <p14:sldId id="281"/>
            <p14:sldId id="282"/>
            <p14:sldId id="263"/>
            <p14:sldId id="271"/>
            <p14:sldId id="283"/>
            <p14:sldId id="284"/>
            <p14:sldId id="272"/>
            <p14:sldId id="285"/>
            <p14:sldId id="278"/>
            <p14:sldId id="273"/>
            <p14:sldId id="286"/>
            <p14:sldId id="289"/>
            <p14:sldId id="290"/>
            <p14:sldId id="279"/>
            <p14:sldId id="274"/>
            <p14:sldId id="287"/>
            <p14:sldId id="280"/>
          </p14:sldIdLst>
        </p14:section>
        <p14:section name="llms" id="{2FE3CF17-CBFB-48E9-A3BF-DD99B7D2F01E}">
          <p14:sldIdLst>
            <p14:sldId id="288"/>
            <p14:sldId id="291"/>
            <p14:sldId id="276"/>
            <p14:sldId id="292"/>
          </p14:sldIdLst>
        </p14:section>
        <p14:section name="summary" id="{D3BAAF83-51D3-4EFD-B7CC-7BA6DAC4A838}">
          <p14:sldIdLst>
            <p14:sldId id="266"/>
            <p14:sldId id="261"/>
          </p14:sldIdLst>
        </p14:section>
        <p14:section name="Reviewers' comments" id="{40190F67-0659-405D-810E-4AC194B72FA5}">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80" d="100"/>
          <a:sy n="80" d="100"/>
        </p:scale>
        <p:origin x="1794" y="84"/>
      </p:cViewPr>
      <p:guideLst/>
    </p:cSldViewPr>
  </p:slideViewPr>
  <p:notesTextViewPr>
    <p:cViewPr>
      <p:scale>
        <a:sx n="1" d="1"/>
        <a:sy n="1" d="1"/>
      </p:scale>
      <p:origin x="0" y="-456"/>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illustrate what we mean by memory layouts and traversal orders, let’s look at a simple example of just traversing a single matrix and initializing its elements to values that might depend on their indices.</a:t>
            </a:r>
          </a:p>
          <a:p>
            <a:endParaRPr lang="en-US" dirty="0"/>
          </a:p>
          <a:p>
            <a:r>
              <a:rPr lang="en-US" dirty="0"/>
              <a:t>?? Even this simple example can show a surprising level of complexity.</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(cool animation)</a:t>
            </a:r>
            <a:br>
              <a:rPr lang="en-US" dirty="0"/>
            </a:br>
            <a:r>
              <a:rPr lang="en-US" dirty="0"/>
              <a:t>Notice that for the *row-major matrix layout* on the left, the algorithm tends to access elements that are close together, whereas in the other, *column-major layout*, the accessed elements are spread out further.</a:t>
            </a:r>
            <a:br>
              <a:rPr lang="en-US" dirty="0"/>
            </a:br>
            <a:r>
              <a:rPr lang="en-US" dirty="0"/>
              <a:t>Thus, the algorithm expresses better *locality of reference* for the row-major layout, and we can expect a better performance as a result due to various hardware optimizations such as caching.</a:t>
            </a:r>
            <a:br>
              <a:rPr lang="en-US" dirty="0"/>
            </a:br>
            <a:r>
              <a:rPr lang="en-US" dirty="0"/>
              <a:t>(?? (caching) That relies on accessed values being temporarily stored in faster memory units, automatically by the hardware)</a:t>
            </a:r>
          </a:p>
          <a:p>
            <a:endParaRPr lang="en-US" dirty="0"/>
          </a:p>
          <a:p>
            <a:r>
              <a:rPr lang="en-US" dirty="0"/>
              <a:t>(?? define locality of reference?)</a:t>
            </a:r>
          </a:p>
          <a:p>
            <a:endParaRPr lang="en-US" dirty="0"/>
          </a:p>
          <a:p>
            <a:r>
              <a:rPr lang="en-US" dirty="0"/>
              <a:t>Of course, the two layouts are the simplest layouts for matrices, and for many real-use algorithms, more elaborate layouts, such as tile-major layouts (where each matrix is stored as a series of smaller sub-matrices), may often perform even better.</a:t>
            </a:r>
          </a:p>
          <a:p>
            <a:r>
              <a:rPr lang="en-US" dirty="0"/>
              <a:t>(?? (Similarly, the traversal may be split into multiple blocks or tiles to better utilize caching))</a:t>
            </a:r>
          </a:p>
          <a:p>
            <a:endParaRPr lang="en-US" dirty="0"/>
          </a:p>
          <a:p>
            <a:r>
              <a:rPr lang="en-US" dirty="0"/>
              <a:t>In real-use algorithms, the situation is further complicated by factors such as algorithms having more elaborate traversal patterns, accessing multiple data structures at once, and each hardware architecture having further characteristics affecting the choice of memory layouts and traversal orders.</a:t>
            </a:r>
          </a:p>
          <a:p>
            <a:endParaRPr lang="en-US" dirty="0"/>
          </a:p>
          <a:p>
            <a:r>
              <a:rPr lang="en-US" dirty="0"/>
              <a:t>Thus, it is typically not feasible to know the correct design choices in advance</a:t>
            </a:r>
          </a:p>
          <a:p>
            <a:r>
              <a:rPr lang="en-US" dirty="0"/>
              <a:t>(and even if so, hard-coding optimizations for one hardware architecture makes the code less maintainable/readable and less portable to other architectures)</a:t>
            </a:r>
          </a:p>
          <a:p>
            <a:endParaRPr lang="en-US" dirty="0"/>
          </a:p>
          <a:p>
            <a:r>
              <a:rPr lang="en-US" dirty="0"/>
              <a:t>(? PGO, polyhedral optimization, autotuning, </a:t>
            </a:r>
            <a:r>
              <a:rPr lang="en-US" dirty="0" err="1"/>
              <a:t>etc</a:t>
            </a:r>
            <a:r>
              <a:rPr lang="en-US" dirty="0"/>
              <a:t>)</a:t>
            </a:r>
            <a:br>
              <a:rPr lang="en-US" dirty="0"/>
            </a:br>
            <a:r>
              <a:rPr lang="en-US" dirty="0"/>
              <a:t>(?? Example)</a:t>
            </a:r>
            <a:br>
              <a:rPr lang="en-US" dirty="0"/>
            </a:br>
            <a:br>
              <a:rPr lang="en-US" dirty="0"/>
            </a:br>
            <a:r>
              <a:rPr lang="en-US" dirty="0"/>
              <a:t>(ass bridge: our research focuses on making this automatable and simpler)</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4226210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445601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2275437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4713003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carefully assessing how the principles play into defining layout-agnostic algorithms, we have extended the approach for traversals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A traverser is created from one or multiple data structures and then generates index points for accessing their shared space.</a:t>
            </a:r>
            <a:br>
              <a:rPr lang="en-US" dirty="0"/>
            </a:br>
            <a:br>
              <a:rPr lang="en-US" dirty="0"/>
            </a:br>
            <a:r>
              <a:rPr lang="en-US" dirty="0"/>
              <a:t>For a single structure, this mirrors a simple for-each algorithm;</a:t>
            </a:r>
            <a:br>
              <a:rPr lang="en-US" dirty="0"/>
            </a:br>
            <a:br>
              <a:rPr lang="en-US" dirty="0"/>
            </a:br>
            <a:r>
              <a:rPr lang="en-US" dirty="0"/>
              <a:t>If two structures share the same space, the traverser can be used to simply copy the data from one structure to the other</a:t>
            </a:r>
          </a:p>
          <a:p>
            <a:endParaRPr lang="en-US" dirty="0"/>
          </a:p>
          <a:p>
            <a:r>
              <a:rPr lang="en-US" dirty="0"/>
              <a:t>If the traversed structures have (partially) independent index spaces, the traverser infers the shared space as the cartesian product of the unique dimensions of all the </a:t>
            </a:r>
            <a:r>
              <a:rPr lang="en-US" dirty="0" err="1"/>
              <a:t>structurtes</a:t>
            </a:r>
            <a:r>
              <a:rPr lang="en-US" dirty="0"/>
              <a:t>. This can define, for example, the matrix multiplication algorithm.</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wouldn’t be very useful just like that.</a:t>
            </a:r>
            <a:br>
              <a:rPr lang="en-US" dirty="0"/>
            </a:br>
            <a:br>
              <a:rPr lang="en-US" dirty="0"/>
            </a:br>
            <a:r>
              <a:rPr lang="en-US" dirty="0"/>
              <a:t>The important part is that we can use the same principles for building memory layouts to specify transformations of the traversal orders as well.</a:t>
            </a:r>
          </a:p>
          <a:p>
            <a:r>
              <a:rPr lang="en-US" dirty="0"/>
              <a:t>This significantly improves the </a:t>
            </a:r>
            <a:r>
              <a:rPr lang="en-US" dirty="0" err="1"/>
              <a:t>expressibility</a:t>
            </a:r>
            <a:r>
              <a:rPr lang="en-US" dirty="0"/>
              <a:t> of the earlier work for optimizations, because oftentimes it is much easier to modify the (internal) traversal order of an algorithm</a:t>
            </a:r>
            <a:br>
              <a:rPr lang="en-US" dirty="0"/>
            </a:br>
            <a:r>
              <a:rPr lang="en-US" dirty="0"/>
              <a:t>rather than the memory layouts of the data structures that might be prescribed by the expected API.</a:t>
            </a:r>
          </a:p>
          <a:p>
            <a:endParaRPr lang="en-US" dirty="0"/>
          </a:p>
          <a:p>
            <a:r>
              <a:rPr lang="en-US" dirty="0"/>
              <a:t>We have also shown that this approach is very useful for specifying parallelization of the computation. We have showcased this on frameworks such as OpenMP and TBB,</a:t>
            </a:r>
            <a:br>
              <a:rPr lang="en-US" dirty="0"/>
            </a:br>
            <a:r>
              <a:rPr lang="en-US" dirty="0"/>
              <a:t>and in more detail in the CUDA framework for general-purpose GPU programming. There, we have shown that the principles pair well with multiple design specifics of</a:t>
            </a:r>
            <a:br>
              <a:rPr lang="en-US" dirty="0"/>
            </a:br>
            <a:r>
              <a:rPr lang="en-US" dirty="0"/>
              <a:t>CUDA programming, such as binding different threads and blocks to the dimensions of the computation 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Yap more?)</a:t>
            </a:r>
          </a:p>
          <a:p>
            <a:endParaRPr lang="en-US" dirty="0"/>
          </a:p>
          <a:p>
            <a:r>
              <a:rPr lang="en-US" dirty="0"/>
              <a:t>We have evaluated the abstractions on the </a:t>
            </a:r>
            <a:r>
              <a:rPr lang="en-US" dirty="0" err="1"/>
              <a:t>PolyBench</a:t>
            </a:r>
            <a:r>
              <a:rPr lang="en-US" dirty="0"/>
              <a:t>/C suite.</a:t>
            </a:r>
          </a:p>
          <a:p>
            <a:endParaRPr lang="en-US" dirty="0"/>
          </a:p>
          <a:p>
            <a:r>
              <a:rPr lang="en-US" dirty="0"/>
              <a:t>W have confirmed that the abstractions do not pose any runtime overhead and they keep the programming complexity in practical algorithms low enough.</a:t>
            </a:r>
          </a:p>
          <a:p>
            <a:endParaRPr lang="en-US" dirty="0"/>
          </a:p>
          <a:p>
            <a:r>
              <a:rPr lang="en-US" dirty="0"/>
              <a:t>Most importantly, as shown before the complexity doesn’t significantly increase with introducing further optimizations to the code.</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AF212E-CA72-C4AE-F1F7-07F014BF7A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D45C23-66BB-0E7A-7EE0-D0C799A935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E3EA43A-1FCE-3D60-414E-B5842CCCFD66}"/>
              </a:ext>
            </a:extLst>
          </p:cNvPr>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p:txBody>
      </p:sp>
      <p:sp>
        <p:nvSpPr>
          <p:cNvPr id="4" name="Slide Number Placeholder 3">
            <a:extLst>
              <a:ext uri="{FF2B5EF4-FFF2-40B4-BE49-F238E27FC236}">
                <a16:creationId xmlns:a16="http://schemas.microsoft.com/office/drawing/2014/main" id="{E12739F2-1F87-864F-92FD-DE6DD7B3BBE1}"/>
              </a:ext>
            </a:extLst>
          </p:cNvPr>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7282828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(HPC?)</a:t>
            </a:r>
            <a:br>
              <a:rPr lang="en-US" dirty="0"/>
            </a:br>
            <a:r>
              <a:rPr lang="en-US" dirty="0"/>
              <a:t>Since many scientific computing algorithms run in a distributed manner on larger clusters, which further complicates the design,</a:t>
            </a:r>
            <a:br>
              <a:rPr lang="en-US" dirty="0"/>
            </a:br>
            <a:r>
              <a:rPr lang="en-US" dirty="0"/>
              <a:t>we have investigated how the principles from the abstractions work in the context of distributed computing.</a:t>
            </a:r>
          </a:p>
          <a:p>
            <a:endParaRPr lang="en-US" dirty="0"/>
          </a:p>
          <a:p>
            <a:r>
              <a:rPr lang="en-US" dirty="0"/>
              <a:t>For this, we have chosen MPI, which is the most predominant technology used to distribute general computing tasks in C++ (as well as Fortran).</a:t>
            </a:r>
          </a:p>
          <a:p>
            <a:endParaRPr lang="en-US" dirty="0"/>
          </a:p>
          <a:p>
            <a:r>
              <a:rPr lang="en-US" dirty="0"/>
              <a:t>(data distribution patterns?)</a:t>
            </a:r>
          </a:p>
          <a:p>
            <a:r>
              <a:rPr lang="en-US" dirty="0"/>
              <a:t>We have observed that many communication patterns, as well as data scattering patterns, can be described using the same building blocks used for describing layout and traversal transformations.</a:t>
            </a:r>
          </a:p>
          <a:p>
            <a:endParaRPr lang="en-US" dirty="0"/>
          </a:p>
          <a:p>
            <a:r>
              <a:rPr lang="en-US" dirty="0"/>
              <a:t>This extension of the abstractions allows binding various dimensions of layouts and traversals to specific MPI communicators (which can specify an abstract topology of computation nodes)</a:t>
            </a:r>
            <a:br>
              <a:rPr lang="en-US" dirty="0"/>
            </a:br>
            <a:r>
              <a:rPr lang="en-US" dirty="0"/>
              <a:t>and layout specifications to native MPI types in such a way that they are communicated in a layout-agnostic way.</a:t>
            </a:r>
          </a:p>
          <a:p>
            <a:endParaRPr lang="en-US" dirty="0"/>
          </a:p>
          <a:p>
            <a:r>
              <a:rPr lang="en-US" dirty="0"/>
              <a:t>This allows, for example, for automatic distribution of data that can then be computed locally, and the local results can be gathered to the final result.</a:t>
            </a:r>
          </a:p>
          <a:p>
            <a:endParaRPr lang="en-US" dirty="0"/>
          </a:p>
          <a:p>
            <a:r>
              <a:rPr lang="en-US" dirty="0"/>
              <a:t>It also enables automatic transformation of the data if the memory layouts on the opposing end-points differ. If this was done naively. the MPI backend would corrupt the data</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18</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confirmed that for the standard memory layout, evaluator, and traverser, which mirrors a baseline implementation, the abstraction does not introduce any overhead over the naturally written algorithm in C++ or CUDA, while introducing flexibility in automatic user-directed optimization.</a:t>
            </a:r>
          </a:p>
          <a:p>
            <a:endParaRPr lang="en-US" dirty="0"/>
          </a:p>
          <a:p>
            <a:r>
              <a:rPr lang="en-US" dirty="0"/>
              <a:t>In our follow-up work, we evaluate more efficient evaluators that use the bit plane encoding and bitwise vectorization of the computations to bring </a:t>
            </a:r>
            <a:r>
              <a:rPr lang="en-US" dirty="0" err="1"/>
              <a:t>speeeeed</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(and, less clearly, the histogram alg.), even with very vague instructions.</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24</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26</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a:t>
            </a:r>
            <a:r>
              <a:rPr lang="en-US"/>
              <a:t>done this one </a:t>
            </a:r>
            <a:r>
              <a:rPr lang="en-US">
                <a:sym typeface="Wingdings" panose="05000000000000000000" pitchFamily="2" charset="2"/>
              </a:rPr>
              <a:t></a:t>
            </a:r>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29110468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245D912-7048-8F27-7BE0-2F656D101AD8}"/>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0EA5DD48-9F56-1FDB-7526-16D2FDD7CF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622EED6-4A9E-31FB-8AD8-6AEEFF78FDCA}"/>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3F57E82-5604-4F8C-BCFA-F7C026884391}" type="datetimeFigureOut">
              <a:rPr lang="en-US" smtClean="0"/>
              <a:t>8/26/2026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 Id="rId5" Type="http://schemas.openxmlformats.org/officeDocument/2006/relationships/image" Target="../media/image11.png"/><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github.com/matyas-brabec/2025-europar-llm/tree/GPT-5-high" TargetMode="Externa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noProof="0" dirty="0"/>
              <a:t>Jiří Klepl</a:t>
            </a:r>
          </a:p>
          <a:p>
            <a:r>
              <a:rPr lang="en-US" noProof="0" dirty="0"/>
              <a:t>Department of Distributed and Dependable Systems</a:t>
            </a:r>
          </a:p>
        </p:txBody>
      </p:sp>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Tree>
    <p:extLst>
      <p:ext uri="{BB962C8B-B14F-4D97-AF65-F5344CB8AC3E}">
        <p14:creationId xmlns:p14="http://schemas.microsoft.com/office/powerpoint/2010/main" val="1814957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traversing matrices</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noProof="0" smtClean="0">
                        <a:latin typeface="Cambria Math" panose="02040503050406030204" pitchFamily="18" charset="0"/>
                      </a:rPr>
                      <m:t>𝑚</m:t>
                    </m:r>
                    <m:r>
                      <a:rPr lang="en-US" b="0" i="1" noProof="0" smtClean="0">
                        <a:latin typeface="Cambria Math" panose="02040503050406030204" pitchFamily="18" charset="0"/>
                      </a:rPr>
                      <m:t>×</m:t>
                    </m:r>
                    <m:r>
                      <a:rPr lang="en-US" b="0" i="1" noProof="0" smtClean="0">
                        <a:latin typeface="Cambria Math" panose="02040503050406030204" pitchFamily="18" charset="0"/>
                      </a:rPr>
                      <m:t>𝑛</m:t>
                    </m:r>
                  </m:oMath>
                </a14:m>
                <a:r>
                  <a:rPr lang="en-US" noProof="0" dirty="0"/>
                  <a:t> matrix in row-major and column-major </a:t>
                </a:r>
                <a:r>
                  <a:rPr lang="en-US"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noProof="0" dirty="0"/>
              <a:t>A row-wise </a:t>
            </a:r>
            <a:r>
              <a:rPr lang="en-US" i="1" noProof="0" dirty="0"/>
              <a:t>traversal</a:t>
            </a:r>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Tree>
    <p:extLst>
      <p:ext uri="{BB962C8B-B14F-4D97-AF65-F5344CB8AC3E}">
        <p14:creationId xmlns:p14="http://schemas.microsoft.com/office/powerpoint/2010/main" val="2693993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Tree>
    <p:extLst>
      <p:ext uri="{BB962C8B-B14F-4D97-AF65-F5344CB8AC3E}">
        <p14:creationId xmlns:p14="http://schemas.microsoft.com/office/powerpoint/2010/main" val="35158810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609296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6853642" y="2395127"/>
            <a:ext cx="3986541" cy="1033873"/>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6096000"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22159396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Tree>
    <p:extLst>
      <p:ext uri="{BB962C8B-B14F-4D97-AF65-F5344CB8AC3E}">
        <p14:creationId xmlns:p14="http://schemas.microsoft.com/office/powerpoint/2010/main" val="35036517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Tree>
    <p:extLst>
      <p:ext uri="{BB962C8B-B14F-4D97-AF65-F5344CB8AC3E}">
        <p14:creationId xmlns:p14="http://schemas.microsoft.com/office/powerpoint/2010/main" val="21261212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838200" y="5087259"/>
            <a:ext cx="4781006"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957942" y="2152471"/>
            <a:ext cx="5042263" cy="999376"/>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1.0f</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957941" y="3429000"/>
            <a:ext cx="5042263"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795E26"/>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Tree>
    <p:extLst>
      <p:ext uri="{BB962C8B-B14F-4D97-AF65-F5344CB8AC3E}">
        <p14:creationId xmlns:p14="http://schemas.microsoft.com/office/powerpoint/2010/main" val="19124478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636E9FD-247E-1AA7-D6A5-E87E47C53CE2}"/>
              </a:ext>
            </a:extLst>
          </p:cNvPr>
          <p:cNvSpPr/>
          <p:nvPr/>
        </p:nvSpPr>
        <p:spPr>
          <a:xfrm>
            <a:off x="2377440" y="5712822"/>
            <a:ext cx="914400" cy="261257"/>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5E43FD9E-962F-507A-2FBC-11B41B5D5BA8}"/>
              </a:ext>
            </a:extLst>
          </p:cNvPr>
          <p:cNvSpPr/>
          <p:nvPr/>
        </p:nvSpPr>
        <p:spPr>
          <a:xfrm>
            <a:off x="838200" y="4981303"/>
            <a:ext cx="4282440" cy="731520"/>
          </a:xfrm>
          <a:prstGeom prst="rect">
            <a:avLst/>
          </a:prstGeom>
          <a:solidFill>
            <a:schemeClr val="accent6">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noProof="0" dirty="0"/>
          </a:p>
        </p:txBody>
      </p:sp>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BB2067E7-3940-E910-DD8D-1BFB7B264AF5}"/>
              </a:ext>
            </a:extLst>
          </p:cNvPr>
          <p:cNvSpPr txBox="1"/>
          <p:nvPr/>
        </p:nvSpPr>
        <p:spPr>
          <a:xfrm>
            <a:off x="838200" y="2047967"/>
            <a:ext cx="4781006"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8" name="TextBox 7">
            <a:extLst>
              <a:ext uri="{FF2B5EF4-FFF2-40B4-BE49-F238E27FC236}">
                <a16:creationId xmlns:a16="http://schemas.microsoft.com/office/drawing/2014/main" id="{B17E6F97-71C0-E7B6-3913-C7F1E0B84654}"/>
              </a:ext>
            </a:extLst>
          </p:cNvPr>
          <p:cNvSpPr txBox="1"/>
          <p:nvPr/>
        </p:nvSpPr>
        <p:spPr>
          <a:xfrm>
            <a:off x="838200" y="4290424"/>
            <a:ext cx="4781006" cy="2095061"/>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9" name="TextBox 8">
            <a:extLst>
              <a:ext uri="{FF2B5EF4-FFF2-40B4-BE49-F238E27FC236}">
                <a16:creationId xmlns:a16="http://schemas.microsoft.com/office/drawing/2014/main" id="{4F6D6258-7B5D-FB97-F272-7A2D251F6BB0}"/>
              </a:ext>
            </a:extLst>
          </p:cNvPr>
          <p:cNvSpPr txBox="1"/>
          <p:nvPr/>
        </p:nvSpPr>
        <p:spPr>
          <a:xfrm flipH="1">
            <a:off x="7421879" y="4075611"/>
            <a:ext cx="3237412" cy="369332"/>
          </a:xfrm>
          <a:prstGeom prst="rect">
            <a:avLst/>
          </a:prstGeom>
          <a:noFill/>
        </p:spPr>
        <p:txBody>
          <a:bodyPr wrap="square" rtlCol="0">
            <a:spAutoFit/>
          </a:bodyPr>
          <a:lstStyle/>
          <a:p>
            <a:r>
              <a:rPr lang="en-US" noProof="0" dirty="0" err="1"/>
              <a:t>Proste</a:t>
            </a:r>
            <a:r>
              <a:rPr lang="en-US" noProof="0" dirty="0"/>
              <a:t> </a:t>
            </a:r>
            <a:r>
              <a:rPr lang="en-US" noProof="0" dirty="0" err="1"/>
              <a:t>parallelizovana</a:t>
            </a:r>
            <a:r>
              <a:rPr lang="en-US" noProof="0" dirty="0"/>
              <a:t> </a:t>
            </a:r>
            <a:r>
              <a:rPr lang="en-US" noProof="0" dirty="0" err="1"/>
              <a:t>vec</a:t>
            </a:r>
            <a:endParaRPr lang="en-US" noProof="0" dirty="0"/>
          </a:p>
        </p:txBody>
      </p:sp>
    </p:spTree>
    <p:extLst>
      <p:ext uri="{BB962C8B-B14F-4D97-AF65-F5344CB8AC3E}">
        <p14:creationId xmlns:p14="http://schemas.microsoft.com/office/powerpoint/2010/main" val="11176100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Tree>
    <p:extLst>
      <p:ext uri="{BB962C8B-B14F-4D97-AF65-F5344CB8AC3E}">
        <p14:creationId xmlns:p14="http://schemas.microsoft.com/office/powerpoint/2010/main" val="29584069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Tuning parameters</a:t>
            </a:r>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code</a:t>
            </a:r>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Optimized application</a:t>
            </a:r>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Tree>
    <p:extLst>
      <p:ext uri="{BB962C8B-B14F-4D97-AF65-F5344CB8AC3E}">
        <p14:creationId xmlns:p14="http://schemas.microsoft.com/office/powerpoint/2010/main" val="18933589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2905836" y="252614"/>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2276224" y="3794899"/>
            <a:ext cx="5117746" cy="2045562"/>
          </a:xfrm>
          <a:prstGeom prst="rect">
            <a:avLst/>
          </a:prstGeom>
        </p:spPr>
      </p:pic>
      <p:pic>
        <p:nvPicPr>
          <p:cNvPr id="9" name="Picture 8">
            <a:extLst>
              <a:ext uri="{FF2B5EF4-FFF2-40B4-BE49-F238E27FC236}">
                <a16:creationId xmlns:a16="http://schemas.microsoft.com/office/drawing/2014/main" id="{8C93F01F-DFCF-8FF5-BB0F-F31857B0A67F}"/>
              </a:ext>
            </a:extLst>
          </p:cNvPr>
          <p:cNvPicPr>
            <a:picLocks noChangeAspect="1"/>
          </p:cNvPicPr>
          <p:nvPr/>
        </p:nvPicPr>
        <p:blipFill>
          <a:blip r:embed="rId5"/>
          <a:stretch>
            <a:fillRect/>
          </a:stretch>
        </p:blipFill>
        <p:spPr>
          <a:xfrm>
            <a:off x="7775531" y="2569047"/>
            <a:ext cx="4410780" cy="2248633"/>
          </a:xfrm>
          <a:prstGeom prst="rect">
            <a:avLst/>
          </a:prstGeom>
        </p:spPr>
      </p:pic>
    </p:spTree>
    <p:extLst>
      <p:ext uri="{BB962C8B-B14F-4D97-AF65-F5344CB8AC3E}">
        <p14:creationId xmlns:p14="http://schemas.microsoft.com/office/powerpoint/2010/main" val="522048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Tree>
    <p:extLst>
      <p:ext uri="{BB962C8B-B14F-4D97-AF65-F5344CB8AC3E}">
        <p14:creationId xmlns:p14="http://schemas.microsoft.com/office/powerpoint/2010/main" val="199449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endParaRPr lang="en-US" noProof="0" dirty="0"/>
          </a:p>
        </p:txBody>
      </p:sp>
      <p:sp>
        <p:nvSpPr>
          <p:cNvPr id="19" name="TextBox 18">
            <a:extLst>
              <a:ext uri="{FF2B5EF4-FFF2-40B4-BE49-F238E27FC236}">
                <a16:creationId xmlns:a16="http://schemas.microsoft.com/office/drawing/2014/main" id="{A5213A0B-F2B1-2FBF-0110-D745941C8165}"/>
              </a:ext>
            </a:extLst>
          </p:cNvPr>
          <p:cNvSpPr txBox="1"/>
          <p:nvPr/>
        </p:nvSpPr>
        <p:spPr>
          <a:xfrm>
            <a:off x="5068379" y="3357547"/>
            <a:ext cx="1037463" cy="369332"/>
          </a:xfrm>
          <a:prstGeom prst="rect">
            <a:avLst/>
          </a:prstGeom>
          <a:noFill/>
        </p:spPr>
        <p:txBody>
          <a:bodyPr wrap="none" rtlCol="0">
            <a:spAutoFit/>
          </a:bodyPr>
          <a:lstStyle/>
          <a:p>
            <a:r>
              <a:rPr lang="en-US" noProof="0" dirty="0"/>
              <a:t>MPI type</a:t>
            </a:r>
          </a:p>
        </p:txBody>
      </p:sp>
      <p:sp>
        <p:nvSpPr>
          <p:cNvPr id="20" name="Rectangle 19">
            <a:extLst>
              <a:ext uri="{FF2B5EF4-FFF2-40B4-BE49-F238E27FC236}">
                <a16:creationId xmlns:a16="http://schemas.microsoft.com/office/drawing/2014/main" id="{68DE49E3-54DC-3782-623E-9216D46CB5CE}"/>
              </a:ext>
            </a:extLst>
          </p:cNvPr>
          <p:cNvSpPr/>
          <p:nvPr/>
        </p:nvSpPr>
        <p:spPr>
          <a:xfrm>
            <a:off x="975360" y="2865120"/>
            <a:ext cx="3457303" cy="27083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704012" y="2865120"/>
            <a:ext cx="0" cy="270836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a:stCxn id="20" idx="1"/>
            <a:endCxn id="20" idx="3"/>
          </p:cNvCxnSpPr>
          <p:nvPr/>
        </p:nvCxnSpPr>
        <p:spPr>
          <a:xfrm>
            <a:off x="975360" y="421930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3" name="Right Brace 32">
            <a:extLst>
              <a:ext uri="{FF2B5EF4-FFF2-40B4-BE49-F238E27FC236}">
                <a16:creationId xmlns:a16="http://schemas.microsoft.com/office/drawing/2014/main" id="{EEEB8DE7-AB06-ECAC-C59A-47F2BA36D502}"/>
              </a:ext>
            </a:extLst>
          </p:cNvPr>
          <p:cNvSpPr/>
          <p:nvPr/>
        </p:nvSpPr>
        <p:spPr>
          <a:xfrm>
            <a:off x="4580708" y="2865123"/>
            <a:ext cx="339626" cy="135418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noProof="0" dirty="0"/>
          </a:p>
        </p:txBody>
      </p:sp>
      <p:cxnSp>
        <p:nvCxnSpPr>
          <p:cNvPr id="35" name="Straight Connector 34">
            <a:extLst>
              <a:ext uri="{FF2B5EF4-FFF2-40B4-BE49-F238E27FC236}">
                <a16:creationId xmlns:a16="http://schemas.microsoft.com/office/drawing/2014/main" id="{5769E367-8977-3525-B957-1C2C939268D0}"/>
              </a:ext>
            </a:extLst>
          </p:cNvPr>
          <p:cNvCxnSpPr/>
          <p:nvPr/>
        </p:nvCxnSpPr>
        <p:spPr>
          <a:xfrm>
            <a:off x="1776549" y="3622766"/>
            <a:ext cx="3810561" cy="25429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a:off x="3587931" y="3622766"/>
            <a:ext cx="1999179" cy="25429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a:off x="1776549" y="5042263"/>
            <a:ext cx="3810561" cy="110911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5621944" y="5981003"/>
            <a:ext cx="3115661" cy="369332"/>
          </a:xfrm>
          <a:prstGeom prst="rect">
            <a:avLst/>
          </a:prstGeom>
          <a:noFill/>
        </p:spPr>
        <p:txBody>
          <a:bodyPr wrap="none" rtlCol="0">
            <a:spAutoFit/>
          </a:bodyPr>
          <a:lstStyle/>
          <a:p>
            <a:r>
              <a:rPr lang="en-US" noProof="0" dirty="0"/>
              <a:t>Binding to MPI communicator</a:t>
            </a:r>
          </a:p>
        </p:txBody>
      </p:sp>
      <p:sp>
        <p:nvSpPr>
          <p:cNvPr id="44" name="TextBox 43">
            <a:extLst>
              <a:ext uri="{FF2B5EF4-FFF2-40B4-BE49-F238E27FC236}">
                <a16:creationId xmlns:a16="http://schemas.microsoft.com/office/drawing/2014/main" id="{00612D55-36C9-6C61-DF21-5AA00D7D6F03}"/>
              </a:ext>
            </a:extLst>
          </p:cNvPr>
          <p:cNvSpPr txBox="1"/>
          <p:nvPr/>
        </p:nvSpPr>
        <p:spPr>
          <a:xfrm>
            <a:off x="1776549" y="2211977"/>
            <a:ext cx="1398268" cy="369332"/>
          </a:xfrm>
          <a:prstGeom prst="rect">
            <a:avLst/>
          </a:prstGeom>
          <a:noFill/>
        </p:spPr>
        <p:txBody>
          <a:bodyPr wrap="none" rtlCol="0">
            <a:spAutoFit/>
          </a:bodyPr>
          <a:lstStyle/>
          <a:p>
            <a:r>
              <a:rPr lang="en-US" noProof="0" dirty="0">
                <a:solidFill>
                  <a:srgbClr val="FF0000"/>
                </a:solidFill>
              </a:rPr>
              <a:t>TODO </a:t>
            </a:r>
            <a:r>
              <a:rPr lang="en-US" noProof="0" dirty="0" err="1">
                <a:solidFill>
                  <a:srgbClr val="FF0000"/>
                </a:solidFill>
              </a:rPr>
              <a:t>Noarr</a:t>
            </a:r>
            <a:endParaRPr lang="en-US" noProof="0" dirty="0">
              <a:solidFill>
                <a:srgbClr val="FF0000"/>
              </a:solidFill>
            </a:endParaRPr>
          </a:p>
        </p:txBody>
      </p:sp>
      <p:sp>
        <p:nvSpPr>
          <p:cNvPr id="46" name="TextBox 45">
            <a:extLst>
              <a:ext uri="{FF2B5EF4-FFF2-40B4-BE49-F238E27FC236}">
                <a16:creationId xmlns:a16="http://schemas.microsoft.com/office/drawing/2014/main" id="{4C65FA3D-9669-4004-2E6D-A1DA7F591C7C}"/>
              </a:ext>
            </a:extLst>
          </p:cNvPr>
          <p:cNvSpPr txBox="1"/>
          <p:nvPr/>
        </p:nvSpPr>
        <p:spPr>
          <a:xfrm>
            <a:off x="6388299" y="3357547"/>
            <a:ext cx="2638992" cy="369332"/>
          </a:xfrm>
          <a:prstGeom prst="rect">
            <a:avLst/>
          </a:prstGeom>
          <a:noFill/>
        </p:spPr>
        <p:txBody>
          <a:bodyPr wrap="none" rtlCol="0">
            <a:spAutoFit/>
          </a:bodyPr>
          <a:lstStyle/>
          <a:p>
            <a:r>
              <a:rPr lang="en-US" noProof="0" dirty="0">
                <a:solidFill>
                  <a:srgbClr val="FF0000"/>
                </a:solidFill>
              </a:rPr>
              <a:t>TODO actual description</a:t>
            </a:r>
          </a:p>
        </p:txBody>
      </p:sp>
      <p:sp>
        <p:nvSpPr>
          <p:cNvPr id="48" name="TextBox 47">
            <a:extLst>
              <a:ext uri="{FF2B5EF4-FFF2-40B4-BE49-F238E27FC236}">
                <a16:creationId xmlns:a16="http://schemas.microsoft.com/office/drawing/2014/main" id="{F5881909-F7F8-DD2C-3387-287BA8E13CE5}"/>
              </a:ext>
            </a:extLst>
          </p:cNvPr>
          <p:cNvSpPr txBox="1"/>
          <p:nvPr/>
        </p:nvSpPr>
        <p:spPr>
          <a:xfrm>
            <a:off x="5860278" y="6308209"/>
            <a:ext cx="2074735" cy="369332"/>
          </a:xfrm>
          <a:prstGeom prst="rect">
            <a:avLst/>
          </a:prstGeom>
          <a:noFill/>
        </p:spPr>
        <p:txBody>
          <a:bodyPr wrap="none" rtlCol="0">
            <a:spAutoFit/>
          </a:bodyPr>
          <a:lstStyle/>
          <a:p>
            <a:r>
              <a:rPr lang="en-US" noProof="0" dirty="0">
                <a:solidFill>
                  <a:srgbClr val="FF0000"/>
                </a:solidFill>
              </a:rPr>
              <a:t>TODO the mapping</a:t>
            </a:r>
          </a:p>
        </p:txBody>
      </p:sp>
      <p:sp>
        <p:nvSpPr>
          <p:cNvPr id="50" name="TextBox 49">
            <a:extLst>
              <a:ext uri="{FF2B5EF4-FFF2-40B4-BE49-F238E27FC236}">
                <a16:creationId xmlns:a16="http://schemas.microsoft.com/office/drawing/2014/main" id="{F37A857B-EB77-6965-42EF-0448615590BE}"/>
              </a:ext>
            </a:extLst>
          </p:cNvPr>
          <p:cNvSpPr txBox="1"/>
          <p:nvPr/>
        </p:nvSpPr>
        <p:spPr>
          <a:xfrm>
            <a:off x="7536678" y="4299943"/>
            <a:ext cx="3880229" cy="369332"/>
          </a:xfrm>
          <a:prstGeom prst="rect">
            <a:avLst/>
          </a:prstGeom>
          <a:noFill/>
        </p:spPr>
        <p:txBody>
          <a:bodyPr wrap="none" rtlCol="0">
            <a:spAutoFit/>
          </a:bodyPr>
          <a:lstStyle/>
          <a:p>
            <a:r>
              <a:rPr lang="en-US" noProof="0" dirty="0">
                <a:solidFill>
                  <a:srgbClr val="FF0000"/>
                </a:solidFill>
              </a:rPr>
              <a:t>TODO this can be done automatically</a:t>
            </a:r>
          </a:p>
        </p:txBody>
      </p:sp>
    </p:spTree>
    <p:extLst>
      <p:ext uri="{BB962C8B-B14F-4D97-AF65-F5344CB8AC3E}">
        <p14:creationId xmlns:p14="http://schemas.microsoft.com/office/powerpoint/2010/main" val="3399022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29051-C55D-C6C6-0632-56BEDC62718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AF9FE65-1712-5072-CF69-47E693209BEE}"/>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8F88950C-287E-7FB4-0D76-46A8FCD9878F}"/>
              </a:ext>
            </a:extLst>
          </p:cNvPr>
          <p:cNvSpPr txBox="1"/>
          <p:nvPr/>
        </p:nvSpPr>
        <p:spPr>
          <a:xfrm>
            <a:off x="838200" y="3280230"/>
            <a:ext cx="4781006" cy="2095061"/>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noProof="0" dirty="0" err="1">
                <a:solidFill>
                  <a:srgbClr val="795E26"/>
                </a:solidFill>
                <a:latin typeface="Fira Code" panose="020B0809050000020004" pitchFamily="49" charset="0"/>
              </a:rPr>
              <a:t>into_blocks</a:t>
            </a:r>
            <a:r>
              <a:rPr lang="en-US" sz="1050" noProof="0" dirty="0">
                <a:solidFill>
                  <a:srgbClr val="000000"/>
                </a:solidFill>
                <a:latin typeface="Fira Code" panose="020B0809050000020004" pitchFamily="49" charset="0"/>
              </a:rPr>
              <a:t>&lt;</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 </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&gt;()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noProof="0" dirty="0" err="1">
                <a:solidFill>
                  <a:srgbClr val="795E26"/>
                </a:solidFill>
                <a:latin typeface="Fira Code" panose="020B0809050000020004" pitchFamily="49" charset="0"/>
              </a:rPr>
              <a:t>mpi_bind</a:t>
            </a:r>
            <a:r>
              <a:rPr lang="en-US" sz="1050" noProof="0" dirty="0">
                <a:solidFill>
                  <a:srgbClr val="000000"/>
                </a:solidFill>
                <a:latin typeface="Fira Code" panose="020B0809050000020004" pitchFamily="49" charset="0"/>
              </a:rPr>
              <a:t>&lt;</a:t>
            </a:r>
            <a:r>
              <a:rPr lang="en-US" sz="1050" noProof="0" dirty="0">
                <a:solidFill>
                  <a:srgbClr val="A31515"/>
                </a:solidFill>
                <a:latin typeface="Fira Code" panose="020B0809050000020004" pitchFamily="49" charset="0"/>
              </a:rPr>
              <a:t>'M’</a:t>
            </a:r>
            <a:r>
              <a:rPr lang="en-US" sz="1050" noProof="0" dirty="0">
                <a:solidFill>
                  <a:srgbClr val="000000"/>
                </a:solidFill>
                <a:latin typeface="Fira Code" panose="020B0809050000020004" pitchFamily="49" charset="0"/>
              </a:rPr>
              <a:t>&gt;(COMMUNICATOR) ^</a:t>
            </a: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7" name="TextBox 6">
            <a:extLst>
              <a:ext uri="{FF2B5EF4-FFF2-40B4-BE49-F238E27FC236}">
                <a16:creationId xmlns:a16="http://schemas.microsoft.com/office/drawing/2014/main" id="{03BE4FC0-B7FD-D320-3766-50AA66B9FE4E}"/>
              </a:ext>
            </a:extLst>
          </p:cNvPr>
          <p:cNvSpPr txBox="1"/>
          <p:nvPr/>
        </p:nvSpPr>
        <p:spPr>
          <a:xfrm>
            <a:off x="4282440" y="3936274"/>
            <a:ext cx="2673532" cy="646331"/>
          </a:xfrm>
          <a:prstGeom prst="rect">
            <a:avLst/>
          </a:prstGeom>
          <a:noFill/>
        </p:spPr>
        <p:txBody>
          <a:bodyPr wrap="square" rtlCol="0">
            <a:spAutoFit/>
          </a:bodyPr>
          <a:lstStyle/>
          <a:p>
            <a:r>
              <a:rPr lang="en-US" noProof="0" dirty="0">
                <a:solidFill>
                  <a:srgbClr val="FF0000"/>
                </a:solidFill>
              </a:rPr>
              <a:t>TODO: COPY FROM THE ARTIFACT</a:t>
            </a:r>
          </a:p>
        </p:txBody>
      </p:sp>
      <p:cxnSp>
        <p:nvCxnSpPr>
          <p:cNvPr id="9" name="Straight Arrow Connector 8">
            <a:extLst>
              <a:ext uri="{FF2B5EF4-FFF2-40B4-BE49-F238E27FC236}">
                <a16:creationId xmlns:a16="http://schemas.microsoft.com/office/drawing/2014/main" id="{B99C109E-171A-6E48-B037-3009F35E3E49}"/>
              </a:ext>
            </a:extLst>
          </p:cNvPr>
          <p:cNvCxnSpPr/>
          <p:nvPr/>
        </p:nvCxnSpPr>
        <p:spPr>
          <a:xfrm flipV="1">
            <a:off x="6096000" y="2760617"/>
            <a:ext cx="2194560" cy="74893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FCAEE460-F635-1C27-9B25-A6B4548995A8}"/>
              </a:ext>
            </a:extLst>
          </p:cNvPr>
          <p:cNvCxnSpPr>
            <a:cxnSpLocks/>
          </p:cNvCxnSpPr>
          <p:nvPr/>
        </p:nvCxnSpPr>
        <p:spPr>
          <a:xfrm>
            <a:off x="6955972" y="4258491"/>
            <a:ext cx="1395548" cy="94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DFDAD778-041C-142A-9B74-7A0854065A9D}"/>
              </a:ext>
            </a:extLst>
          </p:cNvPr>
          <p:cNvCxnSpPr>
            <a:cxnSpLocks/>
          </p:cNvCxnSpPr>
          <p:nvPr/>
        </p:nvCxnSpPr>
        <p:spPr>
          <a:xfrm>
            <a:off x="6751320" y="5008376"/>
            <a:ext cx="1539240" cy="66961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9BE1F9E-2544-9BDB-5CC7-E47187F05A6E}"/>
              </a:ext>
            </a:extLst>
          </p:cNvPr>
          <p:cNvSpPr txBox="1"/>
          <p:nvPr/>
        </p:nvSpPr>
        <p:spPr>
          <a:xfrm>
            <a:off x="8429898" y="2575951"/>
            <a:ext cx="904671" cy="369332"/>
          </a:xfrm>
          <a:prstGeom prst="rect">
            <a:avLst/>
          </a:prstGeom>
          <a:noFill/>
        </p:spPr>
        <p:txBody>
          <a:bodyPr wrap="none" rtlCol="0">
            <a:spAutoFit/>
          </a:bodyPr>
          <a:lstStyle/>
          <a:p>
            <a:r>
              <a:rPr lang="en-US" noProof="0" dirty="0"/>
              <a:t>Scatter</a:t>
            </a:r>
          </a:p>
        </p:txBody>
      </p:sp>
      <p:sp>
        <p:nvSpPr>
          <p:cNvPr id="16" name="TextBox 15">
            <a:extLst>
              <a:ext uri="{FF2B5EF4-FFF2-40B4-BE49-F238E27FC236}">
                <a16:creationId xmlns:a16="http://schemas.microsoft.com/office/drawing/2014/main" id="{ED7CD3EF-9BE9-5D50-D214-6FD467C00A95}"/>
              </a:ext>
            </a:extLst>
          </p:cNvPr>
          <p:cNvSpPr txBox="1"/>
          <p:nvPr/>
        </p:nvSpPr>
        <p:spPr>
          <a:xfrm>
            <a:off x="8429897" y="4073825"/>
            <a:ext cx="1122871" cy="369332"/>
          </a:xfrm>
          <a:prstGeom prst="rect">
            <a:avLst/>
          </a:prstGeom>
          <a:noFill/>
        </p:spPr>
        <p:txBody>
          <a:bodyPr wrap="none" rtlCol="0">
            <a:spAutoFit/>
          </a:bodyPr>
          <a:lstStyle/>
          <a:p>
            <a:r>
              <a:rPr lang="en-US" noProof="0" dirty="0"/>
              <a:t>Compute</a:t>
            </a:r>
          </a:p>
        </p:txBody>
      </p:sp>
      <p:sp>
        <p:nvSpPr>
          <p:cNvPr id="18" name="TextBox 17">
            <a:extLst>
              <a:ext uri="{FF2B5EF4-FFF2-40B4-BE49-F238E27FC236}">
                <a16:creationId xmlns:a16="http://schemas.microsoft.com/office/drawing/2014/main" id="{63B12673-26DD-6FEE-1502-219CF700DF05}"/>
              </a:ext>
            </a:extLst>
          </p:cNvPr>
          <p:cNvSpPr txBox="1"/>
          <p:nvPr/>
        </p:nvSpPr>
        <p:spPr>
          <a:xfrm>
            <a:off x="8447081" y="5493323"/>
            <a:ext cx="870303" cy="369332"/>
          </a:xfrm>
          <a:prstGeom prst="rect">
            <a:avLst/>
          </a:prstGeom>
          <a:noFill/>
        </p:spPr>
        <p:txBody>
          <a:bodyPr wrap="none" rtlCol="0">
            <a:spAutoFit/>
          </a:bodyPr>
          <a:lstStyle/>
          <a:p>
            <a:r>
              <a:rPr lang="en-US" noProof="0" dirty="0"/>
              <a:t>Gather</a:t>
            </a:r>
          </a:p>
        </p:txBody>
      </p:sp>
    </p:spTree>
    <p:extLst>
      <p:ext uri="{BB962C8B-B14F-4D97-AF65-F5344CB8AC3E}">
        <p14:creationId xmlns:p14="http://schemas.microsoft.com/office/powerpoint/2010/main" val="35762271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2" name="Rectangle 1">
            <a:extLst>
              <a:ext uri="{FF2B5EF4-FFF2-40B4-BE49-F238E27FC236}">
                <a16:creationId xmlns:a16="http://schemas.microsoft.com/office/drawing/2014/main" id="{5078614E-A6EB-B58F-B6F8-B17BCC956B35}"/>
              </a:ext>
            </a:extLst>
          </p:cNvPr>
          <p:cNvSpPr/>
          <p:nvPr/>
        </p:nvSpPr>
        <p:spPr>
          <a:xfrm>
            <a:off x="1480457" y="2592977"/>
            <a:ext cx="1968137" cy="2360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5" name="Rectangle 4">
            <a:extLst>
              <a:ext uri="{FF2B5EF4-FFF2-40B4-BE49-F238E27FC236}">
                <a16:creationId xmlns:a16="http://schemas.microsoft.com/office/drawing/2014/main" id="{EF378A81-CAFE-54BD-887A-F06DC9BF4A37}"/>
              </a:ext>
            </a:extLst>
          </p:cNvPr>
          <p:cNvSpPr/>
          <p:nvPr/>
        </p:nvSpPr>
        <p:spPr>
          <a:xfrm rot="16200000">
            <a:off x="7863841" y="2521131"/>
            <a:ext cx="1968137" cy="236002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1523643" y="2081348"/>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7948720" y="2284215"/>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0" name="Rectangle 9">
            <a:extLst>
              <a:ext uri="{FF2B5EF4-FFF2-40B4-BE49-F238E27FC236}">
                <a16:creationId xmlns:a16="http://schemas.microsoft.com/office/drawing/2014/main" id="{92B3BAE0-1817-336E-2191-5401BAB3AF67}"/>
              </a:ext>
            </a:extLst>
          </p:cNvPr>
          <p:cNvSpPr/>
          <p:nvPr/>
        </p:nvSpPr>
        <p:spPr>
          <a:xfrm>
            <a:off x="1606731" y="5016527"/>
            <a:ext cx="1968137" cy="2360023"/>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C75B32D4-98DA-65FF-8827-23DC482C05DB}"/>
              </a:ext>
            </a:extLst>
          </p:cNvPr>
          <p:cNvSpPr/>
          <p:nvPr/>
        </p:nvSpPr>
        <p:spPr>
          <a:xfrm rot="16200000">
            <a:off x="7990115" y="4944681"/>
            <a:ext cx="1968137" cy="2360023"/>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3" name="TextBox 12">
            <a:extLst>
              <a:ext uri="{FF2B5EF4-FFF2-40B4-BE49-F238E27FC236}">
                <a16:creationId xmlns:a16="http://schemas.microsoft.com/office/drawing/2014/main" id="{439C9CAD-9E1E-7EC1-4429-D017CA1092E1}"/>
              </a:ext>
            </a:extLst>
          </p:cNvPr>
          <p:cNvSpPr txBox="1"/>
          <p:nvPr/>
        </p:nvSpPr>
        <p:spPr>
          <a:xfrm>
            <a:off x="5164183" y="3962400"/>
            <a:ext cx="425116" cy="369332"/>
          </a:xfrm>
          <a:prstGeom prst="rect">
            <a:avLst/>
          </a:prstGeom>
          <a:noFill/>
        </p:spPr>
        <p:txBody>
          <a:bodyPr wrap="none" rtlCol="0">
            <a:spAutoFit/>
          </a:bodyPr>
          <a:lstStyle/>
          <a:p>
            <a:r>
              <a:rPr lang="en-US" noProof="0" dirty="0"/>
              <a:t>us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5103223" y="6096000"/>
            <a:ext cx="713016" cy="369332"/>
          </a:xfrm>
          <a:prstGeom prst="rect">
            <a:avLst/>
          </a:prstGeom>
          <a:noFill/>
        </p:spPr>
        <p:txBody>
          <a:bodyPr wrap="none" rtlCol="0">
            <a:spAutoFit/>
          </a:bodyPr>
          <a:lstStyle/>
          <a:p>
            <a:r>
              <a:rPr lang="en-US" noProof="0" dirty="0"/>
              <a:t>naive</a:t>
            </a:r>
          </a:p>
        </p:txBody>
      </p:sp>
    </p:spTree>
    <p:extLst>
      <p:ext uri="{BB962C8B-B14F-4D97-AF65-F5344CB8AC3E}">
        <p14:creationId xmlns:p14="http://schemas.microsoft.com/office/powerpoint/2010/main" val="14841515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Tree>
    <p:extLst>
      <p:ext uri="{BB962C8B-B14F-4D97-AF65-F5344CB8AC3E}">
        <p14:creationId xmlns:p14="http://schemas.microsoft.com/office/powerpoint/2010/main" val="2024218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Tree>
    <p:extLst>
      <p:ext uri="{BB962C8B-B14F-4D97-AF65-F5344CB8AC3E}">
        <p14:creationId xmlns:p14="http://schemas.microsoft.com/office/powerpoint/2010/main" val="3466036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5922BE7C-0751-598B-C00C-8B9564A9A09D}"/>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AEA9C9FB-1277-8D57-811D-B860C44F7929}"/>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181C6AE7-0A9D-76DD-6363-A2D7AD1912DB}"/>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EF6FEBD1-39F5-0475-1030-D2D0EBD8CB03}"/>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55FF3AEE-E135-1E62-5EDC-53066AD1A802}"/>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ABE75C30-5A1B-8AB4-A106-0A24D6AFEED2}"/>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8BD9587A-59F8-C7D4-6205-B1DE445BF524}"/>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CD844549-BDD8-ABCA-0C10-F904D442B53D}"/>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02D95BA9-E80B-25A8-64B6-B250EDD29F8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205EDB32-F4D4-CE69-B94B-87DE173BBCC4}"/>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960071AA-70B7-F66C-A4F3-77C62F0CCFA4}"/>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71165215-9458-D01B-8A4E-1683A85CA7BD}"/>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B466C9A0-18FB-0223-312F-7A0630D284B3}"/>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B1DD5F4C-3F36-7C17-D1E9-890B3B91F3E5}"/>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B24B6ACB-6D95-84C9-74D2-FD0339E4EF18}"/>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C3B35AA-31C5-70E2-7586-77C8AC6BD2CC}"/>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BE1D6BE9-114F-6743-FE27-0C964FC068D9}"/>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C012ADAE-C88E-F73E-63B5-BC5F78EE7D8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Tree>
    <p:extLst>
      <p:ext uri="{BB962C8B-B14F-4D97-AF65-F5344CB8AC3E}">
        <p14:creationId xmlns:p14="http://schemas.microsoft.com/office/powerpoint/2010/main" val="263053997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58894841-195F-D09C-28C7-7B371479C892}"/>
              </a:ext>
            </a:extLst>
          </p:cNvPr>
          <p:cNvPicPr>
            <a:picLocks noChangeAspect="1"/>
          </p:cNvPicPr>
          <p:nvPr/>
        </p:nvPicPr>
        <p:blipFill>
          <a:blip r:embed="rId3"/>
          <a:stretch>
            <a:fillRect/>
          </a:stretch>
        </p:blipFill>
        <p:spPr>
          <a:xfrm>
            <a:off x="685451" y="2850657"/>
            <a:ext cx="4991797" cy="2505425"/>
          </a:xfrm>
          <a:prstGeom prst="rect">
            <a:avLst/>
          </a:prstGeom>
        </p:spPr>
      </p:pic>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4"/>
          <a:stretch>
            <a:fillRect/>
          </a:stretch>
        </p:blipFill>
        <p:spPr>
          <a:xfrm>
            <a:off x="6015990" y="1690688"/>
            <a:ext cx="5687436" cy="2098628"/>
          </a:xfrm>
          <a:prstGeom prst="rect">
            <a:avLst/>
          </a:prstGeom>
        </p:spPr>
      </p:pic>
    </p:spTree>
    <p:extLst>
      <p:ext uri="{BB962C8B-B14F-4D97-AF65-F5344CB8AC3E}">
        <p14:creationId xmlns:p14="http://schemas.microsoft.com/office/powerpoint/2010/main" val="13104121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a:t>
            </a:r>
          </a:p>
        </p:txBody>
      </p:sp>
      <p:sp>
        <p:nvSpPr>
          <p:cNvPr id="4" name="Rectangle 3">
            <a:extLst>
              <a:ext uri="{FF2B5EF4-FFF2-40B4-BE49-F238E27FC236}">
                <a16:creationId xmlns:a16="http://schemas.microsoft.com/office/drawing/2014/main" id="{9EA05739-3E4B-E17F-7391-6E54881710A4}"/>
              </a:ext>
            </a:extLst>
          </p:cNvPr>
          <p:cNvSpPr/>
          <p:nvPr/>
        </p:nvSpPr>
        <p:spPr>
          <a:xfrm>
            <a:off x="838200" y="2082188"/>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prompt</a:t>
            </a:r>
          </a:p>
        </p:txBody>
      </p:sp>
      <p:sp>
        <p:nvSpPr>
          <p:cNvPr id="6" name="Rectangle 5">
            <a:extLst>
              <a:ext uri="{FF2B5EF4-FFF2-40B4-BE49-F238E27FC236}">
                <a16:creationId xmlns:a16="http://schemas.microsoft.com/office/drawing/2014/main" id="{35A7FE4F-4678-B79F-29F3-9F9073D768AF}"/>
              </a:ext>
            </a:extLst>
          </p:cNvPr>
          <p:cNvSpPr/>
          <p:nvPr/>
        </p:nvSpPr>
        <p:spPr>
          <a:xfrm>
            <a:off x="8382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More yapping</a:t>
            </a:r>
          </a:p>
        </p:txBody>
      </p:sp>
      <p:sp>
        <p:nvSpPr>
          <p:cNvPr id="8" name="Rectangle 7">
            <a:extLst>
              <a:ext uri="{FF2B5EF4-FFF2-40B4-BE49-F238E27FC236}">
                <a16:creationId xmlns:a16="http://schemas.microsoft.com/office/drawing/2014/main" id="{4B070CC2-6D63-C785-706C-060808B72ED3}"/>
              </a:ext>
            </a:extLst>
          </p:cNvPr>
          <p:cNvSpPr/>
          <p:nvPr/>
        </p:nvSpPr>
        <p:spPr>
          <a:xfrm>
            <a:off x="838199" y="4756533"/>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Yapception</a:t>
            </a:r>
            <a:endParaRPr lang="en-US" dirty="0"/>
          </a:p>
        </p:txBody>
      </p:sp>
      <p:sp>
        <p:nvSpPr>
          <p:cNvPr id="10" name="Rectangle 9">
            <a:extLst>
              <a:ext uri="{FF2B5EF4-FFF2-40B4-BE49-F238E27FC236}">
                <a16:creationId xmlns:a16="http://schemas.microsoft.com/office/drawing/2014/main" id="{E41AE1CF-3723-30E9-4AFE-0D7D8CEE9886}"/>
              </a:ext>
            </a:extLst>
          </p:cNvPr>
          <p:cNvSpPr/>
          <p:nvPr/>
        </p:nvSpPr>
        <p:spPr>
          <a:xfrm>
            <a:off x="838198"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Just do it like this</a:t>
            </a:r>
          </a:p>
        </p:txBody>
      </p:sp>
      <p:sp>
        <p:nvSpPr>
          <p:cNvPr id="11" name="Rectangle 10">
            <a:extLst>
              <a:ext uri="{FF2B5EF4-FFF2-40B4-BE49-F238E27FC236}">
                <a16:creationId xmlns:a16="http://schemas.microsoft.com/office/drawing/2014/main" id="{F769DA29-E96B-7240-966E-E1F5A9D82C79}"/>
              </a:ext>
            </a:extLst>
          </p:cNvPr>
          <p:cNvSpPr/>
          <p:nvPr/>
        </p:nvSpPr>
        <p:spPr>
          <a:xfrm>
            <a:off x="5827923" y="1167788"/>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API</a:t>
            </a:r>
          </a:p>
        </p:txBody>
      </p:sp>
      <p:cxnSp>
        <p:nvCxnSpPr>
          <p:cNvPr id="13" name="Straight Arrow Connector 12">
            <a:extLst>
              <a:ext uri="{FF2B5EF4-FFF2-40B4-BE49-F238E27FC236}">
                <a16:creationId xmlns:a16="http://schemas.microsoft.com/office/drawing/2014/main" id="{23029008-8D1D-29D0-EF13-1BCDA542EA59}"/>
              </a:ext>
            </a:extLst>
          </p:cNvPr>
          <p:cNvCxnSpPr/>
          <p:nvPr/>
        </p:nvCxnSpPr>
        <p:spPr>
          <a:xfrm>
            <a:off x="4054207" y="3979843"/>
            <a:ext cx="95846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9421C1E-10D9-E6E7-EEB3-8412695CDC12}"/>
              </a:ext>
            </a:extLst>
          </p:cNvPr>
          <p:cNvCxnSpPr/>
          <p:nvPr/>
        </p:nvCxnSpPr>
        <p:spPr>
          <a:xfrm>
            <a:off x="6096000" y="2633031"/>
            <a:ext cx="0" cy="10025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121CBB7-0DD4-DDF7-5FFD-9B0BAE9A85F6}"/>
              </a:ext>
            </a:extLst>
          </p:cNvPr>
          <p:cNvSpPr/>
          <p:nvPr/>
        </p:nvSpPr>
        <p:spPr>
          <a:xfrm>
            <a:off x="5122843" y="3657600"/>
            <a:ext cx="2258458" cy="12449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cxnSp>
        <p:nvCxnSpPr>
          <p:cNvPr id="18" name="Straight Arrow Connector 17">
            <a:extLst>
              <a:ext uri="{FF2B5EF4-FFF2-40B4-BE49-F238E27FC236}">
                <a16:creationId xmlns:a16="http://schemas.microsoft.com/office/drawing/2014/main" id="{42AB000A-74E4-9E95-1825-E115CEA48B16}"/>
              </a:ext>
            </a:extLst>
          </p:cNvPr>
          <p:cNvCxnSpPr/>
          <p:nvPr/>
        </p:nvCxnSpPr>
        <p:spPr>
          <a:xfrm>
            <a:off x="7700790" y="4230477"/>
            <a:ext cx="1520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5F5F8FC9-89FE-2969-E492-5C11A92D81B7}"/>
              </a:ext>
            </a:extLst>
          </p:cNvPr>
          <p:cNvSpPr/>
          <p:nvPr/>
        </p:nvSpPr>
        <p:spPr>
          <a:xfrm>
            <a:off x="9352400" y="2163829"/>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code</a:t>
            </a:r>
          </a:p>
        </p:txBody>
      </p:sp>
      <p:sp>
        <p:nvSpPr>
          <p:cNvPr id="23" name="Rectangle 22">
            <a:extLst>
              <a:ext uri="{FF2B5EF4-FFF2-40B4-BE49-F238E27FC236}">
                <a16:creationId xmlns:a16="http://schemas.microsoft.com/office/drawing/2014/main" id="{91FE1EB0-1E0B-4567-528C-FE1F5A0FA6FD}"/>
              </a:ext>
            </a:extLst>
          </p:cNvPr>
          <p:cNvSpPr/>
          <p:nvPr/>
        </p:nvSpPr>
        <p:spPr>
          <a:xfrm>
            <a:off x="93524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Better code</a:t>
            </a:r>
          </a:p>
        </p:txBody>
      </p:sp>
      <p:sp>
        <p:nvSpPr>
          <p:cNvPr id="25" name="Rectangle 24">
            <a:extLst>
              <a:ext uri="{FF2B5EF4-FFF2-40B4-BE49-F238E27FC236}">
                <a16:creationId xmlns:a16="http://schemas.microsoft.com/office/drawing/2014/main" id="{95CB8818-BC08-DAD5-2AF0-09E270F9E284}"/>
              </a:ext>
            </a:extLst>
          </p:cNvPr>
          <p:cNvSpPr/>
          <p:nvPr/>
        </p:nvSpPr>
        <p:spPr>
          <a:xfrm>
            <a:off x="9352400" y="4756532"/>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Even better code</a:t>
            </a:r>
          </a:p>
        </p:txBody>
      </p:sp>
      <p:sp>
        <p:nvSpPr>
          <p:cNvPr id="27" name="Rectangle 26">
            <a:extLst>
              <a:ext uri="{FF2B5EF4-FFF2-40B4-BE49-F238E27FC236}">
                <a16:creationId xmlns:a16="http://schemas.microsoft.com/office/drawing/2014/main" id="{D52D121F-65B9-A611-BD80-4395A0C934F8}"/>
              </a:ext>
            </a:extLst>
          </p:cNvPr>
          <p:cNvSpPr/>
          <p:nvPr/>
        </p:nvSpPr>
        <p:spPr>
          <a:xfrm>
            <a:off x="9352399"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Expert code?</a:t>
            </a:r>
          </a:p>
        </p:txBody>
      </p:sp>
    </p:spTree>
    <p:extLst>
      <p:ext uri="{BB962C8B-B14F-4D97-AF65-F5344CB8AC3E}">
        <p14:creationId xmlns:p14="http://schemas.microsoft.com/office/powerpoint/2010/main" val="2245250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tretch>
            <a:fillRect/>
          </a:stretch>
        </p:blipFill>
        <p:spPr>
          <a:xfrm>
            <a:off x="221449" y="2599181"/>
            <a:ext cx="6925642" cy="2734057"/>
          </a:xfrm>
          <a:prstGeom prst="rect">
            <a:avLst/>
          </a:prstGeom>
        </p:spPr>
      </p:pic>
      <p:sp>
        <p:nvSpPr>
          <p:cNvPr id="7" name="TextBox 6">
            <a:extLst>
              <a:ext uri="{FF2B5EF4-FFF2-40B4-BE49-F238E27FC236}">
                <a16:creationId xmlns:a16="http://schemas.microsoft.com/office/drawing/2014/main" id="{4BC2AB0A-809B-4B8F-C3CD-7422568AA6CF}"/>
              </a:ext>
            </a:extLst>
          </p:cNvPr>
          <p:cNvSpPr txBox="1"/>
          <p:nvPr/>
        </p:nvSpPr>
        <p:spPr>
          <a:xfrm>
            <a:off x="2674620" y="2251710"/>
            <a:ext cx="2217017" cy="369332"/>
          </a:xfrm>
          <a:prstGeom prst="rect">
            <a:avLst/>
          </a:prstGeom>
          <a:noFill/>
        </p:spPr>
        <p:txBody>
          <a:bodyPr wrap="none" rtlCol="0">
            <a:spAutoFit/>
          </a:bodyPr>
          <a:lstStyle/>
          <a:p>
            <a:r>
              <a:rPr lang="en-US" dirty="0"/>
              <a:t>At the time of writing</a:t>
            </a:r>
          </a:p>
        </p:txBody>
      </p:sp>
      <p:sp>
        <p:nvSpPr>
          <p:cNvPr id="12" name="TextBox 11">
            <a:extLst>
              <a:ext uri="{FF2B5EF4-FFF2-40B4-BE49-F238E27FC236}">
                <a16:creationId xmlns:a16="http://schemas.microsoft.com/office/drawing/2014/main" id="{6D1D1C5D-C956-7741-15E6-FE8576D2FF5A}"/>
              </a:ext>
            </a:extLst>
          </p:cNvPr>
          <p:cNvSpPr txBox="1"/>
          <p:nvPr/>
        </p:nvSpPr>
        <p:spPr>
          <a:xfrm>
            <a:off x="6552317" y="538905"/>
            <a:ext cx="5400984" cy="646331"/>
          </a:xfrm>
          <a:prstGeom prst="rect">
            <a:avLst/>
          </a:prstGeom>
          <a:noFill/>
        </p:spPr>
        <p:txBody>
          <a:bodyPr wrap="square">
            <a:spAutoFit/>
          </a:bodyPr>
          <a:lstStyle/>
          <a:p>
            <a:r>
              <a:rPr lang="en-US" dirty="0">
                <a:hlinkClick r:id="rId4"/>
              </a:rPr>
              <a:t>https://github.com/matyas-brabec/2025-europar-llm/tree/GPT-5-high</a:t>
            </a:r>
            <a:endParaRPr lang="en-US" dirty="0"/>
          </a:p>
        </p:txBody>
      </p:sp>
      <p:pic>
        <p:nvPicPr>
          <p:cNvPr id="14" name="Picture 13">
            <a:extLst>
              <a:ext uri="{FF2B5EF4-FFF2-40B4-BE49-F238E27FC236}">
                <a16:creationId xmlns:a16="http://schemas.microsoft.com/office/drawing/2014/main" id="{F7771BBA-4D14-6D02-9EFC-CC75E1CBFDC6}"/>
              </a:ext>
            </a:extLst>
          </p:cNvPr>
          <p:cNvPicPr>
            <a:picLocks noChangeAspect="1"/>
          </p:cNvPicPr>
          <p:nvPr/>
        </p:nvPicPr>
        <p:blipFill>
          <a:blip r:embed="rId5"/>
          <a:stretch>
            <a:fillRect/>
          </a:stretch>
        </p:blipFill>
        <p:spPr>
          <a:xfrm>
            <a:off x="8463011" y="2091042"/>
            <a:ext cx="3320595" cy="2414072"/>
          </a:xfrm>
          <a:prstGeom prst="rect">
            <a:avLst/>
          </a:prstGeom>
        </p:spPr>
      </p:pic>
      <p:pic>
        <p:nvPicPr>
          <p:cNvPr id="17" name="Picture 16">
            <a:extLst>
              <a:ext uri="{FF2B5EF4-FFF2-40B4-BE49-F238E27FC236}">
                <a16:creationId xmlns:a16="http://schemas.microsoft.com/office/drawing/2014/main" id="{9B47DDC8-9F5A-3552-7451-858AFB39D903}"/>
              </a:ext>
            </a:extLst>
          </p:cNvPr>
          <p:cNvPicPr>
            <a:picLocks noChangeAspect="1"/>
          </p:cNvPicPr>
          <p:nvPr/>
        </p:nvPicPr>
        <p:blipFill>
          <a:blip r:embed="rId6"/>
          <a:stretch>
            <a:fillRect/>
          </a:stretch>
        </p:blipFill>
        <p:spPr>
          <a:xfrm>
            <a:off x="8720721" y="4818639"/>
            <a:ext cx="2805173" cy="2039361"/>
          </a:xfrm>
          <a:prstGeom prst="rect">
            <a:avLst/>
          </a:prstGeom>
        </p:spPr>
      </p:pic>
      <p:sp>
        <p:nvSpPr>
          <p:cNvPr id="19" name="TextBox 18">
            <a:extLst>
              <a:ext uri="{FF2B5EF4-FFF2-40B4-BE49-F238E27FC236}">
                <a16:creationId xmlns:a16="http://schemas.microsoft.com/office/drawing/2014/main" id="{5540FB4B-F466-4E9B-7925-B88B91FE3834}"/>
              </a:ext>
            </a:extLst>
          </p:cNvPr>
          <p:cNvSpPr txBox="1"/>
          <p:nvPr/>
        </p:nvSpPr>
        <p:spPr>
          <a:xfrm>
            <a:off x="8463011" y="1601867"/>
            <a:ext cx="3703834" cy="369332"/>
          </a:xfrm>
          <a:prstGeom prst="rect">
            <a:avLst/>
          </a:prstGeom>
          <a:noFill/>
        </p:spPr>
        <p:txBody>
          <a:bodyPr wrap="none" rtlCol="0">
            <a:spAutoFit/>
          </a:bodyPr>
          <a:lstStyle/>
          <a:p>
            <a:r>
              <a:rPr lang="en-US" dirty="0"/>
              <a:t>At the time of presenting the results</a:t>
            </a:r>
          </a:p>
        </p:txBody>
      </p:sp>
      <p:sp>
        <p:nvSpPr>
          <p:cNvPr id="20" name="TextBox 19">
            <a:extLst>
              <a:ext uri="{FF2B5EF4-FFF2-40B4-BE49-F238E27FC236}">
                <a16:creationId xmlns:a16="http://schemas.microsoft.com/office/drawing/2014/main" id="{FFA4F385-F597-0110-F8B3-AD03D6F2D503}"/>
              </a:ext>
            </a:extLst>
          </p:cNvPr>
          <p:cNvSpPr txBox="1"/>
          <p:nvPr/>
        </p:nvSpPr>
        <p:spPr>
          <a:xfrm>
            <a:off x="5137532" y="5893812"/>
            <a:ext cx="864339" cy="369332"/>
          </a:xfrm>
          <a:prstGeom prst="rect">
            <a:avLst/>
          </a:prstGeom>
          <a:noFill/>
        </p:spPr>
        <p:txBody>
          <a:bodyPr wrap="none" rtlCol="0">
            <a:spAutoFit/>
          </a:bodyPr>
          <a:lstStyle/>
          <a:p>
            <a:r>
              <a:rPr lang="en-US" dirty="0" err="1"/>
              <a:t>kNN</a:t>
            </a:r>
            <a:r>
              <a:rPr lang="en-US" dirty="0"/>
              <a:t> </a:t>
            </a:r>
            <a:r>
              <a:rPr lang="en-US" dirty="0">
                <a:sym typeface="Wingdings" panose="05000000000000000000" pitchFamily="2" charset="2"/>
              </a:rPr>
              <a:t></a:t>
            </a:r>
            <a:endParaRPr lang="en-US" dirty="0"/>
          </a:p>
        </p:txBody>
      </p:sp>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7"/>
          <a:stretch>
            <a:fillRect/>
          </a:stretch>
        </p:blipFill>
        <p:spPr>
          <a:xfrm>
            <a:off x="666106" y="5287742"/>
            <a:ext cx="3036122" cy="1589050"/>
          </a:xfrm>
          <a:prstGeom prst="rect">
            <a:avLst/>
          </a:prstGeom>
        </p:spPr>
      </p:pic>
      <p:pic>
        <p:nvPicPr>
          <p:cNvPr id="26" name="Picture 25">
            <a:extLst>
              <a:ext uri="{FF2B5EF4-FFF2-40B4-BE49-F238E27FC236}">
                <a16:creationId xmlns:a16="http://schemas.microsoft.com/office/drawing/2014/main" id="{C1FEF10D-405B-2C29-E783-6F8BBD010435}"/>
              </a:ext>
            </a:extLst>
          </p:cNvPr>
          <p:cNvPicPr>
            <a:picLocks noChangeAspect="1"/>
          </p:cNvPicPr>
          <p:nvPr/>
        </p:nvPicPr>
        <p:blipFill>
          <a:blip r:embed="rId8"/>
          <a:stretch>
            <a:fillRect/>
          </a:stretch>
        </p:blipFill>
        <p:spPr>
          <a:xfrm>
            <a:off x="7147091" y="2107319"/>
            <a:ext cx="2684569" cy="1951682"/>
          </a:xfrm>
          <a:prstGeom prst="rect">
            <a:avLst/>
          </a:prstGeom>
        </p:spPr>
      </p:pic>
    </p:spTree>
    <p:extLst>
      <p:ext uri="{BB962C8B-B14F-4D97-AF65-F5344CB8AC3E}">
        <p14:creationId xmlns:p14="http://schemas.microsoft.com/office/powerpoint/2010/main" val="23071661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Tree>
    <p:extLst>
      <p:ext uri="{BB962C8B-B14F-4D97-AF65-F5344CB8AC3E}">
        <p14:creationId xmlns:p14="http://schemas.microsoft.com/office/powerpoint/2010/main" val="9656531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Tree>
    <p:extLst>
      <p:ext uri="{BB962C8B-B14F-4D97-AF65-F5344CB8AC3E}">
        <p14:creationId xmlns:p14="http://schemas.microsoft.com/office/powerpoint/2010/main" val="21355553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Tree>
    <p:extLst>
      <p:ext uri="{BB962C8B-B14F-4D97-AF65-F5344CB8AC3E}">
        <p14:creationId xmlns:p14="http://schemas.microsoft.com/office/powerpoint/2010/main" val="17454896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Tree>
    <p:extLst>
      <p:ext uri="{BB962C8B-B14F-4D97-AF65-F5344CB8AC3E}">
        <p14:creationId xmlns:p14="http://schemas.microsoft.com/office/powerpoint/2010/main" val="3094171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Tree>
    <p:extLst>
      <p:ext uri="{BB962C8B-B14F-4D97-AF65-F5344CB8AC3E}">
        <p14:creationId xmlns:p14="http://schemas.microsoft.com/office/powerpoint/2010/main" val="25953849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2691</TotalTime>
  <Words>5586</Words>
  <Application>Microsoft Office PowerPoint</Application>
  <PresentationFormat>Widescreen</PresentationFormat>
  <Paragraphs>468</Paragraphs>
  <Slides>29</Slides>
  <Notes>20</Notes>
  <HiddenSlides>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29</vt:i4>
      </vt:variant>
    </vt:vector>
  </HeadingPairs>
  <TitlesOfParts>
    <vt:vector size="39"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PowerPoint Presentation</vt:lpstr>
      <vt:lpstr>Illustrative example: traversing matrices</vt:lpstr>
      <vt:lpstr>Automatization and simplification</vt:lpstr>
      <vt:lpstr>Small step: ?? layout agnostic design</vt:lpstr>
      <vt:lpstr>Layout- and Traversal-agnostic design</vt:lpstr>
      <vt:lpstr>PowerPoint Presentation</vt:lpstr>
      <vt:lpstr>Layout-agnostic design</vt:lpstr>
      <vt:lpstr>?? Traversal agnostic design</vt:lpstr>
      <vt:lpstr>PowerPoint Presentation</vt:lpstr>
      <vt:lpstr>PowerPoint Presentation</vt:lpstr>
      <vt:lpstr>Finalizing the automation: Autotuning</vt:lpstr>
      <vt:lpstr>PowerPoint Presentation</vt:lpstr>
      <vt:lpstr>Results</vt:lpstr>
      <vt:lpstr>Distributed computing</vt:lpstr>
      <vt:lpstr>PowerPoint Presentation</vt:lpstr>
      <vt:lpstr>PowerPoint Presentation</vt:lpstr>
      <vt:lpstr>PowerPoint Presentation</vt:lpstr>
      <vt:lpstr>Results</vt:lpstr>
      <vt:lpstr>Cellular automata</vt:lpstr>
      <vt:lpstr>PowerPoint Presentation</vt:lpstr>
      <vt:lpstr>Results</vt:lpstr>
      <vt:lpstr>Tutoring LLMs</vt:lpstr>
      <vt:lpstr>Tutoring LLMs</vt:lpstr>
      <vt:lpstr>LLMs and abstractions</vt:lpstr>
      <vt:lpstr>LLMs and abstractions</vt:lpstr>
      <vt:lpstr>Contribution map</vt:lpstr>
      <vt:lpstr>Summary</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60</cp:revision>
  <dcterms:created xsi:type="dcterms:W3CDTF">2026-08-08T18:10:38Z</dcterms:created>
  <dcterms:modified xsi:type="dcterms:W3CDTF">2026-08-26T12:09:29Z</dcterms:modified>
</cp:coreProperties>
</file>