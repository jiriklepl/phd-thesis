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88" r:id="rId22"/>
    <p:sldId id="305" r:id="rId23"/>
    <p:sldId id="291" r:id="rId24"/>
    <p:sldId id="306" r:id="rId25"/>
    <p:sldId id="315" r:id="rId26"/>
    <p:sldId id="308" r:id="rId27"/>
    <p:sldId id="309" r:id="rId28"/>
    <p:sldId id="311" r:id="rId29"/>
    <p:sldId id="266" r:id="rId30"/>
    <p:sldId id="312" r:id="rId31"/>
    <p:sldId id="262" r:id="rId32"/>
    <p:sldId id="320" r:id="rId33"/>
    <p:sldId id="318" r:id="rId34"/>
    <p:sldId id="319" r:id="rId35"/>
    <p:sldId id="317" r:id="rId36"/>
    <p:sldId id="32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68" d="100"/>
          <a:sy n="68" d="100"/>
        </p:scale>
        <p:origin x="90" y="120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4194"/>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Implementing efficient HPC algorithms is challenging.</a:t>
            </a:r>
          </a:p>
          <a:p>
            <a:endParaRPr lang="en-US" dirty="0"/>
          </a:p>
          <a:p>
            <a:r>
              <a:rPr lang="en-US" dirty="0"/>
              <a:t>Efficient HPC code needs both a scalable algorithm and an implementation that uses the target hardware well.</a:t>
            </a:r>
          </a:p>
          <a:p>
            <a:r>
              <a:rPr lang="en-US" dirty="0"/>
              <a:t>Many algorithms operate on large multidimensional data through nested loops, so semantics-preserving changes to data layout and traversal order can substantially affect performance.</a:t>
            </a:r>
          </a:p>
          <a:p>
            <a:endParaRPr lang="en-US" dirty="0"/>
          </a:p>
          <a:p>
            <a:r>
              <a:rPr lang="en-US" dirty="0"/>
              <a:t>In many cases, finding the most efficient implementation may require re-evaluating the algorithm with many layout and traversal choices.</a:t>
            </a:r>
          </a:p>
          <a:p>
            <a:r>
              <a:rPr lang="en-US" dirty="0"/>
              <a:t>Furthermore, it may be necessary to repeat the process on each target system.</a:t>
            </a:r>
          </a:p>
          <a:p>
            <a:endParaRPr lang="en-US" dirty="0"/>
          </a:p>
          <a:p>
            <a:r>
              <a:rPr lang="en-US" dirty="0"/>
              <a:t>Our research starts by designing C++ abstractions for layouts and traversals that enable their optimization without modifying the algorithm design</a:t>
            </a:r>
          </a:p>
          <a:p>
            <a:r>
              <a:rPr lang="en-US" dirty="0"/>
              <a:t>and then progresses toward automated exploration.</a:t>
            </a:r>
          </a:p>
          <a:p>
            <a:r>
              <a:rPr lang="en-US" dirty="0"/>
              <a:t>We then study LLM-guided optimization for even broader optimization options.</a:t>
            </a:r>
          </a:p>
          <a:p>
            <a:r>
              <a:rPr lang="en-US" dirty="0"/>
              <a:t>We then finalize the work by studying whether these two approaches together lead to an improvement over using LLMs to generate the code directly.</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single matrix elements to some values.</a:t>
            </a:r>
          </a:p>
          <a:p>
            <a:endParaRPr lang="en-US" dirty="0"/>
          </a:p>
          <a:p>
            <a:r>
              <a:rPr lang="en-US" dirty="0"/>
              <a:t>For a typical *m-by-n matrix*, 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r>
              <a:rPr lang="en-US" dirty="0"/>
              <a:t>This affects hardware mechanisms such as caching, which makes accesses to close-by elements faster.</a:t>
            </a:r>
          </a:p>
          <a:p>
            <a:endParaRPr lang="en-US" dirty="0"/>
          </a:p>
          <a:p>
            <a:r>
              <a:rPr lang="en-US" dirty="0"/>
              <a:t>In real-world algorithms, the situation may be further complicated by factors such as algorithms with more elaborate traversal patterns and accessing multiple data structures at once.</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 (memory offsets).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logical structure 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br>
              <a:rPr lang="en-US" dirty="0"/>
            </a:br>
            <a:r>
              <a:rPr lang="en-US" dirty="0"/>
              <a:t>If we require the buffer to reside in a specific memory region, for example, we can supply it ourselves to create a non-owning view to the data.</a:t>
            </a:r>
          </a:p>
          <a:p>
            <a:r>
              <a:rPr lang="en-US" dirty="0"/>
              <a:t>This is useful if we want the data to reside in GPU device memory or a mapped file.</a:t>
            </a:r>
          </a:p>
          <a:p>
            <a:endParaRPr lang="en-US"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adds no additional dimensions, as both m</a:t>
            </a:r>
            <a:r>
              <a:rPr lang="en-US" baseline="0" dirty="0"/>
              <a:t> </a:t>
            </a:r>
            <a:r>
              <a:rPr lang="en-US" dirty="0"/>
              <a:t>and n are already present in the combined index space.</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the higher 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9/1/2026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9/1/2026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9/1/2026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9/1/2026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9/1/2026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9/1/2026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9/1/2026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9/1/2026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9/1/2026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9/1/2026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41.jpe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gif"/></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56.svg"/><Relationship Id="rId5" Type="http://schemas.openxmlformats.org/officeDocument/2006/relationships/image" Target="../media/image55.svg"/><Relationship Id="rId10" Type="http://schemas.openxmlformats.org/officeDocument/2006/relationships/image" Target="../media/image60.svg"/><Relationship Id="rId4" Type="http://schemas.openxmlformats.org/officeDocument/2006/relationships/image" Target="../media/image54.svg"/><Relationship Id="rId9" Type="http://schemas.openxmlformats.org/officeDocument/2006/relationships/image" Target="../media/image59.svg"/></Relationships>
</file>

<file path=ppt/slides/_rels/slide3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Multidimensional data processed in nested loops</a:t>
            </a:r>
          </a:p>
          <a:p>
            <a:pPr lvl="1"/>
            <a:r>
              <a:rPr lang="en-US" b="1" dirty="0"/>
              <a:t>Right</a:t>
            </a:r>
            <a:r>
              <a:rPr lang="en-US" dirty="0"/>
              <a:t> </a:t>
            </a:r>
            <a:r>
              <a:rPr lang="en-US" b="1" dirty="0"/>
              <a:t>data layouts</a:t>
            </a:r>
            <a:r>
              <a:rPr lang="en-US" dirty="0"/>
              <a:t> and </a:t>
            </a:r>
            <a:r>
              <a:rPr lang="en-US" b="1" dirty="0"/>
              <a:t>traversals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pPr lvl="1"/>
            <a:r>
              <a:rPr lang="en-US" dirty="0"/>
              <a:t>Different optima on different systems</a:t>
            </a:r>
          </a:p>
          <a:p>
            <a:endParaRPr lang="en-US" dirty="0"/>
          </a:p>
          <a:p>
            <a:r>
              <a:rPr lang="en-US" dirty="0"/>
              <a:t>Decoupling layouts and traversals, toward automation</a:t>
            </a:r>
          </a:p>
          <a:p>
            <a:r>
              <a:rPr lang="en-US" dirty="0"/>
              <a:t>LLM-guided optimization for broader options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3"/>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4"/>
          <a:stretch>
            <a:fillRect/>
          </a:stretch>
        </p:blipFill>
        <p:spPr>
          <a:xfrm>
            <a:off x="9135818" y="3210791"/>
            <a:ext cx="1269681" cy="1269681"/>
          </a:xfrm>
          <a:prstGeom prst="rect">
            <a:avLst/>
          </a:prstGeom>
        </p:spPr>
      </p:pic>
    </p:spTree>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9/1/2026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9/1/2026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8"/>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9/1/2026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627010" y="4899951"/>
            <a:ext cx="1303445"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411469" y="4899951"/>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9/1/2026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281666" y="4461432"/>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954505" y="509336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251428" y="566850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93932BEA-66DD-B983-4DCA-C0218F0C49BF}"/>
              </a:ext>
            </a:extLst>
          </p:cNvPr>
          <p:cNvGrpSpPr/>
          <p:nvPr/>
        </p:nvGrpSpPr>
        <p:grpSpPr>
          <a:xfrm>
            <a:off x="4910432" y="2778099"/>
            <a:ext cx="3417642" cy="2849169"/>
            <a:chOff x="4910432" y="2778099"/>
            <a:chExt cx="3417642" cy="2849169"/>
          </a:xfrm>
        </p:grpSpPr>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2" y="2778099"/>
              <a:ext cx="341764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EE2A4B21-FD70-D776-EED8-5789509A1905}"/>
              </a:ext>
            </a:extLst>
          </p:cNvPr>
          <p:cNvGrpSpPr/>
          <p:nvPr/>
        </p:nvGrpSpPr>
        <p:grpSpPr>
          <a:xfrm>
            <a:off x="9269872" y="2778099"/>
            <a:ext cx="2754452" cy="2849169"/>
            <a:chOff x="9269872" y="2778099"/>
            <a:chExt cx="2754452" cy="2849169"/>
          </a:xfrm>
        </p:grpSpPr>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825625"/>
            <a:ext cx="10848474" cy="435133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850235"/>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558438"/>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17565713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390188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413752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41139591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5502</TotalTime>
  <Words>6010</Words>
  <Application>Microsoft Office PowerPoint</Application>
  <PresentationFormat>Widescreen</PresentationFormat>
  <Paragraphs>761</Paragraphs>
  <Slides>36</Slides>
  <Notes>32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initialization algorithm</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399</cp:revision>
  <dcterms:created xsi:type="dcterms:W3CDTF">2026-08-08T18:10:38Z</dcterms:created>
  <dcterms:modified xsi:type="dcterms:W3CDTF">2026-09-01T17:08:29Z</dcterms:modified>
</cp:coreProperties>
</file>