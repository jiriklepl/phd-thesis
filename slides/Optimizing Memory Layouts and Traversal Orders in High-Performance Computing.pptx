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293" r:id="rId3"/>
    <p:sldId id="277" r:id="rId4"/>
    <p:sldId id="296" r:id="rId5"/>
    <p:sldId id="297" r:id="rId6"/>
    <p:sldId id="298" r:id="rId7"/>
    <p:sldId id="283" r:id="rId8"/>
    <p:sldId id="284" r:id="rId9"/>
    <p:sldId id="285" r:id="rId10"/>
    <p:sldId id="278" r:id="rId11"/>
    <p:sldId id="300" r:id="rId12"/>
    <p:sldId id="286" r:id="rId13"/>
    <p:sldId id="289" r:id="rId14"/>
    <p:sldId id="290" r:id="rId15"/>
    <p:sldId id="279" r:id="rId16"/>
    <p:sldId id="287" r:id="rId17"/>
    <p:sldId id="280" r:id="rId18"/>
    <p:sldId id="295" r:id="rId19"/>
    <p:sldId id="288" r:id="rId20"/>
    <p:sldId id="291" r:id="rId21"/>
    <p:sldId id="276" r:id="rId22"/>
    <p:sldId id="292" r:id="rId23"/>
    <p:sldId id="266" r:id="rId24"/>
    <p:sldId id="262" r:id="rId25"/>
    <p:sldId id="299" r:id="rId26"/>
    <p:sldId id="268" r:id="rId27"/>
    <p:sldId id="269" r:id="rId28"/>
    <p:sldId id="270" r:id="rId29"/>
    <p:sldId id="281" r:id="rId30"/>
    <p:sldId id="282" r:id="rId31"/>
    <p:sldId id="263" r:id="rId32"/>
    <p:sldId id="271" r:id="rId33"/>
    <p:sldId id="294" r:id="rId34"/>
    <p:sldId id="272" r:id="rId35"/>
    <p:sldId id="273" r:id="rId36"/>
    <p:sldId id="274" r:id="rId37"/>
    <p:sldId id="261"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93"/>
            <p14:sldId id="277"/>
          </p14:sldIdLst>
        </p14:section>
        <p14:section name="algorithms" id="{7894E90A-E282-4867-82A4-369CDB973E4E}">
          <p14:sldIdLst>
            <p14:sldId id="296"/>
            <p14:sldId id="297"/>
            <p14:sldId id="298"/>
            <p14:sldId id="283"/>
            <p14:sldId id="284"/>
            <p14:sldId id="285"/>
            <p14:sldId id="278"/>
            <p14:sldId id="300"/>
            <p14:sldId id="286"/>
            <p14:sldId id="289"/>
            <p14:sldId id="290"/>
            <p14:sldId id="279"/>
            <p14:sldId id="287"/>
            <p14:sldId id="280"/>
          </p14:sldIdLst>
        </p14:section>
        <p14:section name="llms" id="{2FE3CF17-CBFB-48E9-A3BF-DD99B7D2F01E}">
          <p14:sldIdLst>
            <p14:sldId id="295"/>
            <p14:sldId id="288"/>
            <p14:sldId id="291"/>
            <p14:sldId id="276"/>
            <p14:sldId id="292"/>
          </p14:sldIdLst>
        </p14:section>
        <p14:section name="summary" id="{D3BAAF83-51D3-4EFD-B7CC-7BA6DAC4A838}">
          <p14:sldIdLst>
            <p14:sldId id="266"/>
          </p14:sldIdLst>
        </p14:section>
        <p14:section name="Reviewers' comments" id="{40190F67-0659-405D-810E-4AC194B72FA5}">
          <p14:sldIdLst>
            <p14:sldId id="262"/>
          </p14:sldIdLst>
        </p14:section>
        <p14:section name="supplementary" id="{5D95F6E9-DF15-476C-BE69-BBEF48AA8B86}">
          <p14:sldIdLst>
            <p14:sldId id="299"/>
          </p14:sldIdLst>
        </p14:section>
        <p14:section name="trash" id="{9E73F699-6D69-4F72-99C9-E6CBFA9D1A36}">
          <p14:sldIdLst>
            <p14:sldId id="268"/>
            <p14:sldId id="269"/>
            <p14:sldId id="270"/>
            <p14:sldId id="281"/>
            <p14:sldId id="282"/>
            <p14:sldId id="263"/>
            <p14:sldId id="271"/>
            <p14:sldId id="294"/>
            <p14:sldId id="272"/>
            <p14:sldId id="273"/>
            <p14:sldId id="274"/>
            <p14:sldId id="26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2428" autoAdjust="0"/>
  </p:normalViewPr>
  <p:slideViewPr>
    <p:cSldViewPr snapToGrid="0">
      <p:cViewPr varScale="1">
        <p:scale>
          <a:sx n="115" d="100"/>
          <a:sy n="115" d="100"/>
        </p:scale>
        <p:origin x="3606" y="10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1" d="100"/>
          <a:sy n="121" d="100"/>
        </p:scale>
        <p:origin x="7662"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very boring, completely off-topic and uninformative start)</a:t>
            </a:r>
            <a:br>
              <a:rPr lang="en-US" dirty="0"/>
            </a:br>
            <a:br>
              <a:rPr lang="en-US" dirty="0"/>
            </a:br>
            <a:r>
              <a:rPr lang="en-US" dirty="0"/>
              <a:t>Our research is in the area of High-Performance Computing (HPC), focusing on exploring and implementing methods for easier and faster development of efficient scientific algorithms.</a:t>
            </a:r>
          </a:p>
          <a:p>
            <a:endParaRPr lang="en-US" dirty="0"/>
          </a:p>
          <a:p>
            <a:r>
              <a:rPr lang="en-US" dirty="0"/>
              <a:t>One of the core problems when optimizing such algorithms for a particular computing system is that their complexity increases with every specific design decision made.</a:t>
            </a:r>
          </a:p>
          <a:p>
            <a:r>
              <a:rPr lang="en-US" dirty="0"/>
              <a:t>These design decisions range from choosing specific algorithm to smaller decisions such as how data structures such as matrices are stored in memory or in what order a computation is performed.</a:t>
            </a:r>
          </a:p>
          <a:p>
            <a:endParaRPr lang="en-US" dirty="0"/>
          </a:p>
          <a:p>
            <a:r>
              <a:rPr lang="en-US" dirty="0"/>
              <a:t>Even simple data structures such as matrices can be stored in many different ways:</a:t>
            </a:r>
          </a:p>
          <a:p>
            <a:pPr marL="171450" indent="-171450">
              <a:buFontTx/>
              <a:buChar char="-"/>
            </a:pPr>
            <a:r>
              <a:rPr lang="en-US" dirty="0"/>
              <a:t>row-major</a:t>
            </a:r>
          </a:p>
          <a:p>
            <a:pPr marL="171450" indent="-171450">
              <a:buFontTx/>
              <a:buChar char="-"/>
            </a:pPr>
            <a:r>
              <a:rPr lang="en-US" dirty="0"/>
              <a:t>Column-major</a:t>
            </a:r>
          </a:p>
          <a:p>
            <a:pPr marL="171450" indent="-171450">
              <a:buFontTx/>
              <a:buChar char="-"/>
            </a:pPr>
            <a:r>
              <a:rPr lang="en-US" dirty="0"/>
              <a:t>(tiled) variants</a:t>
            </a:r>
          </a:p>
          <a:p>
            <a:pPr marL="171450" indent="-171450">
              <a:buFontTx/>
              <a:buChar char="-"/>
            </a:pPr>
            <a:endParaRPr lang="en-US" dirty="0"/>
          </a:p>
          <a:p>
            <a:pPr marL="0" indent="0">
              <a:buFontTx/>
              <a:buNone/>
            </a:pPr>
            <a:r>
              <a:rPr lang="en-US" dirty="0"/>
              <a:t>It is important to choose the right *memory layout* to achieve the best possible performance (due to various hardware-specific effects such as caching or performance of memory operations); but the right choice is usually not obvious, and it often differs between different hardware architectures.</a:t>
            </a:r>
          </a:p>
          <a:p>
            <a:pPr marL="0" indent="0">
              <a:buFontTx/>
              <a:buNone/>
            </a:pPr>
            <a:endParaRPr lang="en-US" dirty="0"/>
          </a:p>
          <a:p>
            <a:pPr marL="0" indent="0">
              <a:buFontTx/>
              <a:buNone/>
            </a:pPr>
            <a:r>
              <a:rPr lang="en-US" dirty="0"/>
              <a:t>Furthermore, if these choices are hard-coded in the algorithm, the algorithm becomes unreadable and more difficult to port to other hardware.</a:t>
            </a:r>
          </a:p>
        </p:txBody>
      </p:sp>
      <p:sp>
        <p:nvSpPr>
          <p:cNvPr id="4" name="Slide Number Placeholder 3"/>
          <p:cNvSpPr>
            <a:spLocks noGrp="1"/>
          </p:cNvSpPr>
          <p:nvPr>
            <p:ph type="sldNum" sz="quarter" idx="5"/>
          </p:nvPr>
        </p:nvSpPr>
        <p:spPr/>
        <p:txBody>
          <a:bodyPr/>
          <a:lstStyle/>
          <a:p>
            <a:fld id="{FA8FD632-245B-410D-BCC4-8BF8D37AB67F}" type="slidenum">
              <a:rPr lang="en-US" smtClean="0"/>
              <a:t>2</a:t>
            </a:fld>
            <a:endParaRPr lang="en-US"/>
          </a:p>
        </p:txBody>
      </p:sp>
    </p:spTree>
    <p:extLst>
      <p:ext uri="{BB962C8B-B14F-4D97-AF65-F5344CB8AC3E}">
        <p14:creationId xmlns:p14="http://schemas.microsoft.com/office/powerpoint/2010/main" val="372358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 the algorithm tends to access elements that are close together, whereas in the other, *column-major layout*, the successive accesses are spread out further.</a:t>
            </a:r>
            <a:br>
              <a:rPr lang="en-US" dirty="0"/>
            </a:br>
            <a:r>
              <a:rPr lang="en-US" dirty="0"/>
              <a:t>This has effect on hardware mechanisms such as caching that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We call a *layout abstraction* a mapping between these two concepts. It defines the indexation of a data structure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In this case, 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 with a special literal value, with no other modifications.</a:t>
            </a:r>
            <a:br>
              <a:rPr lang="en-US" dirty="0"/>
            </a:br>
            <a:r>
              <a:rPr lang="en-US" dirty="0"/>
              <a:t>This makes the value be directly propagated as a compiler constant instead of being stored in the object representing the layout;</a:t>
            </a:r>
            <a:br>
              <a:rPr lang="en-US" dirty="0"/>
            </a:br>
            <a:r>
              <a:rPr lang="en-US" dirty="0"/>
              <a:t>this might also enable more aggressive compiler optimizations. (</a:t>
            </a:r>
            <a:r>
              <a:rPr lang="en-US" dirty="0" err="1"/>
              <a:t>na</a:t>
            </a:r>
            <a:r>
              <a:rPr lang="en-US" dirty="0"/>
              <a:t> to </a:t>
            </a:r>
            <a:r>
              <a:rPr lang="en-US" dirty="0" err="1"/>
              <a:t>mame</a:t>
            </a:r>
            <a:r>
              <a:rPr lang="en-US" dirty="0"/>
              <a:t> </a:t>
            </a:r>
            <a:r>
              <a:rPr lang="en-US" dirty="0" err="1"/>
              <a:t>grafy</a:t>
            </a:r>
            <a:r>
              <a:rPr lang="en-US" dirty="0"/>
              <a:t> od </a:t>
            </a:r>
            <a:r>
              <a:rPr lang="en-US" dirty="0" err="1"/>
              <a:t>adama</a:t>
            </a:r>
            <a:r>
              <a:rPr lang="en-US" dirty="0"/>
              <a:t>)</a:t>
            </a:r>
          </a:p>
          <a:p>
            <a:endParaRPr lang="en-US" dirty="0"/>
          </a:p>
          <a:p>
            <a:r>
              <a:rPr lang="en-US" dirty="0"/>
              <a:t>---</a:t>
            </a:r>
          </a:p>
          <a:p>
            <a:endParaRPr lang="en-US" dirty="0"/>
          </a:p>
          <a:p>
            <a:r>
              <a:rPr lang="en-US" dirty="0"/>
              <a:t>An important quality of our approach is that the memory layouts are a separate concept from data structures.</a:t>
            </a:r>
            <a:br>
              <a:rPr lang="en-US" dirty="0"/>
            </a:br>
            <a:br>
              <a:rPr lang="en-US" dirty="0"/>
            </a:br>
            <a:r>
              <a:rPr lang="en-US" dirty="0"/>
              <a:t>A data structure can be constructed from a given layout using a simple “bag” constructor. In its simplest use, the constructor creates a data structure that automatically manages an appropriate</a:t>
            </a:r>
            <a:br>
              <a:rPr lang="en-US" dirty="0"/>
            </a:br>
            <a:r>
              <a:rPr lang="en-US" dirty="0"/>
              <a:t>memory buffer.</a:t>
            </a:r>
            <a:br>
              <a:rPr lang="en-US" dirty="0"/>
            </a:br>
            <a:br>
              <a:rPr lang="en-US" dirty="0"/>
            </a:br>
            <a:r>
              <a:rPr lang="en-US" dirty="0"/>
              <a:t>If, instead, we require the memory buffer to reside in a specific memory region or point to an already existing structure, we can supply it ourselves; the constructor then creates a view to the pointed data.</a:t>
            </a:r>
          </a:p>
          <a:p>
            <a:r>
              <a:rPr lang="en-US" dirty="0"/>
              <a:t>Here, for example, we requested the byte-wise size of the layout to allocate it ourselves in GPU device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cool things that can help explain some MPI stuff etc. later on; but they are cool on their own too)</a:t>
            </a:r>
          </a:p>
          <a:p>
            <a:endParaRPr lang="en-US" dirty="0"/>
          </a:p>
          <a:p>
            <a:r>
              <a:rPr lang="en-US" dirty="0"/>
              <a:t>The design of the layout abstractions allows us to easily compose simple transformations into more complicated ones and then apply them to some base structure. This is possible due to the full associativity of the composition.</a:t>
            </a:r>
          </a:p>
          <a:p>
            <a:endParaRPr lang="en-US" dirty="0"/>
          </a:p>
          <a:p>
            <a:r>
              <a:rPr lang="en-US" dirty="0"/>
              <a:t>We can also leave out specific sizes of the transformations and thus define abstract layouts that can be later instantiated with specific sizes.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4013070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thus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these two stages have provided the groundwork for enabling seamless and automatable code optimization in C++ that is fully transparent and directable by the user.</a:t>
            </a:r>
          </a:p>
          <a:p>
            <a:endParaRPr lang="en-US" dirty="0"/>
          </a:p>
          <a:p>
            <a:r>
              <a:rPr lang="en-US" dirty="0"/>
              <a:t>We have finalized this effort by implementing an autotuning interface that allows for specifying the tuned parameters in the same code as the algorithm.</a:t>
            </a:r>
          </a:p>
          <a:p>
            <a:r>
              <a:rPr lang="en-US" dirty="0"/>
              <a:t>This interface was designed to pair well with the abstractions.</a:t>
            </a:r>
          </a:p>
          <a:p>
            <a:endParaRPr lang="en-US" dirty="0"/>
          </a:p>
          <a:p>
            <a:r>
              <a:rPr lang="en-US" dirty="0"/>
              <a:t>(Oh god I don’t know how to continue </a:t>
            </a:r>
            <a:r>
              <a:rPr lang="en-US" dirty="0" err="1"/>
              <a:t>rn</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a:t>
            </a:r>
            <a:r>
              <a:rPr lang="en-US" dirty="0" err="1"/>
              <a:t>PolyBench</a:t>
            </a:r>
            <a:r>
              <a:rPr lang="en-US" dirty="0"/>
              <a:t>/C suite.</a:t>
            </a:r>
          </a:p>
          <a:p>
            <a:endParaRPr lang="en-US" dirty="0"/>
          </a:p>
          <a:p>
            <a:r>
              <a:rPr lang="en-US" dirty="0"/>
              <a:t>W have confirmed that the abstractions do not pose any runtime overhead and they keep the programming complexity in practical algorithms low enough.</a:t>
            </a:r>
          </a:p>
          <a:p>
            <a:endParaRPr lang="en-US" dirty="0"/>
          </a:p>
          <a:p>
            <a:r>
              <a:rPr lang="en-US" dirty="0"/>
              <a:t>Most importantly, as shown before the complexity doesn’t significantly increase with introducing further optimizations to the code.</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have evaluated the abstractions on the </a:t>
            </a:r>
            <a:r>
              <a:rPr lang="en-US" dirty="0" err="1"/>
              <a:t>PolyBench</a:t>
            </a:r>
            <a:r>
              <a:rPr lang="en-US" dirty="0"/>
              <a:t>/C suite.</a:t>
            </a:r>
          </a:p>
          <a:p>
            <a:endParaRPr lang="en-US" dirty="0"/>
          </a:p>
          <a:p>
            <a:r>
              <a:rPr lang="en-US" dirty="0"/>
              <a:t>W have confirmed that the abstractions do not pose any runtime overhead and they keep the programming complexity in practical algorithms low enough.</a:t>
            </a:r>
          </a:p>
          <a:p>
            <a:endParaRPr lang="en-US" dirty="0"/>
          </a:p>
          <a:p>
            <a:r>
              <a:rPr lang="en-US" dirty="0"/>
              <a:t>Most importantly, as shown before the complexity doesn’t significantly increase with introducing further optimizations to the code.</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F212E-CA72-C4AE-F1F7-07F014BF7A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D45C23-66BB-0E7A-7EE0-D0C799A935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3EA43A-1FCE-3D60-414E-B5842CCCFD66}"/>
              </a:ext>
            </a:extLst>
          </p:cNvPr>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p:txBody>
      </p:sp>
      <p:sp>
        <p:nvSpPr>
          <p:cNvPr id="4" name="Slide Number Placeholder 3">
            <a:extLst>
              <a:ext uri="{FF2B5EF4-FFF2-40B4-BE49-F238E27FC236}">
                <a16:creationId xmlns:a16="http://schemas.microsoft.com/office/drawing/2014/main" id="{E12739F2-1F87-864F-92FD-DE6DD7B3BBE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728282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a:p>
            <a:endParaRPr lang="en-US" dirty="0"/>
          </a:p>
          <a:p>
            <a:r>
              <a:rPr lang="en-US" dirty="0"/>
              <a:t>It also enables automatic transformation of the data if the memory layouts on the opposing end-points differ. If this was done naively. the MPI backend would corrupt the data</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compared the state of the art C++ bindings for MPI in how they manage to seamlessly enable layout-agnostic communication of data over MPI</a:t>
            </a:r>
          </a:p>
          <a:p>
            <a:endParaRPr lang="en-US" dirty="0"/>
          </a:p>
          <a:p>
            <a:r>
              <a:rPr lang="en-US" dirty="0"/>
              <a:t>This requires that the framework encodes the layout correctly so it is automatically transformed between the two end-points</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(In our earlier work on Cellular automata, we have improved on </a:t>
            </a:r>
            <a:r>
              <a:rPr lang="en-US" dirty="0" err="1"/>
              <a:t>sota</a:t>
            </a:r>
            <a:r>
              <a:rPr lang="en-US" dirty="0"/>
              <a:t> using bit-level encoding of the states and bitwise evaluation)</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confirmed that for the standard memory layout, evaluator, and traverser, which mirrors a baseline implementation, the abstraction does not introduce any overhead over the naturally written algorithm in C++ or CUDA, while introducing flexibility in automatic user-directed optimization.</a:t>
            </a:r>
          </a:p>
          <a:p>
            <a:endParaRPr lang="en-US" dirty="0"/>
          </a:p>
          <a:p>
            <a:r>
              <a:rPr lang="en-US" dirty="0"/>
              <a:t>In our follow-up work, we evaluate more efficient evaluators that use the bit plane encoding and bitwise vectorization of the computations to bring </a:t>
            </a:r>
            <a:r>
              <a:rPr lang="en-US" dirty="0" err="1"/>
              <a:t>speeeeed</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(and, less clearly, the histogram alg.), even with very vague instructions.</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2150312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08B9B-DA7C-CEF0-D2F2-45B10F331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A7740-2DAD-1370-B2CB-228DA08826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4B22E-1818-E5A6-0350-5F174A750D46}"/>
              </a:ext>
            </a:extLst>
          </p:cNvPr>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and language-specific documentation and hints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a:extLst>
              <a:ext uri="{FF2B5EF4-FFF2-40B4-BE49-F238E27FC236}">
                <a16:creationId xmlns:a16="http://schemas.microsoft.com/office/drawing/2014/main" id="{EC9A10B2-2AAB-DC98-721D-F9B66A801B35}"/>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36085554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haven’t </a:t>
            </a:r>
            <a:r>
              <a:rPr lang="en-US"/>
              <a:t>done this one </a:t>
            </a:r>
            <a:r>
              <a:rPr lang="en-US">
                <a:sym typeface="Wingdings" panose="05000000000000000000" pitchFamily="2" charset="2"/>
              </a:rPr>
              <a:t></a:t>
            </a:r>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do not forget to copy from upward)---</a:t>
            </a:r>
            <a:br>
              <a:rPr lang="en-US" dirty="0"/>
            </a:br>
            <a:br>
              <a:rPr lang="en-US" dirty="0"/>
            </a:br>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25396224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38104690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10673656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t>
            </a:r>
            <a:r>
              <a:rPr lang="en-US" dirty="0" err="1"/>
              <a:t>Noarr</a:t>
            </a:r>
            <a:r>
              <a:rPr lang="en-US" dirty="0"/>
              <a:t> Structures; or abstractions for layout-agnostic design)</a:t>
            </a:r>
            <a:br>
              <a:rPr lang="en-US" dirty="0"/>
            </a:br>
            <a:br>
              <a:rPr lang="en-US" dirty="0"/>
            </a:br>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[without runtime overhead]</a:t>
            </a:r>
            <a:br>
              <a:rPr lang="en-US" dirty="0"/>
            </a:br>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35776137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(offsets). Our research is not the only effort on this, as nowadays, 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a:t>
            </a:r>
            <a:r>
              <a:rPr lang="en-US" dirty="0" err="1"/>
              <a:t>animace</a:t>
            </a:r>
            <a:r>
              <a:rPr lang="en-US" dirty="0"/>
              <a:t>)</a:t>
            </a:r>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(buffer)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device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5905789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2156031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8/26/2026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8/26/2026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8/26/2026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8/26/2026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8/26/2026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8/26/2026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8/26/2026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8/26/2026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8/26/2026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8/26/2026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8/26/2026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8/26/2026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hyperlink" Target="https://github.com/matyas-brabec/2025-europar-llm/tree/GPT-5-high"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smtClean="0"/>
              <a:t>8/26/2026</a:t>
            </a:fld>
            <a:endParaRPr lang="en-US"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smtClean="0"/>
              <a:t>1</a:t>
            </a:fld>
            <a:endParaRPr lang="en-US"/>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2B0F3-07AF-DDF2-75A9-BE53A93E33B4}"/>
              </a:ext>
            </a:extLst>
          </p:cNvPr>
          <p:cNvSpPr>
            <a:spLocks noGrp="1"/>
          </p:cNvSpPr>
          <p:nvPr>
            <p:ph type="title"/>
          </p:nvPr>
        </p:nvSpPr>
        <p:spPr/>
        <p:txBody>
          <a:bodyPr/>
          <a:lstStyle/>
          <a:p>
            <a:r>
              <a:rPr lang="en-US" dirty="0"/>
              <a:t>Motivation for memory layouts</a:t>
            </a:r>
          </a:p>
        </p:txBody>
      </p:sp>
      <p:sp>
        <p:nvSpPr>
          <p:cNvPr id="3" name="Content Placeholder 2">
            <a:extLst>
              <a:ext uri="{FF2B5EF4-FFF2-40B4-BE49-F238E27FC236}">
                <a16:creationId xmlns:a16="http://schemas.microsoft.com/office/drawing/2014/main" id="{9CCFAC94-5637-4468-27F3-D65EF4095823}"/>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C879A157-F47D-07F8-BBBF-9D9647E138A7}"/>
              </a:ext>
            </a:extLst>
          </p:cNvPr>
          <p:cNvSpPr>
            <a:spLocks noGrp="1"/>
          </p:cNvSpPr>
          <p:nvPr>
            <p:ph type="dt" sz="half" idx="10"/>
          </p:nvPr>
        </p:nvSpPr>
        <p:spPr/>
        <p:txBody>
          <a:bodyPr/>
          <a:lstStyle/>
          <a:p>
            <a:fld id="{0DAFEF2F-EB87-44F5-8698-5E050EDDA902}" type="datetime1">
              <a:rPr lang="en-US" smtClean="0"/>
              <a:t>8/26/2026</a:t>
            </a:fld>
            <a:endParaRPr lang="en-US"/>
          </a:p>
        </p:txBody>
      </p:sp>
      <p:sp>
        <p:nvSpPr>
          <p:cNvPr id="5" name="Slide Number Placeholder 4">
            <a:extLst>
              <a:ext uri="{FF2B5EF4-FFF2-40B4-BE49-F238E27FC236}">
                <a16:creationId xmlns:a16="http://schemas.microsoft.com/office/drawing/2014/main" id="{1674A618-B628-9F85-14EF-1E83AA91CA35}"/>
              </a:ext>
            </a:extLst>
          </p:cNvPr>
          <p:cNvSpPr>
            <a:spLocks noGrp="1"/>
          </p:cNvSpPr>
          <p:nvPr>
            <p:ph type="sldNum" sz="quarter" idx="12"/>
          </p:nvPr>
        </p:nvSpPr>
        <p:spPr/>
        <p:txBody>
          <a:bodyPr/>
          <a:lstStyle/>
          <a:p>
            <a:fld id="{DA0BB241-1B5F-4309-9407-9EEA04D9598D}" type="slidenum">
              <a:rPr lang="en-US" smtClean="0"/>
              <a:t>2</a:t>
            </a:fld>
            <a:endParaRPr lang="en-US"/>
          </a:p>
        </p:txBody>
      </p:sp>
    </p:spTree>
    <p:extLst>
      <p:ext uri="{BB962C8B-B14F-4D97-AF65-F5344CB8AC3E}">
        <p14:creationId xmlns:p14="http://schemas.microsoft.com/office/powerpoint/2010/main" val="387481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206984" y="1998381"/>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5995525" y="1998381"/>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2959100" y="1712546"/>
                <a:ext cx="6131935" cy="369332"/>
              </a:xfrm>
              <a:prstGeom prst="rect">
                <a:avLst/>
              </a:prstGeom>
              <a:noFill/>
            </p:spPr>
            <p:txBody>
              <a:bodyPr wrap="none" rtlCol="0">
                <a:spAutoFit/>
              </a:bodyPr>
              <a:lstStyle/>
              <a:p>
                <a14:m>
                  <m:oMath xmlns:m="http://schemas.openxmlformats.org/officeDocument/2006/math">
                    <m:r>
                      <a:rPr lang="en-US" b="0" i="1" noProof="0" smtClean="0">
                        <a:latin typeface="Cambria Math" panose="02040503050406030204" pitchFamily="18" charset="0"/>
                      </a:rPr>
                      <m:t>𝑚</m:t>
                    </m:r>
                    <m:r>
                      <a:rPr lang="en-US" b="0" i="1" noProof="0" smtClean="0">
                        <a:latin typeface="Cambria Math" panose="02040503050406030204" pitchFamily="18" charset="0"/>
                      </a:rPr>
                      <m:t>×</m:t>
                    </m:r>
                    <m:r>
                      <a:rPr lang="en-US" b="0" i="1" noProof="0" smtClean="0">
                        <a:latin typeface="Cambria Math" panose="02040503050406030204" pitchFamily="18" charset="0"/>
                      </a:rPr>
                      <m:t>𝑛</m:t>
                    </m:r>
                  </m:oMath>
                </a14:m>
                <a:r>
                  <a:rPr lang="en-US" noProof="0" dirty="0"/>
                  <a:t> matrix in row-major and column-major </a:t>
                </a:r>
                <a:r>
                  <a:rPr lang="en-US"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59100" y="1712546"/>
                <a:ext cx="6131935" cy="369332"/>
              </a:xfrm>
              <a:prstGeom prst="rect">
                <a:avLst/>
              </a:prstGeom>
              <a:blipFill>
                <a:blip r:embed="rId4"/>
                <a:stretch>
                  <a:fillRect t="-8197" r="-795" b="-26230"/>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4379598" y="4388276"/>
            <a:ext cx="2870200"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m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n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matrix[</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0000"/>
                </a:solidFill>
                <a:effectLst/>
                <a:latin typeface="Fira Code" panose="020B0809050000020004" pitchFamily="49" charset="0"/>
              </a:rPr>
              <a:t>init</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21" name="TextBox 20">
            <a:extLst>
              <a:ext uri="{FF2B5EF4-FFF2-40B4-BE49-F238E27FC236}">
                <a16:creationId xmlns:a16="http://schemas.microsoft.com/office/drawing/2014/main" id="{0A8B2928-1B7B-BAA4-93AA-EE7D017C718B}"/>
              </a:ext>
            </a:extLst>
          </p:cNvPr>
          <p:cNvSpPr txBox="1"/>
          <p:nvPr/>
        </p:nvSpPr>
        <p:spPr>
          <a:xfrm>
            <a:off x="4727381" y="3997086"/>
            <a:ext cx="2174634" cy="369332"/>
          </a:xfrm>
          <a:prstGeom prst="rect">
            <a:avLst/>
          </a:prstGeom>
          <a:noFill/>
        </p:spPr>
        <p:txBody>
          <a:bodyPr wrap="none" rtlCol="0">
            <a:spAutoFit/>
          </a:bodyPr>
          <a:lstStyle/>
          <a:p>
            <a:r>
              <a:rPr lang="en-US" noProof="0" dirty="0">
                <a:solidFill>
                  <a:srgbClr val="FF0000"/>
                </a:solidFill>
              </a:rPr>
              <a:t>A row-wise </a:t>
            </a:r>
            <a:r>
              <a:rPr lang="en-US" i="1" noProof="0" dirty="0">
                <a:solidFill>
                  <a:srgbClr val="FF0000"/>
                </a:solidFill>
              </a:rPr>
              <a:t>traversal</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smtClean="0"/>
              <a:t>8/26/2026</a:t>
            </a:fld>
            <a:endParaRPr lang="en-US"/>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smtClean="0"/>
              <a:t>3</a:t>
            </a:fld>
            <a:endParaRPr lang="en-US"/>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dirty="0"/>
              <a:t>Layout-agnostic design</a:t>
            </a:r>
          </a:p>
        </p:txBody>
      </p:sp>
      <p:sp>
        <p:nvSpPr>
          <p:cNvPr id="4" name="TextBox 3">
            <a:extLst>
              <a:ext uri="{FF2B5EF4-FFF2-40B4-BE49-F238E27FC236}">
                <a16:creationId xmlns:a16="http://schemas.microsoft.com/office/drawing/2014/main" id="{EDD56177-6F7A-8FD8-4FD4-8B9E1ED7F901}"/>
              </a:ext>
            </a:extLst>
          </p:cNvPr>
          <p:cNvSpPr txBox="1"/>
          <p:nvPr/>
        </p:nvSpPr>
        <p:spPr>
          <a:xfrm>
            <a:off x="4684542" y="1965725"/>
            <a:ext cx="2870200"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m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n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matrix[</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0000"/>
                </a:solidFill>
                <a:effectLst/>
                <a:latin typeface="Fira Code" panose="020B0809050000020004" pitchFamily="49" charset="0"/>
              </a:rPr>
              <a:t>init</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67AD0472-1446-D1EE-65D4-7843E287E85D}"/>
              </a:ext>
            </a:extLst>
          </p:cNvPr>
          <p:cNvSpPr/>
          <p:nvPr/>
        </p:nvSpPr>
        <p:spPr>
          <a:xfrm>
            <a:off x="3570207" y="3642963"/>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E5F019B9-B109-FECE-DF5D-017B5ED66C4E}"/>
              </a:ext>
            </a:extLst>
          </p:cNvPr>
          <p:cNvSpPr txBox="1"/>
          <p:nvPr/>
        </p:nvSpPr>
        <p:spPr>
          <a:xfrm flipH="1">
            <a:off x="3398209" y="3273631"/>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p:nvPr/>
        </p:nvCxnSpPr>
        <p:spPr>
          <a:xfrm>
            <a:off x="5518752" y="4241508"/>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D28FBD81-E8B9-43F9-2F96-0AD3BCE3481E}"/>
              </a:ext>
            </a:extLst>
          </p:cNvPr>
          <p:cNvSpPr/>
          <p:nvPr/>
        </p:nvSpPr>
        <p:spPr>
          <a:xfrm>
            <a:off x="6903413" y="4121078"/>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TextBox 8">
            <a:extLst>
              <a:ext uri="{FF2B5EF4-FFF2-40B4-BE49-F238E27FC236}">
                <a16:creationId xmlns:a16="http://schemas.microsoft.com/office/drawing/2014/main" id="{266F46F6-CF65-0E55-0650-3C9E5AB72670}"/>
              </a:ext>
            </a:extLst>
          </p:cNvPr>
          <p:cNvSpPr txBox="1"/>
          <p:nvPr/>
        </p:nvSpPr>
        <p:spPr>
          <a:xfrm flipH="1">
            <a:off x="6319936" y="3698656"/>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5098305" y="4993082"/>
            <a:ext cx="2177520" cy="369332"/>
          </a:xfrm>
          <a:prstGeom prst="rect">
            <a:avLst/>
          </a:prstGeom>
          <a:noFill/>
        </p:spPr>
        <p:txBody>
          <a:bodyPr wrap="square" rtlCol="0">
            <a:spAutoFit/>
          </a:bodyPr>
          <a:lstStyle/>
          <a:p>
            <a:r>
              <a:rPr lang="en-US" dirty="0"/>
              <a:t>of a d</a:t>
            </a:r>
            <a:r>
              <a:rPr lang="en-US" noProof="0" dirty="0" err="1"/>
              <a:t>ata</a:t>
            </a:r>
            <a:r>
              <a:rPr lang="en-US" noProof="0" dirty="0"/>
              <a:t>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5471465" y="5362414"/>
            <a:ext cx="1249070" cy="1241336"/>
          </a:xfrm>
          <a:prstGeom prst="rect">
            <a:avLst/>
          </a:prstGeom>
        </p:spPr>
      </p:pic>
      <p:sp>
        <p:nvSpPr>
          <p:cNvPr id="14" name="TextBox 13">
            <a:extLst>
              <a:ext uri="{FF2B5EF4-FFF2-40B4-BE49-F238E27FC236}">
                <a16:creationId xmlns:a16="http://schemas.microsoft.com/office/drawing/2014/main" id="{34E96574-F1F9-F9B5-C8ED-F4E86756F48A}"/>
              </a:ext>
            </a:extLst>
          </p:cNvPr>
          <p:cNvSpPr txBox="1"/>
          <p:nvPr/>
        </p:nvSpPr>
        <p:spPr>
          <a:xfrm>
            <a:off x="5098305" y="4741746"/>
            <a:ext cx="2042675" cy="369332"/>
          </a:xfrm>
          <a:prstGeom prst="rect">
            <a:avLst/>
          </a:prstGeom>
          <a:noFill/>
        </p:spPr>
        <p:txBody>
          <a:bodyPr wrap="none" rtlCol="0">
            <a:spAutoFit/>
          </a:bodyPr>
          <a:lstStyle/>
          <a:p>
            <a:r>
              <a:rPr lang="en-US" dirty="0"/>
              <a:t>Layout abstraction</a:t>
            </a:r>
          </a:p>
        </p:txBody>
      </p:sp>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smtClean="0"/>
              <a:t>8/26/2026</a:t>
            </a:fld>
            <a:endParaRPr lang="en-US"/>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smtClean="0"/>
              <a:t>4</a:t>
            </a:fld>
            <a:endParaRPr lang="en-US"/>
          </a:p>
        </p:txBody>
      </p:sp>
    </p:spTree>
    <p:extLst>
      <p:ext uri="{BB962C8B-B14F-4D97-AF65-F5344CB8AC3E}">
        <p14:creationId xmlns:p14="http://schemas.microsoft.com/office/powerpoint/2010/main" val="3969746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1D6E2E00-9803-C984-963B-DD2146109D50}"/>
              </a:ext>
            </a:extLst>
          </p:cNvPr>
          <p:cNvPicPr>
            <a:picLocks noChangeAspect="1"/>
          </p:cNvPicPr>
          <p:nvPr/>
        </p:nvPicPr>
        <p:blipFill>
          <a:blip r:embed="rId3"/>
          <a:stretch>
            <a:fillRect/>
          </a:stretch>
        </p:blipFill>
        <p:spPr>
          <a:xfrm>
            <a:off x="2435155" y="2594039"/>
            <a:ext cx="1249070" cy="1241336"/>
          </a:xfrm>
          <a:prstGeom prst="rect">
            <a:avLst/>
          </a:prstGeom>
        </p:spPr>
      </p:pic>
      <p:sp>
        <p:nvSpPr>
          <p:cNvPr id="6" name="TextBox 5">
            <a:extLst>
              <a:ext uri="{FF2B5EF4-FFF2-40B4-BE49-F238E27FC236}">
                <a16:creationId xmlns:a16="http://schemas.microsoft.com/office/drawing/2014/main" id="{A28F9A7A-4E68-17F0-FD80-992DB87E748C}"/>
              </a:ext>
            </a:extLst>
          </p:cNvPr>
          <p:cNvSpPr txBox="1"/>
          <p:nvPr/>
        </p:nvSpPr>
        <p:spPr>
          <a:xfrm>
            <a:off x="4543100" y="3030894"/>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layout</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8" name="Rectangle 7">
            <a:extLst>
              <a:ext uri="{FF2B5EF4-FFF2-40B4-BE49-F238E27FC236}">
                <a16:creationId xmlns:a16="http://schemas.microsoft.com/office/drawing/2014/main" id="{FA23D42A-BB3F-3EFA-4CCB-5A700F8F468C}"/>
              </a:ext>
            </a:extLst>
          </p:cNvPr>
          <p:cNvSpPr/>
          <p:nvPr/>
        </p:nvSpPr>
        <p:spPr>
          <a:xfrm>
            <a:off x="6037812" y="3113605"/>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99D5C1C8-80D9-8C99-35CE-890BA17FBF13}"/>
              </a:ext>
            </a:extLst>
          </p:cNvPr>
          <p:cNvSpPr/>
          <p:nvPr/>
        </p:nvSpPr>
        <p:spPr>
          <a:xfrm>
            <a:off x="6037811" y="3571000"/>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BC8AC22D-D974-2FFF-B64D-6B0E1C0C6D26}"/>
              </a:ext>
            </a:extLst>
          </p:cNvPr>
          <p:cNvSpPr/>
          <p:nvPr/>
        </p:nvSpPr>
        <p:spPr>
          <a:xfrm>
            <a:off x="6037811" y="404026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0B525AC7-FE02-6AD7-8040-C0A6A642009E}"/>
              </a:ext>
            </a:extLst>
          </p:cNvPr>
          <p:cNvSpPr txBox="1"/>
          <p:nvPr/>
        </p:nvSpPr>
        <p:spPr>
          <a:xfrm>
            <a:off x="8915592" y="3547821"/>
            <a:ext cx="3169227" cy="307777"/>
          </a:xfrm>
          <a:prstGeom prst="rect">
            <a:avLst/>
          </a:prstGeom>
          <a:noFill/>
        </p:spPr>
        <p:txBody>
          <a:bodyPr wrap="square">
            <a:spAutoFit/>
          </a:bodyPr>
          <a:lstStyle/>
          <a:p>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dirty="0"/>
          </a:p>
        </p:txBody>
      </p:sp>
      <p:cxnSp>
        <p:nvCxnSpPr>
          <p:cNvPr id="16" name="Straight Arrow Connector 15">
            <a:extLst>
              <a:ext uri="{FF2B5EF4-FFF2-40B4-BE49-F238E27FC236}">
                <a16:creationId xmlns:a16="http://schemas.microsoft.com/office/drawing/2014/main" id="{B5102DA4-367F-2E7C-4748-5E5A83284E85}"/>
              </a:ext>
            </a:extLst>
          </p:cNvPr>
          <p:cNvCxnSpPr/>
          <p:nvPr/>
        </p:nvCxnSpPr>
        <p:spPr>
          <a:xfrm>
            <a:off x="8204662" y="3695948"/>
            <a:ext cx="6483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8079856" y="3346960"/>
            <a:ext cx="898003" cy="369332"/>
          </a:xfrm>
          <a:prstGeom prst="rect">
            <a:avLst/>
          </a:prstGeom>
          <a:noFill/>
        </p:spPr>
        <p:txBody>
          <a:bodyPr wrap="none" rtlCol="0">
            <a:spAutoFit/>
          </a:bodyPr>
          <a:lstStyle/>
          <a:p>
            <a:r>
              <a:rPr lang="en-US" dirty="0"/>
              <a:t>access</a:t>
            </a:r>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7058495" y="2820887"/>
            <a:ext cx="156743" cy="68917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35ECBBC8-9EAB-F864-C40F-1C0E855672E6}"/>
              </a:ext>
            </a:extLst>
          </p:cNvPr>
          <p:cNvSpPr txBox="1"/>
          <p:nvPr/>
        </p:nvSpPr>
        <p:spPr>
          <a:xfrm>
            <a:off x="5001672" y="2658886"/>
            <a:ext cx="5225982" cy="369332"/>
          </a:xfrm>
          <a:prstGeom prst="rect">
            <a:avLst/>
          </a:prstGeom>
          <a:noFill/>
        </p:spPr>
        <p:txBody>
          <a:bodyPr wrap="none" rtlCol="0">
            <a:spAutoFit/>
          </a:bodyPr>
          <a:lstStyle/>
          <a:p>
            <a:r>
              <a:rPr lang="en-US"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453670" y="5426698"/>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cxnSp>
        <p:nvCxnSpPr>
          <p:cNvPr id="23" name="Straight Arrow Connector 22">
            <a:extLst>
              <a:ext uri="{FF2B5EF4-FFF2-40B4-BE49-F238E27FC236}">
                <a16:creationId xmlns:a16="http://schemas.microsoft.com/office/drawing/2014/main" id="{5143A34A-C925-60C5-12C5-823EF15D1727}"/>
              </a:ext>
            </a:extLst>
          </p:cNvPr>
          <p:cNvCxnSpPr/>
          <p:nvPr/>
        </p:nvCxnSpPr>
        <p:spPr>
          <a:xfrm flipH="1" flipV="1">
            <a:off x="7614663" y="4361002"/>
            <a:ext cx="589999" cy="4105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B532C9E-1658-59EF-E455-A13798945924}"/>
              </a:ext>
            </a:extLst>
          </p:cNvPr>
          <p:cNvSpPr txBox="1"/>
          <p:nvPr/>
        </p:nvSpPr>
        <p:spPr>
          <a:xfrm>
            <a:off x="8204662" y="4667567"/>
            <a:ext cx="906087" cy="307777"/>
          </a:xfrm>
          <a:prstGeom prst="rect">
            <a:avLst/>
          </a:prstGeom>
          <a:noFill/>
        </p:spPr>
        <p:txBody>
          <a:bodyPr wrap="square">
            <a:spAutoFit/>
          </a:bodyPr>
          <a:lstStyle/>
          <a:p>
            <a:r>
              <a:rPr lang="en-US" sz="1400" dirty="0">
                <a:solidFill>
                  <a:srgbClr val="0070C1"/>
                </a:solidFill>
                <a:latin typeface="Fira Code" panose="020B0809050000020004" pitchFamily="49" charset="0"/>
              </a:rPr>
              <a:t>lit</a:t>
            </a:r>
            <a:r>
              <a:rPr lang="en-US" sz="1400" dirty="0">
                <a:solidFill>
                  <a:srgbClr val="000000"/>
                </a:solidFill>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endParaRPr lang="en-US" sz="2800" dirty="0"/>
          </a:p>
        </p:txBody>
      </p:sp>
      <p:sp>
        <p:nvSpPr>
          <p:cNvPr id="26" name="TextBox 25">
            <a:extLst>
              <a:ext uri="{FF2B5EF4-FFF2-40B4-BE49-F238E27FC236}">
                <a16:creationId xmlns:a16="http://schemas.microsoft.com/office/drawing/2014/main" id="{6320A0BC-2EC8-4B11-CD62-23DDBADCEF4D}"/>
              </a:ext>
            </a:extLst>
          </p:cNvPr>
          <p:cNvSpPr txBox="1"/>
          <p:nvPr/>
        </p:nvSpPr>
        <p:spPr>
          <a:xfrm>
            <a:off x="7167247" y="4611764"/>
            <a:ext cx="1137469" cy="369332"/>
          </a:xfrm>
          <a:prstGeom prst="rect">
            <a:avLst/>
          </a:prstGeom>
          <a:noFill/>
        </p:spPr>
        <p:txBody>
          <a:bodyPr wrap="square" rtlCol="0">
            <a:spAutoFit/>
          </a:bodyPr>
          <a:lstStyle/>
          <a:p>
            <a:r>
              <a:rPr lang="en-US" dirty="0"/>
              <a:t>replace</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726948" y="5426698"/>
            <a:ext cx="5603818" cy="639662"/>
          </a:xfrm>
          <a:prstGeom prst="rect">
            <a:avLst/>
          </a:prstGeom>
          <a:noFill/>
          <a:ln>
            <a:solidFill>
              <a:schemeClr val="tx1"/>
            </a:solidFill>
          </a:ln>
        </p:spPr>
        <p:txBody>
          <a:bodyPr wrap="square">
            <a:spAutoFit/>
          </a:bodyPr>
          <a:lstStyle/>
          <a:p>
            <a:pPr>
              <a:lnSpc>
                <a:spcPct val="113095"/>
              </a:lnSpc>
              <a:buNone/>
            </a:pPr>
            <a:r>
              <a:rPr lang="en-US" sz="1600" b="0" noProof="0" dirty="0" err="1">
                <a:solidFill>
                  <a:srgbClr val="795E26"/>
                </a:solidFill>
                <a:effectLst/>
                <a:latin typeface="Fira Code" panose="020B0809050000020004" pitchFamily="49" charset="0"/>
              </a:rPr>
              <a:t>cudaMalloc</a:t>
            </a:r>
            <a:r>
              <a:rPr lang="en-US" sz="1600" b="0" noProof="0" dirty="0">
                <a:solidFill>
                  <a:srgbClr val="000000"/>
                </a:solidFill>
                <a:effectLst/>
                <a:latin typeface="Fira Code" panose="020B0809050000020004" pitchFamily="49" charset="0"/>
              </a:rPr>
              <a:t>(&amp;</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 </a:t>
            </a: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get_size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smtClean="0"/>
              <a:t>8/26/2026</a:t>
            </a:fld>
            <a:endParaRPr lang="en-US"/>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smtClean="0"/>
              <a:t>5</a:t>
            </a:fld>
            <a:endParaRPr lang="en-US"/>
          </a:p>
        </p:txBody>
      </p:sp>
    </p:spTree>
    <p:extLst>
      <p:ext uri="{BB962C8B-B14F-4D97-AF65-F5344CB8AC3E}">
        <p14:creationId xmlns:p14="http://schemas.microsoft.com/office/powerpoint/2010/main" val="1129300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BA87-ADA6-CE21-2F9F-65EB68B210BE}"/>
              </a:ext>
            </a:extLst>
          </p:cNvPr>
          <p:cNvSpPr>
            <a:spLocks noGrp="1"/>
          </p:cNvSpPr>
          <p:nvPr>
            <p:ph type="title"/>
          </p:nvPr>
        </p:nvSpPr>
        <p:spPr/>
        <p:txBody>
          <a:bodyPr/>
          <a:lstStyle/>
          <a:p>
            <a:endParaRPr lang="en-US"/>
          </a:p>
        </p:txBody>
      </p:sp>
      <p:sp>
        <p:nvSpPr>
          <p:cNvPr id="4" name="TextBox 3">
            <a:extLst>
              <a:ext uri="{FF2B5EF4-FFF2-40B4-BE49-F238E27FC236}">
                <a16:creationId xmlns:a16="http://schemas.microsoft.com/office/drawing/2014/main" id="{6BEBBAE8-9564-BF75-198B-BAF5152BFACC}"/>
              </a:ext>
            </a:extLst>
          </p:cNvPr>
          <p:cNvSpPr txBox="1"/>
          <p:nvPr/>
        </p:nvSpPr>
        <p:spPr>
          <a:xfrm>
            <a:off x="733939" y="2010220"/>
            <a:ext cx="7454097" cy="1472070"/>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2000" dirty="0">
                <a:solidFill>
                  <a:srgbClr val="0070C1"/>
                </a:solidFill>
                <a:latin typeface="Fira Code" panose="020B0809050000020004" pitchFamily="49" charset="0"/>
              </a:rPr>
              <a:t>lit</a:t>
            </a:r>
            <a:r>
              <a:rPr lang="en-US" sz="2000" dirty="0">
                <a:solidFill>
                  <a:srgbClr val="000000"/>
                </a:solidFill>
                <a:latin typeface="Fira Code" panose="020B0809050000020004" pitchFamily="49" charset="0"/>
              </a:rPr>
              <a:t>&lt;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p>
          <a:p>
            <a:pPr>
              <a:lnSpc>
                <a:spcPct val="113095"/>
              </a:lnSpc>
              <a:buNone/>
            </a:pPr>
            <a:br>
              <a:rPr lang="en-US" sz="2000" b="0" noProof="0" dirty="0">
                <a:solidFill>
                  <a:srgbClr val="000000"/>
                </a:solidFill>
                <a:effectLst/>
                <a:latin typeface="Fira Code" panose="020B0809050000020004" pitchFamily="49" charset="0"/>
              </a:rPr>
            </a:b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 ^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a:t>
            </a:r>
          </a:p>
        </p:txBody>
      </p:sp>
      <p:sp>
        <p:nvSpPr>
          <p:cNvPr id="6" name="TextBox 5">
            <a:extLst>
              <a:ext uri="{FF2B5EF4-FFF2-40B4-BE49-F238E27FC236}">
                <a16:creationId xmlns:a16="http://schemas.microsoft.com/office/drawing/2014/main" id="{11576DD8-80C2-D612-5FC4-AC07F00ECAF2}"/>
              </a:ext>
            </a:extLst>
          </p:cNvPr>
          <p:cNvSpPr txBox="1"/>
          <p:nvPr/>
        </p:nvSpPr>
        <p:spPr>
          <a:xfrm>
            <a:off x="6339643" y="4041543"/>
            <a:ext cx="5280634" cy="2308965"/>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a:p>
            <a:pPr>
              <a:lnSpc>
                <a:spcPct val="113095"/>
              </a:lnSpc>
              <a:buNone/>
            </a:pPr>
            <a:br>
              <a:rPr lang="en-US" sz="1600" b="0" noProof="0" dirty="0">
                <a:solidFill>
                  <a:srgbClr val="000000"/>
                </a:solidFill>
                <a:effectLst/>
                <a:latin typeface="Fira Code" panose="020B0809050000020004" pitchFamily="49" charset="0"/>
              </a:rPr>
            </a:b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matrix</a:t>
            </a:r>
            <a:r>
              <a:rPr lang="en-US" sz="1600" b="0" noProof="0" dirty="0">
                <a:solidFill>
                  <a:srgbClr val="000000"/>
                </a:solidFill>
                <a:effectLst/>
                <a:latin typeface="Fira Code" panose="020B0809050000020004" pitchFamily="49" charset="0"/>
              </a:rPr>
              <a:t> =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7" name="Date Placeholder 6">
            <a:extLst>
              <a:ext uri="{FF2B5EF4-FFF2-40B4-BE49-F238E27FC236}">
                <a16:creationId xmlns:a16="http://schemas.microsoft.com/office/drawing/2014/main" id="{8167C2A3-A6EB-E986-BB56-227E7CC44045}"/>
              </a:ext>
            </a:extLst>
          </p:cNvPr>
          <p:cNvSpPr>
            <a:spLocks noGrp="1"/>
          </p:cNvSpPr>
          <p:nvPr>
            <p:ph type="dt" sz="half" idx="10"/>
          </p:nvPr>
        </p:nvSpPr>
        <p:spPr/>
        <p:txBody>
          <a:bodyPr/>
          <a:lstStyle/>
          <a:p>
            <a:fld id="{60762CC1-CEC8-4962-8ADE-D01B91546622}" type="datetime1">
              <a:rPr lang="en-US" smtClean="0"/>
              <a:t>8/26/2026</a:t>
            </a:fld>
            <a:endParaRPr lang="en-US"/>
          </a:p>
        </p:txBody>
      </p:sp>
      <p:sp>
        <p:nvSpPr>
          <p:cNvPr id="8" name="Slide Number Placeholder 7">
            <a:extLst>
              <a:ext uri="{FF2B5EF4-FFF2-40B4-BE49-F238E27FC236}">
                <a16:creationId xmlns:a16="http://schemas.microsoft.com/office/drawing/2014/main" id="{1A5672EE-876F-7378-AD5C-9D8F3F5CF486}"/>
              </a:ext>
            </a:extLst>
          </p:cNvPr>
          <p:cNvSpPr>
            <a:spLocks noGrp="1"/>
          </p:cNvSpPr>
          <p:nvPr>
            <p:ph type="sldNum" sz="quarter" idx="12"/>
          </p:nvPr>
        </p:nvSpPr>
        <p:spPr/>
        <p:txBody>
          <a:bodyPr/>
          <a:lstStyle/>
          <a:p>
            <a:fld id="{DA0BB241-1B5F-4309-9407-9EEA04D9598D}" type="slidenum">
              <a:rPr lang="en-US" smtClean="0"/>
              <a:t>6</a:t>
            </a:fld>
            <a:endParaRPr lang="en-US"/>
          </a:p>
        </p:txBody>
      </p:sp>
    </p:spTree>
    <p:extLst>
      <p:ext uri="{BB962C8B-B14F-4D97-AF65-F5344CB8AC3E}">
        <p14:creationId xmlns:p14="http://schemas.microsoft.com/office/powerpoint/2010/main" val="1604844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26810423-91C4-985C-7F32-62943219F93C}"/>
              </a:ext>
            </a:extLst>
          </p:cNvPr>
          <p:cNvSpPr txBox="1"/>
          <p:nvPr/>
        </p:nvSpPr>
        <p:spPr>
          <a:xfrm>
            <a:off x="3872221" y="5250091"/>
            <a:ext cx="4723015" cy="154721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dirty="0">
                <a:solidFill>
                  <a:srgbClr val="A31515"/>
                </a:solidFill>
                <a:latin typeface="Fira Code" panose="020B0809050000020004" pitchFamily="49" charset="0"/>
              </a:rPr>
              <a:t>'</a:t>
            </a:r>
            <a:r>
              <a:rPr lang="en-US" sz="1050" b="0" noProof="0" dirty="0">
                <a:solidFill>
                  <a:srgbClr val="A31515"/>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dirty="0">
                <a:solidFill>
                  <a:srgbClr val="A31515"/>
                </a:solidFill>
                <a:latin typeface="Fira Code" panose="020B0809050000020004" pitchFamily="49" charset="0"/>
              </a:rPr>
              <a:t>'</a:t>
            </a:r>
            <a:r>
              <a:rPr lang="en-US" sz="1050" b="0" noProof="0" dirty="0">
                <a:solidFill>
                  <a:srgbClr val="A31515"/>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dirty="0">
                <a:solidFill>
                  <a:srgbClr val="A31515"/>
                </a:solidFill>
                <a:latin typeface="Fira Code" panose="020B0809050000020004" pitchFamily="49" charset="0"/>
              </a:rPr>
              <a:t>'</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pPr>
            <a:r>
              <a:rPr lang="en-US" sz="1050" dirty="0">
                <a:solidFill>
                  <a:srgbClr val="267F99"/>
                </a:solidFill>
                <a:latin typeface="Fira Code" panose="020B0809050000020004" pitchFamily="49" charset="0"/>
              </a:rPr>
              <a:t>auto</a:t>
            </a:r>
            <a:r>
              <a:rPr lang="en-US" sz="1050" dirty="0">
                <a:solidFill>
                  <a:srgbClr val="000000"/>
                </a:solidFill>
                <a:latin typeface="Fira Code" panose="020B0809050000020004" pitchFamily="49" charset="0"/>
              </a:rPr>
              <a:t> </a:t>
            </a:r>
            <a:r>
              <a:rPr lang="en-US" sz="1050" dirty="0">
                <a:solidFill>
                  <a:srgbClr val="001080"/>
                </a:solidFill>
                <a:latin typeface="Fira Code" panose="020B0809050000020004" pitchFamily="49" charset="0"/>
              </a:rPr>
              <a:t>C</a:t>
            </a:r>
            <a:r>
              <a:rPr lang="en-US" sz="1050" dirty="0">
                <a:solidFill>
                  <a:srgbClr val="000000"/>
                </a:solidFill>
                <a:latin typeface="Fira Code" panose="020B0809050000020004" pitchFamily="49" charset="0"/>
              </a:rPr>
              <a:t> = </a:t>
            </a:r>
            <a:r>
              <a:rPr lang="en-US" sz="1050" dirty="0">
                <a:solidFill>
                  <a:srgbClr val="795E26"/>
                </a:solidFill>
                <a:latin typeface="Fira Code" panose="020B0809050000020004" pitchFamily="49" charset="0"/>
              </a:rPr>
              <a:t>bag</a:t>
            </a:r>
            <a:r>
              <a:rPr lang="en-US" sz="1050" dirty="0">
                <a:solidFill>
                  <a:srgbClr val="000000"/>
                </a:solidFill>
                <a:latin typeface="Fira Code" panose="020B0809050000020004" pitchFamily="49" charset="0"/>
              </a:rPr>
              <a:t>(</a:t>
            </a:r>
            <a:r>
              <a:rPr lang="en-US" sz="1050" dirty="0">
                <a:solidFill>
                  <a:srgbClr val="267F99"/>
                </a:solidFill>
                <a:latin typeface="Fira Code" panose="020B0809050000020004" pitchFamily="49" charset="0"/>
              </a:rPr>
              <a:t>scalar</a:t>
            </a:r>
            <a:r>
              <a:rPr lang="en-US" sz="1050" dirty="0">
                <a:solidFill>
                  <a:srgbClr val="000000"/>
                </a:solidFill>
                <a:latin typeface="Fira Code" panose="020B0809050000020004" pitchFamily="49" charset="0"/>
              </a:rPr>
              <a:t>&lt;</a:t>
            </a:r>
            <a:r>
              <a:rPr lang="en-US" sz="1050" dirty="0">
                <a:solidFill>
                  <a:srgbClr val="0000FF"/>
                </a:solidFill>
                <a:latin typeface="Fira Code" panose="020B0809050000020004" pitchFamily="49" charset="0"/>
              </a:rPr>
              <a:t>float</a:t>
            </a:r>
            <a:r>
              <a:rPr lang="en-US" sz="1050" dirty="0">
                <a:solidFill>
                  <a:srgbClr val="000000"/>
                </a:solidFill>
                <a:latin typeface="Fira Code" panose="020B0809050000020004" pitchFamily="49" charset="0"/>
              </a:rPr>
              <a:t>&gt;() ^ </a:t>
            </a:r>
            <a:r>
              <a:rPr lang="en-US" sz="1050" dirty="0">
                <a:solidFill>
                  <a:srgbClr val="795E26"/>
                </a:solidFill>
                <a:latin typeface="Fira Code" panose="020B0809050000020004" pitchFamily="49" charset="0"/>
              </a:rPr>
              <a:t>vectors</a:t>
            </a:r>
            <a:r>
              <a:rPr lang="en-US" sz="1050" dirty="0">
                <a:solidFill>
                  <a:srgbClr val="000000"/>
                </a:solidFill>
                <a:latin typeface="Fira Code" panose="020B0809050000020004" pitchFamily="49" charset="0"/>
              </a:rPr>
              <a:t>&lt;</a:t>
            </a:r>
            <a:r>
              <a:rPr lang="en-US" sz="1050" dirty="0">
                <a:solidFill>
                  <a:srgbClr val="A31515"/>
                </a:solidFill>
                <a:latin typeface="Fira Code" panose="020B0809050000020004" pitchFamily="49" charset="0"/>
              </a:rPr>
              <a:t>'m'</a:t>
            </a:r>
            <a:r>
              <a:rPr lang="en-US" sz="1050" dirty="0">
                <a:solidFill>
                  <a:srgbClr val="000000"/>
                </a:solidFill>
                <a:latin typeface="Fira Code" panose="020B0809050000020004" pitchFamily="49" charset="0"/>
              </a:rPr>
              <a:t>, </a:t>
            </a:r>
            <a:r>
              <a:rPr lang="en-US" sz="1050" dirty="0">
                <a:solidFill>
                  <a:srgbClr val="A31515"/>
                </a:solidFill>
                <a:latin typeface="Fira Code" panose="020B0809050000020004" pitchFamily="49" charset="0"/>
              </a:rPr>
              <a:t>'n'</a:t>
            </a:r>
            <a:r>
              <a:rPr lang="en-US" sz="1050" dirty="0">
                <a:solidFill>
                  <a:srgbClr val="000000"/>
                </a:solidFill>
                <a:latin typeface="Fira Code" panose="020B0809050000020004" pitchFamily="49" charset="0"/>
              </a:rPr>
              <a:t>&gt;(</a:t>
            </a:r>
            <a:r>
              <a:rPr lang="en-US" sz="1050" dirty="0">
                <a:solidFill>
                  <a:srgbClr val="0070C1"/>
                </a:solidFill>
                <a:latin typeface="Fira Code" panose="020B0809050000020004" pitchFamily="49" charset="0"/>
              </a:rPr>
              <a:t>M</a:t>
            </a:r>
            <a:r>
              <a:rPr lang="en-US" sz="1050" dirty="0">
                <a:solidFill>
                  <a:srgbClr val="000000"/>
                </a:solidFill>
                <a:latin typeface="Fira Code" panose="020B0809050000020004" pitchFamily="49" charset="0"/>
              </a:rPr>
              <a:t>, </a:t>
            </a:r>
            <a:r>
              <a:rPr lang="en-US" sz="1050" dirty="0">
                <a:solidFill>
                  <a:srgbClr val="0070C1"/>
                </a:solidFill>
                <a:latin typeface="Fira Code" panose="020B0809050000020004" pitchFamily="49" charset="0"/>
              </a:rPr>
              <a:t>N</a:t>
            </a:r>
            <a:r>
              <a:rPr lang="en-US" sz="1050" dirty="0">
                <a:solidFill>
                  <a:srgbClr val="000000"/>
                </a:solidFill>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2" name="TextBox 11">
            <a:extLst>
              <a:ext uri="{FF2B5EF4-FFF2-40B4-BE49-F238E27FC236}">
                <a16:creationId xmlns:a16="http://schemas.microsoft.com/office/drawing/2014/main" id="{771F4919-C499-3F7D-4116-17B83C53ED34}"/>
              </a:ext>
            </a:extLst>
          </p:cNvPr>
          <p:cNvSpPr txBox="1"/>
          <p:nvPr/>
        </p:nvSpPr>
        <p:spPr>
          <a:xfrm>
            <a:off x="1538051" y="3071899"/>
            <a:ext cx="3530932"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dirty="0" err="1">
                <a:solidFill>
                  <a:srgbClr val="795E26"/>
                </a:solidFill>
                <a:latin typeface="Fira Code" panose="020B0809050000020004" pitchFamily="49" charset="0"/>
              </a:rPr>
              <a:t>init</a:t>
            </a:r>
            <a:r>
              <a:rPr lang="en-US" sz="1050" dirty="0">
                <a:solidFill>
                  <a:srgbClr val="000000"/>
                </a:solidFill>
                <a:latin typeface="Fira Code" panose="020B0809050000020004" pitchFamily="49" charset="0"/>
              </a:rPr>
              <a:t>(</a:t>
            </a:r>
            <a:r>
              <a:rPr lang="en-US" sz="1050" dirty="0">
                <a:solidFill>
                  <a:srgbClr val="001080"/>
                </a:solidFill>
                <a:latin typeface="Fira Code" panose="020B0809050000020004" pitchFamily="49" charset="0"/>
              </a:rPr>
              <a:t>index</a:t>
            </a:r>
            <a:r>
              <a:rPr lang="en-US" sz="1050" dirty="0">
                <a:solidFill>
                  <a:srgbClr val="000000"/>
                </a:solidFill>
                <a:latin typeface="Fira Code" panose="020B0809050000020004" pitchFamily="49" charset="0"/>
              </a:rPr>
              <a:t>)</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6951419" y="3111926"/>
            <a:ext cx="3530932"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867591" y="2026812"/>
            <a:ext cx="2870200"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m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n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matrix[</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0000"/>
                </a:solidFill>
                <a:effectLst/>
                <a:latin typeface="Fira Code" panose="020B0809050000020004" pitchFamily="49" charset="0"/>
              </a:rPr>
              <a:t>init</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stCxn id="3" idx="1"/>
          </p:cNvCxnSpPr>
          <p:nvPr/>
        </p:nvCxnSpPr>
        <p:spPr>
          <a:xfrm rot="10800000" flipV="1">
            <a:off x="1662545" y="2343885"/>
            <a:ext cx="205046" cy="72801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8540D793-376A-F83F-C9D7-12E23E131CE5}"/>
              </a:ext>
            </a:extLst>
          </p:cNvPr>
          <p:cNvPicPr>
            <a:picLocks noChangeAspect="1"/>
          </p:cNvPicPr>
          <p:nvPr/>
        </p:nvPicPr>
        <p:blipFill>
          <a:blip r:embed="rId3"/>
          <a:stretch>
            <a:fillRect/>
          </a:stretch>
        </p:blipFill>
        <p:spPr>
          <a:xfrm>
            <a:off x="4905375" y="3920186"/>
            <a:ext cx="2381250" cy="1352550"/>
          </a:xfrm>
          <a:prstGeom prst="rect">
            <a:avLst/>
          </a:prstGeom>
        </p:spPr>
      </p:pic>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smtClean="0"/>
              <a:t>8/26/2026</a:t>
            </a:fld>
            <a:endParaRPr lang="en-US"/>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smtClean="0"/>
              <a:t>7</a:t>
            </a:fld>
            <a:endParaRPr lang="en-US"/>
          </a:p>
        </p:txBody>
      </p:sp>
    </p:spTree>
    <p:extLst>
      <p:ext uri="{BB962C8B-B14F-4D97-AF65-F5344CB8AC3E}">
        <p14:creationId xmlns:p14="http://schemas.microsoft.com/office/powerpoint/2010/main" val="1912447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B17E6F97-71C0-E7B6-3913-C7F1E0B84654}"/>
              </a:ext>
            </a:extLst>
          </p:cNvPr>
          <p:cNvSpPr txBox="1"/>
          <p:nvPr/>
        </p:nvSpPr>
        <p:spPr>
          <a:xfrm>
            <a:off x="1079269" y="2616453"/>
            <a:ext cx="3750426"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into_blocks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into_blocks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hoist</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p:txBody>
      </p:sp>
      <p:sp>
        <p:nvSpPr>
          <p:cNvPr id="3" name="TextBox 2">
            <a:extLst>
              <a:ext uri="{FF2B5EF4-FFF2-40B4-BE49-F238E27FC236}">
                <a16:creationId xmlns:a16="http://schemas.microsoft.com/office/drawing/2014/main" id="{D494DC07-12F0-E28A-EFF4-4CF7F2299BE3}"/>
              </a:ext>
            </a:extLst>
          </p:cNvPr>
          <p:cNvSpPr txBox="1"/>
          <p:nvPr/>
        </p:nvSpPr>
        <p:spPr>
          <a:xfrm>
            <a:off x="1079269" y="3628766"/>
            <a:ext cx="4781006"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p:nvPr/>
        </p:nvCxnSpPr>
        <p:spPr>
          <a:xfrm>
            <a:off x="1803862" y="2978057"/>
            <a:ext cx="1255222" cy="6507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1D88C1D-F06F-5ACA-392E-B0B03F940713}"/>
              </a:ext>
            </a:extLst>
          </p:cNvPr>
          <p:cNvSpPr txBox="1"/>
          <p:nvPr/>
        </p:nvSpPr>
        <p:spPr>
          <a:xfrm>
            <a:off x="7079772" y="3214970"/>
            <a:ext cx="4106291" cy="634148"/>
          </a:xfrm>
          <a:prstGeom prst="rect">
            <a:avLst/>
          </a:prstGeom>
          <a:noFill/>
          <a:ln>
            <a:solidFill>
              <a:schemeClr val="tx1"/>
            </a:solidFill>
          </a:ln>
        </p:spPr>
        <p:txBody>
          <a:bodyPr wrap="square">
            <a:spAutoFit/>
          </a:bodyPr>
          <a:lstStyle/>
          <a:p>
            <a:pPr>
              <a:lnSpc>
                <a:spcPct val="113095"/>
              </a:lnSpc>
              <a:buNone/>
            </a:pPr>
            <a:r>
              <a:rPr lang="en-US" sz="1050" b="0" dirty="0" err="1">
                <a:solidFill>
                  <a:srgbClr val="795E26"/>
                </a:solidFill>
                <a:effectLst/>
                <a:latin typeface="Fira Code" panose="020B0809050000020004" pitchFamily="49" charset="0"/>
              </a:rPr>
              <a:t>omp_for_each</a:t>
            </a:r>
            <a:r>
              <a:rPr lang="en-US" sz="1050" dirty="0">
                <a:solidFill>
                  <a:srgbClr val="000000"/>
                </a:solidFill>
                <a:latin typeface="Fira Code" panose="020B0809050000020004" pitchFamily="49" charset="0"/>
              </a:rPr>
              <a:t>(</a:t>
            </a: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dirty="0" err="1">
                <a:solidFill>
                  <a:srgbClr val="795E26"/>
                </a:solidFill>
                <a:latin typeface="Fira Code" panose="020B0809050000020004" pitchFamily="49" charset="0"/>
              </a:rPr>
              <a:t>init</a:t>
            </a:r>
            <a:r>
              <a:rPr lang="en-US" sz="1050" dirty="0">
                <a:solidFill>
                  <a:srgbClr val="000000"/>
                </a:solidFill>
                <a:latin typeface="Fira Code" panose="020B0809050000020004" pitchFamily="49" charset="0"/>
              </a:rPr>
              <a:t>(</a:t>
            </a:r>
            <a:r>
              <a:rPr lang="en-US" sz="1050" dirty="0">
                <a:solidFill>
                  <a:srgbClr val="001080"/>
                </a:solidFill>
                <a:latin typeface="Fira Code" panose="020B0809050000020004" pitchFamily="49" charset="0"/>
              </a:rPr>
              <a:t>index</a:t>
            </a:r>
            <a:r>
              <a:rPr lang="en-US" sz="1050" dirty="0">
                <a:solidFill>
                  <a:srgbClr val="000000"/>
                </a:solidFill>
                <a:latin typeface="Fira Code" panose="020B0809050000020004" pitchFamily="49" charset="0"/>
              </a:rPr>
              <a:t>)</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FC04F895-4DAA-A566-47D4-C9E4F4C00E4B}"/>
              </a:ext>
            </a:extLst>
          </p:cNvPr>
          <p:cNvSpPr txBox="1"/>
          <p:nvPr/>
        </p:nvSpPr>
        <p:spPr>
          <a:xfrm>
            <a:off x="7079772" y="4182753"/>
            <a:ext cx="4106291" cy="634148"/>
          </a:xfrm>
          <a:prstGeom prst="rect">
            <a:avLst/>
          </a:prstGeom>
          <a:noFill/>
          <a:ln>
            <a:solidFill>
              <a:schemeClr val="tx1"/>
            </a:solidFill>
          </a:ln>
        </p:spPr>
        <p:txBody>
          <a:bodyPr wrap="square">
            <a:spAutoFit/>
          </a:bodyPr>
          <a:lstStyle/>
          <a:p>
            <a:pPr>
              <a:lnSpc>
                <a:spcPct val="113095"/>
              </a:lnSpc>
              <a:buNone/>
            </a:pPr>
            <a:r>
              <a:rPr lang="en-US" sz="1050" b="0" dirty="0" err="1">
                <a:solidFill>
                  <a:srgbClr val="795E26"/>
                </a:solidFill>
                <a:effectLst/>
                <a:latin typeface="Fira Code" panose="020B0809050000020004" pitchFamily="49" charset="0"/>
              </a:rPr>
              <a:t>tbb_for_each</a:t>
            </a:r>
            <a:r>
              <a:rPr lang="en-US" sz="1050" dirty="0">
                <a:solidFill>
                  <a:srgbClr val="000000"/>
                </a:solidFill>
                <a:latin typeface="Fira Code" panose="020B0809050000020004" pitchFamily="49" charset="0"/>
              </a:rPr>
              <a:t>(</a:t>
            </a: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dirty="0" err="1">
                <a:solidFill>
                  <a:srgbClr val="795E26"/>
                </a:solidFill>
                <a:latin typeface="Fira Code" panose="020B0809050000020004" pitchFamily="49" charset="0"/>
              </a:rPr>
              <a:t>init</a:t>
            </a:r>
            <a:r>
              <a:rPr lang="en-US" sz="1050" dirty="0">
                <a:solidFill>
                  <a:srgbClr val="000000"/>
                </a:solidFill>
                <a:latin typeface="Fira Code" panose="020B0809050000020004" pitchFamily="49" charset="0"/>
              </a:rPr>
              <a:t>(</a:t>
            </a:r>
            <a:r>
              <a:rPr lang="en-US" sz="1050" dirty="0">
                <a:solidFill>
                  <a:srgbClr val="001080"/>
                </a:solidFill>
                <a:latin typeface="Fira Code" panose="020B0809050000020004" pitchFamily="49" charset="0"/>
              </a:rPr>
              <a:t>index</a:t>
            </a:r>
            <a:r>
              <a:rPr lang="en-US" sz="1050" dirty="0">
                <a:solidFill>
                  <a:srgbClr val="000000"/>
                </a:solidFill>
                <a:latin typeface="Fira Code" panose="020B0809050000020004" pitchFamily="49" charset="0"/>
              </a:rPr>
              <a:t>)</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7" name="TextBox 16">
            <a:extLst>
              <a:ext uri="{FF2B5EF4-FFF2-40B4-BE49-F238E27FC236}">
                <a16:creationId xmlns:a16="http://schemas.microsoft.com/office/drawing/2014/main" id="{CC491D5F-87A9-86A7-7FCA-6D057EBD3917}"/>
              </a:ext>
            </a:extLst>
          </p:cNvPr>
          <p:cNvSpPr txBox="1"/>
          <p:nvPr/>
        </p:nvSpPr>
        <p:spPr>
          <a:xfrm>
            <a:off x="7362307" y="2024323"/>
            <a:ext cx="3530932"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dirty="0" err="1">
                <a:solidFill>
                  <a:srgbClr val="795E26"/>
                </a:solidFill>
                <a:latin typeface="Fira Code" panose="020B0809050000020004" pitchFamily="49" charset="0"/>
              </a:rPr>
              <a:t>init</a:t>
            </a:r>
            <a:r>
              <a:rPr lang="en-US" sz="1050" dirty="0">
                <a:solidFill>
                  <a:srgbClr val="000000"/>
                </a:solidFill>
                <a:latin typeface="Fira Code" panose="020B0809050000020004" pitchFamily="49" charset="0"/>
              </a:rPr>
              <a:t>(</a:t>
            </a:r>
            <a:r>
              <a:rPr lang="en-US" sz="1050" dirty="0">
                <a:solidFill>
                  <a:srgbClr val="001080"/>
                </a:solidFill>
                <a:latin typeface="Fira Code" panose="020B0809050000020004" pitchFamily="49" charset="0"/>
              </a:rPr>
              <a:t>index</a:t>
            </a:r>
            <a:r>
              <a:rPr lang="en-US" sz="1050" dirty="0">
                <a:solidFill>
                  <a:srgbClr val="000000"/>
                </a:solidFill>
                <a:latin typeface="Fira Code" panose="020B0809050000020004" pitchFamily="49" charset="0"/>
              </a:rPr>
              <a:t>)</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cxnSp>
        <p:nvCxnSpPr>
          <p:cNvPr id="19" name="Straight Arrow Connector 18">
            <a:extLst>
              <a:ext uri="{FF2B5EF4-FFF2-40B4-BE49-F238E27FC236}">
                <a16:creationId xmlns:a16="http://schemas.microsoft.com/office/drawing/2014/main" id="{4DA75F1C-EAFF-E762-3C05-5DE016DCE536}"/>
              </a:ext>
            </a:extLst>
          </p:cNvPr>
          <p:cNvCxnSpPr>
            <a:cxnSpLocks/>
            <a:stCxn id="17" idx="2"/>
            <a:endCxn id="20" idx="0"/>
          </p:cNvCxnSpPr>
          <p:nvPr/>
        </p:nvCxnSpPr>
        <p:spPr>
          <a:xfrm>
            <a:off x="9127773" y="2658471"/>
            <a:ext cx="199" cy="4504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E2DC5447-092D-F842-C746-A6D6C5FE1A74}"/>
              </a:ext>
            </a:extLst>
          </p:cNvPr>
          <p:cNvSpPr/>
          <p:nvPr/>
        </p:nvSpPr>
        <p:spPr>
          <a:xfrm>
            <a:off x="6833062" y="3108961"/>
            <a:ext cx="4589819" cy="1803862"/>
          </a:xfrm>
          <a:prstGeom prst="rect">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smtClean="0"/>
              <a:t>8/26/2026</a:t>
            </a:fld>
            <a:endParaRPr lang="en-US"/>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smtClean="0"/>
              <a:t>8</a:t>
            </a:fld>
            <a:endParaRPr lang="en-US"/>
          </a:p>
        </p:txBody>
      </p:sp>
    </p:spTree>
    <p:extLst>
      <p:ext uri="{BB962C8B-B14F-4D97-AF65-F5344CB8AC3E}">
        <p14:creationId xmlns:p14="http://schemas.microsoft.com/office/powerpoint/2010/main" val="1117610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endParaRPr lang="en-US" noProof="0" dirty="0"/>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3648473" y="3573561"/>
            <a:ext cx="4208444" cy="1949986"/>
          </a:xfrm>
          <a:prstGeom prst="rect">
            <a:avLst/>
          </a:prstGeom>
        </p:spPr>
      </p:pic>
      <p:sp>
        <p:nvSpPr>
          <p:cNvPr id="10" name="Rectangle 9">
            <a:extLst>
              <a:ext uri="{FF2B5EF4-FFF2-40B4-BE49-F238E27FC236}">
                <a16:creationId xmlns:a16="http://schemas.microsoft.com/office/drawing/2014/main" id="{156176CF-A5A8-202F-6D91-07F22B4C343A}"/>
              </a:ext>
            </a:extLst>
          </p:cNvPr>
          <p:cNvSpPr/>
          <p:nvPr/>
        </p:nvSpPr>
        <p:spPr>
          <a:xfrm>
            <a:off x="838200" y="2467778"/>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Tuning parameters</a:t>
            </a:r>
          </a:p>
        </p:txBody>
      </p:sp>
      <p:sp>
        <p:nvSpPr>
          <p:cNvPr id="12" name="Rectangle 11">
            <a:extLst>
              <a:ext uri="{FF2B5EF4-FFF2-40B4-BE49-F238E27FC236}">
                <a16:creationId xmlns:a16="http://schemas.microsoft.com/office/drawing/2014/main" id="{EF842F52-719B-B662-4BF8-29ED15AC61DB}"/>
              </a:ext>
            </a:extLst>
          </p:cNvPr>
          <p:cNvSpPr/>
          <p:nvPr/>
        </p:nvSpPr>
        <p:spPr>
          <a:xfrm>
            <a:off x="838200" y="4763226"/>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code</a:t>
            </a:r>
          </a:p>
        </p:txBody>
      </p:sp>
      <p:cxnSp>
        <p:nvCxnSpPr>
          <p:cNvPr id="14" name="Straight Arrow Connector 13">
            <a:extLst>
              <a:ext uri="{FF2B5EF4-FFF2-40B4-BE49-F238E27FC236}">
                <a16:creationId xmlns:a16="http://schemas.microsoft.com/office/drawing/2014/main" id="{B602A479-F122-7128-33EA-B0468E099110}"/>
              </a:ext>
            </a:extLst>
          </p:cNvPr>
          <p:cNvCxnSpPr/>
          <p:nvPr/>
        </p:nvCxnSpPr>
        <p:spPr>
          <a:xfrm>
            <a:off x="8020594" y="4484914"/>
            <a:ext cx="12975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C357A183-7240-A9A1-5A5E-E5F000C6DC05}"/>
              </a:ext>
            </a:extLst>
          </p:cNvPr>
          <p:cNvSpPr/>
          <p:nvPr/>
        </p:nvSpPr>
        <p:spPr>
          <a:xfrm>
            <a:off x="9394372" y="3683729"/>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Optimized application</a:t>
            </a:r>
          </a:p>
        </p:txBody>
      </p:sp>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4324489" y="5513019"/>
            <a:ext cx="2856411" cy="979856"/>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7707086" y="5750350"/>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10474420" y="5500211"/>
            <a:ext cx="1099238" cy="1099238"/>
          </a:xfrm>
          <a:prstGeom prst="rect">
            <a:avLst/>
          </a:prstGeom>
        </p:spPr>
      </p:pic>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smtClean="0"/>
              <a:t>8/26/2026</a:t>
            </a:fld>
            <a:endParaRPr lang="en-US"/>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smtClean="0"/>
              <a:t>9</a:t>
            </a:fld>
            <a:endParaRPr lang="en-US"/>
          </a:p>
        </p:txBody>
      </p:sp>
    </p:spTree>
    <p:extLst>
      <p:ext uri="{BB962C8B-B14F-4D97-AF65-F5344CB8AC3E}">
        <p14:creationId xmlns:p14="http://schemas.microsoft.com/office/powerpoint/2010/main" val="189335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9DEA8950-CA38-AB92-B8E8-AA6307D5641D}"/>
              </a:ext>
            </a:extLst>
          </p:cNvPr>
          <p:cNvPicPr>
            <a:picLocks noChangeAspect="1"/>
          </p:cNvPicPr>
          <p:nvPr/>
        </p:nvPicPr>
        <p:blipFill>
          <a:blip r:embed="rId3"/>
          <a:stretch>
            <a:fillRect/>
          </a:stretch>
        </p:blipFill>
        <p:spPr>
          <a:xfrm>
            <a:off x="2905836" y="252614"/>
            <a:ext cx="4875384" cy="3176386"/>
          </a:xfrm>
          <a:prstGeom prst="rect">
            <a:avLst/>
          </a:prstGeom>
        </p:spPr>
      </p:pic>
      <p:pic>
        <p:nvPicPr>
          <p:cNvPr id="7" name="Picture 6">
            <a:extLst>
              <a:ext uri="{FF2B5EF4-FFF2-40B4-BE49-F238E27FC236}">
                <a16:creationId xmlns:a16="http://schemas.microsoft.com/office/drawing/2014/main" id="{99441161-F869-E92F-AAEA-DABA0E43A58C}"/>
              </a:ext>
            </a:extLst>
          </p:cNvPr>
          <p:cNvPicPr>
            <a:picLocks noChangeAspect="1"/>
          </p:cNvPicPr>
          <p:nvPr/>
        </p:nvPicPr>
        <p:blipFill>
          <a:blip r:embed="rId4"/>
          <a:stretch>
            <a:fillRect/>
          </a:stretch>
        </p:blipFill>
        <p:spPr>
          <a:xfrm>
            <a:off x="2276224" y="3794899"/>
            <a:ext cx="5117746" cy="2045562"/>
          </a:xfrm>
          <a:prstGeom prst="rect">
            <a:avLst/>
          </a:prstGeom>
        </p:spPr>
      </p:pic>
      <p:pic>
        <p:nvPicPr>
          <p:cNvPr id="9" name="Picture 8">
            <a:extLst>
              <a:ext uri="{FF2B5EF4-FFF2-40B4-BE49-F238E27FC236}">
                <a16:creationId xmlns:a16="http://schemas.microsoft.com/office/drawing/2014/main" id="{8C93F01F-DFCF-8FF5-BB0F-F31857B0A67F}"/>
              </a:ext>
            </a:extLst>
          </p:cNvPr>
          <p:cNvPicPr>
            <a:picLocks noChangeAspect="1"/>
          </p:cNvPicPr>
          <p:nvPr/>
        </p:nvPicPr>
        <p:blipFill>
          <a:blip r:embed="rId5"/>
          <a:stretch>
            <a:fillRect/>
          </a:stretch>
        </p:blipFill>
        <p:spPr>
          <a:xfrm>
            <a:off x="7775531" y="2569047"/>
            <a:ext cx="4410780" cy="2248633"/>
          </a:xfrm>
          <a:prstGeom prst="rect">
            <a:avLst/>
          </a:prstGeom>
        </p:spPr>
      </p:pic>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smtClean="0"/>
              <a:t>8/26/2026</a:t>
            </a:fld>
            <a:endParaRPr lang="en-US"/>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smtClean="0"/>
              <a:t>10</a:t>
            </a:fld>
            <a:endParaRPr lang="en-US"/>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6276DF54-E926-E8AD-3FB1-9C733E0FCF55}"/>
              </a:ext>
            </a:extLst>
          </p:cNvPr>
          <p:cNvPicPr>
            <a:picLocks noChangeAspect="1"/>
          </p:cNvPicPr>
          <p:nvPr/>
        </p:nvPicPr>
        <p:blipFill>
          <a:blip r:embed="rId3"/>
          <a:stretch>
            <a:fillRect/>
          </a:stretch>
        </p:blipFill>
        <p:spPr>
          <a:xfrm>
            <a:off x="2905836" y="252614"/>
            <a:ext cx="4875384" cy="3176386"/>
          </a:xfrm>
          <a:prstGeom prst="rect">
            <a:avLst/>
          </a:prstGeom>
        </p:spPr>
      </p:pic>
      <p:pic>
        <p:nvPicPr>
          <p:cNvPr id="7" name="Picture 6">
            <a:extLst>
              <a:ext uri="{FF2B5EF4-FFF2-40B4-BE49-F238E27FC236}">
                <a16:creationId xmlns:a16="http://schemas.microsoft.com/office/drawing/2014/main" id="{A81FB269-1472-2EB3-14ED-8FB4C84D1F4F}"/>
              </a:ext>
            </a:extLst>
          </p:cNvPr>
          <p:cNvPicPr>
            <a:picLocks noChangeAspect="1"/>
          </p:cNvPicPr>
          <p:nvPr/>
        </p:nvPicPr>
        <p:blipFill>
          <a:blip r:embed="rId4"/>
          <a:stretch>
            <a:fillRect/>
          </a:stretch>
        </p:blipFill>
        <p:spPr>
          <a:xfrm>
            <a:off x="2276224" y="3794899"/>
            <a:ext cx="5117746" cy="2045562"/>
          </a:xfrm>
          <a:prstGeom prst="rect">
            <a:avLst/>
          </a:prstGeom>
        </p:spPr>
      </p:pic>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5"/>
          <a:stretch>
            <a:fillRect/>
          </a:stretch>
        </p:blipFill>
        <p:spPr>
          <a:xfrm>
            <a:off x="7775531" y="2569047"/>
            <a:ext cx="4410780" cy="2248633"/>
          </a:xfrm>
          <a:prstGeom prst="rect">
            <a:avLst/>
          </a:prstGeom>
        </p:spPr>
      </p:pic>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smtClean="0"/>
              <a:t>8/26/2026</a:t>
            </a:fld>
            <a:endParaRPr lang="en-US"/>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smtClean="0"/>
              <a:t>11</a:t>
            </a:fld>
            <a:endParaRPr lang="en-US"/>
          </a:p>
        </p:txBody>
      </p:sp>
    </p:spTree>
    <p:extLst>
      <p:ext uri="{BB962C8B-B14F-4D97-AF65-F5344CB8AC3E}">
        <p14:creationId xmlns:p14="http://schemas.microsoft.com/office/powerpoint/2010/main" val="3185466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endParaRPr lang="en-US" noProof="0" dirty="0"/>
          </a:p>
        </p:txBody>
      </p:sp>
      <p:sp>
        <p:nvSpPr>
          <p:cNvPr id="19" name="TextBox 18">
            <a:extLst>
              <a:ext uri="{FF2B5EF4-FFF2-40B4-BE49-F238E27FC236}">
                <a16:creationId xmlns:a16="http://schemas.microsoft.com/office/drawing/2014/main" id="{A5213A0B-F2B1-2FBF-0110-D745941C8165}"/>
              </a:ext>
            </a:extLst>
          </p:cNvPr>
          <p:cNvSpPr txBox="1"/>
          <p:nvPr/>
        </p:nvSpPr>
        <p:spPr>
          <a:xfrm>
            <a:off x="5068379" y="3357547"/>
            <a:ext cx="1037463" cy="369332"/>
          </a:xfrm>
          <a:prstGeom prst="rect">
            <a:avLst/>
          </a:prstGeom>
          <a:noFill/>
        </p:spPr>
        <p:txBody>
          <a:bodyPr wrap="none" rtlCol="0">
            <a:spAutoFit/>
          </a:bodyPr>
          <a:lstStyle/>
          <a:p>
            <a:r>
              <a:rPr lang="en-US" noProof="0" dirty="0"/>
              <a:t>MPI type</a:t>
            </a:r>
          </a:p>
        </p:txBody>
      </p:sp>
      <p:sp>
        <p:nvSpPr>
          <p:cNvPr id="20" name="Rectangle 19">
            <a:extLst>
              <a:ext uri="{FF2B5EF4-FFF2-40B4-BE49-F238E27FC236}">
                <a16:creationId xmlns:a16="http://schemas.microsoft.com/office/drawing/2014/main" id="{68DE49E3-54DC-3782-623E-9216D46CB5CE}"/>
              </a:ext>
            </a:extLst>
          </p:cNvPr>
          <p:cNvSpPr/>
          <p:nvPr/>
        </p:nvSpPr>
        <p:spPr>
          <a:xfrm>
            <a:off x="975360" y="2865120"/>
            <a:ext cx="3457303" cy="27083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6" name="Straight Connector 25">
            <a:extLst>
              <a:ext uri="{FF2B5EF4-FFF2-40B4-BE49-F238E27FC236}">
                <a16:creationId xmlns:a16="http://schemas.microsoft.com/office/drawing/2014/main" id="{373B90C4-3CC0-EAED-05A7-6CA4FBF81952}"/>
              </a:ext>
            </a:extLst>
          </p:cNvPr>
          <p:cNvCxnSpPr>
            <a:cxnSpLocks/>
            <a:stCxn id="20" idx="0"/>
            <a:endCxn id="20" idx="2"/>
          </p:cNvCxnSpPr>
          <p:nvPr/>
        </p:nvCxnSpPr>
        <p:spPr>
          <a:xfrm>
            <a:off x="2704012" y="2865120"/>
            <a:ext cx="0" cy="270836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154316A-36DD-6CAD-BA3D-6B14B9D4FF2C}"/>
              </a:ext>
            </a:extLst>
          </p:cNvPr>
          <p:cNvCxnSpPr>
            <a:cxnSpLocks/>
            <a:stCxn id="20" idx="1"/>
            <a:endCxn id="20" idx="3"/>
          </p:cNvCxnSpPr>
          <p:nvPr/>
        </p:nvCxnSpPr>
        <p:spPr>
          <a:xfrm>
            <a:off x="975360" y="4219303"/>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3" name="Right Brace 32">
            <a:extLst>
              <a:ext uri="{FF2B5EF4-FFF2-40B4-BE49-F238E27FC236}">
                <a16:creationId xmlns:a16="http://schemas.microsoft.com/office/drawing/2014/main" id="{EEEB8DE7-AB06-ECAC-C59A-47F2BA36D502}"/>
              </a:ext>
            </a:extLst>
          </p:cNvPr>
          <p:cNvSpPr/>
          <p:nvPr/>
        </p:nvSpPr>
        <p:spPr>
          <a:xfrm>
            <a:off x="4580708" y="2865123"/>
            <a:ext cx="339626" cy="135418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cxnSp>
        <p:nvCxnSpPr>
          <p:cNvPr id="35" name="Straight Connector 34">
            <a:extLst>
              <a:ext uri="{FF2B5EF4-FFF2-40B4-BE49-F238E27FC236}">
                <a16:creationId xmlns:a16="http://schemas.microsoft.com/office/drawing/2014/main" id="{5769E367-8977-3525-B957-1C2C939268D0}"/>
              </a:ext>
            </a:extLst>
          </p:cNvPr>
          <p:cNvCxnSpPr/>
          <p:nvPr/>
        </p:nvCxnSpPr>
        <p:spPr>
          <a:xfrm>
            <a:off x="1776549" y="3622766"/>
            <a:ext cx="3810561" cy="25429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3E6A879-F94D-8BAD-DAE3-09369A5F6D70}"/>
              </a:ext>
            </a:extLst>
          </p:cNvPr>
          <p:cNvCxnSpPr>
            <a:cxnSpLocks/>
          </p:cNvCxnSpPr>
          <p:nvPr/>
        </p:nvCxnSpPr>
        <p:spPr>
          <a:xfrm>
            <a:off x="3587931" y="3622766"/>
            <a:ext cx="1999179" cy="25429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5C2E09E-5B58-FA16-4041-C9FA139933D6}"/>
              </a:ext>
            </a:extLst>
          </p:cNvPr>
          <p:cNvCxnSpPr>
            <a:cxnSpLocks/>
          </p:cNvCxnSpPr>
          <p:nvPr/>
        </p:nvCxnSpPr>
        <p:spPr>
          <a:xfrm>
            <a:off x="1776549" y="5042263"/>
            <a:ext cx="3810561" cy="11091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C95CC93-9CA9-7209-C22C-7D083498E953}"/>
              </a:ext>
            </a:extLst>
          </p:cNvPr>
          <p:cNvSpPr txBox="1"/>
          <p:nvPr/>
        </p:nvSpPr>
        <p:spPr>
          <a:xfrm>
            <a:off x="5621944" y="5981003"/>
            <a:ext cx="3115661" cy="369332"/>
          </a:xfrm>
          <a:prstGeom prst="rect">
            <a:avLst/>
          </a:prstGeom>
          <a:noFill/>
        </p:spPr>
        <p:txBody>
          <a:bodyPr wrap="none" rtlCol="0">
            <a:spAutoFit/>
          </a:bodyPr>
          <a:lstStyle/>
          <a:p>
            <a:r>
              <a:rPr lang="en-US" noProof="0" dirty="0"/>
              <a:t>Binding to MPI communicator</a:t>
            </a:r>
          </a:p>
        </p:txBody>
      </p:sp>
      <p:sp>
        <p:nvSpPr>
          <p:cNvPr id="44" name="TextBox 43">
            <a:extLst>
              <a:ext uri="{FF2B5EF4-FFF2-40B4-BE49-F238E27FC236}">
                <a16:creationId xmlns:a16="http://schemas.microsoft.com/office/drawing/2014/main" id="{00612D55-36C9-6C61-DF21-5AA00D7D6F03}"/>
              </a:ext>
            </a:extLst>
          </p:cNvPr>
          <p:cNvSpPr txBox="1"/>
          <p:nvPr/>
        </p:nvSpPr>
        <p:spPr>
          <a:xfrm>
            <a:off x="1776549" y="2211977"/>
            <a:ext cx="1398268" cy="369332"/>
          </a:xfrm>
          <a:prstGeom prst="rect">
            <a:avLst/>
          </a:prstGeom>
          <a:noFill/>
        </p:spPr>
        <p:txBody>
          <a:bodyPr wrap="none" rtlCol="0">
            <a:spAutoFit/>
          </a:bodyPr>
          <a:lstStyle/>
          <a:p>
            <a:r>
              <a:rPr lang="en-US" noProof="0" dirty="0">
                <a:solidFill>
                  <a:srgbClr val="FF0000"/>
                </a:solidFill>
              </a:rPr>
              <a:t>TODO </a:t>
            </a:r>
            <a:r>
              <a:rPr lang="en-US" noProof="0" dirty="0" err="1">
                <a:solidFill>
                  <a:srgbClr val="FF0000"/>
                </a:solidFill>
              </a:rPr>
              <a:t>Noarr</a:t>
            </a:r>
            <a:endParaRPr lang="en-US" noProof="0" dirty="0">
              <a:solidFill>
                <a:srgbClr val="FF0000"/>
              </a:solidFill>
            </a:endParaRPr>
          </a:p>
        </p:txBody>
      </p:sp>
      <p:sp>
        <p:nvSpPr>
          <p:cNvPr id="46" name="TextBox 45">
            <a:extLst>
              <a:ext uri="{FF2B5EF4-FFF2-40B4-BE49-F238E27FC236}">
                <a16:creationId xmlns:a16="http://schemas.microsoft.com/office/drawing/2014/main" id="{4C65FA3D-9669-4004-2E6D-A1DA7F591C7C}"/>
              </a:ext>
            </a:extLst>
          </p:cNvPr>
          <p:cNvSpPr txBox="1"/>
          <p:nvPr/>
        </p:nvSpPr>
        <p:spPr>
          <a:xfrm>
            <a:off x="6388299" y="3357547"/>
            <a:ext cx="2638992" cy="369332"/>
          </a:xfrm>
          <a:prstGeom prst="rect">
            <a:avLst/>
          </a:prstGeom>
          <a:noFill/>
        </p:spPr>
        <p:txBody>
          <a:bodyPr wrap="none" rtlCol="0">
            <a:spAutoFit/>
          </a:bodyPr>
          <a:lstStyle/>
          <a:p>
            <a:r>
              <a:rPr lang="en-US" noProof="0" dirty="0">
                <a:solidFill>
                  <a:srgbClr val="FF0000"/>
                </a:solidFill>
              </a:rPr>
              <a:t>TODO actual description</a:t>
            </a:r>
          </a:p>
        </p:txBody>
      </p:sp>
      <p:sp>
        <p:nvSpPr>
          <p:cNvPr id="48" name="TextBox 47">
            <a:extLst>
              <a:ext uri="{FF2B5EF4-FFF2-40B4-BE49-F238E27FC236}">
                <a16:creationId xmlns:a16="http://schemas.microsoft.com/office/drawing/2014/main" id="{F5881909-F7F8-DD2C-3387-287BA8E13CE5}"/>
              </a:ext>
            </a:extLst>
          </p:cNvPr>
          <p:cNvSpPr txBox="1"/>
          <p:nvPr/>
        </p:nvSpPr>
        <p:spPr>
          <a:xfrm>
            <a:off x="5860278" y="6308209"/>
            <a:ext cx="2074735" cy="369332"/>
          </a:xfrm>
          <a:prstGeom prst="rect">
            <a:avLst/>
          </a:prstGeom>
          <a:noFill/>
        </p:spPr>
        <p:txBody>
          <a:bodyPr wrap="none" rtlCol="0">
            <a:spAutoFit/>
          </a:bodyPr>
          <a:lstStyle/>
          <a:p>
            <a:r>
              <a:rPr lang="en-US" noProof="0" dirty="0">
                <a:solidFill>
                  <a:srgbClr val="FF0000"/>
                </a:solidFill>
              </a:rPr>
              <a:t>TODO the mapping</a:t>
            </a:r>
          </a:p>
        </p:txBody>
      </p:sp>
      <p:sp>
        <p:nvSpPr>
          <p:cNvPr id="50" name="TextBox 49">
            <a:extLst>
              <a:ext uri="{FF2B5EF4-FFF2-40B4-BE49-F238E27FC236}">
                <a16:creationId xmlns:a16="http://schemas.microsoft.com/office/drawing/2014/main" id="{F37A857B-EB77-6965-42EF-0448615590BE}"/>
              </a:ext>
            </a:extLst>
          </p:cNvPr>
          <p:cNvSpPr txBox="1"/>
          <p:nvPr/>
        </p:nvSpPr>
        <p:spPr>
          <a:xfrm>
            <a:off x="7536678" y="4299943"/>
            <a:ext cx="3880229" cy="369332"/>
          </a:xfrm>
          <a:prstGeom prst="rect">
            <a:avLst/>
          </a:prstGeom>
          <a:noFill/>
        </p:spPr>
        <p:txBody>
          <a:bodyPr wrap="none" rtlCol="0">
            <a:spAutoFit/>
          </a:bodyPr>
          <a:lstStyle/>
          <a:p>
            <a:r>
              <a:rPr lang="en-US" noProof="0" dirty="0">
                <a:solidFill>
                  <a:srgbClr val="FF0000"/>
                </a:solidFill>
              </a:rPr>
              <a:t>TODO this can be done automatically</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smtClean="0"/>
              <a:t>8/26/2026</a:t>
            </a:fld>
            <a:endParaRPr lang="en-US"/>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smtClean="0"/>
              <a:t>12</a:t>
            </a:fld>
            <a:endParaRPr lang="en-US"/>
          </a:p>
        </p:txBody>
      </p:sp>
    </p:spTree>
    <p:extLst>
      <p:ext uri="{BB962C8B-B14F-4D97-AF65-F5344CB8AC3E}">
        <p14:creationId xmlns:p14="http://schemas.microsoft.com/office/powerpoint/2010/main" val="3399022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29051-C55D-C6C6-0632-56BEDC62718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AF9FE65-1712-5072-CF69-47E693209BEE}"/>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8F88950C-287E-7FB4-0D76-46A8FCD9878F}"/>
              </a:ext>
            </a:extLst>
          </p:cNvPr>
          <p:cNvSpPr txBox="1"/>
          <p:nvPr/>
        </p:nvSpPr>
        <p:spPr>
          <a:xfrm>
            <a:off x="838200" y="3280230"/>
            <a:ext cx="4781006" cy="2095061"/>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t>
            </a:r>
            <a:r>
              <a:rPr lang="en-US" sz="1050" noProof="0" dirty="0" err="1">
                <a:solidFill>
                  <a:srgbClr val="795E26"/>
                </a:solidFill>
                <a:latin typeface="Fira Code" panose="020B0809050000020004" pitchFamily="49" charset="0"/>
              </a:rPr>
              <a:t>into_blocks</a:t>
            </a:r>
            <a:r>
              <a:rPr lang="en-US" sz="1050" noProof="0" dirty="0">
                <a:solidFill>
                  <a:srgbClr val="000000"/>
                </a:solidFill>
                <a:latin typeface="Fira Code" panose="020B0809050000020004" pitchFamily="49" charset="0"/>
              </a:rPr>
              <a:t>&lt;</a:t>
            </a:r>
            <a:r>
              <a:rPr lang="en-US" sz="1050" noProof="0" dirty="0">
                <a:solidFill>
                  <a:srgbClr val="A31515"/>
                </a:solidFill>
                <a:latin typeface="Fira Code" panose="020B0809050000020004" pitchFamily="49" charset="0"/>
              </a:rPr>
              <a:t>'m'</a:t>
            </a:r>
            <a:r>
              <a:rPr lang="en-US" sz="1050" noProof="0" dirty="0">
                <a:solidFill>
                  <a:srgbClr val="000000"/>
                </a:solidFill>
                <a:latin typeface="Fira Code" panose="020B0809050000020004" pitchFamily="49" charset="0"/>
              </a:rPr>
              <a:t>, </a:t>
            </a:r>
            <a:r>
              <a:rPr lang="en-US" sz="1050" noProof="0" dirty="0">
                <a:solidFill>
                  <a:srgbClr val="A31515"/>
                </a:solidFill>
                <a:latin typeface="Fira Code" panose="020B0809050000020004" pitchFamily="49" charset="0"/>
              </a:rPr>
              <a:t>'M'</a:t>
            </a:r>
            <a:r>
              <a:rPr lang="en-US" sz="1050" noProof="0" dirty="0">
                <a:solidFill>
                  <a:srgbClr val="000000"/>
                </a:solidFill>
                <a:latin typeface="Fira Code" panose="020B0809050000020004" pitchFamily="49" charset="0"/>
              </a:rPr>
              <a:t>&gt;()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noProof="0" dirty="0" err="1">
                <a:solidFill>
                  <a:srgbClr val="795E26"/>
                </a:solidFill>
                <a:latin typeface="Fira Code" panose="020B0809050000020004" pitchFamily="49" charset="0"/>
              </a:rPr>
              <a:t>mpi_bind</a:t>
            </a:r>
            <a:r>
              <a:rPr lang="en-US" sz="1050" noProof="0" dirty="0">
                <a:solidFill>
                  <a:srgbClr val="000000"/>
                </a:solidFill>
                <a:latin typeface="Fira Code" panose="020B0809050000020004" pitchFamily="49" charset="0"/>
              </a:rPr>
              <a:t>&lt;</a:t>
            </a:r>
            <a:r>
              <a:rPr lang="en-US" sz="1050" noProof="0" dirty="0">
                <a:solidFill>
                  <a:srgbClr val="A31515"/>
                </a:solidFill>
                <a:latin typeface="Fira Code" panose="020B0809050000020004" pitchFamily="49" charset="0"/>
              </a:rPr>
              <a:t>'M’</a:t>
            </a:r>
            <a:r>
              <a:rPr lang="en-US" sz="1050" noProof="0" dirty="0">
                <a:solidFill>
                  <a:srgbClr val="000000"/>
                </a:solidFill>
                <a:latin typeface="Fira Code" panose="020B0809050000020004" pitchFamily="49" charset="0"/>
              </a:rPr>
              <a:t>&gt;(COMMUNICATOR) ^</a:t>
            </a: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hoist</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7" name="TextBox 6">
            <a:extLst>
              <a:ext uri="{FF2B5EF4-FFF2-40B4-BE49-F238E27FC236}">
                <a16:creationId xmlns:a16="http://schemas.microsoft.com/office/drawing/2014/main" id="{03BE4FC0-B7FD-D320-3766-50AA66B9FE4E}"/>
              </a:ext>
            </a:extLst>
          </p:cNvPr>
          <p:cNvSpPr txBox="1"/>
          <p:nvPr/>
        </p:nvSpPr>
        <p:spPr>
          <a:xfrm>
            <a:off x="4282440" y="3936274"/>
            <a:ext cx="2673532" cy="646331"/>
          </a:xfrm>
          <a:prstGeom prst="rect">
            <a:avLst/>
          </a:prstGeom>
          <a:noFill/>
        </p:spPr>
        <p:txBody>
          <a:bodyPr wrap="square" rtlCol="0">
            <a:spAutoFit/>
          </a:bodyPr>
          <a:lstStyle/>
          <a:p>
            <a:r>
              <a:rPr lang="en-US" noProof="0" dirty="0">
                <a:solidFill>
                  <a:srgbClr val="FF0000"/>
                </a:solidFill>
              </a:rPr>
              <a:t>TODO: COPY FROM THE ARTIFACT</a:t>
            </a:r>
          </a:p>
        </p:txBody>
      </p:sp>
      <p:cxnSp>
        <p:nvCxnSpPr>
          <p:cNvPr id="9" name="Straight Arrow Connector 8">
            <a:extLst>
              <a:ext uri="{FF2B5EF4-FFF2-40B4-BE49-F238E27FC236}">
                <a16:creationId xmlns:a16="http://schemas.microsoft.com/office/drawing/2014/main" id="{B99C109E-171A-6E48-B037-3009F35E3E49}"/>
              </a:ext>
            </a:extLst>
          </p:cNvPr>
          <p:cNvCxnSpPr/>
          <p:nvPr/>
        </p:nvCxnSpPr>
        <p:spPr>
          <a:xfrm flipV="1">
            <a:off x="6096000" y="2760617"/>
            <a:ext cx="2194560" cy="7489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FCAEE460-F635-1C27-9B25-A6B4548995A8}"/>
              </a:ext>
            </a:extLst>
          </p:cNvPr>
          <p:cNvCxnSpPr>
            <a:cxnSpLocks/>
          </p:cNvCxnSpPr>
          <p:nvPr/>
        </p:nvCxnSpPr>
        <p:spPr>
          <a:xfrm>
            <a:off x="6955972" y="4258491"/>
            <a:ext cx="1395548" cy="94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DFDAD778-041C-142A-9B74-7A0854065A9D}"/>
              </a:ext>
            </a:extLst>
          </p:cNvPr>
          <p:cNvCxnSpPr>
            <a:cxnSpLocks/>
          </p:cNvCxnSpPr>
          <p:nvPr/>
        </p:nvCxnSpPr>
        <p:spPr>
          <a:xfrm>
            <a:off x="6751320" y="5008376"/>
            <a:ext cx="1539240" cy="6696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9BE1F9E-2544-9BDB-5CC7-E47187F05A6E}"/>
              </a:ext>
            </a:extLst>
          </p:cNvPr>
          <p:cNvSpPr txBox="1"/>
          <p:nvPr/>
        </p:nvSpPr>
        <p:spPr>
          <a:xfrm>
            <a:off x="8429898" y="2575951"/>
            <a:ext cx="904671" cy="369332"/>
          </a:xfrm>
          <a:prstGeom prst="rect">
            <a:avLst/>
          </a:prstGeom>
          <a:noFill/>
        </p:spPr>
        <p:txBody>
          <a:bodyPr wrap="none" rtlCol="0">
            <a:spAutoFit/>
          </a:bodyPr>
          <a:lstStyle/>
          <a:p>
            <a:r>
              <a:rPr lang="en-US" noProof="0" dirty="0"/>
              <a:t>Scatter</a:t>
            </a:r>
          </a:p>
        </p:txBody>
      </p:sp>
      <p:sp>
        <p:nvSpPr>
          <p:cNvPr id="16" name="TextBox 15">
            <a:extLst>
              <a:ext uri="{FF2B5EF4-FFF2-40B4-BE49-F238E27FC236}">
                <a16:creationId xmlns:a16="http://schemas.microsoft.com/office/drawing/2014/main" id="{ED7CD3EF-9BE9-5D50-D214-6FD467C00A95}"/>
              </a:ext>
            </a:extLst>
          </p:cNvPr>
          <p:cNvSpPr txBox="1"/>
          <p:nvPr/>
        </p:nvSpPr>
        <p:spPr>
          <a:xfrm>
            <a:off x="8429897" y="4073825"/>
            <a:ext cx="1122871" cy="369332"/>
          </a:xfrm>
          <a:prstGeom prst="rect">
            <a:avLst/>
          </a:prstGeom>
          <a:noFill/>
        </p:spPr>
        <p:txBody>
          <a:bodyPr wrap="none" rtlCol="0">
            <a:spAutoFit/>
          </a:bodyPr>
          <a:lstStyle/>
          <a:p>
            <a:r>
              <a:rPr lang="en-US" noProof="0" dirty="0"/>
              <a:t>Compute</a:t>
            </a:r>
          </a:p>
        </p:txBody>
      </p:sp>
      <p:sp>
        <p:nvSpPr>
          <p:cNvPr id="18" name="TextBox 17">
            <a:extLst>
              <a:ext uri="{FF2B5EF4-FFF2-40B4-BE49-F238E27FC236}">
                <a16:creationId xmlns:a16="http://schemas.microsoft.com/office/drawing/2014/main" id="{63B12673-26DD-6FEE-1502-219CF700DF05}"/>
              </a:ext>
            </a:extLst>
          </p:cNvPr>
          <p:cNvSpPr txBox="1"/>
          <p:nvPr/>
        </p:nvSpPr>
        <p:spPr>
          <a:xfrm>
            <a:off x="8447081" y="5493323"/>
            <a:ext cx="870303" cy="369332"/>
          </a:xfrm>
          <a:prstGeom prst="rect">
            <a:avLst/>
          </a:prstGeom>
          <a:noFill/>
        </p:spPr>
        <p:txBody>
          <a:bodyPr wrap="none" rtlCol="0">
            <a:spAutoFit/>
          </a:bodyPr>
          <a:lstStyle/>
          <a:p>
            <a:r>
              <a:rPr lang="en-US" noProof="0" dirty="0"/>
              <a:t>Gather</a:t>
            </a:r>
          </a:p>
        </p:txBody>
      </p:sp>
      <p:sp>
        <p:nvSpPr>
          <p:cNvPr id="2" name="Date Placeholder 1">
            <a:extLst>
              <a:ext uri="{FF2B5EF4-FFF2-40B4-BE49-F238E27FC236}">
                <a16:creationId xmlns:a16="http://schemas.microsoft.com/office/drawing/2014/main" id="{AB76C1E0-CD3C-9F4D-50D4-C3DCA8305A7A}"/>
              </a:ext>
            </a:extLst>
          </p:cNvPr>
          <p:cNvSpPr>
            <a:spLocks noGrp="1"/>
          </p:cNvSpPr>
          <p:nvPr>
            <p:ph type="dt" sz="half" idx="10"/>
          </p:nvPr>
        </p:nvSpPr>
        <p:spPr/>
        <p:txBody>
          <a:bodyPr/>
          <a:lstStyle/>
          <a:p>
            <a:fld id="{2B279B89-4195-46F9-9E41-36E91C37E941}" type="datetime1">
              <a:rPr lang="en-US" smtClean="0"/>
              <a:t>8/26/2026</a:t>
            </a:fld>
            <a:endParaRPr lang="en-US"/>
          </a:p>
        </p:txBody>
      </p:sp>
      <p:sp>
        <p:nvSpPr>
          <p:cNvPr id="3" name="Slide Number Placeholder 2">
            <a:extLst>
              <a:ext uri="{FF2B5EF4-FFF2-40B4-BE49-F238E27FC236}">
                <a16:creationId xmlns:a16="http://schemas.microsoft.com/office/drawing/2014/main" id="{4C400892-F505-BD5D-E895-F0CA131C174A}"/>
              </a:ext>
            </a:extLst>
          </p:cNvPr>
          <p:cNvSpPr>
            <a:spLocks noGrp="1"/>
          </p:cNvSpPr>
          <p:nvPr>
            <p:ph type="sldNum" sz="quarter" idx="12"/>
          </p:nvPr>
        </p:nvSpPr>
        <p:spPr/>
        <p:txBody>
          <a:bodyPr/>
          <a:lstStyle/>
          <a:p>
            <a:fld id="{DA0BB241-1B5F-4309-9407-9EEA04D9598D}" type="slidenum">
              <a:rPr lang="en-US" smtClean="0"/>
              <a:t>13</a:t>
            </a:fld>
            <a:endParaRPr lang="en-US"/>
          </a:p>
        </p:txBody>
      </p:sp>
    </p:spTree>
    <p:extLst>
      <p:ext uri="{BB962C8B-B14F-4D97-AF65-F5344CB8AC3E}">
        <p14:creationId xmlns:p14="http://schemas.microsoft.com/office/powerpoint/2010/main" val="35762271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endParaRPr lang="en-US" noProof="0" dirty="0"/>
          </a:p>
        </p:txBody>
      </p:sp>
      <p:sp>
        <p:nvSpPr>
          <p:cNvPr id="2" name="Rectangle 1">
            <a:extLst>
              <a:ext uri="{FF2B5EF4-FFF2-40B4-BE49-F238E27FC236}">
                <a16:creationId xmlns:a16="http://schemas.microsoft.com/office/drawing/2014/main" id="{5078614E-A6EB-B58F-B6F8-B17BCC956B35}"/>
              </a:ext>
            </a:extLst>
          </p:cNvPr>
          <p:cNvSpPr/>
          <p:nvPr/>
        </p:nvSpPr>
        <p:spPr>
          <a:xfrm>
            <a:off x="1480457" y="2592977"/>
            <a:ext cx="1968137" cy="2360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Rectangle 4">
            <a:extLst>
              <a:ext uri="{FF2B5EF4-FFF2-40B4-BE49-F238E27FC236}">
                <a16:creationId xmlns:a16="http://schemas.microsoft.com/office/drawing/2014/main" id="{EF378A81-CAFE-54BD-887A-F06DC9BF4A37}"/>
              </a:ext>
            </a:extLst>
          </p:cNvPr>
          <p:cNvSpPr/>
          <p:nvPr/>
        </p:nvSpPr>
        <p:spPr>
          <a:xfrm rot="16200000">
            <a:off x="7863841" y="2521131"/>
            <a:ext cx="1968137" cy="2360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1523643" y="2081348"/>
            <a:ext cx="1924951" cy="369332"/>
          </a:xfrm>
          <a:prstGeom prst="rect">
            <a:avLst/>
          </a:prstGeom>
          <a:noFill/>
        </p:spPr>
        <p:txBody>
          <a:bodyPr wrap="none" rtlCol="0">
            <a:spAutoFit/>
          </a:bodyPr>
          <a:lstStyle/>
          <a:p>
            <a:r>
              <a:rPr lang="en-US" noProof="0" dirty="0"/>
              <a:t>send(</a:t>
            </a:r>
            <a:r>
              <a:rPr lang="en-US" noProof="0" dirty="0" err="1"/>
              <a:t>row_major</a:t>
            </a:r>
            <a:r>
              <a:rPr lang="en-US" noProof="0" dirty="0"/>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7948720" y="2284215"/>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sp>
        <p:nvSpPr>
          <p:cNvPr id="10" name="Rectangle 9">
            <a:extLst>
              <a:ext uri="{FF2B5EF4-FFF2-40B4-BE49-F238E27FC236}">
                <a16:creationId xmlns:a16="http://schemas.microsoft.com/office/drawing/2014/main" id="{92B3BAE0-1817-336E-2191-5401BAB3AF67}"/>
              </a:ext>
            </a:extLst>
          </p:cNvPr>
          <p:cNvSpPr/>
          <p:nvPr/>
        </p:nvSpPr>
        <p:spPr>
          <a:xfrm>
            <a:off x="1606731" y="5016527"/>
            <a:ext cx="1968137" cy="2360023"/>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C75B32D4-98DA-65FF-8827-23DC482C05DB}"/>
              </a:ext>
            </a:extLst>
          </p:cNvPr>
          <p:cNvSpPr/>
          <p:nvPr/>
        </p:nvSpPr>
        <p:spPr>
          <a:xfrm rot="16200000">
            <a:off x="7990115" y="4944681"/>
            <a:ext cx="1968137" cy="2360023"/>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39C9CAD-9E1E-7EC1-4429-D017CA1092E1}"/>
              </a:ext>
            </a:extLst>
          </p:cNvPr>
          <p:cNvSpPr txBox="1"/>
          <p:nvPr/>
        </p:nvSpPr>
        <p:spPr>
          <a:xfrm>
            <a:off x="5164183" y="3962400"/>
            <a:ext cx="425116" cy="369332"/>
          </a:xfrm>
          <a:prstGeom prst="rect">
            <a:avLst/>
          </a:prstGeom>
          <a:noFill/>
        </p:spPr>
        <p:txBody>
          <a:bodyPr wrap="none" rtlCol="0">
            <a:spAutoFit/>
          </a:bodyPr>
          <a:lstStyle/>
          <a:p>
            <a:r>
              <a:rPr lang="en-US" noProof="0" dirty="0"/>
              <a:t>us</a:t>
            </a:r>
          </a:p>
        </p:txBody>
      </p:sp>
      <p:sp>
        <p:nvSpPr>
          <p:cNvPr id="14" name="TextBox 13">
            <a:extLst>
              <a:ext uri="{FF2B5EF4-FFF2-40B4-BE49-F238E27FC236}">
                <a16:creationId xmlns:a16="http://schemas.microsoft.com/office/drawing/2014/main" id="{662521EF-5391-2B3B-B4E1-631E6C4FEF95}"/>
              </a:ext>
            </a:extLst>
          </p:cNvPr>
          <p:cNvSpPr txBox="1"/>
          <p:nvPr/>
        </p:nvSpPr>
        <p:spPr>
          <a:xfrm>
            <a:off x="5103223" y="6096000"/>
            <a:ext cx="713016" cy="369332"/>
          </a:xfrm>
          <a:prstGeom prst="rect">
            <a:avLst/>
          </a:prstGeom>
          <a:noFill/>
        </p:spPr>
        <p:txBody>
          <a:bodyPr wrap="none" rtlCol="0">
            <a:spAutoFit/>
          </a:bodyPr>
          <a:lstStyle/>
          <a:p>
            <a:r>
              <a:rPr lang="en-US" noProof="0" dirty="0"/>
              <a:t>naive</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smtClean="0"/>
              <a:t>8/26/2026</a:t>
            </a:fld>
            <a:endParaRPr lang="en-US"/>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smtClean="0"/>
              <a:t>14</a:t>
            </a:fld>
            <a:endParaRPr lang="en-US"/>
          </a:p>
        </p:txBody>
      </p:sp>
    </p:spTree>
    <p:extLst>
      <p:ext uri="{BB962C8B-B14F-4D97-AF65-F5344CB8AC3E}">
        <p14:creationId xmlns:p14="http://schemas.microsoft.com/office/powerpoint/2010/main" val="14841515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2940615" y="3429000"/>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4121330" y="1293295"/>
            <a:ext cx="6725589" cy="1886213"/>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smtClean="0"/>
              <a:t>8/26/2026</a:t>
            </a:fld>
            <a:endParaRPr lang="en-US"/>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smtClean="0"/>
              <a:t>15</a:t>
            </a:fld>
            <a:endParaRPr lang="en-US"/>
          </a:p>
        </p:txBody>
      </p:sp>
    </p:spTree>
    <p:extLst>
      <p:ext uri="{BB962C8B-B14F-4D97-AF65-F5344CB8AC3E}">
        <p14:creationId xmlns:p14="http://schemas.microsoft.com/office/powerpoint/2010/main" val="2024218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endParaRPr lang="en-US" noProof="0" dirty="0"/>
          </a:p>
        </p:txBody>
      </p:sp>
      <p:sp>
        <p:nvSpPr>
          <p:cNvPr id="5" name="Rectangle 4">
            <a:extLst>
              <a:ext uri="{FF2B5EF4-FFF2-40B4-BE49-F238E27FC236}">
                <a16:creationId xmlns:a16="http://schemas.microsoft.com/office/drawing/2014/main" id="{5922BE7C-0751-598B-C00C-8B9564A9A09D}"/>
              </a:ext>
            </a:extLst>
          </p:cNvPr>
          <p:cNvSpPr/>
          <p:nvPr/>
        </p:nvSpPr>
        <p:spPr>
          <a:xfrm>
            <a:off x="4696098"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computation</a:t>
            </a:r>
          </a:p>
        </p:txBody>
      </p:sp>
      <p:sp>
        <p:nvSpPr>
          <p:cNvPr id="7" name="Rectangle 6">
            <a:extLst>
              <a:ext uri="{FF2B5EF4-FFF2-40B4-BE49-F238E27FC236}">
                <a16:creationId xmlns:a16="http://schemas.microsoft.com/office/drawing/2014/main" id="{AEA9C9FB-1277-8D57-811D-B860C44F7929}"/>
              </a:ext>
            </a:extLst>
          </p:cNvPr>
          <p:cNvSpPr/>
          <p:nvPr/>
        </p:nvSpPr>
        <p:spPr>
          <a:xfrm>
            <a:off x="1109254" y="4302035"/>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p>
        </p:txBody>
      </p:sp>
      <p:sp>
        <p:nvSpPr>
          <p:cNvPr id="9" name="Rectangle 8">
            <a:extLst>
              <a:ext uri="{FF2B5EF4-FFF2-40B4-BE49-F238E27FC236}">
                <a16:creationId xmlns:a16="http://schemas.microsoft.com/office/drawing/2014/main" id="{181C6AE7-0A9D-76DD-6363-A2D7AD1912DB}"/>
              </a:ext>
            </a:extLst>
          </p:cNvPr>
          <p:cNvSpPr/>
          <p:nvPr/>
        </p:nvSpPr>
        <p:spPr>
          <a:xfrm>
            <a:off x="7528560" y="2103120"/>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Memory layout</a:t>
            </a:r>
          </a:p>
        </p:txBody>
      </p:sp>
      <p:sp>
        <p:nvSpPr>
          <p:cNvPr id="11" name="Rectangle 10">
            <a:extLst>
              <a:ext uri="{FF2B5EF4-FFF2-40B4-BE49-F238E27FC236}">
                <a16:creationId xmlns:a16="http://schemas.microsoft.com/office/drawing/2014/main" id="{EF6FEBD1-39F5-0475-1030-D2D0EBD8CB03}"/>
              </a:ext>
            </a:extLst>
          </p:cNvPr>
          <p:cNvSpPr/>
          <p:nvPr/>
        </p:nvSpPr>
        <p:spPr>
          <a:xfrm>
            <a:off x="7528560"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evaluator</a:t>
            </a:r>
          </a:p>
        </p:txBody>
      </p:sp>
      <p:sp>
        <p:nvSpPr>
          <p:cNvPr id="13" name="Rectangle 12">
            <a:extLst>
              <a:ext uri="{FF2B5EF4-FFF2-40B4-BE49-F238E27FC236}">
                <a16:creationId xmlns:a16="http://schemas.microsoft.com/office/drawing/2014/main" id="{55FF3AEE-E135-1E62-5EDC-53066AD1A802}"/>
              </a:ext>
            </a:extLst>
          </p:cNvPr>
          <p:cNvSpPr/>
          <p:nvPr/>
        </p:nvSpPr>
        <p:spPr>
          <a:xfrm>
            <a:off x="7528559" y="4950826"/>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traverser</a:t>
            </a:r>
          </a:p>
        </p:txBody>
      </p:sp>
      <p:sp>
        <p:nvSpPr>
          <p:cNvPr id="15" name="Rectangle 14">
            <a:extLst>
              <a:ext uri="{FF2B5EF4-FFF2-40B4-BE49-F238E27FC236}">
                <a16:creationId xmlns:a16="http://schemas.microsoft.com/office/drawing/2014/main" id="{ABE75C30-5A1B-8AB4-A106-0A24D6AFEED2}"/>
              </a:ext>
            </a:extLst>
          </p:cNvPr>
          <p:cNvSpPr/>
          <p:nvPr/>
        </p:nvSpPr>
        <p:spPr>
          <a:xfrm>
            <a:off x="10441576"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br>
              <a:rPr lang="en-US" noProof="0" dirty="0"/>
            </a:br>
            <a:r>
              <a:rPr lang="en-US" noProof="0" dirty="0"/>
              <a:t>generated automatically</a:t>
            </a:r>
          </a:p>
        </p:txBody>
      </p:sp>
      <p:sp>
        <p:nvSpPr>
          <p:cNvPr id="16" name="Arrow: Right 15">
            <a:extLst>
              <a:ext uri="{FF2B5EF4-FFF2-40B4-BE49-F238E27FC236}">
                <a16:creationId xmlns:a16="http://schemas.microsoft.com/office/drawing/2014/main" id="{8BD9587A-59F8-C7D4-6205-B1DE445BF524}"/>
              </a:ext>
            </a:extLst>
          </p:cNvPr>
          <p:cNvSpPr/>
          <p:nvPr/>
        </p:nvSpPr>
        <p:spPr>
          <a:xfrm>
            <a:off x="10110651" y="3944983"/>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Arrow: Right 17">
            <a:extLst>
              <a:ext uri="{FF2B5EF4-FFF2-40B4-BE49-F238E27FC236}">
                <a16:creationId xmlns:a16="http://schemas.microsoft.com/office/drawing/2014/main" id="{CD844549-BDD8-ABCA-0C10-F904D442B53D}"/>
              </a:ext>
            </a:extLst>
          </p:cNvPr>
          <p:cNvSpPr/>
          <p:nvPr/>
        </p:nvSpPr>
        <p:spPr>
          <a:xfrm>
            <a:off x="7282542" y="3870960"/>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02D95BA9-E80B-25A8-64B6-B250EDD29F85}"/>
              </a:ext>
            </a:extLst>
          </p:cNvPr>
          <p:cNvSpPr/>
          <p:nvPr/>
        </p:nvSpPr>
        <p:spPr>
          <a:xfrm>
            <a:off x="838200"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pred</a:t>
            </a:r>
          </a:p>
        </p:txBody>
      </p:sp>
      <p:sp>
        <p:nvSpPr>
          <p:cNvPr id="21" name="Rectangle 20">
            <a:extLst>
              <a:ext uri="{FF2B5EF4-FFF2-40B4-BE49-F238E27FC236}">
                <a16:creationId xmlns:a16="http://schemas.microsoft.com/office/drawing/2014/main" id="{205EDB32-F4D4-CE69-B94B-87DE173BBCC4}"/>
              </a:ext>
            </a:extLst>
          </p:cNvPr>
          <p:cNvSpPr/>
          <p:nvPr/>
        </p:nvSpPr>
        <p:spPr>
          <a:xfrm>
            <a:off x="2394857" y="2118973"/>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po</a:t>
            </a:r>
          </a:p>
        </p:txBody>
      </p:sp>
      <p:sp>
        <p:nvSpPr>
          <p:cNvPr id="23" name="Rectangle 22">
            <a:extLst>
              <a:ext uri="{FF2B5EF4-FFF2-40B4-BE49-F238E27FC236}">
                <a16:creationId xmlns:a16="http://schemas.microsoft.com/office/drawing/2014/main" id="{960071AA-70B7-F66C-A4F3-77C62F0CCFA4}"/>
              </a:ext>
            </a:extLst>
          </p:cNvPr>
          <p:cNvSpPr/>
          <p:nvPr/>
        </p:nvSpPr>
        <p:spPr>
          <a:xfrm>
            <a:off x="3961312"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a:t>
            </a:r>
            <a:r>
              <a:rPr lang="en-US" noProof="0" dirty="0" err="1"/>
              <a:t>popo</a:t>
            </a:r>
            <a:endParaRPr lang="en-US" noProof="0" dirty="0"/>
          </a:p>
        </p:txBody>
      </p:sp>
      <p:sp>
        <p:nvSpPr>
          <p:cNvPr id="24" name="TextBox 23">
            <a:extLst>
              <a:ext uri="{FF2B5EF4-FFF2-40B4-BE49-F238E27FC236}">
                <a16:creationId xmlns:a16="http://schemas.microsoft.com/office/drawing/2014/main" id="{71165215-9458-D01B-8A4E-1683A85CA7BD}"/>
              </a:ext>
            </a:extLst>
          </p:cNvPr>
          <p:cNvSpPr txBox="1"/>
          <p:nvPr/>
        </p:nvSpPr>
        <p:spPr>
          <a:xfrm>
            <a:off x="952194" y="1749641"/>
            <a:ext cx="4451475" cy="369332"/>
          </a:xfrm>
          <a:prstGeom prst="rect">
            <a:avLst/>
          </a:prstGeom>
          <a:noFill/>
        </p:spPr>
        <p:txBody>
          <a:bodyPr wrap="none" rtlCol="0">
            <a:spAutoFit/>
          </a:bodyPr>
          <a:lstStyle/>
          <a:p>
            <a:r>
              <a:rPr lang="en-US" noProof="0" dirty="0" err="1"/>
              <a:t>Postupna</a:t>
            </a:r>
            <a:r>
              <a:rPr lang="en-US" noProof="0" dirty="0"/>
              <a:t> </a:t>
            </a:r>
            <a:r>
              <a:rPr lang="en-US" noProof="0" dirty="0" err="1"/>
              <a:t>animace</a:t>
            </a:r>
            <a:r>
              <a:rPr lang="en-US" noProof="0" dirty="0"/>
              <a:t> s </a:t>
            </a:r>
            <a:r>
              <a:rPr lang="en-US" noProof="0" dirty="0" err="1"/>
              <a:t>neighborhoodama</a:t>
            </a:r>
            <a:r>
              <a:rPr lang="en-US" noProof="0" dirty="0"/>
              <a:t> </a:t>
            </a:r>
            <a:r>
              <a:rPr lang="en-US" noProof="0" dirty="0" err="1"/>
              <a:t>atd</a:t>
            </a:r>
            <a:endParaRPr lang="en-US" noProof="0" dirty="0"/>
          </a:p>
        </p:txBody>
      </p:sp>
      <p:sp>
        <p:nvSpPr>
          <p:cNvPr id="25" name="TextBox 24">
            <a:extLst>
              <a:ext uri="{FF2B5EF4-FFF2-40B4-BE49-F238E27FC236}">
                <a16:creationId xmlns:a16="http://schemas.microsoft.com/office/drawing/2014/main" id="{B466C9A0-18FB-0223-312F-7A0630D284B3}"/>
              </a:ext>
            </a:extLst>
          </p:cNvPr>
          <p:cNvSpPr txBox="1"/>
          <p:nvPr/>
        </p:nvSpPr>
        <p:spPr>
          <a:xfrm>
            <a:off x="5817326" y="1976846"/>
            <a:ext cx="830740" cy="369332"/>
          </a:xfrm>
          <a:prstGeom prst="rect">
            <a:avLst/>
          </a:prstGeom>
          <a:noFill/>
        </p:spPr>
        <p:txBody>
          <a:bodyPr wrap="none" rtlCol="0">
            <a:spAutoFit/>
          </a:bodyPr>
          <a:lstStyle/>
          <a:p>
            <a:r>
              <a:rPr lang="en-US" noProof="0" dirty="0" err="1"/>
              <a:t>moore</a:t>
            </a:r>
            <a:endParaRPr lang="en-US" noProof="0" dirty="0"/>
          </a:p>
        </p:txBody>
      </p:sp>
      <p:sp>
        <p:nvSpPr>
          <p:cNvPr id="26" name="TextBox 25">
            <a:extLst>
              <a:ext uri="{FF2B5EF4-FFF2-40B4-BE49-F238E27FC236}">
                <a16:creationId xmlns:a16="http://schemas.microsoft.com/office/drawing/2014/main" id="{B1DD5F4C-3F36-7C17-D1E9-890B3B91F3E5}"/>
              </a:ext>
            </a:extLst>
          </p:cNvPr>
          <p:cNvSpPr txBox="1"/>
          <p:nvPr/>
        </p:nvSpPr>
        <p:spPr>
          <a:xfrm>
            <a:off x="5843451" y="2542903"/>
            <a:ext cx="1135247" cy="369332"/>
          </a:xfrm>
          <a:prstGeom prst="rect">
            <a:avLst/>
          </a:prstGeom>
          <a:noFill/>
        </p:spPr>
        <p:txBody>
          <a:bodyPr wrap="none" rtlCol="0">
            <a:spAutoFit/>
          </a:bodyPr>
          <a:lstStyle/>
          <a:p>
            <a:r>
              <a:rPr lang="en-US" noProof="0" dirty="0" err="1"/>
              <a:t>neumann</a:t>
            </a:r>
            <a:endParaRPr lang="en-US" noProof="0" dirty="0"/>
          </a:p>
        </p:txBody>
      </p:sp>
      <p:sp>
        <p:nvSpPr>
          <p:cNvPr id="27" name="TextBox 26">
            <a:extLst>
              <a:ext uri="{FF2B5EF4-FFF2-40B4-BE49-F238E27FC236}">
                <a16:creationId xmlns:a16="http://schemas.microsoft.com/office/drawing/2014/main" id="{B24B6ACB-6D95-84C9-74D2-FD0339E4EF18}"/>
              </a:ext>
            </a:extLst>
          </p:cNvPr>
          <p:cNvSpPr txBox="1"/>
          <p:nvPr/>
        </p:nvSpPr>
        <p:spPr>
          <a:xfrm>
            <a:off x="922411" y="3193648"/>
            <a:ext cx="3144492" cy="923330"/>
          </a:xfrm>
          <a:prstGeom prst="rect">
            <a:avLst/>
          </a:prstGeom>
          <a:noFill/>
        </p:spPr>
        <p:txBody>
          <a:bodyPr wrap="square" rtlCol="0">
            <a:spAutoFit/>
          </a:bodyPr>
          <a:lstStyle/>
          <a:p>
            <a:r>
              <a:rPr lang="en-US" noProof="0" dirty="0"/>
              <a:t>Matika </a:t>
            </a:r>
            <a:r>
              <a:rPr lang="en-US" noProof="0" dirty="0" err="1"/>
              <a:t>tady</a:t>
            </a:r>
            <a:r>
              <a:rPr lang="en-US" noProof="0" dirty="0"/>
              <a:t> </a:t>
            </a:r>
            <a:r>
              <a:rPr lang="en-US" noProof="0" dirty="0" err="1"/>
              <a:t>blikne</a:t>
            </a:r>
            <a:r>
              <a:rPr lang="en-US" noProof="0" dirty="0"/>
              <a:t> </a:t>
            </a:r>
            <a:r>
              <a:rPr lang="en-US" noProof="0" dirty="0" err="1"/>
              <a:t>kdyz</a:t>
            </a:r>
            <a:r>
              <a:rPr lang="en-US" noProof="0" dirty="0"/>
              <a:t> se </a:t>
            </a:r>
            <a:r>
              <a:rPr lang="en-US" noProof="0" dirty="0" err="1"/>
              <a:t>bude</a:t>
            </a:r>
            <a:r>
              <a:rPr lang="en-US" noProof="0" dirty="0"/>
              <a:t> </a:t>
            </a:r>
            <a:r>
              <a:rPr lang="en-US" noProof="0" dirty="0" err="1"/>
              <a:t>mluvit</a:t>
            </a:r>
            <a:r>
              <a:rPr lang="en-US" noProof="0" dirty="0"/>
              <a:t> o tech </a:t>
            </a:r>
            <a:r>
              <a:rPr lang="en-US" noProof="0" dirty="0" err="1"/>
              <a:t>pravidlech</a:t>
            </a:r>
            <a:br>
              <a:rPr lang="en-US" noProof="0" dirty="0"/>
            </a:br>
            <a:r>
              <a:rPr lang="en-US" noProof="0" dirty="0"/>
              <a:t>v </a:t>
            </a:r>
            <a:r>
              <a:rPr lang="en-US" noProof="0" dirty="0" err="1"/>
              <a:t>obr</a:t>
            </a:r>
            <a:r>
              <a:rPr lang="en-US" noProof="0" dirty="0"/>
              <a:t> </a:t>
            </a:r>
            <a:r>
              <a:rPr lang="en-US" noProof="0" dirty="0" err="1"/>
              <a:t>vyse</a:t>
            </a:r>
            <a:r>
              <a:rPr lang="en-US" noProof="0" dirty="0"/>
              <a:t> </a:t>
            </a:r>
            <a:r>
              <a:rPr lang="en-US" noProof="0" dirty="0" err="1"/>
              <a:t>vyznacenej</a:t>
            </a:r>
            <a:r>
              <a:rPr lang="en-US" noProof="0" dirty="0"/>
              <a:t> </a:t>
            </a:r>
            <a:r>
              <a:rPr lang="en-US" noProof="0" dirty="0" err="1"/>
              <a:t>effekt</a:t>
            </a:r>
            <a:endParaRPr lang="en-US" noProof="0" dirty="0"/>
          </a:p>
        </p:txBody>
      </p:sp>
      <p:sp>
        <p:nvSpPr>
          <p:cNvPr id="28" name="TextBox 27">
            <a:extLst>
              <a:ext uri="{FF2B5EF4-FFF2-40B4-BE49-F238E27FC236}">
                <a16:creationId xmlns:a16="http://schemas.microsoft.com/office/drawing/2014/main" id="{CC3B35AA-31C5-70E2-7586-77C8AC6BD2CC}"/>
              </a:ext>
            </a:extLst>
          </p:cNvPr>
          <p:cNvSpPr txBox="1"/>
          <p:nvPr/>
        </p:nvSpPr>
        <p:spPr>
          <a:xfrm>
            <a:off x="10093235" y="2290354"/>
            <a:ext cx="2019300" cy="646331"/>
          </a:xfrm>
          <a:prstGeom prst="rect">
            <a:avLst/>
          </a:prstGeom>
          <a:noFill/>
        </p:spPr>
        <p:txBody>
          <a:bodyPr wrap="square" rtlCol="0">
            <a:spAutoFit/>
          </a:bodyPr>
          <a:lstStyle/>
          <a:p>
            <a:r>
              <a:rPr lang="en-US" noProof="0" dirty="0"/>
              <a:t>Very cool is bit plane encoding</a:t>
            </a:r>
          </a:p>
        </p:txBody>
      </p:sp>
      <p:sp>
        <p:nvSpPr>
          <p:cNvPr id="30" name="TextBox 29">
            <a:extLst>
              <a:ext uri="{FF2B5EF4-FFF2-40B4-BE49-F238E27FC236}">
                <a16:creationId xmlns:a16="http://schemas.microsoft.com/office/drawing/2014/main" id="{BE1D6BE9-114F-6743-FE27-0C964FC068D9}"/>
              </a:ext>
            </a:extLst>
          </p:cNvPr>
          <p:cNvSpPr txBox="1"/>
          <p:nvPr/>
        </p:nvSpPr>
        <p:spPr>
          <a:xfrm>
            <a:off x="6329723" y="4365862"/>
            <a:ext cx="2019300" cy="646331"/>
          </a:xfrm>
          <a:prstGeom prst="rect">
            <a:avLst/>
          </a:prstGeom>
          <a:noFill/>
        </p:spPr>
        <p:txBody>
          <a:bodyPr wrap="square" rtlCol="0">
            <a:spAutoFit/>
          </a:bodyPr>
          <a:lstStyle/>
          <a:p>
            <a:r>
              <a:rPr lang="en-US" noProof="0" dirty="0"/>
              <a:t>Very cool is bit wise vectorization</a:t>
            </a:r>
          </a:p>
        </p:txBody>
      </p:sp>
      <p:sp>
        <p:nvSpPr>
          <p:cNvPr id="32" name="TextBox 31">
            <a:extLst>
              <a:ext uri="{FF2B5EF4-FFF2-40B4-BE49-F238E27FC236}">
                <a16:creationId xmlns:a16="http://schemas.microsoft.com/office/drawing/2014/main" id="{C012ADAE-C88E-F73E-63B5-BC5F78EE7D82}"/>
              </a:ext>
            </a:extLst>
          </p:cNvPr>
          <p:cNvSpPr txBox="1"/>
          <p:nvPr/>
        </p:nvSpPr>
        <p:spPr>
          <a:xfrm>
            <a:off x="10276115" y="5375647"/>
            <a:ext cx="2019300" cy="646331"/>
          </a:xfrm>
          <a:prstGeom prst="rect">
            <a:avLst/>
          </a:prstGeom>
          <a:noFill/>
        </p:spPr>
        <p:txBody>
          <a:bodyPr wrap="square" rtlCol="0">
            <a:spAutoFit/>
          </a:bodyPr>
          <a:lstStyle/>
          <a:p>
            <a:r>
              <a:rPr lang="en-US" noProof="0" dirty="0"/>
              <a:t>Very cool is </a:t>
            </a:r>
            <a:r>
              <a:rPr lang="en-US" noProof="0" dirty="0" err="1"/>
              <a:t>gpu</a:t>
            </a:r>
            <a:r>
              <a:rPr lang="en-US" noProof="0" dirty="0"/>
              <a:t> </a:t>
            </a:r>
            <a:r>
              <a:rPr lang="en-US" noProof="0" dirty="0" err="1"/>
              <a:t>paralysation</a:t>
            </a:r>
            <a:endParaRPr lang="en-US" noProof="0" dirty="0"/>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smtClean="0"/>
              <a:t>8/26/2026</a:t>
            </a:fld>
            <a:endParaRPr lang="en-US"/>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smtClean="0"/>
              <a:t>16</a:t>
            </a:fld>
            <a:endParaRPr lang="en-US"/>
          </a:p>
        </p:txBody>
      </p:sp>
    </p:spTree>
    <p:extLst>
      <p:ext uri="{BB962C8B-B14F-4D97-AF65-F5344CB8AC3E}">
        <p14:creationId xmlns:p14="http://schemas.microsoft.com/office/powerpoint/2010/main" val="26305399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58894841-195F-D09C-28C7-7B371479C892}"/>
              </a:ext>
            </a:extLst>
          </p:cNvPr>
          <p:cNvPicPr>
            <a:picLocks noChangeAspect="1"/>
          </p:cNvPicPr>
          <p:nvPr/>
        </p:nvPicPr>
        <p:blipFill>
          <a:blip r:embed="rId3"/>
          <a:stretch>
            <a:fillRect/>
          </a:stretch>
        </p:blipFill>
        <p:spPr>
          <a:xfrm>
            <a:off x="685451" y="2850657"/>
            <a:ext cx="4991797" cy="2505425"/>
          </a:xfrm>
          <a:prstGeom prst="rect">
            <a:avLst/>
          </a:prstGeom>
        </p:spPr>
      </p:pic>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4"/>
          <a:stretch>
            <a:fillRect/>
          </a:stretch>
        </p:blipFill>
        <p:spPr>
          <a:xfrm>
            <a:off x="6015990" y="1690688"/>
            <a:ext cx="5687436" cy="2098628"/>
          </a:xfrm>
          <a:prstGeom prst="rect">
            <a:avLst/>
          </a:prstGeom>
        </p:spPr>
      </p:pic>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smtClean="0"/>
              <a:t>8/26/2026</a:t>
            </a:fld>
            <a:endParaRPr lang="en-US"/>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smtClean="0"/>
              <a:t>17</a:t>
            </a:fld>
            <a:endParaRPr lang="en-US"/>
          </a:p>
        </p:txBody>
      </p:sp>
    </p:spTree>
    <p:extLst>
      <p:ext uri="{BB962C8B-B14F-4D97-AF65-F5344CB8AC3E}">
        <p14:creationId xmlns:p14="http://schemas.microsoft.com/office/powerpoint/2010/main" val="1310412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dirty="0"/>
              <a:t>Motivation</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smtClean="0"/>
              <a:t>8/26/2026</a:t>
            </a:fld>
            <a:endParaRPr lang="en-US"/>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smtClean="0"/>
              <a:t>18</a:t>
            </a:fld>
            <a:endParaRPr lang="en-US"/>
          </a:p>
        </p:txBody>
      </p:sp>
    </p:spTree>
    <p:extLst>
      <p:ext uri="{BB962C8B-B14F-4D97-AF65-F5344CB8AC3E}">
        <p14:creationId xmlns:p14="http://schemas.microsoft.com/office/powerpoint/2010/main" val="25408518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a:t>
            </a:r>
          </a:p>
        </p:txBody>
      </p:sp>
      <p:sp>
        <p:nvSpPr>
          <p:cNvPr id="4" name="Rectangle 3">
            <a:extLst>
              <a:ext uri="{FF2B5EF4-FFF2-40B4-BE49-F238E27FC236}">
                <a16:creationId xmlns:a16="http://schemas.microsoft.com/office/drawing/2014/main" id="{9EA05739-3E4B-E17F-7391-6E54881710A4}"/>
              </a:ext>
            </a:extLst>
          </p:cNvPr>
          <p:cNvSpPr/>
          <p:nvPr/>
        </p:nvSpPr>
        <p:spPr>
          <a:xfrm>
            <a:off x="838200" y="2082188"/>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 prompt</a:t>
            </a:r>
          </a:p>
        </p:txBody>
      </p:sp>
      <p:sp>
        <p:nvSpPr>
          <p:cNvPr id="6" name="Rectangle 5">
            <a:extLst>
              <a:ext uri="{FF2B5EF4-FFF2-40B4-BE49-F238E27FC236}">
                <a16:creationId xmlns:a16="http://schemas.microsoft.com/office/drawing/2014/main" id="{35A7FE4F-4678-B79F-29F3-9F9073D768AF}"/>
              </a:ext>
            </a:extLst>
          </p:cNvPr>
          <p:cNvSpPr/>
          <p:nvPr/>
        </p:nvSpPr>
        <p:spPr>
          <a:xfrm>
            <a:off x="838200" y="3429000"/>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More yapping</a:t>
            </a:r>
          </a:p>
        </p:txBody>
      </p:sp>
      <p:sp>
        <p:nvSpPr>
          <p:cNvPr id="8" name="Rectangle 7">
            <a:extLst>
              <a:ext uri="{FF2B5EF4-FFF2-40B4-BE49-F238E27FC236}">
                <a16:creationId xmlns:a16="http://schemas.microsoft.com/office/drawing/2014/main" id="{4B070CC2-6D63-C785-706C-060808B72ED3}"/>
              </a:ext>
            </a:extLst>
          </p:cNvPr>
          <p:cNvSpPr/>
          <p:nvPr/>
        </p:nvSpPr>
        <p:spPr>
          <a:xfrm>
            <a:off x="838199" y="4756533"/>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Yapception</a:t>
            </a:r>
            <a:endParaRPr lang="en-US" dirty="0"/>
          </a:p>
        </p:txBody>
      </p:sp>
      <p:sp>
        <p:nvSpPr>
          <p:cNvPr id="10" name="Rectangle 9">
            <a:extLst>
              <a:ext uri="{FF2B5EF4-FFF2-40B4-BE49-F238E27FC236}">
                <a16:creationId xmlns:a16="http://schemas.microsoft.com/office/drawing/2014/main" id="{E41AE1CF-3723-30E9-4AFE-0D7D8CEE9886}"/>
              </a:ext>
            </a:extLst>
          </p:cNvPr>
          <p:cNvSpPr/>
          <p:nvPr/>
        </p:nvSpPr>
        <p:spPr>
          <a:xfrm>
            <a:off x="838198" y="5942031"/>
            <a:ext cx="2654147" cy="9159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Just do it like this</a:t>
            </a:r>
          </a:p>
        </p:txBody>
      </p:sp>
      <p:sp>
        <p:nvSpPr>
          <p:cNvPr id="11" name="Rectangle 10">
            <a:extLst>
              <a:ext uri="{FF2B5EF4-FFF2-40B4-BE49-F238E27FC236}">
                <a16:creationId xmlns:a16="http://schemas.microsoft.com/office/drawing/2014/main" id="{F769DA29-E96B-7240-966E-E1F5A9D82C79}"/>
              </a:ext>
            </a:extLst>
          </p:cNvPr>
          <p:cNvSpPr/>
          <p:nvPr/>
        </p:nvSpPr>
        <p:spPr>
          <a:xfrm>
            <a:off x="5827923" y="1167788"/>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API</a:t>
            </a:r>
          </a:p>
        </p:txBody>
      </p:sp>
      <p:cxnSp>
        <p:nvCxnSpPr>
          <p:cNvPr id="13" name="Straight Arrow Connector 12">
            <a:extLst>
              <a:ext uri="{FF2B5EF4-FFF2-40B4-BE49-F238E27FC236}">
                <a16:creationId xmlns:a16="http://schemas.microsoft.com/office/drawing/2014/main" id="{23029008-8D1D-29D0-EF13-1BCDA542EA59}"/>
              </a:ext>
            </a:extLst>
          </p:cNvPr>
          <p:cNvCxnSpPr/>
          <p:nvPr/>
        </p:nvCxnSpPr>
        <p:spPr>
          <a:xfrm>
            <a:off x="4054207" y="3979843"/>
            <a:ext cx="95846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59421C1E-10D9-E6E7-EEB3-8412695CDC12}"/>
              </a:ext>
            </a:extLst>
          </p:cNvPr>
          <p:cNvCxnSpPr/>
          <p:nvPr/>
        </p:nvCxnSpPr>
        <p:spPr>
          <a:xfrm>
            <a:off x="6096000" y="2633031"/>
            <a:ext cx="0" cy="10025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4121CBB7-0DD4-DDF7-5FFD-9B0BAE9A85F6}"/>
              </a:ext>
            </a:extLst>
          </p:cNvPr>
          <p:cNvSpPr/>
          <p:nvPr/>
        </p:nvSpPr>
        <p:spPr>
          <a:xfrm>
            <a:off x="5122843" y="3657600"/>
            <a:ext cx="2258458" cy="12449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cxnSp>
        <p:nvCxnSpPr>
          <p:cNvPr id="18" name="Straight Arrow Connector 17">
            <a:extLst>
              <a:ext uri="{FF2B5EF4-FFF2-40B4-BE49-F238E27FC236}">
                <a16:creationId xmlns:a16="http://schemas.microsoft.com/office/drawing/2014/main" id="{42AB000A-74E4-9E95-1825-E115CEA48B16}"/>
              </a:ext>
            </a:extLst>
          </p:cNvPr>
          <p:cNvCxnSpPr/>
          <p:nvPr/>
        </p:nvCxnSpPr>
        <p:spPr>
          <a:xfrm>
            <a:off x="7700790" y="4230477"/>
            <a:ext cx="15203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5F5F8FC9-89FE-2969-E492-5C11A92D81B7}"/>
              </a:ext>
            </a:extLst>
          </p:cNvPr>
          <p:cNvSpPr/>
          <p:nvPr/>
        </p:nvSpPr>
        <p:spPr>
          <a:xfrm>
            <a:off x="9352400" y="2163829"/>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 code</a:t>
            </a:r>
          </a:p>
        </p:txBody>
      </p:sp>
      <p:sp>
        <p:nvSpPr>
          <p:cNvPr id="23" name="Rectangle 22">
            <a:extLst>
              <a:ext uri="{FF2B5EF4-FFF2-40B4-BE49-F238E27FC236}">
                <a16:creationId xmlns:a16="http://schemas.microsoft.com/office/drawing/2014/main" id="{91FE1EB0-1E0B-4567-528C-FE1F5A0FA6FD}"/>
              </a:ext>
            </a:extLst>
          </p:cNvPr>
          <p:cNvSpPr/>
          <p:nvPr/>
        </p:nvSpPr>
        <p:spPr>
          <a:xfrm>
            <a:off x="9352400" y="3429000"/>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Better code</a:t>
            </a:r>
          </a:p>
        </p:txBody>
      </p:sp>
      <p:sp>
        <p:nvSpPr>
          <p:cNvPr id="25" name="Rectangle 24">
            <a:extLst>
              <a:ext uri="{FF2B5EF4-FFF2-40B4-BE49-F238E27FC236}">
                <a16:creationId xmlns:a16="http://schemas.microsoft.com/office/drawing/2014/main" id="{95CB8818-BC08-DAD5-2AF0-09E270F9E284}"/>
              </a:ext>
            </a:extLst>
          </p:cNvPr>
          <p:cNvSpPr/>
          <p:nvPr/>
        </p:nvSpPr>
        <p:spPr>
          <a:xfrm>
            <a:off x="9352400" y="4756532"/>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Even better code</a:t>
            </a:r>
          </a:p>
        </p:txBody>
      </p:sp>
      <p:sp>
        <p:nvSpPr>
          <p:cNvPr id="27" name="Rectangle 26">
            <a:extLst>
              <a:ext uri="{FF2B5EF4-FFF2-40B4-BE49-F238E27FC236}">
                <a16:creationId xmlns:a16="http://schemas.microsoft.com/office/drawing/2014/main" id="{D52D121F-65B9-A611-BD80-4395A0C934F8}"/>
              </a:ext>
            </a:extLst>
          </p:cNvPr>
          <p:cNvSpPr/>
          <p:nvPr/>
        </p:nvSpPr>
        <p:spPr>
          <a:xfrm>
            <a:off x="9352399" y="5942031"/>
            <a:ext cx="2654147" cy="9159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Expert code?</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smtClean="0"/>
              <a:t>8/26/2026</a:t>
            </a:fld>
            <a:endParaRPr lang="en-US"/>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smtClean="0"/>
              <a:t>19</a:t>
            </a:fld>
            <a:endParaRPr lang="en-US"/>
          </a:p>
        </p:txBody>
      </p:sp>
    </p:spTree>
    <p:extLst>
      <p:ext uri="{BB962C8B-B14F-4D97-AF65-F5344CB8AC3E}">
        <p14:creationId xmlns:p14="http://schemas.microsoft.com/office/powerpoint/2010/main" val="22452505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a:t>
            </a:r>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tretch>
            <a:fillRect/>
          </a:stretch>
        </p:blipFill>
        <p:spPr>
          <a:xfrm>
            <a:off x="221449" y="2599181"/>
            <a:ext cx="6925642" cy="2734057"/>
          </a:xfrm>
          <a:prstGeom prst="rect">
            <a:avLst/>
          </a:prstGeom>
        </p:spPr>
      </p:pic>
      <p:sp>
        <p:nvSpPr>
          <p:cNvPr id="7" name="TextBox 6">
            <a:extLst>
              <a:ext uri="{FF2B5EF4-FFF2-40B4-BE49-F238E27FC236}">
                <a16:creationId xmlns:a16="http://schemas.microsoft.com/office/drawing/2014/main" id="{4BC2AB0A-809B-4B8F-C3CD-7422568AA6CF}"/>
              </a:ext>
            </a:extLst>
          </p:cNvPr>
          <p:cNvSpPr txBox="1"/>
          <p:nvPr/>
        </p:nvSpPr>
        <p:spPr>
          <a:xfrm>
            <a:off x="2674620" y="2251710"/>
            <a:ext cx="2217017" cy="369332"/>
          </a:xfrm>
          <a:prstGeom prst="rect">
            <a:avLst/>
          </a:prstGeom>
          <a:noFill/>
        </p:spPr>
        <p:txBody>
          <a:bodyPr wrap="none" rtlCol="0">
            <a:spAutoFit/>
          </a:bodyPr>
          <a:lstStyle/>
          <a:p>
            <a:r>
              <a:rPr lang="en-US" dirty="0"/>
              <a:t>At the time of writing</a:t>
            </a:r>
          </a:p>
        </p:txBody>
      </p:sp>
      <p:sp>
        <p:nvSpPr>
          <p:cNvPr id="12" name="TextBox 11">
            <a:extLst>
              <a:ext uri="{FF2B5EF4-FFF2-40B4-BE49-F238E27FC236}">
                <a16:creationId xmlns:a16="http://schemas.microsoft.com/office/drawing/2014/main" id="{6D1D1C5D-C956-7741-15E6-FE8576D2FF5A}"/>
              </a:ext>
            </a:extLst>
          </p:cNvPr>
          <p:cNvSpPr txBox="1"/>
          <p:nvPr/>
        </p:nvSpPr>
        <p:spPr>
          <a:xfrm>
            <a:off x="6552317" y="538905"/>
            <a:ext cx="5400984" cy="646331"/>
          </a:xfrm>
          <a:prstGeom prst="rect">
            <a:avLst/>
          </a:prstGeom>
          <a:noFill/>
        </p:spPr>
        <p:txBody>
          <a:bodyPr wrap="square">
            <a:spAutoFit/>
          </a:bodyPr>
          <a:lstStyle/>
          <a:p>
            <a:r>
              <a:rPr lang="en-US" dirty="0">
                <a:hlinkClick r:id="rId4"/>
              </a:rPr>
              <a:t>https://github.com/matyas-brabec/2025-europar-llm/tree/GPT-5-high</a:t>
            </a:r>
            <a:endParaRPr lang="en-US" dirty="0"/>
          </a:p>
        </p:txBody>
      </p:sp>
      <p:pic>
        <p:nvPicPr>
          <p:cNvPr id="14" name="Picture 13">
            <a:extLst>
              <a:ext uri="{FF2B5EF4-FFF2-40B4-BE49-F238E27FC236}">
                <a16:creationId xmlns:a16="http://schemas.microsoft.com/office/drawing/2014/main" id="{F7771BBA-4D14-6D02-9EFC-CC75E1CBFDC6}"/>
              </a:ext>
            </a:extLst>
          </p:cNvPr>
          <p:cNvPicPr>
            <a:picLocks noChangeAspect="1"/>
          </p:cNvPicPr>
          <p:nvPr/>
        </p:nvPicPr>
        <p:blipFill>
          <a:blip r:embed="rId5"/>
          <a:stretch>
            <a:fillRect/>
          </a:stretch>
        </p:blipFill>
        <p:spPr>
          <a:xfrm>
            <a:off x="8463011" y="2091042"/>
            <a:ext cx="3320595" cy="2414072"/>
          </a:xfrm>
          <a:prstGeom prst="rect">
            <a:avLst/>
          </a:prstGeom>
        </p:spPr>
      </p:pic>
      <p:pic>
        <p:nvPicPr>
          <p:cNvPr id="17" name="Picture 16">
            <a:extLst>
              <a:ext uri="{FF2B5EF4-FFF2-40B4-BE49-F238E27FC236}">
                <a16:creationId xmlns:a16="http://schemas.microsoft.com/office/drawing/2014/main" id="{9B47DDC8-9F5A-3552-7451-858AFB39D903}"/>
              </a:ext>
            </a:extLst>
          </p:cNvPr>
          <p:cNvPicPr>
            <a:picLocks noChangeAspect="1"/>
          </p:cNvPicPr>
          <p:nvPr/>
        </p:nvPicPr>
        <p:blipFill>
          <a:blip r:embed="rId6"/>
          <a:stretch>
            <a:fillRect/>
          </a:stretch>
        </p:blipFill>
        <p:spPr>
          <a:xfrm>
            <a:off x="8720721" y="4818639"/>
            <a:ext cx="2805173" cy="2039361"/>
          </a:xfrm>
          <a:prstGeom prst="rect">
            <a:avLst/>
          </a:prstGeom>
        </p:spPr>
      </p:pic>
      <p:sp>
        <p:nvSpPr>
          <p:cNvPr id="19" name="TextBox 18">
            <a:extLst>
              <a:ext uri="{FF2B5EF4-FFF2-40B4-BE49-F238E27FC236}">
                <a16:creationId xmlns:a16="http://schemas.microsoft.com/office/drawing/2014/main" id="{5540FB4B-F466-4E9B-7925-B88B91FE3834}"/>
              </a:ext>
            </a:extLst>
          </p:cNvPr>
          <p:cNvSpPr txBox="1"/>
          <p:nvPr/>
        </p:nvSpPr>
        <p:spPr>
          <a:xfrm>
            <a:off x="8463011" y="1601867"/>
            <a:ext cx="3703834" cy="369332"/>
          </a:xfrm>
          <a:prstGeom prst="rect">
            <a:avLst/>
          </a:prstGeom>
          <a:noFill/>
        </p:spPr>
        <p:txBody>
          <a:bodyPr wrap="none" rtlCol="0">
            <a:spAutoFit/>
          </a:bodyPr>
          <a:lstStyle/>
          <a:p>
            <a:r>
              <a:rPr lang="en-US" dirty="0"/>
              <a:t>At the time of presenting the results</a:t>
            </a:r>
          </a:p>
        </p:txBody>
      </p:sp>
      <p:sp>
        <p:nvSpPr>
          <p:cNvPr id="20" name="TextBox 19">
            <a:extLst>
              <a:ext uri="{FF2B5EF4-FFF2-40B4-BE49-F238E27FC236}">
                <a16:creationId xmlns:a16="http://schemas.microsoft.com/office/drawing/2014/main" id="{FFA4F385-F597-0110-F8B3-AD03D6F2D503}"/>
              </a:ext>
            </a:extLst>
          </p:cNvPr>
          <p:cNvSpPr txBox="1"/>
          <p:nvPr/>
        </p:nvSpPr>
        <p:spPr>
          <a:xfrm>
            <a:off x="5137532" y="5893812"/>
            <a:ext cx="864339" cy="369332"/>
          </a:xfrm>
          <a:prstGeom prst="rect">
            <a:avLst/>
          </a:prstGeom>
          <a:noFill/>
        </p:spPr>
        <p:txBody>
          <a:bodyPr wrap="none" rtlCol="0">
            <a:spAutoFit/>
          </a:bodyPr>
          <a:lstStyle/>
          <a:p>
            <a:r>
              <a:rPr lang="en-US" dirty="0" err="1"/>
              <a:t>kNN</a:t>
            </a:r>
            <a:r>
              <a:rPr lang="en-US" dirty="0"/>
              <a:t> </a:t>
            </a:r>
            <a:r>
              <a:rPr lang="en-US" dirty="0">
                <a:sym typeface="Wingdings" panose="05000000000000000000" pitchFamily="2" charset="2"/>
              </a:rPr>
              <a:t></a:t>
            </a:r>
            <a:endParaRPr lang="en-US" dirty="0"/>
          </a:p>
        </p:txBody>
      </p:sp>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7"/>
          <a:stretch>
            <a:fillRect/>
          </a:stretch>
        </p:blipFill>
        <p:spPr>
          <a:xfrm>
            <a:off x="666106" y="5287742"/>
            <a:ext cx="3036122" cy="1589050"/>
          </a:xfrm>
          <a:prstGeom prst="rect">
            <a:avLst/>
          </a:prstGeom>
        </p:spPr>
      </p:pic>
      <p:pic>
        <p:nvPicPr>
          <p:cNvPr id="26" name="Picture 25">
            <a:extLst>
              <a:ext uri="{FF2B5EF4-FFF2-40B4-BE49-F238E27FC236}">
                <a16:creationId xmlns:a16="http://schemas.microsoft.com/office/drawing/2014/main" id="{C1FEF10D-405B-2C29-E783-6F8BBD010435}"/>
              </a:ext>
            </a:extLst>
          </p:cNvPr>
          <p:cNvPicPr>
            <a:picLocks noChangeAspect="1"/>
          </p:cNvPicPr>
          <p:nvPr/>
        </p:nvPicPr>
        <p:blipFill>
          <a:blip r:embed="rId8"/>
          <a:stretch>
            <a:fillRect/>
          </a:stretch>
        </p:blipFill>
        <p:spPr>
          <a:xfrm>
            <a:off x="7147091" y="2107319"/>
            <a:ext cx="2684569" cy="1951682"/>
          </a:xfrm>
          <a:prstGeom prst="rect">
            <a:avLst/>
          </a:prstGeom>
        </p:spPr>
      </p:pic>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smtClean="0"/>
              <a:t>8/26/2026</a:t>
            </a:fld>
            <a:endParaRPr lang="en-US"/>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smtClean="0"/>
              <a:t>20</a:t>
            </a:fld>
            <a:endParaRPr lang="en-US"/>
          </a:p>
        </p:txBody>
      </p:sp>
    </p:spTree>
    <p:extLst>
      <p:ext uri="{BB962C8B-B14F-4D97-AF65-F5344CB8AC3E}">
        <p14:creationId xmlns:p14="http://schemas.microsoft.com/office/powerpoint/2010/main" val="23071661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noProof="0" dirty="0"/>
              <a:t>Key findings:</a:t>
            </a:r>
          </a:p>
          <a:p>
            <a:pPr lvl="1"/>
            <a:r>
              <a:rPr lang="en-US" noProof="0" dirty="0"/>
              <a:t>Prompt specificity improves results much more</a:t>
            </a:r>
          </a:p>
          <a:p>
            <a:pPr lvl="1"/>
            <a:r>
              <a:rPr lang="en-US" noProof="0" dirty="0"/>
              <a:t>LLMs more competent in pure C/C++</a:t>
            </a:r>
          </a:p>
          <a:p>
            <a:pPr lvl="1"/>
            <a:endParaRPr lang="en-US" noProof="0" dirty="0"/>
          </a:p>
        </p:txBody>
      </p:sp>
      <p:sp>
        <p:nvSpPr>
          <p:cNvPr id="4" name="Date Placeholder 3">
            <a:extLst>
              <a:ext uri="{FF2B5EF4-FFF2-40B4-BE49-F238E27FC236}">
                <a16:creationId xmlns:a16="http://schemas.microsoft.com/office/drawing/2014/main" id="{A904F0BB-D2EB-9C78-4897-D031CD98586E}"/>
              </a:ext>
            </a:extLst>
          </p:cNvPr>
          <p:cNvSpPr>
            <a:spLocks noGrp="1"/>
          </p:cNvSpPr>
          <p:nvPr>
            <p:ph type="dt" sz="half" idx="10"/>
          </p:nvPr>
        </p:nvSpPr>
        <p:spPr/>
        <p:txBody>
          <a:bodyPr/>
          <a:lstStyle/>
          <a:p>
            <a:fld id="{3679F7FC-6925-4E77-836B-08C753873575}" type="datetime1">
              <a:rPr lang="en-US" smtClean="0"/>
              <a:t>8/26/2026</a:t>
            </a:fld>
            <a:endParaRPr lang="en-US"/>
          </a:p>
        </p:txBody>
      </p:sp>
      <p:sp>
        <p:nvSpPr>
          <p:cNvPr id="5" name="Slide Number Placeholder 4">
            <a:extLst>
              <a:ext uri="{FF2B5EF4-FFF2-40B4-BE49-F238E27FC236}">
                <a16:creationId xmlns:a16="http://schemas.microsoft.com/office/drawing/2014/main" id="{FA31281F-1294-6DAE-E3F5-A63E2A037C08}"/>
              </a:ext>
            </a:extLst>
          </p:cNvPr>
          <p:cNvSpPr>
            <a:spLocks noGrp="1"/>
          </p:cNvSpPr>
          <p:nvPr>
            <p:ph type="sldNum" sz="quarter" idx="12"/>
          </p:nvPr>
        </p:nvSpPr>
        <p:spPr/>
        <p:txBody>
          <a:bodyPr/>
          <a:lstStyle/>
          <a:p>
            <a:fld id="{DA0BB241-1B5F-4309-9407-9EEA04D9598D}" type="slidenum">
              <a:rPr lang="en-US" smtClean="0"/>
              <a:t>21</a:t>
            </a:fld>
            <a:endParaRPr lang="en-US"/>
          </a:p>
        </p:txBody>
      </p:sp>
    </p:spTree>
    <p:extLst>
      <p:ext uri="{BB962C8B-B14F-4D97-AF65-F5344CB8AC3E}">
        <p14:creationId xmlns:p14="http://schemas.microsoft.com/office/powerpoint/2010/main" val="9656531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FC1E0-2FFD-A509-1AF0-959A0AFC5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B428A2-491C-5FCA-EF3B-F536FBDAC5CA}"/>
              </a:ext>
            </a:extLst>
          </p:cNvPr>
          <p:cNvSpPr>
            <a:spLocks noGrp="1"/>
          </p:cNvSpPr>
          <p:nvPr>
            <p:ph type="title"/>
          </p:nvPr>
        </p:nvSpPr>
        <p:spPr/>
        <p:txBody>
          <a:bodyPr/>
          <a:lstStyle/>
          <a:p>
            <a:r>
              <a:rPr lang="en-US" noProof="0" dirty="0"/>
              <a:t>LLMs and abstractions</a:t>
            </a:r>
          </a:p>
        </p:txBody>
      </p:sp>
      <p:pic>
        <p:nvPicPr>
          <p:cNvPr id="8" name="Picture 7">
            <a:extLst>
              <a:ext uri="{FF2B5EF4-FFF2-40B4-BE49-F238E27FC236}">
                <a16:creationId xmlns:a16="http://schemas.microsoft.com/office/drawing/2014/main" id="{6BEAAA05-114E-208D-DFDE-367639786C54}"/>
              </a:ext>
            </a:extLst>
          </p:cNvPr>
          <p:cNvPicPr>
            <a:picLocks noChangeAspect="1"/>
          </p:cNvPicPr>
          <p:nvPr/>
        </p:nvPicPr>
        <p:blipFill>
          <a:blip r:embed="rId3"/>
          <a:stretch>
            <a:fillRect/>
          </a:stretch>
        </p:blipFill>
        <p:spPr>
          <a:xfrm>
            <a:off x="4894948" y="1912727"/>
            <a:ext cx="6725589" cy="2229161"/>
          </a:xfrm>
          <a:prstGeom prst="rect">
            <a:avLst/>
          </a:prstGeom>
        </p:spPr>
      </p:pic>
      <p:pic>
        <p:nvPicPr>
          <p:cNvPr id="10" name="Picture 9">
            <a:extLst>
              <a:ext uri="{FF2B5EF4-FFF2-40B4-BE49-F238E27FC236}">
                <a16:creationId xmlns:a16="http://schemas.microsoft.com/office/drawing/2014/main" id="{379CBEDB-3399-E476-B2E1-91035860BDD2}"/>
              </a:ext>
            </a:extLst>
          </p:cNvPr>
          <p:cNvPicPr>
            <a:picLocks noChangeAspect="1"/>
          </p:cNvPicPr>
          <p:nvPr/>
        </p:nvPicPr>
        <p:blipFill>
          <a:blip r:embed="rId4"/>
          <a:stretch>
            <a:fillRect/>
          </a:stretch>
        </p:blipFill>
        <p:spPr>
          <a:xfrm>
            <a:off x="5161686" y="4677223"/>
            <a:ext cx="6192114" cy="1286054"/>
          </a:xfrm>
          <a:prstGeom prst="rect">
            <a:avLst/>
          </a:prstGeom>
        </p:spPr>
      </p:pic>
      <p:sp>
        <p:nvSpPr>
          <p:cNvPr id="11" name="TextBox 10">
            <a:extLst>
              <a:ext uri="{FF2B5EF4-FFF2-40B4-BE49-F238E27FC236}">
                <a16:creationId xmlns:a16="http://schemas.microsoft.com/office/drawing/2014/main" id="{6C8FEF91-6DF2-D9C1-3C7C-927FC8555CBE}"/>
              </a:ext>
            </a:extLst>
          </p:cNvPr>
          <p:cNvSpPr txBox="1"/>
          <p:nvPr/>
        </p:nvSpPr>
        <p:spPr>
          <a:xfrm>
            <a:off x="9915828" y="1530781"/>
            <a:ext cx="2036455" cy="369332"/>
          </a:xfrm>
          <a:prstGeom prst="rect">
            <a:avLst/>
          </a:prstGeom>
          <a:noFill/>
        </p:spPr>
        <p:txBody>
          <a:bodyPr wrap="none" rtlCol="0">
            <a:spAutoFit/>
          </a:bodyPr>
          <a:lstStyle/>
          <a:p>
            <a:r>
              <a:rPr lang="en-US" dirty="0"/>
              <a:t>Which result best?</a:t>
            </a:r>
          </a:p>
        </p:txBody>
      </p:sp>
      <p:sp>
        <p:nvSpPr>
          <p:cNvPr id="13" name="TextBox 12">
            <a:extLst>
              <a:ext uri="{FF2B5EF4-FFF2-40B4-BE49-F238E27FC236}">
                <a16:creationId xmlns:a16="http://schemas.microsoft.com/office/drawing/2014/main" id="{13079C7E-EBE6-48C6-EAFC-9F6D960ED3AA}"/>
              </a:ext>
            </a:extLst>
          </p:cNvPr>
          <p:cNvSpPr txBox="1"/>
          <p:nvPr/>
        </p:nvSpPr>
        <p:spPr>
          <a:xfrm>
            <a:off x="8567916" y="4082521"/>
            <a:ext cx="2256387" cy="369332"/>
          </a:xfrm>
          <a:prstGeom prst="rect">
            <a:avLst/>
          </a:prstGeom>
          <a:noFill/>
        </p:spPr>
        <p:txBody>
          <a:bodyPr wrap="none" rtlCol="0">
            <a:spAutoFit/>
          </a:bodyPr>
          <a:lstStyle/>
          <a:p>
            <a:r>
              <a:rPr lang="en-US" dirty="0"/>
              <a:t>What prompt to use?</a:t>
            </a:r>
          </a:p>
        </p:txBody>
      </p:sp>
      <p:sp>
        <p:nvSpPr>
          <p:cNvPr id="15" name="TextBox 14">
            <a:extLst>
              <a:ext uri="{FF2B5EF4-FFF2-40B4-BE49-F238E27FC236}">
                <a16:creationId xmlns:a16="http://schemas.microsoft.com/office/drawing/2014/main" id="{7DBBF6DB-A3F4-9BDA-784B-07863D703169}"/>
              </a:ext>
            </a:extLst>
          </p:cNvPr>
          <p:cNvSpPr txBox="1"/>
          <p:nvPr/>
        </p:nvSpPr>
        <p:spPr>
          <a:xfrm>
            <a:off x="6252538" y="6003981"/>
            <a:ext cx="3840218" cy="369332"/>
          </a:xfrm>
          <a:prstGeom prst="rect">
            <a:avLst/>
          </a:prstGeom>
          <a:noFill/>
        </p:spPr>
        <p:txBody>
          <a:bodyPr wrap="none" rtlCol="0">
            <a:spAutoFit/>
          </a:bodyPr>
          <a:lstStyle/>
          <a:p>
            <a:r>
              <a:rPr lang="en-US" dirty="0"/>
              <a:t>Split the optimization into two steps?</a:t>
            </a:r>
          </a:p>
        </p:txBody>
      </p:sp>
      <p:sp>
        <p:nvSpPr>
          <p:cNvPr id="16" name="Rectangle 15">
            <a:extLst>
              <a:ext uri="{FF2B5EF4-FFF2-40B4-BE49-F238E27FC236}">
                <a16:creationId xmlns:a16="http://schemas.microsoft.com/office/drawing/2014/main" id="{6BB90353-381A-4006-0220-9E9CA9C30D3B}"/>
              </a:ext>
            </a:extLst>
          </p:cNvPr>
          <p:cNvSpPr/>
          <p:nvPr/>
        </p:nvSpPr>
        <p:spPr>
          <a:xfrm>
            <a:off x="2794082" y="137739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Baseline</a:t>
            </a:r>
          </a:p>
        </p:txBody>
      </p:sp>
      <p:sp>
        <p:nvSpPr>
          <p:cNvPr id="18" name="Rectangle 17">
            <a:extLst>
              <a:ext uri="{FF2B5EF4-FFF2-40B4-BE49-F238E27FC236}">
                <a16:creationId xmlns:a16="http://schemas.microsoft.com/office/drawing/2014/main" id="{0990C0B6-58D9-15D3-CB0B-5D196176BDE0}"/>
              </a:ext>
            </a:extLst>
          </p:cNvPr>
          <p:cNvSpPr/>
          <p:nvPr/>
        </p:nvSpPr>
        <p:spPr>
          <a:xfrm>
            <a:off x="154861" y="3407949"/>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Documentation</a:t>
            </a:r>
            <a:br>
              <a:rPr lang="en-US" dirty="0"/>
            </a:br>
            <a:r>
              <a:rPr lang="en-US" dirty="0"/>
              <a:t>&amp; language hints</a:t>
            </a:r>
          </a:p>
        </p:txBody>
      </p:sp>
      <p:sp>
        <p:nvSpPr>
          <p:cNvPr id="20" name="Rectangle 19">
            <a:extLst>
              <a:ext uri="{FF2B5EF4-FFF2-40B4-BE49-F238E27FC236}">
                <a16:creationId xmlns:a16="http://schemas.microsoft.com/office/drawing/2014/main" id="{3C98BE57-2A38-89A9-7FDE-296070049AA0}"/>
              </a:ext>
            </a:extLst>
          </p:cNvPr>
          <p:cNvSpPr/>
          <p:nvPr/>
        </p:nvSpPr>
        <p:spPr>
          <a:xfrm>
            <a:off x="154861" y="433002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Example</a:t>
            </a:r>
          </a:p>
        </p:txBody>
      </p:sp>
      <p:sp>
        <p:nvSpPr>
          <p:cNvPr id="22" name="Rectangle 21">
            <a:extLst>
              <a:ext uri="{FF2B5EF4-FFF2-40B4-BE49-F238E27FC236}">
                <a16:creationId xmlns:a16="http://schemas.microsoft.com/office/drawing/2014/main" id="{01DC6561-6C17-08E8-D1C2-54DD23B3B420}"/>
              </a:ext>
            </a:extLst>
          </p:cNvPr>
          <p:cNvSpPr/>
          <p:nvPr/>
        </p:nvSpPr>
        <p:spPr>
          <a:xfrm>
            <a:off x="154861" y="2485876"/>
            <a:ext cx="2100866" cy="71609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Optimization</a:t>
            </a:r>
            <a:br>
              <a:rPr lang="en-US" dirty="0"/>
            </a:br>
            <a:r>
              <a:rPr lang="en-US" dirty="0"/>
              <a:t>hints</a:t>
            </a:r>
          </a:p>
        </p:txBody>
      </p:sp>
      <p:sp>
        <p:nvSpPr>
          <p:cNvPr id="24" name="Rectangle 23">
            <a:extLst>
              <a:ext uri="{FF2B5EF4-FFF2-40B4-BE49-F238E27FC236}">
                <a16:creationId xmlns:a16="http://schemas.microsoft.com/office/drawing/2014/main" id="{0F4FB06D-29AA-ACC7-5573-C05802998A47}"/>
              </a:ext>
            </a:extLst>
          </p:cNvPr>
          <p:cNvSpPr/>
          <p:nvPr/>
        </p:nvSpPr>
        <p:spPr>
          <a:xfrm>
            <a:off x="2783437" y="5776779"/>
            <a:ext cx="2100866" cy="71609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Optimized</a:t>
            </a:r>
          </a:p>
        </p:txBody>
      </p:sp>
      <p:sp>
        <p:nvSpPr>
          <p:cNvPr id="26" name="Right Brace 25">
            <a:extLst>
              <a:ext uri="{FF2B5EF4-FFF2-40B4-BE49-F238E27FC236}">
                <a16:creationId xmlns:a16="http://schemas.microsoft.com/office/drawing/2014/main" id="{119D77B4-5A36-5A3B-B93D-EE6AB9478E3C}"/>
              </a:ext>
            </a:extLst>
          </p:cNvPr>
          <p:cNvSpPr/>
          <p:nvPr/>
        </p:nvSpPr>
        <p:spPr>
          <a:xfrm>
            <a:off x="2335576" y="2485876"/>
            <a:ext cx="649995" cy="271333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D64A32AA-01B4-1559-9337-81C50A0E8F3B}"/>
              </a:ext>
            </a:extLst>
          </p:cNvPr>
          <p:cNvCxnSpPr>
            <a:cxnSpLocks/>
          </p:cNvCxnSpPr>
          <p:nvPr/>
        </p:nvCxnSpPr>
        <p:spPr>
          <a:xfrm>
            <a:off x="3833870" y="2335576"/>
            <a:ext cx="0" cy="1093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A60EB943-7476-58D7-D62F-785FE459D2DD}"/>
              </a:ext>
            </a:extLst>
          </p:cNvPr>
          <p:cNvCxnSpPr/>
          <p:nvPr/>
        </p:nvCxnSpPr>
        <p:spPr>
          <a:xfrm>
            <a:off x="3843051" y="4396123"/>
            <a:ext cx="0" cy="12999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4FED10ED-91FE-8EF9-51E0-AC558579369F}"/>
              </a:ext>
            </a:extLst>
          </p:cNvPr>
          <p:cNvSpPr/>
          <p:nvPr/>
        </p:nvSpPr>
        <p:spPr>
          <a:xfrm>
            <a:off x="3183503" y="3609689"/>
            <a:ext cx="1322024" cy="7287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sp>
        <p:nvSpPr>
          <p:cNvPr id="3" name="Date Placeholder 2">
            <a:extLst>
              <a:ext uri="{FF2B5EF4-FFF2-40B4-BE49-F238E27FC236}">
                <a16:creationId xmlns:a16="http://schemas.microsoft.com/office/drawing/2014/main" id="{C891F748-A0F1-3E07-254F-0B68A947F6B7}"/>
              </a:ext>
            </a:extLst>
          </p:cNvPr>
          <p:cNvSpPr>
            <a:spLocks noGrp="1"/>
          </p:cNvSpPr>
          <p:nvPr>
            <p:ph type="dt" sz="half" idx="10"/>
          </p:nvPr>
        </p:nvSpPr>
        <p:spPr/>
        <p:txBody>
          <a:bodyPr/>
          <a:lstStyle/>
          <a:p>
            <a:fld id="{66C26781-F21E-4E26-95C7-6AA65F82040A}" type="datetime1">
              <a:rPr lang="en-US" smtClean="0"/>
              <a:t>8/26/2026</a:t>
            </a:fld>
            <a:endParaRPr lang="en-US"/>
          </a:p>
        </p:txBody>
      </p:sp>
      <p:sp>
        <p:nvSpPr>
          <p:cNvPr id="4" name="Slide Number Placeholder 3">
            <a:extLst>
              <a:ext uri="{FF2B5EF4-FFF2-40B4-BE49-F238E27FC236}">
                <a16:creationId xmlns:a16="http://schemas.microsoft.com/office/drawing/2014/main" id="{56DC48F8-30BE-E488-8FC2-7AD86595955B}"/>
              </a:ext>
            </a:extLst>
          </p:cNvPr>
          <p:cNvSpPr>
            <a:spLocks noGrp="1"/>
          </p:cNvSpPr>
          <p:nvPr>
            <p:ph type="sldNum" sz="quarter" idx="12"/>
          </p:nvPr>
        </p:nvSpPr>
        <p:spPr/>
        <p:txBody>
          <a:bodyPr/>
          <a:lstStyle/>
          <a:p>
            <a:fld id="{DA0BB241-1B5F-4309-9407-9EEA04D9598D}" type="slidenum">
              <a:rPr lang="en-US" smtClean="0"/>
              <a:t>22</a:t>
            </a:fld>
            <a:endParaRPr lang="en-US"/>
          </a:p>
        </p:txBody>
      </p:sp>
    </p:spTree>
    <p:extLst>
      <p:ext uri="{BB962C8B-B14F-4D97-AF65-F5344CB8AC3E}">
        <p14:creationId xmlns:p14="http://schemas.microsoft.com/office/powerpoint/2010/main" val="21355553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B7F8197-FC2F-9C2A-050C-CCCB46D86C7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60EC2A1A-B720-84BC-76D5-4751C09EA61A}"/>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6DB7F776-4EDC-09F4-F04A-E586FC4B4500}"/>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5B2B9BCB-5805-C1F1-AF45-681B37E6B83E}"/>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31388E94-1EEB-E24E-1923-AA250880AF84}"/>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DE8920A4-4430-6757-E41A-9BA9578DC80D}"/>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D01E75A2-333B-DF95-544C-0ACF1B88882C}"/>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67736357-2F90-D241-51F6-C03C797EFFC2}"/>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9EC73339-8B3D-25F4-18D5-E5821CB7CE8B}"/>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63EC4F51-D7C0-1DFC-E94E-75AE185B7CC1}"/>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B7D64168-E19F-C04D-293D-CB07E85D29DA}"/>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smtClean="0"/>
              <a:t>8/26/2026</a:t>
            </a:fld>
            <a:endParaRPr lang="en-US"/>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smtClean="0"/>
              <a:t>23</a:t>
            </a:fld>
            <a:endParaRPr lang="en-US"/>
          </a:p>
        </p:txBody>
      </p:sp>
    </p:spTree>
    <p:extLst>
      <p:ext uri="{BB962C8B-B14F-4D97-AF65-F5344CB8AC3E}">
        <p14:creationId xmlns:p14="http://schemas.microsoft.com/office/powerpoint/2010/main" val="17454896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smtClean="0"/>
              <a:t>8/26/2026</a:t>
            </a:fld>
            <a:endParaRPr lang="en-US"/>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smtClean="0"/>
              <a:t>24</a:t>
            </a:fld>
            <a:endParaRPr lang="en-US"/>
          </a:p>
        </p:txBody>
      </p:sp>
    </p:spTree>
    <p:extLst>
      <p:ext uri="{BB962C8B-B14F-4D97-AF65-F5344CB8AC3E}">
        <p14:creationId xmlns:p14="http://schemas.microsoft.com/office/powerpoint/2010/main" val="25953849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60A6E-3187-42F4-D4AF-DBEF792A9C8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24B00957-7817-24B3-7E38-9A1C4F2058CF}"/>
              </a:ext>
            </a:extLst>
          </p:cNvPr>
          <p:cNvPicPr>
            <a:picLocks noChangeAspect="1"/>
          </p:cNvPicPr>
          <p:nvPr/>
        </p:nvPicPr>
        <p:blipFill>
          <a:blip r:embed="rId3"/>
          <a:stretch>
            <a:fillRect/>
          </a:stretch>
        </p:blipFill>
        <p:spPr>
          <a:xfrm>
            <a:off x="399012" y="1092171"/>
            <a:ext cx="10778836" cy="2722058"/>
          </a:xfrm>
          <a:prstGeom prst="rect">
            <a:avLst/>
          </a:prstGeom>
        </p:spPr>
      </p:pic>
      <p:pic>
        <p:nvPicPr>
          <p:cNvPr id="6" name="Picture 5">
            <a:extLst>
              <a:ext uri="{FF2B5EF4-FFF2-40B4-BE49-F238E27FC236}">
                <a16:creationId xmlns:a16="http://schemas.microsoft.com/office/drawing/2014/main" id="{2A107D04-2167-AED6-424B-AE247F4C77D4}"/>
              </a:ext>
            </a:extLst>
          </p:cNvPr>
          <p:cNvPicPr>
            <a:picLocks noChangeAspect="1"/>
          </p:cNvPicPr>
          <p:nvPr/>
        </p:nvPicPr>
        <p:blipFill>
          <a:blip r:embed="rId4"/>
          <a:stretch>
            <a:fillRect/>
          </a:stretch>
        </p:blipFill>
        <p:spPr>
          <a:xfrm>
            <a:off x="108065" y="4043553"/>
            <a:ext cx="12192000" cy="2727753"/>
          </a:xfrm>
          <a:prstGeom prst="rect">
            <a:avLst/>
          </a:prstGeom>
        </p:spPr>
      </p:pic>
      <p:sp>
        <p:nvSpPr>
          <p:cNvPr id="7" name="Date Placeholder 6">
            <a:extLst>
              <a:ext uri="{FF2B5EF4-FFF2-40B4-BE49-F238E27FC236}">
                <a16:creationId xmlns:a16="http://schemas.microsoft.com/office/drawing/2014/main" id="{7B653C52-BD65-F063-E5AD-F250A08141EA}"/>
              </a:ext>
            </a:extLst>
          </p:cNvPr>
          <p:cNvSpPr>
            <a:spLocks noGrp="1"/>
          </p:cNvSpPr>
          <p:nvPr>
            <p:ph type="dt" sz="half" idx="10"/>
          </p:nvPr>
        </p:nvSpPr>
        <p:spPr/>
        <p:txBody>
          <a:bodyPr/>
          <a:lstStyle/>
          <a:p>
            <a:fld id="{7E613BD8-21F3-4985-8518-9695229365CF}" type="datetime1">
              <a:rPr lang="en-US" smtClean="0"/>
              <a:t>8/26/2026</a:t>
            </a:fld>
            <a:endParaRPr lang="en-US"/>
          </a:p>
        </p:txBody>
      </p:sp>
      <p:sp>
        <p:nvSpPr>
          <p:cNvPr id="8" name="Slide Number Placeholder 7">
            <a:extLst>
              <a:ext uri="{FF2B5EF4-FFF2-40B4-BE49-F238E27FC236}">
                <a16:creationId xmlns:a16="http://schemas.microsoft.com/office/drawing/2014/main" id="{6D5F619E-88BF-2DD0-A199-4353D2206681}"/>
              </a:ext>
            </a:extLst>
          </p:cNvPr>
          <p:cNvSpPr>
            <a:spLocks noGrp="1"/>
          </p:cNvSpPr>
          <p:nvPr>
            <p:ph type="sldNum" sz="quarter" idx="12"/>
          </p:nvPr>
        </p:nvSpPr>
        <p:spPr/>
        <p:txBody>
          <a:bodyPr/>
          <a:lstStyle/>
          <a:p>
            <a:fld id="{DA0BB241-1B5F-4309-9407-9EEA04D9598D}" type="slidenum">
              <a:rPr lang="en-US" smtClean="0"/>
              <a:t>25</a:t>
            </a:fld>
            <a:endParaRPr lang="en-US"/>
          </a:p>
        </p:txBody>
      </p:sp>
    </p:spTree>
    <p:extLst>
      <p:ext uri="{BB962C8B-B14F-4D97-AF65-F5344CB8AC3E}">
        <p14:creationId xmlns:p14="http://schemas.microsoft.com/office/powerpoint/2010/main" val="3202652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
        <p:nvSpPr>
          <p:cNvPr id="4" name="Date Placeholder 3">
            <a:extLst>
              <a:ext uri="{FF2B5EF4-FFF2-40B4-BE49-F238E27FC236}">
                <a16:creationId xmlns:a16="http://schemas.microsoft.com/office/drawing/2014/main" id="{F5D4A76B-FF14-0C89-B12C-76FCA4CD9024}"/>
              </a:ext>
            </a:extLst>
          </p:cNvPr>
          <p:cNvSpPr>
            <a:spLocks noGrp="1"/>
          </p:cNvSpPr>
          <p:nvPr>
            <p:ph type="dt" sz="half" idx="10"/>
          </p:nvPr>
        </p:nvSpPr>
        <p:spPr/>
        <p:txBody>
          <a:bodyPr/>
          <a:lstStyle/>
          <a:p>
            <a:fld id="{45E36CB7-A93D-43BE-8BB6-C052593CEBF8}" type="datetime1">
              <a:rPr lang="en-US" smtClean="0"/>
              <a:t>8/26/2026</a:t>
            </a:fld>
            <a:endParaRPr lang="en-US"/>
          </a:p>
        </p:txBody>
      </p:sp>
      <p:sp>
        <p:nvSpPr>
          <p:cNvPr id="5" name="Slide Number Placeholder 4">
            <a:extLst>
              <a:ext uri="{FF2B5EF4-FFF2-40B4-BE49-F238E27FC236}">
                <a16:creationId xmlns:a16="http://schemas.microsoft.com/office/drawing/2014/main" id="{8A27046C-AF6B-0019-EA35-060F375AFBB7}"/>
              </a:ext>
            </a:extLst>
          </p:cNvPr>
          <p:cNvSpPr>
            <a:spLocks noGrp="1"/>
          </p:cNvSpPr>
          <p:nvPr>
            <p:ph type="sldNum" sz="quarter" idx="12"/>
          </p:nvPr>
        </p:nvSpPr>
        <p:spPr/>
        <p:txBody>
          <a:bodyPr/>
          <a:lstStyle/>
          <a:p>
            <a:fld id="{DA0BB241-1B5F-4309-9407-9EEA04D9598D}" type="slidenum">
              <a:rPr lang="en-US" smtClean="0"/>
              <a:t>26</a:t>
            </a:fld>
            <a:endParaRPr lang="en-US"/>
          </a:p>
        </p:txBody>
      </p:sp>
    </p:spTree>
    <p:extLst>
      <p:ext uri="{BB962C8B-B14F-4D97-AF65-F5344CB8AC3E}">
        <p14:creationId xmlns:p14="http://schemas.microsoft.com/office/powerpoint/2010/main" val="34915964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noProof="0"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
        <p:nvSpPr>
          <p:cNvPr id="4" name="Date Placeholder 3">
            <a:extLst>
              <a:ext uri="{FF2B5EF4-FFF2-40B4-BE49-F238E27FC236}">
                <a16:creationId xmlns:a16="http://schemas.microsoft.com/office/drawing/2014/main" id="{23E74252-8DBD-C1B4-1A76-AEEFDDD22C1D}"/>
              </a:ext>
            </a:extLst>
          </p:cNvPr>
          <p:cNvSpPr>
            <a:spLocks noGrp="1"/>
          </p:cNvSpPr>
          <p:nvPr>
            <p:ph type="dt" sz="half" idx="10"/>
          </p:nvPr>
        </p:nvSpPr>
        <p:spPr/>
        <p:txBody>
          <a:bodyPr/>
          <a:lstStyle/>
          <a:p>
            <a:fld id="{30885205-738E-4A4A-8BB1-8BAC2707FAE8}" type="datetime1">
              <a:rPr lang="en-US" smtClean="0"/>
              <a:t>8/26/2026</a:t>
            </a:fld>
            <a:endParaRPr lang="en-US"/>
          </a:p>
        </p:txBody>
      </p:sp>
      <p:sp>
        <p:nvSpPr>
          <p:cNvPr id="5" name="Slide Number Placeholder 4">
            <a:extLst>
              <a:ext uri="{FF2B5EF4-FFF2-40B4-BE49-F238E27FC236}">
                <a16:creationId xmlns:a16="http://schemas.microsoft.com/office/drawing/2014/main" id="{9FA13F20-EB2D-11CA-80CE-D4F601B7A088}"/>
              </a:ext>
            </a:extLst>
          </p:cNvPr>
          <p:cNvSpPr>
            <a:spLocks noGrp="1"/>
          </p:cNvSpPr>
          <p:nvPr>
            <p:ph type="sldNum" sz="quarter" idx="12"/>
          </p:nvPr>
        </p:nvSpPr>
        <p:spPr/>
        <p:txBody>
          <a:bodyPr/>
          <a:lstStyle/>
          <a:p>
            <a:fld id="{DA0BB241-1B5F-4309-9407-9EEA04D9598D}" type="slidenum">
              <a:rPr lang="en-US" smtClean="0"/>
              <a:t>27</a:t>
            </a:fld>
            <a:endParaRPr lang="en-US"/>
          </a:p>
        </p:txBody>
      </p:sp>
    </p:spTree>
    <p:extLst>
      <p:ext uri="{BB962C8B-B14F-4D97-AF65-F5344CB8AC3E}">
        <p14:creationId xmlns:p14="http://schemas.microsoft.com/office/powerpoint/2010/main" val="1294901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
        <p:nvSpPr>
          <p:cNvPr id="4" name="Date Placeholder 3">
            <a:extLst>
              <a:ext uri="{FF2B5EF4-FFF2-40B4-BE49-F238E27FC236}">
                <a16:creationId xmlns:a16="http://schemas.microsoft.com/office/drawing/2014/main" id="{0FB181F6-1EB6-B8C6-9F85-14E11ED62498}"/>
              </a:ext>
            </a:extLst>
          </p:cNvPr>
          <p:cNvSpPr>
            <a:spLocks noGrp="1"/>
          </p:cNvSpPr>
          <p:nvPr>
            <p:ph type="dt" sz="half" idx="10"/>
          </p:nvPr>
        </p:nvSpPr>
        <p:spPr/>
        <p:txBody>
          <a:bodyPr/>
          <a:lstStyle/>
          <a:p>
            <a:fld id="{DD030E09-6E2C-4368-9FBA-17C16E68A1B0}" type="datetime1">
              <a:rPr lang="en-US" smtClean="0"/>
              <a:t>8/26/2026</a:t>
            </a:fld>
            <a:endParaRPr lang="en-US"/>
          </a:p>
        </p:txBody>
      </p:sp>
      <p:sp>
        <p:nvSpPr>
          <p:cNvPr id="5" name="Slide Number Placeholder 4">
            <a:extLst>
              <a:ext uri="{FF2B5EF4-FFF2-40B4-BE49-F238E27FC236}">
                <a16:creationId xmlns:a16="http://schemas.microsoft.com/office/drawing/2014/main" id="{69B2FE39-9D33-A6A3-4A83-969FB2F79FA3}"/>
              </a:ext>
            </a:extLst>
          </p:cNvPr>
          <p:cNvSpPr>
            <a:spLocks noGrp="1"/>
          </p:cNvSpPr>
          <p:nvPr>
            <p:ph type="sldNum" sz="quarter" idx="12"/>
          </p:nvPr>
        </p:nvSpPr>
        <p:spPr/>
        <p:txBody>
          <a:bodyPr/>
          <a:lstStyle/>
          <a:p>
            <a:fld id="{DA0BB241-1B5F-4309-9407-9EEA04D9598D}" type="slidenum">
              <a:rPr lang="en-US" smtClean="0"/>
              <a:t>28</a:t>
            </a:fld>
            <a:endParaRPr lang="en-US"/>
          </a:p>
        </p:txBody>
      </p:sp>
    </p:spTree>
    <p:extLst>
      <p:ext uri="{BB962C8B-B14F-4D97-AF65-F5344CB8AC3E}">
        <p14:creationId xmlns:p14="http://schemas.microsoft.com/office/powerpoint/2010/main" val="33297061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noProof="0"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Traversal</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order</a:t>
            </a:r>
            <a:r>
              <a:rPr lang="en-US" sz="1050" b="0" noProof="0" dirty="0">
                <a:solidFill>
                  <a:srgbClr val="000000"/>
                </a:solidFill>
                <a:effectLst/>
                <a:latin typeface="Fira Code" panose="020B0809050000020004" pitchFamily="49" charset="0"/>
              </a:rPr>
              <a:t>(</a:t>
            </a:r>
            <a:r>
              <a:rPr lang="en-US" sz="1050" b="0" noProof="0" dirty="0" err="1">
                <a:solidFill>
                  <a:srgbClr val="267F99"/>
                </a:solidFill>
                <a:effectLst/>
                <a:latin typeface="Fira Code" panose="020B0809050000020004" pitchFamily="49" charset="0"/>
              </a:rPr>
              <a:t>ByTiles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for_each</a:t>
            </a:r>
            <a:r>
              <a:rPr lang="en-US" sz="1050" noProof="0" dirty="0">
                <a:solidFill>
                  <a:srgbClr val="000000"/>
                </a:solidFill>
                <a:latin typeface="Fira Code" panose="020B0809050000020004" pitchFamily="49" charset="0"/>
              </a:rPr>
              <a:t>(</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accessC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4</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5</a:t>
            </a:r>
            <a:r>
              <a:rPr lang="en-US" sz="1050" b="0" noProof="0" dirty="0">
                <a:solidFill>
                  <a:srgbClr val="000000"/>
                </a:solidFill>
                <a:effectLst/>
                <a:latin typeface="Fira Code" panose="020B0809050000020004" pitchFamily="49" charset="0"/>
              </a:rPr>
              <a:t>);</a:t>
            </a:r>
          </a:p>
          <a:p>
            <a:pPr>
              <a:lnSpc>
                <a:spcPct val="113095"/>
              </a:lnSpc>
              <a:buNone/>
            </a:pPr>
            <a:endParaRPr lang="en-US" sz="1050" b="0" noProof="0" dirty="0">
              <a:solidFill>
                <a:srgbClr val="001080"/>
              </a:solidFill>
              <a:effectLst/>
              <a:latin typeface="Fira Code" panose="020B0809050000020004" pitchFamily="49" charset="0"/>
            </a:endParaRPr>
          </a:p>
          <a:p>
            <a:pPr>
              <a:lnSpc>
                <a:spcPct val="113095"/>
              </a:lnSpc>
              <a:buNone/>
            </a:pP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4188D2D6-28C0-5938-1C8F-35390B8137B9}"/>
              </a:ext>
            </a:extLst>
          </p:cNvPr>
          <p:cNvSpPr>
            <a:spLocks noGrp="1"/>
          </p:cNvSpPr>
          <p:nvPr>
            <p:ph type="dt" sz="half" idx="10"/>
          </p:nvPr>
        </p:nvSpPr>
        <p:spPr/>
        <p:txBody>
          <a:bodyPr/>
          <a:lstStyle/>
          <a:p>
            <a:fld id="{6F744CC8-C10C-4EAA-A7F7-D06B365ADE34}" type="datetime1">
              <a:rPr lang="en-US" smtClean="0"/>
              <a:t>8/26/2026</a:t>
            </a:fld>
            <a:endParaRPr lang="en-US"/>
          </a:p>
        </p:txBody>
      </p:sp>
      <p:sp>
        <p:nvSpPr>
          <p:cNvPr id="4" name="Slide Number Placeholder 3">
            <a:extLst>
              <a:ext uri="{FF2B5EF4-FFF2-40B4-BE49-F238E27FC236}">
                <a16:creationId xmlns:a16="http://schemas.microsoft.com/office/drawing/2014/main" id="{36917E71-FA94-BADC-BDF0-12CE6F9CAFE0}"/>
              </a:ext>
            </a:extLst>
          </p:cNvPr>
          <p:cNvSpPr>
            <a:spLocks noGrp="1"/>
          </p:cNvSpPr>
          <p:nvPr>
            <p:ph type="sldNum" sz="quarter" idx="12"/>
          </p:nvPr>
        </p:nvSpPr>
        <p:spPr/>
        <p:txBody>
          <a:bodyPr/>
          <a:lstStyle/>
          <a:p>
            <a:fld id="{DA0BB241-1B5F-4309-9407-9EEA04D9598D}" type="slidenum">
              <a:rPr lang="en-US" smtClean="0"/>
              <a:t>29</a:t>
            </a:fld>
            <a:endParaRPr lang="en-US"/>
          </a:p>
        </p:txBody>
      </p:sp>
    </p:spTree>
    <p:extLst>
      <p:ext uri="{BB962C8B-B14F-4D97-AF65-F5344CB8AC3E}">
        <p14:creationId xmlns:p14="http://schemas.microsoft.com/office/powerpoint/2010/main" val="24478208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noProof="0" dirty="0"/>
          </a:p>
        </p:txBody>
      </p:sp>
      <p:sp>
        <p:nvSpPr>
          <p:cNvPr id="3" name="TextBox 2">
            <a:extLst>
              <a:ext uri="{FF2B5EF4-FFF2-40B4-BE49-F238E27FC236}">
                <a16:creationId xmlns:a16="http://schemas.microsoft.com/office/drawing/2014/main" id="{629B92EA-18C5-91B8-17E4-8C208B626182}"/>
              </a:ext>
            </a:extLst>
          </p:cNvPr>
          <p:cNvSpPr txBox="1"/>
          <p:nvPr/>
        </p:nvSpPr>
        <p:spPr>
          <a:xfrm flipH="1">
            <a:off x="2050677" y="1690688"/>
            <a:ext cx="1661161" cy="369332"/>
          </a:xfrm>
          <a:prstGeom prst="rect">
            <a:avLst/>
          </a:prstGeom>
          <a:noFill/>
        </p:spPr>
        <p:txBody>
          <a:bodyPr wrap="square" rtlCol="0">
            <a:spAutoFit/>
          </a:bodyPr>
          <a:lstStyle/>
          <a:p>
            <a:r>
              <a:rPr lang="en-US" noProof="0" dirty="0"/>
              <a:t>Data structure</a:t>
            </a:r>
          </a:p>
        </p:txBody>
      </p:sp>
      <p:sp>
        <p:nvSpPr>
          <p:cNvPr id="4" name="Rectangle 3">
            <a:extLst>
              <a:ext uri="{FF2B5EF4-FFF2-40B4-BE49-F238E27FC236}">
                <a16:creationId xmlns:a16="http://schemas.microsoft.com/office/drawing/2014/main" id="{CE7066CE-152D-0539-30CA-144DED4F4285}"/>
              </a:ext>
            </a:extLst>
          </p:cNvPr>
          <p:cNvSpPr/>
          <p:nvPr/>
        </p:nvSpPr>
        <p:spPr>
          <a:xfrm>
            <a:off x="378632" y="3364129"/>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393197E7-99FA-072A-2FBF-784590A75ED3}"/>
              </a:ext>
            </a:extLst>
          </p:cNvPr>
          <p:cNvSpPr txBox="1"/>
          <p:nvPr/>
        </p:nvSpPr>
        <p:spPr>
          <a:xfrm flipH="1">
            <a:off x="206634" y="2994797"/>
            <a:ext cx="2033456" cy="369332"/>
          </a:xfrm>
          <a:prstGeom prst="rect">
            <a:avLst/>
          </a:prstGeom>
          <a:noFill/>
        </p:spPr>
        <p:txBody>
          <a:bodyPr wrap="square" rtlCol="0">
            <a:spAutoFit/>
          </a:bodyPr>
          <a:lstStyle/>
          <a:p>
            <a:r>
              <a:rPr lang="en-US" noProof="0" dirty="0"/>
              <a:t>Logical structure</a:t>
            </a:r>
          </a:p>
        </p:txBody>
      </p:sp>
      <p:cxnSp>
        <p:nvCxnSpPr>
          <p:cNvPr id="8" name="Straight Arrow Connector 7">
            <a:extLst>
              <a:ext uri="{FF2B5EF4-FFF2-40B4-BE49-F238E27FC236}">
                <a16:creationId xmlns:a16="http://schemas.microsoft.com/office/drawing/2014/main" id="{ECC247F9-5588-BADC-3FCF-319325127B5C}"/>
              </a:ext>
            </a:extLst>
          </p:cNvPr>
          <p:cNvCxnSpPr/>
          <p:nvPr/>
        </p:nvCxnSpPr>
        <p:spPr>
          <a:xfrm>
            <a:off x="2327177" y="3962674"/>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D91CF730-A252-703E-9EDE-576ADABCA875}"/>
              </a:ext>
            </a:extLst>
          </p:cNvPr>
          <p:cNvPicPr>
            <a:picLocks noChangeAspect="1"/>
          </p:cNvPicPr>
          <p:nvPr/>
        </p:nvPicPr>
        <p:blipFill>
          <a:blip r:embed="rId3"/>
          <a:stretch>
            <a:fillRect/>
          </a:stretch>
        </p:blipFill>
        <p:spPr>
          <a:xfrm>
            <a:off x="2240090" y="2026920"/>
            <a:ext cx="1249070" cy="1241336"/>
          </a:xfrm>
          <a:prstGeom prst="rect">
            <a:avLst/>
          </a:prstGeom>
        </p:spPr>
      </p:pic>
      <p:sp>
        <p:nvSpPr>
          <p:cNvPr id="12" name="Rectangle 11">
            <a:extLst>
              <a:ext uri="{FF2B5EF4-FFF2-40B4-BE49-F238E27FC236}">
                <a16:creationId xmlns:a16="http://schemas.microsoft.com/office/drawing/2014/main" id="{D2E479D1-9B11-7C80-118C-F602204D0421}"/>
              </a:ext>
            </a:extLst>
          </p:cNvPr>
          <p:cNvSpPr/>
          <p:nvPr/>
        </p:nvSpPr>
        <p:spPr>
          <a:xfrm>
            <a:off x="3711838" y="3842244"/>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16C0C8F6-D540-7EA5-8F83-E9055CE22E95}"/>
              </a:ext>
            </a:extLst>
          </p:cNvPr>
          <p:cNvSpPr txBox="1"/>
          <p:nvPr/>
        </p:nvSpPr>
        <p:spPr>
          <a:xfrm flipH="1">
            <a:off x="3128361" y="3419822"/>
            <a:ext cx="2612576" cy="369332"/>
          </a:xfrm>
          <a:prstGeom prst="rect">
            <a:avLst/>
          </a:prstGeom>
          <a:noFill/>
        </p:spPr>
        <p:txBody>
          <a:bodyPr wrap="square" rtlCol="0">
            <a:spAutoFit/>
          </a:bodyPr>
          <a:lstStyle/>
          <a:p>
            <a:r>
              <a:rPr lang="en-US" noProof="0" dirty="0"/>
              <a:t>Physical memory layout</a:t>
            </a:r>
          </a:p>
        </p:txBody>
      </p:sp>
      <p:sp>
        <p:nvSpPr>
          <p:cNvPr id="18" name="TextBox 17">
            <a:extLst>
              <a:ext uri="{FF2B5EF4-FFF2-40B4-BE49-F238E27FC236}">
                <a16:creationId xmlns:a16="http://schemas.microsoft.com/office/drawing/2014/main" id="{EE8B262B-FA3E-96EB-4738-C1B5778CA745}"/>
              </a:ext>
            </a:extLst>
          </p:cNvPr>
          <p:cNvSpPr txBox="1"/>
          <p:nvPr/>
        </p:nvSpPr>
        <p:spPr>
          <a:xfrm>
            <a:off x="206634" y="5396582"/>
            <a:ext cx="2934789" cy="978729"/>
          </a:xfrm>
          <a:prstGeom prst="rect">
            <a:avLst/>
          </a:prstGeom>
          <a:noFill/>
          <a:ln>
            <a:solidFill>
              <a:schemeClr val="tx1"/>
            </a:solidFill>
          </a:ln>
        </p:spPr>
        <p:txBody>
          <a:bodyPr wrap="square">
            <a:spAutoFit/>
          </a:bodyPr>
          <a:lstStyle/>
          <a:p>
            <a:pPr marL="0" marR="0" indent="0" algn="l">
              <a:buNone/>
            </a:pPr>
            <a:r>
              <a:rPr lang="en-US" sz="960" b="1" i="0" noProof="0" dirty="0">
                <a:solidFill>
                  <a:srgbClr val="008000"/>
                </a:solidFill>
                <a:effectLst/>
                <a:latin typeface="DejaVuSansMono"/>
              </a:rPr>
              <a:t>template</a:t>
            </a:r>
            <a:r>
              <a:rPr lang="en-US" sz="960" b="0" i="0" noProof="0" dirty="0">
                <a:solidFill>
                  <a:srgbClr val="666666"/>
                </a:solidFill>
                <a:effectLst/>
                <a:latin typeface="DejaVuSansMono"/>
              </a:rPr>
              <a:t>&lt;</a:t>
            </a:r>
            <a:endParaRPr lang="en-US" sz="960" b="0" i="0" noProof="0" dirty="0">
              <a:solidFill>
                <a:srgbClr val="000000"/>
              </a:solidFill>
              <a:effectLst/>
              <a:latin typeface="DejaVuSansMono"/>
            </a:endParaRP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Extents</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LayoutPolicy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layout_right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AccessorPolicy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default_accessor</a:t>
            </a:r>
            <a:r>
              <a:rPr lang="en-US" sz="960" b="0" i="0" noProof="0" dirty="0">
                <a:solidFill>
                  <a:srgbClr val="666666"/>
                </a:solidFill>
                <a:effectLst/>
                <a:latin typeface="DejaVuSansMono"/>
              </a:rPr>
              <a:t>&lt;</a:t>
            </a:r>
            <a:r>
              <a:rPr lang="en-US" sz="960" b="0" i="0" noProof="0" dirty="0">
                <a:solidFill>
                  <a:srgbClr val="000000"/>
                </a:solidFill>
                <a:effectLst/>
                <a:latin typeface="DejaVuSansMono"/>
              </a:rPr>
              <a:t>T</a:t>
            </a:r>
            <a:r>
              <a:rPr lang="en-US" sz="960" b="0" i="0" noProof="0" dirty="0">
                <a:solidFill>
                  <a:srgbClr val="666666"/>
                </a:solidFill>
                <a:effectLst/>
                <a:latin typeface="DejaVuSansMono"/>
              </a:rPr>
              <a:t>&gt;</a:t>
            </a:r>
            <a:endParaRPr lang="en-US" sz="960" b="0" i="0" noProof="0" dirty="0">
              <a:solidFill>
                <a:srgbClr val="000000"/>
              </a:solidFill>
              <a:effectLst/>
              <a:latin typeface="DejaVuSansMono"/>
            </a:endParaRPr>
          </a:p>
          <a:p>
            <a:pPr marL="0" marR="0" indent="0" algn="l">
              <a:buNone/>
            </a:pPr>
            <a:r>
              <a:rPr lang="en-US" sz="960" b="0" i="0" noProof="0" dirty="0">
                <a:solidFill>
                  <a:srgbClr val="666666"/>
                </a:solidFill>
                <a:effectLst/>
                <a:latin typeface="DejaVuSansMono"/>
              </a:rPr>
              <a:t>&gt;</a:t>
            </a: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mdspan</a:t>
            </a:r>
            <a:r>
              <a:rPr lang="en-US" sz="960" b="0" i="0" noProof="0" dirty="0">
                <a:solidFill>
                  <a:srgbClr val="000000"/>
                </a:solidFill>
                <a:effectLst/>
                <a:latin typeface="DejaVuSansMono"/>
              </a:rPr>
              <a:t>;</a:t>
            </a:r>
          </a:p>
        </p:txBody>
      </p:sp>
      <p:sp>
        <p:nvSpPr>
          <p:cNvPr id="19" name="TextBox 18">
            <a:extLst>
              <a:ext uri="{FF2B5EF4-FFF2-40B4-BE49-F238E27FC236}">
                <a16:creationId xmlns:a16="http://schemas.microsoft.com/office/drawing/2014/main" id="{24D10904-B7C0-3CC4-7415-DD17D80D24E4}"/>
              </a:ext>
            </a:extLst>
          </p:cNvPr>
          <p:cNvSpPr txBox="1"/>
          <p:nvPr/>
        </p:nvSpPr>
        <p:spPr>
          <a:xfrm>
            <a:off x="1016531" y="5059024"/>
            <a:ext cx="1450141" cy="369332"/>
          </a:xfrm>
          <a:prstGeom prst="rect">
            <a:avLst/>
          </a:prstGeom>
          <a:noFill/>
        </p:spPr>
        <p:txBody>
          <a:bodyPr wrap="none" rtlCol="0">
            <a:spAutoFit/>
          </a:bodyPr>
          <a:lstStyle/>
          <a:p>
            <a:r>
              <a:rPr lang="en-US" noProof="0" dirty="0"/>
              <a:t>std::</a:t>
            </a:r>
            <a:r>
              <a:rPr lang="en-US" noProof="0" dirty="0" err="1"/>
              <a:t>mdspan</a:t>
            </a:r>
            <a:endParaRPr lang="en-US" noProof="0" dirty="0"/>
          </a:p>
        </p:txBody>
      </p:sp>
      <p:pic>
        <p:nvPicPr>
          <p:cNvPr id="20" name="Picture 19" descr="File:NVIDIA logo.svg - Wikimedia Commons">
            <a:extLst>
              <a:ext uri="{FF2B5EF4-FFF2-40B4-BE49-F238E27FC236}">
                <a16:creationId xmlns:a16="http://schemas.microsoft.com/office/drawing/2014/main" id="{D20C279A-C56A-6DE5-775E-9EDFB109DDB7}"/>
              </a:ext>
            </a:extLst>
          </p:cNvPr>
          <p:cNvPicPr>
            <a:picLocks noChangeAspect="1"/>
          </p:cNvPicPr>
          <p:nvPr/>
        </p:nvPicPr>
        <p:blipFill>
          <a:blip r:embed="rId4"/>
          <a:stretch>
            <a:fillRect/>
          </a:stretch>
        </p:blipFill>
        <p:spPr>
          <a:xfrm>
            <a:off x="7182371" y="5860032"/>
            <a:ext cx="2297240" cy="421161"/>
          </a:xfrm>
          <a:prstGeom prst="rect">
            <a:avLst/>
          </a:prstGeom>
        </p:spPr>
      </p:pic>
      <p:pic>
        <p:nvPicPr>
          <p:cNvPr id="21" name="Picture 20" descr="Kokkos Logos">
            <a:extLst>
              <a:ext uri="{FF2B5EF4-FFF2-40B4-BE49-F238E27FC236}">
                <a16:creationId xmlns:a16="http://schemas.microsoft.com/office/drawing/2014/main" id="{688915D6-1C03-1602-5B45-A4CADED3D582}"/>
              </a:ext>
            </a:extLst>
          </p:cNvPr>
          <p:cNvPicPr>
            <a:picLocks noChangeAspect="1"/>
          </p:cNvPicPr>
          <p:nvPr/>
        </p:nvPicPr>
        <p:blipFill>
          <a:blip r:embed="rId5"/>
          <a:stretch>
            <a:fillRect/>
          </a:stretch>
        </p:blipFill>
        <p:spPr>
          <a:xfrm>
            <a:off x="3258768" y="5698337"/>
            <a:ext cx="1750863" cy="372276"/>
          </a:xfrm>
          <a:prstGeom prst="rect">
            <a:avLst/>
          </a:prstGeom>
        </p:spPr>
      </p:pic>
      <p:sp>
        <p:nvSpPr>
          <p:cNvPr id="29" name="TextBox 28">
            <a:extLst>
              <a:ext uri="{FF2B5EF4-FFF2-40B4-BE49-F238E27FC236}">
                <a16:creationId xmlns:a16="http://schemas.microsoft.com/office/drawing/2014/main" id="{3ACC472A-6620-096A-F5B4-266E4D43E76F}"/>
              </a:ext>
            </a:extLst>
          </p:cNvPr>
          <p:cNvSpPr txBox="1"/>
          <p:nvPr/>
        </p:nvSpPr>
        <p:spPr>
          <a:xfrm>
            <a:off x="5573544" y="5381916"/>
            <a:ext cx="1445623" cy="1200329"/>
          </a:xfrm>
          <a:prstGeom prst="rect">
            <a:avLst/>
          </a:prstGeom>
          <a:noFill/>
          <a:ln>
            <a:solidFill>
              <a:schemeClr val="tx1"/>
            </a:solidFill>
          </a:ln>
        </p:spPr>
        <p:txBody>
          <a:bodyPr wrap="square">
            <a:spAutoFit/>
          </a:bodyPr>
          <a:lstStyle/>
          <a:p>
            <a:pPr marL="0" marR="0" indent="0" algn="l">
              <a:buNone/>
            </a:pPr>
            <a:r>
              <a:rPr lang="en-US" sz="1200" b="0" i="0" noProof="0" dirty="0">
                <a:solidFill>
                  <a:srgbClr val="24292F"/>
                </a:solidFill>
                <a:effectLst/>
                <a:latin typeface="RobotoMono"/>
              </a:rPr>
              <a:t>Shape :  (4,2)</a:t>
            </a:r>
          </a:p>
          <a:p>
            <a:pPr marL="0" marR="0" indent="0" algn="l">
              <a:buNone/>
            </a:pPr>
            <a:r>
              <a:rPr lang="en-US" sz="1200" b="0" i="0" noProof="0" dirty="0">
                <a:solidFill>
                  <a:srgbClr val="24292F"/>
                </a:solidFill>
                <a:effectLst/>
                <a:latin typeface="RobotoMono"/>
              </a:rPr>
              <a:t>Stride:  (2,1)</a:t>
            </a:r>
          </a:p>
          <a:p>
            <a:pPr marL="0" marR="0" indent="0" algn="l">
              <a:buNone/>
            </a:pPr>
            <a:r>
              <a:rPr lang="en-US" sz="1200" b="0" i="0" noProof="0" dirty="0">
                <a:solidFill>
                  <a:srgbClr val="24292F"/>
                </a:solidFill>
                <a:effectLst/>
                <a:latin typeface="RobotoMono"/>
              </a:rPr>
              <a:t>  0   1</a:t>
            </a:r>
          </a:p>
          <a:p>
            <a:pPr marL="0" marR="0" indent="0" algn="l">
              <a:buNone/>
            </a:pPr>
            <a:r>
              <a:rPr lang="en-US" sz="1200" b="0" i="0" noProof="0" dirty="0">
                <a:solidFill>
                  <a:srgbClr val="24292F"/>
                </a:solidFill>
                <a:effectLst/>
                <a:latin typeface="RobotoMono"/>
              </a:rPr>
              <a:t>  2   3</a:t>
            </a:r>
          </a:p>
          <a:p>
            <a:pPr marL="0" marR="0" indent="0" algn="l">
              <a:buNone/>
            </a:pPr>
            <a:r>
              <a:rPr lang="en-US" sz="1200" b="0" i="0" noProof="0" dirty="0">
                <a:solidFill>
                  <a:srgbClr val="24292F"/>
                </a:solidFill>
                <a:effectLst/>
                <a:latin typeface="RobotoMono"/>
              </a:rPr>
              <a:t>  4   5</a:t>
            </a:r>
          </a:p>
          <a:p>
            <a:pPr marL="0" marR="0" indent="0" algn="l">
              <a:buNone/>
            </a:pPr>
            <a:r>
              <a:rPr lang="en-US" sz="1200" b="0" i="0" noProof="0" dirty="0">
                <a:solidFill>
                  <a:srgbClr val="24292F"/>
                </a:solidFill>
                <a:effectLst/>
                <a:latin typeface="RobotoMono"/>
              </a:rPr>
              <a:t>  6   7</a:t>
            </a:r>
          </a:p>
        </p:txBody>
      </p:sp>
      <p:sp>
        <p:nvSpPr>
          <p:cNvPr id="30" name="TextBox 29">
            <a:extLst>
              <a:ext uri="{FF2B5EF4-FFF2-40B4-BE49-F238E27FC236}">
                <a16:creationId xmlns:a16="http://schemas.microsoft.com/office/drawing/2014/main" id="{2BF7FBC8-8534-2A17-6EEE-266F00B94D37}"/>
              </a:ext>
            </a:extLst>
          </p:cNvPr>
          <p:cNvSpPr txBox="1"/>
          <p:nvPr/>
        </p:nvSpPr>
        <p:spPr>
          <a:xfrm>
            <a:off x="5578305" y="4984668"/>
            <a:ext cx="1436099" cy="369332"/>
          </a:xfrm>
          <a:prstGeom prst="rect">
            <a:avLst/>
          </a:prstGeom>
          <a:noFill/>
        </p:spPr>
        <p:txBody>
          <a:bodyPr wrap="none" rtlCol="0">
            <a:spAutoFit/>
          </a:bodyPr>
          <a:lstStyle/>
          <a:p>
            <a:r>
              <a:rPr lang="en-US" noProof="0" dirty="0" err="1"/>
              <a:t>CUTe</a:t>
            </a:r>
            <a:r>
              <a:rPr lang="en-US" noProof="0" dirty="0"/>
              <a:t> Layout</a:t>
            </a:r>
          </a:p>
        </p:txBody>
      </p:sp>
      <p:sp>
        <p:nvSpPr>
          <p:cNvPr id="38" name="TextBox 37">
            <a:extLst>
              <a:ext uri="{FF2B5EF4-FFF2-40B4-BE49-F238E27FC236}">
                <a16:creationId xmlns:a16="http://schemas.microsoft.com/office/drawing/2014/main" id="{1F5E2435-0E1B-BC1F-B025-E4809FCD1BB6}"/>
              </a:ext>
            </a:extLst>
          </p:cNvPr>
          <p:cNvSpPr txBox="1"/>
          <p:nvPr/>
        </p:nvSpPr>
        <p:spPr>
          <a:xfrm>
            <a:off x="6853642" y="919461"/>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D765482-04EA-108B-2C52-587952680CAA}"/>
              </a:ext>
            </a:extLst>
          </p:cNvPr>
          <p:cNvSpPr/>
          <p:nvPr/>
        </p:nvSpPr>
        <p:spPr>
          <a:xfrm>
            <a:off x="8403768" y="99920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3EFCE23F-B129-33E7-BBA1-A0C58E802D8E}"/>
              </a:ext>
            </a:extLst>
          </p:cNvPr>
          <p:cNvSpPr/>
          <p:nvPr/>
        </p:nvSpPr>
        <p:spPr>
          <a:xfrm>
            <a:off x="8403767" y="1456599"/>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4F4065D4-CE1C-8FB5-336C-3725D7A23F98}"/>
              </a:ext>
            </a:extLst>
          </p:cNvPr>
          <p:cNvSpPr/>
          <p:nvPr/>
        </p:nvSpPr>
        <p:spPr>
          <a:xfrm>
            <a:off x="8403767" y="192586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TextBox 47">
            <a:extLst>
              <a:ext uri="{FF2B5EF4-FFF2-40B4-BE49-F238E27FC236}">
                <a16:creationId xmlns:a16="http://schemas.microsoft.com/office/drawing/2014/main" id="{C66B6B2B-206E-B25D-E2EB-2BE507FA937A}"/>
              </a:ext>
            </a:extLst>
          </p:cNvPr>
          <p:cNvSpPr txBox="1"/>
          <p:nvPr/>
        </p:nvSpPr>
        <p:spPr>
          <a:xfrm>
            <a:off x="-274703" y="991427"/>
            <a:ext cx="3986541" cy="2003369"/>
          </a:xfrm>
          <a:prstGeom prst="rect">
            <a:avLst/>
          </a:prstGeom>
          <a:noFill/>
        </p:spPr>
        <p:txBody>
          <a:bodyPr wrap="square">
            <a:spAutoFit/>
          </a:bodyPr>
          <a:lstStyle/>
          <a:p>
            <a:pPr>
              <a:lnSpc>
                <a:spcPct val="15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sz="1400" b="0" noProof="0" dirty="0">
              <a:solidFill>
                <a:srgbClr val="000000"/>
              </a:solidFill>
              <a:effectLst/>
              <a:latin typeface="Fira Code" panose="020B0809050000020004" pitchFamily="49" charset="0"/>
            </a:endParaRPr>
          </a:p>
        </p:txBody>
      </p:sp>
      <p:sp>
        <p:nvSpPr>
          <p:cNvPr id="52" name="TextBox 51">
            <a:extLst>
              <a:ext uri="{FF2B5EF4-FFF2-40B4-BE49-F238E27FC236}">
                <a16:creationId xmlns:a16="http://schemas.microsoft.com/office/drawing/2014/main" id="{81058A7E-911C-05B2-4601-238FFA7EE004}"/>
              </a:ext>
            </a:extLst>
          </p:cNvPr>
          <p:cNvSpPr txBox="1"/>
          <p:nvPr/>
        </p:nvSpPr>
        <p:spPr>
          <a:xfrm>
            <a:off x="7178348" y="3371679"/>
            <a:ext cx="4580709"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owned_matrix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FF"/>
                </a:solidFill>
                <a:effectLst/>
                <a:latin typeface="Fira Code" panose="020B0809050000020004" pitchFamily="49" charset="0"/>
              </a:rPr>
              <a:t>void</a:t>
            </a:r>
            <a:r>
              <a:rPr lang="en-US" sz="1050" b="0" noProof="0" dirty="0">
                <a:solidFill>
                  <a:srgbClr val="000000"/>
                </a:solidFill>
                <a:effectLst/>
                <a:latin typeface="Fira Code" panose="020B0809050000020004" pitchFamily="49" charset="0"/>
              </a:rPr>
              <a:t> </a:t>
            </a:r>
            <a:r>
              <a:rPr lang="en-US" sz="1050" b="0" noProof="0" dirty="0">
                <a:solidFill>
                  <a:srgbClr val="0000FF"/>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CUDA_CHECK</a:t>
            </a:r>
            <a:r>
              <a:rPr lang="en-US" sz="1050" b="0" noProof="0" dirty="0">
                <a:solidFill>
                  <a:srgbClr val="000000"/>
                </a:solidFill>
                <a:effectLst/>
                <a:latin typeface="Fira Code" panose="020B0809050000020004" pitchFamily="49" charset="0"/>
              </a:rPr>
              <a:t>(</a:t>
            </a:r>
            <a:r>
              <a:rPr lang="en-US" sz="1050" b="0" noProof="0" dirty="0" err="1">
                <a:solidFill>
                  <a:srgbClr val="795E26"/>
                </a:solidFill>
                <a:effectLst/>
                <a:latin typeface="Fira Code" panose="020B0809050000020004" pitchFamily="49" charset="0"/>
              </a:rPr>
              <a:t>cudaMalloc</a:t>
            </a:r>
            <a:r>
              <a:rPr lang="en-US" sz="1050" b="0" noProof="0" dirty="0">
                <a:solidFill>
                  <a:srgbClr val="000000"/>
                </a:solidFill>
                <a:effectLst/>
                <a:latin typeface="Fira Code" panose="020B0809050000020004" pitchFamily="49" charset="0"/>
              </a:rPr>
              <a:t>(&amp;</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get_size</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view_matrix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p:txBody>
      </p:sp>
      <p:sp>
        <p:nvSpPr>
          <p:cNvPr id="56" name="TextBox 55">
            <a:extLst>
              <a:ext uri="{FF2B5EF4-FFF2-40B4-BE49-F238E27FC236}">
                <a16:creationId xmlns:a16="http://schemas.microsoft.com/office/drawing/2014/main" id="{151B72E5-6CB7-97C1-AD5E-3609107123D5}"/>
              </a:ext>
            </a:extLst>
          </p:cNvPr>
          <p:cNvSpPr txBox="1"/>
          <p:nvPr/>
        </p:nvSpPr>
        <p:spPr>
          <a:xfrm>
            <a:off x="7467250" y="4559336"/>
            <a:ext cx="3708219" cy="816762"/>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dirty="0">
                <a:solidFill>
                  <a:srgbClr val="0070C1"/>
                </a:solidFill>
                <a:latin typeface="Fira Code" panose="020B0809050000020004" pitchFamily="49" charset="0"/>
              </a:rPr>
              <a:t>lit</a:t>
            </a:r>
            <a:r>
              <a:rPr lang="en-US" sz="1050" dirty="0">
                <a:solidFill>
                  <a:srgbClr val="000000"/>
                </a:solidFill>
                <a:latin typeface="Fira Code" panose="020B0809050000020004" pitchFamily="49" charset="0"/>
              </a:rPr>
              <a:t>&lt;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a:t>
            </a:r>
          </a:p>
        </p:txBody>
      </p:sp>
      <p:sp>
        <p:nvSpPr>
          <p:cNvPr id="60" name="TextBox 59">
            <a:extLst>
              <a:ext uri="{FF2B5EF4-FFF2-40B4-BE49-F238E27FC236}">
                <a16:creationId xmlns:a16="http://schemas.microsoft.com/office/drawing/2014/main" id="{C90408C5-9F58-A622-B65B-BBDABAA76922}"/>
              </a:ext>
            </a:extLst>
          </p:cNvPr>
          <p:cNvSpPr txBox="1"/>
          <p:nvPr/>
        </p:nvSpPr>
        <p:spPr>
          <a:xfrm>
            <a:off x="8484327" y="5297003"/>
            <a:ext cx="6779622"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p:txBody>
      </p:sp>
      <p:sp>
        <p:nvSpPr>
          <p:cNvPr id="5" name="Date Placeholder 4">
            <a:extLst>
              <a:ext uri="{FF2B5EF4-FFF2-40B4-BE49-F238E27FC236}">
                <a16:creationId xmlns:a16="http://schemas.microsoft.com/office/drawing/2014/main" id="{16DF39EE-B935-E335-0B5C-A4E3719F9D73}"/>
              </a:ext>
            </a:extLst>
          </p:cNvPr>
          <p:cNvSpPr>
            <a:spLocks noGrp="1"/>
          </p:cNvSpPr>
          <p:nvPr>
            <p:ph type="dt" sz="half" idx="10"/>
          </p:nvPr>
        </p:nvSpPr>
        <p:spPr/>
        <p:txBody>
          <a:bodyPr/>
          <a:lstStyle/>
          <a:p>
            <a:fld id="{BECC5278-1265-4E1B-8A3B-54BBD2CB9178}" type="datetime1">
              <a:rPr lang="en-US" smtClean="0"/>
              <a:t>8/26/2026</a:t>
            </a:fld>
            <a:endParaRPr lang="en-US"/>
          </a:p>
        </p:txBody>
      </p:sp>
      <p:sp>
        <p:nvSpPr>
          <p:cNvPr id="7" name="Slide Number Placeholder 6">
            <a:extLst>
              <a:ext uri="{FF2B5EF4-FFF2-40B4-BE49-F238E27FC236}">
                <a16:creationId xmlns:a16="http://schemas.microsoft.com/office/drawing/2014/main" id="{3A98E2DA-CF8A-5D0F-37C9-6297322B242B}"/>
              </a:ext>
            </a:extLst>
          </p:cNvPr>
          <p:cNvSpPr>
            <a:spLocks noGrp="1"/>
          </p:cNvSpPr>
          <p:nvPr>
            <p:ph type="sldNum" sz="quarter" idx="12"/>
          </p:nvPr>
        </p:nvSpPr>
        <p:spPr/>
        <p:txBody>
          <a:bodyPr/>
          <a:lstStyle/>
          <a:p>
            <a:fld id="{DA0BB241-1B5F-4309-9407-9EEA04D9598D}" type="slidenum">
              <a:rPr lang="en-US" smtClean="0"/>
              <a:t>30</a:t>
            </a:fld>
            <a:endParaRPr lang="en-US"/>
          </a:p>
        </p:txBody>
      </p:sp>
    </p:spTree>
    <p:extLst>
      <p:ext uri="{BB962C8B-B14F-4D97-AF65-F5344CB8AC3E}">
        <p14:creationId xmlns:p14="http://schemas.microsoft.com/office/powerpoint/2010/main" val="32268061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
        <p:nvSpPr>
          <p:cNvPr id="4" name="Date Placeholder 3">
            <a:extLst>
              <a:ext uri="{FF2B5EF4-FFF2-40B4-BE49-F238E27FC236}">
                <a16:creationId xmlns:a16="http://schemas.microsoft.com/office/drawing/2014/main" id="{1A8EAE36-B52B-79D2-662E-1BAE425E6CAA}"/>
              </a:ext>
            </a:extLst>
          </p:cNvPr>
          <p:cNvSpPr>
            <a:spLocks noGrp="1"/>
          </p:cNvSpPr>
          <p:nvPr>
            <p:ph type="dt" sz="half" idx="10"/>
          </p:nvPr>
        </p:nvSpPr>
        <p:spPr/>
        <p:txBody>
          <a:bodyPr/>
          <a:lstStyle/>
          <a:p>
            <a:fld id="{9728143D-0936-4662-84A5-C4AA8AA29B13}" type="datetime1">
              <a:rPr lang="en-US" smtClean="0"/>
              <a:t>8/26/2026</a:t>
            </a:fld>
            <a:endParaRPr lang="en-US"/>
          </a:p>
        </p:txBody>
      </p:sp>
      <p:sp>
        <p:nvSpPr>
          <p:cNvPr id="5" name="Slide Number Placeholder 4">
            <a:extLst>
              <a:ext uri="{FF2B5EF4-FFF2-40B4-BE49-F238E27FC236}">
                <a16:creationId xmlns:a16="http://schemas.microsoft.com/office/drawing/2014/main" id="{3D455548-6FDB-5ADD-0662-B5910EC6E137}"/>
              </a:ext>
            </a:extLst>
          </p:cNvPr>
          <p:cNvSpPr>
            <a:spLocks noGrp="1"/>
          </p:cNvSpPr>
          <p:nvPr>
            <p:ph type="sldNum" sz="quarter" idx="12"/>
          </p:nvPr>
        </p:nvSpPr>
        <p:spPr/>
        <p:txBody>
          <a:bodyPr/>
          <a:lstStyle/>
          <a:p>
            <a:fld id="{DA0BB241-1B5F-4309-9407-9EEA04D9598D}" type="slidenum">
              <a:rPr lang="en-US" smtClean="0"/>
              <a:t>31</a:t>
            </a:fld>
            <a:endParaRPr lang="en-US"/>
          </a:p>
        </p:txBody>
      </p:sp>
    </p:spTree>
    <p:extLst>
      <p:ext uri="{BB962C8B-B14F-4D97-AF65-F5344CB8AC3E}">
        <p14:creationId xmlns:p14="http://schemas.microsoft.com/office/powerpoint/2010/main" val="10726623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
        <p:nvSpPr>
          <p:cNvPr id="4" name="Date Placeholder 3">
            <a:extLst>
              <a:ext uri="{FF2B5EF4-FFF2-40B4-BE49-F238E27FC236}">
                <a16:creationId xmlns:a16="http://schemas.microsoft.com/office/drawing/2014/main" id="{F638B154-F1AA-C698-384C-B2B4753ACBE5}"/>
              </a:ext>
            </a:extLst>
          </p:cNvPr>
          <p:cNvSpPr>
            <a:spLocks noGrp="1"/>
          </p:cNvSpPr>
          <p:nvPr>
            <p:ph type="dt" sz="half" idx="10"/>
          </p:nvPr>
        </p:nvSpPr>
        <p:spPr/>
        <p:txBody>
          <a:bodyPr/>
          <a:lstStyle/>
          <a:p>
            <a:fld id="{45521FF1-6AD4-41E9-A392-E960909D3B84}" type="datetime1">
              <a:rPr lang="en-US" smtClean="0"/>
              <a:t>8/26/2026</a:t>
            </a:fld>
            <a:endParaRPr lang="en-US"/>
          </a:p>
        </p:txBody>
      </p:sp>
      <p:sp>
        <p:nvSpPr>
          <p:cNvPr id="5" name="Slide Number Placeholder 4">
            <a:extLst>
              <a:ext uri="{FF2B5EF4-FFF2-40B4-BE49-F238E27FC236}">
                <a16:creationId xmlns:a16="http://schemas.microsoft.com/office/drawing/2014/main" id="{875A2156-D658-2EC2-D25E-4DD3E785381A}"/>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32298088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0037F-F1C5-A711-595F-CA146193F908}"/>
              </a:ext>
            </a:extLst>
          </p:cNvPr>
          <p:cNvSpPr>
            <a:spLocks noGrp="1"/>
          </p:cNvSpPr>
          <p:nvPr>
            <p:ph type="title"/>
          </p:nvPr>
        </p:nvSpPr>
        <p:spPr/>
        <p:txBody>
          <a:bodyPr/>
          <a:lstStyle/>
          <a:p>
            <a:r>
              <a:rPr lang="en-US" dirty="0"/>
              <a:t>Motivation</a:t>
            </a:r>
          </a:p>
        </p:txBody>
      </p:sp>
      <p:sp>
        <p:nvSpPr>
          <p:cNvPr id="3" name="Date Placeholder 2">
            <a:extLst>
              <a:ext uri="{FF2B5EF4-FFF2-40B4-BE49-F238E27FC236}">
                <a16:creationId xmlns:a16="http://schemas.microsoft.com/office/drawing/2014/main" id="{86F98861-D652-B6E5-8357-D0A1570773C1}"/>
              </a:ext>
            </a:extLst>
          </p:cNvPr>
          <p:cNvSpPr>
            <a:spLocks noGrp="1"/>
          </p:cNvSpPr>
          <p:nvPr>
            <p:ph type="dt" sz="half" idx="10"/>
          </p:nvPr>
        </p:nvSpPr>
        <p:spPr/>
        <p:txBody>
          <a:bodyPr/>
          <a:lstStyle/>
          <a:p>
            <a:fld id="{6F8B54AC-F7B0-4D97-865A-C5C2A5DC80D3}" type="datetime1">
              <a:rPr lang="en-US" smtClean="0"/>
              <a:t>8/26/2026</a:t>
            </a:fld>
            <a:endParaRPr lang="en-US"/>
          </a:p>
        </p:txBody>
      </p:sp>
      <p:sp>
        <p:nvSpPr>
          <p:cNvPr id="4" name="Slide Number Placeholder 3">
            <a:extLst>
              <a:ext uri="{FF2B5EF4-FFF2-40B4-BE49-F238E27FC236}">
                <a16:creationId xmlns:a16="http://schemas.microsoft.com/office/drawing/2014/main" id="{B4018CD4-E7A5-A58C-D0D0-B17B9BE5B7EA}"/>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20435546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
        <p:nvSpPr>
          <p:cNvPr id="4" name="Date Placeholder 3">
            <a:extLst>
              <a:ext uri="{FF2B5EF4-FFF2-40B4-BE49-F238E27FC236}">
                <a16:creationId xmlns:a16="http://schemas.microsoft.com/office/drawing/2014/main" id="{5E3B39E5-5465-2C80-52E8-E554FA99A4BF}"/>
              </a:ext>
            </a:extLst>
          </p:cNvPr>
          <p:cNvSpPr>
            <a:spLocks noGrp="1"/>
          </p:cNvSpPr>
          <p:nvPr>
            <p:ph type="dt" sz="half" idx="10"/>
          </p:nvPr>
        </p:nvSpPr>
        <p:spPr/>
        <p:txBody>
          <a:bodyPr/>
          <a:lstStyle/>
          <a:p>
            <a:fld id="{7498A365-4C92-434C-A578-88C2CD9CB8CD}" type="datetime1">
              <a:rPr lang="en-US" smtClean="0"/>
              <a:t>8/26/2026</a:t>
            </a:fld>
            <a:endParaRPr lang="en-US"/>
          </a:p>
        </p:txBody>
      </p:sp>
      <p:sp>
        <p:nvSpPr>
          <p:cNvPr id="5" name="Slide Number Placeholder 4">
            <a:extLst>
              <a:ext uri="{FF2B5EF4-FFF2-40B4-BE49-F238E27FC236}">
                <a16:creationId xmlns:a16="http://schemas.microsoft.com/office/drawing/2014/main" id="{408B38A9-6C44-7CD4-F1F1-99524C51C9C4}"/>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2187688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noProof="0" dirty="0"/>
              <a:t>Enables optimizing the layouts on each computation node seamlessly</a:t>
            </a:r>
          </a:p>
          <a:p>
            <a:endParaRPr lang="en-US" noProof="0" dirty="0"/>
          </a:p>
        </p:txBody>
      </p:sp>
      <p:sp>
        <p:nvSpPr>
          <p:cNvPr id="4" name="Date Placeholder 3">
            <a:extLst>
              <a:ext uri="{FF2B5EF4-FFF2-40B4-BE49-F238E27FC236}">
                <a16:creationId xmlns:a16="http://schemas.microsoft.com/office/drawing/2014/main" id="{00A4B826-8136-05AF-D025-DD0DDC6738E4}"/>
              </a:ext>
            </a:extLst>
          </p:cNvPr>
          <p:cNvSpPr>
            <a:spLocks noGrp="1"/>
          </p:cNvSpPr>
          <p:nvPr>
            <p:ph type="dt" sz="half" idx="10"/>
          </p:nvPr>
        </p:nvSpPr>
        <p:spPr/>
        <p:txBody>
          <a:bodyPr/>
          <a:lstStyle/>
          <a:p>
            <a:fld id="{F38D2CE3-9198-4CB2-A7D0-FF7AC24156EC}" type="datetime1">
              <a:rPr lang="en-US" smtClean="0"/>
              <a:t>8/26/2026</a:t>
            </a:fld>
            <a:endParaRPr lang="en-US"/>
          </a:p>
        </p:txBody>
      </p:sp>
      <p:sp>
        <p:nvSpPr>
          <p:cNvPr id="5" name="Slide Number Placeholder 4">
            <a:extLst>
              <a:ext uri="{FF2B5EF4-FFF2-40B4-BE49-F238E27FC236}">
                <a16:creationId xmlns:a16="http://schemas.microsoft.com/office/drawing/2014/main" id="{BC82AE9A-C01C-AE64-EDB8-E15507ACC14D}"/>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37678986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noProof="0" dirty="0"/>
              <a:t>Layout &amp; encoding options (! bit-packing)</a:t>
            </a:r>
          </a:p>
          <a:p>
            <a:pPr lvl="1"/>
            <a:r>
              <a:rPr lang="en-US" noProof="0" dirty="0"/>
              <a:t>Evaluation options (! bit-wise vectorization)</a:t>
            </a:r>
          </a:p>
          <a:p>
            <a:pPr lvl="1"/>
            <a:r>
              <a:rPr lang="en-US" noProof="0" dirty="0"/>
              <a:t>Traversal options (incl. parallelism)</a:t>
            </a:r>
          </a:p>
          <a:p>
            <a:r>
              <a:rPr lang="en-US" noProof="0" dirty="0"/>
              <a:t>Agnostic design of CA computation rules</a:t>
            </a:r>
          </a:p>
          <a:p>
            <a:r>
              <a:rPr lang="en-US" noProof="0" dirty="0"/>
              <a:t>Faster development, experimentation (optimization)</a:t>
            </a:r>
          </a:p>
        </p:txBody>
      </p:sp>
      <p:sp>
        <p:nvSpPr>
          <p:cNvPr id="4" name="Date Placeholder 3">
            <a:extLst>
              <a:ext uri="{FF2B5EF4-FFF2-40B4-BE49-F238E27FC236}">
                <a16:creationId xmlns:a16="http://schemas.microsoft.com/office/drawing/2014/main" id="{8B8D76D4-7FE7-601A-2FED-F1788152B8FA}"/>
              </a:ext>
            </a:extLst>
          </p:cNvPr>
          <p:cNvSpPr>
            <a:spLocks noGrp="1"/>
          </p:cNvSpPr>
          <p:nvPr>
            <p:ph type="dt" sz="half" idx="10"/>
          </p:nvPr>
        </p:nvSpPr>
        <p:spPr/>
        <p:txBody>
          <a:bodyPr/>
          <a:lstStyle/>
          <a:p>
            <a:fld id="{38B63626-FB7E-43AF-A630-48547F65CAA9}" type="datetime1">
              <a:rPr lang="en-US" smtClean="0"/>
              <a:t>8/26/2026</a:t>
            </a:fld>
            <a:endParaRPr lang="en-US"/>
          </a:p>
        </p:txBody>
      </p:sp>
      <p:sp>
        <p:nvSpPr>
          <p:cNvPr id="5" name="Slide Number Placeholder 4">
            <a:extLst>
              <a:ext uri="{FF2B5EF4-FFF2-40B4-BE49-F238E27FC236}">
                <a16:creationId xmlns:a16="http://schemas.microsoft.com/office/drawing/2014/main" id="{4A94CF2A-53FF-BA6B-CD23-FE846DAA0DB2}"/>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5515698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
        <p:nvSpPr>
          <p:cNvPr id="4" name="Date Placeholder 3">
            <a:extLst>
              <a:ext uri="{FF2B5EF4-FFF2-40B4-BE49-F238E27FC236}">
                <a16:creationId xmlns:a16="http://schemas.microsoft.com/office/drawing/2014/main" id="{D72BCC3D-18A5-9EDE-1667-AD034F4DFF49}"/>
              </a:ext>
            </a:extLst>
          </p:cNvPr>
          <p:cNvSpPr>
            <a:spLocks noGrp="1"/>
          </p:cNvSpPr>
          <p:nvPr>
            <p:ph type="dt" sz="half" idx="10"/>
          </p:nvPr>
        </p:nvSpPr>
        <p:spPr/>
        <p:txBody>
          <a:bodyPr/>
          <a:lstStyle/>
          <a:p>
            <a:fld id="{00EBD793-3DFE-450E-811C-0EAC8F7BDC8B}" type="datetime1">
              <a:rPr lang="en-US" smtClean="0"/>
              <a:t>8/26/2026</a:t>
            </a:fld>
            <a:endParaRPr lang="en-US"/>
          </a:p>
        </p:txBody>
      </p:sp>
      <p:sp>
        <p:nvSpPr>
          <p:cNvPr id="5" name="Slide Number Placeholder 4">
            <a:extLst>
              <a:ext uri="{FF2B5EF4-FFF2-40B4-BE49-F238E27FC236}">
                <a16:creationId xmlns:a16="http://schemas.microsoft.com/office/drawing/2014/main" id="{5A9FD139-0538-E77B-2AA9-F87C2925AC26}"/>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42886263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2849</TotalTime>
  <Words>6786</Words>
  <Application>Microsoft Office PowerPoint</Application>
  <PresentationFormat>Widescreen</PresentationFormat>
  <Paragraphs>639</Paragraphs>
  <Slides>37</Slides>
  <Notes>28</Notes>
  <HiddenSlides>12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37</vt:i4>
      </vt:variant>
    </vt:vector>
  </HeadingPairs>
  <TitlesOfParts>
    <vt:vector size="47" baseType="lpstr">
      <vt:lpstr>Aptos</vt:lpstr>
      <vt:lpstr>Aptos Display</vt:lpstr>
      <vt:lpstr>Arial</vt:lpstr>
      <vt:lpstr>Blackadder ITC</vt:lpstr>
      <vt:lpstr>Cambria Math</vt:lpstr>
      <vt:lpstr>DejaVuSansMono</vt:lpstr>
      <vt:lpstr>Fira Code</vt:lpstr>
      <vt:lpstr>RobotoMono</vt:lpstr>
      <vt:lpstr>Wingdings</vt:lpstr>
      <vt:lpstr>Office Theme</vt:lpstr>
      <vt:lpstr>Optimizing Memory Layouts and Traversal Orders in HPC</vt:lpstr>
      <vt:lpstr>Motivation for memory layouts</vt:lpstr>
      <vt:lpstr>Illustrative example: initialization algorithm</vt:lpstr>
      <vt:lpstr>Layout-agnostic design</vt:lpstr>
      <vt:lpstr>PowerPoint Presentation</vt:lpstr>
      <vt:lpstr>PowerPoint Presentation</vt:lpstr>
      <vt:lpstr>PowerPoint Presentation</vt:lpstr>
      <vt:lpstr>PowerPoint Presentation</vt:lpstr>
      <vt:lpstr>PowerPoint Presentation</vt:lpstr>
      <vt:lpstr>Results</vt:lpstr>
      <vt:lpstr>Results</vt:lpstr>
      <vt:lpstr>PowerPoint Presentation</vt:lpstr>
      <vt:lpstr>PowerPoint Presentation</vt:lpstr>
      <vt:lpstr>PowerPoint Presentation</vt:lpstr>
      <vt:lpstr>Results</vt:lpstr>
      <vt:lpstr>PowerPoint Presentation</vt:lpstr>
      <vt:lpstr>Results</vt:lpstr>
      <vt:lpstr>Motivation</vt:lpstr>
      <vt:lpstr>Tutoring LLMs</vt:lpstr>
      <vt:lpstr>Tutoring LLMs</vt:lpstr>
      <vt:lpstr>LLMs and abstractions</vt:lpstr>
      <vt:lpstr>LLMs and abstractions</vt:lpstr>
      <vt:lpstr>Contribution map</vt:lpstr>
      <vt:lpstr>PowerPoint Presentation</vt:lpstr>
      <vt:lpstr>PowerPoint Presentation</vt:lpstr>
      <vt:lpstr>PowerPoint Presentation</vt:lpstr>
      <vt:lpstr>Automatization and simplification</vt:lpstr>
      <vt:lpstr>Small step: ?? layout agnostic design</vt:lpstr>
      <vt:lpstr>Layout- and Traversal-agnostic design</vt:lpstr>
      <vt:lpstr>PowerPoint Presentation</vt:lpstr>
      <vt:lpstr>Layout-agnostic design</vt:lpstr>
      <vt:lpstr>?? Traversal agnostic design</vt:lpstr>
      <vt:lpstr>Motivation</vt:lpstr>
      <vt:lpstr>Finalizing the automation: Autotuning</vt:lpstr>
      <vt:lpstr>Distributed computing</vt:lpstr>
      <vt:lpstr>Cellular automata</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77</cp:revision>
  <dcterms:created xsi:type="dcterms:W3CDTF">2026-08-08T18:10:38Z</dcterms:created>
  <dcterms:modified xsi:type="dcterms:W3CDTF">2026-08-26T21:50:41Z</dcterms:modified>
</cp:coreProperties>
</file>