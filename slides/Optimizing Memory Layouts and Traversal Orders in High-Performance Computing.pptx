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56" r:id="rId2"/>
    <p:sldId id="268" r:id="rId3"/>
    <p:sldId id="277" r:id="rId4"/>
    <p:sldId id="269" r:id="rId5"/>
    <p:sldId id="270" r:id="rId6"/>
    <p:sldId id="281" r:id="rId7"/>
    <p:sldId id="282" r:id="rId8"/>
    <p:sldId id="263" r:id="rId9"/>
    <p:sldId id="271" r:id="rId10"/>
    <p:sldId id="272" r:id="rId11"/>
    <p:sldId id="278" r:id="rId12"/>
    <p:sldId id="265" r:id="rId13"/>
    <p:sldId id="258" r:id="rId14"/>
    <p:sldId id="273" r:id="rId15"/>
    <p:sldId id="279" r:id="rId16"/>
    <p:sldId id="274" r:id="rId17"/>
    <p:sldId id="280" r:id="rId18"/>
    <p:sldId id="259" r:id="rId19"/>
    <p:sldId id="275" r:id="rId20"/>
    <p:sldId id="276" r:id="rId21"/>
    <p:sldId id="260" r:id="rId22"/>
    <p:sldId id="266" r:id="rId23"/>
    <p:sldId id="261" r:id="rId24"/>
    <p:sldId id="262"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68"/>
            <p14:sldId id="277"/>
            <p14:sldId id="269"/>
          </p14:sldIdLst>
        </p14:section>
        <p14:section name="algorithms" id="{7894E90A-E282-4867-82A4-369CDB973E4E}">
          <p14:sldIdLst>
            <p14:sldId id="270"/>
            <p14:sldId id="281"/>
            <p14:sldId id="282"/>
            <p14:sldId id="263"/>
            <p14:sldId id="271"/>
            <p14:sldId id="272"/>
            <p14:sldId id="278"/>
            <p14:sldId id="265"/>
            <p14:sldId id="258"/>
            <p14:sldId id="273"/>
            <p14:sldId id="279"/>
            <p14:sldId id="274"/>
            <p14:sldId id="280"/>
          </p14:sldIdLst>
        </p14:section>
        <p14:section name="llms" id="{2FE3CF17-CBFB-48E9-A3BF-DD99B7D2F01E}">
          <p14:sldIdLst>
            <p14:sldId id="259"/>
            <p14:sldId id="275"/>
            <p14:sldId id="276"/>
          </p14:sldIdLst>
        </p14:section>
        <p14:section name="sw artifacts" id="{C643FBD2-A5DD-453D-B5B5-69D3884A4C2F}">
          <p14:sldIdLst>
            <p14:sldId id="260"/>
          </p14:sldIdLst>
        </p14:section>
        <p14:section name="summary" id="{D3BAAF83-51D3-4EFD-B7CC-7BA6DAC4A838}">
          <p14:sldIdLst>
            <p14:sldId id="266"/>
            <p14:sldId id="261"/>
          </p14:sldIdLst>
        </p14:section>
        <p14:section name="Reviewers' comments" id="{40190F67-0659-405D-810E-4AC194B72FA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72428" autoAdjust="0"/>
  </p:normalViewPr>
  <p:slideViewPr>
    <p:cSldViewPr snapToGrid="0">
      <p:cViewPr varScale="1">
        <p:scale>
          <a:sx n="115" d="100"/>
          <a:sy n="115" d="100"/>
        </p:scale>
        <p:origin x="341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illustrate what we mean by memory layouts and traversal orders, let’s look at a simple example of just traversing a single matrix and initializing its elements to values that might depend on their indices.</a:t>
            </a:r>
          </a:p>
          <a:p>
            <a:endParaRPr lang="en-US" dirty="0"/>
          </a:p>
          <a:p>
            <a:r>
              <a:rPr lang="en-US" dirty="0"/>
              <a:t>?? Even this simple example can show a surprising level of complexity.</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(cool animation)</a:t>
            </a:r>
            <a:br>
              <a:rPr lang="en-US" dirty="0"/>
            </a:br>
            <a:r>
              <a:rPr lang="en-US" dirty="0"/>
              <a:t>Notice that for the *row-major matrix layout* on the left, the algorithm tends to access elements that are close together, whereas in the other, *column-major layout*, the accessed elements are spread out further.</a:t>
            </a:r>
            <a:br>
              <a:rPr lang="en-US" dirty="0"/>
            </a:br>
            <a:r>
              <a:rPr lang="en-US" dirty="0"/>
              <a:t>Thus, the algorithm expresses better *locality of reference* for the row-major layout, and we can expect a better performance as a result due to various hardware optimizations such as caching.</a:t>
            </a:r>
            <a:br>
              <a:rPr lang="en-US" dirty="0"/>
            </a:br>
            <a:r>
              <a:rPr lang="en-US" dirty="0"/>
              <a:t>(?? (caching) That relies on accessed values being temporarily stored in faster memory units, automatically by the hardware)</a:t>
            </a:r>
          </a:p>
          <a:p>
            <a:endParaRPr lang="en-US" dirty="0"/>
          </a:p>
          <a:p>
            <a:r>
              <a:rPr lang="en-US" dirty="0"/>
              <a:t>?? define locality of reference?</a:t>
            </a:r>
          </a:p>
          <a:p>
            <a:endParaRPr lang="en-US" dirty="0"/>
          </a:p>
          <a:p>
            <a:r>
              <a:rPr lang="en-US" dirty="0"/>
              <a:t>Of course, the two layouts are the simplest layouts for matrices, and for many real-use algorithms, more elaborate layouts, such as tile-major layouts (where each matrix is stored as a series of smaller sub-matrices), may often perform even better.</a:t>
            </a:r>
          </a:p>
          <a:p>
            <a:r>
              <a:rPr lang="en-US" dirty="0"/>
              <a:t>?? (Similarly, the traversal may be split into multiple blocks or tiles to better utilize caching)</a:t>
            </a:r>
          </a:p>
          <a:p>
            <a:endParaRPr lang="en-US" dirty="0"/>
          </a:p>
          <a:p>
            <a:r>
              <a:rPr lang="en-US" dirty="0"/>
              <a:t>In real-use algorithms, the situation is further complicated by factors such as algorithms having more elaborate traversal patterns, accessing multiple data structures at once, and each hardware architecture having further characteristics affecting the choice of memory layouts and traversal orders.</a:t>
            </a:r>
          </a:p>
          <a:p>
            <a:endParaRPr lang="en-US" dirty="0"/>
          </a:p>
          <a:p>
            <a:r>
              <a:rPr lang="en-US" dirty="0"/>
              <a:t>Thus, it is typically not feasible to know the correct design choices in advance</a:t>
            </a:r>
          </a:p>
          <a:p>
            <a:r>
              <a:rPr lang="en-US" dirty="0"/>
              <a:t>(and even if so, hard-coding optimizations for one hardware architecture makes the code less maintainable/readable and less portable to other architectures)</a:t>
            </a:r>
            <a:br>
              <a:rPr lang="en-US" dirty="0"/>
            </a:br>
            <a:r>
              <a:rPr lang="en-US" dirty="0"/>
              <a:t>?? Example</a:t>
            </a:r>
            <a:br>
              <a:rPr lang="en-US" dirty="0"/>
            </a:br>
            <a:br>
              <a:rPr lang="en-US" dirty="0"/>
            </a:br>
            <a:r>
              <a:rPr lang="en-US" dirty="0"/>
              <a:t>(ass bridge: our research focuses on making this automatable and simpler)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422621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445601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[v without runtime overhead]</a:t>
            </a:r>
            <a:br>
              <a:rPr lang="en-US" dirty="0"/>
            </a:br>
            <a:endParaRPr lang="en-US" dirty="0"/>
          </a:p>
          <a:p>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2754378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Our research is not the only effort on this, as nowadays,</a:t>
            </a:r>
            <a:br>
              <a:rPr lang="en-US" dirty="0"/>
            </a:br>
            <a:r>
              <a:rPr lang="en-US" dirty="0"/>
              <a:t>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Our approach is characteristic in defining the layouts via semantic building blocks (such as scalar that names a single value or array that extends a given layout with one named dimension) that are freely composable and allow for defining derived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4713003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9366052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245D912-7048-8F27-7BE0-2F656D101AD8}"/>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0EA5DD48-9F56-1FDB-7526-16D2FDD7CF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22EED6-4A9E-31FB-8AD8-6AEEFF78FDCA}"/>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noProof="0" dirty="0"/>
              <a:t>Jiří Klepl</a:t>
            </a:r>
          </a:p>
          <a:p>
            <a:r>
              <a:rPr lang="en-US" noProof="0" dirty="0"/>
              <a:t>Department of Distributed and Dependable Systems</a:t>
            </a:r>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Tree>
    <p:extLst>
      <p:ext uri="{BB962C8B-B14F-4D97-AF65-F5344CB8AC3E}">
        <p14:creationId xmlns:p14="http://schemas.microsoft.com/office/powerpoint/2010/main" val="1814957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dirty="0"/>
              <a:t>Illustrative example: traversing matrices</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206984" y="1998381"/>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m</a:t>
              </a:r>
              <a:endParaRPr lang="sk-SK" sz="2800" dirty="0">
                <a:latin typeface="Blackadder ITC" panose="04020505051007020D02" pitchFamily="82" charset="0"/>
              </a:endParaRP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n</a:t>
              </a:r>
              <a:endParaRPr lang="sk-SK" sz="2800" dirty="0">
                <a:latin typeface="Blackadder ITC" panose="04020505051007020D02" pitchFamily="82" charset="0"/>
              </a:endParaRP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5995525" y="1998381"/>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m</a:t>
              </a:r>
              <a:endParaRPr lang="sk-SK" sz="2800" dirty="0">
                <a:latin typeface="Blackadder ITC" panose="04020505051007020D02" pitchFamily="82" charset="0"/>
              </a:endParaRP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n</a:t>
              </a:r>
              <a:endParaRPr lang="sk-SK" sz="2800" dirty="0">
                <a:latin typeface="Blackadder ITC" panose="04020505051007020D02" pitchFamily="82" charset="0"/>
              </a:endParaRP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2959100" y="1712546"/>
                <a:ext cx="6131935" cy="369332"/>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r>
                      <a:rPr lang="en-US" b="0" i="1" smtClean="0">
                        <a:latin typeface="Cambria Math" panose="02040503050406030204" pitchFamily="18" charset="0"/>
                      </a:rPr>
                      <m:t>𝑛</m:t>
                    </m:r>
                  </m:oMath>
                </a14:m>
                <a:r>
                  <a:rPr lang="en-US" dirty="0"/>
                  <a:t> matrix in row-major and column-major </a:t>
                </a:r>
                <a:r>
                  <a:rPr lang="en-US" i="1"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59100" y="1712546"/>
                <a:ext cx="6131935" cy="369332"/>
              </a:xfrm>
              <a:prstGeom prst="rect">
                <a:avLst/>
              </a:prstGeom>
              <a:blipFill>
                <a:blip r:embed="rId4"/>
                <a:stretch>
                  <a:fillRect t="-8197" r="-795" b="-26230"/>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4379598" y="4388276"/>
            <a:ext cx="2870200" cy="634148"/>
          </a:xfrm>
          <a:prstGeom prst="rect">
            <a:avLst/>
          </a:prstGeom>
          <a:noFill/>
          <a:ln>
            <a:solidFill>
              <a:schemeClr val="tx1"/>
            </a:solidFill>
          </a:ln>
        </p:spPr>
        <p:txBody>
          <a:bodyPr wrap="square">
            <a:spAutoFit/>
          </a:bodyPr>
          <a:lstStyle/>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in</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m - </a:t>
            </a:r>
            <a:r>
              <a:rPr lang="en-US" sz="1050" b="0" dirty="0">
                <a:solidFill>
                  <a:srgbClr val="098658"/>
                </a:solidFill>
                <a:effectLst/>
                <a:latin typeface="Fira Code" panose="020B0809050000020004" pitchFamily="49" charset="0"/>
              </a:rPr>
              <a:t>1</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in</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n - </a:t>
            </a:r>
            <a:r>
              <a:rPr lang="en-US" sz="1050" b="0" dirty="0">
                <a:solidFill>
                  <a:srgbClr val="098658"/>
                </a:solidFill>
                <a:effectLst/>
                <a:latin typeface="Fira Code" panose="020B0809050000020004" pitchFamily="49" charset="0"/>
              </a:rPr>
              <a:t>1</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matrix[</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err="1">
                <a:solidFill>
                  <a:srgbClr val="000000"/>
                </a:solidFill>
                <a:effectLst/>
                <a:latin typeface="Fira Code" panose="020B0809050000020004" pitchFamily="49" charset="0"/>
              </a:rPr>
              <a:t>init</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21" name="TextBox 20">
            <a:extLst>
              <a:ext uri="{FF2B5EF4-FFF2-40B4-BE49-F238E27FC236}">
                <a16:creationId xmlns:a16="http://schemas.microsoft.com/office/drawing/2014/main" id="{0A8B2928-1B7B-BAA4-93AA-EE7D017C718B}"/>
              </a:ext>
            </a:extLst>
          </p:cNvPr>
          <p:cNvSpPr txBox="1"/>
          <p:nvPr/>
        </p:nvSpPr>
        <p:spPr>
          <a:xfrm>
            <a:off x="4727381" y="3997086"/>
            <a:ext cx="2174634" cy="369332"/>
          </a:xfrm>
          <a:prstGeom prst="rect">
            <a:avLst/>
          </a:prstGeom>
          <a:noFill/>
        </p:spPr>
        <p:txBody>
          <a:bodyPr wrap="none" rtlCol="0">
            <a:spAutoFit/>
          </a:bodyPr>
          <a:lstStyle/>
          <a:p>
            <a:r>
              <a:rPr lang="en-US" dirty="0"/>
              <a:t>A row-wise </a:t>
            </a:r>
            <a:r>
              <a:rPr lang="en-US" i="1" dirty="0"/>
              <a:t>traversal</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Tree>
    <p:extLst>
      <p:ext uri="{BB962C8B-B14F-4D97-AF65-F5344CB8AC3E}">
        <p14:creationId xmlns:p14="http://schemas.microsoft.com/office/powerpoint/2010/main" val="2693993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Tree>
    <p:extLst>
      <p:ext uri="{BB962C8B-B14F-4D97-AF65-F5344CB8AC3E}">
        <p14:creationId xmlns:p14="http://schemas.microsoft.com/office/powerpoint/2010/main" val="3515881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a:t>
            </a:r>
          </a:p>
          <a:p>
            <a:pPr>
              <a:lnSpc>
                <a:spcPct val="113095"/>
              </a:lnSpc>
              <a:buNone/>
            </a:pPr>
            <a:br>
              <a:rPr lang="en-US" sz="1050" b="0" dirty="0">
                <a:solidFill>
                  <a:srgbClr val="000000"/>
                </a:solidFill>
                <a:effectLst/>
                <a:latin typeface="Fira Code" panose="020B0809050000020004" pitchFamily="49" charset="0"/>
              </a:rPr>
            </a:br>
            <a:endParaRPr lang="en-US" sz="1050" b="0" dirty="0">
              <a:solidFill>
                <a:srgbClr val="000000"/>
              </a:solidFill>
              <a:effectLst/>
              <a:latin typeface="Fira Code" panose="020B0809050000020004" pitchFamily="49" charset="0"/>
            </a:endParaRPr>
          </a:p>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br>
              <a:rPr lang="en-US" sz="1050" b="0" dirty="0">
                <a:solidFill>
                  <a:srgbClr val="000000"/>
                </a:solidFill>
                <a:effectLst/>
                <a:latin typeface="Fira Code" panose="020B0809050000020004" pitchFamily="49" charset="0"/>
              </a:rPr>
            </a:br>
            <a:endParaRPr lang="en-US" sz="1050" b="0" dirty="0">
              <a:solidFill>
                <a:srgbClr val="000000"/>
              </a:solidFill>
              <a:effectLst/>
              <a:latin typeface="Fira Code" panose="020B0809050000020004" pitchFamily="49" charset="0"/>
            </a:endParaRPr>
          </a:p>
          <a:p>
            <a:pPr>
              <a:lnSpc>
                <a:spcPct val="113095"/>
              </a:lnSpc>
              <a:buNone/>
            </a:pPr>
            <a:r>
              <a:rPr lang="en-US" sz="1050" b="0" dirty="0">
                <a:solidFill>
                  <a:srgbClr val="267F99"/>
                </a:solidFill>
                <a:effectLst/>
                <a:latin typeface="Fira Code" panose="020B0809050000020004" pitchFamily="49" charset="0"/>
              </a:rPr>
              <a:t>Traversal</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795E26"/>
                </a:solidFill>
                <a:effectLst/>
                <a:latin typeface="Fira Code" panose="020B0809050000020004" pitchFamily="49" charset="0"/>
              </a:rPr>
              <a:t>order</a:t>
            </a:r>
            <a:r>
              <a:rPr lang="en-US" sz="1050" b="0" dirty="0">
                <a:solidFill>
                  <a:srgbClr val="000000"/>
                </a:solidFill>
                <a:effectLst/>
                <a:latin typeface="Fira Code" panose="020B0809050000020004" pitchFamily="49" charset="0"/>
              </a:rPr>
              <a:t>(</a:t>
            </a:r>
            <a:r>
              <a:rPr lang="en-US" sz="1050" b="0" dirty="0" err="1">
                <a:solidFill>
                  <a:srgbClr val="267F99"/>
                </a:solidFill>
                <a:effectLst/>
                <a:latin typeface="Fira Code" panose="020B0809050000020004" pitchFamily="49" charset="0"/>
              </a:rPr>
              <a:t>ByTiles</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r>
              <a:rPr lang="en-US" sz="1050" dirty="0">
                <a:solidFill>
                  <a:srgbClr val="098658"/>
                </a:solidFill>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dirty="0">
                <a:solidFill>
                  <a:srgbClr val="098658"/>
                </a:solidFill>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err="1">
                <a:solidFill>
                  <a:srgbClr val="795E26"/>
                </a:solidFill>
                <a:effectLst/>
                <a:latin typeface="Fira Code" panose="020B0809050000020004" pitchFamily="49" charset="0"/>
              </a:rPr>
              <a:t>for_each</a:t>
            </a:r>
            <a:r>
              <a:rPr lang="en-US" sz="1050" dirty="0">
                <a:solidFill>
                  <a:srgbClr val="000000"/>
                </a:solidFill>
                <a:latin typeface="Fira Code" panose="020B0809050000020004" pitchFamily="49" charset="0"/>
              </a:rPr>
              <a:t>(</a:t>
            </a:r>
            <a:br>
              <a:rPr lang="en-US" sz="1050" dirty="0">
                <a:solidFill>
                  <a:srgbClr val="000000"/>
                </a:solidFill>
                <a:latin typeface="Fira Code" panose="020B0809050000020004" pitchFamily="49" charset="0"/>
              </a:rPr>
            </a:br>
            <a:r>
              <a:rPr lang="en-US" sz="1050" dirty="0">
                <a:solidFill>
                  <a:srgbClr val="000000"/>
                </a:solidFill>
                <a:latin typeface="Fira Code" panose="020B0809050000020004" pitchFamily="49" charset="0"/>
              </a:rPr>
              <a:t>        </a:t>
            </a:r>
            <a:r>
              <a:rPr lang="en-US" sz="1050" b="0" dirty="0">
                <a:solidFill>
                  <a:srgbClr val="000000"/>
                </a:solidFill>
                <a:effectLst/>
                <a:latin typeface="Fira Code" panose="020B0809050000020004" pitchFamily="49" charset="0"/>
              </a:rPr>
              <a:t>[&amp;](</a:t>
            </a: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a:t>
            </a:r>
            <a:br>
              <a:rPr lang="en-US" sz="1050" dirty="0">
                <a:solidFill>
                  <a:srgbClr val="000000"/>
                </a:solidFill>
                <a:latin typeface="Fira Code" panose="020B0809050000020004" pitchFamily="49" charset="0"/>
              </a:rPr>
            </a:br>
            <a:r>
              <a:rPr lang="en-US" sz="1050" dirty="0">
                <a:solidFill>
                  <a:srgbClr val="000000"/>
                </a:solidFill>
                <a:latin typeface="Fira Code" panose="020B0809050000020004" pitchFamily="49" charset="0"/>
              </a:rPr>
              <a:t>    </a:t>
            </a:r>
            <a:r>
              <a:rPr lang="en-US" sz="1050" b="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accessC</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accessA</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accessB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RowMajor</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ColMajor</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&gt;();</a:t>
            </a:r>
          </a:p>
          <a:p>
            <a:pPr>
              <a:lnSpc>
                <a:spcPct val="113095"/>
              </a:lnSpc>
              <a:buNone/>
            </a:pPr>
            <a:br>
              <a:rPr lang="en-US" sz="1050" b="0" dirty="0">
                <a:solidFill>
                  <a:srgbClr val="000000"/>
                </a:solidFill>
                <a:effectLst/>
                <a:latin typeface="Fira Code" panose="020B0809050000020004" pitchFamily="49" charset="0"/>
              </a:rPr>
            </a:b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r>
              <a:rPr lang="en-US" sz="1050" b="0" dirty="0">
                <a:solidFill>
                  <a:srgbClr val="098658"/>
                </a:solidFill>
                <a:effectLst/>
                <a:latin typeface="Fira Code" panose="020B0809050000020004" pitchFamily="49" charset="0"/>
              </a:rPr>
              <a:t>4</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5</a:t>
            </a:r>
            <a:r>
              <a:rPr lang="en-US" sz="1050" b="0" dirty="0">
                <a:solidFill>
                  <a:srgbClr val="000000"/>
                </a:solidFill>
                <a:effectLst/>
                <a:latin typeface="Fira Code" panose="020B0809050000020004" pitchFamily="49" charset="0"/>
              </a:rPr>
              <a:t>);</a:t>
            </a:r>
          </a:p>
          <a:p>
            <a:pPr>
              <a:lnSpc>
                <a:spcPct val="113095"/>
              </a:lnSpc>
              <a:buNone/>
            </a:pPr>
            <a:endParaRPr lang="en-US" sz="1050" b="0" dirty="0">
              <a:solidFill>
                <a:srgbClr val="001080"/>
              </a:solidFill>
              <a:effectLst/>
              <a:latin typeface="Fira Code" panose="020B0809050000020004" pitchFamily="49" charset="0"/>
            </a:endParaRPr>
          </a:p>
          <a:p>
            <a:pPr>
              <a:lnSpc>
                <a:spcPct val="113095"/>
              </a:lnSpc>
              <a:buNone/>
            </a:pPr>
            <a:r>
              <a:rPr lang="en-US" sz="1050" b="0" dirty="0" err="1">
                <a:solidFill>
                  <a:srgbClr val="001080"/>
                </a:solidFill>
                <a:effectLst/>
                <a:latin typeface="Fira Code" panose="020B0809050000020004" pitchFamily="49" charset="0"/>
              </a:rPr>
              <a:t>RowMajor</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ColMajor</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a:t>
            </a:r>
          </a:p>
        </p:txBody>
      </p:sp>
    </p:spTree>
    <p:extLst>
      <p:ext uri="{BB962C8B-B14F-4D97-AF65-F5344CB8AC3E}">
        <p14:creationId xmlns:p14="http://schemas.microsoft.com/office/powerpoint/2010/main" val="6092968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2159396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Tree>
    <p:extLst>
      <p:ext uri="{BB962C8B-B14F-4D97-AF65-F5344CB8AC3E}">
        <p14:creationId xmlns:p14="http://schemas.microsoft.com/office/powerpoint/2010/main" val="3503651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Tree>
    <p:extLst>
      <p:ext uri="{BB962C8B-B14F-4D97-AF65-F5344CB8AC3E}">
        <p14:creationId xmlns:p14="http://schemas.microsoft.com/office/powerpoint/2010/main" val="21261212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Tree>
    <p:extLst>
      <p:ext uri="{BB962C8B-B14F-4D97-AF65-F5344CB8AC3E}">
        <p14:creationId xmlns:p14="http://schemas.microsoft.com/office/powerpoint/2010/main" val="29584069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3F49C5DC-F250-ABEE-8BA5-C59E6ABD627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22048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DF7620-7AA1-EF30-FDC7-27AAC7FFE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C42AB4-1D66-61B5-41F3-D1C814D6D79F}"/>
              </a:ext>
            </a:extLst>
          </p:cNvPr>
          <p:cNvSpPr>
            <a:spLocks noGrp="1"/>
          </p:cNvSpPr>
          <p:nvPr>
            <p:ph type="title"/>
          </p:nvPr>
        </p:nvSpPr>
        <p:spPr/>
        <p:txBody>
          <a:bodyPr/>
          <a:lstStyle/>
          <a:p>
            <a:r>
              <a:rPr lang="en-US" noProof="0" dirty="0"/>
              <a:t>M &amp; S</a:t>
            </a:r>
          </a:p>
        </p:txBody>
      </p:sp>
      <p:sp>
        <p:nvSpPr>
          <p:cNvPr id="3" name="Content Placeholder 2">
            <a:extLst>
              <a:ext uri="{FF2B5EF4-FFF2-40B4-BE49-F238E27FC236}">
                <a16:creationId xmlns:a16="http://schemas.microsoft.com/office/drawing/2014/main" id="{7FC71ADE-62E2-F5C5-38A6-5FA51E07F94E}"/>
              </a:ext>
            </a:extLst>
          </p:cNvPr>
          <p:cNvSpPr>
            <a:spLocks noGrp="1"/>
          </p:cNvSpPr>
          <p:nvPr>
            <p:ph idx="1"/>
          </p:nvPr>
        </p:nvSpPr>
        <p:spPr/>
        <p:txBody>
          <a:bodyPr/>
          <a:lstStyle/>
          <a:p>
            <a:r>
              <a:rPr lang="en-US" noProof="0" dirty="0"/>
              <a:t>Motivation: GPU &amp; Cluster computing</a:t>
            </a:r>
          </a:p>
          <a:p>
            <a:pPr lvl="1"/>
            <a:r>
              <a:rPr lang="en-US" noProof="0" dirty="0"/>
              <a:t>Too many decisions, complex code (you don’t know) </a:t>
            </a:r>
            <a:r>
              <a:rPr lang="en-US" noProof="0" dirty="0">
                <a:sym typeface="Wingdings" panose="05000000000000000000" pitchFamily="2" charset="2"/>
              </a:rPr>
              <a:t> the problem, it is hard</a:t>
            </a:r>
            <a:endParaRPr lang="en-US" noProof="0" dirty="0"/>
          </a:p>
          <a:p>
            <a:pPr lvl="2"/>
            <a:r>
              <a:rPr lang="en-US" noProof="0" dirty="0"/>
              <a:t>layout options, traversal options, parallelization (Matice, </a:t>
            </a:r>
            <a:r>
              <a:rPr lang="en-US" noProof="0" dirty="0" err="1"/>
              <a:t>pruchod</a:t>
            </a:r>
            <a:r>
              <a:rPr lang="en-US" noProof="0" dirty="0"/>
              <a:t>; </a:t>
            </a:r>
            <a:r>
              <a:rPr lang="en-US" noProof="0" dirty="0" err="1"/>
              <a:t>nasobeni</a:t>
            </a:r>
            <a:r>
              <a:rPr lang="en-US" noProof="0" dirty="0"/>
              <a:t>?)</a:t>
            </a:r>
          </a:p>
          <a:p>
            <a:pPr lvl="2"/>
            <a:r>
              <a:rPr lang="en-US" noProof="0" dirty="0"/>
              <a:t>parameters for the above (block sizes, …)</a:t>
            </a:r>
          </a:p>
          <a:p>
            <a:r>
              <a:rPr lang="en-US" noProof="0" dirty="0"/>
              <a:t>Our solution: Abstraction &amp; automatization </a:t>
            </a:r>
            <a:r>
              <a:rPr lang="en-US" noProof="0" dirty="0">
                <a:sym typeface="Wingdings" panose="05000000000000000000" pitchFamily="2" charset="2"/>
              </a:rPr>
              <a:t> we offer a solution</a:t>
            </a:r>
            <a:endParaRPr lang="en-US" noProof="0" dirty="0"/>
          </a:p>
          <a:p>
            <a:pPr lvl="1"/>
            <a:r>
              <a:rPr lang="en-US" noProof="0" dirty="0"/>
              <a:t>Separation of concerns, independent aspects</a:t>
            </a:r>
          </a:p>
          <a:p>
            <a:pPr lvl="1"/>
            <a:r>
              <a:rPr lang="en-US" noProof="0" dirty="0"/>
              <a:t>Introducing layout-agnostic and traversal-agnostic algorithm design</a:t>
            </a:r>
          </a:p>
          <a:p>
            <a:pPr lvl="1"/>
            <a:r>
              <a:rPr lang="en-US" noProof="0" dirty="0"/>
              <a:t>How the world is saved</a:t>
            </a:r>
          </a:p>
        </p:txBody>
      </p:sp>
    </p:spTree>
    <p:extLst>
      <p:ext uri="{BB962C8B-B14F-4D97-AF65-F5344CB8AC3E}">
        <p14:creationId xmlns:p14="http://schemas.microsoft.com/office/powerpoint/2010/main" val="14089203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4D8EA-565C-C8A0-F333-6EBD085AC735}"/>
              </a:ext>
            </a:extLst>
          </p:cNvPr>
          <p:cNvSpPr>
            <a:spLocks noGrp="1"/>
          </p:cNvSpPr>
          <p:nvPr>
            <p:ph type="title"/>
          </p:nvPr>
        </p:nvSpPr>
        <p:spPr/>
        <p:txBody>
          <a:bodyPr/>
          <a:lstStyle/>
          <a:p>
            <a:r>
              <a:rPr lang="en-US" noProof="0" dirty="0"/>
              <a:t>Proposed abstractions</a:t>
            </a:r>
          </a:p>
        </p:txBody>
      </p:sp>
      <p:sp>
        <p:nvSpPr>
          <p:cNvPr id="3" name="Content Placeholder 2">
            <a:extLst>
              <a:ext uri="{FF2B5EF4-FFF2-40B4-BE49-F238E27FC236}">
                <a16:creationId xmlns:a16="http://schemas.microsoft.com/office/drawing/2014/main" id="{0B0BC514-DFF4-C541-7399-85275B2EB075}"/>
              </a:ext>
            </a:extLst>
          </p:cNvPr>
          <p:cNvSpPr>
            <a:spLocks noGrp="1"/>
          </p:cNvSpPr>
          <p:nvPr>
            <p:ph idx="1"/>
          </p:nvPr>
        </p:nvSpPr>
        <p:spPr/>
        <p:txBody>
          <a:bodyPr/>
          <a:lstStyle/>
          <a:p>
            <a:r>
              <a:rPr lang="en-US" noProof="0" dirty="0"/>
              <a:t>Layout abstractions</a:t>
            </a:r>
          </a:p>
          <a:p>
            <a:r>
              <a:rPr lang="en-US" noProof="0" dirty="0"/>
              <a:t>Traversal abstractions</a:t>
            </a:r>
          </a:p>
          <a:p>
            <a:endParaRPr lang="en-US" noProof="0" dirty="0"/>
          </a:p>
          <a:p>
            <a:r>
              <a:rPr lang="en-US" noProof="0" dirty="0"/>
              <a:t>Extensions</a:t>
            </a:r>
          </a:p>
          <a:p>
            <a:pPr lvl="1"/>
            <a:r>
              <a:rPr lang="en-US" noProof="0" dirty="0"/>
              <a:t>? Practical aspects; </a:t>
            </a:r>
            <a:r>
              <a:rPr lang="en-US" noProof="0" dirty="0">
                <a:sym typeface="Wingdings" panose="05000000000000000000" pitchFamily="2" charset="2"/>
              </a:rPr>
              <a:t> autotuning</a:t>
            </a:r>
            <a:endParaRPr lang="en-US" noProof="0" dirty="0"/>
          </a:p>
          <a:p>
            <a:pPr lvl="1"/>
            <a:r>
              <a:rPr lang="en-US" noProof="0" dirty="0"/>
              <a:t>Distributed computing</a:t>
            </a:r>
          </a:p>
          <a:p>
            <a:endParaRPr lang="en-US" noProof="0" dirty="0"/>
          </a:p>
          <a:p>
            <a:r>
              <a:rPr lang="en-US" noProof="0" dirty="0"/>
              <a:t>Knowledge </a:t>
            </a:r>
            <a:r>
              <a:rPr lang="en-US" noProof="0" dirty="0" err="1"/>
              <a:t>neco</a:t>
            </a:r>
            <a:r>
              <a:rPr lang="en-US" noProof="0" dirty="0"/>
              <a:t> (</a:t>
            </a:r>
            <a:r>
              <a:rPr lang="en-US" noProof="0" dirty="0" err="1"/>
              <a:t>metaprogramovani</a:t>
            </a:r>
            <a:r>
              <a:rPr lang="en-US" noProof="0" dirty="0"/>
              <a:t>, </a:t>
            </a:r>
            <a:r>
              <a:rPr lang="en-US" noProof="0" dirty="0" err="1"/>
              <a:t>stavebni</a:t>
            </a:r>
            <a:r>
              <a:rPr lang="en-US" noProof="0" dirty="0"/>
              <a:t> </a:t>
            </a:r>
            <a:r>
              <a:rPr lang="en-US" noProof="0" dirty="0" err="1"/>
              <a:t>bloky</a:t>
            </a:r>
            <a:r>
              <a:rPr lang="en-US" noProof="0" dirty="0"/>
              <a:t>, </a:t>
            </a:r>
            <a:r>
              <a:rPr lang="en-US" noProof="0" dirty="0" err="1"/>
              <a:t>traversery</a:t>
            </a:r>
            <a:r>
              <a:rPr lang="en-US" noProof="0" dirty="0"/>
              <a:t>?)</a:t>
            </a:r>
          </a:p>
          <a:p>
            <a:pPr lvl="1"/>
            <a:r>
              <a:rPr lang="en-US" noProof="0" dirty="0"/>
              <a:t>CA computations (</a:t>
            </a:r>
          </a:p>
        </p:txBody>
      </p:sp>
    </p:spTree>
    <p:extLst>
      <p:ext uri="{BB962C8B-B14F-4D97-AF65-F5344CB8AC3E}">
        <p14:creationId xmlns:p14="http://schemas.microsoft.com/office/powerpoint/2010/main" val="2195190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dirty="0"/>
              <a:t>Enables optimizing the layouts on each computation node seamlessly</a:t>
            </a:r>
            <a:endParaRPr lang="en-US" noProof="0" dirty="0"/>
          </a:p>
          <a:p>
            <a:endParaRPr lang="en-US" noProof="0" dirty="0"/>
          </a:p>
        </p:txBody>
      </p:sp>
    </p:spTree>
    <p:extLst>
      <p:ext uri="{BB962C8B-B14F-4D97-AF65-F5344CB8AC3E}">
        <p14:creationId xmlns:p14="http://schemas.microsoft.com/office/powerpoint/2010/main" val="1994498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DBE9D86D-018E-4C50-0EFA-D7C58766058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024218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dirty="0"/>
              <a:t>Layout &amp; encoding options (! bit-packing)</a:t>
            </a:r>
          </a:p>
          <a:p>
            <a:pPr lvl="1"/>
            <a:r>
              <a:rPr lang="en-US" dirty="0"/>
              <a:t>Evaluation options (! bit-wise vectorization)</a:t>
            </a:r>
          </a:p>
          <a:p>
            <a:pPr lvl="1"/>
            <a:r>
              <a:rPr lang="en-US" noProof="0" dirty="0"/>
              <a:t>Traversal options (incl. parallelism)</a:t>
            </a:r>
          </a:p>
          <a:p>
            <a:r>
              <a:rPr lang="en-US" noProof="0" dirty="0"/>
              <a:t>Agnostic design of CA computation rules</a:t>
            </a:r>
          </a:p>
          <a:p>
            <a:r>
              <a:rPr lang="en-US" dirty="0"/>
              <a:t>Faster development, experimentation (optimization)</a:t>
            </a:r>
            <a:endParaRPr lang="en-US" noProof="0" dirty="0"/>
          </a:p>
        </p:txBody>
      </p:sp>
    </p:spTree>
    <p:extLst>
      <p:ext uri="{BB962C8B-B14F-4D97-AF65-F5344CB8AC3E}">
        <p14:creationId xmlns:p14="http://schemas.microsoft.com/office/powerpoint/2010/main" val="3466036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F1E705A3-4FDF-AB1A-A2C5-33B72A01596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104121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D8E19-FCBD-3C1F-9804-55F9EF315364}"/>
              </a:ext>
            </a:extLst>
          </p:cNvPr>
          <p:cNvSpPr>
            <a:spLocks noGrp="1"/>
          </p:cNvSpPr>
          <p:nvPr>
            <p:ph type="title"/>
          </p:nvPr>
        </p:nvSpPr>
        <p:spPr/>
        <p:txBody>
          <a:bodyPr/>
          <a:lstStyle/>
          <a:p>
            <a:r>
              <a:rPr lang="en-US" noProof="0" dirty="0"/>
              <a:t>LLMs in algorithm design</a:t>
            </a:r>
          </a:p>
        </p:txBody>
      </p:sp>
      <p:sp>
        <p:nvSpPr>
          <p:cNvPr id="3" name="Content Placeholder 2">
            <a:extLst>
              <a:ext uri="{FF2B5EF4-FFF2-40B4-BE49-F238E27FC236}">
                <a16:creationId xmlns:a16="http://schemas.microsoft.com/office/drawing/2014/main" id="{64F2D09B-2F00-3457-9D41-D2EAB2BD84E5}"/>
              </a:ext>
            </a:extLst>
          </p:cNvPr>
          <p:cNvSpPr>
            <a:spLocks noGrp="1"/>
          </p:cNvSpPr>
          <p:nvPr>
            <p:ph idx="1"/>
          </p:nvPr>
        </p:nvSpPr>
        <p:spPr/>
        <p:txBody>
          <a:bodyPr/>
          <a:lstStyle/>
          <a:p>
            <a:r>
              <a:rPr lang="en-US" noProof="0" dirty="0"/>
              <a:t>Tutoring LLMs for CUDA optimization</a:t>
            </a:r>
          </a:p>
          <a:p>
            <a:r>
              <a:rPr lang="en-US" noProof="0" dirty="0"/>
              <a:t>LLMs and abstractions</a:t>
            </a:r>
          </a:p>
        </p:txBody>
      </p:sp>
    </p:spTree>
    <p:extLst>
      <p:ext uri="{BB962C8B-B14F-4D97-AF65-F5344CB8AC3E}">
        <p14:creationId xmlns:p14="http://schemas.microsoft.com/office/powerpoint/2010/main" val="6458101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4D79-2E52-80F7-0541-30A0EEC45CA4}"/>
              </a:ext>
            </a:extLst>
          </p:cNvPr>
          <p:cNvSpPr>
            <a:spLocks noGrp="1"/>
          </p:cNvSpPr>
          <p:nvPr>
            <p:ph type="title"/>
          </p:nvPr>
        </p:nvSpPr>
        <p:spPr/>
        <p:txBody>
          <a:bodyPr/>
          <a:lstStyle/>
          <a:p>
            <a:r>
              <a:rPr lang="en-US" noProof="0" dirty="0"/>
              <a:t>Tutoring LLMs</a:t>
            </a:r>
          </a:p>
        </p:txBody>
      </p:sp>
      <p:sp>
        <p:nvSpPr>
          <p:cNvPr id="3" name="Content Placeholder 2">
            <a:extLst>
              <a:ext uri="{FF2B5EF4-FFF2-40B4-BE49-F238E27FC236}">
                <a16:creationId xmlns:a16="http://schemas.microsoft.com/office/drawing/2014/main" id="{5EC62719-077B-686B-2F9B-914035C8221C}"/>
              </a:ext>
            </a:extLst>
          </p:cNvPr>
          <p:cNvSpPr>
            <a:spLocks noGrp="1"/>
          </p:cNvSpPr>
          <p:nvPr>
            <p:ph idx="1"/>
          </p:nvPr>
        </p:nvSpPr>
        <p:spPr/>
        <p:txBody>
          <a:bodyPr>
            <a:normAutofit fontScale="92500" lnSpcReduction="20000"/>
          </a:bodyPr>
          <a:lstStyle/>
          <a:p>
            <a:r>
              <a:rPr lang="en-US" noProof="0" dirty="0"/>
              <a:t>The goal was always better automation/generalization of design and tuning</a:t>
            </a:r>
          </a:p>
          <a:p>
            <a:r>
              <a:rPr lang="en-US" dirty="0"/>
              <a:t>LLMs started to be surprisingly competent code generators</a:t>
            </a:r>
          </a:p>
          <a:p>
            <a:pPr lvl="1"/>
            <a:r>
              <a:rPr lang="en-US" noProof="0" dirty="0"/>
              <a:t>Not reliable, but extremely flexible, generalizable, simple to use (e.g., understanding natural language)</a:t>
            </a:r>
          </a:p>
          <a:p>
            <a:r>
              <a:rPr lang="en-US" dirty="0"/>
              <a:t>Core assumption for the study: LLMs are not very good in high-</a:t>
            </a:r>
            <a:r>
              <a:rPr lang="en-US" dirty="0" err="1"/>
              <a:t>lvl</a:t>
            </a:r>
            <a:r>
              <a:rPr lang="en-US" dirty="0"/>
              <a:t> decisions</a:t>
            </a:r>
          </a:p>
          <a:p>
            <a:r>
              <a:rPr lang="en-US" noProof="0" dirty="0"/>
              <a:t>Tutoring = improving quality of generated code by design suggestions/directions</a:t>
            </a:r>
          </a:p>
          <a:p>
            <a:r>
              <a:rPr lang="en-US" dirty="0"/>
              <a:t>Key findings:</a:t>
            </a:r>
          </a:p>
          <a:p>
            <a:pPr lvl="1"/>
            <a:r>
              <a:rPr lang="en-US" dirty="0"/>
              <a:t>Intricate relationship between algorithm complexity and this effect on an LLM</a:t>
            </a:r>
          </a:p>
          <a:p>
            <a:pPr lvl="1"/>
            <a:r>
              <a:rPr lang="en-US" noProof="0" dirty="0"/>
              <a:t>Improvement over time: the effect changes with each new model</a:t>
            </a:r>
          </a:p>
        </p:txBody>
      </p:sp>
    </p:spTree>
    <p:extLst>
      <p:ext uri="{BB962C8B-B14F-4D97-AF65-F5344CB8AC3E}">
        <p14:creationId xmlns:p14="http://schemas.microsoft.com/office/powerpoint/2010/main" val="26671222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dirty="0"/>
              <a:t>Key findings:</a:t>
            </a:r>
          </a:p>
          <a:p>
            <a:pPr lvl="1"/>
            <a:r>
              <a:rPr lang="en-US" noProof="0" dirty="0"/>
              <a:t>Prompt specificity improves results much more</a:t>
            </a:r>
          </a:p>
          <a:p>
            <a:pPr lvl="1"/>
            <a:r>
              <a:rPr lang="en-US" dirty="0"/>
              <a:t>LLMs more competent in pure C/C++</a:t>
            </a:r>
          </a:p>
          <a:p>
            <a:pPr lvl="1"/>
            <a:endParaRPr lang="en-US" noProof="0" dirty="0"/>
          </a:p>
        </p:txBody>
      </p:sp>
    </p:spTree>
    <p:extLst>
      <p:ext uri="{BB962C8B-B14F-4D97-AF65-F5344CB8AC3E}">
        <p14:creationId xmlns:p14="http://schemas.microsoft.com/office/powerpoint/2010/main" val="9656531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BD501-0287-7E9D-6C52-A86B98F9EB52}"/>
              </a:ext>
            </a:extLst>
          </p:cNvPr>
          <p:cNvSpPr>
            <a:spLocks noGrp="1"/>
          </p:cNvSpPr>
          <p:nvPr>
            <p:ph type="title"/>
          </p:nvPr>
        </p:nvSpPr>
        <p:spPr/>
        <p:txBody>
          <a:bodyPr/>
          <a:lstStyle/>
          <a:p>
            <a:r>
              <a:rPr lang="en-US" noProof="0" dirty="0" err="1"/>
              <a:t>Zahodit</a:t>
            </a:r>
            <a:endParaRPr lang="en-US" noProof="0" dirty="0"/>
          </a:p>
        </p:txBody>
      </p:sp>
      <p:sp>
        <p:nvSpPr>
          <p:cNvPr id="3" name="Content Placeholder 2">
            <a:extLst>
              <a:ext uri="{FF2B5EF4-FFF2-40B4-BE49-F238E27FC236}">
                <a16:creationId xmlns:a16="http://schemas.microsoft.com/office/drawing/2014/main" id="{369E5D67-EA03-A5CA-2D82-199F178CE89C}"/>
              </a:ext>
            </a:extLst>
          </p:cNvPr>
          <p:cNvSpPr>
            <a:spLocks noGrp="1"/>
          </p:cNvSpPr>
          <p:nvPr>
            <p:ph idx="1"/>
          </p:nvPr>
        </p:nvSpPr>
        <p:spPr/>
        <p:txBody>
          <a:bodyPr/>
          <a:lstStyle/>
          <a:p>
            <a:r>
              <a:rPr lang="en-US" noProof="0" dirty="0" err="1"/>
              <a:t>Noarr</a:t>
            </a:r>
            <a:endParaRPr lang="en-US" noProof="0" dirty="0"/>
          </a:p>
          <a:p>
            <a:r>
              <a:rPr lang="en-US" noProof="0" dirty="0" err="1"/>
              <a:t>Cellato</a:t>
            </a:r>
            <a:endParaRPr lang="en-US" noProof="0" dirty="0"/>
          </a:p>
        </p:txBody>
      </p:sp>
    </p:spTree>
    <p:extLst>
      <p:ext uri="{BB962C8B-B14F-4D97-AF65-F5344CB8AC3E}">
        <p14:creationId xmlns:p14="http://schemas.microsoft.com/office/powerpoint/2010/main" val="40851222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B7F8197-FC2F-9C2A-050C-CCCB46D86C7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60EC2A1A-B720-84BC-76D5-4751C09EA61A}"/>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6DB7F776-4EDC-09F4-F04A-E586FC4B4500}"/>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5B2B9BCB-5805-C1F1-AF45-681B37E6B83E}"/>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31388E94-1EEB-E24E-1923-AA250880AF84}"/>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DE8920A4-4430-6757-E41A-9BA9578DC80D}"/>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D01E75A2-333B-DF95-544C-0ACF1B88882C}"/>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67736357-2F90-D241-51F6-C03C797EFFC2}"/>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9EC73339-8B3D-25F4-18D5-E5821CB7CE8B}"/>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63EC4F51-D7C0-1DFC-E94E-75AE185B7CC1}"/>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B7D64168-E19F-C04D-293D-CB07E85D29DA}"/>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Tree>
    <p:extLst>
      <p:ext uri="{BB962C8B-B14F-4D97-AF65-F5344CB8AC3E}">
        <p14:creationId xmlns:p14="http://schemas.microsoft.com/office/powerpoint/2010/main" val="17454896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Tree>
    <p:extLst>
      <p:ext uri="{BB962C8B-B14F-4D97-AF65-F5344CB8AC3E}">
        <p14:creationId xmlns:p14="http://schemas.microsoft.com/office/powerpoint/2010/main" val="3094171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Tree>
    <p:extLst>
      <p:ext uri="{BB962C8B-B14F-4D97-AF65-F5344CB8AC3E}">
        <p14:creationId xmlns:p14="http://schemas.microsoft.com/office/powerpoint/2010/main" val="25953849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2101</TotalTime>
  <Words>2176</Words>
  <Application>Microsoft Office PowerPoint</Application>
  <PresentationFormat>Widescreen</PresentationFormat>
  <Paragraphs>214</Paragraphs>
  <Slides>24</Slides>
  <Notes>6</Notes>
  <HiddenSlides>7</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vt:i4>
      </vt:variant>
    </vt:vector>
  </HeadingPairs>
  <TitlesOfParts>
    <vt:vector size="32"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PowerPoint Presentation</vt:lpstr>
      <vt:lpstr>Illustrative example: traversing matrices</vt:lpstr>
      <vt:lpstr>Automatization and simplification</vt:lpstr>
      <vt:lpstr>Small step: ?? layout agnostic design</vt:lpstr>
      <vt:lpstr>Layout- and Traversal-agnostic design</vt:lpstr>
      <vt:lpstr>PowerPoint Presentation</vt:lpstr>
      <vt:lpstr>Layout-agnostic design</vt:lpstr>
      <vt:lpstr>?? Traversal agnostic design</vt:lpstr>
      <vt:lpstr>Finalizing the automation: Autotuning</vt:lpstr>
      <vt:lpstr>Results</vt:lpstr>
      <vt:lpstr>M &amp; S</vt:lpstr>
      <vt:lpstr>Proposed abstractions</vt:lpstr>
      <vt:lpstr>Distributed computing</vt:lpstr>
      <vt:lpstr>Results</vt:lpstr>
      <vt:lpstr>Cellular automata</vt:lpstr>
      <vt:lpstr>Results</vt:lpstr>
      <vt:lpstr>LLMs in algorithm design</vt:lpstr>
      <vt:lpstr>Tutoring LLMs</vt:lpstr>
      <vt:lpstr>LLMs and abstractions</vt:lpstr>
      <vt:lpstr>Zahodit</vt:lpstr>
      <vt:lpstr>Contribution map</vt:lpstr>
      <vt:lpstr>Summary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17</cp:revision>
  <dcterms:created xsi:type="dcterms:W3CDTF">2026-08-08T18:10:38Z</dcterms:created>
  <dcterms:modified xsi:type="dcterms:W3CDTF">2026-08-25T13:37:22Z</dcterms:modified>
</cp:coreProperties>
</file>