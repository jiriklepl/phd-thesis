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8" r:id="rId3"/>
    <p:sldId id="269" r:id="rId4"/>
    <p:sldId id="270" r:id="rId5"/>
    <p:sldId id="265" r:id="rId6"/>
    <p:sldId id="263" r:id="rId7"/>
    <p:sldId id="264" r:id="rId8"/>
    <p:sldId id="258" r:id="rId9"/>
    <p:sldId id="259" r:id="rId10"/>
    <p:sldId id="260" r:id="rId11"/>
    <p:sldId id="266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68"/>
            <p14:sldId id="269"/>
            <p14:sldId id="270"/>
            <p14:sldId id="265"/>
            <p14:sldId id="263"/>
            <p14:sldId id="264"/>
          </p14:sldIdLst>
        </p14:section>
        <p14:section name="abstractions" id="{F6342274-5FB1-4B75-B42A-2A7654908FF8}">
          <p14:sldIdLst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6"/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0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43B47-263E-C46D-0276-B63FF60C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2A90F-7540-DC59-26EA-C4E197B0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 layout </a:t>
            </a:r>
            <a:r>
              <a:rPr lang="en-US" dirty="0"/>
              <a:t>(matrix - row/col major), </a:t>
            </a:r>
            <a:r>
              <a:rPr lang="en-US" dirty="0">
                <a:solidFill>
                  <a:schemeClr val="accent3"/>
                </a:solidFill>
              </a:rPr>
              <a:t>traversal order </a:t>
            </a:r>
            <a:r>
              <a:rPr lang="en-US" dirty="0"/>
              <a:t>(row/col-wise)</a:t>
            </a:r>
          </a:p>
          <a:p>
            <a:pPr lvl="1"/>
            <a:r>
              <a:rPr lang="en-US" dirty="0"/>
              <a:t>This case: match = good; not match = not good </a:t>
            </a:r>
            <a:r>
              <a:rPr lang="en-US" dirty="0">
                <a:sym typeface="Wingdings" panose="05000000000000000000" pitchFamily="2" charset="2"/>
              </a:rPr>
              <a:t> idea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</a:rPr>
              <a:t>Sometimes can change both </a:t>
            </a:r>
          </a:p>
          <a:p>
            <a:pPr lvl="1"/>
            <a:r>
              <a:rPr lang="en-US" dirty="0"/>
              <a:t>Real use cases</a:t>
            </a:r>
          </a:p>
          <a:p>
            <a:pPr lvl="2"/>
            <a:r>
              <a:rPr lang="en-US" dirty="0"/>
              <a:t>Algorithms more complex;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/>
              <a:t>Multiple data structures</a:t>
            </a:r>
          </a:p>
          <a:p>
            <a:pPr lvl="3"/>
            <a:r>
              <a:rPr lang="en-US" dirty="0"/>
              <a:t>Traversals not simple perfect loop nests</a:t>
            </a:r>
          </a:p>
          <a:p>
            <a:pPr lvl="2"/>
            <a:r>
              <a:rPr lang="en-US" dirty="0"/>
              <a:t>Hardware many features;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>
                <a:solidFill>
                  <a:schemeClr val="accent3"/>
                </a:solidFill>
              </a:rPr>
              <a:t>Caches</a:t>
            </a:r>
            <a:r>
              <a:rPr lang="en-US" dirty="0"/>
              <a:t>, memory bandwidths/capacities, etc.</a:t>
            </a:r>
          </a:p>
          <a:p>
            <a:pPr lvl="3"/>
            <a:r>
              <a:rPr lang="en-US" dirty="0"/>
              <a:t>Multiple proc. units</a:t>
            </a:r>
          </a:p>
          <a:p>
            <a:pPr lvl="2"/>
            <a:r>
              <a:rPr lang="en-US" dirty="0">
                <a:solidFill>
                  <a:schemeClr val="accent3"/>
                </a:solidFill>
              </a:rPr>
              <a:t>More optimized 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 more complex, less portable (each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hwarch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different decisions)</a:t>
            </a:r>
            <a:endParaRPr lang="en-US" dirty="0">
              <a:solidFill>
                <a:schemeClr val="accent3"/>
              </a:solidFill>
            </a:endParaRPr>
          </a:p>
          <a:p>
            <a:pPr lvl="2"/>
            <a:r>
              <a:rPr lang="en-US" dirty="0">
                <a:solidFill>
                  <a:schemeClr val="accent3"/>
                </a:solidFill>
              </a:rPr>
              <a:t>No analytical solutions – evidence: use of </a:t>
            </a:r>
            <a:r>
              <a:rPr lang="en-US" dirty="0" err="1">
                <a:solidFill>
                  <a:schemeClr val="accent3"/>
                </a:solidFill>
              </a:rPr>
              <a:t>pgo</a:t>
            </a:r>
            <a:r>
              <a:rPr lang="en-US" dirty="0">
                <a:solidFill>
                  <a:schemeClr val="accent3"/>
                </a:solidFill>
              </a:rPr>
              <a:t>, autotuning, </a:t>
            </a:r>
            <a:r>
              <a:rPr lang="en-US" dirty="0" err="1">
                <a:solidFill>
                  <a:schemeClr val="accent3"/>
                </a:solidFill>
              </a:rPr>
              <a:t>ev</a:t>
            </a:r>
            <a:r>
              <a:rPr lang="en-US" dirty="0">
                <a:solidFill>
                  <a:schemeClr val="accent3"/>
                </a:solidFill>
              </a:rPr>
              <a:t>. alg., etc.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Real-world data, dimensions ~~ semantic meaning (image x, y, channel)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95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C07C-65B7-F09E-1FC3-13A2803F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Automatization and simplification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72CA4-DE0C-C168-CA4C-3E1D44937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Abstraction with swappable building blocks</a:t>
            </a:r>
          </a:p>
          <a:p>
            <a:pPr lvl="1"/>
            <a:r>
              <a:rPr lang="en-US" dirty="0"/>
              <a:t>Autotuning chooses the bb</a:t>
            </a:r>
          </a:p>
          <a:p>
            <a:pPr lvl="1"/>
            <a:r>
              <a:rPr lang="en-US" dirty="0"/>
              <a:t>Layout-agnosticism; traversal-agnosticism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LLMs</a:t>
            </a:r>
          </a:p>
          <a:p>
            <a:pPr lvl="1"/>
            <a:r>
              <a:rPr lang="en-US" dirty="0"/>
              <a:t>First phase: the API is fixed, AI can do the magic</a:t>
            </a:r>
          </a:p>
          <a:p>
            <a:pPr lvl="1"/>
            <a:r>
              <a:rPr lang="en-US" dirty="0"/>
              <a:t>Second phase: how to improve the magic? Do the abstractions help?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9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6C2A-DE9D-7966-AEFE-4393C57C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Small step: layout 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AA056-645F-427D-52A3-1F81FFA6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 fixed </a:t>
            </a:r>
            <a:r>
              <a:rPr lang="en-US" dirty="0" err="1"/>
              <a:t>algorithm+traversal</a:t>
            </a:r>
            <a:r>
              <a:rPr lang="en-US" dirty="0"/>
              <a:t>, allow different layouts</a:t>
            </a:r>
          </a:p>
          <a:p>
            <a:pPr lvl="1"/>
            <a:r>
              <a:rPr lang="en-US" dirty="0"/>
              <a:t>Not entirely new idea: </a:t>
            </a:r>
            <a:r>
              <a:rPr lang="en-US" dirty="0" err="1"/>
              <a:t>Kokkoss</a:t>
            </a:r>
            <a:r>
              <a:rPr lang="en-US" dirty="0"/>
              <a:t>::View, </a:t>
            </a:r>
            <a:r>
              <a:rPr lang="en-US" dirty="0" err="1"/>
              <a:t>numpy.ndarray</a:t>
            </a:r>
            <a:r>
              <a:rPr lang="en-US" dirty="0"/>
              <a:t>, many others</a:t>
            </a:r>
          </a:p>
          <a:p>
            <a:r>
              <a:rPr lang="en-US" dirty="0" err="1"/>
              <a:t>Noarr</a:t>
            </a:r>
            <a:r>
              <a:rPr lang="en-US" dirty="0"/>
              <a:t> Structures</a:t>
            </a:r>
          </a:p>
          <a:p>
            <a:pPr lvl="1"/>
            <a:r>
              <a:rPr lang="en-US" dirty="0"/>
              <a:t>Abstraction for building &amp; transforming layouts</a:t>
            </a:r>
          </a:p>
          <a:p>
            <a:pPr lvl="2"/>
            <a:r>
              <a:rPr lang="en-US" dirty="0"/>
              <a:t>Separated from memory management</a:t>
            </a:r>
          </a:p>
          <a:p>
            <a:pPr lvl="1"/>
            <a:r>
              <a:rPr lang="en-US" dirty="0"/>
              <a:t>Effortless static extents</a:t>
            </a:r>
          </a:p>
          <a:p>
            <a:pPr lvl="1"/>
            <a:r>
              <a:rPr lang="en-US" dirty="0"/>
              <a:t>Based on functional composition algebra</a:t>
            </a:r>
          </a:p>
          <a:p>
            <a:pPr lvl="2"/>
            <a:r>
              <a:rPr lang="en-US" dirty="0"/>
              <a:t>Unlike std::</a:t>
            </a:r>
            <a:r>
              <a:rPr lang="en-US" dirty="0" err="1"/>
              <a:t>mdspan</a:t>
            </a:r>
            <a:r>
              <a:rPr lang="en-US" dirty="0"/>
              <a:t> or </a:t>
            </a:r>
            <a:r>
              <a:rPr lang="en-US" dirty="0" err="1"/>
              <a:t>Kokkos</a:t>
            </a:r>
            <a:r>
              <a:rPr lang="en-US" dirty="0"/>
              <a:t>::View, others</a:t>
            </a:r>
          </a:p>
          <a:p>
            <a:pPr lvl="2"/>
            <a:r>
              <a:rPr lang="en-US" dirty="0"/>
              <a:t>Later adopted by CUTLASS </a:t>
            </a:r>
            <a:r>
              <a:rPr lang="en-US" dirty="0" err="1"/>
              <a:t>CUTe</a:t>
            </a:r>
            <a:endParaRPr lang="en-US" dirty="0"/>
          </a:p>
          <a:p>
            <a:pPr lvl="1"/>
            <a:r>
              <a:rPr lang="en-US"/>
              <a:t>Named dimensions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81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7620-7AA1-EF30-FDC7-27AAC7FF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2AB4-1D66-61B5-41F3-D1C814D6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&amp; 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71ADE-62E2-F5C5-38A6-5FA51E07F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GPU &amp; Cluster computing</a:t>
            </a:r>
          </a:p>
          <a:p>
            <a:pPr lvl="1"/>
            <a:r>
              <a:rPr lang="en-US" dirty="0"/>
              <a:t>Too many decisions, complex code (you don’t know) </a:t>
            </a:r>
            <a:r>
              <a:rPr lang="en-US" dirty="0">
                <a:sym typeface="Wingdings" panose="05000000000000000000" pitchFamily="2" charset="2"/>
              </a:rPr>
              <a:t> the problem, it is hard</a:t>
            </a:r>
            <a:endParaRPr lang="en-US" dirty="0"/>
          </a:p>
          <a:p>
            <a:pPr lvl="2"/>
            <a:r>
              <a:rPr lang="en-US" dirty="0"/>
              <a:t>layout options, traversal options, parallelization (Matice, </a:t>
            </a:r>
            <a:r>
              <a:rPr lang="en-US" dirty="0" err="1"/>
              <a:t>pruchod</a:t>
            </a:r>
            <a:r>
              <a:rPr lang="en-US" dirty="0"/>
              <a:t>; </a:t>
            </a:r>
            <a:r>
              <a:rPr lang="en-US" dirty="0" err="1"/>
              <a:t>nasobeni</a:t>
            </a:r>
            <a:r>
              <a:rPr lang="en-US" dirty="0"/>
              <a:t>?)</a:t>
            </a:r>
          </a:p>
          <a:p>
            <a:pPr lvl="2"/>
            <a:r>
              <a:rPr lang="en-US" dirty="0"/>
              <a:t>parameters for the above (block sizes, …)</a:t>
            </a:r>
          </a:p>
          <a:p>
            <a:r>
              <a:rPr lang="en-US" dirty="0"/>
              <a:t>Our solution: Abstraction &amp; automatization </a:t>
            </a:r>
            <a:r>
              <a:rPr lang="en-US" dirty="0">
                <a:sym typeface="Wingdings" panose="05000000000000000000" pitchFamily="2" charset="2"/>
              </a:rPr>
              <a:t> we offer a solution</a:t>
            </a:r>
            <a:endParaRPr lang="en-US" dirty="0"/>
          </a:p>
          <a:p>
            <a:pPr lvl="1"/>
            <a:r>
              <a:rPr lang="en-US" dirty="0"/>
              <a:t>Separation of concerns, independent aspects</a:t>
            </a:r>
          </a:p>
          <a:p>
            <a:pPr lvl="1"/>
            <a:r>
              <a:rPr lang="en-US" dirty="0"/>
              <a:t>Introducing layout-agnostic and traversal-agnostic algorithm design</a:t>
            </a:r>
          </a:p>
          <a:p>
            <a:pPr lvl="1"/>
            <a:r>
              <a:rPr lang="en-US" dirty="0"/>
              <a:t>How the world is saved</a:t>
            </a:r>
          </a:p>
        </p:txBody>
      </p:sp>
    </p:spTree>
    <p:extLst>
      <p:ext uri="{BB962C8B-B14F-4D97-AF65-F5344CB8AC3E}">
        <p14:creationId xmlns:p14="http://schemas.microsoft.com/office/powerpoint/2010/main" val="1408920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with explicit offset calculations × Algorithm with logical indices</a:t>
            </a:r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F90E-47C1-8163-3DF3-3F88A625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Traversal-agnostic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D725-871B-DFB5-1476-7BE78B119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go even further</a:t>
            </a:r>
          </a:p>
        </p:txBody>
      </p:sp>
    </p:spTree>
    <p:extLst>
      <p:ext uri="{BB962C8B-B14F-4D97-AF65-F5344CB8AC3E}">
        <p14:creationId xmlns:p14="http://schemas.microsoft.com/office/powerpoint/2010/main" val="30263436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endParaRPr lang="en-US" dirty="0"/>
          </a:p>
          <a:p>
            <a:r>
              <a:rPr lang="en-US" dirty="0"/>
              <a:t>Extensions</a:t>
            </a:r>
          </a:p>
          <a:p>
            <a:pPr lvl="1"/>
            <a:r>
              <a:rPr lang="en-US" dirty="0"/>
              <a:t>? Practical aspects; </a:t>
            </a:r>
            <a:r>
              <a:rPr lang="en-US" dirty="0">
                <a:sym typeface="Wingdings" panose="05000000000000000000" pitchFamily="2" charset="2"/>
              </a:rPr>
              <a:t> autotuning</a:t>
            </a:r>
            <a:endParaRPr lang="en-US" dirty="0"/>
          </a:p>
          <a:p>
            <a:pPr lvl="1"/>
            <a:r>
              <a:rPr lang="en-US" dirty="0"/>
              <a:t>Distributed computing</a:t>
            </a:r>
          </a:p>
          <a:p>
            <a:endParaRPr lang="en-US" dirty="0"/>
          </a:p>
          <a:p>
            <a:r>
              <a:rPr lang="en-US" dirty="0"/>
              <a:t>Knowledge </a:t>
            </a:r>
            <a:r>
              <a:rPr lang="en-US" dirty="0" err="1"/>
              <a:t>neco</a:t>
            </a:r>
            <a:r>
              <a:rPr lang="en-US" dirty="0"/>
              <a:t> (</a:t>
            </a:r>
            <a:r>
              <a:rPr lang="en-US" dirty="0" err="1"/>
              <a:t>metaprogramovani</a:t>
            </a:r>
            <a:r>
              <a:rPr lang="en-US" dirty="0"/>
              <a:t>, </a:t>
            </a:r>
            <a:r>
              <a:rPr lang="en-US" dirty="0" err="1"/>
              <a:t>stavebni</a:t>
            </a:r>
            <a:r>
              <a:rPr lang="en-US" dirty="0"/>
              <a:t> </a:t>
            </a:r>
            <a:r>
              <a:rPr lang="en-US" dirty="0" err="1"/>
              <a:t>bloky</a:t>
            </a:r>
            <a:r>
              <a:rPr lang="en-US" dirty="0"/>
              <a:t>, </a:t>
            </a:r>
            <a:r>
              <a:rPr lang="en-US" dirty="0" err="1"/>
              <a:t>traversery</a:t>
            </a:r>
            <a:r>
              <a:rPr lang="en-US" dirty="0"/>
              <a:t>?)</a:t>
            </a:r>
          </a:p>
          <a:p>
            <a:pPr lvl="1"/>
            <a:r>
              <a:rPr lang="en-US" dirty="0"/>
              <a:t>CA computations (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Zahodit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F8197-FC2F-9C2A-050C-CCCB46D86C79}"/>
              </a:ext>
            </a:extLst>
          </p:cNvPr>
          <p:cNvSpPr/>
          <p:nvPr/>
        </p:nvSpPr>
        <p:spPr>
          <a:xfrm>
            <a:off x="4240490" y="140673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Separate algorithm design from performance optimization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EC2A1A-B720-84BC-76D5-4751C09EA61A}"/>
              </a:ext>
            </a:extLst>
          </p:cNvPr>
          <p:cNvSpPr/>
          <p:nvPr/>
        </p:nvSpPr>
        <p:spPr>
          <a:xfrm>
            <a:off x="150074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Layout- and traversal-agnostic abstractions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B7F776-4EDC-09F4-F04A-E586FC4B4500}"/>
              </a:ext>
            </a:extLst>
          </p:cNvPr>
          <p:cNvSpPr/>
          <p:nvPr/>
        </p:nvSpPr>
        <p:spPr>
          <a:xfrm>
            <a:off x="7840178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LLM-assisted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B9BCB-5805-C1F1-AF45-681B37E6B83E}"/>
              </a:ext>
            </a:extLst>
          </p:cNvPr>
          <p:cNvSpPr/>
          <p:nvPr/>
        </p:nvSpPr>
        <p:spPr>
          <a:xfrm>
            <a:off x="150074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 abstractions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388E94-1EEB-E24E-1923-AA250880AF84}"/>
              </a:ext>
            </a:extLst>
          </p:cNvPr>
          <p:cNvSpPr/>
          <p:nvPr/>
        </p:nvSpPr>
        <p:spPr>
          <a:xfrm>
            <a:off x="4240490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Traversal abstractions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8920A4-4430-6757-E41A-9BA9578DC80D}"/>
              </a:ext>
            </a:extLst>
          </p:cNvPr>
          <p:cNvSpPr/>
          <p:nvPr/>
        </p:nvSpPr>
        <p:spPr>
          <a:xfrm>
            <a:off x="8330906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Practical aspects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1E75A2-333B-DF95-544C-0ACF1B88882C}"/>
              </a:ext>
            </a:extLst>
          </p:cNvPr>
          <p:cNvSpPr/>
          <p:nvPr/>
        </p:nvSpPr>
        <p:spPr>
          <a:xfrm>
            <a:off x="302474" y="53562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structures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736357-2F90-D241-51F6-C03C797EFFC2}"/>
              </a:ext>
            </a:extLst>
          </p:cNvPr>
          <p:cNvSpPr/>
          <p:nvPr/>
        </p:nvSpPr>
        <p:spPr>
          <a:xfrm>
            <a:off x="454874" y="55086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traversers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C73339-8B3D-25F4-18D5-E5821CB7CE8B}"/>
              </a:ext>
            </a:extLst>
          </p:cNvPr>
          <p:cNvSpPr/>
          <p:nvPr/>
        </p:nvSpPr>
        <p:spPr>
          <a:xfrm>
            <a:off x="607274" y="56610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tuning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EC4F51-D7C0-1DFC-E94E-75AE185B7CC1}"/>
              </a:ext>
            </a:extLst>
          </p:cNvPr>
          <p:cNvSpPr/>
          <p:nvPr/>
        </p:nvSpPr>
        <p:spPr>
          <a:xfrm>
            <a:off x="759674" y="58134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Noarr-MPI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D64168-E19F-C04D-293D-CB07E85D29DA}"/>
              </a:ext>
            </a:extLst>
          </p:cNvPr>
          <p:cNvSpPr/>
          <p:nvPr/>
        </p:nvSpPr>
        <p:spPr>
          <a:xfrm>
            <a:off x="4853138" y="54247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1045</TotalTime>
  <Words>435</Words>
  <Application>Microsoft Office PowerPoint</Application>
  <PresentationFormat>Widescreen</PresentationFormat>
  <Paragraphs>82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Wingdings</vt:lpstr>
      <vt:lpstr>Office Theme</vt:lpstr>
      <vt:lpstr>Optimizing Memory Layouts and Traversal Orders in HPC</vt:lpstr>
      <vt:lpstr>PowerPoint Presentation</vt:lpstr>
      <vt:lpstr>Automatization and simplification</vt:lpstr>
      <vt:lpstr>Small step: layout agnostic design</vt:lpstr>
      <vt:lpstr>M &amp; S</vt:lpstr>
      <vt:lpstr>Layout-agnostic design</vt:lpstr>
      <vt:lpstr>Traversal-agnostic design</vt:lpstr>
      <vt:lpstr>Proposed abstractions</vt:lpstr>
      <vt:lpstr>LLMs in algorithm design</vt:lpstr>
      <vt:lpstr>Zahodit</vt:lpstr>
      <vt:lpstr>Contribution map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5</cp:revision>
  <dcterms:created xsi:type="dcterms:W3CDTF">2026-08-08T18:10:38Z</dcterms:created>
  <dcterms:modified xsi:type="dcterms:W3CDTF">2026-08-21T20:12:17Z</dcterms:modified>
</cp:coreProperties>
</file>